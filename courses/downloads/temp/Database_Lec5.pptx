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wmf" ContentType="image/x-wm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762" r:id="rId1"/>
  </p:sldMasterIdLst>
  <p:notesMasterIdLst>
    <p:notesMasterId r:id="rId148"/>
  </p:notesMasterIdLst>
  <p:handoutMasterIdLst>
    <p:handoutMasterId r:id="rId149"/>
  </p:handoutMasterIdLst>
  <p:sldIdLst>
    <p:sldId id="474" r:id="rId2"/>
    <p:sldId id="438" r:id="rId3"/>
    <p:sldId id="439" r:id="rId4"/>
    <p:sldId id="440" r:id="rId5"/>
    <p:sldId id="488" r:id="rId6"/>
    <p:sldId id="489" r:id="rId7"/>
    <p:sldId id="491" r:id="rId8"/>
    <p:sldId id="492" r:id="rId9"/>
    <p:sldId id="493" r:id="rId10"/>
    <p:sldId id="420" r:id="rId11"/>
    <p:sldId id="494" r:id="rId12"/>
    <p:sldId id="495" r:id="rId13"/>
    <p:sldId id="496" r:id="rId14"/>
    <p:sldId id="497" r:id="rId15"/>
    <p:sldId id="498" r:id="rId16"/>
    <p:sldId id="499" r:id="rId17"/>
    <p:sldId id="456" r:id="rId18"/>
    <p:sldId id="441" r:id="rId19"/>
    <p:sldId id="500" r:id="rId20"/>
    <p:sldId id="501" r:id="rId21"/>
    <p:sldId id="502" r:id="rId22"/>
    <p:sldId id="503" r:id="rId23"/>
    <p:sldId id="504" r:id="rId24"/>
    <p:sldId id="505" r:id="rId25"/>
    <p:sldId id="506" r:id="rId26"/>
    <p:sldId id="442" r:id="rId27"/>
    <p:sldId id="507" r:id="rId28"/>
    <p:sldId id="508" r:id="rId29"/>
    <p:sldId id="509" r:id="rId30"/>
    <p:sldId id="510" r:id="rId31"/>
    <p:sldId id="511" r:id="rId32"/>
    <p:sldId id="512" r:id="rId33"/>
    <p:sldId id="513" r:id="rId34"/>
    <p:sldId id="413" r:id="rId35"/>
    <p:sldId id="514" r:id="rId36"/>
    <p:sldId id="515" r:id="rId37"/>
    <p:sldId id="516" r:id="rId38"/>
    <p:sldId id="517" r:id="rId39"/>
    <p:sldId id="443" r:id="rId40"/>
    <p:sldId id="444" r:id="rId41"/>
    <p:sldId id="445" r:id="rId42"/>
    <p:sldId id="446" r:id="rId43"/>
    <p:sldId id="447" r:id="rId44"/>
    <p:sldId id="448" r:id="rId45"/>
    <p:sldId id="449" r:id="rId46"/>
    <p:sldId id="450" r:id="rId47"/>
    <p:sldId id="451" r:id="rId48"/>
    <p:sldId id="452" r:id="rId49"/>
    <p:sldId id="453" r:id="rId50"/>
    <p:sldId id="454" r:id="rId51"/>
    <p:sldId id="455" r:id="rId52"/>
    <p:sldId id="484" r:id="rId53"/>
    <p:sldId id="485" r:id="rId54"/>
    <p:sldId id="481" r:id="rId55"/>
    <p:sldId id="482" r:id="rId56"/>
    <p:sldId id="457" r:id="rId57"/>
    <p:sldId id="458" r:id="rId58"/>
    <p:sldId id="459" r:id="rId59"/>
    <p:sldId id="479" r:id="rId60"/>
    <p:sldId id="460" r:id="rId61"/>
    <p:sldId id="461" r:id="rId62"/>
    <p:sldId id="462" r:id="rId63"/>
    <p:sldId id="463" r:id="rId64"/>
    <p:sldId id="480" r:id="rId65"/>
    <p:sldId id="486" r:id="rId66"/>
    <p:sldId id="487" r:id="rId67"/>
    <p:sldId id="464" r:id="rId68"/>
    <p:sldId id="465" r:id="rId69"/>
    <p:sldId id="466" r:id="rId70"/>
    <p:sldId id="467" r:id="rId71"/>
    <p:sldId id="468" r:id="rId72"/>
    <p:sldId id="469" r:id="rId73"/>
    <p:sldId id="470" r:id="rId74"/>
    <p:sldId id="471" r:id="rId75"/>
    <p:sldId id="472" r:id="rId76"/>
    <p:sldId id="518" r:id="rId77"/>
    <p:sldId id="519" r:id="rId78"/>
    <p:sldId id="520" r:id="rId79"/>
    <p:sldId id="521" r:id="rId80"/>
    <p:sldId id="522" r:id="rId81"/>
    <p:sldId id="473" r:id="rId82"/>
    <p:sldId id="372" r:id="rId83"/>
    <p:sldId id="373" r:id="rId84"/>
    <p:sldId id="374" r:id="rId85"/>
    <p:sldId id="375" r:id="rId86"/>
    <p:sldId id="376" r:id="rId87"/>
    <p:sldId id="437" r:id="rId88"/>
    <p:sldId id="378" r:id="rId89"/>
    <p:sldId id="379" r:id="rId90"/>
    <p:sldId id="380" r:id="rId91"/>
    <p:sldId id="381" r:id="rId92"/>
    <p:sldId id="382" r:id="rId93"/>
    <p:sldId id="383" r:id="rId94"/>
    <p:sldId id="384" r:id="rId95"/>
    <p:sldId id="385" r:id="rId96"/>
    <p:sldId id="386" r:id="rId97"/>
    <p:sldId id="387" r:id="rId98"/>
    <p:sldId id="388" r:id="rId99"/>
    <p:sldId id="475" r:id="rId100"/>
    <p:sldId id="390" r:id="rId101"/>
    <p:sldId id="391" r:id="rId102"/>
    <p:sldId id="392" r:id="rId103"/>
    <p:sldId id="476" r:id="rId104"/>
    <p:sldId id="394" r:id="rId105"/>
    <p:sldId id="395" r:id="rId106"/>
    <p:sldId id="396" r:id="rId107"/>
    <p:sldId id="397" r:id="rId108"/>
    <p:sldId id="398" r:id="rId109"/>
    <p:sldId id="399" r:id="rId110"/>
    <p:sldId id="400" r:id="rId111"/>
    <p:sldId id="401" r:id="rId112"/>
    <p:sldId id="402" r:id="rId113"/>
    <p:sldId id="403" r:id="rId114"/>
    <p:sldId id="404" r:id="rId115"/>
    <p:sldId id="405" r:id="rId116"/>
    <p:sldId id="406" r:id="rId117"/>
    <p:sldId id="407" r:id="rId118"/>
    <p:sldId id="408" r:id="rId119"/>
    <p:sldId id="409" r:id="rId120"/>
    <p:sldId id="410" r:id="rId121"/>
    <p:sldId id="411" r:id="rId122"/>
    <p:sldId id="412" r:id="rId123"/>
    <p:sldId id="477" r:id="rId124"/>
    <p:sldId id="414" r:id="rId125"/>
    <p:sldId id="415" r:id="rId126"/>
    <p:sldId id="416" r:id="rId127"/>
    <p:sldId id="417" r:id="rId128"/>
    <p:sldId id="418" r:id="rId129"/>
    <p:sldId id="419" r:id="rId130"/>
    <p:sldId id="478" r:id="rId131"/>
    <p:sldId id="421" r:id="rId132"/>
    <p:sldId id="422" r:id="rId133"/>
    <p:sldId id="423" r:id="rId134"/>
    <p:sldId id="424" r:id="rId135"/>
    <p:sldId id="425" r:id="rId136"/>
    <p:sldId id="426" r:id="rId137"/>
    <p:sldId id="427" r:id="rId138"/>
    <p:sldId id="428" r:id="rId139"/>
    <p:sldId id="429" r:id="rId140"/>
    <p:sldId id="430" r:id="rId141"/>
    <p:sldId id="431" r:id="rId142"/>
    <p:sldId id="432" r:id="rId143"/>
    <p:sldId id="433" r:id="rId144"/>
    <p:sldId id="434" r:id="rId145"/>
    <p:sldId id="435" r:id="rId146"/>
    <p:sldId id="436" r:id="rId147"/>
  </p:sldIdLst>
  <p:sldSz cx="9144000" cy="6858000" type="screen4x3"/>
  <p:notesSz cx="6997700" cy="9283700"/>
  <p:custShowLst>
    <p:custShow name="Custom Show 1" id="0">
      <p:sldLst/>
    </p:custShow>
  </p:custShowLst>
  <p:defaultTextStyle>
    <a:defPPr>
      <a:defRPr lang="en-US"/>
    </a:defPPr>
    <a:lvl1pPr algn="l" rtl="0" eaLnBrk="0" fontAlgn="base" hangingPunct="0">
      <a:spcBef>
        <a:spcPct val="0"/>
      </a:spcBef>
      <a:spcAft>
        <a:spcPct val="0"/>
      </a:spcAft>
      <a:defRPr sz="1600" kern="1200">
        <a:solidFill>
          <a:schemeClr val="tx1"/>
        </a:solidFill>
        <a:latin typeface="Helvetica" panose="020B0604020202020204" pitchFamily="34" charset="0"/>
        <a:ea typeface="MS PGothic" panose="020B0600070205080204" pitchFamily="34" charset="-128"/>
        <a:cs typeface="+mn-cs"/>
      </a:defRPr>
    </a:lvl1pPr>
    <a:lvl2pPr marL="457200" algn="l" rtl="0" eaLnBrk="0" fontAlgn="base" hangingPunct="0">
      <a:spcBef>
        <a:spcPct val="0"/>
      </a:spcBef>
      <a:spcAft>
        <a:spcPct val="0"/>
      </a:spcAft>
      <a:defRPr sz="1600" kern="1200">
        <a:solidFill>
          <a:schemeClr val="tx1"/>
        </a:solidFill>
        <a:latin typeface="Helvetica" panose="020B0604020202020204" pitchFamily="34" charset="0"/>
        <a:ea typeface="MS PGothic" panose="020B0600070205080204" pitchFamily="34" charset="-128"/>
        <a:cs typeface="+mn-cs"/>
      </a:defRPr>
    </a:lvl2pPr>
    <a:lvl3pPr marL="914400" algn="l" rtl="0" eaLnBrk="0" fontAlgn="base" hangingPunct="0">
      <a:spcBef>
        <a:spcPct val="0"/>
      </a:spcBef>
      <a:spcAft>
        <a:spcPct val="0"/>
      </a:spcAft>
      <a:defRPr sz="1600" kern="1200">
        <a:solidFill>
          <a:schemeClr val="tx1"/>
        </a:solidFill>
        <a:latin typeface="Helvetica" panose="020B0604020202020204" pitchFamily="34" charset="0"/>
        <a:ea typeface="MS PGothic" panose="020B0600070205080204" pitchFamily="34" charset="-128"/>
        <a:cs typeface="+mn-cs"/>
      </a:defRPr>
    </a:lvl3pPr>
    <a:lvl4pPr marL="1371600" algn="l" rtl="0" eaLnBrk="0" fontAlgn="base" hangingPunct="0">
      <a:spcBef>
        <a:spcPct val="0"/>
      </a:spcBef>
      <a:spcAft>
        <a:spcPct val="0"/>
      </a:spcAft>
      <a:defRPr sz="1600" kern="1200">
        <a:solidFill>
          <a:schemeClr val="tx1"/>
        </a:solidFill>
        <a:latin typeface="Helvetica" panose="020B0604020202020204" pitchFamily="34" charset="0"/>
        <a:ea typeface="MS PGothic" panose="020B0600070205080204" pitchFamily="34" charset="-128"/>
        <a:cs typeface="+mn-cs"/>
      </a:defRPr>
    </a:lvl4pPr>
    <a:lvl5pPr marL="1828800" algn="l" rtl="0" eaLnBrk="0" fontAlgn="base" hangingPunct="0">
      <a:spcBef>
        <a:spcPct val="0"/>
      </a:spcBef>
      <a:spcAft>
        <a:spcPct val="0"/>
      </a:spcAft>
      <a:defRPr sz="1600" kern="1200">
        <a:solidFill>
          <a:schemeClr val="tx1"/>
        </a:solidFill>
        <a:latin typeface="Helvetica" panose="020B0604020202020204" pitchFamily="34" charset="0"/>
        <a:ea typeface="MS PGothic" panose="020B0600070205080204" pitchFamily="34" charset="-128"/>
        <a:cs typeface="+mn-cs"/>
      </a:defRPr>
    </a:lvl5pPr>
    <a:lvl6pPr marL="2286000" algn="l" defTabSz="914400" rtl="0" eaLnBrk="1" latinLnBrk="0" hangingPunct="1">
      <a:defRPr sz="1600" kern="1200">
        <a:solidFill>
          <a:schemeClr val="tx1"/>
        </a:solidFill>
        <a:latin typeface="Helvetica" panose="020B0604020202020204" pitchFamily="34" charset="0"/>
        <a:ea typeface="MS PGothic" panose="020B0600070205080204" pitchFamily="34" charset="-128"/>
        <a:cs typeface="+mn-cs"/>
      </a:defRPr>
    </a:lvl6pPr>
    <a:lvl7pPr marL="2743200" algn="l" defTabSz="914400" rtl="0" eaLnBrk="1" latinLnBrk="0" hangingPunct="1">
      <a:defRPr sz="1600" kern="1200">
        <a:solidFill>
          <a:schemeClr val="tx1"/>
        </a:solidFill>
        <a:latin typeface="Helvetica" panose="020B0604020202020204" pitchFamily="34" charset="0"/>
        <a:ea typeface="MS PGothic" panose="020B0600070205080204" pitchFamily="34" charset="-128"/>
        <a:cs typeface="+mn-cs"/>
      </a:defRPr>
    </a:lvl7pPr>
    <a:lvl8pPr marL="3200400" algn="l" defTabSz="914400" rtl="0" eaLnBrk="1" latinLnBrk="0" hangingPunct="1">
      <a:defRPr sz="1600" kern="1200">
        <a:solidFill>
          <a:schemeClr val="tx1"/>
        </a:solidFill>
        <a:latin typeface="Helvetica" panose="020B0604020202020204" pitchFamily="34" charset="0"/>
        <a:ea typeface="MS PGothic" panose="020B0600070205080204" pitchFamily="34" charset="-128"/>
        <a:cs typeface="+mn-cs"/>
      </a:defRPr>
    </a:lvl8pPr>
    <a:lvl9pPr marL="3657600" algn="l" defTabSz="914400" rtl="0" eaLnBrk="1" latinLnBrk="0" hangingPunct="1">
      <a:defRPr sz="1600" kern="1200">
        <a:solidFill>
          <a:schemeClr val="tx1"/>
        </a:solidFill>
        <a:latin typeface="Helvetica" panose="020B0604020202020204" pitchFamily="34" charset="0"/>
        <a:ea typeface="MS PGothic" panose="020B0600070205080204" pitchFamily="34" charset="-128"/>
        <a:cs typeface="+mn-cs"/>
      </a:defRPr>
    </a:lvl9pPr>
  </p:defaultTextStyle>
  <p:extLst>
    <p:ext uri="{EFAFB233-063F-42B5-8137-9DF3F51BA10A}">
      <p15:sldGuideLst xmlns:p15="http://schemas.microsoft.com/office/powerpoint/2012/main">
        <p15:guide id="1" orient="horz" pos="707">
          <p15:clr>
            <a:srgbClr val="A4A3A4"/>
          </p15:clr>
        </p15:guide>
        <p15:guide id="2" pos="576">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9933"/>
    <a:srgbClr val="000099"/>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85BE263C-DBD7-4A20-BB59-AAB30ACAA65A}" styleName="Medium Style 3 - Accent 2">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2"/>
          </a:solidFill>
        </a:fill>
      </a:tcStyle>
    </a:lastCol>
    <a:firstCol>
      <a:tcTxStyle b="on">
        <a:fontRef idx="minor">
          <a:scrgbClr r="0" g="0" b="0"/>
        </a:fontRef>
        <a:schemeClr val="lt1"/>
      </a:tcTxStyle>
      <a:tcStyle>
        <a:tcBdr/>
        <a:fill>
          <a:solidFill>
            <a:schemeClr val="accent2"/>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2"/>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9018" autoAdjust="0"/>
    <p:restoredTop sz="95190" autoAdjust="0"/>
  </p:normalViewPr>
  <p:slideViewPr>
    <p:cSldViewPr snapToGrid="0">
      <p:cViewPr varScale="1">
        <p:scale>
          <a:sx n="109" d="100"/>
          <a:sy n="109" d="100"/>
        </p:scale>
        <p:origin x="552" y="62"/>
      </p:cViewPr>
      <p:guideLst>
        <p:guide orient="horz" pos="707"/>
        <p:guide pos="576"/>
      </p:guideLst>
    </p:cSldViewPr>
  </p:slideViewPr>
  <p:outlineViewPr>
    <p:cViewPr>
      <p:scale>
        <a:sx n="33" d="100"/>
        <a:sy n="33" d="100"/>
      </p:scale>
      <p:origin x="0" y="0"/>
    </p:cViewPr>
  </p:outlineViewPr>
  <p:notesTextViewPr>
    <p:cViewPr>
      <p:scale>
        <a:sx n="200" d="100"/>
        <a:sy n="200" d="100"/>
      </p:scale>
      <p:origin x="0" y="0"/>
    </p:cViewPr>
  </p:notesTextViewPr>
  <p:sorterViewPr>
    <p:cViewPr>
      <p:scale>
        <a:sx n="66" d="100"/>
        <a:sy n="66" d="100"/>
      </p:scale>
      <p:origin x="0" y="16158"/>
    </p:cViewPr>
  </p:sorterViewPr>
  <p:gridSpacing cx="76200" cy="76200"/>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21" Type="http://schemas.openxmlformats.org/officeDocument/2006/relationships/slide" Target="slides/slide20.xml"/><Relationship Id="rId42" Type="http://schemas.openxmlformats.org/officeDocument/2006/relationships/slide" Target="slides/slide41.xml"/><Relationship Id="rId63" Type="http://schemas.openxmlformats.org/officeDocument/2006/relationships/slide" Target="slides/slide62.xml"/><Relationship Id="rId84" Type="http://schemas.openxmlformats.org/officeDocument/2006/relationships/slide" Target="slides/slide83.xml"/><Relationship Id="rId138" Type="http://schemas.openxmlformats.org/officeDocument/2006/relationships/slide" Target="slides/slide137.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53" Type="http://schemas.openxmlformats.org/officeDocument/2006/relationships/slide" Target="slides/slide52.xml"/><Relationship Id="rId74" Type="http://schemas.openxmlformats.org/officeDocument/2006/relationships/slide" Target="slides/slide73.xml"/><Relationship Id="rId128" Type="http://schemas.openxmlformats.org/officeDocument/2006/relationships/slide" Target="slides/slide127.xml"/><Relationship Id="rId149" Type="http://schemas.openxmlformats.org/officeDocument/2006/relationships/handoutMaster" Target="handoutMasters/handoutMaster1.xml"/><Relationship Id="rId5" Type="http://schemas.openxmlformats.org/officeDocument/2006/relationships/slide" Target="slides/slide4.xml"/><Relationship Id="rId95" Type="http://schemas.openxmlformats.org/officeDocument/2006/relationships/slide" Target="slides/slide94.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113" Type="http://schemas.openxmlformats.org/officeDocument/2006/relationships/slide" Target="slides/slide112.xml"/><Relationship Id="rId118" Type="http://schemas.openxmlformats.org/officeDocument/2006/relationships/slide" Target="slides/slide117.xml"/><Relationship Id="rId134" Type="http://schemas.openxmlformats.org/officeDocument/2006/relationships/slide" Target="slides/slide133.xml"/><Relationship Id="rId139" Type="http://schemas.openxmlformats.org/officeDocument/2006/relationships/slide" Target="slides/slide138.xml"/><Relationship Id="rId80" Type="http://schemas.openxmlformats.org/officeDocument/2006/relationships/slide" Target="slides/slide79.xml"/><Relationship Id="rId85" Type="http://schemas.openxmlformats.org/officeDocument/2006/relationships/slide" Target="slides/slide84.xml"/><Relationship Id="rId150" Type="http://schemas.openxmlformats.org/officeDocument/2006/relationships/presProps" Target="presProps.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08" Type="http://schemas.openxmlformats.org/officeDocument/2006/relationships/slide" Target="slides/slide107.xml"/><Relationship Id="rId124" Type="http://schemas.openxmlformats.org/officeDocument/2006/relationships/slide" Target="slides/slide123.xml"/><Relationship Id="rId129" Type="http://schemas.openxmlformats.org/officeDocument/2006/relationships/slide" Target="slides/slide128.xml"/><Relationship Id="rId54" Type="http://schemas.openxmlformats.org/officeDocument/2006/relationships/slide" Target="slides/slide53.xml"/><Relationship Id="rId70" Type="http://schemas.openxmlformats.org/officeDocument/2006/relationships/slide" Target="slides/slide69.xml"/><Relationship Id="rId75" Type="http://schemas.openxmlformats.org/officeDocument/2006/relationships/slide" Target="slides/slide74.xml"/><Relationship Id="rId91" Type="http://schemas.openxmlformats.org/officeDocument/2006/relationships/slide" Target="slides/slide90.xml"/><Relationship Id="rId96" Type="http://schemas.openxmlformats.org/officeDocument/2006/relationships/slide" Target="slides/slide95.xml"/><Relationship Id="rId140" Type="http://schemas.openxmlformats.org/officeDocument/2006/relationships/slide" Target="slides/slide139.xml"/><Relationship Id="rId145" Type="http://schemas.openxmlformats.org/officeDocument/2006/relationships/slide" Target="slides/slide144.xml"/><Relationship Id="rId1" Type="http://schemas.openxmlformats.org/officeDocument/2006/relationships/slideMaster" Target="slideMasters/slideMaster1.xml"/><Relationship Id="rId6" Type="http://schemas.openxmlformats.org/officeDocument/2006/relationships/slide" Target="slides/slide5.xml"/><Relationship Id="rId23" Type="http://schemas.openxmlformats.org/officeDocument/2006/relationships/slide" Target="slides/slide22.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119" Type="http://schemas.openxmlformats.org/officeDocument/2006/relationships/slide" Target="slides/slide118.xml"/><Relationship Id="rId44" Type="http://schemas.openxmlformats.org/officeDocument/2006/relationships/slide" Target="slides/slide43.xml"/><Relationship Id="rId60" Type="http://schemas.openxmlformats.org/officeDocument/2006/relationships/slide" Target="slides/slide59.xml"/><Relationship Id="rId65" Type="http://schemas.openxmlformats.org/officeDocument/2006/relationships/slide" Target="slides/slide64.xml"/><Relationship Id="rId81" Type="http://schemas.openxmlformats.org/officeDocument/2006/relationships/slide" Target="slides/slide80.xml"/><Relationship Id="rId86" Type="http://schemas.openxmlformats.org/officeDocument/2006/relationships/slide" Target="slides/slide85.xml"/><Relationship Id="rId130" Type="http://schemas.openxmlformats.org/officeDocument/2006/relationships/slide" Target="slides/slide129.xml"/><Relationship Id="rId135" Type="http://schemas.openxmlformats.org/officeDocument/2006/relationships/slide" Target="slides/slide134.xml"/><Relationship Id="rId151" Type="http://schemas.openxmlformats.org/officeDocument/2006/relationships/viewProps" Target="viewProps.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slide" Target="slides/slide10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slide" Target="slides/slide103.xml"/><Relationship Id="rId120" Type="http://schemas.openxmlformats.org/officeDocument/2006/relationships/slide" Target="slides/slide119.xml"/><Relationship Id="rId125" Type="http://schemas.openxmlformats.org/officeDocument/2006/relationships/slide" Target="slides/slide124.xml"/><Relationship Id="rId141" Type="http://schemas.openxmlformats.org/officeDocument/2006/relationships/slide" Target="slides/slide140.xml"/><Relationship Id="rId146" Type="http://schemas.openxmlformats.org/officeDocument/2006/relationships/slide" Target="slides/slide145.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15" Type="http://schemas.openxmlformats.org/officeDocument/2006/relationships/slide" Target="slides/slide114.xml"/><Relationship Id="rId131" Type="http://schemas.openxmlformats.org/officeDocument/2006/relationships/slide" Target="slides/slide130.xml"/><Relationship Id="rId136" Type="http://schemas.openxmlformats.org/officeDocument/2006/relationships/slide" Target="slides/slide135.xml"/><Relationship Id="rId61" Type="http://schemas.openxmlformats.org/officeDocument/2006/relationships/slide" Target="slides/slide60.xml"/><Relationship Id="rId82" Type="http://schemas.openxmlformats.org/officeDocument/2006/relationships/slide" Target="slides/slide81.xml"/><Relationship Id="rId152" Type="http://schemas.openxmlformats.org/officeDocument/2006/relationships/theme" Target="theme/theme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126" Type="http://schemas.openxmlformats.org/officeDocument/2006/relationships/slide" Target="slides/slide125.xml"/><Relationship Id="rId147" Type="http://schemas.openxmlformats.org/officeDocument/2006/relationships/slide" Target="slides/slide14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121" Type="http://schemas.openxmlformats.org/officeDocument/2006/relationships/slide" Target="slides/slide120.xml"/><Relationship Id="rId142" Type="http://schemas.openxmlformats.org/officeDocument/2006/relationships/slide" Target="slides/slide141.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116" Type="http://schemas.openxmlformats.org/officeDocument/2006/relationships/slide" Target="slides/slide115.xml"/><Relationship Id="rId137" Type="http://schemas.openxmlformats.org/officeDocument/2006/relationships/slide" Target="slides/slide136.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slide" Target="slides/slide110.xml"/><Relationship Id="rId132" Type="http://schemas.openxmlformats.org/officeDocument/2006/relationships/slide" Target="slides/slide131.xml"/><Relationship Id="rId153" Type="http://schemas.openxmlformats.org/officeDocument/2006/relationships/tableStyles" Target="tableStyles.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106" Type="http://schemas.openxmlformats.org/officeDocument/2006/relationships/slide" Target="slides/slide105.xml"/><Relationship Id="rId127" Type="http://schemas.openxmlformats.org/officeDocument/2006/relationships/slide" Target="slides/slide126.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78" Type="http://schemas.openxmlformats.org/officeDocument/2006/relationships/slide" Target="slides/slide77.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143" Type="http://schemas.openxmlformats.org/officeDocument/2006/relationships/slide" Target="slides/slide142.xml"/><Relationship Id="rId148"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26" Type="http://schemas.openxmlformats.org/officeDocument/2006/relationships/slide" Target="slides/slide25.xml"/><Relationship Id="rId47" Type="http://schemas.openxmlformats.org/officeDocument/2006/relationships/slide" Target="slides/slide46.xml"/><Relationship Id="rId68" Type="http://schemas.openxmlformats.org/officeDocument/2006/relationships/slide" Target="slides/slide67.xml"/><Relationship Id="rId89" Type="http://schemas.openxmlformats.org/officeDocument/2006/relationships/slide" Target="slides/slide88.xml"/><Relationship Id="rId112" Type="http://schemas.openxmlformats.org/officeDocument/2006/relationships/slide" Target="slides/slide111.xml"/><Relationship Id="rId133" Type="http://schemas.openxmlformats.org/officeDocument/2006/relationships/slide" Target="slides/slide132.xml"/><Relationship Id="rId16" Type="http://schemas.openxmlformats.org/officeDocument/2006/relationships/slide" Target="slides/slide15.xml"/><Relationship Id="rId37" Type="http://schemas.openxmlformats.org/officeDocument/2006/relationships/slide" Target="slides/slide36.xml"/><Relationship Id="rId58" Type="http://schemas.openxmlformats.org/officeDocument/2006/relationships/slide" Target="slides/slide57.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 Id="rId144" Type="http://schemas.openxmlformats.org/officeDocument/2006/relationships/slide" Target="slides/slide143.xml"/><Relationship Id="rId90" Type="http://schemas.openxmlformats.org/officeDocument/2006/relationships/slide" Target="slides/slide89.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67266" name="Rectangle 2">
            <a:extLst>
              <a:ext uri="{FF2B5EF4-FFF2-40B4-BE49-F238E27FC236}">
                <a16:creationId xmlns:a16="http://schemas.microsoft.com/office/drawing/2014/main" id="{C6EF5354-BFFB-44DF-8FA7-1A088153BD87}"/>
              </a:ext>
            </a:extLst>
          </p:cNvPr>
          <p:cNvSpPr>
            <a:spLocks noGrp="1" noChangeArrowheads="1"/>
          </p:cNvSpPr>
          <p:nvPr>
            <p:ph type="hdr" sz="quarter"/>
          </p:nvPr>
        </p:nvSpPr>
        <p:spPr bwMode="auto">
          <a:xfrm>
            <a:off x="0" y="0"/>
            <a:ext cx="3032125" cy="463550"/>
          </a:xfrm>
          <a:prstGeom prst="rect">
            <a:avLst/>
          </a:prstGeom>
          <a:noFill/>
          <a:ln w="9525">
            <a:noFill/>
            <a:miter lim="800000"/>
            <a:headEnd/>
            <a:tailEnd/>
          </a:ln>
          <a:effectLst/>
        </p:spPr>
        <p:txBody>
          <a:bodyPr vert="horz" wrap="square" lIns="93027" tIns="46514" rIns="93027" bIns="46514" numCol="1" anchor="t" anchorCtr="0" compatLnSpc="1">
            <a:prstTxWarp prst="textNoShape">
              <a:avLst/>
            </a:prstTxWarp>
          </a:bodyPr>
          <a:lstStyle>
            <a:lvl1pPr defTabSz="930275">
              <a:defRPr sz="1300">
                <a:latin typeface="Helvetica" charset="0"/>
                <a:ea typeface="+mn-ea"/>
                <a:cs typeface="+mn-cs"/>
              </a:defRPr>
            </a:lvl1pPr>
          </a:lstStyle>
          <a:p>
            <a:pPr>
              <a:defRPr/>
            </a:pPr>
            <a:endParaRPr lang="en-US"/>
          </a:p>
        </p:txBody>
      </p:sp>
      <p:sp>
        <p:nvSpPr>
          <p:cNvPr id="267267" name="Rectangle 3">
            <a:extLst>
              <a:ext uri="{FF2B5EF4-FFF2-40B4-BE49-F238E27FC236}">
                <a16:creationId xmlns:a16="http://schemas.microsoft.com/office/drawing/2014/main" id="{5BBF6CF9-ADFE-4F6E-89A0-8CB582D8FFC5}"/>
              </a:ext>
            </a:extLst>
          </p:cNvPr>
          <p:cNvSpPr>
            <a:spLocks noGrp="1" noChangeArrowheads="1"/>
          </p:cNvSpPr>
          <p:nvPr>
            <p:ph type="dt" sz="quarter" idx="1"/>
          </p:nvPr>
        </p:nvSpPr>
        <p:spPr bwMode="auto">
          <a:xfrm>
            <a:off x="3965575" y="0"/>
            <a:ext cx="3032125" cy="463550"/>
          </a:xfrm>
          <a:prstGeom prst="rect">
            <a:avLst/>
          </a:prstGeom>
          <a:noFill/>
          <a:ln w="9525">
            <a:noFill/>
            <a:miter lim="800000"/>
            <a:headEnd/>
            <a:tailEnd/>
          </a:ln>
          <a:effectLst/>
        </p:spPr>
        <p:txBody>
          <a:bodyPr vert="horz" wrap="square" lIns="93027" tIns="46514" rIns="93027" bIns="46514" numCol="1" anchor="t" anchorCtr="0" compatLnSpc="1">
            <a:prstTxWarp prst="textNoShape">
              <a:avLst/>
            </a:prstTxWarp>
          </a:bodyPr>
          <a:lstStyle>
            <a:lvl1pPr algn="r" defTabSz="930275">
              <a:defRPr sz="1300">
                <a:latin typeface="Helvetica" charset="0"/>
                <a:ea typeface="+mn-ea"/>
                <a:cs typeface="+mn-cs"/>
              </a:defRPr>
            </a:lvl1pPr>
          </a:lstStyle>
          <a:p>
            <a:pPr>
              <a:defRPr/>
            </a:pPr>
            <a:endParaRPr lang="en-US"/>
          </a:p>
        </p:txBody>
      </p:sp>
      <p:sp>
        <p:nvSpPr>
          <p:cNvPr id="267268" name="Rectangle 4">
            <a:extLst>
              <a:ext uri="{FF2B5EF4-FFF2-40B4-BE49-F238E27FC236}">
                <a16:creationId xmlns:a16="http://schemas.microsoft.com/office/drawing/2014/main" id="{8C120FC7-7BCE-4696-BB5D-C087861E4B4E}"/>
              </a:ext>
            </a:extLst>
          </p:cNvPr>
          <p:cNvSpPr>
            <a:spLocks noGrp="1" noChangeArrowheads="1"/>
          </p:cNvSpPr>
          <p:nvPr>
            <p:ph type="ftr" sz="quarter" idx="2"/>
          </p:nvPr>
        </p:nvSpPr>
        <p:spPr bwMode="auto">
          <a:xfrm>
            <a:off x="0" y="8820150"/>
            <a:ext cx="3032125" cy="463550"/>
          </a:xfrm>
          <a:prstGeom prst="rect">
            <a:avLst/>
          </a:prstGeom>
          <a:noFill/>
          <a:ln w="9525">
            <a:noFill/>
            <a:miter lim="800000"/>
            <a:headEnd/>
            <a:tailEnd/>
          </a:ln>
          <a:effectLst/>
        </p:spPr>
        <p:txBody>
          <a:bodyPr vert="horz" wrap="square" lIns="93027" tIns="46514" rIns="93027" bIns="46514" numCol="1" anchor="b" anchorCtr="0" compatLnSpc="1">
            <a:prstTxWarp prst="textNoShape">
              <a:avLst/>
            </a:prstTxWarp>
          </a:bodyPr>
          <a:lstStyle>
            <a:lvl1pPr defTabSz="930275">
              <a:defRPr sz="1300">
                <a:latin typeface="Helvetica" charset="0"/>
                <a:ea typeface="+mn-ea"/>
                <a:cs typeface="+mn-cs"/>
              </a:defRPr>
            </a:lvl1pPr>
          </a:lstStyle>
          <a:p>
            <a:pPr>
              <a:defRPr/>
            </a:pPr>
            <a:endParaRPr lang="en-US"/>
          </a:p>
        </p:txBody>
      </p:sp>
      <p:sp>
        <p:nvSpPr>
          <p:cNvPr id="267269" name="Rectangle 5">
            <a:extLst>
              <a:ext uri="{FF2B5EF4-FFF2-40B4-BE49-F238E27FC236}">
                <a16:creationId xmlns:a16="http://schemas.microsoft.com/office/drawing/2014/main" id="{6735A123-7D3E-455E-AB82-1C3749BB052A}"/>
              </a:ext>
            </a:extLst>
          </p:cNvPr>
          <p:cNvSpPr>
            <a:spLocks noGrp="1" noChangeArrowheads="1"/>
          </p:cNvSpPr>
          <p:nvPr>
            <p:ph type="sldNum" sz="quarter" idx="3"/>
          </p:nvPr>
        </p:nvSpPr>
        <p:spPr bwMode="auto">
          <a:xfrm>
            <a:off x="3965575" y="8820150"/>
            <a:ext cx="3032125" cy="463550"/>
          </a:xfrm>
          <a:prstGeom prst="rect">
            <a:avLst/>
          </a:prstGeom>
          <a:noFill/>
          <a:ln w="9525">
            <a:noFill/>
            <a:miter lim="800000"/>
            <a:headEnd/>
            <a:tailEnd/>
          </a:ln>
          <a:effectLst/>
        </p:spPr>
        <p:txBody>
          <a:bodyPr vert="horz" wrap="square" lIns="93027" tIns="46514" rIns="93027" bIns="46514" numCol="1" anchor="b" anchorCtr="0" compatLnSpc="1">
            <a:prstTxWarp prst="textNoShape">
              <a:avLst/>
            </a:prstTxWarp>
          </a:bodyPr>
          <a:lstStyle>
            <a:lvl1pPr algn="r" defTabSz="930275">
              <a:defRPr sz="1300"/>
            </a:lvl1pPr>
          </a:lstStyle>
          <a:p>
            <a:pPr>
              <a:defRPr/>
            </a:pPr>
            <a:fld id="{A8B4C920-550B-4EA7-9CB5-2D8883A273BF}" type="slidenum">
              <a:rPr lang="en-US" altLang="en-US"/>
              <a:pPr>
                <a:defRPr/>
              </a:pPr>
              <a:t>‹#›</a:t>
            </a:fld>
            <a:endParaRPr lang="en-US" altLang="en-US"/>
          </a:p>
        </p:txBody>
      </p:sp>
    </p:spTree>
    <p:extLst>
      <p:ext uri="{BB962C8B-B14F-4D97-AF65-F5344CB8AC3E}">
        <p14:creationId xmlns:p14="http://schemas.microsoft.com/office/powerpoint/2010/main" val="1"/>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40642" name="Rectangle 2">
            <a:extLst>
              <a:ext uri="{FF2B5EF4-FFF2-40B4-BE49-F238E27FC236}">
                <a16:creationId xmlns:a16="http://schemas.microsoft.com/office/drawing/2014/main" id="{2E8AF117-EF14-4BF3-AB7D-D75C4F934CCD}"/>
              </a:ext>
            </a:extLst>
          </p:cNvPr>
          <p:cNvSpPr>
            <a:spLocks noGrp="1" noChangeArrowheads="1"/>
          </p:cNvSpPr>
          <p:nvPr>
            <p:ph type="hdr" sz="quarter"/>
          </p:nvPr>
        </p:nvSpPr>
        <p:spPr bwMode="auto">
          <a:xfrm>
            <a:off x="0" y="0"/>
            <a:ext cx="3032125" cy="463550"/>
          </a:xfrm>
          <a:prstGeom prst="rect">
            <a:avLst/>
          </a:prstGeom>
          <a:noFill/>
          <a:ln w="9525">
            <a:noFill/>
            <a:miter lim="800000"/>
            <a:headEnd/>
            <a:tailEnd/>
          </a:ln>
          <a:effectLst/>
        </p:spPr>
        <p:txBody>
          <a:bodyPr vert="horz" wrap="none" lIns="93027" tIns="46514" rIns="93027" bIns="46514" numCol="1" anchor="t" anchorCtr="0" compatLnSpc="1">
            <a:prstTxWarp prst="textNoShape">
              <a:avLst/>
            </a:prstTxWarp>
          </a:bodyPr>
          <a:lstStyle>
            <a:lvl1pPr defTabSz="930275">
              <a:defRPr sz="1300">
                <a:latin typeface="Helvetica" charset="0"/>
                <a:ea typeface="+mn-ea"/>
                <a:cs typeface="+mn-cs"/>
              </a:defRPr>
            </a:lvl1pPr>
          </a:lstStyle>
          <a:p>
            <a:pPr>
              <a:defRPr/>
            </a:pPr>
            <a:endParaRPr lang="en-US"/>
          </a:p>
        </p:txBody>
      </p:sp>
      <p:sp>
        <p:nvSpPr>
          <p:cNvPr id="240643" name="Rectangle 3">
            <a:extLst>
              <a:ext uri="{FF2B5EF4-FFF2-40B4-BE49-F238E27FC236}">
                <a16:creationId xmlns:a16="http://schemas.microsoft.com/office/drawing/2014/main" id="{D7D2DA5C-BED3-45D1-AFD2-94AF29863ABC}"/>
              </a:ext>
            </a:extLst>
          </p:cNvPr>
          <p:cNvSpPr>
            <a:spLocks noGrp="1" noChangeArrowheads="1"/>
          </p:cNvSpPr>
          <p:nvPr>
            <p:ph type="dt" idx="1"/>
          </p:nvPr>
        </p:nvSpPr>
        <p:spPr bwMode="auto">
          <a:xfrm>
            <a:off x="3965575" y="0"/>
            <a:ext cx="3032125" cy="463550"/>
          </a:xfrm>
          <a:prstGeom prst="rect">
            <a:avLst/>
          </a:prstGeom>
          <a:noFill/>
          <a:ln w="9525">
            <a:noFill/>
            <a:miter lim="800000"/>
            <a:headEnd/>
            <a:tailEnd/>
          </a:ln>
          <a:effectLst/>
        </p:spPr>
        <p:txBody>
          <a:bodyPr vert="horz" wrap="none" lIns="93027" tIns="46514" rIns="93027" bIns="46514" numCol="1" anchor="t" anchorCtr="0" compatLnSpc="1">
            <a:prstTxWarp prst="textNoShape">
              <a:avLst/>
            </a:prstTxWarp>
          </a:bodyPr>
          <a:lstStyle>
            <a:lvl1pPr algn="r" defTabSz="930275">
              <a:defRPr sz="1300">
                <a:latin typeface="Helvetica" charset="0"/>
                <a:ea typeface="+mn-ea"/>
                <a:cs typeface="+mn-cs"/>
              </a:defRPr>
            </a:lvl1pPr>
          </a:lstStyle>
          <a:p>
            <a:pPr>
              <a:defRPr/>
            </a:pPr>
            <a:endParaRPr lang="en-US"/>
          </a:p>
        </p:txBody>
      </p:sp>
      <p:sp>
        <p:nvSpPr>
          <p:cNvPr id="3076" name="Rectangle 4">
            <a:extLst>
              <a:ext uri="{FF2B5EF4-FFF2-40B4-BE49-F238E27FC236}">
                <a16:creationId xmlns:a16="http://schemas.microsoft.com/office/drawing/2014/main" id="{A2936E5F-4C9B-4144-9261-C3F188AA67D9}"/>
              </a:ext>
            </a:extLst>
          </p:cNvPr>
          <p:cNvSpPr>
            <a:spLocks noGrp="1" noRot="1" noChangeAspect="1" noChangeArrowheads="1" noTextEdit="1"/>
          </p:cNvSpPr>
          <p:nvPr>
            <p:ph type="sldImg" idx="2"/>
          </p:nvPr>
        </p:nvSpPr>
        <p:spPr bwMode="auto">
          <a:xfrm>
            <a:off x="1177925" y="696913"/>
            <a:ext cx="4641850" cy="3481387"/>
          </a:xfrm>
          <a:prstGeom prst="rect">
            <a:avLst/>
          </a:prstGeom>
          <a:noFill/>
          <a:ln w="9525">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240645" name="Rectangle 5">
            <a:extLst>
              <a:ext uri="{FF2B5EF4-FFF2-40B4-BE49-F238E27FC236}">
                <a16:creationId xmlns:a16="http://schemas.microsoft.com/office/drawing/2014/main" id="{D73F14C5-05F8-4300-9D01-F3633C854740}"/>
              </a:ext>
            </a:extLst>
          </p:cNvPr>
          <p:cNvSpPr>
            <a:spLocks noGrp="1" noChangeArrowheads="1"/>
          </p:cNvSpPr>
          <p:nvPr>
            <p:ph type="body" sz="quarter" idx="3"/>
          </p:nvPr>
        </p:nvSpPr>
        <p:spPr bwMode="auto">
          <a:xfrm>
            <a:off x="931863" y="4410075"/>
            <a:ext cx="5133975" cy="4176713"/>
          </a:xfrm>
          <a:prstGeom prst="rect">
            <a:avLst/>
          </a:prstGeom>
          <a:noFill/>
          <a:ln w="9525">
            <a:noFill/>
            <a:miter lim="800000"/>
            <a:headEnd/>
            <a:tailEnd/>
          </a:ln>
          <a:effectLst/>
        </p:spPr>
        <p:txBody>
          <a:bodyPr vert="horz" wrap="none" lIns="93027" tIns="46514" rIns="93027" bIns="46514" numCol="1" anchor="t" anchorCtr="0" compatLnSpc="1">
            <a:prstTxWarp prst="textNoShape">
              <a:avLst/>
            </a:prstTxWarp>
          </a:body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240646" name="Rectangle 6">
            <a:extLst>
              <a:ext uri="{FF2B5EF4-FFF2-40B4-BE49-F238E27FC236}">
                <a16:creationId xmlns:a16="http://schemas.microsoft.com/office/drawing/2014/main" id="{BCB6CAD9-A006-4455-8054-9CACB290288C}"/>
              </a:ext>
            </a:extLst>
          </p:cNvPr>
          <p:cNvSpPr>
            <a:spLocks noGrp="1" noChangeArrowheads="1"/>
          </p:cNvSpPr>
          <p:nvPr>
            <p:ph type="ftr" sz="quarter" idx="4"/>
          </p:nvPr>
        </p:nvSpPr>
        <p:spPr bwMode="auto">
          <a:xfrm>
            <a:off x="0" y="8820150"/>
            <a:ext cx="3032125" cy="463550"/>
          </a:xfrm>
          <a:prstGeom prst="rect">
            <a:avLst/>
          </a:prstGeom>
          <a:noFill/>
          <a:ln w="9525">
            <a:noFill/>
            <a:miter lim="800000"/>
            <a:headEnd/>
            <a:tailEnd/>
          </a:ln>
          <a:effectLst/>
        </p:spPr>
        <p:txBody>
          <a:bodyPr vert="horz" wrap="none" lIns="93027" tIns="46514" rIns="93027" bIns="46514" numCol="1" anchor="b" anchorCtr="0" compatLnSpc="1">
            <a:prstTxWarp prst="textNoShape">
              <a:avLst/>
            </a:prstTxWarp>
          </a:bodyPr>
          <a:lstStyle>
            <a:lvl1pPr defTabSz="930275">
              <a:defRPr sz="1300">
                <a:latin typeface="Helvetica" charset="0"/>
                <a:ea typeface="+mn-ea"/>
                <a:cs typeface="+mn-cs"/>
              </a:defRPr>
            </a:lvl1pPr>
          </a:lstStyle>
          <a:p>
            <a:pPr>
              <a:defRPr/>
            </a:pPr>
            <a:endParaRPr lang="en-US"/>
          </a:p>
        </p:txBody>
      </p:sp>
      <p:sp>
        <p:nvSpPr>
          <p:cNvPr id="240647" name="Rectangle 7">
            <a:extLst>
              <a:ext uri="{FF2B5EF4-FFF2-40B4-BE49-F238E27FC236}">
                <a16:creationId xmlns:a16="http://schemas.microsoft.com/office/drawing/2014/main" id="{63060AD7-0C3D-477B-BD60-55C8EBDB9451}"/>
              </a:ext>
            </a:extLst>
          </p:cNvPr>
          <p:cNvSpPr>
            <a:spLocks noGrp="1" noChangeArrowheads="1"/>
          </p:cNvSpPr>
          <p:nvPr>
            <p:ph type="sldNum" sz="quarter" idx="5"/>
          </p:nvPr>
        </p:nvSpPr>
        <p:spPr bwMode="auto">
          <a:xfrm>
            <a:off x="3965575" y="8820150"/>
            <a:ext cx="3032125" cy="463550"/>
          </a:xfrm>
          <a:prstGeom prst="rect">
            <a:avLst/>
          </a:prstGeom>
          <a:noFill/>
          <a:ln w="9525">
            <a:noFill/>
            <a:miter lim="800000"/>
            <a:headEnd/>
            <a:tailEnd/>
          </a:ln>
          <a:effectLst/>
        </p:spPr>
        <p:txBody>
          <a:bodyPr vert="horz" wrap="none" lIns="93027" tIns="46514" rIns="93027" bIns="46514" numCol="1" anchor="b" anchorCtr="0" compatLnSpc="1">
            <a:prstTxWarp prst="textNoShape">
              <a:avLst/>
            </a:prstTxWarp>
          </a:bodyPr>
          <a:lstStyle>
            <a:lvl1pPr algn="r" defTabSz="930275">
              <a:defRPr sz="1300"/>
            </a:lvl1pPr>
          </a:lstStyle>
          <a:p>
            <a:pPr>
              <a:defRPr/>
            </a:pPr>
            <a:fld id="{AE66C03C-4B0E-4149-8287-A3B340EB818D}" type="slidenum">
              <a:rPr lang="en-US" altLang="en-US"/>
              <a:pPr>
                <a:defRPr/>
              </a:pPr>
              <a:t>‹#›</a:t>
            </a:fld>
            <a:endParaRPr lang="en-US" altLang="en-US"/>
          </a:p>
        </p:txBody>
      </p:sp>
    </p:spTree>
  </p:cSld>
  <p:clrMap bg1="lt1" tx1="dk1" bg2="lt2" tx2="dk2" accent1="accent1" accent2="accent2" accent3="accent3" accent4="accent4" accent5="accent5" accent6="accent6" hlink="hlink" folHlink="folHlink"/>
  <p:notesStyle>
    <a:lvl1pPr algn="l" rtl="0" eaLnBrk="0" fontAlgn="base" hangingPunct="0">
      <a:spcBef>
        <a:spcPct val="30000"/>
      </a:spcBef>
      <a:spcAft>
        <a:spcPct val="0"/>
      </a:spcAft>
      <a:defRPr sz="1200" kern="1200">
        <a:solidFill>
          <a:schemeClr val="tx1"/>
        </a:solidFill>
        <a:latin typeface="Times New Roman" charset="0"/>
        <a:ea typeface="MS PGothic" panose="020B0600070205080204" pitchFamily="34" charset="-128"/>
        <a:cs typeface="ＭＳ Ｐゴシック" charset="0"/>
      </a:defRPr>
    </a:lvl1pPr>
    <a:lvl2pPr marL="457200" algn="l" rtl="0" eaLnBrk="0" fontAlgn="base" hangingPunct="0">
      <a:spcBef>
        <a:spcPct val="30000"/>
      </a:spcBef>
      <a:spcAft>
        <a:spcPct val="0"/>
      </a:spcAft>
      <a:defRPr sz="1200" kern="1200">
        <a:solidFill>
          <a:schemeClr val="tx1"/>
        </a:solidFill>
        <a:latin typeface="Times New Roman" charset="0"/>
        <a:ea typeface="MS PGothic" panose="020B0600070205080204" pitchFamily="34" charset="-128"/>
        <a:cs typeface="+mn-cs"/>
      </a:defRPr>
    </a:lvl2pPr>
    <a:lvl3pPr marL="914400" algn="l" rtl="0" eaLnBrk="0" fontAlgn="base" hangingPunct="0">
      <a:spcBef>
        <a:spcPct val="30000"/>
      </a:spcBef>
      <a:spcAft>
        <a:spcPct val="0"/>
      </a:spcAft>
      <a:defRPr sz="1200" kern="1200">
        <a:solidFill>
          <a:schemeClr val="tx1"/>
        </a:solidFill>
        <a:latin typeface="Times New Roman" charset="0"/>
        <a:ea typeface="MS PGothic" panose="020B0600070205080204" pitchFamily="34" charset="-128"/>
        <a:cs typeface="+mn-cs"/>
      </a:defRPr>
    </a:lvl3pPr>
    <a:lvl4pPr marL="1371600" algn="l" rtl="0" eaLnBrk="0" fontAlgn="base" hangingPunct="0">
      <a:spcBef>
        <a:spcPct val="30000"/>
      </a:spcBef>
      <a:spcAft>
        <a:spcPct val="0"/>
      </a:spcAft>
      <a:defRPr sz="1200" kern="1200">
        <a:solidFill>
          <a:schemeClr val="tx1"/>
        </a:solidFill>
        <a:latin typeface="Times New Roman" charset="0"/>
        <a:ea typeface="MS PGothic" panose="020B0600070205080204" pitchFamily="34" charset="-128"/>
        <a:cs typeface="+mn-cs"/>
      </a:defRPr>
    </a:lvl4pPr>
    <a:lvl5pPr marL="1828800" algn="l" rtl="0" eaLnBrk="0" fontAlgn="base" hangingPunct="0">
      <a:spcBef>
        <a:spcPct val="30000"/>
      </a:spcBef>
      <a:spcAft>
        <a:spcPct val="0"/>
      </a:spcAft>
      <a:defRPr sz="1200" kern="1200">
        <a:solidFill>
          <a:schemeClr val="tx1"/>
        </a:solidFill>
        <a:latin typeface="Times New Roman" charset="0"/>
        <a:ea typeface="MS PGothic" panose="020B0600070205080204" pitchFamily="34" charset="-128"/>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95.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98.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100.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102.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104.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105.xml"/><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2" Type="http://schemas.openxmlformats.org/officeDocument/2006/relationships/slide" Target="../slides/slide106.xml"/><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2" Type="http://schemas.openxmlformats.org/officeDocument/2006/relationships/slide" Target="../slides/slide107.xml"/><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2" Type="http://schemas.openxmlformats.org/officeDocument/2006/relationships/slide" Target="../slides/slide108.xml"/><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2" Type="http://schemas.openxmlformats.org/officeDocument/2006/relationships/slide" Target="../slides/slide109.xml"/><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2" Type="http://schemas.openxmlformats.org/officeDocument/2006/relationships/slide" Target="../slides/slide110.xml"/><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2" Type="http://schemas.openxmlformats.org/officeDocument/2006/relationships/slide" Target="../slides/slide111.xml"/><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2" Type="http://schemas.openxmlformats.org/officeDocument/2006/relationships/slide" Target="../slides/slide112.xml"/><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2" Type="http://schemas.openxmlformats.org/officeDocument/2006/relationships/slide" Target="../slides/slide113.xml"/><Relationship Id="rId1"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Id2" Type="http://schemas.openxmlformats.org/officeDocument/2006/relationships/slide" Target="../slides/slide114.xml"/><Relationship Id="rId1" Type="http://schemas.openxmlformats.org/officeDocument/2006/relationships/notesMaster" Target="../notesMasters/notesMaster1.xml"/></Relationships>
</file>

<file path=ppt/notesSlides/_rels/notesSlide95.xml.rels><?xml version="1.0" encoding="UTF-8" standalone="yes"?>
<Relationships xmlns="http://schemas.openxmlformats.org/package/2006/relationships"><Relationship Id="rId2" Type="http://schemas.openxmlformats.org/officeDocument/2006/relationships/slide" Target="../slides/slide115.xml"/><Relationship Id="rId1" Type="http://schemas.openxmlformats.org/officeDocument/2006/relationships/notesMaster" Target="../notesMasters/notesMaster1.xml"/></Relationships>
</file>

<file path=ppt/notesSlides/_rels/notesSlide96.xml.rels><?xml version="1.0" encoding="UTF-8" standalone="yes"?>
<Relationships xmlns="http://schemas.openxmlformats.org/package/2006/relationships"><Relationship Id="rId2" Type="http://schemas.openxmlformats.org/officeDocument/2006/relationships/slide" Target="../slides/slide116.xml"/><Relationship Id="rId1" Type="http://schemas.openxmlformats.org/officeDocument/2006/relationships/notesMaster" Target="../notesMasters/notesMaster1.xml"/></Relationships>
</file>

<file path=ppt/notesSlides/_rels/notesSlide97.xml.rels><?xml version="1.0" encoding="UTF-8" standalone="yes"?>
<Relationships xmlns="http://schemas.openxmlformats.org/package/2006/relationships"><Relationship Id="rId2" Type="http://schemas.openxmlformats.org/officeDocument/2006/relationships/slide" Target="../slides/slide117.xml"/><Relationship Id="rId1" Type="http://schemas.openxmlformats.org/officeDocument/2006/relationships/notesMaster" Target="../notesMasters/notesMaster1.xml"/></Relationships>
</file>

<file path=ppt/notesSlides/_rels/notesSlide98.xml.rels><?xml version="1.0" encoding="UTF-8" standalone="yes"?>
<Relationships xmlns="http://schemas.openxmlformats.org/package/2006/relationships"><Relationship Id="rId2" Type="http://schemas.openxmlformats.org/officeDocument/2006/relationships/slide" Target="../slides/slide118.xml"/><Relationship Id="rId1" Type="http://schemas.openxmlformats.org/officeDocument/2006/relationships/notesMaster" Target="../notesMasters/notesMaster1.xml"/></Relationships>
</file>

<file path=ppt/notesSlides/_rels/notesSlide99.xml.rels><?xml version="1.0" encoding="UTF-8" standalone="yes"?>
<Relationships xmlns="http://schemas.openxmlformats.org/package/2006/relationships"><Relationship Id="rId2" Type="http://schemas.openxmlformats.org/officeDocument/2006/relationships/slide" Target="../slides/slide119.xml"/><Relationship Id="rId1" Type="http://schemas.openxmlformats.org/officeDocument/2006/relationships/notesMaster" Target="../notesMasters/notesMaster1.xml"/></Relationships>
</file>

<file path=ppt/notesSlides/_rels/notesSlide100.xml.rels><?xml version="1.0" encoding="UTF-8" standalone="yes"?>
<Relationships xmlns="http://schemas.openxmlformats.org/package/2006/relationships"><Relationship Id="rId2" Type="http://schemas.openxmlformats.org/officeDocument/2006/relationships/slide" Target="../slides/slide120.xml"/><Relationship Id="rId1" Type="http://schemas.openxmlformats.org/officeDocument/2006/relationships/notesMaster" Target="../notesMasters/notesMaster1.xml"/></Relationships>
</file>

<file path=ppt/notesSlides/_rels/notesSlide101.xml.rels><?xml version="1.0" encoding="UTF-8" standalone="yes"?>
<Relationships xmlns="http://schemas.openxmlformats.org/package/2006/relationships"><Relationship Id="rId2" Type="http://schemas.openxmlformats.org/officeDocument/2006/relationships/slide" Target="../slides/slide121.xml"/><Relationship Id="rId1" Type="http://schemas.openxmlformats.org/officeDocument/2006/relationships/notesMaster" Target="../notesMasters/notesMaster1.xml"/></Relationships>
</file>

<file path=ppt/notesSlides/_rels/notesSlide102.xml.rels><?xml version="1.0" encoding="UTF-8" standalone="yes"?>
<Relationships xmlns="http://schemas.openxmlformats.org/package/2006/relationships"><Relationship Id="rId2" Type="http://schemas.openxmlformats.org/officeDocument/2006/relationships/slide" Target="../slides/slide122.xml"/><Relationship Id="rId1" Type="http://schemas.openxmlformats.org/officeDocument/2006/relationships/notesMaster" Target="../notesMasters/notesMaster1.xml"/></Relationships>
</file>

<file path=ppt/notesSlides/_rels/notesSlide103.xml.rels><?xml version="1.0" encoding="UTF-8" standalone="yes"?>
<Relationships xmlns="http://schemas.openxmlformats.org/package/2006/relationships"><Relationship Id="rId2" Type="http://schemas.openxmlformats.org/officeDocument/2006/relationships/slide" Target="../slides/slide124.xml"/><Relationship Id="rId1" Type="http://schemas.openxmlformats.org/officeDocument/2006/relationships/notesMaster" Target="../notesMasters/notesMaster1.xml"/></Relationships>
</file>

<file path=ppt/notesSlides/_rels/notesSlide104.xml.rels><?xml version="1.0" encoding="UTF-8" standalone="yes"?>
<Relationships xmlns="http://schemas.openxmlformats.org/package/2006/relationships"><Relationship Id="rId2" Type="http://schemas.openxmlformats.org/officeDocument/2006/relationships/slide" Target="../slides/slide125.xml"/><Relationship Id="rId1" Type="http://schemas.openxmlformats.org/officeDocument/2006/relationships/notesMaster" Target="../notesMasters/notesMaster1.xml"/></Relationships>
</file>

<file path=ppt/notesSlides/_rels/notesSlide105.xml.rels><?xml version="1.0" encoding="UTF-8" standalone="yes"?>
<Relationships xmlns="http://schemas.openxmlformats.org/package/2006/relationships"><Relationship Id="rId2" Type="http://schemas.openxmlformats.org/officeDocument/2006/relationships/slide" Target="../slides/slide126.xml"/><Relationship Id="rId1" Type="http://schemas.openxmlformats.org/officeDocument/2006/relationships/notesMaster" Target="../notesMasters/notesMaster1.xml"/></Relationships>
</file>

<file path=ppt/notesSlides/_rels/notesSlide106.xml.rels><?xml version="1.0" encoding="UTF-8" standalone="yes"?>
<Relationships xmlns="http://schemas.openxmlformats.org/package/2006/relationships"><Relationship Id="rId2" Type="http://schemas.openxmlformats.org/officeDocument/2006/relationships/slide" Target="../slides/slide127.xml"/><Relationship Id="rId1" Type="http://schemas.openxmlformats.org/officeDocument/2006/relationships/notesMaster" Target="../notesMasters/notesMaster1.xml"/></Relationships>
</file>

<file path=ppt/notesSlides/_rels/notesSlide107.xml.rels><?xml version="1.0" encoding="UTF-8" standalone="yes"?>
<Relationships xmlns="http://schemas.openxmlformats.org/package/2006/relationships"><Relationship Id="rId2" Type="http://schemas.openxmlformats.org/officeDocument/2006/relationships/slide" Target="../slides/slide128.xml"/><Relationship Id="rId1" Type="http://schemas.openxmlformats.org/officeDocument/2006/relationships/notesMaster" Target="../notesMasters/notesMaster1.xml"/></Relationships>
</file>

<file path=ppt/notesSlides/_rels/notesSlide108.xml.rels><?xml version="1.0" encoding="UTF-8" standalone="yes"?>
<Relationships xmlns="http://schemas.openxmlformats.org/package/2006/relationships"><Relationship Id="rId2" Type="http://schemas.openxmlformats.org/officeDocument/2006/relationships/slide" Target="../slides/slide129.xml"/><Relationship Id="rId1" Type="http://schemas.openxmlformats.org/officeDocument/2006/relationships/notesMaster" Target="../notesMasters/notesMaster1.xml"/></Relationships>
</file>

<file path=ppt/notesSlides/_rels/notesSlide109.xml.rels><?xml version="1.0" encoding="UTF-8" standalone="yes"?>
<Relationships xmlns="http://schemas.openxmlformats.org/package/2006/relationships"><Relationship Id="rId2" Type="http://schemas.openxmlformats.org/officeDocument/2006/relationships/slide" Target="../slides/slide131.xml"/><Relationship Id="rId1" Type="http://schemas.openxmlformats.org/officeDocument/2006/relationships/notesMaster" Target="../notesMasters/notesMaster1.xml"/></Relationships>
</file>

<file path=ppt/notesSlides/_rels/notesSlide110.xml.rels><?xml version="1.0" encoding="UTF-8" standalone="yes"?>
<Relationships xmlns="http://schemas.openxmlformats.org/package/2006/relationships"><Relationship Id="rId2" Type="http://schemas.openxmlformats.org/officeDocument/2006/relationships/slide" Target="../slides/slide132.xml"/><Relationship Id="rId1" Type="http://schemas.openxmlformats.org/officeDocument/2006/relationships/notesMaster" Target="../notesMasters/notesMaster1.xml"/></Relationships>
</file>

<file path=ppt/notesSlides/_rels/notesSlide111.xml.rels><?xml version="1.0" encoding="UTF-8" standalone="yes"?>
<Relationships xmlns="http://schemas.openxmlformats.org/package/2006/relationships"><Relationship Id="rId2" Type="http://schemas.openxmlformats.org/officeDocument/2006/relationships/slide" Target="../slides/slide133.xml"/><Relationship Id="rId1" Type="http://schemas.openxmlformats.org/officeDocument/2006/relationships/notesMaster" Target="../notesMasters/notesMaster1.xml"/></Relationships>
</file>

<file path=ppt/notesSlides/_rels/notesSlide112.xml.rels><?xml version="1.0" encoding="UTF-8" standalone="yes"?>
<Relationships xmlns="http://schemas.openxmlformats.org/package/2006/relationships"><Relationship Id="rId2" Type="http://schemas.openxmlformats.org/officeDocument/2006/relationships/slide" Target="../slides/slide134.xml"/><Relationship Id="rId1" Type="http://schemas.openxmlformats.org/officeDocument/2006/relationships/notesMaster" Target="../notesMasters/notesMaster1.xml"/></Relationships>
</file>

<file path=ppt/notesSlides/_rels/notesSlide113.xml.rels><?xml version="1.0" encoding="UTF-8" standalone="yes"?>
<Relationships xmlns="http://schemas.openxmlformats.org/package/2006/relationships"><Relationship Id="rId2" Type="http://schemas.openxmlformats.org/officeDocument/2006/relationships/slide" Target="../slides/slide135.xml"/><Relationship Id="rId1" Type="http://schemas.openxmlformats.org/officeDocument/2006/relationships/notesMaster" Target="../notesMasters/notesMaster1.xml"/></Relationships>
</file>

<file path=ppt/notesSlides/_rels/notesSlide114.xml.rels><?xml version="1.0" encoding="UTF-8" standalone="yes"?>
<Relationships xmlns="http://schemas.openxmlformats.org/package/2006/relationships"><Relationship Id="rId2" Type="http://schemas.openxmlformats.org/officeDocument/2006/relationships/slide" Target="../slides/slide136.xml"/><Relationship Id="rId1" Type="http://schemas.openxmlformats.org/officeDocument/2006/relationships/notesMaster" Target="../notesMasters/notesMaster1.xml"/></Relationships>
</file>

<file path=ppt/notesSlides/_rels/notesSlide115.xml.rels><?xml version="1.0" encoding="UTF-8" standalone="yes"?>
<Relationships xmlns="http://schemas.openxmlformats.org/package/2006/relationships"><Relationship Id="rId2" Type="http://schemas.openxmlformats.org/officeDocument/2006/relationships/slide" Target="../slides/slide137.xml"/><Relationship Id="rId1" Type="http://schemas.openxmlformats.org/officeDocument/2006/relationships/notesMaster" Target="../notesMasters/notesMaster1.xml"/></Relationships>
</file>

<file path=ppt/notesSlides/_rels/notesSlide116.xml.rels><?xml version="1.0" encoding="UTF-8" standalone="yes"?>
<Relationships xmlns="http://schemas.openxmlformats.org/package/2006/relationships"><Relationship Id="rId2" Type="http://schemas.openxmlformats.org/officeDocument/2006/relationships/slide" Target="../slides/slide138.xml"/><Relationship Id="rId1" Type="http://schemas.openxmlformats.org/officeDocument/2006/relationships/notesMaster" Target="../notesMasters/notesMaster1.xml"/></Relationships>
</file>

<file path=ppt/notesSlides/_rels/notesSlide117.xml.rels><?xml version="1.0" encoding="UTF-8" standalone="yes"?>
<Relationships xmlns="http://schemas.openxmlformats.org/package/2006/relationships"><Relationship Id="rId2" Type="http://schemas.openxmlformats.org/officeDocument/2006/relationships/slide" Target="../slides/slide139.xml"/><Relationship Id="rId1" Type="http://schemas.openxmlformats.org/officeDocument/2006/relationships/notesMaster" Target="../notesMasters/notesMaster1.xml"/></Relationships>
</file>

<file path=ppt/notesSlides/_rels/notesSlide118.xml.rels><?xml version="1.0" encoding="UTF-8" standalone="yes"?>
<Relationships xmlns="http://schemas.openxmlformats.org/package/2006/relationships"><Relationship Id="rId2" Type="http://schemas.openxmlformats.org/officeDocument/2006/relationships/slide" Target="../slides/slide140.xml"/><Relationship Id="rId1" Type="http://schemas.openxmlformats.org/officeDocument/2006/relationships/notesMaster" Target="../notesMasters/notesMaster1.xml"/></Relationships>
</file>

<file path=ppt/notesSlides/_rels/notesSlide119.xml.rels><?xml version="1.0" encoding="UTF-8" standalone="yes"?>
<Relationships xmlns="http://schemas.openxmlformats.org/package/2006/relationships"><Relationship Id="rId2" Type="http://schemas.openxmlformats.org/officeDocument/2006/relationships/slide" Target="../slides/slide141.xml"/><Relationship Id="rId1" Type="http://schemas.openxmlformats.org/officeDocument/2006/relationships/notesMaster" Target="../notesMasters/notesMaster1.xml"/></Relationships>
</file>

<file path=ppt/notesSlides/_rels/notesSlide120.xml.rels><?xml version="1.0" encoding="UTF-8" standalone="yes"?>
<Relationships xmlns="http://schemas.openxmlformats.org/package/2006/relationships"><Relationship Id="rId2" Type="http://schemas.openxmlformats.org/officeDocument/2006/relationships/slide" Target="../slides/slide142.xml"/><Relationship Id="rId1" Type="http://schemas.openxmlformats.org/officeDocument/2006/relationships/notesMaster" Target="../notesMasters/notesMaster1.xml"/></Relationships>
</file>

<file path=ppt/notesSlides/_rels/notesSlide121.xml.rels><?xml version="1.0" encoding="UTF-8" standalone="yes"?>
<Relationships xmlns="http://schemas.openxmlformats.org/package/2006/relationships"><Relationship Id="rId2" Type="http://schemas.openxmlformats.org/officeDocument/2006/relationships/slide" Target="../slides/slide143.xml"/><Relationship Id="rId1" Type="http://schemas.openxmlformats.org/officeDocument/2006/relationships/notesMaster" Target="../notesMasters/notesMaster1.xml"/></Relationships>
</file>

<file path=ppt/notesSlides/_rels/notesSlide122.xml.rels><?xml version="1.0" encoding="UTF-8" standalone="yes"?>
<Relationships xmlns="http://schemas.openxmlformats.org/package/2006/relationships"><Relationship Id="rId2" Type="http://schemas.openxmlformats.org/officeDocument/2006/relationships/slide" Target="../slides/slide144.xml"/><Relationship Id="rId1" Type="http://schemas.openxmlformats.org/officeDocument/2006/relationships/notesMaster" Target="../notesMasters/notesMaster1.xml"/></Relationships>
</file>

<file path=ppt/notesSlides/_rels/notesSlide123.xml.rels><?xml version="1.0" encoding="UTF-8" standalone="yes"?>
<Relationships xmlns="http://schemas.openxmlformats.org/package/2006/relationships"><Relationship Id="rId2" Type="http://schemas.openxmlformats.org/officeDocument/2006/relationships/slide" Target="../slides/slide145.xml"/><Relationship Id="rId1" Type="http://schemas.openxmlformats.org/officeDocument/2006/relationships/notesMaster" Target="../notesMasters/notesMaster1.xml"/></Relationships>
</file>

<file path=ppt/notesSlides/_rels/notesSlide124.xml.rels><?xml version="1.0" encoding="UTF-8" standalone="yes"?>
<Relationships xmlns="http://schemas.openxmlformats.org/package/2006/relationships"><Relationship Id="rId2" Type="http://schemas.openxmlformats.org/officeDocument/2006/relationships/slide" Target="../slides/slide14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6" name="Rectangle 1031">
            <a:extLst>
              <a:ext uri="{FF2B5EF4-FFF2-40B4-BE49-F238E27FC236}">
                <a16:creationId xmlns:a16="http://schemas.microsoft.com/office/drawing/2014/main" id="{B26C42E4-F176-46AC-8104-4779642F54D4}"/>
              </a:ext>
            </a:extLst>
          </p:cNvPr>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0275">
              <a:defRPr sz="1600">
                <a:solidFill>
                  <a:schemeClr val="tx1"/>
                </a:solidFill>
                <a:latin typeface="Helvetica" panose="020B0604020202020204" pitchFamily="34" charset="0"/>
                <a:ea typeface="MS PGothic" panose="020B0600070205080204" pitchFamily="34" charset="-128"/>
              </a:defRPr>
            </a:lvl1pPr>
            <a:lvl2pPr marL="742950" indent="-285750" defTabSz="930275">
              <a:defRPr sz="1600">
                <a:solidFill>
                  <a:schemeClr val="tx1"/>
                </a:solidFill>
                <a:latin typeface="Helvetica" panose="020B0604020202020204" pitchFamily="34" charset="0"/>
                <a:ea typeface="MS PGothic" panose="020B0600070205080204" pitchFamily="34" charset="-128"/>
              </a:defRPr>
            </a:lvl2pPr>
            <a:lvl3pPr marL="1143000" indent="-228600" defTabSz="930275">
              <a:defRPr sz="1600">
                <a:solidFill>
                  <a:schemeClr val="tx1"/>
                </a:solidFill>
                <a:latin typeface="Helvetica" panose="020B0604020202020204" pitchFamily="34" charset="0"/>
                <a:ea typeface="MS PGothic" panose="020B0600070205080204" pitchFamily="34" charset="-128"/>
              </a:defRPr>
            </a:lvl3pPr>
            <a:lvl4pPr marL="1600200" indent="-228600" defTabSz="930275">
              <a:defRPr sz="1600">
                <a:solidFill>
                  <a:schemeClr val="tx1"/>
                </a:solidFill>
                <a:latin typeface="Helvetica" panose="020B0604020202020204" pitchFamily="34" charset="0"/>
                <a:ea typeface="MS PGothic" panose="020B0600070205080204" pitchFamily="34" charset="-128"/>
              </a:defRPr>
            </a:lvl4pPr>
            <a:lvl5pPr marL="2057400" indent="-228600" defTabSz="930275">
              <a:defRPr sz="1600">
                <a:solidFill>
                  <a:schemeClr val="tx1"/>
                </a:solidFill>
                <a:latin typeface="Helvetica" panose="020B0604020202020204" pitchFamily="34" charset="0"/>
                <a:ea typeface="MS PGothic" panose="020B0600070205080204" pitchFamily="34" charset="-128"/>
              </a:defRPr>
            </a:lvl5pPr>
            <a:lvl6pPr marL="2514600" indent="-228600" defTabSz="930275"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defTabSz="930275"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defTabSz="930275"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defTabSz="930275"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E10B590F-A425-41F1-B17D-914592B3C7C4}" type="slidenum">
              <a:rPr lang="en-AU" altLang="en-US" sz="1200" smtClean="0">
                <a:latin typeface="Arial" panose="020B0604020202020204" pitchFamily="34" charset="0"/>
              </a:rPr>
              <a:pPr/>
              <a:t>1</a:t>
            </a:fld>
            <a:endParaRPr lang="en-AU" altLang="en-US" sz="1200">
              <a:latin typeface="Arial" panose="020B0604020202020204" pitchFamily="34" charset="0"/>
            </a:endParaRPr>
          </a:p>
        </p:txBody>
      </p:sp>
      <p:sp>
        <p:nvSpPr>
          <p:cNvPr id="6147" name="Rectangle 2">
            <a:extLst>
              <a:ext uri="{FF2B5EF4-FFF2-40B4-BE49-F238E27FC236}">
                <a16:creationId xmlns:a16="http://schemas.microsoft.com/office/drawing/2014/main" id="{220A6E00-3243-4C01-996A-9766B4E362DD}"/>
              </a:ext>
            </a:extLst>
          </p:cNvPr>
          <p:cNvSpPr>
            <a:spLocks noGrp="1" noRot="1" noChangeAspect="1" noChangeArrowheads="1" noTextEdit="1"/>
          </p:cNvSpPr>
          <p:nvPr>
            <p:ph type="sldImg"/>
          </p:nvPr>
        </p:nvSpPr>
        <p:spPr>
          <a:ln/>
        </p:spPr>
      </p:sp>
      <p:sp>
        <p:nvSpPr>
          <p:cNvPr id="6148" name="Rectangle 3">
            <a:extLst>
              <a:ext uri="{FF2B5EF4-FFF2-40B4-BE49-F238E27FC236}">
                <a16:creationId xmlns:a16="http://schemas.microsoft.com/office/drawing/2014/main" id="{52F24982-4C63-4608-8036-959A8EEC337C}"/>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US" altLang="en-US">
                <a:solidFill>
                  <a:srgbClr val="374151"/>
                </a:solidFill>
                <a:latin typeface="Söhne"/>
              </a:rPr>
              <a:t>Hello everyone,</a:t>
            </a:r>
          </a:p>
          <a:p>
            <a:r>
              <a:rPr lang="en-US" altLang="en-US">
                <a:solidFill>
                  <a:srgbClr val="374151"/>
                </a:solidFill>
                <a:latin typeface="Söhne"/>
              </a:rPr>
              <a:t>I'm Dr. Taghinezhad, and I'm thrilled to be your guide through the exciting world of advanced databases this semester.</a:t>
            </a:r>
          </a:p>
          <a:p>
            <a:r>
              <a:rPr lang="en-US" altLang="en-US">
                <a:solidFill>
                  <a:srgbClr val="374151"/>
                </a:solidFill>
                <a:latin typeface="Söhne"/>
              </a:rPr>
              <a:t>With a background in Computer Engineering and a focus on distributed systems, I've spent years diving into the intricacies of how data powers our digital world.</a:t>
            </a:r>
          </a:p>
          <a:p>
            <a:r>
              <a:rPr lang="en-US" altLang="en-US">
                <a:solidFill>
                  <a:srgbClr val="374151"/>
                </a:solidFill>
                <a:latin typeface="Söhne"/>
              </a:rPr>
              <a:t>Throughout this course, we'll explore everything from the basics of data modeling to the complex database and distributed databases. </a:t>
            </a:r>
          </a:p>
          <a:p>
            <a:r>
              <a:rPr lang="en-US" altLang="en-US">
                <a:solidFill>
                  <a:srgbClr val="374151"/>
                </a:solidFill>
                <a:latin typeface="Söhne"/>
              </a:rPr>
              <a:t>I believe in creating an environment where questions are encouraged, discussions are lively, and learning is a collaborative effort. So, I invite each of you to actively engage and share.</a:t>
            </a:r>
          </a:p>
          <a:p>
            <a:endParaRPr lang="en-US" altLang="en-US">
              <a:solidFill>
                <a:srgbClr val="374151"/>
              </a:solidFill>
              <a:latin typeface="Söhne"/>
            </a:endParaRPr>
          </a:p>
          <a:p>
            <a:r>
              <a:rPr lang="en-US" altLang="en-US">
                <a:solidFill>
                  <a:srgbClr val="374151"/>
                </a:solidFill>
                <a:latin typeface="Söhne"/>
              </a:rPr>
              <a:t>I want to introduce you to one of the major resources for this course: "Database System Concepts" by Abraham Silberschatz, Henry F. Korth, and S. Sudarshan.</a:t>
            </a:r>
          </a:p>
          <a:p>
            <a:r>
              <a:rPr lang="en-US" altLang="en-US">
                <a:solidFill>
                  <a:srgbClr val="374151"/>
                </a:solidFill>
                <a:latin typeface="Söhne"/>
              </a:rPr>
              <a:t>This textbook is like our trusty map as we navigate the complex terrain of database systems. It's not just any map, though—it's a detailed, comprehensive guide that will help us understand the landscape, identify key landmarks, and chart our course to mastery.</a:t>
            </a:r>
            <a:endParaRPr lang="fa-IR" altLang="en-US">
              <a:solidFill>
                <a:srgbClr val="374151"/>
              </a:solidFill>
              <a:latin typeface="Söhne"/>
            </a:endParaRPr>
          </a:p>
          <a:p>
            <a:endParaRPr lang="fa-IR" altLang="en-US">
              <a:solidFill>
                <a:srgbClr val="374151"/>
              </a:solidFill>
              <a:latin typeface="Söhne"/>
            </a:endParaRPr>
          </a:p>
          <a:p>
            <a:r>
              <a:rPr lang="en-US" altLang="en-US">
                <a:solidFill>
                  <a:srgbClr val="374151"/>
                </a:solidFill>
                <a:latin typeface="Söhne"/>
              </a:rPr>
              <a:t>If you are not going to attend in this calls. Please talk to before hand. Also select a representative among yourself. </a:t>
            </a:r>
          </a:p>
          <a:p>
            <a:endParaRPr lang="en-US" altLang="en-US">
              <a:solidFill>
                <a:srgbClr val="374151"/>
              </a:solidFill>
              <a:latin typeface="Söhne"/>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0594"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688">
              <a:defRPr sz="1600">
                <a:solidFill>
                  <a:schemeClr val="tx1"/>
                </a:solidFill>
                <a:latin typeface="Helvetica" panose="020B0604020202020204" pitchFamily="34" charset="0"/>
                <a:ea typeface="MS PGothic" panose="020B0600070205080204" pitchFamily="34" charset="-128"/>
              </a:defRPr>
            </a:lvl1pPr>
            <a:lvl2pPr marL="742950" indent="-285750" defTabSz="928688">
              <a:defRPr sz="1600">
                <a:solidFill>
                  <a:schemeClr val="tx1"/>
                </a:solidFill>
                <a:latin typeface="Helvetica" panose="020B0604020202020204" pitchFamily="34" charset="0"/>
                <a:ea typeface="MS PGothic" panose="020B0600070205080204" pitchFamily="34" charset="-128"/>
              </a:defRPr>
            </a:lvl2pPr>
            <a:lvl3pPr marL="1143000" indent="-228600" defTabSz="928688">
              <a:defRPr sz="1600">
                <a:solidFill>
                  <a:schemeClr val="tx1"/>
                </a:solidFill>
                <a:latin typeface="Helvetica" panose="020B0604020202020204" pitchFamily="34" charset="0"/>
                <a:ea typeface="MS PGothic" panose="020B0600070205080204" pitchFamily="34" charset="-128"/>
              </a:defRPr>
            </a:lvl3pPr>
            <a:lvl4pPr marL="1600200" indent="-228600" defTabSz="928688">
              <a:defRPr sz="1600">
                <a:solidFill>
                  <a:schemeClr val="tx1"/>
                </a:solidFill>
                <a:latin typeface="Helvetica" panose="020B0604020202020204" pitchFamily="34" charset="0"/>
                <a:ea typeface="MS PGothic" panose="020B0600070205080204" pitchFamily="34" charset="-128"/>
              </a:defRPr>
            </a:lvl4pPr>
            <a:lvl5pPr marL="2057400" indent="-228600" defTabSz="928688">
              <a:defRPr sz="1600">
                <a:solidFill>
                  <a:schemeClr val="tx1"/>
                </a:solidFill>
                <a:latin typeface="Helvetica" panose="020B0604020202020204" pitchFamily="34" charset="0"/>
                <a:ea typeface="MS PGothic" panose="020B0600070205080204" pitchFamily="34" charset="-128"/>
              </a:defRPr>
            </a:lvl5pPr>
            <a:lvl6pPr marL="25146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F9C98366-10B6-4C97-9C68-1B8DAD89E8AC}" type="slidenum">
              <a:rPr lang="en-US" altLang="en-US" sz="1200"/>
              <a:pPr/>
              <a:t>3</a:t>
            </a:fld>
            <a:endParaRPr lang="en-US" altLang="en-US" sz="1200"/>
          </a:p>
        </p:txBody>
      </p:sp>
      <p:sp>
        <p:nvSpPr>
          <p:cNvPr id="110595" name="Rectangle 2"/>
          <p:cNvSpPr>
            <a:spLocks noGrp="1" noRot="1" noChangeAspect="1" noChangeArrowheads="1" noTextEdit="1"/>
          </p:cNvSpPr>
          <p:nvPr>
            <p:ph type="sldImg"/>
          </p:nvPr>
        </p:nvSpPr>
        <p:spPr>
          <a:xfrm>
            <a:off x="1177925" y="695325"/>
            <a:ext cx="4641850" cy="3481388"/>
          </a:xfrm>
          <a:ln/>
        </p:spPr>
      </p:sp>
      <p:sp>
        <p:nvSpPr>
          <p:cNvPr id="110596" name="Rectangle 3"/>
          <p:cNvSpPr>
            <a:spLocks noGrp="1" noChangeArrowheads="1"/>
          </p:cNvSpPr>
          <p:nvPr>
            <p:ph type="body" idx="1"/>
          </p:nvPr>
        </p:nvSpPr>
        <p:spPr>
          <a:xfrm>
            <a:off x="931414" y="4410392"/>
            <a:ext cx="5134874" cy="4177348"/>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extLst>
      <p:ext uri="{BB962C8B-B14F-4D97-AF65-F5344CB8AC3E}">
        <p14:creationId xmlns:p14="http://schemas.microsoft.com/office/powerpoint/2010/main" val="187979633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1618"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688">
              <a:defRPr sz="1600">
                <a:solidFill>
                  <a:schemeClr val="tx1"/>
                </a:solidFill>
                <a:latin typeface="Helvetica" panose="020B0604020202020204" pitchFamily="34" charset="0"/>
                <a:ea typeface="MS PGothic" panose="020B0600070205080204" pitchFamily="34" charset="-128"/>
              </a:defRPr>
            </a:lvl1pPr>
            <a:lvl2pPr marL="742950" indent="-285750" defTabSz="928688">
              <a:defRPr sz="1600">
                <a:solidFill>
                  <a:schemeClr val="tx1"/>
                </a:solidFill>
                <a:latin typeface="Helvetica" panose="020B0604020202020204" pitchFamily="34" charset="0"/>
                <a:ea typeface="MS PGothic" panose="020B0600070205080204" pitchFamily="34" charset="-128"/>
              </a:defRPr>
            </a:lvl2pPr>
            <a:lvl3pPr marL="1143000" indent="-228600" defTabSz="928688">
              <a:defRPr sz="1600">
                <a:solidFill>
                  <a:schemeClr val="tx1"/>
                </a:solidFill>
                <a:latin typeface="Helvetica" panose="020B0604020202020204" pitchFamily="34" charset="0"/>
                <a:ea typeface="MS PGothic" panose="020B0600070205080204" pitchFamily="34" charset="-128"/>
              </a:defRPr>
            </a:lvl3pPr>
            <a:lvl4pPr marL="1600200" indent="-228600" defTabSz="928688">
              <a:defRPr sz="1600">
                <a:solidFill>
                  <a:schemeClr val="tx1"/>
                </a:solidFill>
                <a:latin typeface="Helvetica" panose="020B0604020202020204" pitchFamily="34" charset="0"/>
                <a:ea typeface="MS PGothic" panose="020B0600070205080204" pitchFamily="34" charset="-128"/>
              </a:defRPr>
            </a:lvl4pPr>
            <a:lvl5pPr marL="2057400" indent="-228600" defTabSz="928688">
              <a:defRPr sz="1600">
                <a:solidFill>
                  <a:schemeClr val="tx1"/>
                </a:solidFill>
                <a:latin typeface="Helvetica" panose="020B0604020202020204" pitchFamily="34" charset="0"/>
                <a:ea typeface="MS PGothic" panose="020B0600070205080204" pitchFamily="34" charset="-128"/>
              </a:defRPr>
            </a:lvl5pPr>
            <a:lvl6pPr marL="25146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6A48278F-1CF2-4C20-9F87-85520FC94509}" type="slidenum">
              <a:rPr lang="en-US" altLang="en-US" sz="1200"/>
              <a:pPr/>
              <a:t>4</a:t>
            </a:fld>
            <a:endParaRPr lang="en-US" altLang="en-US" sz="1200"/>
          </a:p>
        </p:txBody>
      </p:sp>
      <p:sp>
        <p:nvSpPr>
          <p:cNvPr id="111619" name="Rectangle 2"/>
          <p:cNvSpPr>
            <a:spLocks noGrp="1" noRot="1" noChangeAspect="1" noChangeArrowheads="1" noTextEdit="1"/>
          </p:cNvSpPr>
          <p:nvPr>
            <p:ph type="sldImg"/>
          </p:nvPr>
        </p:nvSpPr>
        <p:spPr>
          <a:xfrm>
            <a:off x="1177925" y="695325"/>
            <a:ext cx="4641850" cy="3481388"/>
          </a:xfrm>
          <a:ln/>
        </p:spPr>
      </p:sp>
      <p:sp>
        <p:nvSpPr>
          <p:cNvPr id="111620" name="Rectangle 3"/>
          <p:cNvSpPr>
            <a:spLocks noGrp="1" noChangeArrowheads="1"/>
          </p:cNvSpPr>
          <p:nvPr>
            <p:ph type="body" idx="1"/>
          </p:nvPr>
        </p:nvSpPr>
        <p:spPr>
          <a:xfrm>
            <a:off x="931414" y="4410392"/>
            <a:ext cx="5134874" cy="4177348"/>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extLst>
      <p:ext uri="{BB962C8B-B14F-4D97-AF65-F5344CB8AC3E}">
        <p14:creationId xmlns:p14="http://schemas.microsoft.com/office/powerpoint/2010/main" val="135890429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fontScale="55000" lnSpcReduction="20000"/>
          </a:bodyPr>
          <a:lstStyle/>
          <a:p>
            <a:r>
              <a:rPr lang="en-US" b="1" dirty="0"/>
              <a:t>1. Unnormalized Data</a:t>
            </a:r>
          </a:p>
          <a:p>
            <a:pPr>
              <a:buFont typeface="Arial" panose="020B0604020202020204" pitchFamily="34" charset="0"/>
              <a:buChar char="•"/>
            </a:pPr>
            <a:r>
              <a:rPr lang="en-US" dirty="0"/>
              <a:t>The table includes </a:t>
            </a:r>
            <a:r>
              <a:rPr lang="en-US" b="1" dirty="0"/>
              <a:t>repeated and redundant data</a:t>
            </a:r>
            <a:r>
              <a:rPr lang="en-US" dirty="0"/>
              <a:t> in multiple rows. For example:</a:t>
            </a:r>
          </a:p>
          <a:p>
            <a:pPr marL="742950" lvl="1" indent="-285750">
              <a:buFont typeface="Arial" panose="020B0604020202020204" pitchFamily="34" charset="0"/>
              <a:buChar char="•"/>
            </a:pPr>
            <a:r>
              <a:rPr lang="en-US" dirty="0"/>
              <a:t>The customer information (e.g., Customer No, First, Last, Address, Credit Limit) is repeated for every sale associated with the same customer.</a:t>
            </a:r>
          </a:p>
          <a:p>
            <a:pPr marL="742950" lvl="1" indent="-285750">
              <a:buFont typeface="Arial" panose="020B0604020202020204" pitchFamily="34" charset="0"/>
              <a:buChar char="•"/>
            </a:pPr>
            <a:r>
              <a:rPr lang="en-US" dirty="0"/>
              <a:t>Sales representative (</a:t>
            </a:r>
            <a:r>
              <a:rPr lang="en-US" dirty="0" err="1"/>
              <a:t>Salesrep</a:t>
            </a:r>
            <a:r>
              <a:rPr lang="en-US" dirty="0"/>
              <a:t>) names appear repeatedly, despite being associated with multiple sales.</a:t>
            </a:r>
          </a:p>
          <a:p>
            <a:endParaRPr lang="en-US" b="1" dirty="0"/>
          </a:p>
          <a:p>
            <a:r>
              <a:rPr lang="en-US" b="1" dirty="0"/>
              <a:t>2. Data Duplication</a:t>
            </a:r>
          </a:p>
          <a:p>
            <a:pPr>
              <a:buFont typeface="Arial" panose="020B0604020202020204" pitchFamily="34" charset="0"/>
              <a:buChar char="•"/>
            </a:pPr>
            <a:r>
              <a:rPr lang="en-US" dirty="0"/>
              <a:t>The </a:t>
            </a:r>
            <a:r>
              <a:rPr lang="en-US" b="1" dirty="0"/>
              <a:t>product information</a:t>
            </a:r>
            <a:r>
              <a:rPr lang="en-US" dirty="0"/>
              <a:t> (e.g., </a:t>
            </a:r>
            <a:r>
              <a:rPr lang="en-US" dirty="0" err="1"/>
              <a:t>ProductNo</a:t>
            </a:r>
            <a:r>
              <a:rPr lang="en-US" dirty="0"/>
              <a:t>, Qty, Amount) is not separated into a distinct entity. This redundancy increases storage requirements and the risk of inconsistencies if the product details are updated.</a:t>
            </a:r>
          </a:p>
          <a:p>
            <a:endParaRPr lang="en-US" b="1" dirty="0"/>
          </a:p>
          <a:p>
            <a:r>
              <a:rPr lang="en-US" b="1" dirty="0"/>
              <a:t>3. Violation of 1NF (First Normal Form)</a:t>
            </a:r>
          </a:p>
          <a:p>
            <a:pPr>
              <a:buFont typeface="Arial" panose="020B0604020202020204" pitchFamily="34" charset="0"/>
              <a:buChar char="•"/>
            </a:pPr>
            <a:r>
              <a:rPr lang="en-US" dirty="0"/>
              <a:t>The table contains </a:t>
            </a:r>
            <a:r>
              <a:rPr lang="en-US" b="1" dirty="0"/>
              <a:t>null values</a:t>
            </a:r>
            <a:r>
              <a:rPr lang="en-US" dirty="0"/>
              <a:t> (e.g., in the Credit Limit and Address columns), which may indicate partial or missing data.</a:t>
            </a:r>
          </a:p>
          <a:p>
            <a:pPr>
              <a:buFont typeface="Arial" panose="020B0604020202020204" pitchFamily="34" charset="0"/>
              <a:buChar char="•"/>
            </a:pPr>
            <a:r>
              <a:rPr lang="en-US" dirty="0"/>
              <a:t>Repeated fields (like First, Last, and Address for customers) could be better organized into separate tables.</a:t>
            </a:r>
          </a:p>
          <a:p>
            <a:r>
              <a:rPr lang="en-US" b="1" dirty="0"/>
              <a:t>4. Violation of 2NF (Second Normal Form)</a:t>
            </a:r>
          </a:p>
          <a:p>
            <a:pPr>
              <a:buFont typeface="Arial" panose="020B0604020202020204" pitchFamily="34" charset="0"/>
              <a:buChar char="•"/>
            </a:pPr>
            <a:r>
              <a:rPr lang="en-US" b="1" dirty="0"/>
              <a:t>Partial dependencies</a:t>
            </a:r>
            <a:r>
              <a:rPr lang="en-US" dirty="0"/>
              <a:t> are evident:</a:t>
            </a:r>
          </a:p>
          <a:p>
            <a:pPr marL="742950" lvl="1" indent="-285750">
              <a:buFont typeface="Arial" panose="020B0604020202020204" pitchFamily="34" charset="0"/>
              <a:buChar char="•"/>
            </a:pPr>
            <a:r>
              <a:rPr lang="en-US" dirty="0"/>
              <a:t>Customer No determines First, Last, Address, and Credit Limit. These attributes depend only on Customer No and not on the entire primary key (Sale No or </a:t>
            </a:r>
            <a:r>
              <a:rPr lang="en-US" dirty="0" err="1"/>
              <a:t>ProductNo</a:t>
            </a:r>
            <a:r>
              <a:rPr lang="en-US" dirty="0"/>
              <a:t>).</a:t>
            </a:r>
          </a:p>
          <a:p>
            <a:pPr marL="742950" lvl="1" indent="-285750">
              <a:buFont typeface="Arial" panose="020B0604020202020204" pitchFamily="34" charset="0"/>
              <a:buChar char="•"/>
            </a:pPr>
            <a:r>
              <a:rPr lang="en-US" dirty="0" err="1"/>
              <a:t>Salesrep</a:t>
            </a:r>
            <a:r>
              <a:rPr lang="en-US" dirty="0"/>
              <a:t> data is repeated across multiple rows, and attributes like </a:t>
            </a:r>
            <a:r>
              <a:rPr lang="en-US" dirty="0" err="1"/>
              <a:t>Salesrep</a:t>
            </a:r>
            <a:r>
              <a:rPr lang="en-US" dirty="0"/>
              <a:t> should belong to a separate </a:t>
            </a:r>
            <a:r>
              <a:rPr lang="en-US" dirty="0" err="1"/>
              <a:t>Salesrep</a:t>
            </a:r>
            <a:r>
              <a:rPr lang="en-US" dirty="0"/>
              <a:t> table.</a:t>
            </a:r>
          </a:p>
          <a:p>
            <a:r>
              <a:rPr lang="en-US" b="1" dirty="0"/>
              <a:t>5. Violation of 3NF (Third Normal Form)</a:t>
            </a:r>
          </a:p>
          <a:p>
            <a:pPr>
              <a:buFont typeface="Arial" panose="020B0604020202020204" pitchFamily="34" charset="0"/>
              <a:buChar char="•"/>
            </a:pPr>
            <a:r>
              <a:rPr lang="en-US" b="1" dirty="0"/>
              <a:t>Transitive dependencies</a:t>
            </a:r>
            <a:r>
              <a:rPr lang="en-US" dirty="0"/>
              <a:t> exist:</a:t>
            </a:r>
          </a:p>
          <a:p>
            <a:pPr marL="742950" lvl="1" indent="-285750">
              <a:buFont typeface="Arial" panose="020B0604020202020204" pitchFamily="34" charset="0"/>
              <a:buChar char="•"/>
            </a:pPr>
            <a:r>
              <a:rPr lang="en-US" dirty="0"/>
              <a:t>Attributes like First, Last, Address, and Credit Limit are indirectly dependent on the primary key through Customer No.</a:t>
            </a:r>
          </a:p>
          <a:p>
            <a:pPr marL="742950" lvl="1" indent="-285750">
              <a:buFont typeface="Arial" panose="020B0604020202020204" pitchFamily="34" charset="0"/>
              <a:buChar char="•"/>
            </a:pPr>
            <a:r>
              <a:rPr lang="en-US" dirty="0"/>
              <a:t>Similarly, Amount could potentially be derived from Qty and </a:t>
            </a:r>
            <a:r>
              <a:rPr lang="en-US" dirty="0" err="1"/>
              <a:t>ProductNo</a:t>
            </a:r>
            <a:r>
              <a:rPr lang="en-US" dirty="0"/>
              <a:t>.</a:t>
            </a:r>
          </a:p>
          <a:p>
            <a:r>
              <a:rPr lang="en-US" b="1" dirty="0"/>
              <a:t>6. No Clear Entity-Relationship</a:t>
            </a:r>
          </a:p>
          <a:p>
            <a:pPr>
              <a:buFont typeface="Arial" panose="020B0604020202020204" pitchFamily="34" charset="0"/>
              <a:buChar char="•"/>
            </a:pPr>
            <a:r>
              <a:rPr lang="en-US" dirty="0"/>
              <a:t>The table mixes multiple entities (e.g., sales, customers, products, and sales representatives) in a single table instead of organizing them into separate entities with relationships.</a:t>
            </a:r>
          </a:p>
          <a:p>
            <a:pPr>
              <a:buFont typeface="Arial" panose="020B0604020202020204" pitchFamily="34" charset="0"/>
              <a:buChar char="•"/>
            </a:pPr>
            <a:r>
              <a:rPr lang="en-US" dirty="0"/>
              <a:t>Relationships between entities like </a:t>
            </a:r>
            <a:r>
              <a:rPr lang="en-US" dirty="0" err="1"/>
              <a:t>Salesrep</a:t>
            </a:r>
            <a:r>
              <a:rPr lang="en-US" dirty="0"/>
              <a:t> and Customer are not clearly defined, which can lead to difficulty in querying the data.</a:t>
            </a:r>
          </a:p>
          <a:p>
            <a:r>
              <a:rPr lang="en-US" b="1" dirty="0"/>
              <a:t>Proposed Solution (Normalization)</a:t>
            </a:r>
          </a:p>
          <a:p>
            <a:pPr>
              <a:buFont typeface="+mj-lt"/>
              <a:buAutoNum type="arabicPeriod"/>
            </a:pPr>
            <a:r>
              <a:rPr lang="en-US" b="1" dirty="0"/>
              <a:t>Separate Tables</a:t>
            </a:r>
            <a:endParaRPr lang="en-US" dirty="0"/>
          </a:p>
          <a:p>
            <a:pPr marL="742950" lvl="1" indent="-285750">
              <a:buFont typeface="+mj-lt"/>
              <a:buAutoNum type="arabicPeriod"/>
            </a:pPr>
            <a:r>
              <a:rPr lang="en-US" dirty="0"/>
              <a:t>Create separate tables for:</a:t>
            </a:r>
          </a:p>
          <a:p>
            <a:pPr marL="1143000" lvl="2" indent="-228600">
              <a:buFont typeface="+mj-lt"/>
              <a:buAutoNum type="arabicPeriod"/>
            </a:pPr>
            <a:r>
              <a:rPr lang="en-US" dirty="0"/>
              <a:t>Customers (Customer No, First, Last, Address, Credit Limit)</a:t>
            </a:r>
          </a:p>
          <a:p>
            <a:pPr marL="1143000" lvl="2" indent="-228600">
              <a:buFont typeface="+mj-lt"/>
              <a:buAutoNum type="arabicPeriod"/>
            </a:pPr>
            <a:r>
              <a:rPr lang="en-US" dirty="0"/>
              <a:t>Sales Representatives (</a:t>
            </a:r>
            <a:r>
              <a:rPr lang="en-US" dirty="0" err="1"/>
              <a:t>Salesrep</a:t>
            </a:r>
            <a:r>
              <a:rPr lang="en-US" dirty="0"/>
              <a:t> ID, </a:t>
            </a:r>
            <a:r>
              <a:rPr lang="en-US" dirty="0" err="1"/>
              <a:t>Salesrep</a:t>
            </a:r>
            <a:r>
              <a:rPr lang="en-US" dirty="0"/>
              <a:t> Name)</a:t>
            </a:r>
          </a:p>
          <a:p>
            <a:pPr marL="1143000" lvl="2" indent="-228600">
              <a:buFont typeface="+mj-lt"/>
              <a:buAutoNum type="arabicPeriod"/>
            </a:pPr>
            <a:r>
              <a:rPr lang="en-US" dirty="0"/>
              <a:t>Products (Product No, Product Name, Unit Price, etc.)</a:t>
            </a:r>
          </a:p>
          <a:p>
            <a:pPr marL="1143000" lvl="2" indent="-228600">
              <a:buFont typeface="+mj-lt"/>
              <a:buAutoNum type="arabicPeriod"/>
            </a:pPr>
            <a:r>
              <a:rPr lang="en-US" dirty="0"/>
              <a:t>Sales (Sale No, </a:t>
            </a:r>
            <a:r>
              <a:rPr lang="en-US" dirty="0" err="1"/>
              <a:t>SaleDate</a:t>
            </a:r>
            <a:r>
              <a:rPr lang="en-US" dirty="0"/>
              <a:t>, Customer No, </a:t>
            </a:r>
            <a:r>
              <a:rPr lang="en-US" dirty="0" err="1"/>
              <a:t>Salesrep</a:t>
            </a:r>
            <a:r>
              <a:rPr lang="en-US" dirty="0"/>
              <a:t> ID, etc.)</a:t>
            </a:r>
          </a:p>
          <a:p>
            <a:pPr marL="1143000" lvl="2" indent="-228600">
              <a:buFont typeface="+mj-lt"/>
              <a:buAutoNum type="arabicPeriod"/>
            </a:pPr>
            <a:r>
              <a:rPr lang="en-US" dirty="0"/>
              <a:t>Sale Details (Sale No, Product No, Qty, Amount)</a:t>
            </a:r>
          </a:p>
          <a:p>
            <a:pPr>
              <a:buFont typeface="+mj-lt"/>
              <a:buAutoNum type="arabicPeriod"/>
            </a:pPr>
            <a:r>
              <a:rPr lang="en-US" b="1" dirty="0"/>
              <a:t>Establish Relationships</a:t>
            </a:r>
            <a:endParaRPr lang="en-US" dirty="0"/>
          </a:p>
          <a:p>
            <a:pPr marL="742950" lvl="1" indent="-285750">
              <a:buFont typeface="+mj-lt"/>
              <a:buAutoNum type="arabicPeriod"/>
            </a:pPr>
            <a:r>
              <a:rPr lang="en-US" dirty="0"/>
              <a:t>Use foreign keys to define relationships between tables (e.g., Customer No as a foreign key in the Sales table).</a:t>
            </a:r>
          </a:p>
          <a:p>
            <a:pPr>
              <a:buFont typeface="+mj-lt"/>
              <a:buAutoNum type="arabicPeriod"/>
            </a:pPr>
            <a:r>
              <a:rPr lang="en-US" b="1" dirty="0"/>
              <a:t>Remove Redundancy</a:t>
            </a:r>
            <a:endParaRPr lang="en-US" dirty="0"/>
          </a:p>
          <a:p>
            <a:pPr marL="742950" lvl="1" indent="-285750">
              <a:buFont typeface="+mj-lt"/>
              <a:buAutoNum type="arabicPeriod"/>
            </a:pPr>
            <a:r>
              <a:rPr lang="en-US" dirty="0"/>
              <a:t>Avoid repeating information by normalizing the database to at least </a:t>
            </a:r>
            <a:r>
              <a:rPr lang="en-US" b="1" dirty="0"/>
              <a:t>3NF</a:t>
            </a:r>
            <a:r>
              <a:rPr lang="en-US" dirty="0"/>
              <a:t>.</a:t>
            </a:r>
          </a:p>
          <a:p>
            <a:endParaRPr lang="en-US" dirty="0"/>
          </a:p>
        </p:txBody>
      </p:sp>
      <p:sp>
        <p:nvSpPr>
          <p:cNvPr id="4" name="Slide Number Placeholder 3"/>
          <p:cNvSpPr>
            <a:spLocks noGrp="1"/>
          </p:cNvSpPr>
          <p:nvPr>
            <p:ph type="sldNum" sz="quarter" idx="5"/>
          </p:nvPr>
        </p:nvSpPr>
        <p:spPr/>
        <p:txBody>
          <a:bodyPr/>
          <a:lstStyle/>
          <a:p>
            <a:fld id="{EF7565D7-C2AB-4CDD-97A1-0422B6964B36}" type="slidenum">
              <a:rPr lang="en-US" altLang="en-US" smtClean="0"/>
              <a:pPr/>
              <a:t>7</a:t>
            </a:fld>
            <a:endParaRPr lang="en-US" altLang="en-US"/>
          </a:p>
        </p:txBody>
      </p:sp>
    </p:spTree>
    <p:extLst>
      <p:ext uri="{BB962C8B-B14F-4D97-AF65-F5344CB8AC3E}">
        <p14:creationId xmlns:p14="http://schemas.microsoft.com/office/powerpoint/2010/main" val="120894885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EF7565D7-C2AB-4CDD-97A1-0422B6964B36}" type="slidenum">
              <a:rPr lang="en-US" altLang="en-US" smtClean="0"/>
              <a:pPr/>
              <a:t>10</a:t>
            </a:fld>
            <a:endParaRPr lang="en-US" altLang="en-US"/>
          </a:p>
        </p:txBody>
      </p:sp>
    </p:spTree>
    <p:extLst>
      <p:ext uri="{BB962C8B-B14F-4D97-AF65-F5344CB8AC3E}">
        <p14:creationId xmlns:p14="http://schemas.microsoft.com/office/powerpoint/2010/main" val="425280899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rtl="1"/>
            <a:r>
              <a:rPr lang="fa-IR" sz="1200" b="0" i="0" kern="1200" dirty="0">
                <a:solidFill>
                  <a:schemeClr val="tx1"/>
                </a:solidFill>
                <a:effectLst/>
                <a:latin typeface="+mn-lt"/>
                <a:ea typeface="+mn-ea"/>
                <a:cs typeface="+mn-cs"/>
              </a:rPr>
              <a:t>ترکيب غير تکراری </a:t>
            </a:r>
            <a:r>
              <a:rPr lang="en-US" sz="1200" b="0" i="0" kern="1200" dirty="0" err="1">
                <a:solidFill>
                  <a:schemeClr val="tx1"/>
                </a:solidFill>
                <a:effectLst/>
                <a:latin typeface="+mn-lt"/>
                <a:ea typeface="+mn-ea"/>
                <a:cs typeface="+mn-cs"/>
              </a:rPr>
              <a:t>ProductNo+CustomerNo+SaleNo</a:t>
            </a:r>
            <a:r>
              <a:rPr lang="en-US" sz="1200" b="0" i="0" kern="1200" dirty="0">
                <a:solidFill>
                  <a:schemeClr val="tx1"/>
                </a:solidFill>
                <a:effectLst/>
                <a:latin typeface="+mn-lt"/>
                <a:ea typeface="+mn-ea"/>
                <a:cs typeface="+mn-cs"/>
              </a:rPr>
              <a:t> </a:t>
            </a:r>
            <a:r>
              <a:rPr lang="fa-IR" sz="1200" b="0" i="0" kern="1200" dirty="0">
                <a:solidFill>
                  <a:schemeClr val="tx1"/>
                </a:solidFill>
                <a:effectLst/>
                <a:latin typeface="+mn-lt"/>
                <a:ea typeface="+mn-ea"/>
                <a:cs typeface="+mn-cs"/>
              </a:rPr>
              <a:t>را می توان کليد اصلی درنظر گرفت.</a:t>
            </a:r>
          </a:p>
          <a:p>
            <a:pPr algn="r" rtl="1"/>
            <a:r>
              <a:rPr lang="en-US" sz="1200" b="1" i="0" kern="1200" dirty="0">
                <a:solidFill>
                  <a:schemeClr val="tx1"/>
                </a:solidFill>
                <a:effectLst/>
                <a:latin typeface="+mn-lt"/>
                <a:ea typeface="+mn-ea"/>
                <a:cs typeface="+mn-cs"/>
              </a:rPr>
              <a:t>ALL_SALES(</a:t>
            </a:r>
            <a:r>
              <a:rPr lang="en-US" sz="1200" b="1" i="0" u="sng" kern="1200" dirty="0" err="1">
                <a:solidFill>
                  <a:schemeClr val="tx1"/>
                </a:solidFill>
                <a:effectLst/>
                <a:latin typeface="+mn-lt"/>
                <a:ea typeface="+mn-ea"/>
                <a:cs typeface="+mn-cs"/>
              </a:rPr>
              <a:t>SaleNo</a:t>
            </a:r>
            <a:r>
              <a:rPr lang="en-US" sz="1200" b="1" i="0" u="sng" kern="1200" dirty="0">
                <a:solidFill>
                  <a:schemeClr val="tx1"/>
                </a:solidFill>
                <a:effectLst/>
                <a:latin typeface="+mn-lt"/>
                <a:ea typeface="+mn-ea"/>
                <a:cs typeface="+mn-cs"/>
              </a:rPr>
              <a:t>, </a:t>
            </a:r>
            <a:r>
              <a:rPr lang="en-US" sz="1200" b="1" i="0" u="sng" kern="1200" dirty="0" err="1">
                <a:solidFill>
                  <a:schemeClr val="tx1"/>
                </a:solidFill>
                <a:effectLst/>
                <a:latin typeface="+mn-lt"/>
                <a:ea typeface="+mn-ea"/>
                <a:cs typeface="+mn-cs"/>
              </a:rPr>
              <a:t>ProductNo</a:t>
            </a:r>
            <a:r>
              <a:rPr lang="en-US" sz="1200" b="1" i="0" u="sng" kern="1200" dirty="0">
                <a:solidFill>
                  <a:schemeClr val="tx1"/>
                </a:solidFill>
                <a:effectLst/>
                <a:latin typeface="+mn-lt"/>
                <a:ea typeface="+mn-ea"/>
                <a:cs typeface="+mn-cs"/>
              </a:rPr>
              <a:t>, </a:t>
            </a:r>
            <a:r>
              <a:rPr lang="en-US" sz="1200" b="1" i="0" u="sng" kern="1200" dirty="0" err="1">
                <a:solidFill>
                  <a:schemeClr val="tx1"/>
                </a:solidFill>
                <a:effectLst/>
                <a:latin typeface="+mn-lt"/>
                <a:ea typeface="+mn-ea"/>
                <a:cs typeface="+mn-cs"/>
              </a:rPr>
              <a:t>CustomerNo</a:t>
            </a:r>
            <a:r>
              <a:rPr lang="en-US" sz="1200" b="1" i="0" kern="1200" dirty="0">
                <a:solidFill>
                  <a:schemeClr val="tx1"/>
                </a:solidFill>
                <a:effectLst/>
                <a:latin typeface="+mn-lt"/>
                <a:ea typeface="+mn-ea"/>
                <a:cs typeface="+mn-cs"/>
              </a:rPr>
              <a:t>, </a:t>
            </a:r>
            <a:r>
              <a:rPr lang="en-US" sz="1200" b="1" i="0" kern="1200" dirty="0" err="1">
                <a:solidFill>
                  <a:schemeClr val="tx1"/>
                </a:solidFill>
                <a:effectLst/>
                <a:latin typeface="+mn-lt"/>
                <a:ea typeface="+mn-ea"/>
                <a:cs typeface="+mn-cs"/>
              </a:rPr>
              <a:t>SaleDate</a:t>
            </a:r>
            <a:r>
              <a:rPr lang="en-US" sz="1200" b="1" i="0" kern="1200" dirty="0">
                <a:solidFill>
                  <a:schemeClr val="tx1"/>
                </a:solidFill>
                <a:effectLst/>
                <a:latin typeface="+mn-lt"/>
                <a:ea typeface="+mn-ea"/>
                <a:cs typeface="+mn-cs"/>
              </a:rPr>
              <a:t>, </a:t>
            </a:r>
            <a:r>
              <a:rPr lang="en-US" sz="1200" b="1" i="0" kern="1200" dirty="0" err="1">
                <a:solidFill>
                  <a:schemeClr val="tx1"/>
                </a:solidFill>
                <a:effectLst/>
                <a:latin typeface="+mn-lt"/>
                <a:ea typeface="+mn-ea"/>
                <a:cs typeface="+mn-cs"/>
              </a:rPr>
              <a:t>QtyInStock</a:t>
            </a:r>
            <a:r>
              <a:rPr lang="en-US" sz="1200" b="1" i="0" kern="1200" dirty="0">
                <a:solidFill>
                  <a:schemeClr val="tx1"/>
                </a:solidFill>
                <a:effectLst/>
                <a:latin typeface="+mn-lt"/>
                <a:ea typeface="+mn-ea"/>
                <a:cs typeface="+mn-cs"/>
              </a:rPr>
              <a:t>, Description, Price, </a:t>
            </a:r>
            <a:r>
              <a:rPr lang="en-US" sz="1200" b="1" i="0" kern="1200" dirty="0" err="1">
                <a:solidFill>
                  <a:schemeClr val="tx1"/>
                </a:solidFill>
                <a:effectLst/>
                <a:latin typeface="+mn-lt"/>
                <a:ea typeface="+mn-ea"/>
                <a:cs typeface="+mn-cs"/>
              </a:rPr>
              <a:t>Customer_Name</a:t>
            </a:r>
            <a:r>
              <a:rPr lang="en-US" sz="1200" b="1" i="0" kern="1200" dirty="0">
                <a:solidFill>
                  <a:schemeClr val="tx1"/>
                </a:solidFill>
                <a:effectLst/>
                <a:latin typeface="+mn-lt"/>
                <a:ea typeface="+mn-ea"/>
                <a:cs typeface="+mn-cs"/>
              </a:rPr>
              <a:t>, </a:t>
            </a:r>
            <a:r>
              <a:rPr lang="en-US" sz="1200" b="1" i="0" kern="1200" dirty="0" err="1">
                <a:solidFill>
                  <a:schemeClr val="tx1"/>
                </a:solidFill>
                <a:effectLst/>
                <a:latin typeface="+mn-lt"/>
                <a:ea typeface="+mn-ea"/>
                <a:cs typeface="+mn-cs"/>
              </a:rPr>
              <a:t>Customer_Address</a:t>
            </a:r>
            <a:r>
              <a:rPr lang="en-US" sz="1200" b="1" i="0" kern="1200" dirty="0">
                <a:solidFill>
                  <a:schemeClr val="tx1"/>
                </a:solidFill>
                <a:effectLst/>
                <a:latin typeface="+mn-lt"/>
                <a:ea typeface="+mn-ea"/>
                <a:cs typeface="+mn-cs"/>
              </a:rPr>
              <a:t>, </a:t>
            </a:r>
            <a:r>
              <a:rPr lang="en-US" sz="1200" b="1" i="0" kern="1200" dirty="0" err="1">
                <a:solidFill>
                  <a:schemeClr val="tx1"/>
                </a:solidFill>
                <a:effectLst/>
                <a:latin typeface="+mn-lt"/>
                <a:ea typeface="+mn-ea"/>
                <a:cs typeface="+mn-cs"/>
              </a:rPr>
              <a:t>CreditLimit</a:t>
            </a:r>
            <a:r>
              <a:rPr lang="en-US" sz="1200" b="1" i="0" kern="1200" dirty="0">
                <a:solidFill>
                  <a:schemeClr val="tx1"/>
                </a:solidFill>
                <a:effectLst/>
                <a:latin typeface="+mn-lt"/>
                <a:ea typeface="+mn-ea"/>
                <a:cs typeface="+mn-cs"/>
              </a:rPr>
              <a:t>, Amount, </a:t>
            </a:r>
            <a:r>
              <a:rPr lang="en-US" sz="1200" b="1" i="0" kern="1200" dirty="0" err="1">
                <a:solidFill>
                  <a:schemeClr val="tx1"/>
                </a:solidFill>
                <a:effectLst/>
                <a:latin typeface="+mn-lt"/>
                <a:ea typeface="+mn-ea"/>
                <a:cs typeface="+mn-cs"/>
              </a:rPr>
              <a:t>Salesr</a:t>
            </a:r>
            <a:endParaRPr lang="en-US" sz="1200" b="1" i="0" kern="1200" dirty="0">
              <a:solidFill>
                <a:schemeClr val="tx1"/>
              </a:solidFill>
              <a:effectLst/>
              <a:latin typeface="+mn-lt"/>
              <a:ea typeface="+mn-ea"/>
              <a:cs typeface="+mn-cs"/>
            </a:endParaRPr>
          </a:p>
          <a:p>
            <a:pPr algn="r" rtl="1"/>
            <a:endParaRPr lang="en-US" dirty="0"/>
          </a:p>
        </p:txBody>
      </p:sp>
      <p:sp>
        <p:nvSpPr>
          <p:cNvPr id="4" name="Slide Number Placeholder 3"/>
          <p:cNvSpPr>
            <a:spLocks noGrp="1"/>
          </p:cNvSpPr>
          <p:nvPr>
            <p:ph type="sldNum" sz="quarter" idx="5"/>
          </p:nvPr>
        </p:nvSpPr>
        <p:spPr/>
        <p:txBody>
          <a:bodyPr/>
          <a:lstStyle/>
          <a:p>
            <a:fld id="{EF7565D7-C2AB-4CDD-97A1-0422B6964B36}" type="slidenum">
              <a:rPr lang="en-US" altLang="en-US" smtClean="0"/>
              <a:pPr/>
              <a:t>14</a:t>
            </a:fld>
            <a:endParaRPr lang="en-US" altLang="en-US"/>
          </a:p>
        </p:txBody>
      </p:sp>
    </p:spTree>
    <p:extLst>
      <p:ext uri="{BB962C8B-B14F-4D97-AF65-F5344CB8AC3E}">
        <p14:creationId xmlns:p14="http://schemas.microsoft.com/office/powerpoint/2010/main" val="136577663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r>
              <a:rPr lang="en-US" b="1" dirty="0"/>
              <a:t>Why This Table Is 1NF</a:t>
            </a:r>
          </a:p>
          <a:p>
            <a:pPr>
              <a:buFont typeface="+mj-lt"/>
              <a:buAutoNum type="arabicPeriod"/>
            </a:pPr>
            <a:r>
              <a:rPr lang="en-US" b="1" dirty="0"/>
              <a:t>Atomic Values</a:t>
            </a:r>
            <a:r>
              <a:rPr lang="en-US" dirty="0"/>
              <a:t>:</a:t>
            </a:r>
          </a:p>
          <a:p>
            <a:pPr marL="742950" lvl="1" indent="-285750">
              <a:buFont typeface="+mj-lt"/>
              <a:buAutoNum type="arabicPeriod"/>
            </a:pPr>
            <a:r>
              <a:rPr lang="en-US" dirty="0"/>
              <a:t>Each cell contains a single, indivisible value. For example:</a:t>
            </a:r>
          </a:p>
          <a:p>
            <a:pPr marL="1143000" lvl="2" indent="-228600">
              <a:buFont typeface="+mj-lt"/>
              <a:buAutoNum type="arabicPeriod"/>
            </a:pPr>
            <a:r>
              <a:rPr lang="en-US" dirty="0"/>
              <a:t>Customer No is a single atomic field (e.g., 4649-4673 is not a composite value but rather a single identifier).</a:t>
            </a:r>
          </a:p>
          <a:p>
            <a:pPr marL="1143000" lvl="2" indent="-228600">
              <a:buFont typeface="+mj-lt"/>
              <a:buAutoNum type="arabicPeriod"/>
            </a:pPr>
            <a:r>
              <a:rPr lang="en-US" dirty="0"/>
              <a:t>Other fields like First, Last, Amount, and Qty also contain atomic data.</a:t>
            </a:r>
          </a:p>
          <a:p>
            <a:pPr>
              <a:buFont typeface="+mj-lt"/>
              <a:buAutoNum type="arabicPeriod"/>
            </a:pPr>
            <a:r>
              <a:rPr lang="en-US" b="1" dirty="0"/>
              <a:t>Unique Rows</a:t>
            </a:r>
            <a:r>
              <a:rPr lang="en-US" dirty="0"/>
              <a:t>:</a:t>
            </a:r>
          </a:p>
          <a:p>
            <a:pPr marL="742950" lvl="1" indent="-285750">
              <a:buFont typeface="+mj-lt"/>
              <a:buAutoNum type="arabicPeriod"/>
            </a:pPr>
            <a:r>
              <a:rPr lang="en-US" dirty="0"/>
              <a:t>Each row can be uniquely identified, most likely by the combination of Sale No and </a:t>
            </a:r>
            <a:r>
              <a:rPr lang="en-US" dirty="0" err="1"/>
              <a:t>ProductNo</a:t>
            </a:r>
            <a:r>
              <a:rPr lang="en-US" dirty="0"/>
              <a:t>. This ensures there are no duplicate rows.</a:t>
            </a:r>
          </a:p>
          <a:p>
            <a:pPr>
              <a:buFont typeface="+mj-lt"/>
              <a:buAutoNum type="arabicPeriod"/>
            </a:pPr>
            <a:r>
              <a:rPr lang="en-US" b="1" dirty="0"/>
              <a:t>No Repeating Groups</a:t>
            </a:r>
            <a:r>
              <a:rPr lang="en-US" dirty="0"/>
              <a:t>:</a:t>
            </a:r>
          </a:p>
          <a:p>
            <a:pPr marL="742950" lvl="1" indent="-285750">
              <a:buFont typeface="+mj-lt"/>
              <a:buAutoNum type="arabicPeriod"/>
            </a:pPr>
            <a:r>
              <a:rPr lang="en-US" dirty="0"/>
              <a:t>The table does not include arrays, lists, or repeating groups within a single cell.</a:t>
            </a:r>
          </a:p>
          <a:p>
            <a:pPr rtl="1"/>
            <a:endParaRPr lang="en-US" sz="1200" b="0" i="0" kern="1200" dirty="0">
              <a:solidFill>
                <a:schemeClr val="tx1"/>
              </a:solidFill>
              <a:effectLst/>
              <a:latin typeface="+mn-lt"/>
              <a:ea typeface="+mn-ea"/>
              <a:cs typeface="+mn-cs"/>
            </a:endParaRPr>
          </a:p>
          <a:p>
            <a:pPr rtl="1"/>
            <a:endParaRPr lang="en-US" sz="1200" b="0" i="0" kern="1200" dirty="0">
              <a:solidFill>
                <a:schemeClr val="tx1"/>
              </a:solidFill>
              <a:effectLst/>
              <a:latin typeface="+mn-lt"/>
              <a:ea typeface="+mn-ea"/>
              <a:cs typeface="+mn-cs"/>
            </a:endParaRPr>
          </a:p>
          <a:p>
            <a:pPr rtl="1"/>
            <a:endParaRPr lang="en-US" sz="1200" b="0" i="0" kern="1200" dirty="0">
              <a:solidFill>
                <a:schemeClr val="tx1"/>
              </a:solidFill>
              <a:effectLst/>
              <a:latin typeface="+mn-lt"/>
              <a:ea typeface="+mn-ea"/>
              <a:cs typeface="+mn-cs"/>
            </a:endParaRPr>
          </a:p>
          <a:p>
            <a:pPr rtl="1"/>
            <a:r>
              <a:rPr lang="fa-IR" sz="1200" b="0" i="0" kern="1200" dirty="0">
                <a:solidFill>
                  <a:schemeClr val="tx1"/>
                </a:solidFill>
                <a:effectLst/>
                <a:latin typeface="+mn-lt"/>
                <a:ea typeface="+mn-ea"/>
                <a:cs typeface="+mn-cs"/>
              </a:rPr>
              <a:t>ترکيب غير تکراری </a:t>
            </a:r>
            <a:r>
              <a:rPr lang="en-US" sz="1200" b="0" i="0" kern="1200" dirty="0" err="1">
                <a:solidFill>
                  <a:schemeClr val="tx1"/>
                </a:solidFill>
                <a:effectLst/>
                <a:latin typeface="+mn-lt"/>
                <a:ea typeface="+mn-ea"/>
                <a:cs typeface="+mn-cs"/>
              </a:rPr>
              <a:t>ProductNo+CustomerNo+SaleNo</a:t>
            </a:r>
            <a:r>
              <a:rPr lang="en-US" sz="1200" b="0" i="0" kern="1200" dirty="0">
                <a:solidFill>
                  <a:schemeClr val="tx1"/>
                </a:solidFill>
                <a:effectLst/>
                <a:latin typeface="+mn-lt"/>
                <a:ea typeface="+mn-ea"/>
                <a:cs typeface="+mn-cs"/>
              </a:rPr>
              <a:t> </a:t>
            </a:r>
            <a:r>
              <a:rPr lang="fa-IR" sz="1200" b="0" i="0" kern="1200" dirty="0">
                <a:solidFill>
                  <a:schemeClr val="tx1"/>
                </a:solidFill>
                <a:effectLst/>
                <a:latin typeface="+mn-lt"/>
                <a:ea typeface="+mn-ea"/>
                <a:cs typeface="+mn-cs"/>
              </a:rPr>
              <a:t>را می توان کليد اصلی درنظر گرفت.</a:t>
            </a:r>
          </a:p>
          <a:p>
            <a:pPr rtl="0"/>
            <a:r>
              <a:rPr lang="en-US" sz="1200" b="1" i="0" kern="1200" dirty="0">
                <a:solidFill>
                  <a:schemeClr val="tx1"/>
                </a:solidFill>
                <a:effectLst/>
                <a:latin typeface="+mn-lt"/>
                <a:ea typeface="+mn-ea"/>
                <a:cs typeface="+mn-cs"/>
              </a:rPr>
              <a:t>ALL_SALES(</a:t>
            </a:r>
            <a:r>
              <a:rPr lang="en-US" sz="1200" b="1" i="0" u="sng" kern="1200" dirty="0" err="1">
                <a:solidFill>
                  <a:schemeClr val="tx1"/>
                </a:solidFill>
                <a:effectLst/>
                <a:latin typeface="+mn-lt"/>
                <a:ea typeface="+mn-ea"/>
                <a:cs typeface="+mn-cs"/>
              </a:rPr>
              <a:t>SaleNo</a:t>
            </a:r>
            <a:r>
              <a:rPr lang="en-US" sz="1200" b="1" i="0" u="sng" kern="1200" dirty="0">
                <a:solidFill>
                  <a:schemeClr val="tx1"/>
                </a:solidFill>
                <a:effectLst/>
                <a:latin typeface="+mn-lt"/>
                <a:ea typeface="+mn-ea"/>
                <a:cs typeface="+mn-cs"/>
              </a:rPr>
              <a:t>, </a:t>
            </a:r>
            <a:r>
              <a:rPr lang="en-US" sz="1200" b="1" i="0" u="sng" kern="1200" dirty="0" err="1">
                <a:solidFill>
                  <a:schemeClr val="tx1"/>
                </a:solidFill>
                <a:effectLst/>
                <a:latin typeface="+mn-lt"/>
                <a:ea typeface="+mn-ea"/>
                <a:cs typeface="+mn-cs"/>
              </a:rPr>
              <a:t>ProductNo</a:t>
            </a:r>
            <a:r>
              <a:rPr lang="en-US" sz="1200" b="1" i="0" u="sng" kern="1200" dirty="0">
                <a:solidFill>
                  <a:schemeClr val="tx1"/>
                </a:solidFill>
                <a:effectLst/>
                <a:latin typeface="+mn-lt"/>
                <a:ea typeface="+mn-ea"/>
                <a:cs typeface="+mn-cs"/>
              </a:rPr>
              <a:t>, </a:t>
            </a:r>
            <a:r>
              <a:rPr lang="en-US" sz="1200" b="1" i="0" u="sng" kern="1200" dirty="0" err="1">
                <a:solidFill>
                  <a:schemeClr val="tx1"/>
                </a:solidFill>
                <a:effectLst/>
                <a:latin typeface="+mn-lt"/>
                <a:ea typeface="+mn-ea"/>
                <a:cs typeface="+mn-cs"/>
              </a:rPr>
              <a:t>CustomerNo</a:t>
            </a:r>
            <a:r>
              <a:rPr lang="en-US" sz="1200" b="1" i="0" kern="1200" dirty="0">
                <a:solidFill>
                  <a:schemeClr val="tx1"/>
                </a:solidFill>
                <a:effectLst/>
                <a:latin typeface="+mn-lt"/>
                <a:ea typeface="+mn-ea"/>
                <a:cs typeface="+mn-cs"/>
              </a:rPr>
              <a:t>, </a:t>
            </a:r>
            <a:r>
              <a:rPr lang="en-US" sz="1200" b="1" i="0" kern="1200" dirty="0" err="1">
                <a:solidFill>
                  <a:schemeClr val="tx1"/>
                </a:solidFill>
                <a:effectLst/>
                <a:latin typeface="+mn-lt"/>
                <a:ea typeface="+mn-ea"/>
                <a:cs typeface="+mn-cs"/>
              </a:rPr>
              <a:t>SaleDate</a:t>
            </a:r>
            <a:r>
              <a:rPr lang="en-US" sz="1200" b="1" i="0" kern="1200" dirty="0">
                <a:solidFill>
                  <a:schemeClr val="tx1"/>
                </a:solidFill>
                <a:effectLst/>
                <a:latin typeface="+mn-lt"/>
                <a:ea typeface="+mn-ea"/>
                <a:cs typeface="+mn-cs"/>
              </a:rPr>
              <a:t>, </a:t>
            </a:r>
            <a:r>
              <a:rPr lang="en-US" sz="1200" b="1" i="0" kern="1200" dirty="0" err="1">
                <a:solidFill>
                  <a:schemeClr val="tx1"/>
                </a:solidFill>
                <a:effectLst/>
                <a:latin typeface="+mn-lt"/>
                <a:ea typeface="+mn-ea"/>
                <a:cs typeface="+mn-cs"/>
              </a:rPr>
              <a:t>QtyInStock</a:t>
            </a:r>
            <a:r>
              <a:rPr lang="en-US" sz="1200" b="1" i="0" kern="1200" dirty="0">
                <a:solidFill>
                  <a:schemeClr val="tx1"/>
                </a:solidFill>
                <a:effectLst/>
                <a:latin typeface="+mn-lt"/>
                <a:ea typeface="+mn-ea"/>
                <a:cs typeface="+mn-cs"/>
              </a:rPr>
              <a:t>, Description, Price, </a:t>
            </a:r>
            <a:r>
              <a:rPr lang="en-US" sz="1200" b="1" i="0" kern="1200" dirty="0" err="1">
                <a:solidFill>
                  <a:schemeClr val="tx1"/>
                </a:solidFill>
                <a:effectLst/>
                <a:latin typeface="+mn-lt"/>
                <a:ea typeface="+mn-ea"/>
                <a:cs typeface="+mn-cs"/>
              </a:rPr>
              <a:t>Customer_Name</a:t>
            </a:r>
            <a:r>
              <a:rPr lang="en-US" sz="1200" b="1" i="0" kern="1200" dirty="0">
                <a:solidFill>
                  <a:schemeClr val="tx1"/>
                </a:solidFill>
                <a:effectLst/>
                <a:latin typeface="+mn-lt"/>
                <a:ea typeface="+mn-ea"/>
                <a:cs typeface="+mn-cs"/>
              </a:rPr>
              <a:t>, </a:t>
            </a:r>
            <a:r>
              <a:rPr lang="en-US" sz="1200" b="1" i="0" kern="1200" dirty="0" err="1">
                <a:solidFill>
                  <a:schemeClr val="tx1"/>
                </a:solidFill>
                <a:effectLst/>
                <a:latin typeface="+mn-lt"/>
                <a:ea typeface="+mn-ea"/>
                <a:cs typeface="+mn-cs"/>
              </a:rPr>
              <a:t>Customer_Address</a:t>
            </a:r>
            <a:r>
              <a:rPr lang="en-US" sz="1200" b="1" i="0" kern="1200" dirty="0">
                <a:solidFill>
                  <a:schemeClr val="tx1"/>
                </a:solidFill>
                <a:effectLst/>
                <a:latin typeface="+mn-lt"/>
                <a:ea typeface="+mn-ea"/>
                <a:cs typeface="+mn-cs"/>
              </a:rPr>
              <a:t>, </a:t>
            </a:r>
            <a:r>
              <a:rPr lang="en-US" sz="1200" b="1" i="0" kern="1200" dirty="0" err="1">
                <a:solidFill>
                  <a:schemeClr val="tx1"/>
                </a:solidFill>
                <a:effectLst/>
                <a:latin typeface="+mn-lt"/>
                <a:ea typeface="+mn-ea"/>
                <a:cs typeface="+mn-cs"/>
              </a:rPr>
              <a:t>CreditLimit</a:t>
            </a:r>
            <a:r>
              <a:rPr lang="en-US" sz="1200" b="1" i="0" kern="1200" dirty="0">
                <a:solidFill>
                  <a:schemeClr val="tx1"/>
                </a:solidFill>
                <a:effectLst/>
                <a:latin typeface="+mn-lt"/>
                <a:ea typeface="+mn-ea"/>
                <a:cs typeface="+mn-cs"/>
              </a:rPr>
              <a:t>, Amount, </a:t>
            </a:r>
            <a:r>
              <a:rPr lang="en-US" sz="1200" b="1" i="0" kern="1200" dirty="0" err="1">
                <a:solidFill>
                  <a:schemeClr val="tx1"/>
                </a:solidFill>
                <a:effectLst/>
                <a:latin typeface="+mn-lt"/>
                <a:ea typeface="+mn-ea"/>
                <a:cs typeface="+mn-cs"/>
              </a:rPr>
              <a:t>Salesr</a:t>
            </a:r>
            <a:endParaRPr lang="en-US" sz="1200" b="1" i="0" kern="1200" dirty="0">
              <a:solidFill>
                <a:schemeClr val="tx1"/>
              </a:solidFill>
              <a:effectLst/>
              <a:latin typeface="+mn-lt"/>
              <a:ea typeface="+mn-ea"/>
              <a:cs typeface="+mn-cs"/>
            </a:endParaRPr>
          </a:p>
          <a:p>
            <a:endParaRPr lang="en-US" dirty="0"/>
          </a:p>
        </p:txBody>
      </p:sp>
      <p:sp>
        <p:nvSpPr>
          <p:cNvPr id="4" name="Slide Number Placeholder 3"/>
          <p:cNvSpPr>
            <a:spLocks noGrp="1"/>
          </p:cNvSpPr>
          <p:nvPr>
            <p:ph type="sldNum" sz="quarter" idx="5"/>
          </p:nvPr>
        </p:nvSpPr>
        <p:spPr/>
        <p:txBody>
          <a:bodyPr/>
          <a:lstStyle/>
          <a:p>
            <a:fld id="{EF7565D7-C2AB-4CDD-97A1-0422B6964B36}" type="slidenum">
              <a:rPr lang="en-US" altLang="en-US" smtClean="0"/>
              <a:pPr/>
              <a:t>15</a:t>
            </a:fld>
            <a:endParaRPr lang="en-US" altLang="en-US"/>
          </a:p>
        </p:txBody>
      </p:sp>
    </p:spTree>
    <p:extLst>
      <p:ext uri="{BB962C8B-B14F-4D97-AF65-F5344CB8AC3E}">
        <p14:creationId xmlns:p14="http://schemas.microsoft.com/office/powerpoint/2010/main" val="348123104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a-IR" dirty="0"/>
              <a:t>از نام به فامیل نمیرسیم</a:t>
            </a:r>
          </a:p>
          <a:p>
            <a:r>
              <a:rPr lang="fa-IR" dirty="0"/>
              <a:t>از شماره به نام میرسیم</a:t>
            </a:r>
          </a:p>
          <a:p>
            <a:r>
              <a:rPr lang="fa-IR" dirty="0"/>
              <a:t>از شماره به فامیل میرسیم. </a:t>
            </a:r>
          </a:p>
          <a:p>
            <a:endParaRPr lang="en-US" dirty="0"/>
          </a:p>
        </p:txBody>
      </p:sp>
      <p:sp>
        <p:nvSpPr>
          <p:cNvPr id="4" name="Slide Number Placeholder 3"/>
          <p:cNvSpPr>
            <a:spLocks noGrp="1"/>
          </p:cNvSpPr>
          <p:nvPr>
            <p:ph type="sldNum" sz="quarter" idx="5"/>
          </p:nvPr>
        </p:nvSpPr>
        <p:spPr/>
        <p:txBody>
          <a:bodyPr/>
          <a:lstStyle/>
          <a:p>
            <a:fld id="{EF7565D7-C2AB-4CDD-97A1-0422B6964B36}" type="slidenum">
              <a:rPr lang="en-US" altLang="en-US" smtClean="0"/>
              <a:pPr/>
              <a:t>16</a:t>
            </a:fld>
            <a:endParaRPr lang="en-US" altLang="en-US"/>
          </a:p>
        </p:txBody>
      </p:sp>
    </p:spTree>
    <p:extLst>
      <p:ext uri="{BB962C8B-B14F-4D97-AF65-F5344CB8AC3E}">
        <p14:creationId xmlns:p14="http://schemas.microsoft.com/office/powerpoint/2010/main" val="97244433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642"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688">
              <a:defRPr sz="1600">
                <a:solidFill>
                  <a:schemeClr val="tx1"/>
                </a:solidFill>
                <a:latin typeface="Helvetica" panose="020B0604020202020204" pitchFamily="34" charset="0"/>
                <a:ea typeface="MS PGothic" panose="020B0600070205080204" pitchFamily="34" charset="-128"/>
              </a:defRPr>
            </a:lvl1pPr>
            <a:lvl2pPr marL="742950" indent="-285750" defTabSz="928688">
              <a:defRPr sz="1600">
                <a:solidFill>
                  <a:schemeClr val="tx1"/>
                </a:solidFill>
                <a:latin typeface="Helvetica" panose="020B0604020202020204" pitchFamily="34" charset="0"/>
                <a:ea typeface="MS PGothic" panose="020B0600070205080204" pitchFamily="34" charset="-128"/>
              </a:defRPr>
            </a:lvl2pPr>
            <a:lvl3pPr marL="1143000" indent="-228600" defTabSz="928688">
              <a:defRPr sz="1600">
                <a:solidFill>
                  <a:schemeClr val="tx1"/>
                </a:solidFill>
                <a:latin typeface="Helvetica" panose="020B0604020202020204" pitchFamily="34" charset="0"/>
                <a:ea typeface="MS PGothic" panose="020B0600070205080204" pitchFamily="34" charset="-128"/>
              </a:defRPr>
            </a:lvl3pPr>
            <a:lvl4pPr marL="1600200" indent="-228600" defTabSz="928688">
              <a:defRPr sz="1600">
                <a:solidFill>
                  <a:schemeClr val="tx1"/>
                </a:solidFill>
                <a:latin typeface="Helvetica" panose="020B0604020202020204" pitchFamily="34" charset="0"/>
                <a:ea typeface="MS PGothic" panose="020B0600070205080204" pitchFamily="34" charset="-128"/>
              </a:defRPr>
            </a:lvl4pPr>
            <a:lvl5pPr marL="2057400" indent="-228600" defTabSz="928688">
              <a:defRPr sz="1600">
                <a:solidFill>
                  <a:schemeClr val="tx1"/>
                </a:solidFill>
                <a:latin typeface="Helvetica" panose="020B0604020202020204" pitchFamily="34" charset="0"/>
                <a:ea typeface="MS PGothic" panose="020B0600070205080204" pitchFamily="34" charset="-128"/>
              </a:defRPr>
            </a:lvl5pPr>
            <a:lvl6pPr marL="25146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A844FD9B-FA56-471A-AC29-AFD38B132615}" type="slidenum">
              <a:rPr lang="en-US" altLang="en-US" sz="1200"/>
              <a:pPr/>
              <a:t>18</a:t>
            </a:fld>
            <a:endParaRPr lang="en-US" altLang="en-US" sz="1200"/>
          </a:p>
        </p:txBody>
      </p:sp>
      <p:sp>
        <p:nvSpPr>
          <p:cNvPr id="112643" name="Rectangle 2"/>
          <p:cNvSpPr>
            <a:spLocks noGrp="1" noRot="1" noChangeAspect="1" noChangeArrowheads="1" noTextEdit="1"/>
          </p:cNvSpPr>
          <p:nvPr>
            <p:ph type="sldImg"/>
          </p:nvPr>
        </p:nvSpPr>
        <p:spPr>
          <a:xfrm>
            <a:off x="1177925" y="695325"/>
            <a:ext cx="4641850" cy="3481388"/>
          </a:xfrm>
          <a:ln/>
        </p:spPr>
      </p:sp>
      <p:sp>
        <p:nvSpPr>
          <p:cNvPr id="112644" name="Rectangle 3"/>
          <p:cNvSpPr>
            <a:spLocks noGrp="1" noChangeArrowheads="1"/>
          </p:cNvSpPr>
          <p:nvPr>
            <p:ph type="body" idx="1"/>
          </p:nvPr>
        </p:nvSpPr>
        <p:spPr>
          <a:xfrm>
            <a:off x="931414" y="4410392"/>
            <a:ext cx="5134874" cy="4177348"/>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extLst>
      <p:ext uri="{BB962C8B-B14F-4D97-AF65-F5344CB8AC3E}">
        <p14:creationId xmlns:p14="http://schemas.microsoft.com/office/powerpoint/2010/main" val="114658900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r" rtl="1"/>
            <a:r>
              <a:rPr lang="fa-IR" dirty="0"/>
              <a:t>خیر چون که زیر مجموعه </a:t>
            </a:r>
            <a:r>
              <a:rPr lang="en-US" dirty="0"/>
              <a:t>S# </a:t>
            </a:r>
            <a:r>
              <a:rPr lang="fa-IR" dirty="0"/>
              <a:t> به </a:t>
            </a:r>
            <a:r>
              <a:rPr lang="en-US" dirty="0"/>
              <a:t>CITY</a:t>
            </a:r>
            <a:r>
              <a:rPr lang="fa-IR" dirty="0"/>
              <a:t> وابستگی تابعی دارد. </a:t>
            </a:r>
            <a:endParaRPr lang="en-US" dirty="0"/>
          </a:p>
        </p:txBody>
      </p:sp>
      <p:sp>
        <p:nvSpPr>
          <p:cNvPr id="4" name="Slide Number Placeholder 3"/>
          <p:cNvSpPr>
            <a:spLocks noGrp="1"/>
          </p:cNvSpPr>
          <p:nvPr>
            <p:ph type="sldNum" sz="quarter" idx="5"/>
          </p:nvPr>
        </p:nvSpPr>
        <p:spPr/>
        <p:txBody>
          <a:bodyPr/>
          <a:lstStyle/>
          <a:p>
            <a:fld id="{EF7565D7-C2AB-4CDD-97A1-0422B6964B36}" type="slidenum">
              <a:rPr lang="en-US" altLang="en-US" smtClean="0"/>
              <a:pPr/>
              <a:t>19</a:t>
            </a:fld>
            <a:endParaRPr lang="en-US" altLang="en-US"/>
          </a:p>
        </p:txBody>
      </p:sp>
    </p:spTree>
    <p:extLst>
      <p:ext uri="{BB962C8B-B14F-4D97-AF65-F5344CB8AC3E}">
        <p14:creationId xmlns:p14="http://schemas.microsoft.com/office/powerpoint/2010/main" val="306022689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r" rtl="1"/>
            <a:r>
              <a:rPr lang="fa-IR" dirty="0"/>
              <a:t>خیر چون که زیر مجموعه </a:t>
            </a:r>
            <a:r>
              <a:rPr lang="en-US" dirty="0"/>
              <a:t>S# </a:t>
            </a:r>
            <a:r>
              <a:rPr lang="fa-IR" dirty="0"/>
              <a:t> به </a:t>
            </a:r>
            <a:r>
              <a:rPr lang="en-US" dirty="0"/>
              <a:t>CITY</a:t>
            </a:r>
            <a:r>
              <a:rPr lang="fa-IR" dirty="0"/>
              <a:t> وابستگی تابعی دارد. </a:t>
            </a:r>
            <a:endParaRPr lang="en-US" dirty="0"/>
          </a:p>
        </p:txBody>
      </p:sp>
      <p:sp>
        <p:nvSpPr>
          <p:cNvPr id="4" name="Slide Number Placeholder 3"/>
          <p:cNvSpPr>
            <a:spLocks noGrp="1"/>
          </p:cNvSpPr>
          <p:nvPr>
            <p:ph type="sldNum" sz="quarter" idx="5"/>
          </p:nvPr>
        </p:nvSpPr>
        <p:spPr/>
        <p:txBody>
          <a:bodyPr/>
          <a:lstStyle/>
          <a:p>
            <a:fld id="{EF7565D7-C2AB-4CDD-97A1-0422B6964B36}" type="slidenum">
              <a:rPr lang="en-US" altLang="en-US" smtClean="0"/>
              <a:pPr/>
              <a:t>20</a:t>
            </a:fld>
            <a:endParaRPr lang="en-US" altLang="en-US"/>
          </a:p>
        </p:txBody>
      </p:sp>
    </p:spTree>
    <p:extLst>
      <p:ext uri="{BB962C8B-B14F-4D97-AF65-F5344CB8AC3E}">
        <p14:creationId xmlns:p14="http://schemas.microsoft.com/office/powerpoint/2010/main" val="221954119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algn="r" rtl="1">
              <a:lnSpc>
                <a:spcPct val="107000"/>
              </a:lnSpc>
              <a:spcBef>
                <a:spcPts val="0"/>
              </a:spcBef>
              <a:spcAft>
                <a:spcPts val="800"/>
              </a:spcAft>
            </a:pPr>
            <a:r>
              <a:rPr lang="ar-SA" sz="1800" dirty="0">
                <a:effectLst/>
                <a:latin typeface="Calibri" panose="020F0502020204030204" pitchFamily="34" charset="0"/>
                <a:ea typeface="Calibri" panose="020F0502020204030204" pitchFamily="34" charset="0"/>
                <a:cs typeface="B Nazanin" panose="00000400000000000000" pitchFamily="2" charset="-78"/>
              </a:rPr>
              <a:t>سه قاعده اول درست و کامل هستند، بدین معنا که با داشتن یک مجموعه از وابستگی هاي تابعی</a:t>
            </a:r>
            <a:r>
              <a:rPr lang="en-US" sz="1800" dirty="0">
                <a:effectLst/>
                <a:latin typeface="Calibri" panose="020F0502020204030204" pitchFamily="34" charset="0"/>
                <a:ea typeface="Calibri" panose="020F0502020204030204" pitchFamily="34" charset="0"/>
                <a:cs typeface="B Nazanin" panose="00000400000000000000" pitchFamily="2" charset="-78"/>
              </a:rPr>
              <a:t> F</a:t>
            </a:r>
            <a:r>
              <a:rPr lang="ar-SA" sz="1800" dirty="0">
                <a:effectLst/>
                <a:latin typeface="Calibri" panose="020F0502020204030204" pitchFamily="34" charset="0"/>
                <a:ea typeface="Calibri" panose="020F0502020204030204" pitchFamily="34" charset="0"/>
                <a:cs typeface="B Nazanin" panose="00000400000000000000" pitchFamily="2" charset="-78"/>
              </a:rPr>
              <a:t>، تمام وابستگی هاي تابعی منطقاً قابل استنتاج از</a:t>
            </a:r>
            <a:r>
              <a:rPr lang="en-US" sz="1800" dirty="0">
                <a:effectLst/>
                <a:latin typeface="Calibri" panose="020F0502020204030204" pitchFamily="34" charset="0"/>
                <a:ea typeface="Calibri" panose="020F0502020204030204" pitchFamily="34" charset="0"/>
                <a:cs typeface="B Nazanin" panose="00000400000000000000" pitchFamily="2" charset="-78"/>
              </a:rPr>
              <a:t> F</a:t>
            </a:r>
            <a:r>
              <a:rPr lang="ar-SA" sz="1800" dirty="0">
                <a:effectLst/>
                <a:latin typeface="Calibri" panose="020F0502020204030204" pitchFamily="34" charset="0"/>
                <a:ea typeface="Calibri" panose="020F0502020204030204" pitchFamily="34" charset="0"/>
                <a:cs typeface="B Nazanin" panose="00000400000000000000" pitchFamily="2" charset="-78"/>
              </a:rPr>
              <a:t>، با همین سه قاعده به دست میآیند و هیچ وابستگی تابعی دیگر که از</a:t>
            </a:r>
            <a:r>
              <a:rPr lang="en-US" sz="1800" dirty="0">
                <a:effectLst/>
                <a:latin typeface="Calibri" panose="020F0502020204030204" pitchFamily="34" charset="0"/>
                <a:ea typeface="Calibri" panose="020F0502020204030204" pitchFamily="34" charset="0"/>
                <a:cs typeface="B Nazanin" panose="00000400000000000000" pitchFamily="2" charset="-78"/>
              </a:rPr>
              <a:t> F </a:t>
            </a:r>
            <a:r>
              <a:rPr lang="ar-SA" sz="1800" dirty="0">
                <a:effectLst/>
                <a:latin typeface="Calibri" panose="020F0502020204030204" pitchFamily="34" charset="0"/>
                <a:ea typeface="Calibri" panose="020F0502020204030204" pitchFamily="34" charset="0"/>
                <a:cs typeface="B Nazanin" panose="00000400000000000000" pitchFamily="2" charset="-78"/>
              </a:rPr>
              <a:t>قابل استنتاج نباشد نیز به دست نمیآید</a:t>
            </a:r>
            <a:r>
              <a:rPr lang="en-US" sz="1800" dirty="0">
                <a:effectLst/>
                <a:latin typeface="Calibri" panose="020F0502020204030204" pitchFamily="34" charset="0"/>
                <a:ea typeface="Calibri" panose="020F0502020204030204" pitchFamily="34" charset="0"/>
                <a:cs typeface="B Nazanin" panose="00000400000000000000" pitchFamily="2" charset="-78"/>
              </a:rPr>
              <a:t>. </a:t>
            </a:r>
            <a:endParaRPr lang="en-US" sz="1800" dirty="0">
              <a:effectLst/>
              <a:latin typeface="Calibri" panose="020F0502020204030204" pitchFamily="34" charset="0"/>
              <a:ea typeface="Calibri" panose="020F0502020204030204" pitchFamily="34" charset="0"/>
              <a:cs typeface="Arial" panose="020B0604020202020204" pitchFamily="34" charset="0"/>
            </a:endParaRPr>
          </a:p>
          <a:p>
            <a:pPr marL="0" marR="0" algn="r" rtl="1">
              <a:lnSpc>
                <a:spcPct val="107000"/>
              </a:lnSpc>
              <a:spcBef>
                <a:spcPts val="0"/>
              </a:spcBef>
              <a:spcAft>
                <a:spcPts val="800"/>
              </a:spcAft>
            </a:pPr>
            <a:r>
              <a:rPr lang="ar-SA" sz="1800" dirty="0">
                <a:effectLst/>
                <a:latin typeface="Calibri" panose="020F0502020204030204" pitchFamily="34" charset="0"/>
                <a:ea typeface="Calibri" panose="020F0502020204030204" pitchFamily="34" charset="0"/>
                <a:cs typeface="B Nazanin" panose="00000400000000000000" pitchFamily="2" charset="-78"/>
              </a:rPr>
              <a:t>توجه: سه قاعده اول به آسانی قابل اثبات هستند و قواعد دیگر از روي همانها اثبات میشوند</a:t>
            </a:r>
            <a:r>
              <a:rPr lang="en-US" sz="1800" dirty="0">
                <a:effectLst/>
                <a:latin typeface="Calibri" panose="020F0502020204030204" pitchFamily="34" charset="0"/>
                <a:ea typeface="Calibri" panose="020F0502020204030204" pitchFamily="34" charset="0"/>
                <a:cs typeface="B Nazanin" panose="00000400000000000000" pitchFamily="2" charset="-78"/>
              </a:rPr>
              <a:t>.</a:t>
            </a:r>
            <a:endParaRPr lang="en-US" sz="1800" dirty="0">
              <a:effectLst/>
              <a:latin typeface="Calibri" panose="020F0502020204030204" pitchFamily="34" charset="0"/>
              <a:ea typeface="Calibri" panose="020F0502020204030204" pitchFamily="34" charset="0"/>
              <a:cs typeface="Arial" panose="020B0604020202020204" pitchFamily="34" charset="0"/>
            </a:endParaRPr>
          </a:p>
          <a:p>
            <a:endParaRPr lang="en-US" dirty="0"/>
          </a:p>
        </p:txBody>
      </p:sp>
      <p:sp>
        <p:nvSpPr>
          <p:cNvPr id="4" name="Slide Number Placeholder 3"/>
          <p:cNvSpPr>
            <a:spLocks noGrp="1"/>
          </p:cNvSpPr>
          <p:nvPr>
            <p:ph type="sldNum" sz="quarter" idx="5"/>
          </p:nvPr>
        </p:nvSpPr>
        <p:spPr/>
        <p:txBody>
          <a:bodyPr/>
          <a:lstStyle/>
          <a:p>
            <a:fld id="{EF7565D7-C2AB-4CDD-97A1-0422B6964B36}" type="slidenum">
              <a:rPr lang="en-US" altLang="en-US" smtClean="0"/>
              <a:pPr/>
              <a:t>21</a:t>
            </a:fld>
            <a:endParaRPr lang="en-US" altLang="en-US"/>
          </a:p>
        </p:txBody>
      </p:sp>
    </p:spTree>
    <p:extLst>
      <p:ext uri="{BB962C8B-B14F-4D97-AF65-F5344CB8AC3E}">
        <p14:creationId xmlns:p14="http://schemas.microsoft.com/office/powerpoint/2010/main" val="3537487543"/>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base" latinLnBrk="0" hangingPunct="1">
              <a:lnSpc>
                <a:spcPct val="100000"/>
              </a:lnSpc>
              <a:spcBef>
                <a:spcPct val="30000"/>
              </a:spcBef>
              <a:spcAft>
                <a:spcPct val="0"/>
              </a:spcAft>
              <a:buClrTx/>
              <a:buSzTx/>
              <a:buFontTx/>
              <a:buNone/>
              <a:tabLst/>
              <a:defRPr/>
            </a:pPr>
            <a:r>
              <a:rPr lang="en-US" dirty="0"/>
              <a:t>HRH_RHR​ </a:t>
            </a:r>
            <a:r>
              <a:rPr lang="ar-SA" sz="1800" dirty="0">
                <a:effectLst/>
                <a:latin typeface="Calibri" panose="020F0502020204030204" pitchFamily="34" charset="0"/>
                <a:ea typeface="Calibri" panose="020F0502020204030204" pitchFamily="34" charset="0"/>
                <a:cs typeface="Arial" panose="020B0604020202020204" pitchFamily="34" charset="0"/>
              </a:rPr>
              <a:t>زمینه پایگاه داده و وابستگی‌های تابعی، </a:t>
            </a:r>
            <a:r>
              <a:rPr lang="en-US" sz="1800" dirty="0">
                <a:effectLst/>
                <a:latin typeface="Calibri" panose="020F0502020204030204" pitchFamily="34" charset="0"/>
                <a:ea typeface="Calibri" panose="020F0502020204030204" pitchFamily="34" charset="0"/>
                <a:cs typeface="Arial" panose="020B0604020202020204" pitchFamily="34" charset="0"/>
              </a:rPr>
              <a:t>H_R​ </a:t>
            </a:r>
            <a:r>
              <a:rPr lang="ar-SA" sz="1800" dirty="0">
                <a:effectLst/>
                <a:latin typeface="Calibri" panose="020F0502020204030204" pitchFamily="34" charset="0"/>
                <a:ea typeface="Calibri" panose="020F0502020204030204" pitchFamily="34" charset="0"/>
                <a:cs typeface="Arial" panose="020B0604020202020204" pitchFamily="34" charset="0"/>
              </a:rPr>
              <a:t>به مجموعه </a:t>
            </a:r>
            <a:r>
              <a:rPr lang="ar-SA" sz="1800" b="1" dirty="0">
                <a:effectLst/>
                <a:latin typeface="Calibri" panose="020F0502020204030204" pitchFamily="34" charset="0"/>
                <a:ea typeface="Calibri" panose="020F0502020204030204" pitchFamily="34" charset="0"/>
                <a:cs typeface="Arial" panose="020B0604020202020204" pitchFamily="34" charset="0"/>
              </a:rPr>
              <a:t>تمام صفات رابطه </a:t>
            </a:r>
            <a:r>
              <a:rPr lang="en-US" sz="1800" b="1" dirty="0">
                <a:effectLst/>
                <a:latin typeface="Calibri" panose="020F0502020204030204" pitchFamily="34" charset="0"/>
                <a:ea typeface="Calibri" panose="020F0502020204030204" pitchFamily="34" charset="0"/>
                <a:cs typeface="Arial" panose="020B0604020202020204" pitchFamily="34" charset="0"/>
              </a:rPr>
              <a:t>R</a:t>
            </a:r>
            <a:r>
              <a:rPr lang="en-US" sz="1800" dirty="0">
                <a:effectLst/>
                <a:latin typeface="Calibri" panose="020F0502020204030204" pitchFamily="34" charset="0"/>
                <a:ea typeface="Calibri" panose="020F0502020204030204" pitchFamily="34" charset="0"/>
                <a:cs typeface="Arial" panose="020B0604020202020204" pitchFamily="34" charset="0"/>
              </a:rPr>
              <a:t> </a:t>
            </a:r>
            <a:r>
              <a:rPr lang="ar-SA" sz="1800" dirty="0">
                <a:effectLst/>
                <a:latin typeface="Calibri" panose="020F0502020204030204" pitchFamily="34" charset="0"/>
                <a:ea typeface="Calibri" panose="020F0502020204030204" pitchFamily="34" charset="0"/>
                <a:cs typeface="Arial" panose="020B0604020202020204" pitchFamily="34" charset="0"/>
              </a:rPr>
              <a:t>اشاره دارد. این مجموعه معمولاً </a:t>
            </a:r>
            <a:r>
              <a:rPr lang="ar-SA" sz="1800" b="1" dirty="0">
                <a:effectLst/>
                <a:latin typeface="Calibri" panose="020F0502020204030204" pitchFamily="34" charset="0"/>
                <a:ea typeface="Calibri" panose="020F0502020204030204" pitchFamily="34" charset="0"/>
                <a:cs typeface="Arial" panose="020B0604020202020204" pitchFamily="34" charset="0"/>
              </a:rPr>
              <a:t>هدر</a:t>
            </a:r>
            <a:r>
              <a:rPr lang="en-US" sz="1800" b="1" dirty="0">
                <a:effectLst/>
                <a:latin typeface="Calibri" panose="020F0502020204030204" pitchFamily="34" charset="0"/>
                <a:ea typeface="Calibri" panose="020F0502020204030204" pitchFamily="34" charset="0"/>
                <a:cs typeface="Arial" panose="020B0604020202020204" pitchFamily="34" charset="0"/>
              </a:rPr>
              <a:t> (Header)</a:t>
            </a:r>
            <a:r>
              <a:rPr lang="en-US" sz="1800" dirty="0">
                <a:effectLst/>
                <a:latin typeface="Calibri" panose="020F0502020204030204" pitchFamily="34" charset="0"/>
                <a:ea typeface="Calibri" panose="020F0502020204030204" pitchFamily="34" charset="0"/>
                <a:cs typeface="Arial" panose="020B0604020202020204" pitchFamily="34" charset="0"/>
              </a:rPr>
              <a:t> </a:t>
            </a:r>
            <a:r>
              <a:rPr lang="ar-SA" sz="1800" dirty="0">
                <a:effectLst/>
                <a:latin typeface="Calibri" panose="020F0502020204030204" pitchFamily="34" charset="0"/>
                <a:ea typeface="Calibri" panose="020F0502020204030204" pitchFamily="34" charset="0"/>
                <a:cs typeface="Arial" panose="020B0604020202020204" pitchFamily="34" charset="0"/>
              </a:rPr>
              <a:t>یا </a:t>
            </a:r>
            <a:r>
              <a:rPr lang="ar-SA" sz="1800" b="1" dirty="0">
                <a:effectLst/>
                <a:latin typeface="Calibri" panose="020F0502020204030204" pitchFamily="34" charset="0"/>
                <a:ea typeface="Calibri" panose="020F0502020204030204" pitchFamily="34" charset="0"/>
                <a:cs typeface="Arial" panose="020B0604020202020204" pitchFamily="34" charset="0"/>
              </a:rPr>
              <a:t>طرح رابطه</a:t>
            </a:r>
            <a:r>
              <a:rPr lang="en-US" sz="1800" b="1" dirty="0">
                <a:effectLst/>
                <a:latin typeface="Calibri" panose="020F0502020204030204" pitchFamily="34" charset="0"/>
                <a:ea typeface="Calibri" panose="020F0502020204030204" pitchFamily="34" charset="0"/>
                <a:cs typeface="Arial" panose="020B0604020202020204" pitchFamily="34" charset="0"/>
              </a:rPr>
              <a:t> (Relation Schema)</a:t>
            </a:r>
            <a:r>
              <a:rPr lang="en-US" sz="1800" dirty="0">
                <a:effectLst/>
                <a:latin typeface="Calibri" panose="020F0502020204030204" pitchFamily="34" charset="0"/>
                <a:ea typeface="Calibri" panose="020F0502020204030204" pitchFamily="34" charset="0"/>
                <a:cs typeface="Arial" panose="020B0604020202020204" pitchFamily="34" charset="0"/>
              </a:rPr>
              <a:t> </a:t>
            </a:r>
            <a:r>
              <a:rPr lang="ar-SA" sz="1800" dirty="0">
                <a:effectLst/>
                <a:latin typeface="Calibri" panose="020F0502020204030204" pitchFamily="34" charset="0"/>
                <a:ea typeface="Calibri" panose="020F0502020204030204" pitchFamily="34" charset="0"/>
                <a:cs typeface="Arial" panose="020B0604020202020204" pitchFamily="34" charset="0"/>
              </a:rPr>
              <a:t>نامیده می‌شود</a:t>
            </a:r>
            <a:r>
              <a:rPr lang="en-US" sz="1800" dirty="0">
                <a:effectLst/>
                <a:latin typeface="Calibri" panose="020F0502020204030204" pitchFamily="34" charset="0"/>
                <a:ea typeface="Calibri" panose="020F0502020204030204" pitchFamily="34" charset="0"/>
                <a:cs typeface="Arial" panose="020B0604020202020204" pitchFamily="34" charset="0"/>
              </a:rPr>
              <a:t>.</a:t>
            </a:r>
          </a:p>
          <a:p>
            <a:endParaRPr lang="en-US" dirty="0"/>
          </a:p>
        </p:txBody>
      </p:sp>
      <p:sp>
        <p:nvSpPr>
          <p:cNvPr id="4" name="Slide Number Placeholder 3"/>
          <p:cNvSpPr>
            <a:spLocks noGrp="1"/>
          </p:cNvSpPr>
          <p:nvPr>
            <p:ph type="sldNum" sz="quarter" idx="5"/>
          </p:nvPr>
        </p:nvSpPr>
        <p:spPr/>
        <p:txBody>
          <a:bodyPr/>
          <a:lstStyle/>
          <a:p>
            <a:fld id="{EF7565D7-C2AB-4CDD-97A1-0422B6964B36}" type="slidenum">
              <a:rPr lang="en-US" altLang="en-US" smtClean="0"/>
              <a:pPr/>
              <a:t>22</a:t>
            </a:fld>
            <a:endParaRPr lang="en-US" altLang="en-US"/>
          </a:p>
        </p:txBody>
      </p:sp>
    </p:spTree>
    <p:extLst>
      <p:ext uri="{BB962C8B-B14F-4D97-AF65-F5344CB8AC3E}">
        <p14:creationId xmlns:p14="http://schemas.microsoft.com/office/powerpoint/2010/main" val="3331738076"/>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a:lnSpc>
                <a:spcPct val="107000"/>
              </a:lnSpc>
              <a:spcBef>
                <a:spcPts val="0"/>
              </a:spcBef>
              <a:spcAft>
                <a:spcPts val="800"/>
              </a:spcAft>
            </a:pPr>
            <a:r>
              <a:rPr lang="en-US" sz="1200" dirty="0">
                <a:effectLst/>
                <a:latin typeface="Times New Roman" panose="02020603050405020304" pitchFamily="18" charset="0"/>
                <a:ea typeface="Times New Roman" panose="02020603050405020304" pitchFamily="18" charset="0"/>
                <a:cs typeface="Arial" panose="020B0604020202020204" pitchFamily="34" charset="0"/>
              </a:rPr>
              <a:t>Using the inference rules, we can derive the closure:</a:t>
            </a:r>
            <a:endParaRPr lang="en-US" sz="1100" dirty="0">
              <a:effectLst/>
              <a:latin typeface="Calibri" panose="020F0502020204030204" pitchFamily="34" charset="0"/>
              <a:ea typeface="Calibri" panose="020F0502020204030204" pitchFamily="34" charset="0"/>
              <a:cs typeface="Arial" panose="020B0604020202020204" pitchFamily="34" charset="0"/>
            </a:endParaRPr>
          </a:p>
          <a:p>
            <a:pPr marL="342900" marR="0" lvl="0" indent="-342900">
              <a:lnSpc>
                <a:spcPct val="107000"/>
              </a:lnSpc>
              <a:spcBef>
                <a:spcPts val="0"/>
              </a:spcBef>
              <a:spcAft>
                <a:spcPts val="800"/>
              </a:spcAft>
              <a:buFont typeface="+mj-lt"/>
              <a:buAutoNum type="arabicPeriod"/>
              <a:tabLst>
                <a:tab pos="457200" algn="l"/>
              </a:tabLst>
            </a:pPr>
            <a:r>
              <a:rPr lang="en-US" sz="1200" b="1" dirty="0">
                <a:effectLst/>
                <a:latin typeface="Times New Roman" panose="02020603050405020304" pitchFamily="18" charset="0"/>
                <a:ea typeface="Times New Roman" panose="02020603050405020304" pitchFamily="18" charset="0"/>
                <a:cs typeface="Arial" panose="020B0604020202020204" pitchFamily="34" charset="0"/>
              </a:rPr>
              <a:t>Derived Dependencies</a:t>
            </a:r>
            <a:r>
              <a:rPr lang="en-US" sz="1200" dirty="0">
                <a:effectLst/>
                <a:latin typeface="Times New Roman" panose="02020603050405020304" pitchFamily="18" charset="0"/>
                <a:ea typeface="Times New Roman" panose="02020603050405020304" pitchFamily="18" charset="0"/>
                <a:cs typeface="Arial" panose="020B0604020202020204" pitchFamily="34" charset="0"/>
              </a:rPr>
              <a:t>:</a:t>
            </a:r>
            <a:endParaRPr lang="en-US" sz="1100" dirty="0">
              <a:effectLst/>
              <a:latin typeface="Calibri" panose="020F0502020204030204" pitchFamily="34" charset="0"/>
              <a:ea typeface="Calibri" panose="020F0502020204030204" pitchFamily="34" charset="0"/>
              <a:cs typeface="Arial" panose="020B0604020202020204" pitchFamily="34" charset="0"/>
            </a:endParaRPr>
          </a:p>
          <a:p>
            <a:pPr marL="742950" marR="0" lvl="1" indent="-285750">
              <a:lnSpc>
                <a:spcPct val="107000"/>
              </a:lnSpc>
              <a:spcBef>
                <a:spcPts val="0"/>
              </a:spcBef>
              <a:spcAft>
                <a:spcPts val="800"/>
              </a:spcAft>
              <a:buSzPts val="1000"/>
              <a:buFont typeface="Courier New" panose="02070309020205020404" pitchFamily="49" charset="0"/>
              <a:buChar char="o"/>
              <a:tabLst>
                <a:tab pos="914400" algn="l"/>
              </a:tabLst>
            </a:pPr>
            <a:r>
              <a:rPr lang="en-US" sz="1200" b="1" dirty="0">
                <a:effectLst/>
                <a:latin typeface="Times New Roman" panose="02020603050405020304" pitchFamily="18" charset="0"/>
                <a:ea typeface="Times New Roman" panose="02020603050405020304" pitchFamily="18" charset="0"/>
                <a:cs typeface="Times New Roman" panose="02020603050405020304" pitchFamily="18" charset="0"/>
              </a:rPr>
              <a:t>Using Transitivity</a:t>
            </a:r>
            <a:r>
              <a:rPr lang="en-US" sz="1200" dirty="0">
                <a:effectLst/>
                <a:latin typeface="Times New Roman" panose="02020603050405020304" pitchFamily="18" charset="0"/>
                <a:ea typeface="Times New Roman" panose="02020603050405020304" pitchFamily="18" charset="0"/>
                <a:cs typeface="Times New Roman" panose="02020603050405020304" pitchFamily="18" charset="0"/>
              </a:rPr>
              <a:t>: From A→B  and B→C, we can infer A→C.</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p>
            <a:pPr marL="742950" marR="0" lvl="1" indent="-285750">
              <a:lnSpc>
                <a:spcPct val="107000"/>
              </a:lnSpc>
              <a:spcBef>
                <a:spcPts val="0"/>
              </a:spcBef>
              <a:spcAft>
                <a:spcPts val="800"/>
              </a:spcAft>
              <a:buSzPts val="1000"/>
              <a:buFont typeface="Courier New" panose="02070309020205020404" pitchFamily="49" charset="0"/>
              <a:buChar char="o"/>
              <a:tabLst>
                <a:tab pos="914400" algn="l"/>
              </a:tabLst>
            </a:pPr>
            <a:r>
              <a:rPr lang="en-US" sz="1200" b="1" dirty="0">
                <a:effectLst/>
                <a:latin typeface="Times New Roman" panose="02020603050405020304" pitchFamily="18" charset="0"/>
                <a:ea typeface="Times New Roman" panose="02020603050405020304" pitchFamily="18" charset="0"/>
                <a:cs typeface="Times New Roman" panose="02020603050405020304" pitchFamily="18" charset="0"/>
              </a:rPr>
              <a:t>Using Augmentation</a:t>
            </a:r>
            <a:r>
              <a:rPr lang="en-US" sz="1200" dirty="0">
                <a:effectLst/>
                <a:latin typeface="Times New Roman" panose="02020603050405020304" pitchFamily="18" charset="0"/>
                <a:ea typeface="Times New Roman" panose="02020603050405020304" pitchFamily="18" charset="0"/>
                <a:cs typeface="Times New Roman" panose="02020603050405020304" pitchFamily="18" charset="0"/>
              </a:rPr>
              <a:t>: From A→B, we can infer A→BC (add attributes on the right).</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p>
            <a:pPr marL="742950" marR="0" lvl="1" indent="-285750">
              <a:lnSpc>
                <a:spcPct val="107000"/>
              </a:lnSpc>
              <a:spcBef>
                <a:spcPts val="0"/>
              </a:spcBef>
              <a:spcAft>
                <a:spcPts val="800"/>
              </a:spcAft>
              <a:buSzPts val="1000"/>
              <a:buFont typeface="Courier New" panose="02070309020205020404" pitchFamily="49" charset="0"/>
              <a:buChar char="o"/>
              <a:tabLst>
                <a:tab pos="914400" algn="l"/>
              </a:tabLst>
            </a:pPr>
            <a:r>
              <a:rPr lang="en-US" sz="1200" b="1" dirty="0">
                <a:effectLst/>
                <a:latin typeface="Times New Roman" panose="02020603050405020304" pitchFamily="18" charset="0"/>
                <a:ea typeface="Times New Roman" panose="02020603050405020304" pitchFamily="18" charset="0"/>
                <a:cs typeface="Times New Roman" panose="02020603050405020304" pitchFamily="18" charset="0"/>
              </a:rPr>
              <a:t>Combining Augmented Dependencies</a:t>
            </a:r>
            <a:r>
              <a:rPr lang="en-US" sz="1200" dirty="0">
                <a:effectLst/>
                <a:latin typeface="Times New Roman" panose="02020603050405020304" pitchFamily="18" charset="0"/>
                <a:ea typeface="Times New Roman" panose="02020603050405020304" pitchFamily="18" charset="0"/>
                <a:cs typeface="Times New Roman" panose="02020603050405020304" pitchFamily="18" charset="0"/>
              </a:rPr>
              <a:t>: From A→BC and A→DA, we can infer A→BCD.</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p>
            <a:endParaRPr lang="en-US" dirty="0"/>
          </a:p>
        </p:txBody>
      </p:sp>
      <p:sp>
        <p:nvSpPr>
          <p:cNvPr id="4" name="Slide Number Placeholder 3"/>
          <p:cNvSpPr>
            <a:spLocks noGrp="1"/>
          </p:cNvSpPr>
          <p:nvPr>
            <p:ph type="sldNum" sz="quarter" idx="5"/>
          </p:nvPr>
        </p:nvSpPr>
        <p:spPr/>
        <p:txBody>
          <a:bodyPr/>
          <a:lstStyle/>
          <a:p>
            <a:fld id="{EF7565D7-C2AB-4CDD-97A1-0422B6964B36}" type="slidenum">
              <a:rPr lang="en-US" altLang="en-US" smtClean="0"/>
              <a:pPr/>
              <a:t>23</a:t>
            </a:fld>
            <a:endParaRPr lang="en-US" altLang="en-US"/>
          </a:p>
        </p:txBody>
      </p:sp>
    </p:spTree>
    <p:extLst>
      <p:ext uri="{BB962C8B-B14F-4D97-AF65-F5344CB8AC3E}">
        <p14:creationId xmlns:p14="http://schemas.microsoft.com/office/powerpoint/2010/main" val="157680544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algn="r" rtl="1">
              <a:lnSpc>
                <a:spcPct val="107000"/>
              </a:lnSpc>
              <a:spcBef>
                <a:spcPts val="0"/>
              </a:spcBef>
              <a:spcAft>
                <a:spcPts val="800"/>
              </a:spcAft>
            </a:pPr>
            <a:r>
              <a:rPr lang="ar-SA" sz="1350" b="1" dirty="0">
                <a:effectLst/>
                <a:latin typeface="Calibri" panose="020F0502020204030204" pitchFamily="34" charset="0"/>
                <a:ea typeface="Times New Roman" panose="02020603050405020304" pitchFamily="18" charset="0"/>
                <a:cs typeface="Times New Roman" panose="02020603050405020304" pitchFamily="18" charset="0"/>
              </a:rPr>
              <a:t>شکلات این جدول برای رسیدن به 2</a:t>
            </a:r>
            <a:r>
              <a:rPr lang="en-US" sz="1350" b="1" dirty="0">
                <a:effectLst/>
                <a:latin typeface="Times New Roman" panose="02020603050405020304" pitchFamily="18" charset="0"/>
                <a:ea typeface="Times New Roman" panose="02020603050405020304" pitchFamily="18" charset="0"/>
                <a:cs typeface="Arial" panose="020B0604020202020204" pitchFamily="34" charset="0"/>
              </a:rPr>
              <a:t>NF</a:t>
            </a:r>
            <a:endParaRPr lang="en-US" sz="1100" dirty="0">
              <a:effectLst/>
              <a:latin typeface="Calibri" panose="020F0502020204030204" pitchFamily="34" charset="0"/>
              <a:ea typeface="Calibri" panose="020F0502020204030204" pitchFamily="34" charset="0"/>
              <a:cs typeface="Arial" panose="020B0604020202020204" pitchFamily="34" charset="0"/>
            </a:endParaRPr>
          </a:p>
          <a:p>
            <a:pPr marL="342900" marR="0" lvl="0" indent="-342900" algn="r" rtl="1">
              <a:lnSpc>
                <a:spcPct val="107000"/>
              </a:lnSpc>
              <a:spcBef>
                <a:spcPts val="0"/>
              </a:spcBef>
              <a:spcAft>
                <a:spcPts val="800"/>
              </a:spcAft>
              <a:buFont typeface="+mj-lt"/>
              <a:buAutoNum type="arabicPeriod"/>
              <a:tabLst>
                <a:tab pos="457200" algn="l"/>
              </a:tabLst>
            </a:pPr>
            <a:r>
              <a:rPr lang="ar-SA" sz="1200" b="1" dirty="0">
                <a:effectLst/>
                <a:latin typeface="Calibri" panose="020F0502020204030204" pitchFamily="34" charset="0"/>
                <a:ea typeface="Times New Roman" panose="02020603050405020304" pitchFamily="18" charset="0"/>
                <a:cs typeface="Times New Roman" panose="02020603050405020304" pitchFamily="18" charset="0"/>
              </a:rPr>
              <a:t>کلید اصلی</a:t>
            </a:r>
            <a:r>
              <a:rPr lang="en-US" sz="1200" b="1" dirty="0">
                <a:effectLst/>
                <a:latin typeface="Times New Roman" panose="02020603050405020304" pitchFamily="18" charset="0"/>
                <a:ea typeface="Times New Roman" panose="02020603050405020304" pitchFamily="18" charset="0"/>
                <a:cs typeface="Arial" panose="020B0604020202020204" pitchFamily="34" charset="0"/>
              </a:rPr>
              <a:t> (Primary Key) </a:t>
            </a:r>
            <a:r>
              <a:rPr lang="ar-SA" sz="1200" b="1" dirty="0">
                <a:effectLst/>
                <a:latin typeface="Calibri" panose="020F0502020204030204" pitchFamily="34" charset="0"/>
                <a:ea typeface="Times New Roman" panose="02020603050405020304" pitchFamily="18" charset="0"/>
                <a:cs typeface="Times New Roman" panose="02020603050405020304" pitchFamily="18" charset="0"/>
              </a:rPr>
              <a:t>احتمالی</a:t>
            </a:r>
            <a:r>
              <a:rPr lang="en-US" sz="1200" dirty="0">
                <a:effectLst/>
                <a:latin typeface="Times New Roman" panose="02020603050405020304" pitchFamily="18" charset="0"/>
                <a:ea typeface="Times New Roman" panose="02020603050405020304" pitchFamily="18" charset="0"/>
                <a:cs typeface="Arial" panose="020B0604020202020204" pitchFamily="34" charset="0"/>
              </a:rPr>
              <a:t>:</a:t>
            </a:r>
            <a:endParaRPr lang="en-US" sz="1100" dirty="0">
              <a:effectLst/>
              <a:latin typeface="Calibri" panose="020F0502020204030204" pitchFamily="34" charset="0"/>
              <a:ea typeface="Calibri" panose="020F0502020204030204" pitchFamily="34" charset="0"/>
              <a:cs typeface="Arial" panose="020B0604020202020204" pitchFamily="34" charset="0"/>
            </a:endParaRPr>
          </a:p>
          <a:p>
            <a:pPr marL="742950" marR="0" lvl="1" indent="-285750" algn="r" rtl="1">
              <a:lnSpc>
                <a:spcPct val="107000"/>
              </a:lnSpc>
              <a:spcBef>
                <a:spcPts val="0"/>
              </a:spcBef>
              <a:spcAft>
                <a:spcPts val="800"/>
              </a:spcAft>
              <a:buSzPts val="1000"/>
              <a:buFont typeface="Courier New" panose="02070309020205020404" pitchFamily="49" charset="0"/>
              <a:buChar char="o"/>
              <a:tabLst>
                <a:tab pos="914400" algn="l"/>
              </a:tabLst>
            </a:pPr>
            <a:r>
              <a:rPr lang="ar-SA" sz="1200" dirty="0">
                <a:effectLst/>
                <a:latin typeface="Calibri" panose="020F0502020204030204" pitchFamily="34" charset="0"/>
                <a:ea typeface="Times New Roman" panose="02020603050405020304" pitchFamily="18" charset="0"/>
                <a:cs typeface="Times New Roman" panose="02020603050405020304" pitchFamily="18" charset="0"/>
              </a:rPr>
              <a:t>به نظر می‌رسد کلید اصلی ترکیبی از </a:t>
            </a:r>
            <a:r>
              <a:rPr lang="en-US" sz="1000" dirty="0">
                <a:effectLst/>
                <a:latin typeface="Courier New" panose="02070309020205020404" pitchFamily="49" charset="0"/>
                <a:ea typeface="Times New Roman" panose="02020603050405020304" pitchFamily="18" charset="0"/>
                <a:cs typeface="Times New Roman" panose="02020603050405020304" pitchFamily="18" charset="0"/>
              </a:rPr>
              <a:t>Sale No</a:t>
            </a:r>
            <a:r>
              <a:rPr lang="en-US" sz="12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ar-SA" sz="1200" dirty="0">
                <a:effectLst/>
                <a:latin typeface="Calibri" panose="020F0502020204030204" pitchFamily="34" charset="0"/>
                <a:ea typeface="Times New Roman" panose="02020603050405020304" pitchFamily="18" charset="0"/>
                <a:cs typeface="Times New Roman" panose="02020603050405020304" pitchFamily="18" charset="0"/>
              </a:rPr>
              <a:t>و </a:t>
            </a:r>
            <a:r>
              <a:rPr lang="en-US" sz="1000" dirty="0" err="1">
                <a:effectLst/>
                <a:latin typeface="Courier New" panose="02070309020205020404" pitchFamily="49" charset="0"/>
                <a:ea typeface="Times New Roman" panose="02020603050405020304" pitchFamily="18" charset="0"/>
                <a:cs typeface="Times New Roman" panose="02020603050405020304" pitchFamily="18" charset="0"/>
              </a:rPr>
              <a:t>ProductNo</a:t>
            </a:r>
            <a:r>
              <a:rPr lang="en-US" sz="12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ar-SA" sz="1200" dirty="0">
                <a:effectLst/>
                <a:latin typeface="Calibri" panose="020F0502020204030204" pitchFamily="34" charset="0"/>
                <a:ea typeface="Times New Roman" panose="02020603050405020304" pitchFamily="18" charset="0"/>
                <a:cs typeface="Times New Roman" panose="02020603050405020304" pitchFamily="18" charset="0"/>
              </a:rPr>
              <a:t>باشد، چون یک فروش</a:t>
            </a:r>
            <a:r>
              <a:rPr lang="en-US" sz="1200" dirty="0">
                <a:effectLst/>
                <a:latin typeface="Times New Roman" panose="02020603050405020304" pitchFamily="18" charset="0"/>
                <a:ea typeface="Times New Roman" panose="02020603050405020304" pitchFamily="18" charset="0"/>
                <a:cs typeface="Times New Roman" panose="02020603050405020304" pitchFamily="18" charset="0"/>
              </a:rPr>
              <a:t> (Sale) </a:t>
            </a:r>
            <a:r>
              <a:rPr lang="ar-SA" sz="1200" dirty="0">
                <a:effectLst/>
                <a:latin typeface="Calibri" panose="020F0502020204030204" pitchFamily="34" charset="0"/>
                <a:ea typeface="Times New Roman" panose="02020603050405020304" pitchFamily="18" charset="0"/>
                <a:cs typeface="Times New Roman" panose="02020603050405020304" pitchFamily="18" charset="0"/>
              </a:rPr>
              <a:t>می‌تواند شامل چندین محصول باشد</a:t>
            </a:r>
            <a:r>
              <a:rPr lang="en-US" sz="1200" dirty="0">
                <a:effectLst/>
                <a:latin typeface="Times New Roman" panose="02020603050405020304" pitchFamily="18" charset="0"/>
                <a:ea typeface="Times New Roman" panose="02020603050405020304" pitchFamily="18" charset="0"/>
                <a:cs typeface="Times New Roman" panose="02020603050405020304" pitchFamily="18" charset="0"/>
              </a:rPr>
              <a:t>.</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p>
            <a:pPr marL="742950" marR="0" lvl="1" indent="-285750" algn="r" rtl="1">
              <a:lnSpc>
                <a:spcPct val="107000"/>
              </a:lnSpc>
              <a:spcBef>
                <a:spcPts val="0"/>
              </a:spcBef>
              <a:spcAft>
                <a:spcPts val="800"/>
              </a:spcAft>
              <a:buSzPts val="1000"/>
              <a:buFont typeface="Courier New" panose="02070309020205020404" pitchFamily="49" charset="0"/>
              <a:buChar char="o"/>
              <a:tabLst>
                <a:tab pos="914400" algn="l"/>
              </a:tabLst>
            </a:pPr>
            <a:r>
              <a:rPr lang="ar-SA" sz="1200" dirty="0">
                <a:effectLst/>
                <a:latin typeface="Calibri" panose="020F0502020204030204" pitchFamily="34" charset="0"/>
                <a:ea typeface="Times New Roman" panose="02020603050405020304" pitchFamily="18" charset="0"/>
                <a:cs typeface="Times New Roman" panose="02020603050405020304" pitchFamily="18" charset="0"/>
              </a:rPr>
              <a:t>ستون‌هایی مانند </a:t>
            </a:r>
            <a:r>
              <a:rPr lang="en-US" sz="1000" dirty="0">
                <a:effectLst/>
                <a:latin typeface="Courier New" panose="02070309020205020404" pitchFamily="49" charset="0"/>
                <a:ea typeface="Times New Roman" panose="02020603050405020304" pitchFamily="18" charset="0"/>
                <a:cs typeface="Times New Roman" panose="02020603050405020304" pitchFamily="18" charset="0"/>
              </a:rPr>
              <a:t>Customer No</a:t>
            </a:r>
            <a:r>
              <a:rPr lang="ar-SA" sz="1200" dirty="0">
                <a:effectLst/>
                <a:latin typeface="Calibri" panose="020F0502020204030204" pitchFamily="34" charset="0"/>
                <a:ea typeface="Times New Roman" panose="02020603050405020304" pitchFamily="18" charset="0"/>
                <a:cs typeface="Times New Roman" panose="02020603050405020304" pitchFamily="18" charset="0"/>
              </a:rPr>
              <a:t>، </a:t>
            </a:r>
            <a:r>
              <a:rPr lang="en-US" sz="1000" dirty="0">
                <a:effectLst/>
                <a:latin typeface="Courier New" panose="02070309020205020404" pitchFamily="49" charset="0"/>
                <a:ea typeface="Times New Roman" panose="02020603050405020304" pitchFamily="18" charset="0"/>
                <a:cs typeface="Times New Roman" panose="02020603050405020304" pitchFamily="18" charset="0"/>
              </a:rPr>
              <a:t>First</a:t>
            </a:r>
            <a:r>
              <a:rPr lang="ar-SA" sz="1200" dirty="0">
                <a:effectLst/>
                <a:latin typeface="Calibri" panose="020F0502020204030204" pitchFamily="34" charset="0"/>
                <a:ea typeface="Times New Roman" panose="02020603050405020304" pitchFamily="18" charset="0"/>
                <a:cs typeface="Times New Roman" panose="02020603050405020304" pitchFamily="18" charset="0"/>
              </a:rPr>
              <a:t>، </a:t>
            </a:r>
            <a:r>
              <a:rPr lang="en-US" sz="1000" dirty="0">
                <a:effectLst/>
                <a:latin typeface="Courier New" panose="02070309020205020404" pitchFamily="49" charset="0"/>
                <a:ea typeface="Times New Roman" panose="02020603050405020304" pitchFamily="18" charset="0"/>
                <a:cs typeface="Times New Roman" panose="02020603050405020304" pitchFamily="18" charset="0"/>
              </a:rPr>
              <a:t>Last</a:t>
            </a:r>
            <a:r>
              <a:rPr lang="ar-SA" sz="1200" dirty="0">
                <a:effectLst/>
                <a:latin typeface="Calibri" panose="020F0502020204030204" pitchFamily="34" charset="0"/>
                <a:ea typeface="Times New Roman" panose="02020603050405020304" pitchFamily="18" charset="0"/>
                <a:cs typeface="Times New Roman" panose="02020603050405020304" pitchFamily="18" charset="0"/>
              </a:rPr>
              <a:t>، و </a:t>
            </a:r>
            <a:r>
              <a:rPr lang="en-US" sz="1000" dirty="0">
                <a:effectLst/>
                <a:latin typeface="Courier New" panose="02070309020205020404" pitchFamily="49" charset="0"/>
                <a:ea typeface="Times New Roman" panose="02020603050405020304" pitchFamily="18" charset="0"/>
                <a:cs typeface="Times New Roman" panose="02020603050405020304" pitchFamily="18" charset="0"/>
              </a:rPr>
              <a:t>Address</a:t>
            </a:r>
            <a:r>
              <a:rPr lang="en-US" sz="12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ar-SA" sz="1200" dirty="0">
                <a:effectLst/>
                <a:latin typeface="Calibri" panose="020F0502020204030204" pitchFamily="34" charset="0"/>
                <a:ea typeface="Times New Roman" panose="02020603050405020304" pitchFamily="18" charset="0"/>
                <a:cs typeface="Times New Roman" panose="02020603050405020304" pitchFamily="18" charset="0"/>
              </a:rPr>
              <a:t>فقط به </a:t>
            </a:r>
            <a:r>
              <a:rPr lang="en-US" sz="1000" dirty="0">
                <a:effectLst/>
                <a:latin typeface="Courier New" panose="02070309020205020404" pitchFamily="49" charset="0"/>
                <a:ea typeface="Times New Roman" panose="02020603050405020304" pitchFamily="18" charset="0"/>
                <a:cs typeface="Times New Roman" panose="02020603050405020304" pitchFamily="18" charset="0"/>
              </a:rPr>
              <a:t>Customer No</a:t>
            </a:r>
            <a:r>
              <a:rPr lang="en-US" sz="12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ar-SA" sz="1200" dirty="0">
                <a:effectLst/>
                <a:latin typeface="Calibri" panose="020F0502020204030204" pitchFamily="34" charset="0"/>
                <a:ea typeface="Times New Roman" panose="02020603050405020304" pitchFamily="18" charset="0"/>
                <a:cs typeface="Times New Roman" panose="02020603050405020304" pitchFamily="18" charset="0"/>
              </a:rPr>
              <a:t>وابسته هستند و به کل کلید اصلی</a:t>
            </a:r>
            <a:r>
              <a:rPr lang="en-US" sz="12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1000" dirty="0">
                <a:effectLst/>
                <a:latin typeface="Courier New" panose="02070309020205020404" pitchFamily="49" charset="0"/>
                <a:ea typeface="Times New Roman" panose="02020603050405020304" pitchFamily="18" charset="0"/>
                <a:cs typeface="Times New Roman" panose="02020603050405020304" pitchFamily="18" charset="0"/>
              </a:rPr>
              <a:t>Sale No</a:t>
            </a:r>
            <a:r>
              <a:rPr lang="en-US" sz="1200" dirty="0">
                <a:effectLst/>
                <a:latin typeface="Times New Roman" panose="02020603050405020304" pitchFamily="18" charset="0"/>
                <a:ea typeface="Times New Roman" panose="02020603050405020304" pitchFamily="18" charset="0"/>
                <a:cs typeface="Times New Roman" panose="02020603050405020304" pitchFamily="18" charset="0"/>
              </a:rPr>
              <a:t> + </a:t>
            </a:r>
            <a:r>
              <a:rPr lang="en-US" sz="1000" dirty="0" err="1">
                <a:effectLst/>
                <a:latin typeface="Courier New" panose="02070309020205020404" pitchFamily="49" charset="0"/>
                <a:ea typeface="Times New Roman" panose="02020603050405020304" pitchFamily="18" charset="0"/>
                <a:cs typeface="Times New Roman" panose="02020603050405020304" pitchFamily="18" charset="0"/>
              </a:rPr>
              <a:t>ProductNo</a:t>
            </a:r>
            <a:r>
              <a:rPr lang="en-US" sz="12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ar-SA" sz="1200" dirty="0">
                <a:effectLst/>
                <a:latin typeface="Calibri" panose="020F0502020204030204" pitchFamily="34" charset="0"/>
                <a:ea typeface="Times New Roman" panose="02020603050405020304" pitchFamily="18" charset="0"/>
                <a:cs typeface="Times New Roman" panose="02020603050405020304" pitchFamily="18" charset="0"/>
              </a:rPr>
              <a:t>وابسته نیستند. این وابستگی جزئی است</a:t>
            </a:r>
            <a:r>
              <a:rPr lang="en-US" sz="1200" dirty="0">
                <a:effectLst/>
                <a:latin typeface="Times New Roman" panose="02020603050405020304" pitchFamily="18" charset="0"/>
                <a:ea typeface="Times New Roman" panose="02020603050405020304" pitchFamily="18" charset="0"/>
                <a:cs typeface="Times New Roman" panose="02020603050405020304" pitchFamily="18" charset="0"/>
              </a:rPr>
              <a:t>.</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p>
            <a:pPr marL="342900" marR="0" lvl="0" indent="-342900" algn="r" rtl="1">
              <a:lnSpc>
                <a:spcPct val="107000"/>
              </a:lnSpc>
              <a:spcBef>
                <a:spcPts val="0"/>
              </a:spcBef>
              <a:spcAft>
                <a:spcPts val="800"/>
              </a:spcAft>
              <a:buFont typeface="+mj-lt"/>
              <a:buAutoNum type="arabicPeriod"/>
              <a:tabLst>
                <a:tab pos="457200" algn="l"/>
              </a:tabLst>
            </a:pPr>
            <a:r>
              <a:rPr lang="ar-SA" sz="1200" b="1" dirty="0">
                <a:effectLst/>
                <a:latin typeface="Calibri" panose="020F0502020204030204" pitchFamily="34" charset="0"/>
                <a:ea typeface="Times New Roman" panose="02020603050405020304" pitchFamily="18" charset="0"/>
                <a:cs typeface="Times New Roman" panose="02020603050405020304" pitchFamily="18" charset="0"/>
              </a:rPr>
              <a:t>وابستگی جزئی</a:t>
            </a:r>
            <a:r>
              <a:rPr lang="en-US" sz="1200" b="1" dirty="0">
                <a:effectLst/>
                <a:latin typeface="Times New Roman" panose="02020603050405020304" pitchFamily="18" charset="0"/>
                <a:ea typeface="Times New Roman" panose="02020603050405020304" pitchFamily="18" charset="0"/>
                <a:cs typeface="Arial" panose="020B0604020202020204" pitchFamily="34" charset="0"/>
              </a:rPr>
              <a:t> (Partial Dependency)</a:t>
            </a:r>
            <a:r>
              <a:rPr lang="en-US" sz="1200" dirty="0">
                <a:effectLst/>
                <a:latin typeface="Times New Roman" panose="02020603050405020304" pitchFamily="18" charset="0"/>
                <a:ea typeface="Times New Roman" panose="02020603050405020304" pitchFamily="18" charset="0"/>
                <a:cs typeface="Arial" panose="020B0604020202020204" pitchFamily="34" charset="0"/>
              </a:rPr>
              <a:t>:</a:t>
            </a:r>
            <a:endParaRPr lang="en-US" sz="1100" dirty="0">
              <a:effectLst/>
              <a:latin typeface="Calibri" panose="020F0502020204030204" pitchFamily="34" charset="0"/>
              <a:ea typeface="Calibri" panose="020F0502020204030204" pitchFamily="34" charset="0"/>
              <a:cs typeface="Arial" panose="020B0604020202020204" pitchFamily="34" charset="0"/>
            </a:endParaRPr>
          </a:p>
          <a:p>
            <a:pPr marL="742950" marR="0" lvl="1" indent="-285750" algn="r" rtl="1">
              <a:lnSpc>
                <a:spcPct val="107000"/>
              </a:lnSpc>
              <a:spcBef>
                <a:spcPts val="0"/>
              </a:spcBef>
              <a:spcAft>
                <a:spcPts val="800"/>
              </a:spcAft>
              <a:buSzPts val="1000"/>
              <a:buFont typeface="Courier New" panose="02070309020205020404" pitchFamily="49" charset="0"/>
              <a:buChar char="o"/>
              <a:tabLst>
                <a:tab pos="914400" algn="l"/>
              </a:tabLst>
            </a:pPr>
            <a:r>
              <a:rPr lang="en-US" sz="1000" dirty="0">
                <a:effectLst/>
                <a:latin typeface="Courier New" panose="02070309020205020404" pitchFamily="49" charset="0"/>
                <a:ea typeface="Times New Roman" panose="02020603050405020304" pitchFamily="18" charset="0"/>
                <a:cs typeface="Times New Roman" panose="02020603050405020304" pitchFamily="18" charset="0"/>
              </a:rPr>
              <a:t>Customer No</a:t>
            </a:r>
            <a:r>
              <a:rPr lang="en-US" sz="12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ar-SA" sz="1200" dirty="0">
                <a:effectLst/>
                <a:latin typeface="Calibri" panose="020F0502020204030204" pitchFamily="34" charset="0"/>
                <a:ea typeface="Times New Roman" panose="02020603050405020304" pitchFamily="18" charset="0"/>
                <a:cs typeface="Times New Roman" panose="02020603050405020304" pitchFamily="18" charset="0"/>
              </a:rPr>
              <a:t>اطلاعاتی مثل </a:t>
            </a:r>
            <a:r>
              <a:rPr lang="en-US" sz="1000" dirty="0">
                <a:effectLst/>
                <a:latin typeface="Courier New" panose="02070309020205020404" pitchFamily="49" charset="0"/>
                <a:ea typeface="Times New Roman" panose="02020603050405020304" pitchFamily="18" charset="0"/>
                <a:cs typeface="Times New Roman" panose="02020603050405020304" pitchFamily="18" charset="0"/>
              </a:rPr>
              <a:t>First</a:t>
            </a:r>
            <a:r>
              <a:rPr lang="ar-SA" sz="1200" dirty="0">
                <a:effectLst/>
                <a:latin typeface="Calibri" panose="020F0502020204030204" pitchFamily="34" charset="0"/>
                <a:ea typeface="Times New Roman" panose="02020603050405020304" pitchFamily="18" charset="0"/>
                <a:cs typeface="Times New Roman" panose="02020603050405020304" pitchFamily="18" charset="0"/>
              </a:rPr>
              <a:t>، </a:t>
            </a:r>
            <a:r>
              <a:rPr lang="en-US" sz="1000" dirty="0">
                <a:effectLst/>
                <a:latin typeface="Courier New" panose="02070309020205020404" pitchFamily="49" charset="0"/>
                <a:ea typeface="Times New Roman" panose="02020603050405020304" pitchFamily="18" charset="0"/>
                <a:cs typeface="Times New Roman" panose="02020603050405020304" pitchFamily="18" charset="0"/>
              </a:rPr>
              <a:t>Last</a:t>
            </a:r>
            <a:r>
              <a:rPr lang="en-US" sz="12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ar-SA" sz="1200" dirty="0">
                <a:effectLst/>
                <a:latin typeface="Calibri" panose="020F0502020204030204" pitchFamily="34" charset="0"/>
                <a:ea typeface="Times New Roman" panose="02020603050405020304" pitchFamily="18" charset="0"/>
                <a:cs typeface="Times New Roman" panose="02020603050405020304" pitchFamily="18" charset="0"/>
              </a:rPr>
              <a:t>و </a:t>
            </a:r>
            <a:r>
              <a:rPr lang="en-US" sz="1000" dirty="0">
                <a:effectLst/>
                <a:latin typeface="Courier New" panose="02070309020205020404" pitchFamily="49" charset="0"/>
                <a:ea typeface="Times New Roman" panose="02020603050405020304" pitchFamily="18" charset="0"/>
                <a:cs typeface="Times New Roman" panose="02020603050405020304" pitchFamily="18" charset="0"/>
              </a:rPr>
              <a:t>Address</a:t>
            </a:r>
            <a:r>
              <a:rPr lang="en-US" sz="12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ar-SA" sz="1200" dirty="0">
                <a:effectLst/>
                <a:latin typeface="Calibri" panose="020F0502020204030204" pitchFamily="34" charset="0"/>
                <a:ea typeface="Times New Roman" panose="02020603050405020304" pitchFamily="18" charset="0"/>
                <a:cs typeface="Times New Roman" panose="02020603050405020304" pitchFamily="18" charset="0"/>
              </a:rPr>
              <a:t>را تعیین می‌کند. این اطلاعات نیازی به دانستن </a:t>
            </a:r>
            <a:r>
              <a:rPr lang="en-US" sz="1000" dirty="0" err="1">
                <a:effectLst/>
                <a:latin typeface="Courier New" panose="02070309020205020404" pitchFamily="49" charset="0"/>
                <a:ea typeface="Times New Roman" panose="02020603050405020304" pitchFamily="18" charset="0"/>
                <a:cs typeface="Times New Roman" panose="02020603050405020304" pitchFamily="18" charset="0"/>
              </a:rPr>
              <a:t>ProductNo</a:t>
            </a:r>
            <a:r>
              <a:rPr lang="en-US" sz="12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ar-SA" sz="1200" dirty="0">
                <a:effectLst/>
                <a:latin typeface="Calibri" panose="020F0502020204030204" pitchFamily="34" charset="0"/>
                <a:ea typeface="Times New Roman" panose="02020603050405020304" pitchFamily="18" charset="0"/>
                <a:cs typeface="Times New Roman" panose="02020603050405020304" pitchFamily="18" charset="0"/>
              </a:rPr>
              <a:t>ندارند و فقط به بخشی از کلید اصلی</a:t>
            </a:r>
            <a:r>
              <a:rPr lang="en-US" sz="12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1000" dirty="0">
                <a:effectLst/>
                <a:latin typeface="Courier New" panose="02070309020205020404" pitchFamily="49" charset="0"/>
                <a:ea typeface="Times New Roman" panose="02020603050405020304" pitchFamily="18" charset="0"/>
                <a:cs typeface="Times New Roman" panose="02020603050405020304" pitchFamily="18" charset="0"/>
              </a:rPr>
              <a:t>Sale No</a:t>
            </a:r>
            <a:r>
              <a:rPr lang="en-US" sz="12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ar-SA" sz="1200" dirty="0">
                <a:effectLst/>
                <a:latin typeface="Calibri" panose="020F0502020204030204" pitchFamily="34" charset="0"/>
                <a:ea typeface="Times New Roman" panose="02020603050405020304" pitchFamily="18" charset="0"/>
                <a:cs typeface="Times New Roman" panose="02020603050405020304" pitchFamily="18" charset="0"/>
              </a:rPr>
              <a:t>وابسته‌اند</a:t>
            </a:r>
            <a:r>
              <a:rPr lang="en-US" sz="1200" dirty="0">
                <a:effectLst/>
                <a:latin typeface="Times New Roman" panose="02020603050405020304" pitchFamily="18" charset="0"/>
                <a:ea typeface="Times New Roman" panose="02020603050405020304" pitchFamily="18" charset="0"/>
                <a:cs typeface="Times New Roman" panose="02020603050405020304" pitchFamily="18" charset="0"/>
              </a:rPr>
              <a:t>.</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p>
            <a:pPr marL="742950" marR="0" lvl="1" indent="-285750" algn="r" rtl="1">
              <a:lnSpc>
                <a:spcPct val="107000"/>
              </a:lnSpc>
              <a:spcBef>
                <a:spcPts val="0"/>
              </a:spcBef>
              <a:spcAft>
                <a:spcPts val="800"/>
              </a:spcAft>
              <a:buSzPts val="1000"/>
              <a:buFont typeface="Courier New" panose="02070309020205020404" pitchFamily="49" charset="0"/>
              <a:buChar char="o"/>
              <a:tabLst>
                <a:tab pos="914400" algn="l"/>
              </a:tabLst>
            </a:pPr>
            <a:r>
              <a:rPr lang="ar-SA" sz="1200" dirty="0">
                <a:effectLst/>
                <a:latin typeface="Calibri" panose="020F0502020204030204" pitchFamily="34" charset="0"/>
                <a:ea typeface="Times New Roman" panose="02020603050405020304" pitchFamily="18" charset="0"/>
                <a:cs typeface="Times New Roman" panose="02020603050405020304" pitchFamily="18" charset="0"/>
              </a:rPr>
              <a:t>به همین ترتیب، </a:t>
            </a:r>
            <a:r>
              <a:rPr lang="en-US" sz="1000" dirty="0" err="1">
                <a:effectLst/>
                <a:latin typeface="Courier New" panose="02070309020205020404" pitchFamily="49" charset="0"/>
                <a:ea typeface="Times New Roman" panose="02020603050405020304" pitchFamily="18" charset="0"/>
                <a:cs typeface="Times New Roman" panose="02020603050405020304" pitchFamily="18" charset="0"/>
              </a:rPr>
              <a:t>Salesrep</a:t>
            </a:r>
            <a:r>
              <a:rPr lang="en-US" sz="12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ar-SA" sz="1200" dirty="0">
                <a:effectLst/>
                <a:latin typeface="Calibri" panose="020F0502020204030204" pitchFamily="34" charset="0"/>
                <a:ea typeface="Times New Roman" panose="02020603050405020304" pitchFamily="18" charset="0"/>
                <a:cs typeface="Times New Roman" panose="02020603050405020304" pitchFamily="18" charset="0"/>
              </a:rPr>
              <a:t>فقط به </a:t>
            </a:r>
            <a:r>
              <a:rPr lang="en-US" sz="1000" dirty="0">
                <a:effectLst/>
                <a:latin typeface="Courier New" panose="02070309020205020404" pitchFamily="49" charset="0"/>
                <a:ea typeface="Times New Roman" panose="02020603050405020304" pitchFamily="18" charset="0"/>
                <a:cs typeface="Times New Roman" panose="02020603050405020304" pitchFamily="18" charset="0"/>
              </a:rPr>
              <a:t>Sale No</a:t>
            </a:r>
            <a:r>
              <a:rPr lang="en-US" sz="12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ar-SA" sz="1200" dirty="0">
                <a:effectLst/>
                <a:latin typeface="Calibri" panose="020F0502020204030204" pitchFamily="34" charset="0"/>
                <a:ea typeface="Times New Roman" panose="02020603050405020304" pitchFamily="18" charset="0"/>
                <a:cs typeface="Times New Roman" panose="02020603050405020304" pitchFamily="18" charset="0"/>
              </a:rPr>
              <a:t>وابسته است و به کلید ترکیبی نیاز ندارد</a:t>
            </a:r>
            <a:r>
              <a:rPr lang="en-US" sz="1200" dirty="0">
                <a:effectLst/>
                <a:latin typeface="Times New Roman" panose="02020603050405020304" pitchFamily="18" charset="0"/>
                <a:ea typeface="Times New Roman" panose="02020603050405020304" pitchFamily="18" charset="0"/>
                <a:cs typeface="Times New Roman" panose="02020603050405020304" pitchFamily="18" charset="0"/>
              </a:rPr>
              <a:t>.</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p>
            <a:pPr marL="342900" marR="0" lvl="0" indent="-342900" algn="r" rtl="1">
              <a:lnSpc>
                <a:spcPct val="107000"/>
              </a:lnSpc>
              <a:spcBef>
                <a:spcPts val="0"/>
              </a:spcBef>
              <a:spcAft>
                <a:spcPts val="800"/>
              </a:spcAft>
              <a:buFont typeface="+mj-lt"/>
              <a:buAutoNum type="arabicPeriod"/>
              <a:tabLst>
                <a:tab pos="457200" algn="l"/>
              </a:tabLst>
            </a:pPr>
            <a:r>
              <a:rPr lang="ar-SA" sz="1200" b="1" dirty="0">
                <a:effectLst/>
                <a:latin typeface="Calibri" panose="020F0502020204030204" pitchFamily="34" charset="0"/>
                <a:ea typeface="Times New Roman" panose="02020603050405020304" pitchFamily="18" charset="0"/>
                <a:cs typeface="Times New Roman" panose="02020603050405020304" pitchFamily="18" charset="0"/>
              </a:rPr>
              <a:t>اطلاعات تکراری</a:t>
            </a:r>
            <a:r>
              <a:rPr lang="en-US" sz="1200" dirty="0">
                <a:effectLst/>
                <a:latin typeface="Times New Roman" panose="02020603050405020304" pitchFamily="18" charset="0"/>
                <a:ea typeface="Times New Roman" panose="02020603050405020304" pitchFamily="18" charset="0"/>
                <a:cs typeface="Arial" panose="020B0604020202020204" pitchFamily="34" charset="0"/>
              </a:rPr>
              <a:t>:</a:t>
            </a:r>
            <a:endParaRPr lang="en-US" sz="1100" dirty="0">
              <a:effectLst/>
              <a:latin typeface="Calibri" panose="020F0502020204030204" pitchFamily="34" charset="0"/>
              <a:ea typeface="Calibri" panose="020F0502020204030204" pitchFamily="34" charset="0"/>
              <a:cs typeface="Arial" panose="020B0604020202020204" pitchFamily="34" charset="0"/>
            </a:endParaRPr>
          </a:p>
          <a:p>
            <a:pPr marL="742950" marR="0" lvl="1" indent="-285750" algn="r" rtl="1">
              <a:lnSpc>
                <a:spcPct val="107000"/>
              </a:lnSpc>
              <a:spcBef>
                <a:spcPts val="0"/>
              </a:spcBef>
              <a:spcAft>
                <a:spcPts val="800"/>
              </a:spcAft>
              <a:buSzPts val="1000"/>
              <a:buFont typeface="Courier New" panose="02070309020205020404" pitchFamily="49" charset="0"/>
              <a:buChar char="o"/>
              <a:tabLst>
                <a:tab pos="914400" algn="l"/>
              </a:tabLst>
            </a:pPr>
            <a:r>
              <a:rPr lang="ar-SA" sz="1200" dirty="0">
                <a:effectLst/>
                <a:latin typeface="Calibri" panose="020F0502020204030204" pitchFamily="34" charset="0"/>
                <a:ea typeface="Times New Roman" panose="02020603050405020304" pitchFamily="18" charset="0"/>
                <a:cs typeface="Times New Roman" panose="02020603050405020304" pitchFamily="18" charset="0"/>
              </a:rPr>
              <a:t>اطلاعات مشتری (مثل نام، آدرس، و شماره مشتری) در ردیف‌های مختلف تکرار می‌شود</a:t>
            </a:r>
            <a:r>
              <a:rPr lang="en-US" sz="1200" dirty="0">
                <a:effectLst/>
                <a:latin typeface="Times New Roman" panose="02020603050405020304" pitchFamily="18" charset="0"/>
                <a:ea typeface="Times New Roman" panose="02020603050405020304" pitchFamily="18" charset="0"/>
                <a:cs typeface="Times New Roman" panose="02020603050405020304" pitchFamily="18" charset="0"/>
              </a:rPr>
              <a:t>.</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p>
            <a:pPr marL="742950" marR="0" lvl="1" indent="-285750" algn="r" rtl="1">
              <a:lnSpc>
                <a:spcPct val="107000"/>
              </a:lnSpc>
              <a:spcBef>
                <a:spcPts val="0"/>
              </a:spcBef>
              <a:spcAft>
                <a:spcPts val="800"/>
              </a:spcAft>
              <a:buSzPts val="1000"/>
              <a:buFont typeface="Courier New" panose="02070309020205020404" pitchFamily="49" charset="0"/>
              <a:buChar char="o"/>
              <a:tabLst>
                <a:tab pos="914400" algn="l"/>
              </a:tabLst>
            </a:pPr>
            <a:r>
              <a:rPr lang="ar-SA" sz="1200" dirty="0">
                <a:effectLst/>
                <a:latin typeface="Calibri" panose="020F0502020204030204" pitchFamily="34" charset="0"/>
                <a:ea typeface="Times New Roman" panose="02020603050405020304" pitchFamily="18" charset="0"/>
                <a:cs typeface="Times New Roman" panose="02020603050405020304" pitchFamily="18" charset="0"/>
              </a:rPr>
              <a:t>اطلاعات نماینده فروش</a:t>
            </a:r>
            <a:r>
              <a:rPr lang="en-US" sz="12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1000" dirty="0" err="1">
                <a:effectLst/>
                <a:latin typeface="Courier New" panose="02070309020205020404" pitchFamily="49" charset="0"/>
                <a:ea typeface="Times New Roman" panose="02020603050405020304" pitchFamily="18" charset="0"/>
                <a:cs typeface="Times New Roman" panose="02020603050405020304" pitchFamily="18" charset="0"/>
              </a:rPr>
              <a:t>Salesrep</a:t>
            </a:r>
            <a:r>
              <a:rPr lang="en-US" sz="12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ar-SA" sz="1200" dirty="0">
                <a:effectLst/>
                <a:latin typeface="Calibri" panose="020F0502020204030204" pitchFamily="34" charset="0"/>
                <a:ea typeface="Times New Roman" panose="02020603050405020304" pitchFamily="18" charset="0"/>
                <a:cs typeface="Times New Roman" panose="02020603050405020304" pitchFamily="18" charset="0"/>
              </a:rPr>
              <a:t>نیز به طور تکراری ذخیره شده است</a:t>
            </a:r>
            <a:r>
              <a:rPr lang="en-US" sz="1200" dirty="0">
                <a:effectLst/>
                <a:latin typeface="Times New Roman" panose="02020603050405020304" pitchFamily="18" charset="0"/>
                <a:ea typeface="Times New Roman" panose="02020603050405020304" pitchFamily="18" charset="0"/>
                <a:cs typeface="Times New Roman" panose="02020603050405020304" pitchFamily="18" charset="0"/>
              </a:rPr>
              <a:t>.</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p>
            <a:pPr marL="0" marR="0" algn="r" rtl="1">
              <a:lnSpc>
                <a:spcPct val="107000"/>
              </a:lnSpc>
              <a:spcBef>
                <a:spcPts val="0"/>
              </a:spcBef>
              <a:spcAft>
                <a:spcPts val="800"/>
              </a:spcAft>
            </a:pPr>
            <a:r>
              <a:rPr lang="en-US" sz="1100" dirty="0">
                <a:effectLst/>
                <a:latin typeface="Calibri" panose="020F0502020204030204" pitchFamily="34" charset="0"/>
                <a:ea typeface="Calibri" panose="020F0502020204030204" pitchFamily="34" charset="0"/>
                <a:cs typeface="Arial" panose="020B0604020202020204" pitchFamily="34" charset="0"/>
              </a:rPr>
              <a:t> </a:t>
            </a:r>
          </a:p>
        </p:txBody>
      </p:sp>
      <p:sp>
        <p:nvSpPr>
          <p:cNvPr id="4" name="Slide Number Placeholder 3"/>
          <p:cNvSpPr>
            <a:spLocks noGrp="1"/>
          </p:cNvSpPr>
          <p:nvPr>
            <p:ph type="sldNum" sz="quarter" idx="5"/>
          </p:nvPr>
        </p:nvSpPr>
        <p:spPr/>
        <p:txBody>
          <a:bodyPr/>
          <a:lstStyle/>
          <a:p>
            <a:fld id="{EF7565D7-C2AB-4CDD-97A1-0422B6964B36}" type="slidenum">
              <a:rPr lang="en-US" altLang="en-US" smtClean="0"/>
              <a:pPr/>
              <a:t>25</a:t>
            </a:fld>
            <a:endParaRPr lang="en-US" altLang="en-US"/>
          </a:p>
        </p:txBody>
      </p:sp>
    </p:spTree>
    <p:extLst>
      <p:ext uri="{BB962C8B-B14F-4D97-AF65-F5344CB8AC3E}">
        <p14:creationId xmlns:p14="http://schemas.microsoft.com/office/powerpoint/2010/main" val="3623007443"/>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3666"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688">
              <a:defRPr sz="1600">
                <a:solidFill>
                  <a:schemeClr val="tx1"/>
                </a:solidFill>
                <a:latin typeface="Helvetica" panose="020B0604020202020204" pitchFamily="34" charset="0"/>
                <a:ea typeface="MS PGothic" panose="020B0600070205080204" pitchFamily="34" charset="-128"/>
              </a:defRPr>
            </a:lvl1pPr>
            <a:lvl2pPr marL="742950" indent="-285750" defTabSz="928688">
              <a:defRPr sz="1600">
                <a:solidFill>
                  <a:schemeClr val="tx1"/>
                </a:solidFill>
                <a:latin typeface="Helvetica" panose="020B0604020202020204" pitchFamily="34" charset="0"/>
                <a:ea typeface="MS PGothic" panose="020B0600070205080204" pitchFamily="34" charset="-128"/>
              </a:defRPr>
            </a:lvl2pPr>
            <a:lvl3pPr marL="1143000" indent="-228600" defTabSz="928688">
              <a:defRPr sz="1600">
                <a:solidFill>
                  <a:schemeClr val="tx1"/>
                </a:solidFill>
                <a:latin typeface="Helvetica" panose="020B0604020202020204" pitchFamily="34" charset="0"/>
                <a:ea typeface="MS PGothic" panose="020B0600070205080204" pitchFamily="34" charset="-128"/>
              </a:defRPr>
            </a:lvl3pPr>
            <a:lvl4pPr marL="1600200" indent="-228600" defTabSz="928688">
              <a:defRPr sz="1600">
                <a:solidFill>
                  <a:schemeClr val="tx1"/>
                </a:solidFill>
                <a:latin typeface="Helvetica" panose="020B0604020202020204" pitchFamily="34" charset="0"/>
                <a:ea typeface="MS PGothic" panose="020B0600070205080204" pitchFamily="34" charset="-128"/>
              </a:defRPr>
            </a:lvl4pPr>
            <a:lvl5pPr marL="2057400" indent="-228600" defTabSz="928688">
              <a:defRPr sz="1600">
                <a:solidFill>
                  <a:schemeClr val="tx1"/>
                </a:solidFill>
                <a:latin typeface="Helvetica" panose="020B0604020202020204" pitchFamily="34" charset="0"/>
                <a:ea typeface="MS PGothic" panose="020B0600070205080204" pitchFamily="34" charset="-128"/>
              </a:defRPr>
            </a:lvl5pPr>
            <a:lvl6pPr marL="25146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87E32EFA-99EE-40E3-9AB5-36B847B8CD16}" type="slidenum">
              <a:rPr lang="en-US" altLang="en-US" sz="1200"/>
              <a:pPr/>
              <a:t>26</a:t>
            </a:fld>
            <a:endParaRPr lang="en-US" altLang="en-US" sz="1200"/>
          </a:p>
        </p:txBody>
      </p:sp>
      <p:sp>
        <p:nvSpPr>
          <p:cNvPr id="113667" name="Rectangle 2"/>
          <p:cNvSpPr>
            <a:spLocks noGrp="1" noRot="1" noChangeAspect="1" noChangeArrowheads="1" noTextEdit="1"/>
          </p:cNvSpPr>
          <p:nvPr>
            <p:ph type="sldImg"/>
          </p:nvPr>
        </p:nvSpPr>
        <p:spPr>
          <a:xfrm>
            <a:off x="1177925" y="695325"/>
            <a:ext cx="4641850" cy="3481388"/>
          </a:xfrm>
          <a:ln/>
        </p:spPr>
      </p:sp>
      <p:sp>
        <p:nvSpPr>
          <p:cNvPr id="113668" name="Rectangle 3"/>
          <p:cNvSpPr>
            <a:spLocks noGrp="1" noChangeArrowheads="1"/>
          </p:cNvSpPr>
          <p:nvPr>
            <p:ph type="body" idx="1"/>
          </p:nvPr>
        </p:nvSpPr>
        <p:spPr>
          <a:xfrm>
            <a:off x="931414" y="4410392"/>
            <a:ext cx="5134874" cy="4177348"/>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extLst>
      <p:ext uri="{BB962C8B-B14F-4D97-AF65-F5344CB8AC3E}">
        <p14:creationId xmlns:p14="http://schemas.microsoft.com/office/powerpoint/2010/main" val="2138781414"/>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r" defTabSz="914400" rtl="1" eaLnBrk="1" fontAlgn="base" latinLnBrk="0" hangingPunct="1">
              <a:lnSpc>
                <a:spcPct val="100000"/>
              </a:lnSpc>
              <a:spcBef>
                <a:spcPct val="30000"/>
              </a:spcBef>
              <a:spcAft>
                <a:spcPct val="0"/>
              </a:spcAft>
              <a:buClrTx/>
              <a:buSzTx/>
              <a:buFontTx/>
              <a:buNone/>
              <a:tabLst/>
              <a:defRPr/>
            </a:pPr>
            <a:r>
              <a:rPr lang="ar-SA" altLang="en-US" sz="1200" b="0" dirty="0">
                <a:solidFill>
                  <a:srgbClr val="000000"/>
                </a:solidFill>
                <a:latin typeface="Tahoma" panose="020B0604030504040204" pitchFamily="34" charset="0"/>
                <a:cs typeface="B Nazanin" panose="00000400000000000000" pitchFamily="2" charset="-78"/>
              </a:rPr>
              <a:t>مثال</a:t>
            </a:r>
            <a:r>
              <a:rPr lang="fa-IR" altLang="en-US" sz="1200" b="0" dirty="0">
                <a:solidFill>
                  <a:srgbClr val="000000"/>
                </a:solidFill>
                <a:latin typeface="Tahoma" panose="020B0604030504040204" pitchFamily="34" charset="0"/>
                <a:cs typeface="B Nazanin" panose="00000400000000000000" pitchFamily="2" charset="-78"/>
              </a:rPr>
              <a:t>. </a:t>
            </a:r>
            <a:r>
              <a:rPr lang="ar-SA" altLang="en-US" sz="1200" b="0" dirty="0">
                <a:solidFill>
                  <a:srgbClr val="000000"/>
                </a:solidFill>
                <a:latin typeface="Tahoma" panose="020B0604030504040204" pitchFamily="34" charset="0"/>
                <a:cs typeface="B Nazanin" panose="00000400000000000000" pitchFamily="2" charset="-78"/>
              </a:rPr>
              <a:t>در جدول </a:t>
            </a:r>
            <a:r>
              <a:rPr lang="en-US" altLang="en-US" sz="1200" b="0" dirty="0">
                <a:solidFill>
                  <a:srgbClr val="000000"/>
                </a:solidFill>
                <a:latin typeface="Tahoma" panose="020B0604030504040204" pitchFamily="34" charset="0"/>
                <a:cs typeface="B Nazanin" panose="00000400000000000000" pitchFamily="2" charset="-78"/>
              </a:rPr>
              <a:t>ALL_SALES</a:t>
            </a:r>
            <a:r>
              <a:rPr lang="ar-SA" altLang="en-US" sz="1200" b="0" dirty="0">
                <a:solidFill>
                  <a:srgbClr val="000000"/>
                </a:solidFill>
                <a:latin typeface="Tahoma" panose="020B0604030504040204" pitchFamily="34" charset="0"/>
                <a:cs typeface="B Nazanin" panose="00000400000000000000" pitchFamily="2" charset="-78"/>
              </a:rPr>
              <a:t> مثال قبل، </a:t>
            </a:r>
            <a:r>
              <a:rPr lang="en-US" altLang="en-US" sz="1200" b="0" dirty="0" err="1">
                <a:solidFill>
                  <a:srgbClr val="000000"/>
                </a:solidFill>
                <a:latin typeface="Tahoma" panose="020B0604030504040204" pitchFamily="34" charset="0"/>
                <a:cs typeface="B Nazanin" panose="00000400000000000000" pitchFamily="2" charset="-78"/>
              </a:rPr>
              <a:t>Customer_Address</a:t>
            </a:r>
            <a:r>
              <a:rPr lang="ar-SA" altLang="en-US" sz="1200" b="0" dirty="0">
                <a:solidFill>
                  <a:srgbClr val="000000"/>
                </a:solidFill>
                <a:latin typeface="Tahoma" panose="020B0604030504040204" pitchFamily="34" charset="0"/>
                <a:cs typeface="B Nazanin" panose="00000400000000000000" pitchFamily="2" charset="-78"/>
              </a:rPr>
              <a:t> با </a:t>
            </a:r>
            <a:r>
              <a:rPr lang="en-US" altLang="en-US" sz="1200" b="0" dirty="0" err="1">
                <a:solidFill>
                  <a:srgbClr val="000000"/>
                </a:solidFill>
                <a:latin typeface="Tahoma" panose="020B0604030504040204" pitchFamily="34" charset="0"/>
                <a:cs typeface="B Nazanin" panose="00000400000000000000" pitchFamily="2" charset="-78"/>
              </a:rPr>
              <a:t>CustomerNo</a:t>
            </a:r>
            <a:r>
              <a:rPr lang="ar-SA" altLang="en-US" sz="1200" b="0" dirty="0">
                <a:solidFill>
                  <a:srgbClr val="000000"/>
                </a:solidFill>
                <a:latin typeface="Tahoma" panose="020B0604030504040204" pitchFamily="34" charset="0"/>
                <a:cs typeface="B Nazanin" panose="00000400000000000000" pitchFamily="2" charset="-78"/>
              </a:rPr>
              <a:t> وابستگی تابعی دارد، زيرا يک مشتری خاص تنها با يک آدرس مربوط است. توجه کنيد که عکس آن برقرار نيست و چند مشتری ممکن است در يک آدرس زندگی کنند</a:t>
            </a:r>
            <a:r>
              <a:rPr lang="fa-IR" altLang="en-US" sz="1200" b="0" dirty="0">
                <a:solidFill>
                  <a:srgbClr val="000000"/>
                </a:solidFill>
                <a:latin typeface="Tahoma" panose="020B0604030504040204" pitchFamily="34" charset="0"/>
                <a:cs typeface="B Nazanin" panose="00000400000000000000" pitchFamily="2" charset="-78"/>
              </a:rPr>
              <a:t>. </a:t>
            </a:r>
            <a:r>
              <a:rPr lang="ar-SA" altLang="en-US" sz="1200" b="0" dirty="0">
                <a:solidFill>
                  <a:srgbClr val="000000"/>
                </a:solidFill>
                <a:latin typeface="Tahoma" panose="020B0604030504040204" pitchFamily="34" charset="0"/>
                <a:cs typeface="B Nazanin" panose="00000400000000000000" pitchFamily="2" charset="-78"/>
              </a:rPr>
              <a:t>بنابراين يک آدرس ممکن است با بيش از يک شماره مشتری در ارتباط باشد. اگر مشتری بيش از يک آدرس داشته باشد ديگری وابستگی تابعی با شماره مشتری ندارد.</a:t>
            </a:r>
            <a:br>
              <a:rPr lang="en-US" altLang="en-US" sz="1200" b="0" dirty="0">
                <a:solidFill>
                  <a:schemeClr val="tx1"/>
                </a:solidFill>
                <a:cs typeface="B Nazanin" panose="00000400000000000000" pitchFamily="2" charset="-78"/>
              </a:rPr>
            </a:br>
            <a:r>
              <a:rPr lang="ar-SA" altLang="en-US" sz="1200" b="0" dirty="0">
                <a:solidFill>
                  <a:srgbClr val="000000"/>
                </a:solidFill>
                <a:latin typeface="Tahoma" panose="020B0604030504040204" pitchFamily="34" charset="0"/>
                <a:cs typeface="B Nazanin" panose="00000400000000000000" pitchFamily="2" charset="-78"/>
              </a:rPr>
              <a:t>ستون </a:t>
            </a:r>
            <a:r>
              <a:rPr lang="en-US" altLang="en-US" sz="1200" b="0" dirty="0">
                <a:solidFill>
                  <a:srgbClr val="000000"/>
                </a:solidFill>
                <a:latin typeface="Tahoma" panose="020B0604030504040204" pitchFamily="34" charset="0"/>
                <a:cs typeface="B Nazanin" panose="00000400000000000000" pitchFamily="2" charset="-78"/>
              </a:rPr>
              <a:t>Y</a:t>
            </a:r>
            <a:r>
              <a:rPr lang="ar-SA" altLang="en-US" sz="1200" b="0" dirty="0">
                <a:solidFill>
                  <a:srgbClr val="000000"/>
                </a:solidFill>
                <a:latin typeface="Tahoma" panose="020B0604030504040204" pitchFamily="34" charset="0"/>
                <a:cs typeface="B Nazanin" panose="00000400000000000000" pitchFamily="2" charset="-78"/>
              </a:rPr>
              <a:t> روی مجموعه صفات خاصه </a:t>
            </a:r>
            <a:r>
              <a:rPr lang="en-US" altLang="en-US" sz="1200" b="0" dirty="0">
                <a:solidFill>
                  <a:srgbClr val="000000"/>
                </a:solidFill>
                <a:latin typeface="Tahoma" panose="020B0604030504040204" pitchFamily="34" charset="0"/>
                <a:cs typeface="B Nazanin" panose="00000400000000000000" pitchFamily="2" charset="-78"/>
              </a:rPr>
              <a:t>X</a:t>
            </a:r>
            <a:r>
              <a:rPr lang="ar-SA" altLang="en-US" sz="1200" b="0" dirty="0">
                <a:solidFill>
                  <a:srgbClr val="000000"/>
                </a:solidFill>
                <a:latin typeface="Tahoma" panose="020B0604030504040204" pitchFamily="34" charset="0"/>
                <a:cs typeface="B Nazanin" panose="00000400000000000000" pitchFamily="2" charset="-78"/>
              </a:rPr>
              <a:t> وابستگی تابعی کامل (</a:t>
            </a:r>
            <a:r>
              <a:rPr lang="en-US" altLang="en-US" sz="1200" b="0" dirty="0">
                <a:solidFill>
                  <a:srgbClr val="000000"/>
                </a:solidFill>
                <a:latin typeface="Tahoma" panose="020B0604030504040204" pitchFamily="34" charset="0"/>
                <a:cs typeface="B Nazanin" panose="00000400000000000000" pitchFamily="2" charset="-78"/>
              </a:rPr>
              <a:t>Full functional dependency</a:t>
            </a:r>
            <a:r>
              <a:rPr lang="ar-SA" altLang="en-US" sz="1200" b="0" dirty="0">
                <a:solidFill>
                  <a:srgbClr val="000000"/>
                </a:solidFill>
                <a:latin typeface="Tahoma" panose="020B0604030504040204" pitchFamily="34" charset="0"/>
                <a:cs typeface="B Nazanin" panose="00000400000000000000" pitchFamily="2" charset="-78"/>
              </a:rPr>
              <a:t>) دارد اگر روی </a:t>
            </a:r>
            <a:r>
              <a:rPr lang="en-US" altLang="en-US" sz="1200" b="0" dirty="0">
                <a:solidFill>
                  <a:srgbClr val="000000"/>
                </a:solidFill>
                <a:latin typeface="Tahoma" panose="020B0604030504040204" pitchFamily="34" charset="0"/>
                <a:cs typeface="B Nazanin" panose="00000400000000000000" pitchFamily="2" charset="-78"/>
              </a:rPr>
              <a:t>X</a:t>
            </a:r>
            <a:r>
              <a:rPr lang="ar-SA" altLang="en-US" sz="1200" b="0" dirty="0">
                <a:solidFill>
                  <a:srgbClr val="000000"/>
                </a:solidFill>
                <a:latin typeface="Tahoma" panose="020B0604030504040204" pitchFamily="34" charset="0"/>
                <a:cs typeface="B Nazanin" panose="00000400000000000000" pitchFamily="2" charset="-78"/>
              </a:rPr>
              <a:t> وابستگی تابعی داشته باشد و با هيچ زيرمجموعه ای از </a:t>
            </a:r>
            <a:r>
              <a:rPr lang="en-US" altLang="en-US" sz="1200" b="0" dirty="0">
                <a:solidFill>
                  <a:srgbClr val="000000"/>
                </a:solidFill>
                <a:latin typeface="Tahoma" panose="020B0604030504040204" pitchFamily="34" charset="0"/>
                <a:cs typeface="B Nazanin" panose="00000400000000000000" pitchFamily="2" charset="-78"/>
              </a:rPr>
              <a:t>X</a:t>
            </a:r>
            <a:r>
              <a:rPr lang="ar-SA" altLang="en-US" sz="1200" b="0" dirty="0">
                <a:solidFill>
                  <a:srgbClr val="000000"/>
                </a:solidFill>
                <a:latin typeface="Tahoma" panose="020B0604030504040204" pitchFamily="34" charset="0"/>
                <a:cs typeface="B Nazanin" panose="00000400000000000000" pitchFamily="2" charset="-78"/>
              </a:rPr>
              <a:t> وابستگی تابعی نداشته باشد.</a:t>
            </a:r>
            <a:br>
              <a:rPr lang="en-US" altLang="en-US" sz="1200" b="0" dirty="0">
                <a:solidFill>
                  <a:schemeClr val="tx1"/>
                </a:solidFill>
                <a:cs typeface="B Nazanin" panose="00000400000000000000" pitchFamily="2" charset="-78"/>
              </a:rPr>
            </a:br>
            <a:r>
              <a:rPr lang="ar-SA" altLang="en-US" sz="1200" b="0" dirty="0">
                <a:solidFill>
                  <a:srgbClr val="000000"/>
                </a:solidFill>
                <a:latin typeface="Tahoma" panose="020B0604030504040204" pitchFamily="34" charset="0"/>
                <a:cs typeface="B Nazanin" panose="00000400000000000000" pitchFamily="2" charset="-78"/>
              </a:rPr>
              <a:t>مثال</a:t>
            </a:r>
            <a:r>
              <a:rPr lang="fa-IR" altLang="en-US" sz="1200" b="0" dirty="0">
                <a:solidFill>
                  <a:srgbClr val="000000"/>
                </a:solidFill>
                <a:latin typeface="Tahoma" panose="020B0604030504040204" pitchFamily="34" charset="0"/>
                <a:cs typeface="B Nazanin" panose="00000400000000000000" pitchFamily="2" charset="-78"/>
              </a:rPr>
              <a:t>. </a:t>
            </a:r>
            <a:r>
              <a:rPr lang="ar-SA" altLang="en-US" sz="1200" b="0" dirty="0">
                <a:solidFill>
                  <a:srgbClr val="000000"/>
                </a:solidFill>
                <a:latin typeface="Tahoma" panose="020B0604030504040204" pitchFamily="34" charset="0"/>
                <a:cs typeface="B Nazanin" panose="00000400000000000000" pitchFamily="2" charset="-78"/>
              </a:rPr>
              <a:t>در جدول </a:t>
            </a:r>
            <a:r>
              <a:rPr lang="en-US" altLang="en-US" sz="1200" b="0" dirty="0">
                <a:solidFill>
                  <a:srgbClr val="000000"/>
                </a:solidFill>
                <a:latin typeface="Tahoma" panose="020B0604030504040204" pitchFamily="34" charset="0"/>
                <a:cs typeface="B Nazanin" panose="00000400000000000000" pitchFamily="2" charset="-78"/>
              </a:rPr>
              <a:t>ALL_SALES</a:t>
            </a:r>
            <a:r>
              <a:rPr lang="ar-SA" altLang="en-US" sz="1200" b="0" dirty="0">
                <a:solidFill>
                  <a:srgbClr val="000000"/>
                </a:solidFill>
                <a:latin typeface="Tahoma" panose="020B0604030504040204" pitchFamily="34" charset="0"/>
                <a:cs typeface="B Nazanin" panose="00000400000000000000" pitchFamily="2" charset="-78"/>
              </a:rPr>
              <a:t> مثال قبل آدرس مشتری وابستگی کامل با </a:t>
            </a:r>
            <a:r>
              <a:rPr lang="en-US" altLang="en-US" sz="1200" b="0" dirty="0" err="1">
                <a:solidFill>
                  <a:srgbClr val="000000"/>
                </a:solidFill>
                <a:latin typeface="Tahoma" panose="020B0604030504040204" pitchFamily="34" charset="0"/>
                <a:cs typeface="B Nazanin" panose="00000400000000000000" pitchFamily="2" charset="-78"/>
              </a:rPr>
              <a:t>SaleNo</a:t>
            </a:r>
            <a:r>
              <a:rPr lang="en-US" altLang="en-US" sz="1200" b="0" dirty="0">
                <a:solidFill>
                  <a:srgbClr val="000000"/>
                </a:solidFill>
                <a:latin typeface="Tahoma" panose="020B0604030504040204" pitchFamily="34" charset="0"/>
                <a:cs typeface="B Nazanin" panose="00000400000000000000" pitchFamily="2" charset="-78"/>
              </a:rPr>
              <a:t>، </a:t>
            </a:r>
            <a:r>
              <a:rPr lang="en-US" altLang="en-US" sz="1200" b="0" dirty="0" err="1">
                <a:solidFill>
                  <a:srgbClr val="000000"/>
                </a:solidFill>
                <a:latin typeface="Tahoma" panose="020B0604030504040204" pitchFamily="34" charset="0"/>
                <a:cs typeface="B Nazanin" panose="00000400000000000000" pitchFamily="2" charset="-78"/>
              </a:rPr>
              <a:t>ProductNo</a:t>
            </a:r>
            <a:r>
              <a:rPr lang="ar-SA" altLang="en-US" sz="1200" b="0" dirty="0">
                <a:solidFill>
                  <a:srgbClr val="000000"/>
                </a:solidFill>
                <a:latin typeface="Tahoma" panose="020B0604030504040204" pitchFamily="34" charset="0"/>
                <a:cs typeface="B Nazanin" panose="00000400000000000000" pitchFamily="2" charset="-78"/>
              </a:rPr>
              <a:t> و </a:t>
            </a:r>
            <a:r>
              <a:rPr lang="en-US" altLang="en-US" sz="1200" b="0" dirty="0" err="1">
                <a:solidFill>
                  <a:srgbClr val="000000"/>
                </a:solidFill>
                <a:latin typeface="Tahoma" panose="020B0604030504040204" pitchFamily="34" charset="0"/>
                <a:cs typeface="B Nazanin" panose="00000400000000000000" pitchFamily="2" charset="-78"/>
              </a:rPr>
              <a:t>CustomerNo</a:t>
            </a:r>
            <a:r>
              <a:rPr lang="ar-SA" altLang="en-US" sz="1200" b="0" dirty="0">
                <a:solidFill>
                  <a:srgbClr val="000000"/>
                </a:solidFill>
                <a:latin typeface="Tahoma" panose="020B0604030504040204" pitchFamily="34" charset="0"/>
                <a:cs typeface="B Nazanin" panose="00000400000000000000" pitchFamily="2" charset="-78"/>
              </a:rPr>
              <a:t> دارد ولی وابستگی تابعی کامل ندارد چون با </a:t>
            </a:r>
            <a:r>
              <a:rPr lang="en-US" altLang="en-US" sz="1200" b="0" dirty="0" err="1">
                <a:solidFill>
                  <a:srgbClr val="000000"/>
                </a:solidFill>
                <a:latin typeface="Tahoma" panose="020B0604030504040204" pitchFamily="34" charset="0"/>
                <a:cs typeface="B Nazanin" panose="00000400000000000000" pitchFamily="2" charset="-78"/>
              </a:rPr>
              <a:t>CustomerNo</a:t>
            </a:r>
            <a:r>
              <a:rPr lang="ar-SA" altLang="en-US" sz="1200" b="0" dirty="0">
                <a:solidFill>
                  <a:srgbClr val="000000"/>
                </a:solidFill>
                <a:latin typeface="Tahoma" panose="020B0604030504040204" pitchFamily="34" charset="0"/>
                <a:cs typeface="B Nazanin" panose="00000400000000000000" pitchFamily="2" charset="-78"/>
              </a:rPr>
              <a:t> وابستگی تابعی دارد.</a:t>
            </a:r>
            <a:br>
              <a:rPr lang="en-US" altLang="en-US" sz="1200" b="0" dirty="0">
                <a:solidFill>
                  <a:schemeClr val="tx1"/>
                </a:solidFill>
                <a:cs typeface="B Nazanin" panose="00000400000000000000" pitchFamily="2" charset="-78"/>
              </a:rPr>
            </a:br>
            <a:r>
              <a:rPr lang="ar-SA" altLang="en-US" sz="1200" b="0" dirty="0">
                <a:solidFill>
                  <a:srgbClr val="000000"/>
                </a:solidFill>
                <a:latin typeface="Tahoma" panose="020B0604030504040204" pitchFamily="34" charset="0"/>
                <a:cs typeface="B Nazanin" panose="00000400000000000000" pitchFamily="2" charset="-78"/>
              </a:rPr>
              <a:t>توجه کنيد اگر کليدهای کانديد در جدول</a:t>
            </a:r>
            <a:r>
              <a:rPr lang="fa-IR" altLang="en-US" sz="1200" dirty="0">
                <a:solidFill>
                  <a:srgbClr val="000000"/>
                </a:solidFill>
                <a:latin typeface="Tahoma" panose="020B0604030504040204" pitchFamily="34" charset="0"/>
                <a:cs typeface="B Nazanin" panose="00000400000000000000" pitchFamily="2" charset="-78"/>
              </a:rPr>
              <a:t>،</a:t>
            </a:r>
            <a:r>
              <a:rPr lang="ar-SA" altLang="en-US" sz="1200" b="0" dirty="0">
                <a:solidFill>
                  <a:srgbClr val="000000"/>
                </a:solidFill>
                <a:latin typeface="Tahoma" panose="020B0604030504040204" pitchFamily="34" charset="0"/>
                <a:cs typeface="B Nazanin" panose="00000400000000000000" pitchFamily="2" charset="-78"/>
              </a:rPr>
              <a:t> ترکيبی نباشند يعنی تنها شامل يک ستون باشند بلافاصله می گوئيم جدول 2</a:t>
            </a:r>
            <a:r>
              <a:rPr lang="en-US" altLang="en-US" sz="1200" b="0" dirty="0">
                <a:solidFill>
                  <a:srgbClr val="000000"/>
                </a:solidFill>
                <a:latin typeface="Tahoma" panose="020B0604030504040204" pitchFamily="34" charset="0"/>
                <a:cs typeface="B Nazanin" panose="00000400000000000000" pitchFamily="2" charset="-78"/>
              </a:rPr>
              <a:t>NF</a:t>
            </a:r>
            <a:r>
              <a:rPr lang="ar-SA" altLang="en-US" sz="1200" b="0" dirty="0">
                <a:solidFill>
                  <a:srgbClr val="000000"/>
                </a:solidFill>
                <a:latin typeface="Tahoma" panose="020B0604030504040204" pitchFamily="34" charset="0"/>
                <a:cs typeface="B Nazanin" panose="00000400000000000000" pitchFamily="2" charset="-78"/>
              </a:rPr>
              <a:t> است.</a:t>
            </a:r>
            <a:br>
              <a:rPr lang="en-US" altLang="en-US" sz="1200" b="0" dirty="0">
                <a:solidFill>
                  <a:schemeClr val="tx1"/>
                </a:solidFill>
                <a:cs typeface="B Nazanin" panose="00000400000000000000" pitchFamily="2" charset="-78"/>
              </a:rPr>
            </a:br>
            <a:br>
              <a:rPr lang="en-US" altLang="en-US" sz="1200" b="0" dirty="0">
                <a:solidFill>
                  <a:schemeClr val="tx1"/>
                </a:solidFill>
                <a:latin typeface="Arial" panose="020B0604020202020204" pitchFamily="34" charset="0"/>
                <a:cs typeface="B Nazanin" panose="00000400000000000000" pitchFamily="2" charset="-78"/>
              </a:rPr>
            </a:br>
            <a:br>
              <a:rPr lang="en-US" altLang="en-US" sz="1200" b="0" dirty="0">
                <a:solidFill>
                  <a:schemeClr val="tx1"/>
                </a:solidFill>
                <a:latin typeface="Arial" panose="020B0604020202020204" pitchFamily="34" charset="0"/>
                <a:cs typeface="B Nazanin" panose="00000400000000000000" pitchFamily="2" charset="-78"/>
              </a:rPr>
            </a:br>
            <a:endParaRPr lang="en-US" dirty="0"/>
          </a:p>
          <a:p>
            <a:pPr algn="r" rtl="1"/>
            <a:endParaRPr lang="en-US" dirty="0"/>
          </a:p>
        </p:txBody>
      </p:sp>
      <p:sp>
        <p:nvSpPr>
          <p:cNvPr id="4" name="Slide Number Placeholder 3"/>
          <p:cNvSpPr>
            <a:spLocks noGrp="1"/>
          </p:cNvSpPr>
          <p:nvPr>
            <p:ph type="sldNum" sz="quarter" idx="5"/>
          </p:nvPr>
        </p:nvSpPr>
        <p:spPr/>
        <p:txBody>
          <a:bodyPr/>
          <a:lstStyle/>
          <a:p>
            <a:fld id="{EF7565D7-C2AB-4CDD-97A1-0422B6964B36}" type="slidenum">
              <a:rPr lang="en-US" altLang="en-US" smtClean="0"/>
              <a:pPr/>
              <a:t>27</a:t>
            </a:fld>
            <a:endParaRPr lang="en-US" altLang="en-US"/>
          </a:p>
        </p:txBody>
      </p:sp>
    </p:spTree>
    <p:extLst>
      <p:ext uri="{BB962C8B-B14F-4D97-AF65-F5344CB8AC3E}">
        <p14:creationId xmlns:p14="http://schemas.microsoft.com/office/powerpoint/2010/main" val="2816426650"/>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fontScale="92500" lnSpcReduction="10000"/>
          </a:bodyPr>
          <a:lstStyle/>
          <a:p>
            <a:pPr marL="0" marR="0" algn="r" rtl="1">
              <a:lnSpc>
                <a:spcPct val="107000"/>
              </a:lnSpc>
              <a:spcBef>
                <a:spcPts val="0"/>
              </a:spcBef>
              <a:spcAft>
                <a:spcPts val="800"/>
              </a:spcAft>
            </a:pPr>
            <a:r>
              <a:rPr lang="ar-SA" sz="1350" b="1" dirty="0">
                <a:effectLst/>
                <a:latin typeface="Calibri" panose="020F0502020204030204" pitchFamily="34" charset="0"/>
                <a:ea typeface="Times New Roman" panose="02020603050405020304" pitchFamily="18" charset="0"/>
                <a:cs typeface="Times New Roman" panose="02020603050405020304" pitchFamily="18" charset="0"/>
              </a:rPr>
              <a:t>مراحل اصلاح برای رسیدن به 2</a:t>
            </a:r>
            <a:r>
              <a:rPr lang="en-US" sz="1350" b="1" dirty="0">
                <a:effectLst/>
                <a:latin typeface="Times New Roman" panose="02020603050405020304" pitchFamily="18" charset="0"/>
                <a:ea typeface="Times New Roman" panose="02020603050405020304" pitchFamily="18" charset="0"/>
                <a:cs typeface="Arial" panose="020B0604020202020204" pitchFamily="34" charset="0"/>
              </a:rPr>
              <a:t>NF</a:t>
            </a:r>
            <a:endParaRPr lang="en-US" sz="1100" dirty="0">
              <a:effectLst/>
              <a:latin typeface="Calibri" panose="020F0502020204030204" pitchFamily="34" charset="0"/>
              <a:ea typeface="Calibri" panose="020F0502020204030204" pitchFamily="34" charset="0"/>
              <a:cs typeface="Arial" panose="020B0604020202020204" pitchFamily="34" charset="0"/>
            </a:endParaRPr>
          </a:p>
          <a:p>
            <a:pPr marL="0" marR="0" algn="r" rtl="1">
              <a:lnSpc>
                <a:spcPct val="107000"/>
              </a:lnSpc>
              <a:spcBef>
                <a:spcPts val="0"/>
              </a:spcBef>
              <a:spcAft>
                <a:spcPts val="800"/>
              </a:spcAft>
            </a:pPr>
            <a:r>
              <a:rPr lang="ar-SA" sz="1200" dirty="0">
                <a:effectLst/>
                <a:latin typeface="Calibri" panose="020F0502020204030204" pitchFamily="34" charset="0"/>
                <a:ea typeface="Times New Roman" panose="02020603050405020304" pitchFamily="18" charset="0"/>
                <a:cs typeface="Times New Roman" panose="02020603050405020304" pitchFamily="18" charset="0"/>
              </a:rPr>
              <a:t>برای تبدیل این جدول به 2</a:t>
            </a:r>
            <a:r>
              <a:rPr lang="en-US" sz="1200" dirty="0">
                <a:effectLst/>
                <a:latin typeface="Times New Roman" panose="02020603050405020304" pitchFamily="18" charset="0"/>
                <a:ea typeface="Times New Roman" panose="02020603050405020304" pitchFamily="18" charset="0"/>
                <a:cs typeface="Arial" panose="020B0604020202020204" pitchFamily="34" charset="0"/>
              </a:rPr>
              <a:t>NF:</a:t>
            </a:r>
            <a:endParaRPr lang="en-US" sz="1100" dirty="0">
              <a:effectLst/>
              <a:latin typeface="Calibri" panose="020F0502020204030204" pitchFamily="34" charset="0"/>
              <a:ea typeface="Calibri" panose="020F0502020204030204" pitchFamily="34" charset="0"/>
              <a:cs typeface="Arial" panose="020B0604020202020204" pitchFamily="34" charset="0"/>
            </a:endParaRPr>
          </a:p>
          <a:p>
            <a:pPr marL="342900" marR="0" lvl="0" indent="-342900" algn="r" rtl="1">
              <a:lnSpc>
                <a:spcPct val="107000"/>
              </a:lnSpc>
              <a:spcBef>
                <a:spcPts val="0"/>
              </a:spcBef>
              <a:spcAft>
                <a:spcPts val="800"/>
              </a:spcAft>
              <a:buFont typeface="+mj-lt"/>
              <a:buAutoNum type="arabicPeriod"/>
              <a:tabLst>
                <a:tab pos="457200" algn="l"/>
              </a:tabLst>
            </a:pPr>
            <a:r>
              <a:rPr lang="ar-SA" sz="1200" b="1" dirty="0">
                <a:effectLst/>
                <a:latin typeface="Calibri" panose="020F0502020204030204" pitchFamily="34" charset="0"/>
                <a:ea typeface="Times New Roman" panose="02020603050405020304" pitchFamily="18" charset="0"/>
                <a:cs typeface="Times New Roman" panose="02020603050405020304" pitchFamily="18" charset="0"/>
              </a:rPr>
              <a:t>تفکیک مشتریان</a:t>
            </a:r>
            <a:r>
              <a:rPr lang="en-US" sz="1200" b="1" dirty="0">
                <a:effectLst/>
                <a:latin typeface="Times New Roman" panose="02020603050405020304" pitchFamily="18" charset="0"/>
                <a:ea typeface="Times New Roman" panose="02020603050405020304" pitchFamily="18" charset="0"/>
                <a:cs typeface="Arial" panose="020B0604020202020204" pitchFamily="34" charset="0"/>
              </a:rPr>
              <a:t> (Customers)</a:t>
            </a:r>
            <a:r>
              <a:rPr lang="en-US" sz="1200" dirty="0">
                <a:effectLst/>
                <a:latin typeface="Times New Roman" panose="02020603050405020304" pitchFamily="18" charset="0"/>
                <a:ea typeface="Times New Roman" panose="02020603050405020304" pitchFamily="18" charset="0"/>
                <a:cs typeface="Arial" panose="020B0604020202020204" pitchFamily="34" charset="0"/>
              </a:rPr>
              <a:t>:</a:t>
            </a:r>
            <a:endParaRPr lang="en-US" sz="1100" dirty="0">
              <a:effectLst/>
              <a:latin typeface="Calibri" panose="020F0502020204030204" pitchFamily="34" charset="0"/>
              <a:ea typeface="Calibri" panose="020F0502020204030204" pitchFamily="34" charset="0"/>
              <a:cs typeface="Arial" panose="020B0604020202020204" pitchFamily="34" charset="0"/>
            </a:endParaRPr>
          </a:p>
          <a:p>
            <a:pPr marL="742950" marR="0" lvl="1" indent="-285750" algn="r" rtl="1">
              <a:lnSpc>
                <a:spcPct val="107000"/>
              </a:lnSpc>
              <a:spcBef>
                <a:spcPts val="0"/>
              </a:spcBef>
              <a:spcAft>
                <a:spcPts val="800"/>
              </a:spcAft>
              <a:buSzPts val="1000"/>
              <a:buFont typeface="Courier New" panose="02070309020205020404" pitchFamily="49" charset="0"/>
              <a:buChar char="o"/>
              <a:tabLst>
                <a:tab pos="914400" algn="l"/>
              </a:tabLst>
            </a:pPr>
            <a:r>
              <a:rPr lang="ar-SA" sz="1200" dirty="0">
                <a:effectLst/>
                <a:latin typeface="Calibri" panose="020F0502020204030204" pitchFamily="34" charset="0"/>
                <a:ea typeface="Times New Roman" panose="02020603050405020304" pitchFamily="18" charset="0"/>
                <a:cs typeface="Times New Roman" panose="02020603050405020304" pitchFamily="18" charset="0"/>
              </a:rPr>
              <a:t>یک جدول جداگانه برای مشتریان ایجاد کنید که کلید اصلی آن </a:t>
            </a:r>
            <a:r>
              <a:rPr lang="en-US" sz="1000" dirty="0" err="1">
                <a:effectLst/>
                <a:latin typeface="Courier New" panose="02070309020205020404" pitchFamily="49" charset="0"/>
                <a:ea typeface="Times New Roman" panose="02020603050405020304" pitchFamily="18" charset="0"/>
                <a:cs typeface="Times New Roman" panose="02020603050405020304" pitchFamily="18" charset="0"/>
              </a:rPr>
              <a:t>CustomerNo</a:t>
            </a:r>
            <a:r>
              <a:rPr lang="en-US" sz="12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ar-SA" sz="1200" dirty="0">
                <a:effectLst/>
                <a:latin typeface="Calibri" panose="020F0502020204030204" pitchFamily="34" charset="0"/>
                <a:ea typeface="Times New Roman" panose="02020603050405020304" pitchFamily="18" charset="0"/>
                <a:cs typeface="Times New Roman" panose="02020603050405020304" pitchFamily="18" charset="0"/>
              </a:rPr>
              <a:t>باشد</a:t>
            </a:r>
            <a:r>
              <a:rPr lang="en-US" sz="1200" dirty="0">
                <a:effectLst/>
                <a:latin typeface="Times New Roman" panose="02020603050405020304" pitchFamily="18" charset="0"/>
                <a:ea typeface="Times New Roman" panose="02020603050405020304" pitchFamily="18" charset="0"/>
                <a:cs typeface="Times New Roman" panose="02020603050405020304" pitchFamily="18" charset="0"/>
              </a:rPr>
              <a:t>:</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p>
            <a:pPr marL="1143000" marR="0" lvl="2" indent="-228600" algn="r" rtl="1">
              <a:lnSpc>
                <a:spcPct val="107000"/>
              </a:lnSpc>
              <a:spcBef>
                <a:spcPts val="0"/>
              </a:spcBef>
              <a:spcAft>
                <a:spcPts val="800"/>
              </a:spcAft>
              <a:buSzPts val="1000"/>
              <a:buFont typeface="Wingdings" panose="05000000000000000000" pitchFamily="2" charset="2"/>
              <a:buChar char=""/>
              <a:tabLst>
                <a:tab pos="1371600" algn="l"/>
              </a:tabLst>
            </a:pPr>
            <a:r>
              <a:rPr lang="en-US" sz="1000" dirty="0" err="1">
                <a:effectLst/>
                <a:latin typeface="Courier New" panose="02070309020205020404" pitchFamily="49" charset="0"/>
                <a:ea typeface="Times New Roman" panose="02020603050405020304" pitchFamily="18" charset="0"/>
                <a:cs typeface="Arial" panose="020B0604020202020204" pitchFamily="34" charset="0"/>
              </a:rPr>
              <a:t>CustomerNo</a:t>
            </a:r>
            <a:r>
              <a:rPr lang="ar-SA" sz="1200" dirty="0">
                <a:effectLst/>
                <a:latin typeface="Calibri" panose="020F0502020204030204" pitchFamily="34" charset="0"/>
                <a:ea typeface="Times New Roman" panose="02020603050405020304" pitchFamily="18" charset="0"/>
                <a:cs typeface="Times New Roman" panose="02020603050405020304" pitchFamily="18" charset="0"/>
              </a:rPr>
              <a:t>، </a:t>
            </a:r>
            <a:r>
              <a:rPr lang="en-US" sz="1000" dirty="0">
                <a:effectLst/>
                <a:latin typeface="Courier New" panose="02070309020205020404" pitchFamily="49" charset="0"/>
                <a:ea typeface="Times New Roman" panose="02020603050405020304" pitchFamily="18" charset="0"/>
                <a:cs typeface="Arial" panose="020B0604020202020204" pitchFamily="34" charset="0"/>
              </a:rPr>
              <a:t>First</a:t>
            </a:r>
            <a:r>
              <a:rPr lang="ar-SA" sz="1200" dirty="0">
                <a:effectLst/>
                <a:latin typeface="Calibri" panose="020F0502020204030204" pitchFamily="34" charset="0"/>
                <a:ea typeface="Times New Roman" panose="02020603050405020304" pitchFamily="18" charset="0"/>
                <a:cs typeface="Times New Roman" panose="02020603050405020304" pitchFamily="18" charset="0"/>
              </a:rPr>
              <a:t>، </a:t>
            </a:r>
            <a:r>
              <a:rPr lang="en-US" sz="1000" dirty="0">
                <a:effectLst/>
                <a:latin typeface="Courier New" panose="02070309020205020404" pitchFamily="49" charset="0"/>
                <a:ea typeface="Times New Roman" panose="02020603050405020304" pitchFamily="18" charset="0"/>
                <a:cs typeface="Arial" panose="020B0604020202020204" pitchFamily="34" charset="0"/>
              </a:rPr>
              <a:t>Last</a:t>
            </a:r>
            <a:r>
              <a:rPr lang="ar-SA" sz="1200" dirty="0">
                <a:effectLst/>
                <a:latin typeface="Calibri" panose="020F0502020204030204" pitchFamily="34" charset="0"/>
                <a:ea typeface="Times New Roman" panose="02020603050405020304" pitchFamily="18" charset="0"/>
                <a:cs typeface="Times New Roman" panose="02020603050405020304" pitchFamily="18" charset="0"/>
              </a:rPr>
              <a:t>، </a:t>
            </a:r>
            <a:r>
              <a:rPr lang="en-US" sz="1000" dirty="0">
                <a:effectLst/>
                <a:latin typeface="Courier New" panose="02070309020205020404" pitchFamily="49" charset="0"/>
                <a:ea typeface="Times New Roman" panose="02020603050405020304" pitchFamily="18" charset="0"/>
                <a:cs typeface="Arial" panose="020B0604020202020204" pitchFamily="34" charset="0"/>
              </a:rPr>
              <a:t>Address</a:t>
            </a:r>
            <a:r>
              <a:rPr lang="ar-SA" sz="1200" dirty="0">
                <a:effectLst/>
                <a:latin typeface="Calibri" panose="020F0502020204030204" pitchFamily="34" charset="0"/>
                <a:ea typeface="Times New Roman" panose="02020603050405020304" pitchFamily="18" charset="0"/>
                <a:cs typeface="Times New Roman" panose="02020603050405020304" pitchFamily="18" charset="0"/>
              </a:rPr>
              <a:t>، </a:t>
            </a:r>
            <a:r>
              <a:rPr lang="en-US" sz="1000" dirty="0">
                <a:effectLst/>
                <a:latin typeface="Courier New" panose="02070309020205020404" pitchFamily="49" charset="0"/>
                <a:ea typeface="Times New Roman" panose="02020603050405020304" pitchFamily="18" charset="0"/>
                <a:cs typeface="Arial" panose="020B0604020202020204" pitchFamily="34" charset="0"/>
              </a:rPr>
              <a:t>Credit Limit</a:t>
            </a:r>
            <a:r>
              <a:rPr lang="en-US" sz="1200" dirty="0">
                <a:effectLst/>
                <a:latin typeface="Times New Roman" panose="02020603050405020304" pitchFamily="18" charset="0"/>
                <a:ea typeface="Times New Roman" panose="02020603050405020304" pitchFamily="18" charset="0"/>
                <a:cs typeface="Arial" panose="020B0604020202020204" pitchFamily="34" charset="0"/>
              </a:rPr>
              <a:t>.</a:t>
            </a:r>
            <a:endParaRPr lang="en-US" sz="1100" dirty="0">
              <a:effectLst/>
              <a:latin typeface="Calibri" panose="020F0502020204030204" pitchFamily="34" charset="0"/>
              <a:ea typeface="Calibri" panose="020F0502020204030204" pitchFamily="34" charset="0"/>
              <a:cs typeface="Arial" panose="020B0604020202020204" pitchFamily="34" charset="0"/>
            </a:endParaRPr>
          </a:p>
          <a:p>
            <a:pPr marL="342900" marR="0" lvl="0" indent="-342900" algn="r" rtl="1">
              <a:lnSpc>
                <a:spcPct val="107000"/>
              </a:lnSpc>
              <a:spcBef>
                <a:spcPts val="0"/>
              </a:spcBef>
              <a:spcAft>
                <a:spcPts val="800"/>
              </a:spcAft>
              <a:buFont typeface="+mj-lt"/>
              <a:buAutoNum type="arabicPeriod"/>
              <a:tabLst>
                <a:tab pos="457200" algn="l"/>
              </a:tabLst>
            </a:pPr>
            <a:r>
              <a:rPr lang="ar-SA" sz="1200" b="1" dirty="0">
                <a:effectLst/>
                <a:latin typeface="Calibri" panose="020F0502020204030204" pitchFamily="34" charset="0"/>
                <a:ea typeface="Times New Roman" panose="02020603050405020304" pitchFamily="18" charset="0"/>
                <a:cs typeface="Times New Roman" panose="02020603050405020304" pitchFamily="18" charset="0"/>
              </a:rPr>
              <a:t>تفکیک نمایندگان فروش</a:t>
            </a:r>
            <a:r>
              <a:rPr lang="en-US" sz="1200" b="1" dirty="0">
                <a:effectLst/>
                <a:latin typeface="Times New Roman" panose="02020603050405020304" pitchFamily="18" charset="0"/>
                <a:ea typeface="Times New Roman" panose="02020603050405020304" pitchFamily="18" charset="0"/>
                <a:cs typeface="Arial" panose="020B0604020202020204" pitchFamily="34" charset="0"/>
              </a:rPr>
              <a:t> (Sales Representatives)</a:t>
            </a:r>
            <a:r>
              <a:rPr lang="en-US" sz="1200" dirty="0">
                <a:effectLst/>
                <a:latin typeface="Times New Roman" panose="02020603050405020304" pitchFamily="18" charset="0"/>
                <a:ea typeface="Times New Roman" panose="02020603050405020304" pitchFamily="18" charset="0"/>
                <a:cs typeface="Arial" panose="020B0604020202020204" pitchFamily="34" charset="0"/>
              </a:rPr>
              <a:t>:</a:t>
            </a:r>
            <a:endParaRPr lang="en-US" sz="1100" dirty="0">
              <a:effectLst/>
              <a:latin typeface="Calibri" panose="020F0502020204030204" pitchFamily="34" charset="0"/>
              <a:ea typeface="Calibri" panose="020F0502020204030204" pitchFamily="34" charset="0"/>
              <a:cs typeface="Arial" panose="020B0604020202020204" pitchFamily="34" charset="0"/>
            </a:endParaRPr>
          </a:p>
          <a:p>
            <a:pPr marL="742950" marR="0" lvl="1" indent="-285750" algn="r" rtl="1">
              <a:lnSpc>
                <a:spcPct val="107000"/>
              </a:lnSpc>
              <a:spcBef>
                <a:spcPts val="0"/>
              </a:spcBef>
              <a:spcAft>
                <a:spcPts val="800"/>
              </a:spcAft>
              <a:buSzPts val="1000"/>
              <a:buFont typeface="Courier New" panose="02070309020205020404" pitchFamily="49" charset="0"/>
              <a:buChar char="o"/>
              <a:tabLst>
                <a:tab pos="914400" algn="l"/>
              </a:tabLst>
            </a:pPr>
            <a:r>
              <a:rPr lang="ar-SA" sz="1200" dirty="0">
                <a:effectLst/>
                <a:latin typeface="Calibri" panose="020F0502020204030204" pitchFamily="34" charset="0"/>
                <a:ea typeface="Times New Roman" panose="02020603050405020304" pitchFamily="18" charset="0"/>
                <a:cs typeface="Times New Roman" panose="02020603050405020304" pitchFamily="18" charset="0"/>
              </a:rPr>
              <a:t>یک جدول جداگانه برای نمایندگان فروش با </a:t>
            </a:r>
            <a:r>
              <a:rPr lang="en-US" sz="1000" dirty="0" err="1">
                <a:effectLst/>
                <a:latin typeface="Courier New" panose="02070309020205020404" pitchFamily="49" charset="0"/>
                <a:ea typeface="Times New Roman" panose="02020603050405020304" pitchFamily="18" charset="0"/>
                <a:cs typeface="Times New Roman" panose="02020603050405020304" pitchFamily="18" charset="0"/>
              </a:rPr>
              <a:t>SaleNo</a:t>
            </a:r>
            <a:r>
              <a:rPr lang="en-US" sz="12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ar-SA" sz="1200" dirty="0">
                <a:effectLst/>
                <a:latin typeface="Calibri" panose="020F0502020204030204" pitchFamily="34" charset="0"/>
                <a:ea typeface="Times New Roman" panose="02020603050405020304" pitchFamily="18" charset="0"/>
                <a:cs typeface="Times New Roman" panose="02020603050405020304" pitchFamily="18" charset="0"/>
              </a:rPr>
              <a:t>و </a:t>
            </a:r>
            <a:r>
              <a:rPr lang="en-US" sz="1000" dirty="0" err="1">
                <a:effectLst/>
                <a:latin typeface="Courier New" panose="02070309020205020404" pitchFamily="49" charset="0"/>
                <a:ea typeface="Times New Roman" panose="02020603050405020304" pitchFamily="18" charset="0"/>
                <a:cs typeface="Times New Roman" panose="02020603050405020304" pitchFamily="18" charset="0"/>
              </a:rPr>
              <a:t>Salesrep</a:t>
            </a:r>
            <a:r>
              <a:rPr lang="en-US" sz="12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ar-SA" sz="1200" dirty="0">
                <a:effectLst/>
                <a:latin typeface="Calibri" panose="020F0502020204030204" pitchFamily="34" charset="0"/>
                <a:ea typeface="Times New Roman" panose="02020603050405020304" pitchFamily="18" charset="0"/>
                <a:cs typeface="Times New Roman" panose="02020603050405020304" pitchFamily="18" charset="0"/>
              </a:rPr>
              <a:t>ایجاد کنید</a:t>
            </a:r>
            <a:r>
              <a:rPr lang="en-US" sz="1200" dirty="0">
                <a:effectLst/>
                <a:latin typeface="Times New Roman" panose="02020603050405020304" pitchFamily="18" charset="0"/>
                <a:ea typeface="Times New Roman" panose="02020603050405020304" pitchFamily="18" charset="0"/>
                <a:cs typeface="Times New Roman" panose="02020603050405020304" pitchFamily="18" charset="0"/>
              </a:rPr>
              <a:t>:</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p>
            <a:pPr marL="1143000" marR="0" lvl="2" indent="-228600" algn="r" rtl="1">
              <a:lnSpc>
                <a:spcPct val="107000"/>
              </a:lnSpc>
              <a:spcBef>
                <a:spcPts val="0"/>
              </a:spcBef>
              <a:spcAft>
                <a:spcPts val="800"/>
              </a:spcAft>
              <a:buSzPts val="1000"/>
              <a:buFont typeface="Wingdings" panose="05000000000000000000" pitchFamily="2" charset="2"/>
              <a:buChar char=""/>
              <a:tabLst>
                <a:tab pos="1371600" algn="l"/>
              </a:tabLst>
            </a:pPr>
            <a:r>
              <a:rPr lang="en-US" sz="1000" dirty="0" err="1">
                <a:effectLst/>
                <a:latin typeface="Courier New" panose="02070309020205020404" pitchFamily="49" charset="0"/>
                <a:ea typeface="Times New Roman" panose="02020603050405020304" pitchFamily="18" charset="0"/>
                <a:cs typeface="Arial" panose="020B0604020202020204" pitchFamily="34" charset="0"/>
              </a:rPr>
              <a:t>SaleNo</a:t>
            </a:r>
            <a:r>
              <a:rPr lang="ar-SA" sz="1200" dirty="0">
                <a:effectLst/>
                <a:latin typeface="Calibri" panose="020F0502020204030204" pitchFamily="34" charset="0"/>
                <a:ea typeface="Times New Roman" panose="02020603050405020304" pitchFamily="18" charset="0"/>
                <a:cs typeface="Times New Roman" panose="02020603050405020304" pitchFamily="18" charset="0"/>
              </a:rPr>
              <a:t>، </a:t>
            </a:r>
            <a:r>
              <a:rPr lang="en-US" sz="1000" dirty="0" err="1">
                <a:effectLst/>
                <a:latin typeface="Courier New" panose="02070309020205020404" pitchFamily="49" charset="0"/>
                <a:ea typeface="Times New Roman" panose="02020603050405020304" pitchFamily="18" charset="0"/>
                <a:cs typeface="Arial" panose="020B0604020202020204" pitchFamily="34" charset="0"/>
              </a:rPr>
              <a:t>Salesrep</a:t>
            </a:r>
            <a:r>
              <a:rPr lang="en-US" sz="1200" dirty="0">
                <a:effectLst/>
                <a:latin typeface="Times New Roman" panose="02020603050405020304" pitchFamily="18" charset="0"/>
                <a:ea typeface="Times New Roman" panose="02020603050405020304" pitchFamily="18" charset="0"/>
                <a:cs typeface="Arial" panose="020B0604020202020204" pitchFamily="34" charset="0"/>
              </a:rPr>
              <a:t>.</a:t>
            </a:r>
            <a:endParaRPr lang="en-US" sz="1100" dirty="0">
              <a:effectLst/>
              <a:latin typeface="Calibri" panose="020F0502020204030204" pitchFamily="34" charset="0"/>
              <a:ea typeface="Calibri" panose="020F0502020204030204" pitchFamily="34" charset="0"/>
              <a:cs typeface="Arial" panose="020B0604020202020204" pitchFamily="34" charset="0"/>
            </a:endParaRPr>
          </a:p>
          <a:p>
            <a:pPr marL="342900" marR="0" lvl="0" indent="-342900" algn="r" rtl="1">
              <a:lnSpc>
                <a:spcPct val="107000"/>
              </a:lnSpc>
              <a:spcBef>
                <a:spcPts val="0"/>
              </a:spcBef>
              <a:spcAft>
                <a:spcPts val="800"/>
              </a:spcAft>
              <a:buFont typeface="+mj-lt"/>
              <a:buAutoNum type="arabicPeriod"/>
              <a:tabLst>
                <a:tab pos="457200" algn="l"/>
              </a:tabLst>
            </a:pPr>
            <a:r>
              <a:rPr lang="ar-SA" sz="1200" b="1" dirty="0">
                <a:effectLst/>
                <a:latin typeface="Calibri" panose="020F0502020204030204" pitchFamily="34" charset="0"/>
                <a:ea typeface="Times New Roman" panose="02020603050405020304" pitchFamily="18" charset="0"/>
                <a:cs typeface="Times New Roman" panose="02020603050405020304" pitchFamily="18" charset="0"/>
              </a:rPr>
              <a:t>بازتعریف فروش و محصولات</a:t>
            </a:r>
            <a:r>
              <a:rPr lang="en-US" sz="1200" dirty="0">
                <a:effectLst/>
                <a:latin typeface="Times New Roman" panose="02020603050405020304" pitchFamily="18" charset="0"/>
                <a:ea typeface="Times New Roman" panose="02020603050405020304" pitchFamily="18" charset="0"/>
                <a:cs typeface="Arial" panose="020B0604020202020204" pitchFamily="34" charset="0"/>
              </a:rPr>
              <a:t>:</a:t>
            </a:r>
            <a:endParaRPr lang="en-US" sz="1100" dirty="0">
              <a:effectLst/>
              <a:latin typeface="Calibri" panose="020F0502020204030204" pitchFamily="34" charset="0"/>
              <a:ea typeface="Calibri" panose="020F0502020204030204" pitchFamily="34" charset="0"/>
              <a:cs typeface="Arial" panose="020B0604020202020204" pitchFamily="34" charset="0"/>
            </a:endParaRPr>
          </a:p>
          <a:p>
            <a:pPr marL="742950" marR="0" lvl="1" indent="-285750" algn="r" rtl="1">
              <a:lnSpc>
                <a:spcPct val="107000"/>
              </a:lnSpc>
              <a:spcBef>
                <a:spcPts val="0"/>
              </a:spcBef>
              <a:spcAft>
                <a:spcPts val="800"/>
              </a:spcAft>
              <a:buSzPts val="1000"/>
              <a:buFont typeface="Courier New" panose="02070309020205020404" pitchFamily="49" charset="0"/>
              <a:buChar char="o"/>
              <a:tabLst>
                <a:tab pos="914400" algn="l"/>
              </a:tabLst>
            </a:pPr>
            <a:r>
              <a:rPr lang="ar-SA" sz="1200" dirty="0">
                <a:effectLst/>
                <a:latin typeface="Calibri" panose="020F0502020204030204" pitchFamily="34" charset="0"/>
                <a:ea typeface="Times New Roman" panose="02020603050405020304" pitchFamily="18" charset="0"/>
                <a:cs typeface="Times New Roman" panose="02020603050405020304" pitchFamily="18" charset="0"/>
              </a:rPr>
              <a:t>یک جدول </a:t>
            </a:r>
            <a:r>
              <a:rPr lang="en-US" sz="1000" dirty="0">
                <a:effectLst/>
                <a:latin typeface="Courier New" panose="02070309020205020404" pitchFamily="49" charset="0"/>
                <a:ea typeface="Times New Roman" panose="02020603050405020304" pitchFamily="18" charset="0"/>
                <a:cs typeface="Times New Roman" panose="02020603050405020304" pitchFamily="18" charset="0"/>
              </a:rPr>
              <a:t>Sales</a:t>
            </a:r>
            <a:r>
              <a:rPr lang="en-US" sz="12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ar-SA" sz="1200" dirty="0">
                <a:effectLst/>
                <a:latin typeface="Calibri" panose="020F0502020204030204" pitchFamily="34" charset="0"/>
                <a:ea typeface="Times New Roman" panose="02020603050405020304" pitchFamily="18" charset="0"/>
                <a:cs typeface="Times New Roman" panose="02020603050405020304" pitchFamily="18" charset="0"/>
              </a:rPr>
              <a:t>برای </a:t>
            </a:r>
            <a:r>
              <a:rPr lang="en-US" sz="1000" dirty="0" err="1">
                <a:effectLst/>
                <a:latin typeface="Courier New" panose="02070309020205020404" pitchFamily="49" charset="0"/>
                <a:ea typeface="Times New Roman" panose="02020603050405020304" pitchFamily="18" charset="0"/>
                <a:cs typeface="Times New Roman" panose="02020603050405020304" pitchFamily="18" charset="0"/>
              </a:rPr>
              <a:t>SaleNo</a:t>
            </a:r>
            <a:r>
              <a:rPr lang="ar-SA" sz="1200" dirty="0">
                <a:effectLst/>
                <a:latin typeface="Calibri" panose="020F0502020204030204" pitchFamily="34" charset="0"/>
                <a:ea typeface="Times New Roman" panose="02020603050405020304" pitchFamily="18" charset="0"/>
                <a:cs typeface="Times New Roman" panose="02020603050405020304" pitchFamily="18" charset="0"/>
              </a:rPr>
              <a:t>، </a:t>
            </a:r>
            <a:r>
              <a:rPr lang="en-US" sz="1000" dirty="0" err="1">
                <a:effectLst/>
                <a:latin typeface="Courier New" panose="02070309020205020404" pitchFamily="49" charset="0"/>
                <a:ea typeface="Times New Roman" panose="02020603050405020304" pitchFamily="18" charset="0"/>
                <a:cs typeface="Times New Roman" panose="02020603050405020304" pitchFamily="18" charset="0"/>
              </a:rPr>
              <a:t>CustomerNo</a:t>
            </a:r>
            <a:r>
              <a:rPr lang="en-US" sz="12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ar-SA" sz="1200" dirty="0">
                <a:effectLst/>
                <a:latin typeface="Calibri" panose="020F0502020204030204" pitchFamily="34" charset="0"/>
                <a:ea typeface="Times New Roman" panose="02020603050405020304" pitchFamily="18" charset="0"/>
                <a:cs typeface="Times New Roman" panose="02020603050405020304" pitchFamily="18" charset="0"/>
              </a:rPr>
              <a:t>و احتمالاً </a:t>
            </a:r>
            <a:r>
              <a:rPr lang="en-US" sz="1000" dirty="0" err="1">
                <a:effectLst/>
                <a:latin typeface="Courier New" panose="02070309020205020404" pitchFamily="49" charset="0"/>
                <a:ea typeface="Times New Roman" panose="02020603050405020304" pitchFamily="18" charset="0"/>
                <a:cs typeface="Times New Roman" panose="02020603050405020304" pitchFamily="18" charset="0"/>
              </a:rPr>
              <a:t>Salesrep</a:t>
            </a:r>
            <a:r>
              <a:rPr lang="en-US" sz="12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ar-SA" sz="1200" dirty="0">
                <a:effectLst/>
                <a:latin typeface="Calibri" panose="020F0502020204030204" pitchFamily="34" charset="0"/>
                <a:ea typeface="Times New Roman" panose="02020603050405020304" pitchFamily="18" charset="0"/>
                <a:cs typeface="Times New Roman" panose="02020603050405020304" pitchFamily="18" charset="0"/>
              </a:rPr>
              <a:t>ایجاد کنید</a:t>
            </a:r>
            <a:r>
              <a:rPr lang="en-US" sz="1200" dirty="0">
                <a:effectLst/>
                <a:latin typeface="Times New Roman" panose="02020603050405020304" pitchFamily="18" charset="0"/>
                <a:ea typeface="Times New Roman" panose="02020603050405020304" pitchFamily="18" charset="0"/>
                <a:cs typeface="Times New Roman" panose="02020603050405020304" pitchFamily="18" charset="0"/>
              </a:rPr>
              <a:t>.</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p>
            <a:pPr marL="742950" marR="0" lvl="1" indent="-285750" algn="r" rtl="1">
              <a:lnSpc>
                <a:spcPct val="107000"/>
              </a:lnSpc>
              <a:spcBef>
                <a:spcPts val="0"/>
              </a:spcBef>
              <a:spcAft>
                <a:spcPts val="800"/>
              </a:spcAft>
              <a:buSzPts val="1000"/>
              <a:buFont typeface="Courier New" panose="02070309020205020404" pitchFamily="49" charset="0"/>
              <a:buChar char="o"/>
              <a:tabLst>
                <a:tab pos="914400" algn="l"/>
              </a:tabLst>
            </a:pPr>
            <a:r>
              <a:rPr lang="ar-SA" sz="1200" dirty="0">
                <a:effectLst/>
                <a:latin typeface="Calibri" panose="020F0502020204030204" pitchFamily="34" charset="0"/>
                <a:ea typeface="Times New Roman" panose="02020603050405020304" pitchFamily="18" charset="0"/>
                <a:cs typeface="Times New Roman" panose="02020603050405020304" pitchFamily="18" charset="0"/>
              </a:rPr>
              <a:t>اطلاعات مربوط به محصولات</a:t>
            </a:r>
            <a:r>
              <a:rPr lang="en-US" sz="12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1000" dirty="0" err="1">
                <a:effectLst/>
                <a:latin typeface="Courier New" panose="02070309020205020404" pitchFamily="49" charset="0"/>
                <a:ea typeface="Times New Roman" panose="02020603050405020304" pitchFamily="18" charset="0"/>
                <a:cs typeface="Times New Roman" panose="02020603050405020304" pitchFamily="18" charset="0"/>
              </a:rPr>
              <a:t>ProductNo</a:t>
            </a:r>
            <a:r>
              <a:rPr lang="ar-SA" sz="1200" dirty="0">
                <a:effectLst/>
                <a:latin typeface="Calibri" panose="020F0502020204030204" pitchFamily="34" charset="0"/>
                <a:ea typeface="Times New Roman" panose="02020603050405020304" pitchFamily="18" charset="0"/>
                <a:cs typeface="Times New Roman" panose="02020603050405020304" pitchFamily="18" charset="0"/>
              </a:rPr>
              <a:t>، </a:t>
            </a:r>
            <a:r>
              <a:rPr lang="en-US" sz="1000" dirty="0">
                <a:effectLst/>
                <a:latin typeface="Courier New" panose="02070309020205020404" pitchFamily="49" charset="0"/>
                <a:ea typeface="Times New Roman" panose="02020603050405020304" pitchFamily="18" charset="0"/>
                <a:cs typeface="Times New Roman" panose="02020603050405020304" pitchFamily="18" charset="0"/>
              </a:rPr>
              <a:t>Qty</a:t>
            </a:r>
            <a:r>
              <a:rPr lang="en-US" sz="12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ar-SA" sz="1200" dirty="0">
                <a:effectLst/>
                <a:latin typeface="Calibri" panose="020F0502020204030204" pitchFamily="34" charset="0"/>
                <a:ea typeface="Times New Roman" panose="02020603050405020304" pitchFamily="18" charset="0"/>
                <a:cs typeface="Times New Roman" panose="02020603050405020304" pitchFamily="18" charset="0"/>
              </a:rPr>
              <a:t>و </a:t>
            </a:r>
            <a:r>
              <a:rPr lang="en-US" sz="1000" dirty="0">
                <a:effectLst/>
                <a:latin typeface="Courier New" panose="02070309020205020404" pitchFamily="49" charset="0"/>
                <a:ea typeface="Times New Roman" panose="02020603050405020304" pitchFamily="18" charset="0"/>
                <a:cs typeface="Times New Roman" panose="02020603050405020304" pitchFamily="18" charset="0"/>
              </a:rPr>
              <a:t>Amount</a:t>
            </a:r>
            <a:r>
              <a:rPr lang="en-US" sz="12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ar-SA" sz="1200" dirty="0">
                <a:effectLst/>
                <a:latin typeface="Calibri" panose="020F0502020204030204" pitchFamily="34" charset="0"/>
                <a:ea typeface="Times New Roman" panose="02020603050405020304" pitchFamily="18" charset="0"/>
                <a:cs typeface="Times New Roman" panose="02020603050405020304" pitchFamily="18" charset="0"/>
              </a:rPr>
              <a:t>را به جدول جداگانه‌ای به نام </a:t>
            </a:r>
            <a:r>
              <a:rPr lang="en-US" sz="1000" dirty="0" err="1">
                <a:effectLst/>
                <a:latin typeface="Courier New" panose="02070309020205020404" pitchFamily="49" charset="0"/>
                <a:ea typeface="Times New Roman" panose="02020603050405020304" pitchFamily="18" charset="0"/>
                <a:cs typeface="Times New Roman" panose="02020603050405020304" pitchFamily="18" charset="0"/>
              </a:rPr>
              <a:t>SaleDetails</a:t>
            </a:r>
            <a:r>
              <a:rPr lang="en-US" sz="12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ar-SA" sz="1200" dirty="0">
                <a:effectLst/>
                <a:latin typeface="Calibri" panose="020F0502020204030204" pitchFamily="34" charset="0"/>
                <a:ea typeface="Times New Roman" panose="02020603050405020304" pitchFamily="18" charset="0"/>
                <a:cs typeface="Times New Roman" panose="02020603050405020304" pitchFamily="18" charset="0"/>
              </a:rPr>
              <a:t>منتقل کنید که کلید اصلی آن </a:t>
            </a:r>
            <a:r>
              <a:rPr lang="en-US" sz="1000" dirty="0">
                <a:effectLst/>
                <a:latin typeface="Courier New" panose="02070309020205020404" pitchFamily="49" charset="0"/>
                <a:ea typeface="Times New Roman" panose="02020603050405020304" pitchFamily="18" charset="0"/>
                <a:cs typeface="Times New Roman" panose="02020603050405020304" pitchFamily="18" charset="0"/>
              </a:rPr>
              <a:t>(</a:t>
            </a:r>
            <a:r>
              <a:rPr lang="en-US" sz="1000" dirty="0" err="1">
                <a:effectLst/>
                <a:latin typeface="Courier New" panose="02070309020205020404" pitchFamily="49" charset="0"/>
                <a:ea typeface="Times New Roman" panose="02020603050405020304" pitchFamily="18" charset="0"/>
                <a:cs typeface="Times New Roman" panose="02020603050405020304" pitchFamily="18" charset="0"/>
              </a:rPr>
              <a:t>SaleNo</a:t>
            </a:r>
            <a:r>
              <a:rPr lang="en-US" sz="1000" dirty="0">
                <a:effectLst/>
                <a:latin typeface="Courier New" panose="02070309020205020404" pitchFamily="49" charset="0"/>
                <a:ea typeface="Times New Roman" panose="02020603050405020304" pitchFamily="18" charset="0"/>
                <a:cs typeface="Times New Roman" panose="02020603050405020304" pitchFamily="18" charset="0"/>
              </a:rPr>
              <a:t>, </a:t>
            </a:r>
            <a:r>
              <a:rPr lang="en-US" sz="1000" dirty="0" err="1">
                <a:effectLst/>
                <a:latin typeface="Courier New" panose="02070309020205020404" pitchFamily="49" charset="0"/>
                <a:ea typeface="Times New Roman" panose="02020603050405020304" pitchFamily="18" charset="0"/>
                <a:cs typeface="Times New Roman" panose="02020603050405020304" pitchFamily="18" charset="0"/>
              </a:rPr>
              <a:t>ProductNo</a:t>
            </a:r>
            <a:r>
              <a:rPr lang="en-US" sz="1000" dirty="0">
                <a:effectLst/>
                <a:latin typeface="Courier New" panose="02070309020205020404" pitchFamily="49" charset="0"/>
                <a:ea typeface="Times New Roman" panose="02020603050405020304" pitchFamily="18" charset="0"/>
                <a:cs typeface="Times New Roman" panose="02020603050405020304" pitchFamily="18" charset="0"/>
              </a:rPr>
              <a:t>)</a:t>
            </a:r>
            <a:r>
              <a:rPr lang="en-US" sz="12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ar-SA" sz="1200" dirty="0">
                <a:effectLst/>
                <a:latin typeface="Calibri" panose="020F0502020204030204" pitchFamily="34" charset="0"/>
                <a:ea typeface="Times New Roman" panose="02020603050405020304" pitchFamily="18" charset="0"/>
                <a:cs typeface="Times New Roman" panose="02020603050405020304" pitchFamily="18" charset="0"/>
              </a:rPr>
              <a:t>باشد</a:t>
            </a:r>
            <a:r>
              <a:rPr lang="en-US" sz="1200" dirty="0">
                <a:effectLst/>
                <a:latin typeface="Times New Roman" panose="02020603050405020304" pitchFamily="18" charset="0"/>
                <a:ea typeface="Times New Roman" panose="02020603050405020304" pitchFamily="18" charset="0"/>
                <a:cs typeface="Times New Roman" panose="02020603050405020304" pitchFamily="18" charset="0"/>
              </a:rPr>
              <a:t>.</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p>
            <a:pPr marL="0" marR="0" algn="r" rtl="1">
              <a:lnSpc>
                <a:spcPct val="107000"/>
              </a:lnSpc>
              <a:spcBef>
                <a:spcPts val="0"/>
              </a:spcBef>
              <a:spcAft>
                <a:spcPts val="800"/>
              </a:spcAft>
            </a:pPr>
            <a:r>
              <a:rPr lang="en-US" sz="1100" dirty="0">
                <a:effectLst/>
                <a:latin typeface="Calibri" panose="020F0502020204030204" pitchFamily="34" charset="0"/>
                <a:ea typeface="Calibri" panose="020F0502020204030204" pitchFamily="34" charset="0"/>
                <a:cs typeface="Arial" panose="020B0604020202020204" pitchFamily="34" charset="0"/>
              </a:rPr>
              <a:t> </a:t>
            </a:r>
          </a:p>
          <a:p>
            <a:pPr rtl="1"/>
            <a:endParaRPr lang="en-US" sz="1200" b="0" i="0" kern="1200" dirty="0">
              <a:solidFill>
                <a:schemeClr val="tx1"/>
              </a:solidFill>
              <a:effectLst/>
              <a:latin typeface="+mn-lt"/>
              <a:ea typeface="+mn-ea"/>
              <a:cs typeface="+mn-cs"/>
            </a:endParaRPr>
          </a:p>
          <a:p>
            <a:pPr rtl="1"/>
            <a:endParaRPr lang="en-US" sz="1200" b="0" i="0" kern="1200" dirty="0">
              <a:solidFill>
                <a:schemeClr val="tx1"/>
              </a:solidFill>
              <a:effectLst/>
              <a:latin typeface="+mn-lt"/>
              <a:ea typeface="+mn-ea"/>
              <a:cs typeface="+mn-cs"/>
            </a:endParaRPr>
          </a:p>
          <a:p>
            <a:pPr rtl="1"/>
            <a:r>
              <a:rPr lang="fa-IR" sz="1200" b="0" i="0" kern="1200" dirty="0">
                <a:solidFill>
                  <a:schemeClr val="tx1"/>
                </a:solidFill>
                <a:effectLst/>
                <a:latin typeface="+mn-lt"/>
                <a:ea typeface="+mn-ea"/>
                <a:cs typeface="+mn-cs"/>
              </a:rPr>
              <a:t>ترکيب غير تکراری </a:t>
            </a:r>
            <a:r>
              <a:rPr lang="en-US" sz="1200" b="0" i="0" kern="1200" dirty="0" err="1">
                <a:solidFill>
                  <a:schemeClr val="tx1"/>
                </a:solidFill>
                <a:effectLst/>
                <a:latin typeface="+mn-lt"/>
                <a:ea typeface="+mn-ea"/>
                <a:cs typeface="+mn-cs"/>
              </a:rPr>
              <a:t>ProductNo+CustomerNo+SaleNo</a:t>
            </a:r>
            <a:r>
              <a:rPr lang="en-US" sz="1200" b="0" i="0" kern="1200" dirty="0">
                <a:solidFill>
                  <a:schemeClr val="tx1"/>
                </a:solidFill>
                <a:effectLst/>
                <a:latin typeface="+mn-lt"/>
                <a:ea typeface="+mn-ea"/>
                <a:cs typeface="+mn-cs"/>
              </a:rPr>
              <a:t> </a:t>
            </a:r>
            <a:r>
              <a:rPr lang="fa-IR" sz="1200" b="0" i="0" kern="1200" dirty="0">
                <a:solidFill>
                  <a:schemeClr val="tx1"/>
                </a:solidFill>
                <a:effectLst/>
                <a:latin typeface="+mn-lt"/>
                <a:ea typeface="+mn-ea"/>
                <a:cs typeface="+mn-cs"/>
              </a:rPr>
              <a:t>را می توان کليد اصلی درنظر گرفت.</a:t>
            </a:r>
          </a:p>
          <a:p>
            <a:pPr rtl="0"/>
            <a:r>
              <a:rPr lang="en-US" sz="1200" b="1" i="0" kern="1200" dirty="0">
                <a:solidFill>
                  <a:schemeClr val="tx1"/>
                </a:solidFill>
                <a:effectLst/>
                <a:latin typeface="+mn-lt"/>
                <a:ea typeface="+mn-ea"/>
                <a:cs typeface="+mn-cs"/>
              </a:rPr>
              <a:t>ALL_SALES(</a:t>
            </a:r>
            <a:r>
              <a:rPr lang="en-US" sz="1200" b="1" i="0" u="sng" kern="1200" dirty="0" err="1">
                <a:solidFill>
                  <a:schemeClr val="tx1"/>
                </a:solidFill>
                <a:effectLst/>
                <a:latin typeface="+mn-lt"/>
                <a:ea typeface="+mn-ea"/>
                <a:cs typeface="+mn-cs"/>
              </a:rPr>
              <a:t>SaleNo</a:t>
            </a:r>
            <a:r>
              <a:rPr lang="en-US" sz="1200" b="1" i="0" u="sng" kern="1200" dirty="0">
                <a:solidFill>
                  <a:schemeClr val="tx1"/>
                </a:solidFill>
                <a:effectLst/>
                <a:latin typeface="+mn-lt"/>
                <a:ea typeface="+mn-ea"/>
                <a:cs typeface="+mn-cs"/>
              </a:rPr>
              <a:t>, </a:t>
            </a:r>
            <a:r>
              <a:rPr lang="en-US" sz="1200" b="1" i="0" u="sng" kern="1200" dirty="0" err="1">
                <a:solidFill>
                  <a:schemeClr val="tx1"/>
                </a:solidFill>
                <a:effectLst/>
                <a:latin typeface="+mn-lt"/>
                <a:ea typeface="+mn-ea"/>
                <a:cs typeface="+mn-cs"/>
              </a:rPr>
              <a:t>ProductNo</a:t>
            </a:r>
            <a:r>
              <a:rPr lang="en-US" sz="1200" b="1" i="0" u="sng" kern="1200" dirty="0">
                <a:solidFill>
                  <a:schemeClr val="tx1"/>
                </a:solidFill>
                <a:effectLst/>
                <a:latin typeface="+mn-lt"/>
                <a:ea typeface="+mn-ea"/>
                <a:cs typeface="+mn-cs"/>
              </a:rPr>
              <a:t>, </a:t>
            </a:r>
            <a:r>
              <a:rPr lang="en-US" sz="1200" b="1" i="0" u="sng" kern="1200" dirty="0" err="1">
                <a:solidFill>
                  <a:schemeClr val="tx1"/>
                </a:solidFill>
                <a:effectLst/>
                <a:latin typeface="+mn-lt"/>
                <a:ea typeface="+mn-ea"/>
                <a:cs typeface="+mn-cs"/>
              </a:rPr>
              <a:t>CustomerNo</a:t>
            </a:r>
            <a:r>
              <a:rPr lang="en-US" sz="1200" b="1" i="0" kern="1200" dirty="0">
                <a:solidFill>
                  <a:schemeClr val="tx1"/>
                </a:solidFill>
                <a:effectLst/>
                <a:latin typeface="+mn-lt"/>
                <a:ea typeface="+mn-ea"/>
                <a:cs typeface="+mn-cs"/>
              </a:rPr>
              <a:t>, </a:t>
            </a:r>
            <a:r>
              <a:rPr lang="en-US" sz="1200" b="1" i="0" kern="1200" dirty="0" err="1">
                <a:solidFill>
                  <a:schemeClr val="tx1"/>
                </a:solidFill>
                <a:effectLst/>
                <a:latin typeface="+mn-lt"/>
                <a:ea typeface="+mn-ea"/>
                <a:cs typeface="+mn-cs"/>
              </a:rPr>
              <a:t>SaleDate</a:t>
            </a:r>
            <a:r>
              <a:rPr lang="en-US" sz="1200" b="1" i="0" kern="1200" dirty="0">
                <a:solidFill>
                  <a:schemeClr val="tx1"/>
                </a:solidFill>
                <a:effectLst/>
                <a:latin typeface="+mn-lt"/>
                <a:ea typeface="+mn-ea"/>
                <a:cs typeface="+mn-cs"/>
              </a:rPr>
              <a:t>, </a:t>
            </a:r>
            <a:r>
              <a:rPr lang="en-US" sz="1200" b="1" i="0" kern="1200" dirty="0" err="1">
                <a:solidFill>
                  <a:schemeClr val="tx1"/>
                </a:solidFill>
                <a:effectLst/>
                <a:latin typeface="+mn-lt"/>
                <a:ea typeface="+mn-ea"/>
                <a:cs typeface="+mn-cs"/>
              </a:rPr>
              <a:t>QtyInStock</a:t>
            </a:r>
            <a:r>
              <a:rPr lang="en-US" sz="1200" b="1" i="0" kern="1200" dirty="0">
                <a:solidFill>
                  <a:schemeClr val="tx1"/>
                </a:solidFill>
                <a:effectLst/>
                <a:latin typeface="+mn-lt"/>
                <a:ea typeface="+mn-ea"/>
                <a:cs typeface="+mn-cs"/>
              </a:rPr>
              <a:t>, Description, Price, </a:t>
            </a:r>
            <a:r>
              <a:rPr lang="en-US" sz="1200" b="1" i="0" kern="1200" dirty="0" err="1">
                <a:solidFill>
                  <a:schemeClr val="tx1"/>
                </a:solidFill>
                <a:effectLst/>
                <a:latin typeface="+mn-lt"/>
                <a:ea typeface="+mn-ea"/>
                <a:cs typeface="+mn-cs"/>
              </a:rPr>
              <a:t>Customer_Name</a:t>
            </a:r>
            <a:r>
              <a:rPr lang="en-US" sz="1200" b="1" i="0" kern="1200" dirty="0">
                <a:solidFill>
                  <a:schemeClr val="tx1"/>
                </a:solidFill>
                <a:effectLst/>
                <a:latin typeface="+mn-lt"/>
                <a:ea typeface="+mn-ea"/>
                <a:cs typeface="+mn-cs"/>
              </a:rPr>
              <a:t>, </a:t>
            </a:r>
            <a:r>
              <a:rPr lang="en-US" sz="1200" b="1" i="0" kern="1200" dirty="0" err="1">
                <a:solidFill>
                  <a:schemeClr val="tx1"/>
                </a:solidFill>
                <a:effectLst/>
                <a:latin typeface="+mn-lt"/>
                <a:ea typeface="+mn-ea"/>
                <a:cs typeface="+mn-cs"/>
              </a:rPr>
              <a:t>Customer_Address</a:t>
            </a:r>
            <a:r>
              <a:rPr lang="en-US" sz="1200" b="1" i="0" kern="1200" dirty="0">
                <a:solidFill>
                  <a:schemeClr val="tx1"/>
                </a:solidFill>
                <a:effectLst/>
                <a:latin typeface="+mn-lt"/>
                <a:ea typeface="+mn-ea"/>
                <a:cs typeface="+mn-cs"/>
              </a:rPr>
              <a:t>, </a:t>
            </a:r>
            <a:r>
              <a:rPr lang="en-US" sz="1200" b="1" i="0" kern="1200" dirty="0" err="1">
                <a:solidFill>
                  <a:schemeClr val="tx1"/>
                </a:solidFill>
                <a:effectLst/>
                <a:latin typeface="+mn-lt"/>
                <a:ea typeface="+mn-ea"/>
                <a:cs typeface="+mn-cs"/>
              </a:rPr>
              <a:t>CreditLimit</a:t>
            </a:r>
            <a:r>
              <a:rPr lang="en-US" sz="1200" b="1" i="0" kern="1200" dirty="0">
                <a:solidFill>
                  <a:schemeClr val="tx1"/>
                </a:solidFill>
                <a:effectLst/>
                <a:latin typeface="+mn-lt"/>
                <a:ea typeface="+mn-ea"/>
                <a:cs typeface="+mn-cs"/>
              </a:rPr>
              <a:t>, Amount, </a:t>
            </a:r>
            <a:r>
              <a:rPr lang="en-US" sz="1200" b="1" i="0" kern="1200" dirty="0" err="1">
                <a:solidFill>
                  <a:schemeClr val="tx1"/>
                </a:solidFill>
                <a:effectLst/>
                <a:latin typeface="+mn-lt"/>
                <a:ea typeface="+mn-ea"/>
                <a:cs typeface="+mn-cs"/>
              </a:rPr>
              <a:t>Salesr</a:t>
            </a:r>
            <a:endParaRPr lang="en-US" sz="1200" b="1" i="0" kern="1200" dirty="0">
              <a:solidFill>
                <a:schemeClr val="tx1"/>
              </a:solidFill>
              <a:effectLst/>
              <a:latin typeface="+mn-lt"/>
              <a:ea typeface="+mn-ea"/>
              <a:cs typeface="+mn-cs"/>
            </a:endParaRPr>
          </a:p>
          <a:p>
            <a:endParaRPr lang="en-US" dirty="0"/>
          </a:p>
        </p:txBody>
      </p:sp>
      <p:sp>
        <p:nvSpPr>
          <p:cNvPr id="4" name="Slide Number Placeholder 3"/>
          <p:cNvSpPr>
            <a:spLocks noGrp="1"/>
          </p:cNvSpPr>
          <p:nvPr>
            <p:ph type="sldNum" sz="quarter" idx="5"/>
          </p:nvPr>
        </p:nvSpPr>
        <p:spPr/>
        <p:txBody>
          <a:bodyPr/>
          <a:lstStyle/>
          <a:p>
            <a:fld id="{EF7565D7-C2AB-4CDD-97A1-0422B6964B36}" type="slidenum">
              <a:rPr lang="en-US" altLang="en-US" smtClean="0"/>
              <a:pPr/>
              <a:t>28</a:t>
            </a:fld>
            <a:endParaRPr lang="en-US" altLang="en-US"/>
          </a:p>
        </p:txBody>
      </p:sp>
    </p:spTree>
    <p:extLst>
      <p:ext uri="{BB962C8B-B14F-4D97-AF65-F5344CB8AC3E}">
        <p14:creationId xmlns:p14="http://schemas.microsoft.com/office/powerpoint/2010/main" val="3575546595"/>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rtl="1"/>
            <a:r>
              <a:rPr lang="fa-IR" sz="1200" b="0" i="0" kern="1200" dirty="0">
                <a:solidFill>
                  <a:schemeClr val="tx1"/>
                </a:solidFill>
                <a:effectLst/>
                <a:latin typeface="+mn-lt"/>
                <a:ea typeface="+mn-ea"/>
                <a:cs typeface="+mn-cs"/>
              </a:rPr>
              <a:t>ترکيب غير تکراری </a:t>
            </a:r>
            <a:r>
              <a:rPr lang="en-US" sz="1200" b="0" i="0" kern="1200" dirty="0" err="1">
                <a:solidFill>
                  <a:schemeClr val="tx1"/>
                </a:solidFill>
                <a:effectLst/>
                <a:latin typeface="+mn-lt"/>
                <a:ea typeface="+mn-ea"/>
                <a:cs typeface="+mn-cs"/>
              </a:rPr>
              <a:t>ProductNo+CustomerNo+SaleNo</a:t>
            </a:r>
            <a:r>
              <a:rPr lang="en-US" sz="1200" b="0" i="0" kern="1200" dirty="0">
                <a:solidFill>
                  <a:schemeClr val="tx1"/>
                </a:solidFill>
                <a:effectLst/>
                <a:latin typeface="+mn-lt"/>
                <a:ea typeface="+mn-ea"/>
                <a:cs typeface="+mn-cs"/>
              </a:rPr>
              <a:t> </a:t>
            </a:r>
            <a:r>
              <a:rPr lang="fa-IR" sz="1200" b="0" i="0" kern="1200" dirty="0">
                <a:solidFill>
                  <a:schemeClr val="tx1"/>
                </a:solidFill>
                <a:effectLst/>
                <a:latin typeface="+mn-lt"/>
                <a:ea typeface="+mn-ea"/>
                <a:cs typeface="+mn-cs"/>
              </a:rPr>
              <a:t>را می توان کليد اصلی درنظر گرفت.</a:t>
            </a:r>
          </a:p>
          <a:p>
            <a:pPr rtl="0"/>
            <a:r>
              <a:rPr lang="en-US" sz="1200" b="1" i="0" kern="1200" dirty="0">
                <a:solidFill>
                  <a:schemeClr val="tx1"/>
                </a:solidFill>
                <a:effectLst/>
                <a:latin typeface="+mn-lt"/>
                <a:ea typeface="+mn-ea"/>
                <a:cs typeface="+mn-cs"/>
              </a:rPr>
              <a:t>ALL_SALES(</a:t>
            </a:r>
            <a:r>
              <a:rPr lang="en-US" sz="1200" b="1" i="0" u="sng" kern="1200" dirty="0" err="1">
                <a:solidFill>
                  <a:schemeClr val="tx1"/>
                </a:solidFill>
                <a:effectLst/>
                <a:latin typeface="+mn-lt"/>
                <a:ea typeface="+mn-ea"/>
                <a:cs typeface="+mn-cs"/>
              </a:rPr>
              <a:t>SaleNo</a:t>
            </a:r>
            <a:r>
              <a:rPr lang="en-US" sz="1200" b="1" i="0" u="sng" kern="1200" dirty="0">
                <a:solidFill>
                  <a:schemeClr val="tx1"/>
                </a:solidFill>
                <a:effectLst/>
                <a:latin typeface="+mn-lt"/>
                <a:ea typeface="+mn-ea"/>
                <a:cs typeface="+mn-cs"/>
              </a:rPr>
              <a:t>, </a:t>
            </a:r>
            <a:r>
              <a:rPr lang="en-US" sz="1200" b="1" i="0" u="sng" kern="1200" dirty="0" err="1">
                <a:solidFill>
                  <a:schemeClr val="tx1"/>
                </a:solidFill>
                <a:effectLst/>
                <a:latin typeface="+mn-lt"/>
                <a:ea typeface="+mn-ea"/>
                <a:cs typeface="+mn-cs"/>
              </a:rPr>
              <a:t>ProductNo</a:t>
            </a:r>
            <a:r>
              <a:rPr lang="en-US" sz="1200" b="1" i="0" u="sng" kern="1200" dirty="0">
                <a:solidFill>
                  <a:schemeClr val="tx1"/>
                </a:solidFill>
                <a:effectLst/>
                <a:latin typeface="+mn-lt"/>
                <a:ea typeface="+mn-ea"/>
                <a:cs typeface="+mn-cs"/>
              </a:rPr>
              <a:t>, </a:t>
            </a:r>
            <a:r>
              <a:rPr lang="en-US" sz="1200" b="1" i="0" u="sng" kern="1200" dirty="0" err="1">
                <a:solidFill>
                  <a:schemeClr val="tx1"/>
                </a:solidFill>
                <a:effectLst/>
                <a:latin typeface="+mn-lt"/>
                <a:ea typeface="+mn-ea"/>
                <a:cs typeface="+mn-cs"/>
              </a:rPr>
              <a:t>CustomerNo</a:t>
            </a:r>
            <a:r>
              <a:rPr lang="en-US" sz="1200" b="1" i="0" kern="1200" dirty="0">
                <a:solidFill>
                  <a:schemeClr val="tx1"/>
                </a:solidFill>
                <a:effectLst/>
                <a:latin typeface="+mn-lt"/>
                <a:ea typeface="+mn-ea"/>
                <a:cs typeface="+mn-cs"/>
              </a:rPr>
              <a:t>, </a:t>
            </a:r>
            <a:r>
              <a:rPr lang="en-US" sz="1200" b="1" i="0" kern="1200" dirty="0" err="1">
                <a:solidFill>
                  <a:schemeClr val="tx1"/>
                </a:solidFill>
                <a:effectLst/>
                <a:latin typeface="+mn-lt"/>
                <a:ea typeface="+mn-ea"/>
                <a:cs typeface="+mn-cs"/>
              </a:rPr>
              <a:t>SaleDate</a:t>
            </a:r>
            <a:r>
              <a:rPr lang="en-US" sz="1200" b="1" i="0" kern="1200" dirty="0">
                <a:solidFill>
                  <a:schemeClr val="tx1"/>
                </a:solidFill>
                <a:effectLst/>
                <a:latin typeface="+mn-lt"/>
                <a:ea typeface="+mn-ea"/>
                <a:cs typeface="+mn-cs"/>
              </a:rPr>
              <a:t>, </a:t>
            </a:r>
            <a:r>
              <a:rPr lang="en-US" sz="1200" b="1" i="0" kern="1200" dirty="0" err="1">
                <a:solidFill>
                  <a:schemeClr val="tx1"/>
                </a:solidFill>
                <a:effectLst/>
                <a:latin typeface="+mn-lt"/>
                <a:ea typeface="+mn-ea"/>
                <a:cs typeface="+mn-cs"/>
              </a:rPr>
              <a:t>QtyInStock</a:t>
            </a:r>
            <a:r>
              <a:rPr lang="en-US" sz="1200" b="1" i="0" kern="1200" dirty="0">
                <a:solidFill>
                  <a:schemeClr val="tx1"/>
                </a:solidFill>
                <a:effectLst/>
                <a:latin typeface="+mn-lt"/>
                <a:ea typeface="+mn-ea"/>
                <a:cs typeface="+mn-cs"/>
              </a:rPr>
              <a:t>, Description, Price, </a:t>
            </a:r>
            <a:r>
              <a:rPr lang="en-US" sz="1200" b="1" i="0" kern="1200" dirty="0" err="1">
                <a:solidFill>
                  <a:schemeClr val="tx1"/>
                </a:solidFill>
                <a:effectLst/>
                <a:latin typeface="+mn-lt"/>
                <a:ea typeface="+mn-ea"/>
                <a:cs typeface="+mn-cs"/>
              </a:rPr>
              <a:t>Customer_Name</a:t>
            </a:r>
            <a:r>
              <a:rPr lang="en-US" sz="1200" b="1" i="0" kern="1200" dirty="0">
                <a:solidFill>
                  <a:schemeClr val="tx1"/>
                </a:solidFill>
                <a:effectLst/>
                <a:latin typeface="+mn-lt"/>
                <a:ea typeface="+mn-ea"/>
                <a:cs typeface="+mn-cs"/>
              </a:rPr>
              <a:t>, </a:t>
            </a:r>
            <a:r>
              <a:rPr lang="en-US" sz="1200" b="1" i="0" kern="1200" dirty="0" err="1">
                <a:solidFill>
                  <a:schemeClr val="tx1"/>
                </a:solidFill>
                <a:effectLst/>
                <a:latin typeface="+mn-lt"/>
                <a:ea typeface="+mn-ea"/>
                <a:cs typeface="+mn-cs"/>
              </a:rPr>
              <a:t>Customer_Address</a:t>
            </a:r>
            <a:r>
              <a:rPr lang="en-US" sz="1200" b="1" i="0" kern="1200" dirty="0">
                <a:solidFill>
                  <a:schemeClr val="tx1"/>
                </a:solidFill>
                <a:effectLst/>
                <a:latin typeface="+mn-lt"/>
                <a:ea typeface="+mn-ea"/>
                <a:cs typeface="+mn-cs"/>
              </a:rPr>
              <a:t>, </a:t>
            </a:r>
            <a:r>
              <a:rPr lang="en-US" sz="1200" b="1" i="0" kern="1200" dirty="0" err="1">
                <a:solidFill>
                  <a:schemeClr val="tx1"/>
                </a:solidFill>
                <a:effectLst/>
                <a:latin typeface="+mn-lt"/>
                <a:ea typeface="+mn-ea"/>
                <a:cs typeface="+mn-cs"/>
              </a:rPr>
              <a:t>CreditLimit</a:t>
            </a:r>
            <a:r>
              <a:rPr lang="en-US" sz="1200" b="1" i="0" kern="1200" dirty="0">
                <a:solidFill>
                  <a:schemeClr val="tx1"/>
                </a:solidFill>
                <a:effectLst/>
                <a:latin typeface="+mn-lt"/>
                <a:ea typeface="+mn-ea"/>
                <a:cs typeface="+mn-cs"/>
              </a:rPr>
              <a:t>, Amount, </a:t>
            </a:r>
            <a:r>
              <a:rPr lang="en-US" sz="1200" b="1" i="0" kern="1200" dirty="0" err="1">
                <a:solidFill>
                  <a:schemeClr val="tx1"/>
                </a:solidFill>
                <a:effectLst/>
                <a:latin typeface="+mn-lt"/>
                <a:ea typeface="+mn-ea"/>
                <a:cs typeface="+mn-cs"/>
              </a:rPr>
              <a:t>Salesr</a:t>
            </a:r>
            <a:endParaRPr lang="en-US" sz="1200" b="1" i="0" kern="1200" dirty="0">
              <a:solidFill>
                <a:schemeClr val="tx1"/>
              </a:solidFill>
              <a:effectLst/>
              <a:latin typeface="+mn-lt"/>
              <a:ea typeface="+mn-ea"/>
              <a:cs typeface="+mn-cs"/>
            </a:endParaRPr>
          </a:p>
          <a:p>
            <a:endParaRPr lang="en-US" dirty="0"/>
          </a:p>
        </p:txBody>
      </p:sp>
      <p:sp>
        <p:nvSpPr>
          <p:cNvPr id="4" name="Slide Number Placeholder 3"/>
          <p:cNvSpPr>
            <a:spLocks noGrp="1"/>
          </p:cNvSpPr>
          <p:nvPr>
            <p:ph type="sldNum" sz="quarter" idx="5"/>
          </p:nvPr>
        </p:nvSpPr>
        <p:spPr/>
        <p:txBody>
          <a:bodyPr/>
          <a:lstStyle/>
          <a:p>
            <a:fld id="{EF7565D7-C2AB-4CDD-97A1-0422B6964B36}" type="slidenum">
              <a:rPr lang="en-US" altLang="en-US" smtClean="0"/>
              <a:pPr/>
              <a:t>29</a:t>
            </a:fld>
            <a:endParaRPr lang="en-US" altLang="en-US"/>
          </a:p>
        </p:txBody>
      </p:sp>
    </p:spTree>
    <p:extLst>
      <p:ext uri="{BB962C8B-B14F-4D97-AF65-F5344CB8AC3E}">
        <p14:creationId xmlns:p14="http://schemas.microsoft.com/office/powerpoint/2010/main" val="3145091342"/>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fontScale="25000" lnSpcReduction="20000"/>
          </a:bodyPr>
          <a:lstStyle/>
          <a:p>
            <a:pPr marL="0" marR="0" algn="r" rtl="1">
              <a:lnSpc>
                <a:spcPct val="107000"/>
              </a:lnSpc>
              <a:spcBef>
                <a:spcPts val="0"/>
              </a:spcBef>
              <a:spcAft>
                <a:spcPts val="800"/>
              </a:spcAft>
            </a:pPr>
            <a:r>
              <a:rPr lang="en-US" sz="1350" b="1" dirty="0">
                <a:effectLst/>
                <a:latin typeface="Times New Roman" panose="02020603050405020304" pitchFamily="18" charset="0"/>
                <a:ea typeface="Times New Roman" panose="02020603050405020304" pitchFamily="18" charset="0"/>
                <a:cs typeface="Arial" panose="020B0604020202020204" pitchFamily="34" charset="0"/>
              </a:rPr>
              <a:t>1. </a:t>
            </a:r>
            <a:r>
              <a:rPr lang="ar-SA" sz="1350" b="1" dirty="0">
                <a:effectLst/>
                <a:latin typeface="Calibri" panose="020F0502020204030204" pitchFamily="34" charset="0"/>
                <a:ea typeface="Times New Roman" panose="02020603050405020304" pitchFamily="18" charset="0"/>
                <a:cs typeface="Times New Roman" panose="02020603050405020304" pitchFamily="18" charset="0"/>
              </a:rPr>
              <a:t>بررسی 1</a:t>
            </a:r>
            <a:r>
              <a:rPr lang="en-US" sz="1350" b="1" dirty="0">
                <a:effectLst/>
                <a:latin typeface="Times New Roman" panose="02020603050405020304" pitchFamily="18" charset="0"/>
                <a:ea typeface="Times New Roman" panose="02020603050405020304" pitchFamily="18" charset="0"/>
                <a:cs typeface="Arial" panose="020B0604020202020204" pitchFamily="34" charset="0"/>
              </a:rPr>
              <a:t>NF</a:t>
            </a:r>
            <a:endParaRPr lang="en-US" sz="1100" dirty="0">
              <a:effectLst/>
              <a:latin typeface="Calibri" panose="020F0502020204030204" pitchFamily="34" charset="0"/>
              <a:ea typeface="Calibri" panose="020F0502020204030204" pitchFamily="34" charset="0"/>
              <a:cs typeface="Arial" panose="020B0604020202020204" pitchFamily="34" charset="0"/>
            </a:endParaRPr>
          </a:p>
          <a:p>
            <a:pPr marL="342900" marR="0" lvl="0" indent="-342900" algn="r" rtl="1">
              <a:lnSpc>
                <a:spcPct val="107000"/>
              </a:lnSpc>
              <a:spcBef>
                <a:spcPts val="0"/>
              </a:spcBef>
              <a:spcAft>
                <a:spcPts val="800"/>
              </a:spcAft>
              <a:buSzPts val="1000"/>
              <a:buFont typeface="Symbol" panose="05050102010706020507" pitchFamily="18" charset="2"/>
              <a:buChar char=""/>
              <a:tabLst>
                <a:tab pos="457200" algn="l"/>
              </a:tabLst>
            </a:pPr>
            <a:r>
              <a:rPr lang="ar-SA" sz="1200" dirty="0">
                <a:effectLst/>
                <a:latin typeface="Calibri" panose="020F0502020204030204" pitchFamily="34" charset="0"/>
                <a:ea typeface="Times New Roman" panose="02020603050405020304" pitchFamily="18" charset="0"/>
                <a:cs typeface="Times New Roman" panose="02020603050405020304" pitchFamily="18" charset="0"/>
              </a:rPr>
              <a:t>این جدول </a:t>
            </a:r>
            <a:r>
              <a:rPr lang="en-US" sz="1200" b="1" dirty="0">
                <a:effectLst/>
                <a:latin typeface="Times New Roman" panose="02020603050405020304" pitchFamily="18" charset="0"/>
                <a:ea typeface="Times New Roman" panose="02020603050405020304" pitchFamily="18" charset="0"/>
                <a:cs typeface="Arial" panose="020B0604020202020204" pitchFamily="34" charset="0"/>
              </a:rPr>
              <a:t>1NF</a:t>
            </a:r>
            <a:r>
              <a:rPr lang="en-US" sz="1200" dirty="0">
                <a:effectLst/>
                <a:latin typeface="Times New Roman" panose="02020603050405020304" pitchFamily="18" charset="0"/>
                <a:ea typeface="Times New Roman" panose="02020603050405020304" pitchFamily="18" charset="0"/>
                <a:cs typeface="Arial" panose="020B0604020202020204" pitchFamily="34" charset="0"/>
              </a:rPr>
              <a:t> </a:t>
            </a:r>
            <a:r>
              <a:rPr lang="ar-SA" sz="1200" dirty="0">
                <a:effectLst/>
                <a:latin typeface="Calibri" panose="020F0502020204030204" pitchFamily="34" charset="0"/>
                <a:ea typeface="Times New Roman" panose="02020603050405020304" pitchFamily="18" charset="0"/>
                <a:cs typeface="Times New Roman" panose="02020603050405020304" pitchFamily="18" charset="0"/>
              </a:rPr>
              <a:t>را برآورده می‌کند زیرا</a:t>
            </a:r>
            <a:r>
              <a:rPr lang="en-US" sz="1200" dirty="0">
                <a:effectLst/>
                <a:latin typeface="Times New Roman" panose="02020603050405020304" pitchFamily="18" charset="0"/>
                <a:ea typeface="Times New Roman" panose="02020603050405020304" pitchFamily="18" charset="0"/>
                <a:cs typeface="Arial" panose="020B0604020202020204" pitchFamily="34" charset="0"/>
              </a:rPr>
              <a:t>:</a:t>
            </a:r>
            <a:endParaRPr lang="en-US" sz="1100" dirty="0">
              <a:effectLst/>
              <a:latin typeface="Calibri" panose="020F0502020204030204" pitchFamily="34" charset="0"/>
              <a:ea typeface="Calibri" panose="020F0502020204030204" pitchFamily="34" charset="0"/>
              <a:cs typeface="Arial" panose="020B0604020202020204" pitchFamily="34" charset="0"/>
            </a:endParaRPr>
          </a:p>
          <a:p>
            <a:pPr marL="742950" marR="0" lvl="1" indent="-285750" algn="r" rtl="1">
              <a:lnSpc>
                <a:spcPct val="107000"/>
              </a:lnSpc>
              <a:spcBef>
                <a:spcPts val="0"/>
              </a:spcBef>
              <a:spcAft>
                <a:spcPts val="800"/>
              </a:spcAft>
              <a:buSzPts val="1000"/>
              <a:buFont typeface="Courier New" panose="02070309020205020404" pitchFamily="49" charset="0"/>
              <a:buChar char="o"/>
              <a:tabLst>
                <a:tab pos="914400" algn="l"/>
              </a:tabLst>
            </a:pPr>
            <a:r>
              <a:rPr lang="ar-SA" sz="1200" dirty="0">
                <a:effectLst/>
                <a:latin typeface="Calibri" panose="020F0502020204030204" pitchFamily="34" charset="0"/>
                <a:ea typeface="Times New Roman" panose="02020603050405020304" pitchFamily="18" charset="0"/>
                <a:cs typeface="Times New Roman" panose="02020603050405020304" pitchFamily="18" charset="0"/>
              </a:rPr>
              <a:t>تمام مقادیر صفات اتمی هستند</a:t>
            </a:r>
            <a:r>
              <a:rPr lang="en-US" sz="1200" dirty="0">
                <a:effectLst/>
                <a:latin typeface="Times New Roman" panose="02020603050405020304" pitchFamily="18" charset="0"/>
                <a:ea typeface="Times New Roman" panose="02020603050405020304" pitchFamily="18" charset="0"/>
                <a:cs typeface="Times New Roman" panose="02020603050405020304" pitchFamily="18" charset="0"/>
              </a:rPr>
              <a:t>.</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p>
            <a:pPr marL="742950" marR="0" lvl="1" indent="-285750" algn="r" rtl="1">
              <a:lnSpc>
                <a:spcPct val="107000"/>
              </a:lnSpc>
              <a:spcBef>
                <a:spcPts val="0"/>
              </a:spcBef>
              <a:spcAft>
                <a:spcPts val="800"/>
              </a:spcAft>
              <a:buSzPts val="1000"/>
              <a:buFont typeface="Courier New" panose="02070309020205020404" pitchFamily="49" charset="0"/>
              <a:buChar char="o"/>
              <a:tabLst>
                <a:tab pos="914400" algn="l"/>
              </a:tabLst>
            </a:pPr>
            <a:r>
              <a:rPr lang="ar-SA" sz="1200" dirty="0">
                <a:effectLst/>
                <a:latin typeface="Calibri" panose="020F0502020204030204" pitchFamily="34" charset="0"/>
                <a:ea typeface="Times New Roman" panose="02020603050405020304" pitchFamily="18" charset="0"/>
                <a:cs typeface="Times New Roman" panose="02020603050405020304" pitchFamily="18" charset="0"/>
              </a:rPr>
              <a:t>گروه‌های تکراری یا آرایه‌ای وجود ندارند</a:t>
            </a:r>
            <a:r>
              <a:rPr lang="en-US" sz="1200" dirty="0">
                <a:effectLst/>
                <a:latin typeface="Times New Roman" panose="02020603050405020304" pitchFamily="18" charset="0"/>
                <a:ea typeface="Times New Roman" panose="02020603050405020304" pitchFamily="18" charset="0"/>
                <a:cs typeface="Times New Roman" panose="02020603050405020304" pitchFamily="18" charset="0"/>
              </a:rPr>
              <a:t>.</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p>
            <a:pPr marL="742950" marR="0" lvl="1" indent="-285750" algn="r" rtl="1">
              <a:lnSpc>
                <a:spcPct val="107000"/>
              </a:lnSpc>
              <a:spcBef>
                <a:spcPts val="0"/>
              </a:spcBef>
              <a:spcAft>
                <a:spcPts val="800"/>
              </a:spcAft>
              <a:buSzPts val="1000"/>
              <a:buFont typeface="Courier New" panose="02070309020205020404" pitchFamily="49" charset="0"/>
              <a:buChar char="o"/>
              <a:tabLst>
                <a:tab pos="914400" algn="l"/>
              </a:tabLst>
            </a:pPr>
            <a:r>
              <a:rPr lang="ar-SA" sz="1200" dirty="0">
                <a:effectLst/>
                <a:latin typeface="Calibri" panose="020F0502020204030204" pitchFamily="34" charset="0"/>
                <a:ea typeface="Times New Roman" panose="02020603050405020304" pitchFamily="18" charset="0"/>
                <a:cs typeface="Times New Roman" panose="02020603050405020304" pitchFamily="18" charset="0"/>
              </a:rPr>
              <a:t>هر ردیف با کلید اصلی </a:t>
            </a:r>
            <a:r>
              <a:rPr lang="en-US" sz="1000" dirty="0">
                <a:effectLst/>
                <a:latin typeface="Courier New" panose="02070309020205020404" pitchFamily="49" charset="0"/>
                <a:ea typeface="Times New Roman" panose="02020603050405020304" pitchFamily="18" charset="0"/>
                <a:cs typeface="Times New Roman" panose="02020603050405020304" pitchFamily="18" charset="0"/>
              </a:rPr>
              <a:t>Prof#</a:t>
            </a:r>
            <a:r>
              <a:rPr lang="en-US" sz="12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ar-SA" sz="1200" dirty="0">
                <a:effectLst/>
                <a:latin typeface="Calibri" panose="020F0502020204030204" pitchFamily="34" charset="0"/>
                <a:ea typeface="Times New Roman" panose="02020603050405020304" pitchFamily="18" charset="0"/>
                <a:cs typeface="Times New Roman" panose="02020603050405020304" pitchFamily="18" charset="0"/>
              </a:rPr>
              <a:t>به‌طور یکتا شناسایی می‌شود</a:t>
            </a:r>
            <a:r>
              <a:rPr lang="en-US" sz="1200" dirty="0">
                <a:effectLst/>
                <a:latin typeface="Times New Roman" panose="02020603050405020304" pitchFamily="18" charset="0"/>
                <a:ea typeface="Times New Roman" panose="02020603050405020304" pitchFamily="18" charset="0"/>
                <a:cs typeface="Times New Roman" panose="02020603050405020304" pitchFamily="18" charset="0"/>
              </a:rPr>
              <a:t>.</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p>
            <a:pPr marL="0" marR="0" algn="r" rtl="1">
              <a:lnSpc>
                <a:spcPct val="107000"/>
              </a:lnSpc>
              <a:spcBef>
                <a:spcPts val="0"/>
              </a:spcBef>
              <a:spcAft>
                <a:spcPts val="800"/>
              </a:spcAft>
            </a:pPr>
            <a:r>
              <a:rPr lang="en-US" sz="1350" b="1" dirty="0">
                <a:effectLst/>
                <a:latin typeface="Times New Roman" panose="02020603050405020304" pitchFamily="18" charset="0"/>
                <a:ea typeface="Times New Roman" panose="02020603050405020304" pitchFamily="18" charset="0"/>
                <a:cs typeface="Arial" panose="020B0604020202020204" pitchFamily="34" charset="0"/>
              </a:rPr>
              <a:t>2. </a:t>
            </a:r>
            <a:r>
              <a:rPr lang="ar-SA" sz="1350" b="1" dirty="0">
                <a:effectLst/>
                <a:latin typeface="Calibri" panose="020F0502020204030204" pitchFamily="34" charset="0"/>
                <a:ea typeface="Times New Roman" panose="02020603050405020304" pitchFamily="18" charset="0"/>
                <a:cs typeface="Times New Roman" panose="02020603050405020304" pitchFamily="18" charset="0"/>
              </a:rPr>
              <a:t>بررسی 2</a:t>
            </a:r>
            <a:r>
              <a:rPr lang="en-US" sz="1350" b="1" dirty="0">
                <a:effectLst/>
                <a:latin typeface="Times New Roman" panose="02020603050405020304" pitchFamily="18" charset="0"/>
                <a:ea typeface="Times New Roman" panose="02020603050405020304" pitchFamily="18" charset="0"/>
                <a:cs typeface="Arial" panose="020B0604020202020204" pitchFamily="34" charset="0"/>
              </a:rPr>
              <a:t>NF</a:t>
            </a:r>
            <a:endParaRPr lang="en-US" sz="1100" dirty="0">
              <a:effectLst/>
              <a:latin typeface="Calibri" panose="020F0502020204030204" pitchFamily="34" charset="0"/>
              <a:ea typeface="Calibri" panose="020F0502020204030204" pitchFamily="34" charset="0"/>
              <a:cs typeface="Arial" panose="020B0604020202020204" pitchFamily="34" charset="0"/>
            </a:endParaRPr>
          </a:p>
          <a:p>
            <a:pPr marL="342900" marR="0" lvl="0" indent="-342900" algn="r" rtl="1">
              <a:lnSpc>
                <a:spcPct val="107000"/>
              </a:lnSpc>
              <a:spcBef>
                <a:spcPts val="0"/>
              </a:spcBef>
              <a:spcAft>
                <a:spcPts val="800"/>
              </a:spcAft>
              <a:buSzPts val="1000"/>
              <a:buFont typeface="Symbol" panose="05050102010706020507" pitchFamily="18" charset="2"/>
              <a:buChar char=""/>
              <a:tabLst>
                <a:tab pos="457200" algn="l"/>
              </a:tabLst>
            </a:pPr>
            <a:r>
              <a:rPr lang="ar-SA" sz="1200" dirty="0">
                <a:effectLst/>
                <a:latin typeface="Calibri" panose="020F0502020204030204" pitchFamily="34" charset="0"/>
                <a:ea typeface="Times New Roman" panose="02020603050405020304" pitchFamily="18" charset="0"/>
                <a:cs typeface="Times New Roman" panose="02020603050405020304" pitchFamily="18" charset="0"/>
              </a:rPr>
              <a:t>فرض می‌کنیم </a:t>
            </a:r>
            <a:r>
              <a:rPr lang="en-US" sz="1000" dirty="0">
                <a:effectLst/>
                <a:latin typeface="Courier New" panose="02070309020205020404" pitchFamily="49" charset="0"/>
                <a:ea typeface="Times New Roman" panose="02020603050405020304" pitchFamily="18" charset="0"/>
                <a:cs typeface="Arial" panose="020B0604020202020204" pitchFamily="34" charset="0"/>
              </a:rPr>
              <a:t>Prof#</a:t>
            </a:r>
            <a:r>
              <a:rPr lang="en-US" sz="1200" dirty="0">
                <a:effectLst/>
                <a:latin typeface="Times New Roman" panose="02020603050405020304" pitchFamily="18" charset="0"/>
                <a:ea typeface="Times New Roman" panose="02020603050405020304" pitchFamily="18" charset="0"/>
                <a:cs typeface="Arial" panose="020B0604020202020204" pitchFamily="34" charset="0"/>
              </a:rPr>
              <a:t> </a:t>
            </a:r>
            <a:r>
              <a:rPr lang="ar-SA" sz="1200" dirty="0">
                <a:effectLst/>
                <a:latin typeface="Calibri" panose="020F0502020204030204" pitchFamily="34" charset="0"/>
                <a:ea typeface="Times New Roman" panose="02020603050405020304" pitchFamily="18" charset="0"/>
                <a:cs typeface="Times New Roman" panose="02020603050405020304" pitchFamily="18" charset="0"/>
              </a:rPr>
              <a:t>کلید اصلی است</a:t>
            </a:r>
            <a:r>
              <a:rPr lang="en-US" sz="1200" dirty="0">
                <a:effectLst/>
                <a:latin typeface="Times New Roman" panose="02020603050405020304" pitchFamily="18" charset="0"/>
                <a:ea typeface="Times New Roman" panose="02020603050405020304" pitchFamily="18" charset="0"/>
                <a:cs typeface="Arial" panose="020B0604020202020204" pitchFamily="34" charset="0"/>
              </a:rPr>
              <a:t>:</a:t>
            </a:r>
            <a:endParaRPr lang="en-US" sz="1100" dirty="0">
              <a:effectLst/>
              <a:latin typeface="Calibri" panose="020F0502020204030204" pitchFamily="34" charset="0"/>
              <a:ea typeface="Calibri" panose="020F0502020204030204" pitchFamily="34" charset="0"/>
              <a:cs typeface="Arial" panose="020B0604020202020204" pitchFamily="34" charset="0"/>
            </a:endParaRPr>
          </a:p>
          <a:p>
            <a:pPr marL="742950" marR="0" lvl="1" indent="-285750" algn="r" rtl="1">
              <a:lnSpc>
                <a:spcPct val="107000"/>
              </a:lnSpc>
              <a:spcBef>
                <a:spcPts val="0"/>
              </a:spcBef>
              <a:spcAft>
                <a:spcPts val="800"/>
              </a:spcAft>
              <a:buSzPts val="1000"/>
              <a:buFont typeface="Courier New" panose="02070309020205020404" pitchFamily="49" charset="0"/>
              <a:buChar char="o"/>
              <a:tabLst>
                <a:tab pos="914400" algn="l"/>
              </a:tabLst>
            </a:pPr>
            <a:r>
              <a:rPr lang="en-US" sz="1000" dirty="0" err="1">
                <a:effectLst/>
                <a:latin typeface="Courier New" panose="02070309020205020404" pitchFamily="49" charset="0"/>
                <a:ea typeface="Times New Roman" panose="02020603050405020304" pitchFamily="18" charset="0"/>
                <a:cs typeface="Times New Roman" panose="02020603050405020304" pitchFamily="18" charset="0"/>
              </a:rPr>
              <a:t>Pname</a:t>
            </a:r>
            <a:r>
              <a:rPr lang="en-US" sz="12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ar-SA" sz="1200" dirty="0">
                <a:effectLst/>
                <a:latin typeface="Calibri" panose="020F0502020204030204" pitchFamily="34" charset="0"/>
                <a:ea typeface="Times New Roman" panose="02020603050405020304" pitchFamily="18" charset="0"/>
                <a:cs typeface="Times New Roman" panose="02020603050405020304" pitchFamily="18" charset="0"/>
              </a:rPr>
              <a:t>به طور مستقیم به </a:t>
            </a:r>
            <a:r>
              <a:rPr lang="en-US" sz="1000" dirty="0">
                <a:effectLst/>
                <a:latin typeface="Courier New" panose="02070309020205020404" pitchFamily="49" charset="0"/>
                <a:ea typeface="Times New Roman" panose="02020603050405020304" pitchFamily="18" charset="0"/>
                <a:cs typeface="Times New Roman" panose="02020603050405020304" pitchFamily="18" charset="0"/>
              </a:rPr>
              <a:t>Prof#</a:t>
            </a:r>
            <a:r>
              <a:rPr lang="en-US" sz="12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ar-SA" sz="1200" dirty="0">
                <a:effectLst/>
                <a:latin typeface="Calibri" panose="020F0502020204030204" pitchFamily="34" charset="0"/>
                <a:ea typeface="Times New Roman" panose="02020603050405020304" pitchFamily="18" charset="0"/>
                <a:cs typeface="Times New Roman" panose="02020603050405020304" pitchFamily="18" charset="0"/>
              </a:rPr>
              <a:t>وابسته است (توسط شماره پروفسور تعیین می‌شود)</a:t>
            </a:r>
            <a:r>
              <a:rPr lang="en-US" sz="1200" dirty="0">
                <a:effectLst/>
                <a:latin typeface="Times New Roman" panose="02020603050405020304" pitchFamily="18" charset="0"/>
                <a:ea typeface="Times New Roman" panose="02020603050405020304" pitchFamily="18" charset="0"/>
                <a:cs typeface="Times New Roman" panose="02020603050405020304" pitchFamily="18" charset="0"/>
              </a:rPr>
              <a:t>.</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p>
            <a:pPr marL="742950" marR="0" lvl="1" indent="-285750" algn="r" rtl="1">
              <a:lnSpc>
                <a:spcPct val="107000"/>
              </a:lnSpc>
              <a:spcBef>
                <a:spcPts val="0"/>
              </a:spcBef>
              <a:spcAft>
                <a:spcPts val="800"/>
              </a:spcAft>
              <a:buSzPts val="1000"/>
              <a:buFont typeface="Courier New" panose="02070309020205020404" pitchFamily="49" charset="0"/>
              <a:buChar char="o"/>
              <a:tabLst>
                <a:tab pos="914400" algn="l"/>
              </a:tabLst>
            </a:pPr>
            <a:r>
              <a:rPr lang="en-US" sz="1000" dirty="0" err="1">
                <a:effectLst/>
                <a:latin typeface="Courier New" panose="02070309020205020404" pitchFamily="49" charset="0"/>
                <a:ea typeface="Times New Roman" panose="02020603050405020304" pitchFamily="18" charset="0"/>
                <a:cs typeface="Times New Roman" panose="02020603050405020304" pitchFamily="18" charset="0"/>
              </a:rPr>
              <a:t>LastDegreeId</a:t>
            </a:r>
            <a:r>
              <a:rPr lang="en-US" sz="12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ar-SA" sz="1200" dirty="0">
                <a:effectLst/>
                <a:latin typeface="Calibri" panose="020F0502020204030204" pitchFamily="34" charset="0"/>
                <a:ea typeface="Times New Roman" panose="02020603050405020304" pitchFamily="18" charset="0"/>
                <a:cs typeface="Times New Roman" panose="02020603050405020304" pitchFamily="18" charset="0"/>
              </a:rPr>
              <a:t>به </a:t>
            </a:r>
            <a:r>
              <a:rPr lang="en-US" sz="1000" dirty="0">
                <a:effectLst/>
                <a:latin typeface="Courier New" panose="02070309020205020404" pitchFamily="49" charset="0"/>
                <a:ea typeface="Times New Roman" panose="02020603050405020304" pitchFamily="18" charset="0"/>
                <a:cs typeface="Times New Roman" panose="02020603050405020304" pitchFamily="18" charset="0"/>
              </a:rPr>
              <a:t>Prof#</a:t>
            </a:r>
            <a:r>
              <a:rPr lang="en-US" sz="12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ar-SA" sz="1200" dirty="0">
                <a:effectLst/>
                <a:latin typeface="Calibri" panose="020F0502020204030204" pitchFamily="34" charset="0"/>
                <a:ea typeface="Times New Roman" panose="02020603050405020304" pitchFamily="18" charset="0"/>
                <a:cs typeface="Times New Roman" panose="02020603050405020304" pitchFamily="18" charset="0"/>
              </a:rPr>
              <a:t>وابسته است</a:t>
            </a:r>
            <a:r>
              <a:rPr lang="en-US" sz="1200" dirty="0">
                <a:effectLst/>
                <a:latin typeface="Times New Roman" panose="02020603050405020304" pitchFamily="18" charset="0"/>
                <a:ea typeface="Times New Roman" panose="02020603050405020304" pitchFamily="18" charset="0"/>
                <a:cs typeface="Times New Roman" panose="02020603050405020304" pitchFamily="18" charset="0"/>
              </a:rPr>
              <a:t>.</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p>
            <a:pPr marL="742950" marR="0" lvl="1" indent="-285750" algn="r" rtl="1">
              <a:lnSpc>
                <a:spcPct val="107000"/>
              </a:lnSpc>
              <a:spcBef>
                <a:spcPts val="0"/>
              </a:spcBef>
              <a:spcAft>
                <a:spcPts val="800"/>
              </a:spcAft>
              <a:buSzPts val="1000"/>
              <a:buFont typeface="Courier New" panose="02070309020205020404" pitchFamily="49" charset="0"/>
              <a:buChar char="o"/>
              <a:tabLst>
                <a:tab pos="914400" algn="l"/>
              </a:tabLst>
            </a:pPr>
            <a:r>
              <a:rPr lang="en-US" sz="1000" b="1" dirty="0" err="1">
                <a:effectLst/>
                <a:latin typeface="Courier New" panose="02070309020205020404" pitchFamily="49" charset="0"/>
                <a:ea typeface="Times New Roman" panose="02020603050405020304" pitchFamily="18" charset="0"/>
                <a:cs typeface="Times New Roman" panose="02020603050405020304" pitchFamily="18" charset="0"/>
              </a:rPr>
              <a:t>LastDegreeName</a:t>
            </a:r>
            <a:r>
              <a:rPr lang="en-US" sz="1200" b="1"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ar-SA" sz="1200" b="1" dirty="0">
                <a:effectLst/>
                <a:latin typeface="Calibri" panose="020F0502020204030204" pitchFamily="34" charset="0"/>
                <a:ea typeface="Times New Roman" panose="02020603050405020304" pitchFamily="18" charset="0"/>
                <a:cs typeface="Times New Roman" panose="02020603050405020304" pitchFamily="18" charset="0"/>
              </a:rPr>
              <a:t>به </a:t>
            </a:r>
            <a:r>
              <a:rPr lang="en-US" sz="1000" b="1" dirty="0" err="1">
                <a:effectLst/>
                <a:latin typeface="Courier New" panose="02070309020205020404" pitchFamily="49" charset="0"/>
                <a:ea typeface="Times New Roman" panose="02020603050405020304" pitchFamily="18" charset="0"/>
                <a:cs typeface="Times New Roman" panose="02020603050405020304" pitchFamily="18" charset="0"/>
              </a:rPr>
              <a:t>LastDegreeId</a:t>
            </a:r>
            <a:r>
              <a:rPr lang="en-US" sz="1200" b="1"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ar-SA" sz="1200" b="1" dirty="0">
                <a:effectLst/>
                <a:latin typeface="Calibri" panose="020F0502020204030204" pitchFamily="34" charset="0"/>
                <a:ea typeface="Times New Roman" panose="02020603050405020304" pitchFamily="18" charset="0"/>
                <a:cs typeface="Times New Roman" panose="02020603050405020304" pitchFamily="18" charset="0"/>
              </a:rPr>
              <a:t>وابسته است</a:t>
            </a:r>
            <a:r>
              <a:rPr lang="ar-SA" sz="1200" dirty="0">
                <a:effectLst/>
                <a:latin typeface="Calibri" panose="020F0502020204030204" pitchFamily="34" charset="0"/>
                <a:ea typeface="Times New Roman" panose="02020603050405020304" pitchFamily="18" charset="0"/>
                <a:cs typeface="Times New Roman" panose="02020603050405020304" pitchFamily="18" charset="0"/>
              </a:rPr>
              <a:t> و مستقیماً به </a:t>
            </a:r>
            <a:r>
              <a:rPr lang="en-US" sz="1000" dirty="0">
                <a:effectLst/>
                <a:latin typeface="Courier New" panose="02070309020205020404" pitchFamily="49" charset="0"/>
                <a:ea typeface="Times New Roman" panose="02020603050405020304" pitchFamily="18" charset="0"/>
                <a:cs typeface="Times New Roman" panose="02020603050405020304" pitchFamily="18" charset="0"/>
              </a:rPr>
              <a:t>Prof#</a:t>
            </a:r>
            <a:r>
              <a:rPr lang="en-US" sz="12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ar-SA" sz="1200" dirty="0">
                <a:effectLst/>
                <a:latin typeface="Calibri" panose="020F0502020204030204" pitchFamily="34" charset="0"/>
                <a:ea typeface="Times New Roman" panose="02020603050405020304" pitchFamily="18" charset="0"/>
                <a:cs typeface="Times New Roman" panose="02020603050405020304" pitchFamily="18" charset="0"/>
              </a:rPr>
              <a:t>وابسته نیست</a:t>
            </a:r>
            <a:r>
              <a:rPr lang="en-US" sz="1200" dirty="0">
                <a:effectLst/>
                <a:latin typeface="Times New Roman" panose="02020603050405020304" pitchFamily="18" charset="0"/>
                <a:ea typeface="Times New Roman" panose="02020603050405020304" pitchFamily="18" charset="0"/>
                <a:cs typeface="Times New Roman" panose="02020603050405020304" pitchFamily="18" charset="0"/>
              </a:rPr>
              <a:t>.</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p>
            <a:pPr marL="742950" marR="0" lvl="1" indent="-285750" algn="r" rtl="1">
              <a:lnSpc>
                <a:spcPct val="107000"/>
              </a:lnSpc>
              <a:spcBef>
                <a:spcPts val="0"/>
              </a:spcBef>
              <a:spcAft>
                <a:spcPts val="800"/>
              </a:spcAft>
              <a:buSzPts val="1000"/>
              <a:buFont typeface="Courier New" panose="02070309020205020404" pitchFamily="49" charset="0"/>
              <a:buChar char="o"/>
              <a:tabLst>
                <a:tab pos="914400" algn="l"/>
              </a:tabLst>
            </a:pPr>
            <a:r>
              <a:rPr lang="ar-SA" sz="1200" dirty="0">
                <a:effectLst/>
                <a:latin typeface="Calibri" panose="020F0502020204030204" pitchFamily="34" charset="0"/>
                <a:ea typeface="Times New Roman" panose="02020603050405020304" pitchFamily="18" charset="0"/>
                <a:cs typeface="Times New Roman" panose="02020603050405020304" pitchFamily="18" charset="0"/>
              </a:rPr>
              <a:t>بنابراین، همه صفات غیر از </a:t>
            </a:r>
            <a:r>
              <a:rPr lang="en-US" sz="1000" dirty="0" err="1">
                <a:effectLst/>
                <a:latin typeface="Courier New" panose="02070309020205020404" pitchFamily="49" charset="0"/>
                <a:ea typeface="Times New Roman" panose="02020603050405020304" pitchFamily="18" charset="0"/>
                <a:cs typeface="Times New Roman" panose="02020603050405020304" pitchFamily="18" charset="0"/>
              </a:rPr>
              <a:t>LastDegreeName</a:t>
            </a:r>
            <a:r>
              <a:rPr lang="en-US" sz="12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ar-SA" sz="1200" dirty="0">
                <a:effectLst/>
                <a:latin typeface="Calibri" panose="020F0502020204030204" pitchFamily="34" charset="0"/>
                <a:ea typeface="Times New Roman" panose="02020603050405020304" pitchFamily="18" charset="0"/>
                <a:cs typeface="Times New Roman" panose="02020603050405020304" pitchFamily="18" charset="0"/>
              </a:rPr>
              <a:t>کاملاً به کلید اصلی وابسته هستند. اما </a:t>
            </a:r>
            <a:r>
              <a:rPr lang="en-US" sz="1000" dirty="0" err="1">
                <a:effectLst/>
                <a:latin typeface="Courier New" panose="02070309020205020404" pitchFamily="49" charset="0"/>
                <a:ea typeface="Times New Roman" panose="02020603050405020304" pitchFamily="18" charset="0"/>
                <a:cs typeface="Times New Roman" panose="02020603050405020304" pitchFamily="18" charset="0"/>
              </a:rPr>
              <a:t>LastDegreeName</a:t>
            </a:r>
            <a:r>
              <a:rPr lang="en-US" sz="12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ar-SA" sz="1200" dirty="0">
                <a:effectLst/>
                <a:latin typeface="Calibri" panose="020F0502020204030204" pitchFamily="34" charset="0"/>
                <a:ea typeface="Times New Roman" panose="02020603050405020304" pitchFamily="18" charset="0"/>
                <a:cs typeface="Times New Roman" panose="02020603050405020304" pitchFamily="18" charset="0"/>
              </a:rPr>
              <a:t>از طریق </a:t>
            </a:r>
            <a:r>
              <a:rPr lang="en-US" sz="1000" dirty="0" err="1">
                <a:effectLst/>
                <a:latin typeface="Courier New" panose="02070309020205020404" pitchFamily="49" charset="0"/>
                <a:ea typeface="Times New Roman" panose="02020603050405020304" pitchFamily="18" charset="0"/>
                <a:cs typeface="Times New Roman" panose="02020603050405020304" pitchFamily="18" charset="0"/>
              </a:rPr>
              <a:t>LastDegreeId</a:t>
            </a:r>
            <a:r>
              <a:rPr lang="en-US" sz="12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ar-SA" sz="1200" dirty="0">
                <a:effectLst/>
                <a:latin typeface="Calibri" panose="020F0502020204030204" pitchFamily="34" charset="0"/>
                <a:ea typeface="Times New Roman" panose="02020603050405020304" pitchFamily="18" charset="0"/>
                <a:cs typeface="Times New Roman" panose="02020603050405020304" pitchFamily="18" charset="0"/>
              </a:rPr>
              <a:t>به کلید اصلی وابسته است که وابستگی جزئی ایجاد می‌کند</a:t>
            </a:r>
            <a:r>
              <a:rPr lang="en-US" sz="1200" dirty="0">
                <a:effectLst/>
                <a:latin typeface="Times New Roman" panose="02020603050405020304" pitchFamily="18" charset="0"/>
                <a:ea typeface="Times New Roman" panose="02020603050405020304" pitchFamily="18" charset="0"/>
                <a:cs typeface="Times New Roman" panose="02020603050405020304" pitchFamily="18" charset="0"/>
              </a:rPr>
              <a:t>.</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p>
            <a:pPr marL="0" marR="0" algn="r" rtl="1">
              <a:lnSpc>
                <a:spcPct val="107000"/>
              </a:lnSpc>
              <a:spcBef>
                <a:spcPts val="0"/>
              </a:spcBef>
              <a:spcAft>
                <a:spcPts val="800"/>
              </a:spcAft>
            </a:pPr>
            <a:r>
              <a:rPr lang="ar-SA" sz="1200" b="1" dirty="0">
                <a:effectLst/>
                <a:latin typeface="Calibri" panose="020F0502020204030204" pitchFamily="34" charset="0"/>
                <a:ea typeface="Times New Roman" panose="02020603050405020304" pitchFamily="18" charset="0"/>
                <a:cs typeface="Times New Roman" panose="02020603050405020304" pitchFamily="18" charset="0"/>
              </a:rPr>
              <a:t>نتیجه</a:t>
            </a:r>
            <a:r>
              <a:rPr lang="en-US" sz="1200" dirty="0">
                <a:effectLst/>
                <a:latin typeface="Times New Roman" panose="02020603050405020304" pitchFamily="18" charset="0"/>
                <a:ea typeface="Times New Roman" panose="02020603050405020304" pitchFamily="18" charset="0"/>
                <a:cs typeface="Arial" panose="020B0604020202020204" pitchFamily="34" charset="0"/>
              </a:rPr>
              <a:t>: </a:t>
            </a:r>
            <a:r>
              <a:rPr lang="ar-SA" sz="1200" dirty="0">
                <a:effectLst/>
                <a:latin typeface="Calibri" panose="020F0502020204030204" pitchFamily="34" charset="0"/>
                <a:ea typeface="Times New Roman" panose="02020603050405020304" pitchFamily="18" charset="0"/>
                <a:cs typeface="Times New Roman" panose="02020603050405020304" pitchFamily="18" charset="0"/>
              </a:rPr>
              <a:t>این جدول در 2</a:t>
            </a:r>
            <a:r>
              <a:rPr lang="en-US" sz="1200" dirty="0">
                <a:effectLst/>
                <a:latin typeface="Times New Roman" panose="02020603050405020304" pitchFamily="18" charset="0"/>
                <a:ea typeface="Times New Roman" panose="02020603050405020304" pitchFamily="18" charset="0"/>
                <a:cs typeface="Arial" panose="020B0604020202020204" pitchFamily="34" charset="0"/>
              </a:rPr>
              <a:t>NF </a:t>
            </a:r>
            <a:r>
              <a:rPr lang="ar-SA" sz="1200" dirty="0">
                <a:effectLst/>
                <a:latin typeface="Calibri" panose="020F0502020204030204" pitchFamily="34" charset="0"/>
                <a:ea typeface="Times New Roman" panose="02020603050405020304" pitchFamily="18" charset="0"/>
                <a:cs typeface="Times New Roman" panose="02020603050405020304" pitchFamily="18" charset="0"/>
              </a:rPr>
              <a:t>نیست زیرا یک وابستگی </a:t>
            </a:r>
            <a:r>
              <a:rPr lang="ar-SA" sz="1200" b="1" dirty="0">
                <a:effectLst/>
                <a:latin typeface="Calibri" panose="020F0502020204030204" pitchFamily="34" charset="0"/>
                <a:ea typeface="Times New Roman" panose="02020603050405020304" pitchFamily="18" charset="0"/>
                <a:cs typeface="Times New Roman" panose="02020603050405020304" pitchFamily="18" charset="0"/>
              </a:rPr>
              <a:t>انتقالی</a:t>
            </a:r>
            <a:r>
              <a:rPr lang="ar-SA" sz="1200" dirty="0">
                <a:effectLst/>
                <a:latin typeface="Calibri" panose="020F0502020204030204" pitchFamily="34" charset="0"/>
                <a:ea typeface="Times New Roman" panose="02020603050405020304" pitchFamily="18" charset="0"/>
                <a:cs typeface="Times New Roman" panose="02020603050405020304" pitchFamily="18" charset="0"/>
              </a:rPr>
              <a:t> بین </a:t>
            </a:r>
            <a:r>
              <a:rPr lang="en-US" sz="1000" dirty="0">
                <a:effectLst/>
                <a:latin typeface="Courier New" panose="02070309020205020404" pitchFamily="49" charset="0"/>
                <a:ea typeface="Times New Roman" panose="02020603050405020304" pitchFamily="18" charset="0"/>
                <a:cs typeface="Arial" panose="020B0604020202020204" pitchFamily="34" charset="0"/>
              </a:rPr>
              <a:t>Prof# -&gt; </a:t>
            </a:r>
            <a:r>
              <a:rPr lang="en-US" sz="1000" dirty="0" err="1">
                <a:effectLst/>
                <a:latin typeface="Courier New" panose="02070309020205020404" pitchFamily="49" charset="0"/>
                <a:ea typeface="Times New Roman" panose="02020603050405020304" pitchFamily="18" charset="0"/>
                <a:cs typeface="Arial" panose="020B0604020202020204" pitchFamily="34" charset="0"/>
              </a:rPr>
              <a:t>LastDegreeId</a:t>
            </a:r>
            <a:r>
              <a:rPr lang="en-US" sz="1000" dirty="0">
                <a:effectLst/>
                <a:latin typeface="Courier New" panose="02070309020205020404" pitchFamily="49" charset="0"/>
                <a:ea typeface="Times New Roman" panose="02020603050405020304" pitchFamily="18" charset="0"/>
                <a:cs typeface="Arial" panose="020B0604020202020204" pitchFamily="34" charset="0"/>
              </a:rPr>
              <a:t> -&gt; </a:t>
            </a:r>
            <a:r>
              <a:rPr lang="en-US" sz="1000" dirty="0" err="1">
                <a:effectLst/>
                <a:latin typeface="Courier New" panose="02070309020205020404" pitchFamily="49" charset="0"/>
                <a:ea typeface="Times New Roman" panose="02020603050405020304" pitchFamily="18" charset="0"/>
                <a:cs typeface="Arial" panose="020B0604020202020204" pitchFamily="34" charset="0"/>
              </a:rPr>
              <a:t>LastDegreeName</a:t>
            </a:r>
            <a:r>
              <a:rPr lang="en-US" sz="1200" dirty="0">
                <a:effectLst/>
                <a:latin typeface="Times New Roman" panose="02020603050405020304" pitchFamily="18" charset="0"/>
                <a:ea typeface="Times New Roman" panose="02020603050405020304" pitchFamily="18" charset="0"/>
                <a:cs typeface="Arial" panose="020B0604020202020204" pitchFamily="34" charset="0"/>
              </a:rPr>
              <a:t> </a:t>
            </a:r>
            <a:r>
              <a:rPr lang="ar-SA" sz="1200" dirty="0">
                <a:effectLst/>
                <a:latin typeface="Calibri" panose="020F0502020204030204" pitchFamily="34" charset="0"/>
                <a:ea typeface="Times New Roman" panose="02020603050405020304" pitchFamily="18" charset="0"/>
                <a:cs typeface="Times New Roman" panose="02020603050405020304" pitchFamily="18" charset="0"/>
              </a:rPr>
              <a:t>وجود دارد</a:t>
            </a:r>
            <a:r>
              <a:rPr lang="en-US" sz="1200" dirty="0">
                <a:effectLst/>
                <a:latin typeface="Times New Roman" panose="02020603050405020304" pitchFamily="18" charset="0"/>
                <a:ea typeface="Times New Roman" panose="02020603050405020304" pitchFamily="18" charset="0"/>
                <a:cs typeface="Arial" panose="020B0604020202020204" pitchFamily="34" charset="0"/>
              </a:rPr>
              <a:t>.</a:t>
            </a:r>
            <a:endParaRPr lang="en-US" sz="1100" dirty="0">
              <a:effectLst/>
              <a:latin typeface="Calibri" panose="020F0502020204030204" pitchFamily="34" charset="0"/>
              <a:ea typeface="Calibri" panose="020F0502020204030204" pitchFamily="34" charset="0"/>
              <a:cs typeface="Arial" panose="020B0604020202020204" pitchFamily="34" charset="0"/>
            </a:endParaRPr>
          </a:p>
          <a:p>
            <a:pPr marL="0" marR="0" algn="r" rtl="1">
              <a:lnSpc>
                <a:spcPct val="107000"/>
              </a:lnSpc>
              <a:spcBef>
                <a:spcPts val="0"/>
              </a:spcBef>
              <a:spcAft>
                <a:spcPts val="800"/>
              </a:spcAft>
            </a:pPr>
            <a:r>
              <a:rPr lang="en-US" sz="1350" b="1" dirty="0">
                <a:effectLst/>
                <a:latin typeface="Times New Roman" panose="02020603050405020304" pitchFamily="18" charset="0"/>
                <a:ea typeface="Times New Roman" panose="02020603050405020304" pitchFamily="18" charset="0"/>
                <a:cs typeface="Arial" panose="020B0604020202020204" pitchFamily="34" charset="0"/>
              </a:rPr>
              <a:t>3. </a:t>
            </a:r>
            <a:r>
              <a:rPr lang="ar-SA" sz="1350" b="1" dirty="0">
                <a:effectLst/>
                <a:latin typeface="Calibri" panose="020F0502020204030204" pitchFamily="34" charset="0"/>
                <a:ea typeface="Times New Roman" panose="02020603050405020304" pitchFamily="18" charset="0"/>
                <a:cs typeface="Times New Roman" panose="02020603050405020304" pitchFamily="18" charset="0"/>
              </a:rPr>
              <a:t>بررسی 3</a:t>
            </a:r>
            <a:r>
              <a:rPr lang="en-US" sz="1350" b="1" dirty="0">
                <a:effectLst/>
                <a:latin typeface="Times New Roman" panose="02020603050405020304" pitchFamily="18" charset="0"/>
                <a:ea typeface="Times New Roman" panose="02020603050405020304" pitchFamily="18" charset="0"/>
                <a:cs typeface="Arial" panose="020B0604020202020204" pitchFamily="34" charset="0"/>
              </a:rPr>
              <a:t>NF</a:t>
            </a:r>
            <a:endParaRPr lang="en-US" sz="1100" dirty="0">
              <a:effectLst/>
              <a:latin typeface="Calibri" panose="020F0502020204030204" pitchFamily="34" charset="0"/>
              <a:ea typeface="Calibri" panose="020F0502020204030204" pitchFamily="34" charset="0"/>
              <a:cs typeface="Arial" panose="020B0604020202020204" pitchFamily="34" charset="0"/>
            </a:endParaRPr>
          </a:p>
          <a:p>
            <a:pPr marL="0" marR="0" algn="r" rtl="1">
              <a:lnSpc>
                <a:spcPct val="107000"/>
              </a:lnSpc>
              <a:spcBef>
                <a:spcPts val="0"/>
              </a:spcBef>
              <a:spcAft>
                <a:spcPts val="800"/>
              </a:spcAft>
            </a:pPr>
            <a:r>
              <a:rPr lang="ar-SA" sz="1200" dirty="0">
                <a:effectLst/>
                <a:latin typeface="Calibri" panose="020F0502020204030204" pitchFamily="34" charset="0"/>
                <a:ea typeface="Times New Roman" panose="02020603050405020304" pitchFamily="18" charset="0"/>
                <a:cs typeface="Times New Roman" panose="02020603050405020304" pitchFamily="18" charset="0"/>
              </a:rPr>
              <a:t>برای برآورده کردن 3</a:t>
            </a:r>
            <a:r>
              <a:rPr lang="en-US" sz="1200" dirty="0">
                <a:effectLst/>
                <a:latin typeface="Times New Roman" panose="02020603050405020304" pitchFamily="18" charset="0"/>
                <a:ea typeface="Times New Roman" panose="02020603050405020304" pitchFamily="18" charset="0"/>
                <a:cs typeface="Arial" panose="020B0604020202020204" pitchFamily="34" charset="0"/>
              </a:rPr>
              <a:t>NF:</a:t>
            </a:r>
            <a:endParaRPr lang="en-US" sz="1100" dirty="0">
              <a:effectLst/>
              <a:latin typeface="Calibri" panose="020F0502020204030204" pitchFamily="34" charset="0"/>
              <a:ea typeface="Calibri" panose="020F0502020204030204" pitchFamily="34" charset="0"/>
              <a:cs typeface="Arial" panose="020B0604020202020204" pitchFamily="34" charset="0"/>
            </a:endParaRPr>
          </a:p>
          <a:p>
            <a:pPr marL="342900" marR="0" lvl="0" indent="-342900" algn="r" rtl="1">
              <a:lnSpc>
                <a:spcPct val="107000"/>
              </a:lnSpc>
              <a:spcBef>
                <a:spcPts val="0"/>
              </a:spcBef>
              <a:spcAft>
                <a:spcPts val="800"/>
              </a:spcAft>
              <a:buSzPts val="1000"/>
              <a:buFont typeface="Symbol" panose="05050102010706020507" pitchFamily="18" charset="2"/>
              <a:buChar char=""/>
              <a:tabLst>
                <a:tab pos="457200" algn="l"/>
              </a:tabLst>
            </a:pPr>
            <a:r>
              <a:rPr lang="ar-SA" sz="1200" dirty="0">
                <a:effectLst/>
                <a:latin typeface="Calibri" panose="020F0502020204030204" pitchFamily="34" charset="0"/>
                <a:ea typeface="Times New Roman" panose="02020603050405020304" pitchFamily="18" charset="0"/>
                <a:cs typeface="Times New Roman" panose="02020603050405020304" pitchFamily="18" charset="0"/>
              </a:rPr>
              <a:t>نباید هیچ </a:t>
            </a:r>
            <a:r>
              <a:rPr lang="ar-SA" sz="1200" b="1" dirty="0">
                <a:effectLst/>
                <a:latin typeface="Calibri" panose="020F0502020204030204" pitchFamily="34" charset="0"/>
                <a:ea typeface="Times New Roman" panose="02020603050405020304" pitchFamily="18" charset="0"/>
                <a:cs typeface="Times New Roman" panose="02020603050405020304" pitchFamily="18" charset="0"/>
              </a:rPr>
              <a:t>وابستگی انتقالی</a:t>
            </a:r>
            <a:r>
              <a:rPr lang="ar-SA" sz="1200" dirty="0">
                <a:effectLst/>
                <a:latin typeface="Calibri" panose="020F0502020204030204" pitchFamily="34" charset="0"/>
                <a:ea typeface="Times New Roman" panose="02020603050405020304" pitchFamily="18" charset="0"/>
                <a:cs typeface="Times New Roman" panose="02020603050405020304" pitchFamily="18" charset="0"/>
              </a:rPr>
              <a:t> وجود داشته باشد (یک صفت غیر کلیدی نباید به صفت غیر کلیدی دیگری وابسته باشد)</a:t>
            </a:r>
            <a:r>
              <a:rPr lang="en-US" sz="1200" dirty="0">
                <a:effectLst/>
                <a:latin typeface="Times New Roman" panose="02020603050405020304" pitchFamily="18" charset="0"/>
                <a:ea typeface="Times New Roman" panose="02020603050405020304" pitchFamily="18" charset="0"/>
                <a:cs typeface="Arial" panose="020B0604020202020204" pitchFamily="34" charset="0"/>
              </a:rPr>
              <a:t>.</a:t>
            </a:r>
            <a:endParaRPr lang="en-US" sz="1100" dirty="0">
              <a:effectLst/>
              <a:latin typeface="Calibri" panose="020F0502020204030204" pitchFamily="34" charset="0"/>
              <a:ea typeface="Calibri" panose="020F0502020204030204" pitchFamily="34" charset="0"/>
              <a:cs typeface="Arial" panose="020B0604020202020204" pitchFamily="34" charset="0"/>
            </a:endParaRPr>
          </a:p>
          <a:p>
            <a:pPr marL="0" marR="0" algn="r" rtl="1">
              <a:lnSpc>
                <a:spcPct val="107000"/>
              </a:lnSpc>
              <a:spcBef>
                <a:spcPts val="0"/>
              </a:spcBef>
              <a:spcAft>
                <a:spcPts val="800"/>
              </a:spcAft>
            </a:pPr>
            <a:r>
              <a:rPr lang="ar-SA" sz="1200" dirty="0">
                <a:effectLst/>
                <a:latin typeface="Calibri" panose="020F0502020204030204" pitchFamily="34" charset="0"/>
                <a:ea typeface="Times New Roman" panose="02020603050405020304" pitchFamily="18" charset="0"/>
                <a:cs typeface="Times New Roman" panose="02020603050405020304" pitchFamily="18" charset="0"/>
              </a:rPr>
              <a:t>در این جدول</a:t>
            </a:r>
            <a:r>
              <a:rPr lang="en-US" sz="1200" dirty="0">
                <a:effectLst/>
                <a:latin typeface="Times New Roman" panose="02020603050405020304" pitchFamily="18" charset="0"/>
                <a:ea typeface="Times New Roman" panose="02020603050405020304" pitchFamily="18" charset="0"/>
                <a:cs typeface="Arial" panose="020B0604020202020204" pitchFamily="34" charset="0"/>
              </a:rPr>
              <a:t>:</a:t>
            </a:r>
            <a:endParaRPr lang="en-US" sz="1100" dirty="0">
              <a:effectLst/>
              <a:latin typeface="Calibri" panose="020F0502020204030204" pitchFamily="34" charset="0"/>
              <a:ea typeface="Calibri" panose="020F0502020204030204" pitchFamily="34" charset="0"/>
              <a:cs typeface="Arial" panose="020B0604020202020204" pitchFamily="34" charset="0"/>
            </a:endParaRPr>
          </a:p>
          <a:p>
            <a:pPr marL="342900" marR="0" lvl="0" indent="-342900" algn="r" rtl="1">
              <a:lnSpc>
                <a:spcPct val="107000"/>
              </a:lnSpc>
              <a:spcBef>
                <a:spcPts val="0"/>
              </a:spcBef>
              <a:spcAft>
                <a:spcPts val="800"/>
              </a:spcAft>
              <a:buSzPts val="1000"/>
              <a:buFont typeface="Symbol" panose="05050102010706020507" pitchFamily="18" charset="2"/>
              <a:buChar char=""/>
              <a:tabLst>
                <a:tab pos="457200" algn="l"/>
              </a:tabLst>
            </a:pPr>
            <a:r>
              <a:rPr lang="en-US" sz="1000" dirty="0" err="1">
                <a:effectLst/>
                <a:latin typeface="Courier New" panose="02070309020205020404" pitchFamily="49" charset="0"/>
                <a:ea typeface="Times New Roman" panose="02020603050405020304" pitchFamily="18" charset="0"/>
                <a:cs typeface="Arial" panose="020B0604020202020204" pitchFamily="34" charset="0"/>
              </a:rPr>
              <a:t>LastDegreeName</a:t>
            </a:r>
            <a:r>
              <a:rPr lang="en-US" sz="1200" dirty="0">
                <a:effectLst/>
                <a:latin typeface="Times New Roman" panose="02020603050405020304" pitchFamily="18" charset="0"/>
                <a:ea typeface="Times New Roman" panose="02020603050405020304" pitchFamily="18" charset="0"/>
                <a:cs typeface="Arial" panose="020B0604020202020204" pitchFamily="34" charset="0"/>
              </a:rPr>
              <a:t> </a:t>
            </a:r>
            <a:r>
              <a:rPr lang="ar-SA" sz="1200" dirty="0">
                <a:effectLst/>
                <a:latin typeface="Calibri" panose="020F0502020204030204" pitchFamily="34" charset="0"/>
                <a:ea typeface="Times New Roman" panose="02020603050405020304" pitchFamily="18" charset="0"/>
                <a:cs typeface="Times New Roman" panose="02020603050405020304" pitchFamily="18" charset="0"/>
              </a:rPr>
              <a:t>به </a:t>
            </a:r>
            <a:r>
              <a:rPr lang="en-US" sz="1000" dirty="0" err="1">
                <a:effectLst/>
                <a:latin typeface="Courier New" panose="02070309020205020404" pitchFamily="49" charset="0"/>
                <a:ea typeface="Times New Roman" panose="02020603050405020304" pitchFamily="18" charset="0"/>
                <a:cs typeface="Arial" panose="020B0604020202020204" pitchFamily="34" charset="0"/>
              </a:rPr>
              <a:t>LastDegreeId</a:t>
            </a:r>
            <a:r>
              <a:rPr lang="en-US" sz="1200" dirty="0">
                <a:effectLst/>
                <a:latin typeface="Times New Roman" panose="02020603050405020304" pitchFamily="18" charset="0"/>
                <a:ea typeface="Times New Roman" panose="02020603050405020304" pitchFamily="18" charset="0"/>
                <a:cs typeface="Arial" panose="020B0604020202020204" pitchFamily="34" charset="0"/>
              </a:rPr>
              <a:t> </a:t>
            </a:r>
            <a:r>
              <a:rPr lang="ar-SA" sz="1200" dirty="0">
                <a:effectLst/>
                <a:latin typeface="Calibri" panose="020F0502020204030204" pitchFamily="34" charset="0"/>
                <a:ea typeface="Times New Roman" panose="02020603050405020304" pitchFamily="18" charset="0"/>
                <a:cs typeface="Times New Roman" panose="02020603050405020304" pitchFamily="18" charset="0"/>
              </a:rPr>
              <a:t>وابسته است، نه مستقیماً به </a:t>
            </a:r>
            <a:r>
              <a:rPr lang="en-US" sz="1000" dirty="0">
                <a:effectLst/>
                <a:latin typeface="Courier New" panose="02070309020205020404" pitchFamily="49" charset="0"/>
                <a:ea typeface="Times New Roman" panose="02020603050405020304" pitchFamily="18" charset="0"/>
                <a:cs typeface="Arial" panose="020B0604020202020204" pitchFamily="34" charset="0"/>
              </a:rPr>
              <a:t>Prof#</a:t>
            </a:r>
            <a:r>
              <a:rPr lang="en-US" sz="1200" dirty="0">
                <a:effectLst/>
                <a:latin typeface="Times New Roman" panose="02020603050405020304" pitchFamily="18" charset="0"/>
                <a:ea typeface="Times New Roman" panose="02020603050405020304" pitchFamily="18" charset="0"/>
                <a:cs typeface="Arial" panose="020B0604020202020204" pitchFamily="34" charset="0"/>
              </a:rPr>
              <a:t>.</a:t>
            </a:r>
            <a:endParaRPr lang="en-US" sz="1100" dirty="0">
              <a:effectLst/>
              <a:latin typeface="Calibri" panose="020F0502020204030204" pitchFamily="34" charset="0"/>
              <a:ea typeface="Calibri" panose="020F0502020204030204" pitchFamily="34" charset="0"/>
              <a:cs typeface="Arial" panose="020B0604020202020204" pitchFamily="34" charset="0"/>
            </a:endParaRPr>
          </a:p>
          <a:p>
            <a:pPr marL="342900" marR="0" lvl="0" indent="-342900" algn="r" rtl="1">
              <a:lnSpc>
                <a:spcPct val="107000"/>
              </a:lnSpc>
              <a:spcBef>
                <a:spcPts val="0"/>
              </a:spcBef>
              <a:spcAft>
                <a:spcPts val="800"/>
              </a:spcAft>
              <a:buSzPts val="1000"/>
              <a:buFont typeface="Symbol" panose="05050102010706020507" pitchFamily="18" charset="2"/>
              <a:buChar char=""/>
              <a:tabLst>
                <a:tab pos="457200" algn="l"/>
              </a:tabLst>
            </a:pPr>
            <a:r>
              <a:rPr lang="ar-SA" sz="1200" dirty="0">
                <a:effectLst/>
                <a:latin typeface="Calibri" panose="020F0502020204030204" pitchFamily="34" charset="0"/>
                <a:ea typeface="Times New Roman" panose="02020603050405020304" pitchFamily="18" charset="0"/>
                <a:cs typeface="Times New Roman" panose="02020603050405020304" pitchFamily="18" charset="0"/>
              </a:rPr>
              <a:t>این وابستگی انتقالی </a:t>
            </a:r>
            <a:r>
              <a:rPr lang="en-US" sz="1200" b="1" dirty="0">
                <a:effectLst/>
                <a:latin typeface="Times New Roman" panose="02020603050405020304" pitchFamily="18" charset="0"/>
                <a:ea typeface="Times New Roman" panose="02020603050405020304" pitchFamily="18" charset="0"/>
                <a:cs typeface="Arial" panose="020B0604020202020204" pitchFamily="34" charset="0"/>
              </a:rPr>
              <a:t>3NF</a:t>
            </a:r>
            <a:r>
              <a:rPr lang="en-US" sz="1200" dirty="0">
                <a:effectLst/>
                <a:latin typeface="Times New Roman" panose="02020603050405020304" pitchFamily="18" charset="0"/>
                <a:ea typeface="Times New Roman" panose="02020603050405020304" pitchFamily="18" charset="0"/>
                <a:cs typeface="Arial" panose="020B0604020202020204" pitchFamily="34" charset="0"/>
              </a:rPr>
              <a:t> </a:t>
            </a:r>
            <a:r>
              <a:rPr lang="ar-SA" sz="1200" dirty="0">
                <a:effectLst/>
                <a:latin typeface="Calibri" panose="020F0502020204030204" pitchFamily="34" charset="0"/>
                <a:ea typeface="Times New Roman" panose="02020603050405020304" pitchFamily="18" charset="0"/>
                <a:cs typeface="Times New Roman" panose="02020603050405020304" pitchFamily="18" charset="0"/>
              </a:rPr>
              <a:t>را نقض می‌کند</a:t>
            </a:r>
            <a:r>
              <a:rPr lang="en-US" sz="1200" dirty="0">
                <a:effectLst/>
                <a:latin typeface="Times New Roman" panose="02020603050405020304" pitchFamily="18" charset="0"/>
                <a:ea typeface="Times New Roman" panose="02020603050405020304" pitchFamily="18" charset="0"/>
                <a:cs typeface="Arial" panose="020B0604020202020204" pitchFamily="34" charset="0"/>
              </a:rPr>
              <a:t>.</a:t>
            </a:r>
            <a:endParaRPr lang="en-US" sz="1100" dirty="0">
              <a:effectLst/>
              <a:latin typeface="Calibri" panose="020F0502020204030204" pitchFamily="34" charset="0"/>
              <a:ea typeface="Calibri" panose="020F0502020204030204" pitchFamily="34" charset="0"/>
              <a:cs typeface="Arial" panose="020B0604020202020204" pitchFamily="34" charset="0"/>
            </a:endParaRPr>
          </a:p>
          <a:p>
            <a:pPr marL="0" marR="0" algn="r" rtl="1">
              <a:lnSpc>
                <a:spcPct val="107000"/>
              </a:lnSpc>
              <a:spcBef>
                <a:spcPts val="0"/>
              </a:spcBef>
              <a:spcAft>
                <a:spcPts val="800"/>
              </a:spcAft>
            </a:pPr>
            <a:r>
              <a:rPr lang="ar-SA" sz="1350" b="1" dirty="0">
                <a:effectLst/>
                <a:latin typeface="Calibri" panose="020F0502020204030204" pitchFamily="34" charset="0"/>
                <a:ea typeface="Times New Roman" panose="02020603050405020304" pitchFamily="18" charset="0"/>
                <a:cs typeface="Times New Roman" panose="02020603050405020304" pitchFamily="18" charset="0"/>
              </a:rPr>
              <a:t>مراحل نرمال‌سازی به 3</a:t>
            </a:r>
            <a:r>
              <a:rPr lang="en-US" sz="1350" b="1" dirty="0">
                <a:effectLst/>
                <a:latin typeface="Times New Roman" panose="02020603050405020304" pitchFamily="18" charset="0"/>
                <a:ea typeface="Times New Roman" panose="02020603050405020304" pitchFamily="18" charset="0"/>
                <a:cs typeface="Arial" panose="020B0604020202020204" pitchFamily="34" charset="0"/>
              </a:rPr>
              <a:t>NF</a:t>
            </a:r>
            <a:endParaRPr lang="en-US" sz="1100" dirty="0">
              <a:effectLst/>
              <a:latin typeface="Calibri" panose="020F0502020204030204" pitchFamily="34" charset="0"/>
              <a:ea typeface="Calibri" panose="020F0502020204030204" pitchFamily="34" charset="0"/>
              <a:cs typeface="Arial" panose="020B0604020202020204" pitchFamily="34" charset="0"/>
            </a:endParaRPr>
          </a:p>
          <a:p>
            <a:pPr marL="0" marR="0" algn="r" rtl="1">
              <a:lnSpc>
                <a:spcPct val="107000"/>
              </a:lnSpc>
              <a:spcBef>
                <a:spcPts val="0"/>
              </a:spcBef>
              <a:spcAft>
                <a:spcPts val="800"/>
              </a:spcAft>
            </a:pPr>
            <a:r>
              <a:rPr lang="ar-SA" sz="1200" dirty="0">
                <a:effectLst/>
                <a:latin typeface="Calibri" panose="020F0502020204030204" pitchFamily="34" charset="0"/>
                <a:ea typeface="Times New Roman" panose="02020603050405020304" pitchFamily="18" charset="0"/>
                <a:cs typeface="Times New Roman" panose="02020603050405020304" pitchFamily="18" charset="0"/>
              </a:rPr>
              <a:t>برای تبدیل جدول به 3</a:t>
            </a:r>
            <a:r>
              <a:rPr lang="en-US" sz="1200" dirty="0">
                <a:effectLst/>
                <a:latin typeface="Times New Roman" panose="02020603050405020304" pitchFamily="18" charset="0"/>
                <a:ea typeface="Times New Roman" panose="02020603050405020304" pitchFamily="18" charset="0"/>
                <a:cs typeface="Arial" panose="020B0604020202020204" pitchFamily="34" charset="0"/>
              </a:rPr>
              <a:t>NF:</a:t>
            </a:r>
            <a:endParaRPr lang="en-US" sz="1100" dirty="0">
              <a:effectLst/>
              <a:latin typeface="Calibri" panose="020F0502020204030204" pitchFamily="34" charset="0"/>
              <a:ea typeface="Calibri" panose="020F0502020204030204" pitchFamily="34" charset="0"/>
              <a:cs typeface="Arial" panose="020B0604020202020204" pitchFamily="34" charset="0"/>
            </a:endParaRPr>
          </a:p>
          <a:p>
            <a:pPr marL="342900" marR="0" lvl="0" indent="-342900" algn="r" rtl="1">
              <a:lnSpc>
                <a:spcPct val="107000"/>
              </a:lnSpc>
              <a:spcBef>
                <a:spcPts val="0"/>
              </a:spcBef>
              <a:spcAft>
                <a:spcPts val="800"/>
              </a:spcAft>
              <a:buFont typeface="+mj-lt"/>
              <a:buAutoNum type="arabicPeriod"/>
              <a:tabLst>
                <a:tab pos="457200" algn="l"/>
              </a:tabLst>
            </a:pPr>
            <a:r>
              <a:rPr lang="ar-SA" sz="1200" dirty="0">
                <a:effectLst/>
                <a:latin typeface="Calibri" panose="020F0502020204030204" pitchFamily="34" charset="0"/>
                <a:ea typeface="Times New Roman" panose="02020603050405020304" pitchFamily="18" charset="0"/>
                <a:cs typeface="Times New Roman" panose="02020603050405020304" pitchFamily="18" charset="0"/>
              </a:rPr>
              <a:t>جدول را به دو بخش تقسیم کنید</a:t>
            </a:r>
            <a:r>
              <a:rPr lang="en-US" sz="1200" dirty="0">
                <a:effectLst/>
                <a:latin typeface="Times New Roman" panose="02020603050405020304" pitchFamily="18" charset="0"/>
                <a:ea typeface="Times New Roman" panose="02020603050405020304" pitchFamily="18" charset="0"/>
                <a:cs typeface="Arial" panose="020B0604020202020204" pitchFamily="34" charset="0"/>
              </a:rPr>
              <a:t>:</a:t>
            </a:r>
            <a:endParaRPr lang="en-US" sz="1100" dirty="0">
              <a:effectLst/>
              <a:latin typeface="Calibri" panose="020F0502020204030204" pitchFamily="34" charset="0"/>
              <a:ea typeface="Calibri" panose="020F0502020204030204" pitchFamily="34" charset="0"/>
              <a:cs typeface="Arial" panose="020B0604020202020204" pitchFamily="34" charset="0"/>
            </a:endParaRPr>
          </a:p>
          <a:p>
            <a:pPr marL="742950" marR="0" lvl="1" indent="-285750" algn="r" rtl="1">
              <a:lnSpc>
                <a:spcPct val="107000"/>
              </a:lnSpc>
              <a:spcBef>
                <a:spcPts val="0"/>
              </a:spcBef>
              <a:spcAft>
                <a:spcPts val="800"/>
              </a:spcAft>
              <a:buSzPts val="1000"/>
              <a:buFont typeface="Courier New" panose="02070309020205020404" pitchFamily="49" charset="0"/>
              <a:buChar char="o"/>
              <a:tabLst>
                <a:tab pos="914400" algn="l"/>
              </a:tabLst>
            </a:pPr>
            <a:r>
              <a:rPr lang="ar-SA" sz="1200" b="1" dirty="0">
                <a:effectLst/>
                <a:latin typeface="Calibri" panose="020F0502020204030204" pitchFamily="34" charset="0"/>
                <a:ea typeface="Times New Roman" panose="02020603050405020304" pitchFamily="18" charset="0"/>
                <a:cs typeface="Times New Roman" panose="02020603050405020304" pitchFamily="18" charset="0"/>
              </a:rPr>
              <a:t>جدول 1</a:t>
            </a:r>
            <a:r>
              <a:rPr lang="en-US" sz="1200" b="1" dirty="0">
                <a:effectLst/>
                <a:latin typeface="Times New Roman" panose="02020603050405020304" pitchFamily="18" charset="0"/>
                <a:ea typeface="Times New Roman" panose="02020603050405020304" pitchFamily="18" charset="0"/>
                <a:cs typeface="Times New Roman" panose="02020603050405020304" pitchFamily="18" charset="0"/>
              </a:rPr>
              <a:t> (Professors):</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p>
            <a:pPr marL="1143000" marR="0" lvl="2" indent="-228600" algn="r" rtl="1">
              <a:lnSpc>
                <a:spcPct val="107000"/>
              </a:lnSpc>
              <a:spcBef>
                <a:spcPts val="0"/>
              </a:spcBef>
              <a:spcAft>
                <a:spcPts val="800"/>
              </a:spcAft>
              <a:buSzPts val="1000"/>
              <a:buFont typeface="Wingdings" panose="05000000000000000000" pitchFamily="2" charset="2"/>
              <a:buChar char=""/>
              <a:tabLst>
                <a:tab pos="1371600" algn="l"/>
              </a:tabLst>
            </a:pPr>
            <a:r>
              <a:rPr lang="en-US" sz="1000" dirty="0">
                <a:effectLst/>
                <a:latin typeface="Courier New" panose="02070309020205020404" pitchFamily="49" charset="0"/>
                <a:ea typeface="Times New Roman" panose="02020603050405020304" pitchFamily="18" charset="0"/>
                <a:cs typeface="Arial" panose="020B0604020202020204" pitchFamily="34" charset="0"/>
              </a:rPr>
              <a:t>(Prof#, </a:t>
            </a:r>
            <a:r>
              <a:rPr lang="en-US" sz="1000" dirty="0" err="1">
                <a:effectLst/>
                <a:latin typeface="Courier New" panose="02070309020205020404" pitchFamily="49" charset="0"/>
                <a:ea typeface="Times New Roman" panose="02020603050405020304" pitchFamily="18" charset="0"/>
                <a:cs typeface="Arial" panose="020B0604020202020204" pitchFamily="34" charset="0"/>
              </a:rPr>
              <a:t>Pname</a:t>
            </a:r>
            <a:r>
              <a:rPr lang="en-US" sz="1000" dirty="0">
                <a:effectLst/>
                <a:latin typeface="Courier New" panose="02070309020205020404" pitchFamily="49" charset="0"/>
                <a:ea typeface="Times New Roman" panose="02020603050405020304" pitchFamily="18" charset="0"/>
                <a:cs typeface="Arial" panose="020B0604020202020204" pitchFamily="34" charset="0"/>
              </a:rPr>
              <a:t>, </a:t>
            </a:r>
            <a:r>
              <a:rPr lang="en-US" sz="1000" dirty="0" err="1">
                <a:effectLst/>
                <a:latin typeface="Courier New" panose="02070309020205020404" pitchFamily="49" charset="0"/>
                <a:ea typeface="Times New Roman" panose="02020603050405020304" pitchFamily="18" charset="0"/>
                <a:cs typeface="Arial" panose="020B0604020202020204" pitchFamily="34" charset="0"/>
              </a:rPr>
              <a:t>LastDegreeId</a:t>
            </a:r>
            <a:r>
              <a:rPr lang="en-US" sz="1000" dirty="0">
                <a:effectLst/>
                <a:latin typeface="Courier New" panose="02070309020205020404" pitchFamily="49" charset="0"/>
                <a:ea typeface="Times New Roman" panose="02020603050405020304" pitchFamily="18" charset="0"/>
                <a:cs typeface="Arial" panose="020B0604020202020204" pitchFamily="34" charset="0"/>
              </a:rPr>
              <a:t>)</a:t>
            </a:r>
            <a:endParaRPr lang="en-US" sz="1100" dirty="0">
              <a:effectLst/>
              <a:latin typeface="Calibri" panose="020F0502020204030204" pitchFamily="34" charset="0"/>
              <a:ea typeface="Calibri" panose="020F0502020204030204" pitchFamily="34" charset="0"/>
              <a:cs typeface="Arial" panose="020B0604020202020204" pitchFamily="34" charset="0"/>
            </a:endParaRPr>
          </a:p>
          <a:p>
            <a:pPr marL="1143000" marR="0" lvl="2" indent="-228600" algn="r" rtl="1">
              <a:lnSpc>
                <a:spcPct val="107000"/>
              </a:lnSpc>
              <a:spcBef>
                <a:spcPts val="0"/>
              </a:spcBef>
              <a:spcAft>
                <a:spcPts val="800"/>
              </a:spcAft>
              <a:buSzPts val="1000"/>
              <a:buFont typeface="Wingdings" panose="05000000000000000000" pitchFamily="2" charset="2"/>
              <a:buChar char=""/>
              <a:tabLst>
                <a:tab pos="1371600" algn="l"/>
              </a:tabLst>
            </a:pPr>
            <a:r>
              <a:rPr lang="ar-SA" sz="1200" dirty="0">
                <a:effectLst/>
                <a:latin typeface="Calibri" panose="020F0502020204030204" pitchFamily="34" charset="0"/>
                <a:ea typeface="Times New Roman" panose="02020603050405020304" pitchFamily="18" charset="0"/>
                <a:cs typeface="Times New Roman" panose="02020603050405020304" pitchFamily="18" charset="0"/>
              </a:rPr>
              <a:t>کلید اصلی</a:t>
            </a:r>
            <a:r>
              <a:rPr lang="en-US" sz="1200" dirty="0">
                <a:effectLst/>
                <a:latin typeface="Times New Roman" panose="02020603050405020304" pitchFamily="18" charset="0"/>
                <a:ea typeface="Times New Roman" panose="02020603050405020304" pitchFamily="18" charset="0"/>
                <a:cs typeface="Arial" panose="020B0604020202020204" pitchFamily="34" charset="0"/>
              </a:rPr>
              <a:t>: </a:t>
            </a:r>
            <a:r>
              <a:rPr lang="en-US" sz="1000" dirty="0">
                <a:effectLst/>
                <a:latin typeface="Courier New" panose="02070309020205020404" pitchFamily="49" charset="0"/>
                <a:ea typeface="Times New Roman" panose="02020603050405020304" pitchFamily="18" charset="0"/>
                <a:cs typeface="Arial" panose="020B0604020202020204" pitchFamily="34" charset="0"/>
              </a:rPr>
              <a:t>Prof#</a:t>
            </a:r>
            <a:r>
              <a:rPr lang="en-US" sz="1200" dirty="0">
                <a:effectLst/>
                <a:latin typeface="Times New Roman" panose="02020603050405020304" pitchFamily="18" charset="0"/>
                <a:ea typeface="Times New Roman" panose="02020603050405020304" pitchFamily="18" charset="0"/>
                <a:cs typeface="Arial" panose="020B0604020202020204" pitchFamily="34" charset="0"/>
              </a:rPr>
              <a:t>.</a:t>
            </a:r>
            <a:endParaRPr lang="en-US" sz="1100" dirty="0">
              <a:effectLst/>
              <a:latin typeface="Calibri" panose="020F0502020204030204" pitchFamily="34" charset="0"/>
              <a:ea typeface="Calibri" panose="020F0502020204030204" pitchFamily="34" charset="0"/>
              <a:cs typeface="Arial" panose="020B0604020202020204" pitchFamily="34" charset="0"/>
            </a:endParaRPr>
          </a:p>
          <a:p>
            <a:pPr marL="742950" marR="0" lvl="1" indent="-285750" algn="r" rtl="1">
              <a:lnSpc>
                <a:spcPct val="107000"/>
              </a:lnSpc>
              <a:spcBef>
                <a:spcPts val="0"/>
              </a:spcBef>
              <a:spcAft>
                <a:spcPts val="800"/>
              </a:spcAft>
              <a:buSzPts val="1000"/>
              <a:buFont typeface="Courier New" panose="02070309020205020404" pitchFamily="49" charset="0"/>
              <a:buChar char="o"/>
              <a:tabLst>
                <a:tab pos="914400" algn="l"/>
              </a:tabLst>
            </a:pPr>
            <a:r>
              <a:rPr lang="ar-SA" sz="1200" b="1" dirty="0">
                <a:effectLst/>
                <a:latin typeface="Calibri" panose="020F0502020204030204" pitchFamily="34" charset="0"/>
                <a:ea typeface="Times New Roman" panose="02020603050405020304" pitchFamily="18" charset="0"/>
                <a:cs typeface="Times New Roman" panose="02020603050405020304" pitchFamily="18" charset="0"/>
              </a:rPr>
              <a:t>جدول 2</a:t>
            </a:r>
            <a:r>
              <a:rPr lang="en-US" sz="1200" b="1" dirty="0">
                <a:effectLst/>
                <a:latin typeface="Times New Roman" panose="02020603050405020304" pitchFamily="18" charset="0"/>
                <a:ea typeface="Times New Roman" panose="02020603050405020304" pitchFamily="18" charset="0"/>
                <a:cs typeface="Times New Roman" panose="02020603050405020304" pitchFamily="18" charset="0"/>
              </a:rPr>
              <a:t> (Degrees):</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p>
            <a:pPr marL="1143000" marR="0" lvl="2" indent="-228600" algn="r" rtl="1">
              <a:lnSpc>
                <a:spcPct val="107000"/>
              </a:lnSpc>
              <a:spcBef>
                <a:spcPts val="0"/>
              </a:spcBef>
              <a:spcAft>
                <a:spcPts val="800"/>
              </a:spcAft>
              <a:buSzPts val="1000"/>
              <a:buFont typeface="Wingdings" panose="05000000000000000000" pitchFamily="2" charset="2"/>
              <a:buChar char=""/>
              <a:tabLst>
                <a:tab pos="1371600" algn="l"/>
              </a:tabLst>
            </a:pPr>
            <a:r>
              <a:rPr lang="en-US" sz="1000" dirty="0">
                <a:effectLst/>
                <a:latin typeface="Courier New" panose="02070309020205020404" pitchFamily="49" charset="0"/>
                <a:ea typeface="Times New Roman" panose="02020603050405020304" pitchFamily="18" charset="0"/>
                <a:cs typeface="Arial" panose="020B0604020202020204" pitchFamily="34" charset="0"/>
              </a:rPr>
              <a:t>(</a:t>
            </a:r>
            <a:r>
              <a:rPr lang="en-US" sz="1000" dirty="0" err="1">
                <a:effectLst/>
                <a:latin typeface="Courier New" panose="02070309020205020404" pitchFamily="49" charset="0"/>
                <a:ea typeface="Times New Roman" panose="02020603050405020304" pitchFamily="18" charset="0"/>
                <a:cs typeface="Arial" panose="020B0604020202020204" pitchFamily="34" charset="0"/>
              </a:rPr>
              <a:t>LastDegreeId</a:t>
            </a:r>
            <a:r>
              <a:rPr lang="en-US" sz="1000" dirty="0">
                <a:effectLst/>
                <a:latin typeface="Courier New" panose="02070309020205020404" pitchFamily="49" charset="0"/>
                <a:ea typeface="Times New Roman" panose="02020603050405020304" pitchFamily="18" charset="0"/>
                <a:cs typeface="Arial" panose="020B0604020202020204" pitchFamily="34" charset="0"/>
              </a:rPr>
              <a:t>, </a:t>
            </a:r>
            <a:r>
              <a:rPr lang="en-US" sz="1000" dirty="0" err="1">
                <a:effectLst/>
                <a:latin typeface="Courier New" panose="02070309020205020404" pitchFamily="49" charset="0"/>
                <a:ea typeface="Times New Roman" panose="02020603050405020304" pitchFamily="18" charset="0"/>
                <a:cs typeface="Arial" panose="020B0604020202020204" pitchFamily="34" charset="0"/>
              </a:rPr>
              <a:t>LastDegreeName</a:t>
            </a:r>
            <a:r>
              <a:rPr lang="en-US" sz="1000" dirty="0">
                <a:effectLst/>
                <a:latin typeface="Courier New" panose="02070309020205020404" pitchFamily="49" charset="0"/>
                <a:ea typeface="Times New Roman" panose="02020603050405020304" pitchFamily="18" charset="0"/>
                <a:cs typeface="Arial" panose="020B0604020202020204" pitchFamily="34" charset="0"/>
              </a:rPr>
              <a:t>)</a:t>
            </a:r>
            <a:endParaRPr lang="en-US" sz="1100" dirty="0">
              <a:effectLst/>
              <a:latin typeface="Calibri" panose="020F0502020204030204" pitchFamily="34" charset="0"/>
              <a:ea typeface="Calibri" panose="020F0502020204030204" pitchFamily="34" charset="0"/>
              <a:cs typeface="Arial" panose="020B0604020202020204" pitchFamily="34" charset="0"/>
            </a:endParaRPr>
          </a:p>
          <a:p>
            <a:pPr marL="1143000" marR="0" lvl="2" indent="-228600" algn="r" rtl="1">
              <a:lnSpc>
                <a:spcPct val="107000"/>
              </a:lnSpc>
              <a:spcBef>
                <a:spcPts val="0"/>
              </a:spcBef>
              <a:spcAft>
                <a:spcPts val="800"/>
              </a:spcAft>
              <a:buSzPts val="1000"/>
              <a:buFont typeface="Wingdings" panose="05000000000000000000" pitchFamily="2" charset="2"/>
              <a:buChar char=""/>
              <a:tabLst>
                <a:tab pos="1371600" algn="l"/>
              </a:tabLst>
            </a:pPr>
            <a:r>
              <a:rPr lang="ar-SA" sz="1200" dirty="0">
                <a:effectLst/>
                <a:latin typeface="Calibri" panose="020F0502020204030204" pitchFamily="34" charset="0"/>
                <a:ea typeface="Times New Roman" panose="02020603050405020304" pitchFamily="18" charset="0"/>
                <a:cs typeface="Times New Roman" panose="02020603050405020304" pitchFamily="18" charset="0"/>
              </a:rPr>
              <a:t>کلید اصلی</a:t>
            </a:r>
            <a:r>
              <a:rPr lang="en-US" sz="1200" dirty="0">
                <a:effectLst/>
                <a:latin typeface="Times New Roman" panose="02020603050405020304" pitchFamily="18" charset="0"/>
                <a:ea typeface="Times New Roman" panose="02020603050405020304" pitchFamily="18" charset="0"/>
                <a:cs typeface="Arial" panose="020B0604020202020204" pitchFamily="34" charset="0"/>
              </a:rPr>
              <a:t>: </a:t>
            </a:r>
            <a:r>
              <a:rPr lang="en-US" sz="1000" dirty="0" err="1">
                <a:effectLst/>
                <a:latin typeface="Courier New" panose="02070309020205020404" pitchFamily="49" charset="0"/>
                <a:ea typeface="Times New Roman" panose="02020603050405020304" pitchFamily="18" charset="0"/>
                <a:cs typeface="Arial" panose="020B0604020202020204" pitchFamily="34" charset="0"/>
              </a:rPr>
              <a:t>LastDegreeId</a:t>
            </a:r>
            <a:r>
              <a:rPr lang="en-US" sz="1200" dirty="0">
                <a:effectLst/>
                <a:latin typeface="Times New Roman" panose="02020603050405020304" pitchFamily="18" charset="0"/>
                <a:ea typeface="Times New Roman" panose="02020603050405020304" pitchFamily="18" charset="0"/>
                <a:cs typeface="Arial" panose="020B0604020202020204" pitchFamily="34" charset="0"/>
              </a:rPr>
              <a:t>.</a:t>
            </a:r>
            <a:endParaRPr lang="en-US" sz="1100" dirty="0">
              <a:effectLst/>
              <a:latin typeface="Calibri" panose="020F0502020204030204" pitchFamily="34" charset="0"/>
              <a:ea typeface="Calibri" panose="020F0502020204030204" pitchFamily="34" charset="0"/>
              <a:cs typeface="Arial" panose="020B0604020202020204" pitchFamily="34" charset="0"/>
            </a:endParaRPr>
          </a:p>
          <a:p>
            <a:pPr marL="0" marR="0" algn="r" rtl="1">
              <a:lnSpc>
                <a:spcPct val="107000"/>
              </a:lnSpc>
              <a:spcBef>
                <a:spcPts val="0"/>
              </a:spcBef>
              <a:spcAft>
                <a:spcPts val="800"/>
              </a:spcAft>
            </a:pPr>
            <a:r>
              <a:rPr lang="ar-SA" sz="1200" dirty="0">
                <a:effectLst/>
                <a:latin typeface="Calibri" panose="020F0502020204030204" pitchFamily="34" charset="0"/>
                <a:ea typeface="Times New Roman" panose="02020603050405020304" pitchFamily="18" charset="0"/>
                <a:cs typeface="Times New Roman" panose="02020603050405020304" pitchFamily="18" charset="0"/>
              </a:rPr>
              <a:t>با این جداسازی، وابستگی انتقالی حذف می‌شود</a:t>
            </a:r>
            <a:r>
              <a:rPr lang="en-US" sz="1200" dirty="0">
                <a:effectLst/>
                <a:latin typeface="Times New Roman" panose="02020603050405020304" pitchFamily="18" charset="0"/>
                <a:ea typeface="Times New Roman" panose="02020603050405020304" pitchFamily="18" charset="0"/>
                <a:cs typeface="Arial" panose="020B0604020202020204" pitchFamily="34" charset="0"/>
              </a:rPr>
              <a:t>.</a:t>
            </a:r>
            <a:endParaRPr lang="en-US" sz="1100" dirty="0">
              <a:effectLst/>
              <a:latin typeface="Calibri" panose="020F0502020204030204" pitchFamily="34" charset="0"/>
              <a:ea typeface="Calibri" panose="020F0502020204030204" pitchFamily="34" charset="0"/>
              <a:cs typeface="Arial" panose="020B0604020202020204" pitchFamily="34" charset="0"/>
            </a:endParaRPr>
          </a:p>
          <a:p>
            <a:pPr marL="0" marR="0" algn="r" rtl="1">
              <a:lnSpc>
                <a:spcPct val="107000"/>
              </a:lnSpc>
              <a:spcBef>
                <a:spcPts val="0"/>
              </a:spcBef>
              <a:spcAft>
                <a:spcPts val="800"/>
              </a:spcAft>
            </a:pPr>
            <a:r>
              <a:rPr lang="ar-SA" sz="1350" b="1" dirty="0">
                <a:effectLst/>
                <a:latin typeface="Calibri" panose="020F0502020204030204" pitchFamily="34" charset="0"/>
                <a:ea typeface="Times New Roman" panose="02020603050405020304" pitchFamily="18" charset="0"/>
                <a:cs typeface="Times New Roman" panose="02020603050405020304" pitchFamily="18" charset="0"/>
              </a:rPr>
              <a:t>نتیجه</a:t>
            </a:r>
            <a:endParaRPr lang="en-US" sz="1100" dirty="0">
              <a:effectLst/>
              <a:latin typeface="Calibri" panose="020F0502020204030204" pitchFamily="34" charset="0"/>
              <a:ea typeface="Calibri" panose="020F0502020204030204" pitchFamily="34" charset="0"/>
              <a:cs typeface="Arial" panose="020B0604020202020204" pitchFamily="34" charset="0"/>
            </a:endParaRPr>
          </a:p>
          <a:p>
            <a:pPr marL="0" marR="0" algn="r" rtl="1">
              <a:lnSpc>
                <a:spcPct val="107000"/>
              </a:lnSpc>
              <a:spcBef>
                <a:spcPts val="0"/>
              </a:spcBef>
              <a:spcAft>
                <a:spcPts val="800"/>
              </a:spcAft>
            </a:pPr>
            <a:r>
              <a:rPr lang="ar-SA" sz="1200" dirty="0">
                <a:effectLst/>
                <a:latin typeface="Calibri" panose="020F0502020204030204" pitchFamily="34" charset="0"/>
                <a:ea typeface="Times New Roman" panose="02020603050405020304" pitchFamily="18" charset="0"/>
                <a:cs typeface="Times New Roman" panose="02020603050405020304" pitchFamily="18" charset="0"/>
              </a:rPr>
              <a:t>این جدول به دلیل وجود وابستگی انتقالی بین </a:t>
            </a:r>
            <a:r>
              <a:rPr lang="en-US" sz="1000" dirty="0" err="1">
                <a:effectLst/>
                <a:latin typeface="Courier New" panose="02070309020205020404" pitchFamily="49" charset="0"/>
                <a:ea typeface="Times New Roman" panose="02020603050405020304" pitchFamily="18" charset="0"/>
                <a:cs typeface="Arial" panose="020B0604020202020204" pitchFamily="34" charset="0"/>
              </a:rPr>
              <a:t>LastDegreeId</a:t>
            </a:r>
            <a:r>
              <a:rPr lang="en-US" sz="1200" dirty="0">
                <a:effectLst/>
                <a:latin typeface="Times New Roman" panose="02020603050405020304" pitchFamily="18" charset="0"/>
                <a:ea typeface="Times New Roman" panose="02020603050405020304" pitchFamily="18" charset="0"/>
                <a:cs typeface="Arial" panose="020B0604020202020204" pitchFamily="34" charset="0"/>
              </a:rPr>
              <a:t> </a:t>
            </a:r>
            <a:r>
              <a:rPr lang="ar-SA" sz="1200" dirty="0">
                <a:effectLst/>
                <a:latin typeface="Calibri" panose="020F0502020204030204" pitchFamily="34" charset="0"/>
                <a:ea typeface="Times New Roman" panose="02020603050405020304" pitchFamily="18" charset="0"/>
                <a:cs typeface="Times New Roman" panose="02020603050405020304" pitchFamily="18" charset="0"/>
              </a:rPr>
              <a:t>و </a:t>
            </a:r>
            <a:r>
              <a:rPr lang="en-US" sz="1000" dirty="0" err="1">
                <a:effectLst/>
                <a:latin typeface="Courier New" panose="02070309020205020404" pitchFamily="49" charset="0"/>
                <a:ea typeface="Times New Roman" panose="02020603050405020304" pitchFamily="18" charset="0"/>
                <a:cs typeface="Arial" panose="020B0604020202020204" pitchFamily="34" charset="0"/>
              </a:rPr>
              <a:t>LastDegreeName</a:t>
            </a:r>
            <a:r>
              <a:rPr lang="en-US" sz="1200" dirty="0">
                <a:effectLst/>
                <a:latin typeface="Times New Roman" panose="02020603050405020304" pitchFamily="18" charset="0"/>
                <a:ea typeface="Times New Roman" panose="02020603050405020304" pitchFamily="18" charset="0"/>
                <a:cs typeface="Arial" panose="020B0604020202020204" pitchFamily="34" charset="0"/>
              </a:rPr>
              <a:t> </a:t>
            </a:r>
            <a:r>
              <a:rPr lang="ar-SA" sz="1200" dirty="0">
                <a:effectLst/>
                <a:latin typeface="Calibri" panose="020F0502020204030204" pitchFamily="34" charset="0"/>
                <a:ea typeface="Times New Roman" panose="02020603050405020304" pitchFamily="18" charset="0"/>
                <a:cs typeface="Times New Roman" panose="02020603050405020304" pitchFamily="18" charset="0"/>
              </a:rPr>
              <a:t>در </a:t>
            </a:r>
            <a:r>
              <a:rPr lang="en-US" sz="1200" b="1" dirty="0">
                <a:effectLst/>
                <a:latin typeface="Times New Roman" panose="02020603050405020304" pitchFamily="18" charset="0"/>
                <a:ea typeface="Times New Roman" panose="02020603050405020304" pitchFamily="18" charset="0"/>
                <a:cs typeface="Arial" panose="020B0604020202020204" pitchFamily="34" charset="0"/>
              </a:rPr>
              <a:t>3NF</a:t>
            </a:r>
            <a:r>
              <a:rPr lang="en-US" sz="1200" dirty="0">
                <a:effectLst/>
                <a:latin typeface="Times New Roman" panose="02020603050405020304" pitchFamily="18" charset="0"/>
                <a:ea typeface="Times New Roman" panose="02020603050405020304" pitchFamily="18" charset="0"/>
                <a:cs typeface="Arial" panose="020B0604020202020204" pitchFamily="34" charset="0"/>
              </a:rPr>
              <a:t> </a:t>
            </a:r>
            <a:r>
              <a:rPr lang="ar-SA" sz="1200" dirty="0">
                <a:effectLst/>
                <a:latin typeface="Calibri" panose="020F0502020204030204" pitchFamily="34" charset="0"/>
                <a:ea typeface="Times New Roman" panose="02020603050405020304" pitchFamily="18" charset="0"/>
                <a:cs typeface="Times New Roman" panose="02020603050405020304" pitchFamily="18" charset="0"/>
              </a:rPr>
              <a:t>نیست. برای نرمال‌سازی آن، باید اطلاعات مربوط به درجه‌ها</a:t>
            </a:r>
            <a:r>
              <a:rPr lang="en-US" sz="1200" dirty="0">
                <a:effectLst/>
                <a:latin typeface="Times New Roman" panose="02020603050405020304" pitchFamily="18" charset="0"/>
                <a:ea typeface="Times New Roman" panose="02020603050405020304" pitchFamily="18" charset="0"/>
                <a:cs typeface="Arial" panose="020B0604020202020204" pitchFamily="34" charset="0"/>
              </a:rPr>
              <a:t> (Degrees) </a:t>
            </a:r>
            <a:r>
              <a:rPr lang="ar-SA" sz="1200" dirty="0">
                <a:effectLst/>
                <a:latin typeface="Calibri" panose="020F0502020204030204" pitchFamily="34" charset="0"/>
                <a:ea typeface="Times New Roman" panose="02020603050405020304" pitchFamily="18" charset="0"/>
                <a:cs typeface="Times New Roman" panose="02020603050405020304" pitchFamily="18" charset="0"/>
              </a:rPr>
              <a:t>را به جدول جداگانه‌ای منتقل کنید</a:t>
            </a:r>
            <a:r>
              <a:rPr lang="en-US" sz="1200" dirty="0">
                <a:effectLst/>
                <a:latin typeface="Times New Roman" panose="02020603050405020304" pitchFamily="18" charset="0"/>
                <a:ea typeface="Times New Roman" panose="02020603050405020304" pitchFamily="18" charset="0"/>
                <a:cs typeface="Arial" panose="020B0604020202020204" pitchFamily="34" charset="0"/>
              </a:rPr>
              <a:t>.</a:t>
            </a:r>
            <a:endParaRPr lang="en-US" sz="1100" dirty="0">
              <a:effectLst/>
              <a:latin typeface="Calibri" panose="020F0502020204030204" pitchFamily="34" charset="0"/>
              <a:ea typeface="Calibri" panose="020F0502020204030204" pitchFamily="34" charset="0"/>
              <a:cs typeface="Arial" panose="020B0604020202020204" pitchFamily="34" charset="0"/>
            </a:endParaRPr>
          </a:p>
          <a:p>
            <a:pPr marL="0" marR="0" algn="r" rtl="1">
              <a:lnSpc>
                <a:spcPct val="107000"/>
              </a:lnSpc>
              <a:spcBef>
                <a:spcPts val="0"/>
              </a:spcBef>
              <a:spcAft>
                <a:spcPts val="800"/>
              </a:spcAft>
            </a:pPr>
            <a:r>
              <a:rPr lang="en-US" sz="1100" dirty="0">
                <a:effectLst/>
                <a:latin typeface="Calibri" panose="020F0502020204030204" pitchFamily="34" charset="0"/>
                <a:ea typeface="Calibri" panose="020F0502020204030204" pitchFamily="34" charset="0"/>
                <a:cs typeface="Arial" panose="020B0604020202020204" pitchFamily="34" charset="0"/>
              </a:rPr>
              <a:t> </a:t>
            </a:r>
          </a:p>
          <a:p>
            <a:endParaRPr lang="en-US" dirty="0"/>
          </a:p>
        </p:txBody>
      </p:sp>
      <p:sp>
        <p:nvSpPr>
          <p:cNvPr id="4" name="Slide Number Placeholder 3"/>
          <p:cNvSpPr>
            <a:spLocks noGrp="1"/>
          </p:cNvSpPr>
          <p:nvPr>
            <p:ph type="sldNum" sz="quarter" idx="5"/>
          </p:nvPr>
        </p:nvSpPr>
        <p:spPr/>
        <p:txBody>
          <a:bodyPr/>
          <a:lstStyle/>
          <a:p>
            <a:fld id="{EF7565D7-C2AB-4CDD-97A1-0422B6964B36}" type="slidenum">
              <a:rPr lang="en-US" altLang="en-US" smtClean="0"/>
              <a:pPr/>
              <a:t>32</a:t>
            </a:fld>
            <a:endParaRPr lang="en-US" altLang="en-US"/>
          </a:p>
        </p:txBody>
      </p:sp>
    </p:spTree>
    <p:extLst>
      <p:ext uri="{BB962C8B-B14F-4D97-AF65-F5344CB8AC3E}">
        <p14:creationId xmlns:p14="http://schemas.microsoft.com/office/powerpoint/2010/main" val="1372652287"/>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r>
              <a:rPr lang="en-US" b="1" dirty="0"/>
              <a:t>Definition of Super Key in Database</a:t>
            </a:r>
          </a:p>
          <a:p>
            <a:r>
              <a:rPr lang="en-US" dirty="0"/>
              <a:t>A </a:t>
            </a:r>
            <a:r>
              <a:rPr lang="en-US" b="1" dirty="0"/>
              <a:t>super key</a:t>
            </a:r>
            <a:r>
              <a:rPr lang="en-US" dirty="0"/>
              <a:t> is a set of one or more attributes that can uniquely identify a tuple (row) in a relational database table. In other words, it is any combination of attributes that ensures no two rows in the table have the same values for those attributes.</a:t>
            </a:r>
          </a:p>
          <a:p>
            <a:r>
              <a:rPr lang="en-US" b="1" dirty="0"/>
              <a:t>Characteristics of a Super Key</a:t>
            </a:r>
          </a:p>
          <a:p>
            <a:pPr>
              <a:buFont typeface="+mj-lt"/>
              <a:buAutoNum type="arabicPeriod"/>
            </a:pPr>
            <a:r>
              <a:rPr lang="en-US" dirty="0"/>
              <a:t>It may include </a:t>
            </a:r>
            <a:r>
              <a:rPr lang="en-US" b="1" dirty="0"/>
              <a:t>extra attributes</a:t>
            </a:r>
            <a:r>
              <a:rPr lang="en-US" dirty="0"/>
              <a:t> that are not necessary for uniqueness (i.e., it is not minimal).</a:t>
            </a:r>
          </a:p>
          <a:p>
            <a:pPr>
              <a:buFont typeface="+mj-lt"/>
              <a:buAutoNum type="arabicPeriod"/>
            </a:pPr>
            <a:r>
              <a:rPr lang="en-US" dirty="0"/>
              <a:t>Every table must have at least one super key.</a:t>
            </a:r>
          </a:p>
          <a:p>
            <a:pPr>
              <a:buFont typeface="+mj-lt"/>
              <a:buAutoNum type="arabicPeriod"/>
            </a:pPr>
            <a:r>
              <a:rPr lang="en-US" dirty="0"/>
              <a:t>The </a:t>
            </a:r>
            <a:r>
              <a:rPr lang="en-US" b="1" dirty="0"/>
              <a:t>primary key</a:t>
            </a:r>
            <a:r>
              <a:rPr lang="en-US" dirty="0"/>
              <a:t> is a minimal super key, meaning it is the smallest subset of a super key that can still uniquely identify rows.</a:t>
            </a:r>
          </a:p>
          <a:p>
            <a:r>
              <a:rPr lang="en-US" b="1" dirty="0"/>
              <a:t>Examples of Super Keys</a:t>
            </a:r>
          </a:p>
          <a:p>
            <a:r>
              <a:rPr lang="en-US" dirty="0"/>
              <a:t>Consider a table Students with the following attributes:</a:t>
            </a:r>
          </a:p>
          <a:p>
            <a:pPr>
              <a:buFont typeface="+mj-lt"/>
              <a:buAutoNum type="arabicPeriod"/>
            </a:pPr>
            <a:r>
              <a:rPr lang="en-US" dirty="0"/>
              <a:t>StudentIDNameEmailPhone101Alicealice@mail.com123456789102Bobbob@mail.com987654321</a:t>
            </a:r>
            <a:r>
              <a:rPr lang="en-US" b="1" dirty="0"/>
              <a:t>Candidate Super Keys</a:t>
            </a:r>
            <a:r>
              <a:rPr lang="en-US" dirty="0"/>
              <a:t>:</a:t>
            </a:r>
          </a:p>
          <a:p>
            <a:pPr marL="742950" lvl="1" indent="-285750">
              <a:buFont typeface="+mj-lt"/>
              <a:buAutoNum type="arabicPeriod"/>
            </a:pPr>
            <a:r>
              <a:rPr lang="en-US" dirty="0"/>
              <a:t>{</a:t>
            </a:r>
            <a:r>
              <a:rPr lang="en-US" dirty="0" err="1"/>
              <a:t>StudentID</a:t>
            </a:r>
            <a:r>
              <a:rPr lang="en-US" dirty="0"/>
              <a:t>}: Since </a:t>
            </a:r>
            <a:r>
              <a:rPr lang="en-US" dirty="0" err="1"/>
              <a:t>StudentID</a:t>
            </a:r>
            <a:r>
              <a:rPr lang="en-US" dirty="0"/>
              <a:t> uniquely identifies each student, it is a super key.</a:t>
            </a:r>
          </a:p>
          <a:p>
            <a:pPr marL="742950" lvl="1" indent="-285750">
              <a:buFont typeface="+mj-lt"/>
              <a:buAutoNum type="arabicPeriod"/>
            </a:pPr>
            <a:r>
              <a:rPr lang="en-US" dirty="0"/>
              <a:t>{Email}: Each email is unique and can identify a student, so it is also a super key.</a:t>
            </a:r>
          </a:p>
          <a:p>
            <a:pPr>
              <a:buFont typeface="+mj-lt"/>
              <a:buAutoNum type="arabicPeriod"/>
            </a:pPr>
            <a:r>
              <a:rPr lang="en-US" b="1" dirty="0"/>
              <a:t>Composite Super Keys</a:t>
            </a:r>
            <a:r>
              <a:rPr lang="en-US" dirty="0"/>
              <a:t>:</a:t>
            </a:r>
          </a:p>
          <a:p>
            <a:pPr marL="742950" lvl="1" indent="-285750">
              <a:buFont typeface="+mj-lt"/>
              <a:buAutoNum type="arabicPeriod"/>
            </a:pPr>
            <a:r>
              <a:rPr lang="en-US" dirty="0"/>
              <a:t>{</a:t>
            </a:r>
            <a:r>
              <a:rPr lang="en-US" dirty="0" err="1"/>
              <a:t>StudentID</a:t>
            </a:r>
            <a:r>
              <a:rPr lang="en-US" dirty="0"/>
              <a:t>, Name}: The combination of </a:t>
            </a:r>
            <a:r>
              <a:rPr lang="en-US" dirty="0" err="1"/>
              <a:t>StudentID</a:t>
            </a:r>
            <a:r>
              <a:rPr lang="en-US" dirty="0"/>
              <a:t> and Name can still uniquely identify rows (though Name is redundant here).</a:t>
            </a:r>
          </a:p>
          <a:p>
            <a:pPr marL="742950" lvl="1" indent="-285750">
              <a:buFont typeface="+mj-lt"/>
              <a:buAutoNum type="arabicPeriod"/>
            </a:pPr>
            <a:r>
              <a:rPr lang="en-US" dirty="0"/>
              <a:t>{Email, Phone}: The combination of email and phone ensures uniqueness.</a:t>
            </a:r>
          </a:p>
          <a:p>
            <a:pPr>
              <a:buFont typeface="+mj-lt"/>
              <a:buAutoNum type="arabicPeriod"/>
            </a:pPr>
            <a:r>
              <a:rPr lang="en-US" b="1" dirty="0"/>
              <a:t>Non-Minimal Super Key</a:t>
            </a:r>
            <a:r>
              <a:rPr lang="en-US" dirty="0"/>
              <a:t>:</a:t>
            </a:r>
          </a:p>
          <a:p>
            <a:pPr marL="742950" lvl="1" indent="-285750">
              <a:buFont typeface="+mj-lt"/>
              <a:buAutoNum type="arabicPeriod"/>
            </a:pPr>
            <a:r>
              <a:rPr lang="en-US" dirty="0"/>
              <a:t>{</a:t>
            </a:r>
            <a:r>
              <a:rPr lang="en-US" dirty="0" err="1"/>
              <a:t>StudentID</a:t>
            </a:r>
            <a:r>
              <a:rPr lang="en-US" dirty="0"/>
              <a:t>, Email, Phone}: This is a super key, but it contains redundant attributes (extra information unnecessary for uniqueness).</a:t>
            </a:r>
          </a:p>
          <a:p>
            <a:endParaRPr lang="en-US" dirty="0"/>
          </a:p>
        </p:txBody>
      </p:sp>
      <p:sp>
        <p:nvSpPr>
          <p:cNvPr id="4" name="Slide Number Placeholder 3"/>
          <p:cNvSpPr>
            <a:spLocks noGrp="1"/>
          </p:cNvSpPr>
          <p:nvPr>
            <p:ph type="sldNum" sz="quarter" idx="5"/>
          </p:nvPr>
        </p:nvSpPr>
        <p:spPr/>
        <p:txBody>
          <a:bodyPr/>
          <a:lstStyle/>
          <a:p>
            <a:fld id="{EF7565D7-C2AB-4CDD-97A1-0422B6964B36}" type="slidenum">
              <a:rPr lang="en-US" altLang="en-US" smtClean="0"/>
              <a:pPr/>
              <a:t>34</a:t>
            </a:fld>
            <a:endParaRPr lang="en-US" altLang="en-US"/>
          </a:p>
        </p:txBody>
      </p:sp>
    </p:spTree>
    <p:extLst>
      <p:ext uri="{BB962C8B-B14F-4D97-AF65-F5344CB8AC3E}">
        <p14:creationId xmlns:p14="http://schemas.microsoft.com/office/powerpoint/2010/main" val="1679377862"/>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342900" marR="0" lvl="0" indent="-342900" algn="r" rtl="1">
              <a:lnSpc>
                <a:spcPct val="107000"/>
              </a:lnSpc>
              <a:spcBef>
                <a:spcPts val="0"/>
              </a:spcBef>
              <a:spcAft>
                <a:spcPts val="800"/>
              </a:spcAft>
              <a:buSzPts val="1000"/>
              <a:buFont typeface="Symbol" panose="05050102010706020507" pitchFamily="18" charset="2"/>
              <a:buChar char=""/>
              <a:tabLst>
                <a:tab pos="457200" algn="l"/>
              </a:tabLst>
            </a:pPr>
            <a:r>
              <a:rPr lang="ar-SA" sz="1800" dirty="0">
                <a:effectLst/>
                <a:latin typeface="Times New Roman" panose="02020603050405020304" pitchFamily="18" charset="0"/>
                <a:ea typeface="Times New Roman" panose="02020603050405020304" pitchFamily="18" charset="0"/>
                <a:cs typeface="B Nazanin" panose="00000400000000000000" pitchFamily="2" charset="-78"/>
              </a:rPr>
              <a:t>در</a:t>
            </a:r>
            <a:r>
              <a:rPr lang="en-US" sz="1800" dirty="0">
                <a:effectLst/>
                <a:latin typeface="Times New Roman" panose="02020603050405020304" pitchFamily="18" charset="0"/>
                <a:ea typeface="Times New Roman" panose="02020603050405020304" pitchFamily="18" charset="0"/>
                <a:cs typeface="B Nazanin" panose="00000400000000000000" pitchFamily="2" charset="-78"/>
              </a:rPr>
              <a:t> BCNF</a:t>
            </a:r>
            <a:r>
              <a:rPr lang="ar-SA" sz="1800" dirty="0">
                <a:effectLst/>
                <a:latin typeface="Times New Roman" panose="02020603050405020304" pitchFamily="18" charset="0"/>
                <a:ea typeface="Times New Roman" panose="02020603050405020304" pitchFamily="18" charset="0"/>
                <a:cs typeface="B Nazanin" panose="00000400000000000000" pitchFamily="2" charset="-78"/>
              </a:rPr>
              <a:t>، باید همه وابستگی‌ها در روابط تابعی به گونه‌ای باشند که ویژگی‌های چپ</a:t>
            </a:r>
            <a:r>
              <a:rPr lang="en-US" sz="1800" dirty="0">
                <a:effectLst/>
                <a:latin typeface="Times New Roman" panose="02020603050405020304" pitchFamily="18" charset="0"/>
                <a:ea typeface="Times New Roman" panose="02020603050405020304" pitchFamily="18" charset="0"/>
                <a:cs typeface="B Nazanin" panose="00000400000000000000" pitchFamily="2" charset="-78"/>
              </a:rPr>
              <a:t> (X) </a:t>
            </a:r>
            <a:r>
              <a:rPr lang="ar-SA" sz="1800" dirty="0">
                <a:effectLst/>
                <a:latin typeface="Times New Roman" panose="02020603050405020304" pitchFamily="18" charset="0"/>
                <a:ea typeface="Times New Roman" panose="02020603050405020304" pitchFamily="18" charset="0"/>
                <a:cs typeface="B Nazanin" panose="00000400000000000000" pitchFamily="2" charset="-78"/>
              </a:rPr>
              <a:t>در هر وابستگی تابعی، یک سوپرکلید باشد</a:t>
            </a:r>
            <a:r>
              <a:rPr lang="en-US" sz="1800" dirty="0">
                <a:effectLst/>
                <a:latin typeface="Times New Roman" panose="02020603050405020304" pitchFamily="18" charset="0"/>
                <a:ea typeface="Times New Roman" panose="02020603050405020304" pitchFamily="18" charset="0"/>
                <a:cs typeface="B Nazanin" panose="00000400000000000000" pitchFamily="2" charset="-78"/>
              </a:rPr>
              <a:t>.</a:t>
            </a:r>
            <a:endParaRPr lang="en-US" sz="1800" dirty="0">
              <a:effectLst/>
              <a:latin typeface="Calibri" panose="020F0502020204030204" pitchFamily="34" charset="0"/>
              <a:ea typeface="Calibri" panose="020F0502020204030204" pitchFamily="34" charset="0"/>
              <a:cs typeface="Arial" panose="020B0604020202020204" pitchFamily="34" charset="0"/>
            </a:endParaRPr>
          </a:p>
          <a:p>
            <a:pPr marL="342900" marR="0" lvl="0" indent="-342900" algn="r" rtl="1">
              <a:lnSpc>
                <a:spcPct val="107000"/>
              </a:lnSpc>
              <a:spcBef>
                <a:spcPts val="0"/>
              </a:spcBef>
              <a:spcAft>
                <a:spcPts val="800"/>
              </a:spcAft>
              <a:buSzPts val="1000"/>
              <a:buFont typeface="Symbol" panose="05050102010706020507" pitchFamily="18" charset="2"/>
              <a:buChar char=""/>
              <a:tabLst>
                <a:tab pos="457200" algn="l"/>
              </a:tabLst>
            </a:pPr>
            <a:r>
              <a:rPr lang="ar-SA" sz="1800" dirty="0">
                <a:effectLst/>
                <a:latin typeface="Times New Roman" panose="02020603050405020304" pitchFamily="18" charset="0"/>
                <a:ea typeface="Times New Roman" panose="02020603050405020304" pitchFamily="18" charset="0"/>
                <a:cs typeface="B Nazanin" panose="00000400000000000000" pitchFamily="2" charset="-78"/>
              </a:rPr>
              <a:t>اگر یک ویژگی غیر کلیدی به ویژگی‌های دیگری وابسته باشد، جدول باید تجزیه شود تا</a:t>
            </a:r>
            <a:r>
              <a:rPr lang="en-US" sz="1800" dirty="0">
                <a:effectLst/>
                <a:latin typeface="Times New Roman" panose="02020603050405020304" pitchFamily="18" charset="0"/>
                <a:ea typeface="Times New Roman" panose="02020603050405020304" pitchFamily="18" charset="0"/>
                <a:cs typeface="B Nazanin" panose="00000400000000000000" pitchFamily="2" charset="-78"/>
              </a:rPr>
              <a:t> BCNF </a:t>
            </a:r>
            <a:r>
              <a:rPr lang="ar-SA" sz="1800" dirty="0">
                <a:effectLst/>
                <a:latin typeface="Times New Roman" panose="02020603050405020304" pitchFamily="18" charset="0"/>
                <a:ea typeface="Times New Roman" panose="02020603050405020304" pitchFamily="18" charset="0"/>
                <a:cs typeface="B Nazanin" panose="00000400000000000000" pitchFamily="2" charset="-78"/>
              </a:rPr>
              <a:t>حفظ شود</a:t>
            </a:r>
            <a:r>
              <a:rPr lang="en-US" sz="1800" dirty="0">
                <a:effectLst/>
                <a:latin typeface="Times New Roman" panose="02020603050405020304" pitchFamily="18" charset="0"/>
                <a:ea typeface="Times New Roman" panose="02020603050405020304" pitchFamily="18" charset="0"/>
                <a:cs typeface="B Nazanin" panose="00000400000000000000" pitchFamily="2" charset="-78"/>
              </a:rPr>
              <a:t>.</a:t>
            </a:r>
            <a:endParaRPr lang="en-US" sz="1800" dirty="0">
              <a:effectLst/>
              <a:latin typeface="Calibri" panose="020F0502020204030204" pitchFamily="34" charset="0"/>
              <a:ea typeface="Calibri" panose="020F0502020204030204" pitchFamily="34" charset="0"/>
              <a:cs typeface="Arial" panose="020B0604020202020204" pitchFamily="34" charset="0"/>
            </a:endParaRPr>
          </a:p>
          <a:p>
            <a:endParaRPr lang="en-US" dirty="0"/>
          </a:p>
        </p:txBody>
      </p:sp>
      <p:sp>
        <p:nvSpPr>
          <p:cNvPr id="4" name="Slide Number Placeholder 3"/>
          <p:cNvSpPr>
            <a:spLocks noGrp="1"/>
          </p:cNvSpPr>
          <p:nvPr>
            <p:ph type="sldNum" sz="quarter" idx="5"/>
          </p:nvPr>
        </p:nvSpPr>
        <p:spPr/>
        <p:txBody>
          <a:bodyPr/>
          <a:lstStyle/>
          <a:p>
            <a:fld id="{EF7565D7-C2AB-4CDD-97A1-0422B6964B36}" type="slidenum">
              <a:rPr lang="en-US" altLang="en-US" smtClean="0"/>
              <a:pPr/>
              <a:t>35</a:t>
            </a:fld>
            <a:endParaRPr lang="en-US" altLang="en-US"/>
          </a:p>
        </p:txBody>
      </p:sp>
    </p:spTree>
    <p:extLst>
      <p:ext uri="{BB962C8B-B14F-4D97-AF65-F5344CB8AC3E}">
        <p14:creationId xmlns:p14="http://schemas.microsoft.com/office/powerpoint/2010/main" val="3103858232"/>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342900" marR="0" lvl="0" indent="-342900" algn="r" rtl="1">
              <a:lnSpc>
                <a:spcPct val="107000"/>
              </a:lnSpc>
              <a:spcBef>
                <a:spcPts val="0"/>
              </a:spcBef>
              <a:spcAft>
                <a:spcPts val="800"/>
              </a:spcAft>
              <a:buSzPts val="1000"/>
              <a:buFont typeface="Symbol" panose="05050102010706020507" pitchFamily="18" charset="2"/>
              <a:buChar char=""/>
              <a:tabLst>
                <a:tab pos="457200" algn="l"/>
              </a:tabLst>
            </a:pPr>
            <a:r>
              <a:rPr lang="ar-SA" sz="1800" dirty="0">
                <a:effectLst/>
                <a:latin typeface="Times New Roman" panose="02020603050405020304" pitchFamily="18" charset="0"/>
                <a:ea typeface="Times New Roman" panose="02020603050405020304" pitchFamily="18" charset="0"/>
                <a:cs typeface="B Nazanin" panose="00000400000000000000" pitchFamily="2" charset="-78"/>
              </a:rPr>
              <a:t>در</a:t>
            </a:r>
            <a:r>
              <a:rPr lang="en-US" sz="1800" dirty="0">
                <a:effectLst/>
                <a:latin typeface="Times New Roman" panose="02020603050405020304" pitchFamily="18" charset="0"/>
                <a:ea typeface="Times New Roman" panose="02020603050405020304" pitchFamily="18" charset="0"/>
                <a:cs typeface="B Nazanin" panose="00000400000000000000" pitchFamily="2" charset="-78"/>
              </a:rPr>
              <a:t> BCNF</a:t>
            </a:r>
            <a:r>
              <a:rPr lang="ar-SA" sz="1800" dirty="0">
                <a:effectLst/>
                <a:latin typeface="Times New Roman" panose="02020603050405020304" pitchFamily="18" charset="0"/>
                <a:ea typeface="Times New Roman" panose="02020603050405020304" pitchFamily="18" charset="0"/>
                <a:cs typeface="B Nazanin" panose="00000400000000000000" pitchFamily="2" charset="-78"/>
              </a:rPr>
              <a:t>، باید همه وابستگی‌ها در روابط تابعی به گونه‌ای باشند که ویژگی‌های چپ</a:t>
            </a:r>
            <a:r>
              <a:rPr lang="en-US" sz="1800" dirty="0">
                <a:effectLst/>
                <a:latin typeface="Times New Roman" panose="02020603050405020304" pitchFamily="18" charset="0"/>
                <a:ea typeface="Times New Roman" panose="02020603050405020304" pitchFamily="18" charset="0"/>
                <a:cs typeface="B Nazanin" panose="00000400000000000000" pitchFamily="2" charset="-78"/>
              </a:rPr>
              <a:t> (X) </a:t>
            </a:r>
            <a:r>
              <a:rPr lang="ar-SA" sz="1800" dirty="0">
                <a:effectLst/>
                <a:latin typeface="Times New Roman" panose="02020603050405020304" pitchFamily="18" charset="0"/>
                <a:ea typeface="Times New Roman" panose="02020603050405020304" pitchFamily="18" charset="0"/>
                <a:cs typeface="B Nazanin" panose="00000400000000000000" pitchFamily="2" charset="-78"/>
              </a:rPr>
              <a:t>در هر وابستگی تابعی، یک سوپرکلید باشد</a:t>
            </a:r>
            <a:r>
              <a:rPr lang="en-US" sz="1800" dirty="0">
                <a:effectLst/>
                <a:latin typeface="Times New Roman" panose="02020603050405020304" pitchFamily="18" charset="0"/>
                <a:ea typeface="Times New Roman" panose="02020603050405020304" pitchFamily="18" charset="0"/>
                <a:cs typeface="B Nazanin" panose="00000400000000000000" pitchFamily="2" charset="-78"/>
              </a:rPr>
              <a:t>.</a:t>
            </a:r>
            <a:endParaRPr lang="en-US" sz="1800" dirty="0">
              <a:effectLst/>
              <a:latin typeface="Calibri" panose="020F0502020204030204" pitchFamily="34" charset="0"/>
              <a:ea typeface="Calibri" panose="020F0502020204030204" pitchFamily="34" charset="0"/>
              <a:cs typeface="Arial" panose="020B0604020202020204" pitchFamily="34" charset="0"/>
            </a:endParaRPr>
          </a:p>
          <a:p>
            <a:pPr marL="342900" marR="0" lvl="0" indent="-342900" algn="r" rtl="1">
              <a:lnSpc>
                <a:spcPct val="107000"/>
              </a:lnSpc>
              <a:spcBef>
                <a:spcPts val="0"/>
              </a:spcBef>
              <a:spcAft>
                <a:spcPts val="800"/>
              </a:spcAft>
              <a:buSzPts val="1000"/>
              <a:buFont typeface="Symbol" panose="05050102010706020507" pitchFamily="18" charset="2"/>
              <a:buChar char=""/>
              <a:tabLst>
                <a:tab pos="457200" algn="l"/>
              </a:tabLst>
            </a:pPr>
            <a:r>
              <a:rPr lang="ar-SA" sz="1800" dirty="0">
                <a:effectLst/>
                <a:latin typeface="Times New Roman" panose="02020603050405020304" pitchFamily="18" charset="0"/>
                <a:ea typeface="Times New Roman" panose="02020603050405020304" pitchFamily="18" charset="0"/>
                <a:cs typeface="B Nazanin" panose="00000400000000000000" pitchFamily="2" charset="-78"/>
              </a:rPr>
              <a:t>اگر یک ویژگی غیر کلیدی به ویژگی‌های دیگری وابسته باشد، جدول باید تجزیه شود تا</a:t>
            </a:r>
            <a:r>
              <a:rPr lang="en-US" sz="1800" dirty="0">
                <a:effectLst/>
                <a:latin typeface="Times New Roman" panose="02020603050405020304" pitchFamily="18" charset="0"/>
                <a:ea typeface="Times New Roman" panose="02020603050405020304" pitchFamily="18" charset="0"/>
                <a:cs typeface="B Nazanin" panose="00000400000000000000" pitchFamily="2" charset="-78"/>
              </a:rPr>
              <a:t> BCNF </a:t>
            </a:r>
            <a:r>
              <a:rPr lang="ar-SA" sz="1800" dirty="0">
                <a:effectLst/>
                <a:latin typeface="Times New Roman" panose="02020603050405020304" pitchFamily="18" charset="0"/>
                <a:ea typeface="Times New Roman" panose="02020603050405020304" pitchFamily="18" charset="0"/>
                <a:cs typeface="B Nazanin" panose="00000400000000000000" pitchFamily="2" charset="-78"/>
              </a:rPr>
              <a:t>حفظ شود</a:t>
            </a:r>
            <a:r>
              <a:rPr lang="en-US" sz="1800" dirty="0">
                <a:effectLst/>
                <a:latin typeface="Times New Roman" panose="02020603050405020304" pitchFamily="18" charset="0"/>
                <a:ea typeface="Times New Roman" panose="02020603050405020304" pitchFamily="18" charset="0"/>
                <a:cs typeface="B Nazanin" panose="00000400000000000000" pitchFamily="2" charset="-78"/>
              </a:rPr>
              <a:t>.</a:t>
            </a:r>
            <a:endParaRPr lang="en-US" sz="1800" dirty="0">
              <a:effectLst/>
              <a:latin typeface="Calibri" panose="020F0502020204030204" pitchFamily="34" charset="0"/>
              <a:ea typeface="Calibri" panose="020F0502020204030204" pitchFamily="34" charset="0"/>
              <a:cs typeface="Arial" panose="020B0604020202020204" pitchFamily="34" charset="0"/>
            </a:endParaRPr>
          </a:p>
          <a:p>
            <a:endParaRPr lang="en-US" dirty="0"/>
          </a:p>
        </p:txBody>
      </p:sp>
      <p:sp>
        <p:nvSpPr>
          <p:cNvPr id="4" name="Slide Number Placeholder 3"/>
          <p:cNvSpPr>
            <a:spLocks noGrp="1"/>
          </p:cNvSpPr>
          <p:nvPr>
            <p:ph type="sldNum" sz="quarter" idx="5"/>
          </p:nvPr>
        </p:nvSpPr>
        <p:spPr/>
        <p:txBody>
          <a:bodyPr/>
          <a:lstStyle/>
          <a:p>
            <a:fld id="{EF7565D7-C2AB-4CDD-97A1-0422B6964B36}" type="slidenum">
              <a:rPr lang="en-US" altLang="en-US" smtClean="0"/>
              <a:pPr/>
              <a:t>36</a:t>
            </a:fld>
            <a:endParaRPr lang="en-US" altLang="en-US"/>
          </a:p>
        </p:txBody>
      </p:sp>
    </p:spTree>
    <p:extLst>
      <p:ext uri="{BB962C8B-B14F-4D97-AF65-F5344CB8AC3E}">
        <p14:creationId xmlns:p14="http://schemas.microsoft.com/office/powerpoint/2010/main" val="1339352994"/>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342900" marR="0" lvl="0" indent="-342900" algn="r" rtl="1">
              <a:lnSpc>
                <a:spcPct val="107000"/>
              </a:lnSpc>
              <a:spcBef>
                <a:spcPts val="0"/>
              </a:spcBef>
              <a:spcAft>
                <a:spcPts val="800"/>
              </a:spcAft>
              <a:buSzPts val="1000"/>
              <a:buFont typeface="Symbol" panose="05050102010706020507" pitchFamily="18" charset="2"/>
              <a:buChar char=""/>
              <a:tabLst>
                <a:tab pos="457200" algn="l"/>
              </a:tabLst>
            </a:pPr>
            <a:r>
              <a:rPr lang="ar-SA" sz="1800" dirty="0">
                <a:effectLst/>
                <a:latin typeface="Times New Roman" panose="02020603050405020304" pitchFamily="18" charset="0"/>
                <a:ea typeface="Times New Roman" panose="02020603050405020304" pitchFamily="18" charset="0"/>
                <a:cs typeface="B Nazanin" panose="00000400000000000000" pitchFamily="2" charset="-78"/>
              </a:rPr>
              <a:t>در</a:t>
            </a:r>
            <a:r>
              <a:rPr lang="en-US" sz="1800" dirty="0">
                <a:effectLst/>
                <a:latin typeface="Times New Roman" panose="02020603050405020304" pitchFamily="18" charset="0"/>
                <a:ea typeface="Times New Roman" panose="02020603050405020304" pitchFamily="18" charset="0"/>
                <a:cs typeface="B Nazanin" panose="00000400000000000000" pitchFamily="2" charset="-78"/>
              </a:rPr>
              <a:t> BCNF</a:t>
            </a:r>
            <a:r>
              <a:rPr lang="ar-SA" sz="1800" dirty="0">
                <a:effectLst/>
                <a:latin typeface="Times New Roman" panose="02020603050405020304" pitchFamily="18" charset="0"/>
                <a:ea typeface="Times New Roman" panose="02020603050405020304" pitchFamily="18" charset="0"/>
                <a:cs typeface="B Nazanin" panose="00000400000000000000" pitchFamily="2" charset="-78"/>
              </a:rPr>
              <a:t>، باید همه وابستگی‌ها در روابط تابعی به گونه‌ای باشند که ویژگی‌های چپ</a:t>
            </a:r>
            <a:r>
              <a:rPr lang="en-US" sz="1800" dirty="0">
                <a:effectLst/>
                <a:latin typeface="Times New Roman" panose="02020603050405020304" pitchFamily="18" charset="0"/>
                <a:ea typeface="Times New Roman" panose="02020603050405020304" pitchFamily="18" charset="0"/>
                <a:cs typeface="B Nazanin" panose="00000400000000000000" pitchFamily="2" charset="-78"/>
              </a:rPr>
              <a:t> (X) </a:t>
            </a:r>
            <a:r>
              <a:rPr lang="ar-SA" sz="1800" dirty="0">
                <a:effectLst/>
                <a:latin typeface="Times New Roman" panose="02020603050405020304" pitchFamily="18" charset="0"/>
                <a:ea typeface="Times New Roman" panose="02020603050405020304" pitchFamily="18" charset="0"/>
                <a:cs typeface="B Nazanin" panose="00000400000000000000" pitchFamily="2" charset="-78"/>
              </a:rPr>
              <a:t>در هر وابستگی تابعی، یک سوپرکلید باشد</a:t>
            </a:r>
            <a:r>
              <a:rPr lang="en-US" sz="1800" dirty="0">
                <a:effectLst/>
                <a:latin typeface="Times New Roman" panose="02020603050405020304" pitchFamily="18" charset="0"/>
                <a:ea typeface="Times New Roman" panose="02020603050405020304" pitchFamily="18" charset="0"/>
                <a:cs typeface="B Nazanin" panose="00000400000000000000" pitchFamily="2" charset="-78"/>
              </a:rPr>
              <a:t>.</a:t>
            </a:r>
            <a:endParaRPr lang="en-US" sz="1800" dirty="0">
              <a:effectLst/>
              <a:latin typeface="Calibri" panose="020F0502020204030204" pitchFamily="34" charset="0"/>
              <a:ea typeface="Calibri" panose="020F0502020204030204" pitchFamily="34" charset="0"/>
              <a:cs typeface="Arial" panose="020B0604020202020204" pitchFamily="34" charset="0"/>
            </a:endParaRPr>
          </a:p>
          <a:p>
            <a:pPr marL="342900" marR="0" lvl="0" indent="-342900" algn="r" rtl="1">
              <a:lnSpc>
                <a:spcPct val="107000"/>
              </a:lnSpc>
              <a:spcBef>
                <a:spcPts val="0"/>
              </a:spcBef>
              <a:spcAft>
                <a:spcPts val="800"/>
              </a:spcAft>
              <a:buSzPts val="1000"/>
              <a:buFont typeface="Symbol" panose="05050102010706020507" pitchFamily="18" charset="2"/>
              <a:buChar char=""/>
              <a:tabLst>
                <a:tab pos="457200" algn="l"/>
              </a:tabLst>
            </a:pPr>
            <a:r>
              <a:rPr lang="ar-SA" sz="1800" dirty="0">
                <a:effectLst/>
                <a:latin typeface="Times New Roman" panose="02020603050405020304" pitchFamily="18" charset="0"/>
                <a:ea typeface="Times New Roman" panose="02020603050405020304" pitchFamily="18" charset="0"/>
                <a:cs typeface="B Nazanin" panose="00000400000000000000" pitchFamily="2" charset="-78"/>
              </a:rPr>
              <a:t>اگر یک ویژگی غیر کلیدی به ویژگی‌های دیگری وابسته باشد، جدول باید تجزیه شود تا</a:t>
            </a:r>
            <a:r>
              <a:rPr lang="en-US" sz="1800" dirty="0">
                <a:effectLst/>
                <a:latin typeface="Times New Roman" panose="02020603050405020304" pitchFamily="18" charset="0"/>
                <a:ea typeface="Times New Roman" panose="02020603050405020304" pitchFamily="18" charset="0"/>
                <a:cs typeface="B Nazanin" panose="00000400000000000000" pitchFamily="2" charset="-78"/>
              </a:rPr>
              <a:t> BCNF </a:t>
            </a:r>
            <a:r>
              <a:rPr lang="ar-SA" sz="1800" dirty="0">
                <a:effectLst/>
                <a:latin typeface="Times New Roman" panose="02020603050405020304" pitchFamily="18" charset="0"/>
                <a:ea typeface="Times New Roman" panose="02020603050405020304" pitchFamily="18" charset="0"/>
                <a:cs typeface="B Nazanin" panose="00000400000000000000" pitchFamily="2" charset="-78"/>
              </a:rPr>
              <a:t>حفظ شود</a:t>
            </a:r>
            <a:r>
              <a:rPr lang="en-US" sz="1800" dirty="0">
                <a:effectLst/>
                <a:latin typeface="Times New Roman" panose="02020603050405020304" pitchFamily="18" charset="0"/>
                <a:ea typeface="Times New Roman" panose="02020603050405020304" pitchFamily="18" charset="0"/>
                <a:cs typeface="B Nazanin" panose="00000400000000000000" pitchFamily="2" charset="-78"/>
              </a:rPr>
              <a:t>.</a:t>
            </a:r>
            <a:endParaRPr lang="en-US" sz="1800" dirty="0">
              <a:effectLst/>
              <a:latin typeface="Calibri" panose="020F0502020204030204" pitchFamily="34" charset="0"/>
              <a:ea typeface="Calibri" panose="020F0502020204030204" pitchFamily="34" charset="0"/>
              <a:cs typeface="Arial" panose="020B0604020202020204" pitchFamily="34" charset="0"/>
            </a:endParaRPr>
          </a:p>
          <a:p>
            <a:endParaRPr lang="en-US" dirty="0"/>
          </a:p>
        </p:txBody>
      </p:sp>
      <p:sp>
        <p:nvSpPr>
          <p:cNvPr id="4" name="Slide Number Placeholder 3"/>
          <p:cNvSpPr>
            <a:spLocks noGrp="1"/>
          </p:cNvSpPr>
          <p:nvPr>
            <p:ph type="sldNum" sz="quarter" idx="5"/>
          </p:nvPr>
        </p:nvSpPr>
        <p:spPr/>
        <p:txBody>
          <a:bodyPr/>
          <a:lstStyle/>
          <a:p>
            <a:fld id="{EF7565D7-C2AB-4CDD-97A1-0422B6964B36}" type="slidenum">
              <a:rPr lang="en-US" altLang="en-US" smtClean="0"/>
              <a:pPr/>
              <a:t>37</a:t>
            </a:fld>
            <a:endParaRPr lang="en-US" altLang="en-US"/>
          </a:p>
        </p:txBody>
      </p:sp>
    </p:spTree>
    <p:extLst>
      <p:ext uri="{BB962C8B-B14F-4D97-AF65-F5344CB8AC3E}">
        <p14:creationId xmlns:p14="http://schemas.microsoft.com/office/powerpoint/2010/main" val="2508559402"/>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4690"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688">
              <a:defRPr sz="1600">
                <a:solidFill>
                  <a:schemeClr val="tx1"/>
                </a:solidFill>
                <a:latin typeface="Helvetica" panose="020B0604020202020204" pitchFamily="34" charset="0"/>
                <a:ea typeface="MS PGothic" panose="020B0600070205080204" pitchFamily="34" charset="-128"/>
              </a:defRPr>
            </a:lvl1pPr>
            <a:lvl2pPr marL="742950" indent="-285750" defTabSz="928688">
              <a:defRPr sz="1600">
                <a:solidFill>
                  <a:schemeClr val="tx1"/>
                </a:solidFill>
                <a:latin typeface="Helvetica" panose="020B0604020202020204" pitchFamily="34" charset="0"/>
                <a:ea typeface="MS PGothic" panose="020B0600070205080204" pitchFamily="34" charset="-128"/>
              </a:defRPr>
            </a:lvl2pPr>
            <a:lvl3pPr marL="1143000" indent="-228600" defTabSz="928688">
              <a:defRPr sz="1600">
                <a:solidFill>
                  <a:schemeClr val="tx1"/>
                </a:solidFill>
                <a:latin typeface="Helvetica" panose="020B0604020202020204" pitchFamily="34" charset="0"/>
                <a:ea typeface="MS PGothic" panose="020B0600070205080204" pitchFamily="34" charset="-128"/>
              </a:defRPr>
            </a:lvl3pPr>
            <a:lvl4pPr marL="1600200" indent="-228600" defTabSz="928688">
              <a:defRPr sz="1600">
                <a:solidFill>
                  <a:schemeClr val="tx1"/>
                </a:solidFill>
                <a:latin typeface="Helvetica" panose="020B0604020202020204" pitchFamily="34" charset="0"/>
                <a:ea typeface="MS PGothic" panose="020B0600070205080204" pitchFamily="34" charset="-128"/>
              </a:defRPr>
            </a:lvl4pPr>
            <a:lvl5pPr marL="2057400" indent="-228600" defTabSz="928688">
              <a:defRPr sz="1600">
                <a:solidFill>
                  <a:schemeClr val="tx1"/>
                </a:solidFill>
                <a:latin typeface="Helvetica" panose="020B0604020202020204" pitchFamily="34" charset="0"/>
                <a:ea typeface="MS PGothic" panose="020B0600070205080204" pitchFamily="34" charset="-128"/>
              </a:defRPr>
            </a:lvl5pPr>
            <a:lvl6pPr marL="25146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921C07DE-DA20-4217-B91C-55FA724E7BD2}" type="slidenum">
              <a:rPr lang="en-US" altLang="en-US" sz="1200"/>
              <a:pPr/>
              <a:t>39</a:t>
            </a:fld>
            <a:endParaRPr lang="en-US" altLang="en-US" sz="1200"/>
          </a:p>
        </p:txBody>
      </p:sp>
      <p:sp>
        <p:nvSpPr>
          <p:cNvPr id="114691" name="Rectangle 2"/>
          <p:cNvSpPr>
            <a:spLocks noGrp="1" noRot="1" noChangeAspect="1" noChangeArrowheads="1" noTextEdit="1"/>
          </p:cNvSpPr>
          <p:nvPr>
            <p:ph type="sldImg"/>
          </p:nvPr>
        </p:nvSpPr>
        <p:spPr>
          <a:xfrm>
            <a:off x="1177925" y="695325"/>
            <a:ext cx="4641850" cy="3481388"/>
          </a:xfrm>
          <a:ln/>
        </p:spPr>
      </p:sp>
      <p:sp>
        <p:nvSpPr>
          <p:cNvPr id="114692" name="Rectangle 3"/>
          <p:cNvSpPr>
            <a:spLocks noGrp="1" noChangeArrowheads="1"/>
          </p:cNvSpPr>
          <p:nvPr>
            <p:ph type="body" idx="1"/>
          </p:nvPr>
        </p:nvSpPr>
        <p:spPr>
          <a:xfrm>
            <a:off x="931414" y="4410392"/>
            <a:ext cx="5134874" cy="4177348"/>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US" altLang="en-US" sz="1200" dirty="0">
                <a:effectLst>
                  <a:outerShdw blurRad="38100" dist="38100" dir="2700000" algn="tl">
                    <a:srgbClr val="C0C0C0"/>
                  </a:outerShdw>
                </a:effectLst>
                <a:ea typeface="ＭＳ Ｐゴシック" pitchFamily="34" charset="-128"/>
              </a:rPr>
              <a:t>Decomposition:</a:t>
            </a:r>
            <a:r>
              <a:rPr lang="fa-IR" altLang="en-US" sz="1200" dirty="0">
                <a:effectLst>
                  <a:outerShdw blurRad="38100" dist="38100" dir="2700000" algn="tl">
                    <a:srgbClr val="C0C0C0"/>
                  </a:outerShdw>
                </a:effectLst>
                <a:ea typeface="ＭＳ Ｐゴシック" pitchFamily="34" charset="-128"/>
              </a:rPr>
              <a:t>تجزیه</a:t>
            </a:r>
            <a:endParaRPr lang="en-US" altLang="en-US" dirty="0">
              <a:latin typeface="Times New Roman" panose="02020603050405020304" pitchFamily="18" charset="0"/>
            </a:endParaRPr>
          </a:p>
        </p:txBody>
      </p:sp>
    </p:spTree>
    <p:extLst>
      <p:ext uri="{BB962C8B-B14F-4D97-AF65-F5344CB8AC3E}">
        <p14:creationId xmlns:p14="http://schemas.microsoft.com/office/powerpoint/2010/main" val="101283459"/>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5714"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688">
              <a:defRPr sz="1600">
                <a:solidFill>
                  <a:schemeClr val="tx1"/>
                </a:solidFill>
                <a:latin typeface="Helvetica" panose="020B0604020202020204" pitchFamily="34" charset="0"/>
                <a:ea typeface="MS PGothic" panose="020B0600070205080204" pitchFamily="34" charset="-128"/>
              </a:defRPr>
            </a:lvl1pPr>
            <a:lvl2pPr marL="742950" indent="-285750" defTabSz="928688">
              <a:defRPr sz="1600">
                <a:solidFill>
                  <a:schemeClr val="tx1"/>
                </a:solidFill>
                <a:latin typeface="Helvetica" panose="020B0604020202020204" pitchFamily="34" charset="0"/>
                <a:ea typeface="MS PGothic" panose="020B0600070205080204" pitchFamily="34" charset="-128"/>
              </a:defRPr>
            </a:lvl2pPr>
            <a:lvl3pPr marL="1143000" indent="-228600" defTabSz="928688">
              <a:defRPr sz="1600">
                <a:solidFill>
                  <a:schemeClr val="tx1"/>
                </a:solidFill>
                <a:latin typeface="Helvetica" panose="020B0604020202020204" pitchFamily="34" charset="0"/>
                <a:ea typeface="MS PGothic" panose="020B0600070205080204" pitchFamily="34" charset="-128"/>
              </a:defRPr>
            </a:lvl3pPr>
            <a:lvl4pPr marL="1600200" indent="-228600" defTabSz="928688">
              <a:defRPr sz="1600">
                <a:solidFill>
                  <a:schemeClr val="tx1"/>
                </a:solidFill>
                <a:latin typeface="Helvetica" panose="020B0604020202020204" pitchFamily="34" charset="0"/>
                <a:ea typeface="MS PGothic" panose="020B0600070205080204" pitchFamily="34" charset="-128"/>
              </a:defRPr>
            </a:lvl4pPr>
            <a:lvl5pPr marL="2057400" indent="-228600" defTabSz="928688">
              <a:defRPr sz="1600">
                <a:solidFill>
                  <a:schemeClr val="tx1"/>
                </a:solidFill>
                <a:latin typeface="Helvetica" panose="020B0604020202020204" pitchFamily="34" charset="0"/>
                <a:ea typeface="MS PGothic" panose="020B0600070205080204" pitchFamily="34" charset="-128"/>
              </a:defRPr>
            </a:lvl5pPr>
            <a:lvl6pPr marL="25146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D17C4D0E-10BE-41E0-A0AF-FD2B0011F8A3}" type="slidenum">
              <a:rPr lang="en-US" altLang="en-US" sz="1200"/>
              <a:pPr/>
              <a:t>40</a:t>
            </a:fld>
            <a:endParaRPr lang="en-US" altLang="en-US" sz="1200"/>
          </a:p>
        </p:txBody>
      </p:sp>
      <p:sp>
        <p:nvSpPr>
          <p:cNvPr id="115715" name="Rectangle 2"/>
          <p:cNvSpPr>
            <a:spLocks noGrp="1" noRot="1" noChangeAspect="1" noChangeArrowheads="1" noTextEdit="1"/>
          </p:cNvSpPr>
          <p:nvPr>
            <p:ph type="sldImg"/>
          </p:nvPr>
        </p:nvSpPr>
        <p:spPr>
          <a:xfrm>
            <a:off x="1177925" y="695325"/>
            <a:ext cx="4641850" cy="3481388"/>
          </a:xfrm>
          <a:ln/>
        </p:spPr>
      </p:sp>
      <p:sp>
        <p:nvSpPr>
          <p:cNvPr id="115716" name="Rectangle 3"/>
          <p:cNvSpPr>
            <a:spLocks noGrp="1" noChangeArrowheads="1"/>
          </p:cNvSpPr>
          <p:nvPr>
            <p:ph type="body" idx="1"/>
          </p:nvPr>
        </p:nvSpPr>
        <p:spPr>
          <a:xfrm>
            <a:off x="931414" y="4410392"/>
            <a:ext cx="5134874" cy="4177348"/>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fa-IR" dirty="0"/>
              <a:t>تفکیک  پر اتلاف (</a:t>
            </a:r>
            <a:r>
              <a:rPr lang="en-US" dirty="0"/>
              <a:t>Lossy Decomposition)</a:t>
            </a:r>
            <a:endParaRPr lang="en-US" altLang="en-US" dirty="0">
              <a:latin typeface="Times New Roman" panose="02020603050405020304" pitchFamily="18" charset="0"/>
            </a:endParaRPr>
          </a:p>
        </p:txBody>
      </p:sp>
    </p:spTree>
    <p:extLst>
      <p:ext uri="{BB962C8B-B14F-4D97-AF65-F5344CB8AC3E}">
        <p14:creationId xmlns:p14="http://schemas.microsoft.com/office/powerpoint/2010/main" val="2512494350"/>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6738"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688">
              <a:defRPr sz="1600">
                <a:solidFill>
                  <a:schemeClr val="tx1"/>
                </a:solidFill>
                <a:latin typeface="Helvetica" panose="020B0604020202020204" pitchFamily="34" charset="0"/>
                <a:ea typeface="MS PGothic" panose="020B0600070205080204" pitchFamily="34" charset="-128"/>
              </a:defRPr>
            </a:lvl1pPr>
            <a:lvl2pPr marL="742950" indent="-285750" defTabSz="928688">
              <a:defRPr sz="1600">
                <a:solidFill>
                  <a:schemeClr val="tx1"/>
                </a:solidFill>
                <a:latin typeface="Helvetica" panose="020B0604020202020204" pitchFamily="34" charset="0"/>
                <a:ea typeface="MS PGothic" panose="020B0600070205080204" pitchFamily="34" charset="-128"/>
              </a:defRPr>
            </a:lvl2pPr>
            <a:lvl3pPr marL="1143000" indent="-228600" defTabSz="928688">
              <a:defRPr sz="1600">
                <a:solidFill>
                  <a:schemeClr val="tx1"/>
                </a:solidFill>
                <a:latin typeface="Helvetica" panose="020B0604020202020204" pitchFamily="34" charset="0"/>
                <a:ea typeface="MS PGothic" panose="020B0600070205080204" pitchFamily="34" charset="-128"/>
              </a:defRPr>
            </a:lvl3pPr>
            <a:lvl4pPr marL="1600200" indent="-228600" defTabSz="928688">
              <a:defRPr sz="1600">
                <a:solidFill>
                  <a:schemeClr val="tx1"/>
                </a:solidFill>
                <a:latin typeface="Helvetica" panose="020B0604020202020204" pitchFamily="34" charset="0"/>
                <a:ea typeface="MS PGothic" panose="020B0600070205080204" pitchFamily="34" charset="-128"/>
              </a:defRPr>
            </a:lvl4pPr>
            <a:lvl5pPr marL="2057400" indent="-228600" defTabSz="928688">
              <a:defRPr sz="1600">
                <a:solidFill>
                  <a:schemeClr val="tx1"/>
                </a:solidFill>
                <a:latin typeface="Helvetica" panose="020B0604020202020204" pitchFamily="34" charset="0"/>
                <a:ea typeface="MS PGothic" panose="020B0600070205080204" pitchFamily="34" charset="-128"/>
              </a:defRPr>
            </a:lvl5pPr>
            <a:lvl6pPr marL="25146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415C7E4C-29A1-4ED6-8D81-6DB7BB775B79}" type="slidenum">
              <a:rPr lang="en-US" altLang="en-US" sz="1200"/>
              <a:pPr/>
              <a:t>41</a:t>
            </a:fld>
            <a:endParaRPr lang="en-US" altLang="en-US" sz="1200"/>
          </a:p>
        </p:txBody>
      </p:sp>
      <p:sp>
        <p:nvSpPr>
          <p:cNvPr id="116739" name="Rectangle 2"/>
          <p:cNvSpPr>
            <a:spLocks noGrp="1" noRot="1" noChangeAspect="1" noChangeArrowheads="1" noTextEdit="1"/>
          </p:cNvSpPr>
          <p:nvPr>
            <p:ph type="sldImg"/>
          </p:nvPr>
        </p:nvSpPr>
        <p:spPr>
          <a:xfrm>
            <a:off x="1177925" y="695325"/>
            <a:ext cx="4641850" cy="3481388"/>
          </a:xfrm>
          <a:ln/>
        </p:spPr>
      </p:sp>
      <p:sp>
        <p:nvSpPr>
          <p:cNvPr id="116740" name="Rectangle 3"/>
          <p:cNvSpPr>
            <a:spLocks noGrp="1" noChangeArrowheads="1"/>
          </p:cNvSpPr>
          <p:nvPr>
            <p:ph type="body" idx="1"/>
          </p:nvPr>
        </p:nvSpPr>
        <p:spPr>
          <a:xfrm>
            <a:off x="931414" y="4410392"/>
            <a:ext cx="5134874" cy="4177348"/>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marL="0" marR="0" algn="r" rtl="1">
              <a:lnSpc>
                <a:spcPct val="107000"/>
              </a:lnSpc>
              <a:spcBef>
                <a:spcPts val="0"/>
              </a:spcBef>
              <a:spcAft>
                <a:spcPts val="800"/>
              </a:spcAft>
            </a:pPr>
            <a:r>
              <a:rPr lang="ar-SA" sz="1800" dirty="0">
                <a:effectLst/>
                <a:latin typeface="Calibri" panose="020F0502020204030204" pitchFamily="34" charset="0"/>
                <a:ea typeface="Times New Roman" panose="02020603050405020304" pitchFamily="18" charset="0"/>
                <a:cs typeface="Times New Roman" panose="02020603050405020304" pitchFamily="18" charset="0"/>
              </a:rPr>
              <a:t>بگذارید </a:t>
            </a:r>
            <a:r>
              <a:rPr lang="en-US" sz="1800" dirty="0">
                <a:effectLst/>
                <a:latin typeface="Times New Roman" panose="02020603050405020304" pitchFamily="18" charset="0"/>
                <a:ea typeface="Times New Roman" panose="02020603050405020304" pitchFamily="18" charset="0"/>
                <a:cs typeface="Arial" panose="020B0604020202020204" pitchFamily="34" charset="0"/>
              </a:rPr>
              <a:t>RRR </a:t>
            </a:r>
            <a:r>
              <a:rPr lang="ar-SA" sz="1800" dirty="0">
                <a:effectLst/>
                <a:latin typeface="Calibri" panose="020F0502020204030204" pitchFamily="34" charset="0"/>
                <a:ea typeface="Times New Roman" panose="02020603050405020304" pitchFamily="18" charset="0"/>
                <a:cs typeface="Times New Roman" panose="02020603050405020304" pitchFamily="18" charset="0"/>
              </a:rPr>
              <a:t>یک طرح‌واره رابطه باشد و </a:t>
            </a:r>
            <a:r>
              <a:rPr lang="en-US" sz="1800" dirty="0">
                <a:effectLst/>
                <a:latin typeface="Times New Roman" panose="02020603050405020304" pitchFamily="18" charset="0"/>
                <a:ea typeface="Times New Roman" panose="02020603050405020304" pitchFamily="18" charset="0"/>
                <a:cs typeface="Arial" panose="020B0604020202020204" pitchFamily="34" charset="0"/>
              </a:rPr>
              <a:t>R1R1R1 </a:t>
            </a:r>
            <a:r>
              <a:rPr lang="ar-SA" sz="1800" dirty="0">
                <a:effectLst/>
                <a:latin typeface="Calibri" panose="020F0502020204030204" pitchFamily="34" charset="0"/>
                <a:ea typeface="Times New Roman" panose="02020603050405020304" pitchFamily="18" charset="0"/>
                <a:cs typeface="Times New Roman" panose="02020603050405020304" pitchFamily="18" charset="0"/>
              </a:rPr>
              <a:t>و </a:t>
            </a:r>
            <a:r>
              <a:rPr lang="en-US" sz="1800" dirty="0">
                <a:effectLst/>
                <a:latin typeface="Times New Roman" panose="02020603050405020304" pitchFamily="18" charset="0"/>
                <a:ea typeface="Times New Roman" panose="02020603050405020304" pitchFamily="18" charset="0"/>
                <a:cs typeface="Arial" panose="020B0604020202020204" pitchFamily="34" charset="0"/>
              </a:rPr>
              <a:t>R2R2R2 </a:t>
            </a:r>
            <a:r>
              <a:rPr lang="ar-SA" sz="1800" dirty="0">
                <a:effectLst/>
                <a:latin typeface="Calibri" panose="020F0502020204030204" pitchFamily="34" charset="0"/>
                <a:ea typeface="Times New Roman" panose="02020603050405020304" pitchFamily="18" charset="0"/>
                <a:cs typeface="Times New Roman" panose="02020603050405020304" pitchFamily="18" charset="0"/>
              </a:rPr>
              <a:t>یک تفکیک از </a:t>
            </a:r>
            <a:r>
              <a:rPr lang="en-US" sz="1800" dirty="0">
                <a:effectLst/>
                <a:latin typeface="Times New Roman" panose="02020603050405020304" pitchFamily="18" charset="0"/>
                <a:ea typeface="Times New Roman" panose="02020603050405020304" pitchFamily="18" charset="0"/>
                <a:cs typeface="Arial" panose="020B0604020202020204" pitchFamily="34" charset="0"/>
              </a:rPr>
              <a:t>RRR </a:t>
            </a:r>
            <a:r>
              <a:rPr lang="ar-SA" sz="1800" dirty="0">
                <a:effectLst/>
                <a:latin typeface="Calibri" panose="020F0502020204030204" pitchFamily="34" charset="0"/>
                <a:ea typeface="Times New Roman" panose="02020603050405020304" pitchFamily="18" charset="0"/>
                <a:cs typeface="Times New Roman" panose="02020603050405020304" pitchFamily="18" charset="0"/>
              </a:rPr>
              <a:t>را تشکیل دهند. یعنی </a:t>
            </a:r>
            <a:r>
              <a:rPr lang="en-US" sz="1800" dirty="0">
                <a:effectLst/>
                <a:latin typeface="Times New Roman" panose="02020603050405020304" pitchFamily="18" charset="0"/>
                <a:ea typeface="Times New Roman" panose="02020603050405020304" pitchFamily="18" charset="0"/>
                <a:cs typeface="Arial" panose="020B0604020202020204" pitchFamily="34" charset="0"/>
              </a:rPr>
              <a:t>R=R1</a:t>
            </a:r>
            <a:r>
              <a:rPr lang="en-US" sz="1800" dirty="0">
                <a:effectLst/>
                <a:latin typeface="Cambria Math" panose="02040503050406030204" pitchFamily="18" charset="0"/>
                <a:ea typeface="Times New Roman" panose="02020603050405020304" pitchFamily="18" charset="0"/>
                <a:cs typeface="Cambria Math" panose="02040503050406030204" pitchFamily="18" charset="0"/>
              </a:rPr>
              <a:t>∪</a:t>
            </a:r>
            <a:r>
              <a:rPr lang="en-US" sz="1800" dirty="0">
                <a:effectLst/>
                <a:latin typeface="Times New Roman" panose="02020603050405020304" pitchFamily="18" charset="0"/>
                <a:ea typeface="Times New Roman" panose="02020603050405020304" pitchFamily="18" charset="0"/>
                <a:cs typeface="Arial" panose="020B0604020202020204" pitchFamily="34" charset="0"/>
              </a:rPr>
              <a:t>R2R = R1 \cup R2R=R1</a:t>
            </a:r>
            <a:r>
              <a:rPr lang="en-US" sz="1800" dirty="0">
                <a:effectLst/>
                <a:latin typeface="Cambria Math" panose="02040503050406030204" pitchFamily="18" charset="0"/>
                <a:ea typeface="Times New Roman" panose="02020603050405020304" pitchFamily="18" charset="0"/>
                <a:cs typeface="Cambria Math" panose="02040503050406030204" pitchFamily="18" charset="0"/>
              </a:rPr>
              <a:t>∪</a:t>
            </a:r>
            <a:r>
              <a:rPr lang="en-US" sz="1800" dirty="0">
                <a:effectLst/>
                <a:latin typeface="Times New Roman" panose="02020603050405020304" pitchFamily="18" charset="0"/>
                <a:ea typeface="Times New Roman" panose="02020603050405020304" pitchFamily="18" charset="0"/>
                <a:cs typeface="Arial" panose="020B0604020202020204" pitchFamily="34" charset="0"/>
              </a:rPr>
              <a:t>R2.</a:t>
            </a:r>
            <a:br>
              <a:rPr lang="en-US" sz="1800" dirty="0">
                <a:effectLst/>
                <a:latin typeface="Times New Roman" panose="02020603050405020304" pitchFamily="18" charset="0"/>
                <a:ea typeface="Times New Roman" panose="02020603050405020304" pitchFamily="18" charset="0"/>
                <a:cs typeface="Arial" panose="020B0604020202020204" pitchFamily="34" charset="0"/>
              </a:rPr>
            </a:br>
            <a:r>
              <a:rPr lang="ar-SA" sz="1800" dirty="0">
                <a:effectLst/>
                <a:latin typeface="Calibri" panose="020F0502020204030204" pitchFamily="34" charset="0"/>
                <a:ea typeface="Times New Roman" panose="02020603050405020304" pitchFamily="18" charset="0"/>
                <a:cs typeface="Times New Roman" panose="02020603050405020304" pitchFamily="18" charset="0"/>
              </a:rPr>
              <a:t>می‌گوییم که این تفکیک یک تفکیک بدون ضایعه</a:t>
            </a:r>
            <a:r>
              <a:rPr lang="en-US" sz="1800" dirty="0">
                <a:effectLst/>
                <a:latin typeface="Times New Roman" panose="02020603050405020304" pitchFamily="18" charset="0"/>
                <a:ea typeface="Times New Roman" panose="02020603050405020304" pitchFamily="18" charset="0"/>
                <a:cs typeface="Arial" panose="020B0604020202020204" pitchFamily="34" charset="0"/>
              </a:rPr>
              <a:t> (Lossless Decomposition) </a:t>
            </a:r>
            <a:r>
              <a:rPr lang="ar-SA" sz="1800" dirty="0">
                <a:effectLst/>
                <a:latin typeface="Calibri" panose="020F0502020204030204" pitchFamily="34" charset="0"/>
                <a:ea typeface="Times New Roman" panose="02020603050405020304" pitchFamily="18" charset="0"/>
                <a:cs typeface="Times New Roman" panose="02020603050405020304" pitchFamily="18" charset="0"/>
              </a:rPr>
              <a:t>است اگر هیچ‌گونه از دست رفتن اطلاعاتی در هنگام جایگزینی </a:t>
            </a:r>
            <a:r>
              <a:rPr lang="en-US" sz="1800" dirty="0">
                <a:effectLst/>
                <a:latin typeface="Times New Roman" panose="02020603050405020304" pitchFamily="18" charset="0"/>
                <a:ea typeface="Times New Roman" panose="02020603050405020304" pitchFamily="18" charset="0"/>
                <a:cs typeface="Arial" panose="020B0604020202020204" pitchFamily="34" charset="0"/>
              </a:rPr>
              <a:t>RRR </a:t>
            </a:r>
            <a:r>
              <a:rPr lang="ar-SA" sz="1800" dirty="0">
                <a:effectLst/>
                <a:latin typeface="Calibri" panose="020F0502020204030204" pitchFamily="34" charset="0"/>
                <a:ea typeface="Times New Roman" panose="02020603050405020304" pitchFamily="18" charset="0"/>
                <a:cs typeface="Times New Roman" panose="02020603050405020304" pitchFamily="18" charset="0"/>
              </a:rPr>
              <a:t>با دو طرح‌واره رابطه </a:t>
            </a:r>
            <a:r>
              <a:rPr lang="en-US" sz="1800" dirty="0">
                <a:effectLst/>
                <a:latin typeface="Times New Roman" panose="02020603050405020304" pitchFamily="18" charset="0"/>
                <a:ea typeface="Times New Roman" panose="02020603050405020304" pitchFamily="18" charset="0"/>
                <a:cs typeface="Arial" panose="020B0604020202020204" pitchFamily="34" charset="0"/>
              </a:rPr>
              <a:t>R1R1R1 </a:t>
            </a:r>
            <a:r>
              <a:rPr lang="ar-SA" sz="1800" dirty="0">
                <a:effectLst/>
                <a:latin typeface="Calibri" panose="020F0502020204030204" pitchFamily="34" charset="0"/>
                <a:ea typeface="Times New Roman" panose="02020603050405020304" pitchFamily="18" charset="0"/>
                <a:cs typeface="Times New Roman" panose="02020603050405020304" pitchFamily="18" charset="0"/>
              </a:rPr>
              <a:t>و </a:t>
            </a:r>
            <a:r>
              <a:rPr lang="en-US" sz="1800" dirty="0">
                <a:effectLst/>
                <a:latin typeface="Times New Roman" panose="02020603050405020304" pitchFamily="18" charset="0"/>
                <a:ea typeface="Times New Roman" panose="02020603050405020304" pitchFamily="18" charset="0"/>
                <a:cs typeface="Arial" panose="020B0604020202020204" pitchFamily="34" charset="0"/>
              </a:rPr>
              <a:t>R2R2R2 </a:t>
            </a:r>
            <a:r>
              <a:rPr lang="ar-SA" sz="1800" dirty="0">
                <a:effectLst/>
                <a:latin typeface="Calibri" panose="020F0502020204030204" pitchFamily="34" charset="0"/>
                <a:ea typeface="Times New Roman" panose="02020603050405020304" pitchFamily="18" charset="0"/>
                <a:cs typeface="Times New Roman" panose="02020603050405020304" pitchFamily="18" charset="0"/>
              </a:rPr>
              <a:t>وجود نداشته باشد</a:t>
            </a:r>
            <a:r>
              <a:rPr lang="en-US" sz="1800" dirty="0">
                <a:effectLst/>
                <a:latin typeface="Times New Roman" panose="02020603050405020304" pitchFamily="18" charset="0"/>
                <a:ea typeface="Times New Roman" panose="02020603050405020304" pitchFamily="18" charset="0"/>
                <a:cs typeface="Arial" panose="020B0604020202020204" pitchFamily="34" charset="0"/>
              </a:rPr>
              <a:t>.</a:t>
            </a:r>
            <a:br>
              <a:rPr lang="en-US" sz="1800" dirty="0">
                <a:effectLst/>
                <a:latin typeface="Times New Roman" panose="02020603050405020304" pitchFamily="18" charset="0"/>
                <a:ea typeface="Times New Roman" panose="02020603050405020304" pitchFamily="18" charset="0"/>
                <a:cs typeface="Arial" panose="020B0604020202020204" pitchFamily="34" charset="0"/>
              </a:rPr>
            </a:br>
            <a:r>
              <a:rPr lang="ar-SA" sz="1800" dirty="0">
                <a:effectLst/>
                <a:latin typeface="Calibri" panose="020F0502020204030204" pitchFamily="34" charset="0"/>
                <a:ea typeface="Times New Roman" panose="02020603050405020304" pitchFamily="18" charset="0"/>
                <a:cs typeface="Times New Roman" panose="02020603050405020304" pitchFamily="18" charset="0"/>
              </a:rPr>
              <a:t>به‌طور رسمی،</a:t>
            </a:r>
            <a:endParaRPr lang="en-US" sz="1800" dirty="0">
              <a:effectLst/>
              <a:latin typeface="Calibri" panose="020F0502020204030204" pitchFamily="34" charset="0"/>
              <a:ea typeface="Calibri" panose="020F0502020204030204" pitchFamily="34" charset="0"/>
              <a:cs typeface="Arial" panose="020B0604020202020204" pitchFamily="34" charset="0"/>
            </a:endParaRPr>
          </a:p>
          <a:p>
            <a:pPr marL="0" marR="0" algn="r" rtl="1">
              <a:lnSpc>
                <a:spcPct val="107000"/>
              </a:lnSpc>
              <a:spcBef>
                <a:spcPts val="0"/>
              </a:spcBef>
              <a:spcAft>
                <a:spcPts val="800"/>
              </a:spcAft>
            </a:pPr>
            <a:r>
              <a:rPr lang="en-US" altLang="en-US" sz="1800" dirty="0">
                <a:latin typeface="Times New Roman" panose="02020603050405020304" pitchFamily="18" charset="0"/>
                <a:sym typeface="Symbol" panose="05050102010706020507" pitchFamily="18" charset="2"/>
              </a:rPr>
              <a:t>  </a:t>
            </a:r>
            <a:r>
              <a:rPr lang="en-US" altLang="en-US" sz="1800" baseline="-25000" dirty="0">
                <a:latin typeface="Times New Roman" panose="02020603050405020304" pitchFamily="18" charset="0"/>
                <a:sym typeface="Symbol" panose="05050102010706020507" pitchFamily="18" charset="2"/>
              </a:rPr>
              <a:t>R</a:t>
            </a:r>
            <a:r>
              <a:rPr lang="en-US" altLang="en-US" sz="1800" baseline="-50000" dirty="0">
                <a:latin typeface="Times New Roman" panose="02020603050405020304" pitchFamily="18" charset="0"/>
                <a:sym typeface="Symbol" panose="05050102010706020507" pitchFamily="18" charset="2"/>
              </a:rPr>
              <a:t>1</a:t>
            </a:r>
            <a:r>
              <a:rPr lang="en-US" altLang="en-US" sz="1800" dirty="0">
                <a:latin typeface="Times New Roman" panose="02020603050405020304" pitchFamily="18" charset="0"/>
                <a:sym typeface="Symbol" panose="05050102010706020507" pitchFamily="18" charset="2"/>
              </a:rPr>
              <a:t> (r)      </a:t>
            </a:r>
            <a:r>
              <a:rPr lang="en-US" altLang="en-US" sz="1800" baseline="-25000" dirty="0">
                <a:latin typeface="Times New Roman" panose="02020603050405020304" pitchFamily="18" charset="0"/>
                <a:sym typeface="Symbol" panose="05050102010706020507" pitchFamily="18" charset="2"/>
              </a:rPr>
              <a:t>R</a:t>
            </a:r>
            <a:r>
              <a:rPr lang="en-US" altLang="en-US" sz="1800" baseline="-50000" dirty="0">
                <a:latin typeface="Times New Roman" panose="02020603050405020304" pitchFamily="18" charset="0"/>
                <a:sym typeface="Symbol" panose="05050102010706020507" pitchFamily="18" charset="2"/>
              </a:rPr>
              <a:t>2</a:t>
            </a:r>
            <a:r>
              <a:rPr lang="en-US" altLang="en-US" sz="1800" dirty="0">
                <a:latin typeface="Times New Roman" panose="02020603050405020304" pitchFamily="18" charset="0"/>
                <a:sym typeface="Symbol" panose="05050102010706020507" pitchFamily="18" charset="2"/>
              </a:rPr>
              <a:t> (r) = </a:t>
            </a:r>
            <a:r>
              <a:rPr lang="en-US" altLang="en-US" sz="1800" i="1" dirty="0">
                <a:latin typeface="Times New Roman" panose="02020603050405020304" pitchFamily="18" charset="0"/>
                <a:sym typeface="Symbol" panose="05050102010706020507" pitchFamily="18" charset="2"/>
              </a:rPr>
              <a:t>r</a:t>
            </a:r>
          </a:p>
          <a:p>
            <a:pPr marL="0" marR="0" algn="r" rtl="1">
              <a:lnSpc>
                <a:spcPct val="107000"/>
              </a:lnSpc>
              <a:spcBef>
                <a:spcPts val="0"/>
              </a:spcBef>
              <a:spcAft>
                <a:spcPts val="800"/>
              </a:spcAft>
            </a:pPr>
            <a:endParaRPr lang="en-US" sz="1800" dirty="0">
              <a:effectLst/>
              <a:latin typeface="Calibri" panose="020F0502020204030204" pitchFamily="34" charset="0"/>
              <a:ea typeface="Times New Roman" panose="02020603050405020304" pitchFamily="18" charset="0"/>
              <a:cs typeface="Times New Roman" panose="02020603050405020304" pitchFamily="18" charset="0"/>
            </a:endParaRPr>
          </a:p>
          <a:p>
            <a:pPr marL="0" marR="0" algn="r" rtl="1">
              <a:lnSpc>
                <a:spcPct val="107000"/>
              </a:lnSpc>
              <a:spcBef>
                <a:spcPts val="0"/>
              </a:spcBef>
              <a:spcAft>
                <a:spcPts val="800"/>
              </a:spcAft>
            </a:pPr>
            <a:r>
              <a:rPr lang="ar-SA" sz="1800" dirty="0">
                <a:effectLst/>
                <a:latin typeface="Calibri" panose="020F0502020204030204" pitchFamily="34" charset="0"/>
                <a:ea typeface="Times New Roman" panose="02020603050405020304" pitchFamily="18" charset="0"/>
                <a:cs typeface="Times New Roman" panose="02020603050405020304" pitchFamily="18" charset="0"/>
              </a:rPr>
              <a:t>و به‌عکس، یک تفکیک ضایعاتی است اگر</a:t>
            </a:r>
            <a:endParaRPr lang="en-US" sz="1800" dirty="0">
              <a:effectLst/>
              <a:latin typeface="Calibri" panose="020F0502020204030204" pitchFamily="34" charset="0"/>
              <a:ea typeface="Calibri" panose="020F0502020204030204" pitchFamily="34" charset="0"/>
              <a:cs typeface="Arial" panose="020B0604020202020204" pitchFamily="34" charset="0"/>
            </a:endParaRPr>
          </a:p>
          <a:p>
            <a:pPr marL="0" marR="0" algn="r" rtl="1">
              <a:lnSpc>
                <a:spcPct val="107000"/>
              </a:lnSpc>
              <a:spcBef>
                <a:spcPts val="0"/>
              </a:spcBef>
              <a:spcAft>
                <a:spcPts val="0"/>
              </a:spcAft>
            </a:pPr>
            <a:r>
              <a:rPr lang="en-US" sz="1800" dirty="0">
                <a:effectLst/>
                <a:latin typeface="Times New Roman" panose="02020603050405020304" pitchFamily="18" charset="0"/>
                <a:ea typeface="Times New Roman" panose="02020603050405020304" pitchFamily="18" charset="0"/>
                <a:cs typeface="Arial" panose="020B0604020202020204" pitchFamily="34" charset="0"/>
              </a:rPr>
              <a:t>r</a:t>
            </a:r>
            <a:r>
              <a:rPr lang="en-US" sz="1800" dirty="0">
                <a:effectLst/>
                <a:latin typeface="Cambria Math" panose="02040503050406030204" pitchFamily="18" charset="0"/>
                <a:ea typeface="Times New Roman" panose="02020603050405020304" pitchFamily="18" charset="0"/>
                <a:cs typeface="Cambria Math" panose="02040503050406030204" pitchFamily="18" charset="0"/>
              </a:rPr>
              <a:t>⊆</a:t>
            </a:r>
            <a:r>
              <a:rPr lang="en-US" sz="1800" dirty="0">
                <a:effectLst/>
                <a:latin typeface="Times New Roman" panose="02020603050405020304" pitchFamily="18" charset="0"/>
                <a:ea typeface="Times New Roman" panose="02020603050405020304" pitchFamily="18" charset="0"/>
                <a:cs typeface="Arial" panose="020B0604020202020204" pitchFamily="34" charset="0"/>
              </a:rPr>
              <a:t>ΠR1(r)</a:t>
            </a:r>
            <a:r>
              <a:rPr lang="en-US" sz="1800" dirty="0">
                <a:effectLst/>
                <a:latin typeface="Cambria Math" panose="02040503050406030204" pitchFamily="18" charset="0"/>
                <a:ea typeface="Times New Roman" panose="02020603050405020304" pitchFamily="18" charset="0"/>
                <a:cs typeface="Cambria Math" panose="02040503050406030204" pitchFamily="18" charset="0"/>
              </a:rPr>
              <a:t>∪</a:t>
            </a:r>
            <a:r>
              <a:rPr lang="en-US" sz="1800" dirty="0">
                <a:effectLst/>
                <a:latin typeface="Times New Roman" panose="02020603050405020304" pitchFamily="18" charset="0"/>
                <a:ea typeface="Times New Roman" panose="02020603050405020304" pitchFamily="18" charset="0"/>
                <a:cs typeface="Arial" panose="020B0604020202020204" pitchFamily="34" charset="0"/>
              </a:rPr>
              <a:t>ΠR2(r)=</a:t>
            </a:r>
            <a:r>
              <a:rPr lang="en-US" sz="1800" dirty="0" err="1">
                <a:effectLst/>
                <a:latin typeface="Times New Roman" panose="02020603050405020304" pitchFamily="18" charset="0"/>
                <a:ea typeface="Times New Roman" panose="02020603050405020304" pitchFamily="18" charset="0"/>
                <a:cs typeface="Arial" panose="020B0604020202020204" pitchFamily="34" charset="0"/>
              </a:rPr>
              <a:t>rr</a:t>
            </a:r>
            <a:r>
              <a:rPr lang="en-US" sz="1800" dirty="0">
                <a:effectLst/>
                <a:latin typeface="Times New Roman" panose="02020603050405020304" pitchFamily="18" charset="0"/>
                <a:ea typeface="Times New Roman" panose="02020603050405020304" pitchFamily="18" charset="0"/>
                <a:cs typeface="Arial" panose="020B0604020202020204" pitchFamily="34" charset="0"/>
              </a:rPr>
              <a:t> \</a:t>
            </a:r>
            <a:r>
              <a:rPr lang="en-US" sz="1800" dirty="0" err="1">
                <a:effectLst/>
                <a:latin typeface="Times New Roman" panose="02020603050405020304" pitchFamily="18" charset="0"/>
                <a:ea typeface="Times New Roman" panose="02020603050405020304" pitchFamily="18" charset="0"/>
                <a:cs typeface="Arial" panose="020B0604020202020204" pitchFamily="34" charset="0"/>
              </a:rPr>
              <a:t>subseteq</a:t>
            </a:r>
            <a:r>
              <a:rPr lang="en-US" sz="1800" dirty="0">
                <a:effectLst/>
                <a:latin typeface="Times New Roman" panose="02020603050405020304" pitchFamily="18" charset="0"/>
                <a:ea typeface="Times New Roman" panose="02020603050405020304" pitchFamily="18" charset="0"/>
                <a:cs typeface="Arial" panose="020B0604020202020204" pitchFamily="34" charset="0"/>
              </a:rPr>
              <a:t> \Pi_{R1}(r) \cup \Pi_{R2}(r) = rr</a:t>
            </a:r>
            <a:r>
              <a:rPr lang="en-US" sz="1800" dirty="0">
                <a:effectLst/>
                <a:latin typeface="Cambria Math" panose="02040503050406030204" pitchFamily="18" charset="0"/>
                <a:ea typeface="Times New Roman" panose="02020603050405020304" pitchFamily="18" charset="0"/>
                <a:cs typeface="Cambria Math" panose="02040503050406030204" pitchFamily="18" charset="0"/>
              </a:rPr>
              <a:t>⊆</a:t>
            </a:r>
            <a:r>
              <a:rPr lang="en-US" sz="1800" dirty="0">
                <a:effectLst/>
                <a:latin typeface="Times New Roman" panose="02020603050405020304" pitchFamily="18" charset="0"/>
                <a:ea typeface="Times New Roman" panose="02020603050405020304" pitchFamily="18" charset="0"/>
                <a:cs typeface="Arial" panose="020B0604020202020204" pitchFamily="34" charset="0"/>
              </a:rPr>
              <a:t>ΠR1​(r)</a:t>
            </a:r>
            <a:r>
              <a:rPr lang="en-US" sz="1800" dirty="0">
                <a:effectLst/>
                <a:latin typeface="Cambria Math" panose="02040503050406030204" pitchFamily="18" charset="0"/>
                <a:ea typeface="Times New Roman" panose="02020603050405020304" pitchFamily="18" charset="0"/>
                <a:cs typeface="Cambria Math" panose="02040503050406030204" pitchFamily="18" charset="0"/>
              </a:rPr>
              <a:t>∪</a:t>
            </a:r>
            <a:r>
              <a:rPr lang="en-US" sz="1800" dirty="0">
                <a:effectLst/>
                <a:latin typeface="Times New Roman" panose="02020603050405020304" pitchFamily="18" charset="0"/>
                <a:ea typeface="Times New Roman" panose="02020603050405020304" pitchFamily="18" charset="0"/>
                <a:cs typeface="Arial" panose="020B0604020202020204" pitchFamily="34" charset="0"/>
              </a:rPr>
              <a:t>ΠR2​(r)=r</a:t>
            </a:r>
            <a:endParaRPr lang="en-US" sz="1800" dirty="0">
              <a:effectLst/>
              <a:latin typeface="Calibri" panose="020F0502020204030204" pitchFamily="34" charset="0"/>
              <a:ea typeface="Calibri" panose="020F0502020204030204" pitchFamily="34" charset="0"/>
              <a:cs typeface="Arial" panose="020B0604020202020204" pitchFamily="34" charset="0"/>
            </a:endParaRPr>
          </a:p>
          <a:p>
            <a:pPr marL="0" marR="0" algn="r" rtl="1">
              <a:lnSpc>
                <a:spcPct val="107000"/>
              </a:lnSpc>
              <a:spcBef>
                <a:spcPts val="0"/>
              </a:spcBef>
              <a:spcAft>
                <a:spcPts val="800"/>
              </a:spcAft>
            </a:pPr>
            <a:r>
              <a:rPr lang="en-US" sz="1800" dirty="0">
                <a:effectLst/>
                <a:latin typeface="Calibri" panose="020F0502020204030204" pitchFamily="34" charset="0"/>
                <a:ea typeface="Calibri" panose="020F0502020204030204" pitchFamily="34" charset="0"/>
                <a:cs typeface="Arial" panose="020B0604020202020204" pitchFamily="34" charset="0"/>
              </a:rPr>
              <a:t> </a:t>
            </a:r>
          </a:p>
          <a:p>
            <a:endParaRPr lang="en-US" altLang="en-US" dirty="0">
              <a:latin typeface="Times New Roman" panose="02020603050405020304" pitchFamily="18" charset="0"/>
            </a:endParaRPr>
          </a:p>
        </p:txBody>
      </p:sp>
    </p:spTree>
    <p:extLst>
      <p:ext uri="{BB962C8B-B14F-4D97-AF65-F5344CB8AC3E}">
        <p14:creationId xmlns:p14="http://schemas.microsoft.com/office/powerpoint/2010/main" val="3281558646"/>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7762"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688">
              <a:defRPr sz="1600">
                <a:solidFill>
                  <a:schemeClr val="tx1"/>
                </a:solidFill>
                <a:latin typeface="Helvetica" panose="020B0604020202020204" pitchFamily="34" charset="0"/>
                <a:ea typeface="MS PGothic" panose="020B0600070205080204" pitchFamily="34" charset="-128"/>
              </a:defRPr>
            </a:lvl1pPr>
            <a:lvl2pPr marL="742950" indent="-285750" defTabSz="928688">
              <a:defRPr sz="1600">
                <a:solidFill>
                  <a:schemeClr val="tx1"/>
                </a:solidFill>
                <a:latin typeface="Helvetica" panose="020B0604020202020204" pitchFamily="34" charset="0"/>
                <a:ea typeface="MS PGothic" panose="020B0600070205080204" pitchFamily="34" charset="-128"/>
              </a:defRPr>
            </a:lvl2pPr>
            <a:lvl3pPr marL="1143000" indent="-228600" defTabSz="928688">
              <a:defRPr sz="1600">
                <a:solidFill>
                  <a:schemeClr val="tx1"/>
                </a:solidFill>
                <a:latin typeface="Helvetica" panose="020B0604020202020204" pitchFamily="34" charset="0"/>
                <a:ea typeface="MS PGothic" panose="020B0600070205080204" pitchFamily="34" charset="-128"/>
              </a:defRPr>
            </a:lvl3pPr>
            <a:lvl4pPr marL="1600200" indent="-228600" defTabSz="928688">
              <a:defRPr sz="1600">
                <a:solidFill>
                  <a:schemeClr val="tx1"/>
                </a:solidFill>
                <a:latin typeface="Helvetica" panose="020B0604020202020204" pitchFamily="34" charset="0"/>
                <a:ea typeface="MS PGothic" panose="020B0600070205080204" pitchFamily="34" charset="-128"/>
              </a:defRPr>
            </a:lvl4pPr>
            <a:lvl5pPr marL="2057400" indent="-228600" defTabSz="928688">
              <a:defRPr sz="1600">
                <a:solidFill>
                  <a:schemeClr val="tx1"/>
                </a:solidFill>
                <a:latin typeface="Helvetica" panose="020B0604020202020204" pitchFamily="34" charset="0"/>
                <a:ea typeface="MS PGothic" panose="020B0600070205080204" pitchFamily="34" charset="-128"/>
              </a:defRPr>
            </a:lvl5pPr>
            <a:lvl6pPr marL="25146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8AAEC5DC-5E4F-4639-8D2D-6BB23BF9650E}" type="slidenum">
              <a:rPr lang="en-US" altLang="en-US" sz="1200"/>
              <a:pPr/>
              <a:t>42</a:t>
            </a:fld>
            <a:endParaRPr lang="en-US" altLang="en-US" sz="1200"/>
          </a:p>
        </p:txBody>
      </p:sp>
      <p:sp>
        <p:nvSpPr>
          <p:cNvPr id="117763" name="Rectangle 2"/>
          <p:cNvSpPr>
            <a:spLocks noGrp="1" noRot="1" noChangeAspect="1" noChangeArrowheads="1" noTextEdit="1"/>
          </p:cNvSpPr>
          <p:nvPr>
            <p:ph type="sldImg"/>
          </p:nvPr>
        </p:nvSpPr>
        <p:spPr>
          <a:xfrm>
            <a:off x="1176338" y="693738"/>
            <a:ext cx="4643437" cy="3482975"/>
          </a:xfrm>
          <a:ln/>
        </p:spPr>
      </p:sp>
      <p:sp>
        <p:nvSpPr>
          <p:cNvPr id="117764" name="Rectangle 3"/>
          <p:cNvSpPr>
            <a:spLocks noGrp="1" noChangeArrowheads="1"/>
          </p:cNvSpPr>
          <p:nvPr>
            <p:ph type="body" idx="1"/>
          </p:nvPr>
        </p:nvSpPr>
        <p:spPr>
          <a:xfrm>
            <a:off x="931414" y="4410392"/>
            <a:ext cx="5134874" cy="4178933"/>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extLst>
      <p:ext uri="{BB962C8B-B14F-4D97-AF65-F5344CB8AC3E}">
        <p14:creationId xmlns:p14="http://schemas.microsoft.com/office/powerpoint/2010/main" val="2645904618"/>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8786"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688">
              <a:defRPr sz="1600">
                <a:solidFill>
                  <a:schemeClr val="tx1"/>
                </a:solidFill>
                <a:latin typeface="Helvetica" panose="020B0604020202020204" pitchFamily="34" charset="0"/>
                <a:ea typeface="MS PGothic" panose="020B0600070205080204" pitchFamily="34" charset="-128"/>
              </a:defRPr>
            </a:lvl1pPr>
            <a:lvl2pPr marL="742950" indent="-285750" defTabSz="928688">
              <a:defRPr sz="1600">
                <a:solidFill>
                  <a:schemeClr val="tx1"/>
                </a:solidFill>
                <a:latin typeface="Helvetica" panose="020B0604020202020204" pitchFamily="34" charset="0"/>
                <a:ea typeface="MS PGothic" panose="020B0600070205080204" pitchFamily="34" charset="-128"/>
              </a:defRPr>
            </a:lvl2pPr>
            <a:lvl3pPr marL="1143000" indent="-228600" defTabSz="928688">
              <a:defRPr sz="1600">
                <a:solidFill>
                  <a:schemeClr val="tx1"/>
                </a:solidFill>
                <a:latin typeface="Helvetica" panose="020B0604020202020204" pitchFamily="34" charset="0"/>
                <a:ea typeface="MS PGothic" panose="020B0600070205080204" pitchFamily="34" charset="-128"/>
              </a:defRPr>
            </a:lvl3pPr>
            <a:lvl4pPr marL="1600200" indent="-228600" defTabSz="928688">
              <a:defRPr sz="1600">
                <a:solidFill>
                  <a:schemeClr val="tx1"/>
                </a:solidFill>
                <a:latin typeface="Helvetica" panose="020B0604020202020204" pitchFamily="34" charset="0"/>
                <a:ea typeface="MS PGothic" panose="020B0600070205080204" pitchFamily="34" charset="-128"/>
              </a:defRPr>
            </a:lvl4pPr>
            <a:lvl5pPr marL="2057400" indent="-228600" defTabSz="928688">
              <a:defRPr sz="1600">
                <a:solidFill>
                  <a:schemeClr val="tx1"/>
                </a:solidFill>
                <a:latin typeface="Helvetica" panose="020B0604020202020204" pitchFamily="34" charset="0"/>
                <a:ea typeface="MS PGothic" panose="020B0600070205080204" pitchFamily="34" charset="-128"/>
              </a:defRPr>
            </a:lvl5pPr>
            <a:lvl6pPr marL="25146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97A450BD-08BE-4C06-8125-BBFA1D5AB413}" type="slidenum">
              <a:rPr lang="en-US" altLang="en-US" sz="1200"/>
              <a:pPr/>
              <a:t>43</a:t>
            </a:fld>
            <a:endParaRPr lang="en-US" altLang="en-US" sz="1200"/>
          </a:p>
        </p:txBody>
      </p:sp>
      <p:sp>
        <p:nvSpPr>
          <p:cNvPr id="118787" name="Rectangle 2"/>
          <p:cNvSpPr>
            <a:spLocks noGrp="1" noRot="1" noChangeAspect="1" noChangeArrowheads="1" noTextEdit="1"/>
          </p:cNvSpPr>
          <p:nvPr>
            <p:ph type="sldImg"/>
          </p:nvPr>
        </p:nvSpPr>
        <p:spPr>
          <a:xfrm>
            <a:off x="1177925" y="695325"/>
            <a:ext cx="4641850" cy="3481388"/>
          </a:xfrm>
          <a:ln/>
        </p:spPr>
      </p:sp>
      <p:sp>
        <p:nvSpPr>
          <p:cNvPr id="118788" name="Rectangle 3"/>
          <p:cNvSpPr>
            <a:spLocks noGrp="1" noChangeArrowheads="1"/>
          </p:cNvSpPr>
          <p:nvPr>
            <p:ph type="body" idx="1"/>
          </p:nvPr>
        </p:nvSpPr>
        <p:spPr>
          <a:xfrm>
            <a:off x="931414" y="4410392"/>
            <a:ext cx="5134874" cy="4177348"/>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marL="0" marR="0" algn="r" rtl="1">
              <a:lnSpc>
                <a:spcPct val="107000"/>
              </a:lnSpc>
              <a:spcBef>
                <a:spcPts val="0"/>
              </a:spcBef>
              <a:spcAft>
                <a:spcPts val="800"/>
              </a:spcAft>
            </a:pPr>
            <a:r>
              <a:rPr lang="ar-SA" sz="1800" dirty="0">
                <a:effectLst/>
                <a:latin typeface="Calibri" panose="020F0502020204030204" pitchFamily="34" charset="0"/>
                <a:ea typeface="Times New Roman" panose="02020603050405020304" pitchFamily="18" charset="0"/>
                <a:cs typeface="Times New Roman" panose="02020603050405020304" pitchFamily="18" charset="0"/>
              </a:rPr>
              <a:t>تصمیم بگیرید که آیا یک رابطه خاص </a:t>
            </a:r>
            <a:r>
              <a:rPr lang="en-US" sz="1800" dirty="0">
                <a:effectLst/>
                <a:latin typeface="Times New Roman" panose="02020603050405020304" pitchFamily="18" charset="0"/>
                <a:ea typeface="Times New Roman" panose="02020603050405020304" pitchFamily="18" charset="0"/>
                <a:cs typeface="Arial" panose="020B0604020202020204" pitchFamily="34" charset="0"/>
              </a:rPr>
              <a:t>RRR </a:t>
            </a:r>
            <a:r>
              <a:rPr lang="ar-SA" sz="1800" dirty="0">
                <a:effectLst/>
                <a:latin typeface="Calibri" panose="020F0502020204030204" pitchFamily="34" charset="0"/>
                <a:ea typeface="Times New Roman" panose="02020603050405020304" pitchFamily="18" charset="0"/>
                <a:cs typeface="Times New Roman" panose="02020603050405020304" pitchFamily="18" charset="0"/>
              </a:rPr>
              <a:t>در فرم "خوب" قرار دارد یا نه</a:t>
            </a:r>
            <a:r>
              <a:rPr lang="en-US" sz="1800" dirty="0">
                <a:effectLst/>
                <a:latin typeface="Times New Roman" panose="02020603050405020304" pitchFamily="18" charset="0"/>
                <a:ea typeface="Times New Roman" panose="02020603050405020304" pitchFamily="18" charset="0"/>
                <a:cs typeface="Arial" panose="020B0604020202020204" pitchFamily="34" charset="0"/>
              </a:rPr>
              <a:t>.</a:t>
            </a:r>
            <a:br>
              <a:rPr lang="en-US" sz="1800" dirty="0">
                <a:effectLst/>
                <a:latin typeface="Times New Roman" panose="02020603050405020304" pitchFamily="18" charset="0"/>
                <a:ea typeface="Times New Roman" panose="02020603050405020304" pitchFamily="18" charset="0"/>
                <a:cs typeface="Arial" panose="020B0604020202020204" pitchFamily="34" charset="0"/>
              </a:rPr>
            </a:br>
            <a:r>
              <a:rPr lang="ar-SA" sz="1800" dirty="0">
                <a:effectLst/>
                <a:latin typeface="Calibri" panose="020F0502020204030204" pitchFamily="34" charset="0"/>
                <a:ea typeface="Times New Roman" panose="02020603050405020304" pitchFamily="18" charset="0"/>
                <a:cs typeface="Times New Roman" panose="02020603050405020304" pitchFamily="18" charset="0"/>
              </a:rPr>
              <a:t>در صورتی که رابطه </a:t>
            </a:r>
            <a:r>
              <a:rPr lang="en-US" sz="1800" dirty="0">
                <a:effectLst/>
                <a:latin typeface="Times New Roman" panose="02020603050405020304" pitchFamily="18" charset="0"/>
                <a:ea typeface="Times New Roman" panose="02020603050405020304" pitchFamily="18" charset="0"/>
                <a:cs typeface="Arial" panose="020B0604020202020204" pitchFamily="34" charset="0"/>
              </a:rPr>
              <a:t>RRR </a:t>
            </a:r>
            <a:r>
              <a:rPr lang="ar-SA" sz="1800" dirty="0">
                <a:effectLst/>
                <a:latin typeface="Calibri" panose="020F0502020204030204" pitchFamily="34" charset="0"/>
                <a:ea typeface="Times New Roman" panose="02020603050405020304" pitchFamily="18" charset="0"/>
                <a:cs typeface="Times New Roman" panose="02020603050405020304" pitchFamily="18" charset="0"/>
              </a:rPr>
              <a:t>در فرم "خوب" نباشد، آن را به مجموعه‌ای از روابط</a:t>
            </a:r>
            <a:r>
              <a:rPr lang="en-US" sz="1800" dirty="0">
                <a:effectLst/>
                <a:latin typeface="Times New Roman" panose="02020603050405020304" pitchFamily="18" charset="0"/>
                <a:ea typeface="Times New Roman" panose="02020603050405020304" pitchFamily="18" charset="0"/>
                <a:cs typeface="Arial" panose="020B0604020202020204" pitchFamily="34" charset="0"/>
              </a:rPr>
              <a:t> { R1,R2,…,RnR1, R2, \dots, RnR1,R2,…,Rn } </a:t>
            </a:r>
            <a:r>
              <a:rPr lang="ar-SA" sz="1800" dirty="0">
                <a:effectLst/>
                <a:latin typeface="Calibri" panose="020F0502020204030204" pitchFamily="34" charset="0"/>
                <a:ea typeface="Times New Roman" panose="02020603050405020304" pitchFamily="18" charset="0"/>
                <a:cs typeface="Times New Roman" panose="02020603050405020304" pitchFamily="18" charset="0"/>
              </a:rPr>
              <a:t>تفکیک کنید به‌طوری‌که</a:t>
            </a:r>
            <a:r>
              <a:rPr lang="en-US" sz="1800" dirty="0">
                <a:effectLst/>
                <a:latin typeface="Times New Roman" panose="02020603050405020304" pitchFamily="18" charset="0"/>
                <a:ea typeface="Times New Roman" panose="02020603050405020304" pitchFamily="18" charset="0"/>
                <a:cs typeface="Arial" panose="020B0604020202020204" pitchFamily="34" charset="0"/>
              </a:rPr>
              <a:t>:</a:t>
            </a:r>
            <a:endParaRPr lang="en-US" sz="1800" dirty="0">
              <a:effectLst/>
              <a:latin typeface="Calibri" panose="020F0502020204030204" pitchFamily="34" charset="0"/>
              <a:ea typeface="Calibri" panose="020F0502020204030204" pitchFamily="34" charset="0"/>
              <a:cs typeface="Arial" panose="020B0604020202020204" pitchFamily="34" charset="0"/>
            </a:endParaRPr>
          </a:p>
          <a:p>
            <a:pPr marL="342900" marR="0" lvl="0" indent="-342900" algn="r" rtl="1">
              <a:lnSpc>
                <a:spcPct val="107000"/>
              </a:lnSpc>
              <a:spcBef>
                <a:spcPts val="0"/>
              </a:spcBef>
              <a:spcAft>
                <a:spcPts val="800"/>
              </a:spcAft>
              <a:buSzPts val="1000"/>
              <a:buFont typeface="Symbol" panose="05050102010706020507" pitchFamily="18" charset="2"/>
              <a:buChar char=""/>
              <a:tabLst>
                <a:tab pos="457200" algn="l"/>
              </a:tabLst>
            </a:pPr>
            <a:r>
              <a:rPr lang="ar-SA" sz="1800" dirty="0">
                <a:effectLst/>
                <a:latin typeface="Calibri" panose="020F0502020204030204" pitchFamily="34" charset="0"/>
                <a:ea typeface="Times New Roman" panose="02020603050405020304" pitchFamily="18" charset="0"/>
                <a:cs typeface="Times New Roman" panose="02020603050405020304" pitchFamily="18" charset="0"/>
              </a:rPr>
              <a:t>هر رابطه در فرم خوب باشد</a:t>
            </a:r>
            <a:r>
              <a:rPr lang="en-US" sz="1800" dirty="0">
                <a:effectLst/>
                <a:latin typeface="Times New Roman" panose="02020603050405020304" pitchFamily="18" charset="0"/>
                <a:ea typeface="Times New Roman" panose="02020603050405020304" pitchFamily="18" charset="0"/>
                <a:cs typeface="Arial" panose="020B0604020202020204" pitchFamily="34" charset="0"/>
              </a:rPr>
              <a:t>.</a:t>
            </a:r>
            <a:endParaRPr lang="en-US" sz="1800" dirty="0">
              <a:effectLst/>
              <a:latin typeface="Calibri" panose="020F0502020204030204" pitchFamily="34" charset="0"/>
              <a:ea typeface="Calibri" panose="020F0502020204030204" pitchFamily="34" charset="0"/>
              <a:cs typeface="Arial" panose="020B0604020202020204" pitchFamily="34" charset="0"/>
            </a:endParaRPr>
          </a:p>
          <a:p>
            <a:pPr marL="342900" marR="0" lvl="0" indent="-342900" algn="r" rtl="1">
              <a:lnSpc>
                <a:spcPct val="107000"/>
              </a:lnSpc>
              <a:spcBef>
                <a:spcPts val="0"/>
              </a:spcBef>
              <a:spcAft>
                <a:spcPts val="800"/>
              </a:spcAft>
              <a:buSzPts val="1000"/>
              <a:buFont typeface="Symbol" panose="05050102010706020507" pitchFamily="18" charset="2"/>
              <a:buChar char=""/>
              <a:tabLst>
                <a:tab pos="457200" algn="l"/>
              </a:tabLst>
            </a:pPr>
            <a:r>
              <a:rPr lang="ar-SA" sz="1800" dirty="0">
                <a:effectLst/>
                <a:latin typeface="Calibri" panose="020F0502020204030204" pitchFamily="34" charset="0"/>
                <a:ea typeface="Times New Roman" panose="02020603050405020304" pitchFamily="18" charset="0"/>
                <a:cs typeface="Times New Roman" panose="02020603050405020304" pitchFamily="18" charset="0"/>
              </a:rPr>
              <a:t>تفکیک یک تفکیک بدون ضایعه باشد</a:t>
            </a:r>
            <a:r>
              <a:rPr lang="en-US" sz="1800" dirty="0">
                <a:effectLst/>
                <a:latin typeface="Times New Roman" panose="02020603050405020304" pitchFamily="18" charset="0"/>
                <a:ea typeface="Times New Roman" panose="02020603050405020304" pitchFamily="18" charset="0"/>
                <a:cs typeface="Arial" panose="020B0604020202020204" pitchFamily="34" charset="0"/>
              </a:rPr>
              <a:t>.</a:t>
            </a:r>
            <a:endParaRPr lang="en-US" sz="1800" dirty="0">
              <a:effectLst/>
              <a:latin typeface="Calibri" panose="020F0502020204030204" pitchFamily="34" charset="0"/>
              <a:ea typeface="Calibri" panose="020F0502020204030204" pitchFamily="34" charset="0"/>
              <a:cs typeface="Arial" panose="020B0604020202020204" pitchFamily="34" charset="0"/>
            </a:endParaRPr>
          </a:p>
          <a:p>
            <a:pPr marL="0" marR="0" algn="r" rtl="1">
              <a:lnSpc>
                <a:spcPct val="107000"/>
              </a:lnSpc>
              <a:spcBef>
                <a:spcPts val="0"/>
              </a:spcBef>
              <a:spcAft>
                <a:spcPts val="800"/>
              </a:spcAft>
            </a:pPr>
            <a:r>
              <a:rPr lang="ar-SA" sz="1800" dirty="0">
                <a:effectLst/>
                <a:latin typeface="Calibri" panose="020F0502020204030204" pitchFamily="34" charset="0"/>
                <a:ea typeface="Times New Roman" panose="02020603050405020304" pitchFamily="18" charset="0"/>
                <a:cs typeface="Times New Roman" panose="02020603050405020304" pitchFamily="18" charset="0"/>
              </a:rPr>
              <a:t>نظریه‌ی ما بر اساس موارد زیر است</a:t>
            </a:r>
            <a:r>
              <a:rPr lang="en-US" sz="1800" dirty="0">
                <a:effectLst/>
                <a:latin typeface="Times New Roman" panose="02020603050405020304" pitchFamily="18" charset="0"/>
                <a:ea typeface="Times New Roman" panose="02020603050405020304" pitchFamily="18" charset="0"/>
                <a:cs typeface="Arial" panose="020B0604020202020204" pitchFamily="34" charset="0"/>
              </a:rPr>
              <a:t>:</a:t>
            </a:r>
            <a:endParaRPr lang="en-US" sz="1800" dirty="0">
              <a:effectLst/>
              <a:latin typeface="Calibri" panose="020F0502020204030204" pitchFamily="34" charset="0"/>
              <a:ea typeface="Calibri" panose="020F0502020204030204" pitchFamily="34" charset="0"/>
              <a:cs typeface="Arial" panose="020B0604020202020204" pitchFamily="34" charset="0"/>
            </a:endParaRPr>
          </a:p>
          <a:p>
            <a:pPr marL="342900" marR="0" lvl="0" indent="-342900" algn="r" rtl="1">
              <a:lnSpc>
                <a:spcPct val="107000"/>
              </a:lnSpc>
              <a:spcBef>
                <a:spcPts val="0"/>
              </a:spcBef>
              <a:spcAft>
                <a:spcPts val="800"/>
              </a:spcAft>
              <a:buSzPts val="1000"/>
              <a:buFont typeface="Symbol" panose="05050102010706020507" pitchFamily="18" charset="2"/>
              <a:buChar char=""/>
              <a:tabLst>
                <a:tab pos="457200" algn="l"/>
              </a:tabLst>
            </a:pPr>
            <a:r>
              <a:rPr lang="ar-SA" sz="1800" dirty="0">
                <a:effectLst/>
                <a:latin typeface="Calibri" panose="020F0502020204030204" pitchFamily="34" charset="0"/>
                <a:ea typeface="Times New Roman" panose="02020603050405020304" pitchFamily="18" charset="0"/>
                <a:cs typeface="Times New Roman" panose="02020603050405020304" pitchFamily="18" charset="0"/>
              </a:rPr>
              <a:t>وابستگی‌های تابعی</a:t>
            </a:r>
            <a:r>
              <a:rPr lang="en-US" sz="1800" dirty="0">
                <a:effectLst/>
                <a:latin typeface="Times New Roman" panose="02020603050405020304" pitchFamily="18" charset="0"/>
                <a:ea typeface="Times New Roman" panose="02020603050405020304" pitchFamily="18" charset="0"/>
                <a:cs typeface="Arial" panose="020B0604020202020204" pitchFamily="34" charset="0"/>
              </a:rPr>
              <a:t> (Functional dependencies)</a:t>
            </a:r>
            <a:endParaRPr lang="en-US" sz="1800" dirty="0">
              <a:effectLst/>
              <a:latin typeface="Calibri" panose="020F0502020204030204" pitchFamily="34" charset="0"/>
              <a:ea typeface="Calibri" panose="020F0502020204030204" pitchFamily="34" charset="0"/>
              <a:cs typeface="Arial" panose="020B0604020202020204" pitchFamily="34" charset="0"/>
            </a:endParaRPr>
          </a:p>
          <a:p>
            <a:pPr marL="342900" marR="0" lvl="0" indent="-342900" algn="r" rtl="1">
              <a:lnSpc>
                <a:spcPct val="107000"/>
              </a:lnSpc>
              <a:spcBef>
                <a:spcPts val="0"/>
              </a:spcBef>
              <a:spcAft>
                <a:spcPts val="800"/>
              </a:spcAft>
              <a:buSzPts val="1000"/>
              <a:buFont typeface="Symbol" panose="05050102010706020507" pitchFamily="18" charset="2"/>
              <a:buChar char=""/>
              <a:tabLst>
                <a:tab pos="457200" algn="l"/>
              </a:tabLst>
            </a:pPr>
            <a:r>
              <a:rPr lang="ar-SA" sz="1800" dirty="0">
                <a:effectLst/>
                <a:latin typeface="Calibri" panose="020F0502020204030204" pitchFamily="34" charset="0"/>
                <a:ea typeface="Times New Roman" panose="02020603050405020304" pitchFamily="18" charset="0"/>
                <a:cs typeface="Times New Roman" panose="02020603050405020304" pitchFamily="18" charset="0"/>
              </a:rPr>
              <a:t>وابستگی‌های چند ارزشی</a:t>
            </a:r>
            <a:r>
              <a:rPr lang="en-US" sz="1800" dirty="0">
                <a:effectLst/>
                <a:latin typeface="Times New Roman" panose="02020603050405020304" pitchFamily="18" charset="0"/>
                <a:ea typeface="Times New Roman" panose="02020603050405020304" pitchFamily="18" charset="0"/>
                <a:cs typeface="Arial" panose="020B0604020202020204" pitchFamily="34" charset="0"/>
              </a:rPr>
              <a:t> (Multivalued dependencies)</a:t>
            </a:r>
            <a:endParaRPr lang="en-US" sz="1800" dirty="0">
              <a:effectLst/>
              <a:latin typeface="Calibri" panose="020F0502020204030204" pitchFamily="34" charset="0"/>
              <a:ea typeface="Calibri" panose="020F0502020204030204" pitchFamily="34" charset="0"/>
              <a:cs typeface="Arial" panose="020B0604020202020204" pitchFamily="34" charset="0"/>
            </a:endParaRPr>
          </a:p>
          <a:p>
            <a:pPr marL="0" marR="0" algn="r" rtl="1">
              <a:lnSpc>
                <a:spcPct val="107000"/>
              </a:lnSpc>
              <a:spcBef>
                <a:spcPts val="0"/>
              </a:spcBef>
              <a:spcAft>
                <a:spcPts val="800"/>
              </a:spcAft>
            </a:pPr>
            <a:r>
              <a:rPr lang="en-US" sz="1800" dirty="0">
                <a:effectLst/>
                <a:latin typeface="Calibri" panose="020F0502020204030204" pitchFamily="34" charset="0"/>
                <a:ea typeface="Calibri" panose="020F0502020204030204" pitchFamily="34" charset="0"/>
                <a:cs typeface="Arial" panose="020B0604020202020204" pitchFamily="34" charset="0"/>
              </a:rPr>
              <a:t> </a:t>
            </a:r>
          </a:p>
          <a:p>
            <a:endParaRPr lang="en-US" altLang="en-US" dirty="0">
              <a:latin typeface="Times New Roman" panose="02020603050405020304" pitchFamily="18" charset="0"/>
            </a:endParaRPr>
          </a:p>
        </p:txBody>
      </p:sp>
    </p:spTree>
    <p:extLst>
      <p:ext uri="{BB962C8B-B14F-4D97-AF65-F5344CB8AC3E}">
        <p14:creationId xmlns:p14="http://schemas.microsoft.com/office/powerpoint/2010/main" val="2666339392"/>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9810"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688">
              <a:defRPr sz="1600">
                <a:solidFill>
                  <a:schemeClr val="tx1"/>
                </a:solidFill>
                <a:latin typeface="Helvetica" panose="020B0604020202020204" pitchFamily="34" charset="0"/>
                <a:ea typeface="MS PGothic" panose="020B0600070205080204" pitchFamily="34" charset="-128"/>
              </a:defRPr>
            </a:lvl1pPr>
            <a:lvl2pPr marL="742950" indent="-285750" defTabSz="928688">
              <a:defRPr sz="1600">
                <a:solidFill>
                  <a:schemeClr val="tx1"/>
                </a:solidFill>
                <a:latin typeface="Helvetica" panose="020B0604020202020204" pitchFamily="34" charset="0"/>
                <a:ea typeface="MS PGothic" panose="020B0600070205080204" pitchFamily="34" charset="-128"/>
              </a:defRPr>
            </a:lvl2pPr>
            <a:lvl3pPr marL="1143000" indent="-228600" defTabSz="928688">
              <a:defRPr sz="1600">
                <a:solidFill>
                  <a:schemeClr val="tx1"/>
                </a:solidFill>
                <a:latin typeface="Helvetica" panose="020B0604020202020204" pitchFamily="34" charset="0"/>
                <a:ea typeface="MS PGothic" panose="020B0600070205080204" pitchFamily="34" charset="-128"/>
              </a:defRPr>
            </a:lvl3pPr>
            <a:lvl4pPr marL="1600200" indent="-228600" defTabSz="928688">
              <a:defRPr sz="1600">
                <a:solidFill>
                  <a:schemeClr val="tx1"/>
                </a:solidFill>
                <a:latin typeface="Helvetica" panose="020B0604020202020204" pitchFamily="34" charset="0"/>
                <a:ea typeface="MS PGothic" panose="020B0600070205080204" pitchFamily="34" charset="-128"/>
              </a:defRPr>
            </a:lvl4pPr>
            <a:lvl5pPr marL="2057400" indent="-228600" defTabSz="928688">
              <a:defRPr sz="1600">
                <a:solidFill>
                  <a:schemeClr val="tx1"/>
                </a:solidFill>
                <a:latin typeface="Helvetica" panose="020B0604020202020204" pitchFamily="34" charset="0"/>
                <a:ea typeface="MS PGothic" panose="020B0600070205080204" pitchFamily="34" charset="-128"/>
              </a:defRPr>
            </a:lvl5pPr>
            <a:lvl6pPr marL="25146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75701DF6-0095-49A6-9538-0F4E1D04D191}" type="slidenum">
              <a:rPr lang="en-US" altLang="en-US" sz="1200"/>
              <a:pPr/>
              <a:t>44</a:t>
            </a:fld>
            <a:endParaRPr lang="en-US" altLang="en-US" sz="1200"/>
          </a:p>
        </p:txBody>
      </p:sp>
      <p:sp>
        <p:nvSpPr>
          <p:cNvPr id="119811" name="Rectangle 2"/>
          <p:cNvSpPr>
            <a:spLocks noGrp="1" noRot="1" noChangeAspect="1" noChangeArrowheads="1" noTextEdit="1"/>
          </p:cNvSpPr>
          <p:nvPr>
            <p:ph type="sldImg"/>
          </p:nvPr>
        </p:nvSpPr>
        <p:spPr>
          <a:xfrm>
            <a:off x="1177925" y="695325"/>
            <a:ext cx="4641850" cy="3481388"/>
          </a:xfrm>
          <a:ln/>
        </p:spPr>
      </p:sp>
      <p:sp>
        <p:nvSpPr>
          <p:cNvPr id="119812" name="Rectangle 3"/>
          <p:cNvSpPr>
            <a:spLocks noGrp="1" noChangeArrowheads="1"/>
          </p:cNvSpPr>
          <p:nvPr>
            <p:ph type="body" idx="1"/>
          </p:nvPr>
        </p:nvSpPr>
        <p:spPr>
          <a:xfrm>
            <a:off x="931414" y="4410392"/>
            <a:ext cx="5134874" cy="4177348"/>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marL="0" marR="0" algn="r" rtl="1">
              <a:lnSpc>
                <a:spcPct val="107000"/>
              </a:lnSpc>
              <a:spcBef>
                <a:spcPts val="0"/>
              </a:spcBef>
              <a:spcAft>
                <a:spcPts val="800"/>
              </a:spcAft>
            </a:pPr>
            <a:r>
              <a:rPr lang="ar-SA" sz="1800" dirty="0">
                <a:effectLst/>
                <a:latin typeface="Calibri" panose="020F0502020204030204" pitchFamily="34" charset="0"/>
                <a:ea typeface="Times New Roman" panose="02020603050405020304" pitchFamily="18" charset="0"/>
                <a:cs typeface="Times New Roman" panose="02020603050405020304" pitchFamily="18" charset="0"/>
              </a:rPr>
              <a:t>در دنیای واقعی معمولاً انواع مختلفی از محدودیت‌ها (قوانین) بر روی داده‌ها وجود دارد</a:t>
            </a:r>
            <a:r>
              <a:rPr lang="en-US" sz="1800" dirty="0">
                <a:effectLst/>
                <a:latin typeface="Times New Roman" panose="02020603050405020304" pitchFamily="18" charset="0"/>
                <a:ea typeface="Times New Roman" panose="02020603050405020304" pitchFamily="18" charset="0"/>
                <a:cs typeface="Arial" panose="020B0604020202020204" pitchFamily="34" charset="0"/>
              </a:rPr>
              <a:t>.</a:t>
            </a:r>
            <a:br>
              <a:rPr lang="en-US" sz="1800" dirty="0">
                <a:effectLst/>
                <a:latin typeface="Times New Roman" panose="02020603050405020304" pitchFamily="18" charset="0"/>
                <a:ea typeface="Times New Roman" panose="02020603050405020304" pitchFamily="18" charset="0"/>
                <a:cs typeface="Arial" panose="020B0604020202020204" pitchFamily="34" charset="0"/>
              </a:rPr>
            </a:br>
            <a:r>
              <a:rPr lang="ar-SA" sz="1800" dirty="0">
                <a:effectLst/>
                <a:latin typeface="Calibri" panose="020F0502020204030204" pitchFamily="34" charset="0"/>
                <a:ea typeface="Times New Roman" panose="02020603050405020304" pitchFamily="18" charset="0"/>
                <a:cs typeface="Times New Roman" panose="02020603050405020304" pitchFamily="18" charset="0"/>
              </a:rPr>
              <a:t>برای مثال، برخی از محدودیت‌هایی که انتظار می‌رود در یک پایگاه داده دانشگاهی برقرار باشند عبارتند از</a:t>
            </a:r>
            <a:r>
              <a:rPr lang="en-US" sz="1800" dirty="0">
                <a:effectLst/>
                <a:latin typeface="Times New Roman" panose="02020603050405020304" pitchFamily="18" charset="0"/>
                <a:ea typeface="Times New Roman" panose="02020603050405020304" pitchFamily="18" charset="0"/>
                <a:cs typeface="Arial" panose="020B0604020202020204" pitchFamily="34" charset="0"/>
              </a:rPr>
              <a:t>:</a:t>
            </a:r>
            <a:endParaRPr lang="en-US" sz="1800" dirty="0">
              <a:effectLst/>
              <a:latin typeface="Calibri" panose="020F0502020204030204" pitchFamily="34" charset="0"/>
              <a:ea typeface="Calibri" panose="020F0502020204030204" pitchFamily="34" charset="0"/>
              <a:cs typeface="Arial" panose="020B0604020202020204" pitchFamily="34" charset="0"/>
            </a:endParaRPr>
          </a:p>
          <a:p>
            <a:pPr marL="342900" marR="0" lvl="0" indent="-342900" algn="r" rtl="1">
              <a:lnSpc>
                <a:spcPct val="107000"/>
              </a:lnSpc>
              <a:spcBef>
                <a:spcPts val="0"/>
              </a:spcBef>
              <a:spcAft>
                <a:spcPts val="800"/>
              </a:spcAft>
              <a:buSzPts val="1000"/>
              <a:buFont typeface="Symbol" panose="05050102010706020507" pitchFamily="18" charset="2"/>
              <a:buChar char=""/>
              <a:tabLst>
                <a:tab pos="457200" algn="l"/>
              </a:tabLst>
            </a:pPr>
            <a:r>
              <a:rPr lang="ar-SA" sz="1800" dirty="0">
                <a:effectLst/>
                <a:latin typeface="Calibri" panose="020F0502020204030204" pitchFamily="34" charset="0"/>
                <a:ea typeface="Times New Roman" panose="02020603050405020304" pitchFamily="18" charset="0"/>
                <a:cs typeface="Times New Roman" panose="02020603050405020304" pitchFamily="18" charset="0"/>
              </a:rPr>
              <a:t>دانشجویان و اساتید به‌طور منحصر به فرد با شناسه</a:t>
            </a:r>
            <a:r>
              <a:rPr lang="en-US" sz="1800" dirty="0">
                <a:effectLst/>
                <a:latin typeface="Times New Roman" panose="02020603050405020304" pitchFamily="18" charset="0"/>
                <a:ea typeface="Times New Roman" panose="02020603050405020304" pitchFamily="18" charset="0"/>
                <a:cs typeface="Arial" panose="020B0604020202020204" pitchFamily="34" charset="0"/>
              </a:rPr>
              <a:t> (ID) </a:t>
            </a:r>
            <a:r>
              <a:rPr lang="ar-SA" sz="1800" dirty="0">
                <a:effectLst/>
                <a:latin typeface="Calibri" panose="020F0502020204030204" pitchFamily="34" charset="0"/>
                <a:ea typeface="Times New Roman" panose="02020603050405020304" pitchFamily="18" charset="0"/>
                <a:cs typeface="Times New Roman" panose="02020603050405020304" pitchFamily="18" charset="0"/>
              </a:rPr>
              <a:t>خود شناسایی می‌شوند</a:t>
            </a:r>
            <a:r>
              <a:rPr lang="en-US" sz="1800" dirty="0">
                <a:effectLst/>
                <a:latin typeface="Times New Roman" panose="02020603050405020304" pitchFamily="18" charset="0"/>
                <a:ea typeface="Times New Roman" panose="02020603050405020304" pitchFamily="18" charset="0"/>
                <a:cs typeface="Arial" panose="020B0604020202020204" pitchFamily="34" charset="0"/>
              </a:rPr>
              <a:t>.</a:t>
            </a:r>
            <a:endParaRPr lang="en-US" sz="1800" dirty="0">
              <a:effectLst/>
              <a:latin typeface="Calibri" panose="020F0502020204030204" pitchFamily="34" charset="0"/>
              <a:ea typeface="Calibri" panose="020F0502020204030204" pitchFamily="34" charset="0"/>
              <a:cs typeface="Arial" panose="020B0604020202020204" pitchFamily="34" charset="0"/>
            </a:endParaRPr>
          </a:p>
          <a:p>
            <a:pPr marL="342900" marR="0" lvl="0" indent="-342900" algn="r" rtl="1">
              <a:lnSpc>
                <a:spcPct val="107000"/>
              </a:lnSpc>
              <a:spcBef>
                <a:spcPts val="0"/>
              </a:spcBef>
              <a:spcAft>
                <a:spcPts val="800"/>
              </a:spcAft>
              <a:buSzPts val="1000"/>
              <a:buFont typeface="Symbol" panose="05050102010706020507" pitchFamily="18" charset="2"/>
              <a:buChar char=""/>
              <a:tabLst>
                <a:tab pos="457200" algn="l"/>
              </a:tabLst>
            </a:pPr>
            <a:r>
              <a:rPr lang="ar-SA" sz="1800" dirty="0">
                <a:effectLst/>
                <a:latin typeface="Calibri" panose="020F0502020204030204" pitchFamily="34" charset="0"/>
                <a:ea typeface="Times New Roman" panose="02020603050405020304" pitchFamily="18" charset="0"/>
                <a:cs typeface="Times New Roman" panose="02020603050405020304" pitchFamily="18" charset="0"/>
              </a:rPr>
              <a:t>هر دانشجو و استاد تنها یک نام دارد</a:t>
            </a:r>
            <a:r>
              <a:rPr lang="en-US" sz="1800" dirty="0">
                <a:effectLst/>
                <a:latin typeface="Times New Roman" panose="02020603050405020304" pitchFamily="18" charset="0"/>
                <a:ea typeface="Times New Roman" panose="02020603050405020304" pitchFamily="18" charset="0"/>
                <a:cs typeface="Arial" panose="020B0604020202020204" pitchFamily="34" charset="0"/>
              </a:rPr>
              <a:t>.</a:t>
            </a:r>
            <a:endParaRPr lang="en-US" sz="1800" dirty="0">
              <a:effectLst/>
              <a:latin typeface="Calibri" panose="020F0502020204030204" pitchFamily="34" charset="0"/>
              <a:ea typeface="Calibri" panose="020F0502020204030204" pitchFamily="34" charset="0"/>
              <a:cs typeface="Arial" panose="020B0604020202020204" pitchFamily="34" charset="0"/>
            </a:endParaRPr>
          </a:p>
          <a:p>
            <a:pPr marL="342900" marR="0" lvl="0" indent="-342900" algn="r" rtl="1">
              <a:lnSpc>
                <a:spcPct val="107000"/>
              </a:lnSpc>
              <a:spcBef>
                <a:spcPts val="0"/>
              </a:spcBef>
              <a:spcAft>
                <a:spcPts val="800"/>
              </a:spcAft>
              <a:buSzPts val="1000"/>
              <a:buFont typeface="Symbol" panose="05050102010706020507" pitchFamily="18" charset="2"/>
              <a:buChar char=""/>
              <a:tabLst>
                <a:tab pos="457200" algn="l"/>
              </a:tabLst>
            </a:pPr>
            <a:r>
              <a:rPr lang="ar-SA" sz="1800" dirty="0">
                <a:effectLst/>
                <a:latin typeface="Calibri" panose="020F0502020204030204" pitchFamily="34" charset="0"/>
                <a:ea typeface="Times New Roman" panose="02020603050405020304" pitchFamily="18" charset="0"/>
                <a:cs typeface="Times New Roman" panose="02020603050405020304" pitchFamily="18" charset="0"/>
              </a:rPr>
              <a:t>هر استاد و دانشجو (عمدتاً) تنها با یک دپارتمان مرتبط است</a:t>
            </a:r>
            <a:r>
              <a:rPr lang="en-US" sz="1800" dirty="0">
                <a:effectLst/>
                <a:latin typeface="Times New Roman" panose="02020603050405020304" pitchFamily="18" charset="0"/>
                <a:ea typeface="Times New Roman" panose="02020603050405020304" pitchFamily="18" charset="0"/>
                <a:cs typeface="Arial" panose="020B0604020202020204" pitchFamily="34" charset="0"/>
              </a:rPr>
              <a:t>.</a:t>
            </a:r>
            <a:endParaRPr lang="en-US" sz="1800" dirty="0">
              <a:effectLst/>
              <a:latin typeface="Calibri" panose="020F0502020204030204" pitchFamily="34" charset="0"/>
              <a:ea typeface="Calibri" panose="020F0502020204030204" pitchFamily="34" charset="0"/>
              <a:cs typeface="Arial" panose="020B0604020202020204" pitchFamily="34" charset="0"/>
            </a:endParaRPr>
          </a:p>
          <a:p>
            <a:pPr marL="342900" marR="0" lvl="0" indent="-342900" algn="r" rtl="1">
              <a:lnSpc>
                <a:spcPct val="107000"/>
              </a:lnSpc>
              <a:spcBef>
                <a:spcPts val="0"/>
              </a:spcBef>
              <a:spcAft>
                <a:spcPts val="800"/>
              </a:spcAft>
              <a:buSzPts val="1000"/>
              <a:buFont typeface="Symbol" panose="05050102010706020507" pitchFamily="18" charset="2"/>
              <a:buChar char=""/>
              <a:tabLst>
                <a:tab pos="457200" algn="l"/>
              </a:tabLst>
            </a:pPr>
            <a:r>
              <a:rPr lang="ar-SA" sz="1800" dirty="0">
                <a:effectLst/>
                <a:latin typeface="Calibri" panose="020F0502020204030204" pitchFamily="34" charset="0"/>
                <a:ea typeface="Times New Roman" panose="02020603050405020304" pitchFamily="18" charset="0"/>
                <a:cs typeface="Times New Roman" panose="02020603050405020304" pitchFamily="18" charset="0"/>
              </a:rPr>
              <a:t>هر دپارتمان تنها یک مقدار برای بودجه خود دارد و تنها یک ساختمان مرتبط با آن وجود دارد</a:t>
            </a:r>
            <a:r>
              <a:rPr lang="en-US" sz="1800" dirty="0">
                <a:effectLst/>
                <a:latin typeface="Times New Roman" panose="02020603050405020304" pitchFamily="18" charset="0"/>
                <a:ea typeface="Times New Roman" panose="02020603050405020304" pitchFamily="18" charset="0"/>
                <a:cs typeface="Arial" panose="020B0604020202020204" pitchFamily="34" charset="0"/>
              </a:rPr>
              <a:t>.</a:t>
            </a:r>
            <a:endParaRPr lang="en-US" sz="1800" dirty="0">
              <a:effectLst/>
              <a:latin typeface="Calibri" panose="020F0502020204030204" pitchFamily="34" charset="0"/>
              <a:ea typeface="Calibri" panose="020F0502020204030204" pitchFamily="34" charset="0"/>
              <a:cs typeface="Arial" panose="020B0604020202020204" pitchFamily="34" charset="0"/>
            </a:endParaRPr>
          </a:p>
          <a:p>
            <a:pPr marL="0" marR="0" algn="r" rtl="1">
              <a:lnSpc>
                <a:spcPct val="107000"/>
              </a:lnSpc>
              <a:spcBef>
                <a:spcPts val="0"/>
              </a:spcBef>
              <a:spcAft>
                <a:spcPts val="800"/>
              </a:spcAft>
            </a:pPr>
            <a:r>
              <a:rPr lang="en-US" sz="1800" dirty="0">
                <a:effectLst/>
                <a:latin typeface="Calibri" panose="020F0502020204030204" pitchFamily="34" charset="0"/>
                <a:ea typeface="Calibri" panose="020F0502020204030204" pitchFamily="34" charset="0"/>
                <a:cs typeface="Arial" panose="020B0604020202020204" pitchFamily="34" charset="0"/>
              </a:rPr>
              <a:t> </a:t>
            </a:r>
          </a:p>
          <a:p>
            <a:endParaRPr lang="en-US" altLang="en-US" dirty="0">
              <a:latin typeface="Times New Roman" panose="02020603050405020304" pitchFamily="18" charset="0"/>
            </a:endParaRPr>
          </a:p>
        </p:txBody>
      </p:sp>
    </p:spTree>
    <p:extLst>
      <p:ext uri="{BB962C8B-B14F-4D97-AF65-F5344CB8AC3E}">
        <p14:creationId xmlns:p14="http://schemas.microsoft.com/office/powerpoint/2010/main" val="2262379960"/>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0834"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688">
              <a:defRPr sz="1600">
                <a:solidFill>
                  <a:schemeClr val="tx1"/>
                </a:solidFill>
                <a:latin typeface="Helvetica" panose="020B0604020202020204" pitchFamily="34" charset="0"/>
                <a:ea typeface="MS PGothic" panose="020B0600070205080204" pitchFamily="34" charset="-128"/>
              </a:defRPr>
            </a:lvl1pPr>
            <a:lvl2pPr marL="742950" indent="-285750" defTabSz="928688">
              <a:defRPr sz="1600">
                <a:solidFill>
                  <a:schemeClr val="tx1"/>
                </a:solidFill>
                <a:latin typeface="Helvetica" panose="020B0604020202020204" pitchFamily="34" charset="0"/>
                <a:ea typeface="MS PGothic" panose="020B0600070205080204" pitchFamily="34" charset="-128"/>
              </a:defRPr>
            </a:lvl2pPr>
            <a:lvl3pPr marL="1143000" indent="-228600" defTabSz="928688">
              <a:defRPr sz="1600">
                <a:solidFill>
                  <a:schemeClr val="tx1"/>
                </a:solidFill>
                <a:latin typeface="Helvetica" panose="020B0604020202020204" pitchFamily="34" charset="0"/>
                <a:ea typeface="MS PGothic" panose="020B0600070205080204" pitchFamily="34" charset="-128"/>
              </a:defRPr>
            </a:lvl3pPr>
            <a:lvl4pPr marL="1600200" indent="-228600" defTabSz="928688">
              <a:defRPr sz="1600">
                <a:solidFill>
                  <a:schemeClr val="tx1"/>
                </a:solidFill>
                <a:latin typeface="Helvetica" panose="020B0604020202020204" pitchFamily="34" charset="0"/>
                <a:ea typeface="MS PGothic" panose="020B0600070205080204" pitchFamily="34" charset="-128"/>
              </a:defRPr>
            </a:lvl4pPr>
            <a:lvl5pPr marL="2057400" indent="-228600" defTabSz="928688">
              <a:defRPr sz="1600">
                <a:solidFill>
                  <a:schemeClr val="tx1"/>
                </a:solidFill>
                <a:latin typeface="Helvetica" panose="020B0604020202020204" pitchFamily="34" charset="0"/>
                <a:ea typeface="MS PGothic" panose="020B0600070205080204" pitchFamily="34" charset="-128"/>
              </a:defRPr>
            </a:lvl5pPr>
            <a:lvl6pPr marL="25146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87CCD6A2-8F22-431C-9059-7B1E655B3F8B}" type="slidenum">
              <a:rPr lang="en-US" altLang="en-US" sz="1200"/>
              <a:pPr/>
              <a:t>45</a:t>
            </a:fld>
            <a:endParaRPr lang="en-US" altLang="en-US" sz="1200"/>
          </a:p>
        </p:txBody>
      </p:sp>
      <p:sp>
        <p:nvSpPr>
          <p:cNvPr id="120835" name="Rectangle 2"/>
          <p:cNvSpPr>
            <a:spLocks noGrp="1" noRot="1" noChangeAspect="1" noChangeArrowheads="1" noTextEdit="1"/>
          </p:cNvSpPr>
          <p:nvPr>
            <p:ph type="sldImg"/>
          </p:nvPr>
        </p:nvSpPr>
        <p:spPr>
          <a:xfrm>
            <a:off x="1177925" y="695325"/>
            <a:ext cx="4641850" cy="3481388"/>
          </a:xfrm>
          <a:ln/>
        </p:spPr>
      </p:sp>
      <p:sp>
        <p:nvSpPr>
          <p:cNvPr id="120836" name="Rectangle 3"/>
          <p:cNvSpPr>
            <a:spLocks noGrp="1" noChangeArrowheads="1"/>
          </p:cNvSpPr>
          <p:nvPr>
            <p:ph type="body" idx="1"/>
          </p:nvPr>
        </p:nvSpPr>
        <p:spPr>
          <a:xfrm>
            <a:off x="931414" y="4410392"/>
            <a:ext cx="5134874" cy="4177348"/>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marL="0" marR="0" algn="r" rtl="1">
              <a:lnSpc>
                <a:spcPct val="107000"/>
              </a:lnSpc>
              <a:spcBef>
                <a:spcPts val="0"/>
              </a:spcBef>
              <a:spcAft>
                <a:spcPts val="800"/>
              </a:spcAft>
            </a:pPr>
            <a:r>
              <a:rPr lang="ar-SA" sz="1800" dirty="0">
                <a:effectLst/>
                <a:latin typeface="Calibri" panose="020F0502020204030204" pitchFamily="34" charset="0"/>
                <a:ea typeface="Calibri" panose="020F0502020204030204" pitchFamily="34" charset="0"/>
                <a:cs typeface="Arial" panose="020B0604020202020204" pitchFamily="34" charset="0"/>
              </a:rPr>
              <a:t>نمونه‌ای از یک رابطه که تمامی محدودیت‌های دنیای واقعی را رعایت می‌کند، به‌عنوان یک </a:t>
            </a:r>
            <a:r>
              <a:rPr lang="ar-SA" sz="1800" i="0" dirty="0">
                <a:effectLst/>
                <a:latin typeface="Calibri" panose="020F0502020204030204" pitchFamily="34" charset="0"/>
                <a:ea typeface="Calibri" panose="020F0502020204030204" pitchFamily="34" charset="0"/>
                <a:cs typeface="Arial" panose="020B0604020202020204" pitchFamily="34" charset="0"/>
              </a:rPr>
              <a:t>نمونه قانونی</a:t>
            </a:r>
            <a:r>
              <a:rPr lang="ar-SA" sz="1800" dirty="0">
                <a:effectLst/>
                <a:latin typeface="Calibri" panose="020F0502020204030204" pitchFamily="34" charset="0"/>
                <a:ea typeface="Calibri" panose="020F0502020204030204" pitchFamily="34" charset="0"/>
                <a:cs typeface="Arial" panose="020B0604020202020204" pitchFamily="34" charset="0"/>
              </a:rPr>
              <a:t> از آن رابطه شناخته می‌شود</a:t>
            </a:r>
            <a:r>
              <a:rPr lang="en-US" sz="1800" dirty="0">
                <a:effectLst/>
                <a:latin typeface="Calibri" panose="020F0502020204030204" pitchFamily="34" charset="0"/>
                <a:ea typeface="Calibri" panose="020F0502020204030204" pitchFamily="34" charset="0"/>
                <a:cs typeface="Arial" panose="020B0604020202020204" pitchFamily="34" charset="0"/>
              </a:rPr>
              <a:t>.</a:t>
            </a:r>
            <a:br>
              <a:rPr lang="en-US" sz="1800" dirty="0">
                <a:effectLst/>
                <a:latin typeface="Calibri" panose="020F0502020204030204" pitchFamily="34" charset="0"/>
                <a:ea typeface="Calibri" panose="020F0502020204030204" pitchFamily="34" charset="0"/>
                <a:cs typeface="Arial" panose="020B0604020202020204" pitchFamily="34" charset="0"/>
              </a:rPr>
            </a:br>
            <a:r>
              <a:rPr lang="ar-SA" sz="1800" dirty="0">
                <a:effectLst/>
                <a:latin typeface="Calibri" panose="020F0502020204030204" pitchFamily="34" charset="0"/>
                <a:ea typeface="Calibri" panose="020F0502020204030204" pitchFamily="34" charset="0"/>
                <a:cs typeface="Arial" panose="020B0604020202020204" pitchFamily="34" charset="0"/>
              </a:rPr>
              <a:t>یک نمونه قانونی از پایگاه داده، نمونه‌ای است که در آن تمامی نمونه‌های روابط، نمونه‌های قانونی هستند</a:t>
            </a:r>
            <a:r>
              <a:rPr lang="en-US" sz="1800" dirty="0">
                <a:effectLst/>
                <a:latin typeface="Calibri" panose="020F0502020204030204" pitchFamily="34" charset="0"/>
                <a:ea typeface="Calibri" panose="020F0502020204030204" pitchFamily="34" charset="0"/>
                <a:cs typeface="Arial" panose="020B0604020202020204" pitchFamily="34" charset="0"/>
              </a:rPr>
              <a:t>.</a:t>
            </a:r>
            <a:br>
              <a:rPr lang="en-US" sz="1800" dirty="0">
                <a:effectLst/>
                <a:latin typeface="Calibri" panose="020F0502020204030204" pitchFamily="34" charset="0"/>
                <a:ea typeface="Calibri" panose="020F0502020204030204" pitchFamily="34" charset="0"/>
                <a:cs typeface="Arial" panose="020B0604020202020204" pitchFamily="34" charset="0"/>
              </a:rPr>
            </a:br>
            <a:r>
              <a:rPr lang="ar-SA" sz="1800" dirty="0">
                <a:effectLst/>
                <a:latin typeface="Calibri" panose="020F0502020204030204" pitchFamily="34" charset="0"/>
                <a:ea typeface="Calibri" panose="020F0502020204030204" pitchFamily="34" charset="0"/>
                <a:cs typeface="Arial" panose="020B0604020202020204" pitchFamily="34" charset="0"/>
              </a:rPr>
              <a:t>محدودیت‌ها روی مجموعه روابط قانونی، نیاز دارند که مقدار یک مجموعه خاص از صفات، مقدار مجموعه دیگری از صفات را به‌طور منحصر به فرد تعیین کند</a:t>
            </a:r>
            <a:r>
              <a:rPr lang="en-US" sz="1800" dirty="0">
                <a:effectLst/>
                <a:latin typeface="Calibri" panose="020F0502020204030204" pitchFamily="34" charset="0"/>
                <a:ea typeface="Calibri" panose="020F0502020204030204" pitchFamily="34" charset="0"/>
                <a:cs typeface="Arial" panose="020B0604020202020204" pitchFamily="34" charset="0"/>
              </a:rPr>
              <a:t>.</a:t>
            </a:r>
            <a:br>
              <a:rPr lang="en-US" sz="1800" dirty="0">
                <a:effectLst/>
                <a:latin typeface="Calibri" panose="020F0502020204030204" pitchFamily="34" charset="0"/>
                <a:ea typeface="Calibri" panose="020F0502020204030204" pitchFamily="34" charset="0"/>
                <a:cs typeface="Arial" panose="020B0604020202020204" pitchFamily="34" charset="0"/>
              </a:rPr>
            </a:br>
            <a:r>
              <a:rPr lang="ar-SA" sz="1800" dirty="0">
                <a:effectLst/>
                <a:latin typeface="Calibri" panose="020F0502020204030204" pitchFamily="34" charset="0"/>
                <a:ea typeface="Calibri" panose="020F0502020204030204" pitchFamily="34" charset="0"/>
                <a:cs typeface="Arial" panose="020B0604020202020204" pitchFamily="34" charset="0"/>
              </a:rPr>
              <a:t>وابستگی تابعی</a:t>
            </a:r>
            <a:r>
              <a:rPr lang="en-US" sz="1800" dirty="0">
                <a:effectLst/>
                <a:latin typeface="Calibri" panose="020F0502020204030204" pitchFamily="34" charset="0"/>
                <a:ea typeface="Calibri" panose="020F0502020204030204" pitchFamily="34" charset="0"/>
                <a:cs typeface="Arial" panose="020B0604020202020204" pitchFamily="34" charset="0"/>
              </a:rPr>
              <a:t> (Functional Dependency) </a:t>
            </a:r>
            <a:r>
              <a:rPr lang="ar-SA" sz="1800" dirty="0">
                <a:effectLst/>
                <a:latin typeface="Calibri" panose="020F0502020204030204" pitchFamily="34" charset="0"/>
                <a:ea typeface="Calibri" panose="020F0502020204030204" pitchFamily="34" charset="0"/>
                <a:cs typeface="Arial" panose="020B0604020202020204" pitchFamily="34" charset="0"/>
              </a:rPr>
              <a:t>تعمیمی از مفهوم کلید است</a:t>
            </a:r>
            <a:r>
              <a:rPr lang="en-US" sz="1800" dirty="0">
                <a:effectLst/>
                <a:latin typeface="Calibri" panose="020F0502020204030204" pitchFamily="34" charset="0"/>
                <a:ea typeface="Calibri" panose="020F0502020204030204" pitchFamily="34" charset="0"/>
                <a:cs typeface="Arial" panose="020B0604020202020204" pitchFamily="34" charset="0"/>
              </a:rPr>
              <a:t>.</a:t>
            </a:r>
          </a:p>
        </p:txBody>
      </p:sp>
    </p:spTree>
    <p:extLst>
      <p:ext uri="{BB962C8B-B14F-4D97-AF65-F5344CB8AC3E}">
        <p14:creationId xmlns:p14="http://schemas.microsoft.com/office/powerpoint/2010/main" val="862701193"/>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1858"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688">
              <a:defRPr sz="1600">
                <a:solidFill>
                  <a:schemeClr val="tx1"/>
                </a:solidFill>
                <a:latin typeface="Helvetica" panose="020B0604020202020204" pitchFamily="34" charset="0"/>
                <a:ea typeface="MS PGothic" panose="020B0600070205080204" pitchFamily="34" charset="-128"/>
              </a:defRPr>
            </a:lvl1pPr>
            <a:lvl2pPr marL="742950" indent="-285750" defTabSz="928688">
              <a:defRPr sz="1600">
                <a:solidFill>
                  <a:schemeClr val="tx1"/>
                </a:solidFill>
                <a:latin typeface="Helvetica" panose="020B0604020202020204" pitchFamily="34" charset="0"/>
                <a:ea typeface="MS PGothic" panose="020B0600070205080204" pitchFamily="34" charset="-128"/>
              </a:defRPr>
            </a:lvl2pPr>
            <a:lvl3pPr marL="1143000" indent="-228600" defTabSz="928688">
              <a:defRPr sz="1600">
                <a:solidFill>
                  <a:schemeClr val="tx1"/>
                </a:solidFill>
                <a:latin typeface="Helvetica" panose="020B0604020202020204" pitchFamily="34" charset="0"/>
                <a:ea typeface="MS PGothic" panose="020B0600070205080204" pitchFamily="34" charset="-128"/>
              </a:defRPr>
            </a:lvl3pPr>
            <a:lvl4pPr marL="1600200" indent="-228600" defTabSz="928688">
              <a:defRPr sz="1600">
                <a:solidFill>
                  <a:schemeClr val="tx1"/>
                </a:solidFill>
                <a:latin typeface="Helvetica" panose="020B0604020202020204" pitchFamily="34" charset="0"/>
                <a:ea typeface="MS PGothic" panose="020B0600070205080204" pitchFamily="34" charset="-128"/>
              </a:defRPr>
            </a:lvl4pPr>
            <a:lvl5pPr marL="2057400" indent="-228600" defTabSz="928688">
              <a:defRPr sz="1600">
                <a:solidFill>
                  <a:schemeClr val="tx1"/>
                </a:solidFill>
                <a:latin typeface="Helvetica" panose="020B0604020202020204" pitchFamily="34" charset="0"/>
                <a:ea typeface="MS PGothic" panose="020B0600070205080204" pitchFamily="34" charset="-128"/>
              </a:defRPr>
            </a:lvl5pPr>
            <a:lvl6pPr marL="25146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94B50642-8067-4638-B2FE-15C691E00756}" type="slidenum">
              <a:rPr lang="en-US" altLang="en-US" sz="1200"/>
              <a:pPr/>
              <a:t>46</a:t>
            </a:fld>
            <a:endParaRPr lang="en-US" altLang="en-US" sz="1200"/>
          </a:p>
        </p:txBody>
      </p:sp>
      <p:sp>
        <p:nvSpPr>
          <p:cNvPr id="121859" name="Rectangle 2"/>
          <p:cNvSpPr>
            <a:spLocks noGrp="1" noRot="1" noChangeAspect="1" noChangeArrowheads="1" noTextEdit="1"/>
          </p:cNvSpPr>
          <p:nvPr>
            <p:ph type="sldImg"/>
          </p:nvPr>
        </p:nvSpPr>
        <p:spPr>
          <a:xfrm>
            <a:off x="1177925" y="695325"/>
            <a:ext cx="4641850" cy="3481388"/>
          </a:xfrm>
          <a:ln/>
        </p:spPr>
      </p:sp>
      <p:sp>
        <p:nvSpPr>
          <p:cNvPr id="121860" name="Rectangle 3"/>
          <p:cNvSpPr>
            <a:spLocks noGrp="1" noChangeArrowheads="1"/>
          </p:cNvSpPr>
          <p:nvPr>
            <p:ph type="body" idx="1"/>
          </p:nvPr>
        </p:nvSpPr>
        <p:spPr>
          <a:xfrm>
            <a:off x="931414" y="4410392"/>
            <a:ext cx="5134874" cy="4177348"/>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extLst>
      <p:ext uri="{BB962C8B-B14F-4D97-AF65-F5344CB8AC3E}">
        <p14:creationId xmlns:p14="http://schemas.microsoft.com/office/powerpoint/2010/main" val="2543091858"/>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2882"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688">
              <a:defRPr sz="1600">
                <a:solidFill>
                  <a:schemeClr val="tx1"/>
                </a:solidFill>
                <a:latin typeface="Helvetica" panose="020B0604020202020204" pitchFamily="34" charset="0"/>
                <a:ea typeface="MS PGothic" panose="020B0600070205080204" pitchFamily="34" charset="-128"/>
              </a:defRPr>
            </a:lvl1pPr>
            <a:lvl2pPr marL="742950" indent="-285750" defTabSz="928688">
              <a:defRPr sz="1600">
                <a:solidFill>
                  <a:schemeClr val="tx1"/>
                </a:solidFill>
                <a:latin typeface="Helvetica" panose="020B0604020202020204" pitchFamily="34" charset="0"/>
                <a:ea typeface="MS PGothic" panose="020B0600070205080204" pitchFamily="34" charset="-128"/>
              </a:defRPr>
            </a:lvl2pPr>
            <a:lvl3pPr marL="1143000" indent="-228600" defTabSz="928688">
              <a:defRPr sz="1600">
                <a:solidFill>
                  <a:schemeClr val="tx1"/>
                </a:solidFill>
                <a:latin typeface="Helvetica" panose="020B0604020202020204" pitchFamily="34" charset="0"/>
                <a:ea typeface="MS PGothic" panose="020B0600070205080204" pitchFamily="34" charset="-128"/>
              </a:defRPr>
            </a:lvl3pPr>
            <a:lvl4pPr marL="1600200" indent="-228600" defTabSz="928688">
              <a:defRPr sz="1600">
                <a:solidFill>
                  <a:schemeClr val="tx1"/>
                </a:solidFill>
                <a:latin typeface="Helvetica" panose="020B0604020202020204" pitchFamily="34" charset="0"/>
                <a:ea typeface="MS PGothic" panose="020B0600070205080204" pitchFamily="34" charset="-128"/>
              </a:defRPr>
            </a:lvl4pPr>
            <a:lvl5pPr marL="2057400" indent="-228600" defTabSz="928688">
              <a:defRPr sz="1600">
                <a:solidFill>
                  <a:schemeClr val="tx1"/>
                </a:solidFill>
                <a:latin typeface="Helvetica" panose="020B0604020202020204" pitchFamily="34" charset="0"/>
                <a:ea typeface="MS PGothic" panose="020B0600070205080204" pitchFamily="34" charset="-128"/>
              </a:defRPr>
            </a:lvl5pPr>
            <a:lvl6pPr marL="25146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2FCC9CF2-4998-4C05-A98D-CC655C386950}" type="slidenum">
              <a:rPr lang="en-US" altLang="en-US" sz="1200"/>
              <a:pPr/>
              <a:t>47</a:t>
            </a:fld>
            <a:endParaRPr lang="en-US" altLang="en-US" sz="1200"/>
          </a:p>
        </p:txBody>
      </p:sp>
      <p:sp>
        <p:nvSpPr>
          <p:cNvPr id="122883" name="Rectangle 2"/>
          <p:cNvSpPr>
            <a:spLocks noGrp="1" noRot="1" noChangeAspect="1" noChangeArrowheads="1" noTextEdit="1"/>
          </p:cNvSpPr>
          <p:nvPr>
            <p:ph type="sldImg"/>
          </p:nvPr>
        </p:nvSpPr>
        <p:spPr>
          <a:xfrm>
            <a:off x="1177925" y="695325"/>
            <a:ext cx="4641850" cy="3481388"/>
          </a:xfrm>
          <a:ln/>
        </p:spPr>
      </p:sp>
      <p:sp>
        <p:nvSpPr>
          <p:cNvPr id="122884" name="Rectangle 3"/>
          <p:cNvSpPr>
            <a:spLocks noGrp="1" noChangeArrowheads="1"/>
          </p:cNvSpPr>
          <p:nvPr>
            <p:ph type="body" idx="1"/>
          </p:nvPr>
        </p:nvSpPr>
        <p:spPr>
          <a:xfrm>
            <a:off x="931414" y="4410392"/>
            <a:ext cx="5134874" cy="4177348"/>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algn="r" rtl="1"/>
            <a:r>
              <a:rPr lang="fa-IR" b="1" dirty="0"/>
              <a:t>بستار یک مجموعه از وابستگی‌های تابعی</a:t>
            </a:r>
            <a:endParaRPr lang="fa-IR" dirty="0"/>
          </a:p>
          <a:p>
            <a:pPr algn="r" rtl="1">
              <a:buFont typeface="Arial" panose="020B0604020202020204" pitchFamily="34" charset="0"/>
              <a:buChar char="•"/>
            </a:pPr>
            <a:r>
              <a:rPr lang="fa-IR" dirty="0"/>
              <a:t>فرض کنید یک مجموعه </a:t>
            </a:r>
            <a:r>
              <a:rPr lang="en-US" dirty="0"/>
              <a:t>F </a:t>
            </a:r>
            <a:r>
              <a:rPr lang="fa-IR" dirty="0"/>
              <a:t>از وابستگی‌های تابعی داده شده است. در این صورت، وابستگی‌های تابعی دیگری وجود دارند که به‌طور منطقی از </a:t>
            </a:r>
            <a:r>
              <a:rPr lang="en-US" dirty="0"/>
              <a:t>F</a:t>
            </a:r>
            <a:r>
              <a:rPr lang="fa-IR" dirty="0"/>
              <a:t>نتیجه می‌شوند.</a:t>
            </a:r>
          </a:p>
          <a:p>
            <a:pPr marL="742950" lvl="1" indent="-285750" algn="r" rtl="1">
              <a:buFont typeface="Arial" panose="020B0604020202020204" pitchFamily="34" charset="0"/>
              <a:buChar char="•"/>
            </a:pPr>
            <a:r>
              <a:rPr lang="fa-IR" dirty="0"/>
              <a:t>برای مثال، اگر </a:t>
            </a:r>
            <a:r>
              <a:rPr lang="en-US" dirty="0"/>
              <a:t>A→BA \to BA→B </a:t>
            </a:r>
            <a:r>
              <a:rPr lang="fa-IR" dirty="0"/>
              <a:t>و </a:t>
            </a:r>
            <a:r>
              <a:rPr lang="en-US" dirty="0"/>
              <a:t>B→CB \to CB→C، </a:t>
            </a:r>
            <a:r>
              <a:rPr lang="fa-IR" dirty="0"/>
              <a:t>می‌توانیم نتیجه بگیریم که </a:t>
            </a:r>
            <a:r>
              <a:rPr lang="en-US" dirty="0"/>
              <a:t>A→CA \to CA→C</a:t>
            </a:r>
          </a:p>
          <a:p>
            <a:pPr marL="742950" lvl="1" indent="-285750" algn="r" rtl="1">
              <a:buFont typeface="Arial" panose="020B0604020202020204" pitchFamily="34" charset="0"/>
              <a:buChar char="•"/>
            </a:pPr>
            <a:r>
              <a:rPr lang="fa-IR" dirty="0"/>
              <a:t>و همینطور برای سایر وابستگی‌ها.</a:t>
            </a:r>
          </a:p>
          <a:p>
            <a:pPr algn="r" rtl="1">
              <a:buFont typeface="Arial" panose="020B0604020202020204" pitchFamily="34" charset="0"/>
              <a:buChar char="•"/>
            </a:pPr>
            <a:r>
              <a:rPr lang="fa-IR" dirty="0"/>
              <a:t>مجموعه‌ای از تمامی وابستگی‌های تابعی که به‌طور منطقی از </a:t>
            </a:r>
            <a:r>
              <a:rPr lang="en-US" dirty="0"/>
              <a:t>F </a:t>
            </a:r>
            <a:r>
              <a:rPr lang="fa-IR" dirty="0"/>
              <a:t>نتیجه می‌شوند، </a:t>
            </a:r>
            <a:r>
              <a:rPr lang="fa-IR" b="1" dirty="0"/>
              <a:t>اختتام </a:t>
            </a:r>
            <a:r>
              <a:rPr lang="en-US" b="1" dirty="0"/>
              <a:t>FFF</a:t>
            </a:r>
            <a:r>
              <a:rPr lang="en-US" dirty="0"/>
              <a:t> </a:t>
            </a:r>
            <a:r>
              <a:rPr lang="fa-IR" dirty="0"/>
              <a:t>نامیده می‌شود.</a:t>
            </a:r>
          </a:p>
          <a:p>
            <a:pPr algn="r" rtl="1">
              <a:buFont typeface="Arial" panose="020B0604020202020204" pitchFamily="34" charset="0"/>
              <a:buChar char="•"/>
            </a:pPr>
            <a:r>
              <a:rPr lang="fa-IR" dirty="0"/>
              <a:t>اختتام </a:t>
            </a:r>
            <a:r>
              <a:rPr lang="en-US" dirty="0"/>
              <a:t>FFF </a:t>
            </a:r>
            <a:r>
              <a:rPr lang="fa-IR" dirty="0"/>
              <a:t>را با </a:t>
            </a:r>
            <a:r>
              <a:rPr lang="en-US" dirty="0"/>
              <a:t>F+F^+F+ </a:t>
            </a:r>
            <a:r>
              <a:rPr lang="fa-IR" dirty="0"/>
              <a:t>نمایش می‌دهیم.</a:t>
            </a:r>
          </a:p>
          <a:p>
            <a:pPr algn="r" rtl="1"/>
            <a:endParaRPr lang="en-US" altLang="en-US" dirty="0">
              <a:latin typeface="Times New Roman" panose="02020603050405020304" pitchFamily="18" charset="0"/>
            </a:endParaRPr>
          </a:p>
        </p:txBody>
      </p:sp>
    </p:spTree>
    <p:extLst>
      <p:ext uri="{BB962C8B-B14F-4D97-AF65-F5344CB8AC3E}">
        <p14:creationId xmlns:p14="http://schemas.microsoft.com/office/powerpoint/2010/main" val="118692597"/>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3906"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688">
              <a:defRPr sz="1600">
                <a:solidFill>
                  <a:schemeClr val="tx1"/>
                </a:solidFill>
                <a:latin typeface="Helvetica" panose="020B0604020202020204" pitchFamily="34" charset="0"/>
                <a:ea typeface="MS PGothic" panose="020B0600070205080204" pitchFamily="34" charset="-128"/>
              </a:defRPr>
            </a:lvl1pPr>
            <a:lvl2pPr marL="742950" indent="-285750" defTabSz="928688">
              <a:defRPr sz="1600">
                <a:solidFill>
                  <a:schemeClr val="tx1"/>
                </a:solidFill>
                <a:latin typeface="Helvetica" panose="020B0604020202020204" pitchFamily="34" charset="0"/>
                <a:ea typeface="MS PGothic" panose="020B0600070205080204" pitchFamily="34" charset="-128"/>
              </a:defRPr>
            </a:lvl2pPr>
            <a:lvl3pPr marL="1143000" indent="-228600" defTabSz="928688">
              <a:defRPr sz="1600">
                <a:solidFill>
                  <a:schemeClr val="tx1"/>
                </a:solidFill>
                <a:latin typeface="Helvetica" panose="020B0604020202020204" pitchFamily="34" charset="0"/>
                <a:ea typeface="MS PGothic" panose="020B0600070205080204" pitchFamily="34" charset="-128"/>
              </a:defRPr>
            </a:lvl3pPr>
            <a:lvl4pPr marL="1600200" indent="-228600" defTabSz="928688">
              <a:defRPr sz="1600">
                <a:solidFill>
                  <a:schemeClr val="tx1"/>
                </a:solidFill>
                <a:latin typeface="Helvetica" panose="020B0604020202020204" pitchFamily="34" charset="0"/>
                <a:ea typeface="MS PGothic" panose="020B0600070205080204" pitchFamily="34" charset="-128"/>
              </a:defRPr>
            </a:lvl4pPr>
            <a:lvl5pPr marL="2057400" indent="-228600" defTabSz="928688">
              <a:defRPr sz="1600">
                <a:solidFill>
                  <a:schemeClr val="tx1"/>
                </a:solidFill>
                <a:latin typeface="Helvetica" panose="020B0604020202020204" pitchFamily="34" charset="0"/>
                <a:ea typeface="MS PGothic" panose="020B0600070205080204" pitchFamily="34" charset="-128"/>
              </a:defRPr>
            </a:lvl5pPr>
            <a:lvl6pPr marL="25146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2601A597-9366-4E98-91B3-EC7AD41AF343}" type="slidenum">
              <a:rPr lang="en-US" altLang="en-US" sz="1200"/>
              <a:pPr/>
              <a:t>48</a:t>
            </a:fld>
            <a:endParaRPr lang="en-US" altLang="en-US" sz="1200"/>
          </a:p>
        </p:txBody>
      </p:sp>
      <p:sp>
        <p:nvSpPr>
          <p:cNvPr id="123907" name="Rectangle 2"/>
          <p:cNvSpPr>
            <a:spLocks noGrp="1" noRot="1" noChangeAspect="1" noChangeArrowheads="1" noTextEdit="1"/>
          </p:cNvSpPr>
          <p:nvPr>
            <p:ph type="sldImg"/>
          </p:nvPr>
        </p:nvSpPr>
        <p:spPr>
          <a:xfrm>
            <a:off x="1177925" y="695325"/>
            <a:ext cx="4641850" cy="3481388"/>
          </a:xfrm>
          <a:ln/>
        </p:spPr>
      </p:sp>
      <p:sp>
        <p:nvSpPr>
          <p:cNvPr id="123908" name="Rectangle 3"/>
          <p:cNvSpPr>
            <a:spLocks noGrp="1" noChangeArrowheads="1"/>
          </p:cNvSpPr>
          <p:nvPr>
            <p:ph type="body" idx="1"/>
          </p:nvPr>
        </p:nvSpPr>
        <p:spPr>
          <a:xfrm>
            <a:off x="931414" y="4410392"/>
            <a:ext cx="5134874" cy="4177348"/>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marL="0" marR="0" algn="r" rtl="1">
              <a:lnSpc>
                <a:spcPct val="107000"/>
              </a:lnSpc>
              <a:spcBef>
                <a:spcPts val="0"/>
              </a:spcBef>
              <a:spcAft>
                <a:spcPts val="800"/>
              </a:spcAft>
            </a:pPr>
            <a:r>
              <a:rPr lang="en-US" sz="1800" dirty="0">
                <a:effectLst/>
                <a:latin typeface="Times New Roman" panose="02020603050405020304" pitchFamily="18" charset="0"/>
                <a:ea typeface="Times New Roman" panose="02020603050405020304" pitchFamily="18" charset="0"/>
                <a:cs typeface="Arial" panose="020B0604020202020204" pitchFamily="34" charset="0"/>
              </a:rPr>
              <a:t>KKK </a:t>
            </a:r>
            <a:r>
              <a:rPr lang="ar-SA" sz="1800" dirty="0">
                <a:effectLst/>
                <a:latin typeface="Calibri" panose="020F0502020204030204" pitchFamily="34" charset="0"/>
                <a:ea typeface="Times New Roman" panose="02020603050405020304" pitchFamily="18" charset="0"/>
                <a:cs typeface="Times New Roman" panose="02020603050405020304" pitchFamily="18" charset="0"/>
              </a:rPr>
              <a:t>یک ابرکلید برای طرح رابطه </a:t>
            </a:r>
            <a:r>
              <a:rPr lang="en-US" sz="1800" dirty="0">
                <a:effectLst/>
                <a:latin typeface="Times New Roman" panose="02020603050405020304" pitchFamily="18" charset="0"/>
                <a:ea typeface="Times New Roman" panose="02020603050405020304" pitchFamily="18" charset="0"/>
                <a:cs typeface="Arial" panose="020B0604020202020204" pitchFamily="34" charset="0"/>
              </a:rPr>
              <a:t>RRR </a:t>
            </a:r>
            <a:r>
              <a:rPr lang="ar-SA" sz="1800" dirty="0">
                <a:effectLst/>
                <a:latin typeface="Calibri" panose="020F0502020204030204" pitchFamily="34" charset="0"/>
                <a:ea typeface="Times New Roman" panose="02020603050405020304" pitchFamily="18" charset="0"/>
                <a:cs typeface="Times New Roman" panose="02020603050405020304" pitchFamily="18" charset="0"/>
              </a:rPr>
              <a:t>است اگر و تنها اگر </a:t>
            </a:r>
            <a:r>
              <a:rPr lang="en-US" sz="1800" dirty="0">
                <a:effectLst/>
                <a:latin typeface="Times New Roman" panose="02020603050405020304" pitchFamily="18" charset="0"/>
                <a:ea typeface="Times New Roman" panose="02020603050405020304" pitchFamily="18" charset="0"/>
                <a:cs typeface="Arial" panose="020B0604020202020204" pitchFamily="34" charset="0"/>
              </a:rPr>
              <a:t>K→RK \</a:t>
            </a:r>
            <a:r>
              <a:rPr lang="en-US" sz="1800" dirty="0" err="1">
                <a:effectLst/>
                <a:latin typeface="Times New Roman" panose="02020603050405020304" pitchFamily="18" charset="0"/>
                <a:ea typeface="Times New Roman" panose="02020603050405020304" pitchFamily="18" charset="0"/>
                <a:cs typeface="Arial" panose="020B0604020202020204" pitchFamily="34" charset="0"/>
              </a:rPr>
              <a:t>rightarrow</a:t>
            </a:r>
            <a:r>
              <a:rPr lang="en-US" sz="1800" dirty="0">
                <a:effectLst/>
                <a:latin typeface="Times New Roman" panose="02020603050405020304" pitchFamily="18" charset="0"/>
                <a:ea typeface="Times New Roman" panose="02020603050405020304" pitchFamily="18" charset="0"/>
                <a:cs typeface="Arial" panose="020B0604020202020204" pitchFamily="34" charset="0"/>
              </a:rPr>
              <a:t> RK→R.</a:t>
            </a:r>
            <a:br>
              <a:rPr lang="en-US" sz="1800" dirty="0">
                <a:effectLst/>
                <a:latin typeface="Times New Roman" panose="02020603050405020304" pitchFamily="18" charset="0"/>
                <a:ea typeface="Times New Roman" panose="02020603050405020304" pitchFamily="18" charset="0"/>
                <a:cs typeface="Arial" panose="020B0604020202020204" pitchFamily="34" charset="0"/>
              </a:rPr>
            </a:br>
            <a:r>
              <a:rPr lang="en-US" sz="1800" dirty="0">
                <a:effectLst/>
                <a:latin typeface="Times New Roman" panose="02020603050405020304" pitchFamily="18" charset="0"/>
                <a:ea typeface="Times New Roman" panose="02020603050405020304" pitchFamily="18" charset="0"/>
                <a:cs typeface="Arial" panose="020B0604020202020204" pitchFamily="34" charset="0"/>
              </a:rPr>
              <a:t>KKK </a:t>
            </a:r>
            <a:r>
              <a:rPr lang="ar-SA" sz="1800" dirty="0">
                <a:effectLst/>
                <a:latin typeface="Calibri" panose="020F0502020204030204" pitchFamily="34" charset="0"/>
                <a:ea typeface="Times New Roman" panose="02020603050405020304" pitchFamily="18" charset="0"/>
                <a:cs typeface="Times New Roman" panose="02020603050405020304" pitchFamily="18" charset="0"/>
              </a:rPr>
              <a:t>یک کلید کاندیدا برای </a:t>
            </a:r>
            <a:r>
              <a:rPr lang="en-US" sz="1800" dirty="0">
                <a:effectLst/>
                <a:latin typeface="Times New Roman" panose="02020603050405020304" pitchFamily="18" charset="0"/>
                <a:ea typeface="Times New Roman" panose="02020603050405020304" pitchFamily="18" charset="0"/>
                <a:cs typeface="Arial" panose="020B0604020202020204" pitchFamily="34" charset="0"/>
              </a:rPr>
              <a:t>RRR </a:t>
            </a:r>
            <a:r>
              <a:rPr lang="ar-SA" sz="1800" dirty="0">
                <a:effectLst/>
                <a:latin typeface="Calibri" panose="020F0502020204030204" pitchFamily="34" charset="0"/>
                <a:ea typeface="Times New Roman" panose="02020603050405020304" pitchFamily="18" charset="0"/>
                <a:cs typeface="Times New Roman" panose="02020603050405020304" pitchFamily="18" charset="0"/>
              </a:rPr>
              <a:t>است اگر و تنها اگر</a:t>
            </a:r>
            <a:r>
              <a:rPr lang="en-US" sz="1800" dirty="0">
                <a:effectLst/>
                <a:latin typeface="Times New Roman" panose="02020603050405020304" pitchFamily="18" charset="0"/>
                <a:ea typeface="Times New Roman" panose="02020603050405020304" pitchFamily="18" charset="0"/>
                <a:cs typeface="Arial" panose="020B0604020202020204" pitchFamily="34" charset="0"/>
              </a:rPr>
              <a:t>:</a:t>
            </a:r>
            <a:endParaRPr lang="en-US" sz="1800" dirty="0">
              <a:effectLst/>
              <a:latin typeface="Calibri" panose="020F0502020204030204" pitchFamily="34" charset="0"/>
              <a:ea typeface="Calibri" panose="020F0502020204030204" pitchFamily="34" charset="0"/>
              <a:cs typeface="Arial" panose="020B0604020202020204" pitchFamily="34" charset="0"/>
            </a:endParaRPr>
          </a:p>
          <a:p>
            <a:pPr marL="342900" marR="0" lvl="0" indent="-342900" algn="r" rtl="1">
              <a:lnSpc>
                <a:spcPct val="107000"/>
              </a:lnSpc>
              <a:spcBef>
                <a:spcPts val="0"/>
              </a:spcBef>
              <a:spcAft>
                <a:spcPts val="800"/>
              </a:spcAft>
              <a:buFont typeface="+mj-lt"/>
              <a:buAutoNum type="arabicPeriod"/>
              <a:tabLst>
                <a:tab pos="457200" algn="l"/>
              </a:tabLst>
            </a:pPr>
            <a:r>
              <a:rPr lang="en-US" sz="1800" dirty="0">
                <a:effectLst/>
                <a:latin typeface="Times New Roman" panose="02020603050405020304" pitchFamily="18" charset="0"/>
                <a:ea typeface="Times New Roman" panose="02020603050405020304" pitchFamily="18" charset="0"/>
                <a:cs typeface="Arial" panose="020B0604020202020204" pitchFamily="34" charset="0"/>
              </a:rPr>
              <a:t>K→RK \</a:t>
            </a:r>
            <a:r>
              <a:rPr lang="en-US" sz="1800" dirty="0" err="1">
                <a:effectLst/>
                <a:latin typeface="Times New Roman" panose="02020603050405020304" pitchFamily="18" charset="0"/>
                <a:ea typeface="Times New Roman" panose="02020603050405020304" pitchFamily="18" charset="0"/>
                <a:cs typeface="Arial" panose="020B0604020202020204" pitchFamily="34" charset="0"/>
              </a:rPr>
              <a:t>rightarrow</a:t>
            </a:r>
            <a:r>
              <a:rPr lang="en-US" sz="1800" dirty="0">
                <a:effectLst/>
                <a:latin typeface="Times New Roman" panose="02020603050405020304" pitchFamily="18" charset="0"/>
                <a:ea typeface="Times New Roman" panose="02020603050405020304" pitchFamily="18" charset="0"/>
                <a:cs typeface="Arial" panose="020B0604020202020204" pitchFamily="34" charset="0"/>
              </a:rPr>
              <a:t> RK→R</a:t>
            </a:r>
            <a:r>
              <a:rPr lang="ar-SA" sz="1800" dirty="0">
                <a:effectLst/>
                <a:latin typeface="Calibri" panose="020F0502020204030204" pitchFamily="34" charset="0"/>
                <a:ea typeface="Times New Roman" panose="02020603050405020304" pitchFamily="18" charset="0"/>
                <a:cs typeface="Times New Roman" panose="02020603050405020304" pitchFamily="18" charset="0"/>
              </a:rPr>
              <a:t>، و</a:t>
            </a:r>
            <a:endParaRPr lang="en-US" sz="1800" dirty="0">
              <a:effectLst/>
              <a:latin typeface="Calibri" panose="020F0502020204030204" pitchFamily="34" charset="0"/>
              <a:ea typeface="Calibri" panose="020F0502020204030204" pitchFamily="34" charset="0"/>
              <a:cs typeface="Arial" panose="020B0604020202020204" pitchFamily="34" charset="0"/>
            </a:endParaRPr>
          </a:p>
          <a:p>
            <a:pPr marL="342900" marR="0" lvl="0" indent="-342900" algn="r" rtl="1">
              <a:lnSpc>
                <a:spcPct val="107000"/>
              </a:lnSpc>
              <a:spcBef>
                <a:spcPts val="0"/>
              </a:spcBef>
              <a:spcAft>
                <a:spcPts val="800"/>
              </a:spcAft>
              <a:buFont typeface="+mj-lt"/>
              <a:buAutoNum type="arabicPeriod"/>
              <a:tabLst>
                <a:tab pos="457200" algn="l"/>
              </a:tabLst>
            </a:pPr>
            <a:r>
              <a:rPr lang="ar-SA" sz="1800" dirty="0">
                <a:effectLst/>
                <a:latin typeface="Calibri" panose="020F0502020204030204" pitchFamily="34" charset="0"/>
                <a:ea typeface="Times New Roman" panose="02020603050405020304" pitchFamily="18" charset="0"/>
                <a:cs typeface="Times New Roman" panose="02020603050405020304" pitchFamily="18" charset="0"/>
              </a:rPr>
              <a:t>برای هیچ زیرمجموعه </a:t>
            </a:r>
            <a:r>
              <a:rPr lang="en-US" sz="1800" dirty="0">
                <a:effectLst/>
                <a:latin typeface="Times New Roman" panose="02020603050405020304" pitchFamily="18" charset="0"/>
                <a:ea typeface="Times New Roman" panose="02020603050405020304" pitchFamily="18" charset="0"/>
                <a:cs typeface="Arial" panose="020B0604020202020204" pitchFamily="34" charset="0"/>
              </a:rPr>
              <a:t>α</a:t>
            </a:r>
            <a:r>
              <a:rPr lang="en-US" sz="1800" dirty="0">
                <a:effectLst/>
                <a:latin typeface="Cambria Math" panose="02040503050406030204" pitchFamily="18" charset="0"/>
                <a:ea typeface="Times New Roman" panose="02020603050405020304" pitchFamily="18" charset="0"/>
                <a:cs typeface="Cambria Math" panose="02040503050406030204" pitchFamily="18" charset="0"/>
              </a:rPr>
              <a:t>⊂</a:t>
            </a:r>
            <a:r>
              <a:rPr lang="en-US" sz="1800" dirty="0">
                <a:effectLst/>
                <a:latin typeface="Times New Roman" panose="02020603050405020304" pitchFamily="18" charset="0"/>
                <a:ea typeface="Times New Roman" panose="02020603050405020304" pitchFamily="18" charset="0"/>
                <a:cs typeface="Arial" panose="020B0604020202020204" pitchFamily="34" charset="0"/>
              </a:rPr>
              <a:t>K\alpha \subset Kα</a:t>
            </a:r>
            <a:r>
              <a:rPr lang="en-US" sz="1800" dirty="0">
                <a:effectLst/>
                <a:latin typeface="Cambria Math" panose="02040503050406030204" pitchFamily="18" charset="0"/>
                <a:ea typeface="Times New Roman" panose="02020603050405020304" pitchFamily="18" charset="0"/>
                <a:cs typeface="Cambria Math" panose="02040503050406030204" pitchFamily="18" charset="0"/>
              </a:rPr>
              <a:t>⊂</a:t>
            </a:r>
            <a:r>
              <a:rPr lang="en-US" sz="1800" dirty="0">
                <a:effectLst/>
                <a:latin typeface="Times New Roman" panose="02020603050405020304" pitchFamily="18" charset="0"/>
                <a:ea typeface="Times New Roman" panose="02020603050405020304" pitchFamily="18" charset="0"/>
                <a:cs typeface="Arial" panose="020B0604020202020204" pitchFamily="34" charset="0"/>
              </a:rPr>
              <a:t>K</a:t>
            </a:r>
            <a:r>
              <a:rPr lang="ar-SA" sz="1800" dirty="0">
                <a:effectLst/>
                <a:latin typeface="Calibri" panose="020F0502020204030204" pitchFamily="34" charset="0"/>
                <a:ea typeface="Times New Roman" panose="02020603050405020304" pitchFamily="18" charset="0"/>
                <a:cs typeface="Times New Roman" panose="02020603050405020304" pitchFamily="18" charset="0"/>
              </a:rPr>
              <a:t>، </a:t>
            </a:r>
            <a:r>
              <a:rPr lang="en-US" sz="1800" dirty="0">
                <a:effectLst/>
                <a:latin typeface="Times New Roman" panose="02020603050405020304" pitchFamily="18" charset="0"/>
                <a:ea typeface="Times New Roman" panose="02020603050405020304" pitchFamily="18" charset="0"/>
                <a:cs typeface="Arial" panose="020B0604020202020204" pitchFamily="34" charset="0"/>
              </a:rPr>
              <a:t>α→R\alpha \</a:t>
            </a:r>
            <a:r>
              <a:rPr lang="en-US" sz="1800" dirty="0" err="1">
                <a:effectLst/>
                <a:latin typeface="Times New Roman" panose="02020603050405020304" pitchFamily="18" charset="0"/>
                <a:ea typeface="Times New Roman" panose="02020603050405020304" pitchFamily="18" charset="0"/>
                <a:cs typeface="Arial" panose="020B0604020202020204" pitchFamily="34" charset="0"/>
              </a:rPr>
              <a:t>rightarrow</a:t>
            </a:r>
            <a:r>
              <a:rPr lang="en-US" sz="1800" dirty="0">
                <a:effectLst/>
                <a:latin typeface="Times New Roman" panose="02020603050405020304" pitchFamily="18" charset="0"/>
                <a:ea typeface="Times New Roman" panose="02020603050405020304" pitchFamily="18" charset="0"/>
                <a:cs typeface="Arial" panose="020B0604020202020204" pitchFamily="34" charset="0"/>
              </a:rPr>
              <a:t> Rα→R.</a:t>
            </a:r>
            <a:endParaRPr lang="en-US" sz="1800" dirty="0">
              <a:effectLst/>
              <a:latin typeface="Calibri" panose="020F0502020204030204" pitchFamily="34" charset="0"/>
              <a:ea typeface="Calibri" panose="020F0502020204030204" pitchFamily="34" charset="0"/>
              <a:cs typeface="Arial" panose="020B0604020202020204" pitchFamily="34" charset="0"/>
            </a:endParaRPr>
          </a:p>
          <a:p>
            <a:pPr marL="0" marR="0" algn="r" rtl="1">
              <a:lnSpc>
                <a:spcPct val="107000"/>
              </a:lnSpc>
              <a:spcBef>
                <a:spcPts val="0"/>
              </a:spcBef>
              <a:spcAft>
                <a:spcPts val="800"/>
              </a:spcAft>
            </a:pPr>
            <a:r>
              <a:rPr lang="ar-SA" sz="1800" dirty="0">
                <a:effectLst/>
                <a:latin typeface="Calibri" panose="020F0502020204030204" pitchFamily="34" charset="0"/>
                <a:ea typeface="Times New Roman" panose="02020603050405020304" pitchFamily="18" charset="0"/>
                <a:cs typeface="Times New Roman" panose="02020603050405020304" pitchFamily="18" charset="0"/>
              </a:rPr>
              <a:t>وابستگی‌های تابعی به ما اجازه می‌دهند محدودیت‌هایی را بیان کنیم که نمی‌توان آن‌ها را با استفاده از ابرکلیدها بیان کرد. طرح زیر را در نظر بگیرید</a:t>
            </a:r>
            <a:r>
              <a:rPr lang="en-US" sz="1800" dirty="0">
                <a:effectLst/>
                <a:latin typeface="Times New Roman" panose="02020603050405020304" pitchFamily="18" charset="0"/>
                <a:ea typeface="Times New Roman" panose="02020603050405020304" pitchFamily="18" charset="0"/>
                <a:cs typeface="Arial" panose="020B0604020202020204" pitchFamily="34" charset="0"/>
              </a:rPr>
              <a:t>:</a:t>
            </a:r>
            <a:endParaRPr lang="en-US" sz="1800" dirty="0">
              <a:effectLst/>
              <a:latin typeface="Calibri" panose="020F0502020204030204" pitchFamily="34" charset="0"/>
              <a:ea typeface="Calibri" panose="020F0502020204030204" pitchFamily="34" charset="0"/>
              <a:cs typeface="Arial" panose="020B0604020202020204" pitchFamily="34" charset="0"/>
            </a:endParaRPr>
          </a:p>
          <a:p>
            <a:pPr marL="0" marR="0" algn="r" rtl="1">
              <a:lnSpc>
                <a:spcPct val="107000"/>
              </a:lnSpc>
              <a:spcBef>
                <a:spcPts val="0"/>
              </a:spcBef>
              <a:spcAft>
                <a:spcPts val="0"/>
              </a:spcAft>
            </a:pPr>
            <a:r>
              <a:rPr lang="en-US" sz="1800" dirty="0">
                <a:effectLst/>
                <a:latin typeface="Times New Roman" panose="02020603050405020304" pitchFamily="18" charset="0"/>
                <a:ea typeface="Times New Roman" panose="02020603050405020304" pitchFamily="18" charset="0"/>
                <a:cs typeface="Arial" panose="020B0604020202020204" pitchFamily="34" charset="0"/>
              </a:rPr>
              <a:t>\text{</a:t>
            </a:r>
            <a:r>
              <a:rPr lang="en-US" sz="1800" dirty="0" err="1">
                <a:effectLst/>
                <a:latin typeface="Times New Roman" panose="02020603050405020304" pitchFamily="18" charset="0"/>
                <a:ea typeface="Times New Roman" panose="02020603050405020304" pitchFamily="18" charset="0"/>
                <a:cs typeface="Arial" panose="020B0604020202020204" pitchFamily="34" charset="0"/>
              </a:rPr>
              <a:t>in_dep</a:t>
            </a:r>
            <a:r>
              <a:rPr lang="en-US" sz="1800" dirty="0">
                <a:effectLst/>
                <a:latin typeface="Times New Roman" panose="02020603050405020304" pitchFamily="18" charset="0"/>
                <a:ea typeface="Times New Roman" panose="02020603050405020304" pitchFamily="18" charset="0"/>
                <a:cs typeface="Arial" panose="020B0604020202020204" pitchFamily="34" charset="0"/>
              </a:rPr>
              <a:t> (ID, name, salary, </a:t>
            </a:r>
            <a:r>
              <a:rPr lang="en-US" sz="1800" dirty="0" err="1">
                <a:effectLst/>
                <a:latin typeface="Times New Roman" panose="02020603050405020304" pitchFamily="18" charset="0"/>
                <a:ea typeface="Times New Roman" panose="02020603050405020304" pitchFamily="18" charset="0"/>
                <a:cs typeface="Arial" panose="020B0604020202020204" pitchFamily="34" charset="0"/>
              </a:rPr>
              <a:t>dept_name</a:t>
            </a:r>
            <a:r>
              <a:rPr lang="en-US" sz="1800" dirty="0">
                <a:effectLst/>
                <a:latin typeface="Times New Roman" panose="02020603050405020304" pitchFamily="18" charset="0"/>
                <a:ea typeface="Times New Roman" panose="02020603050405020304" pitchFamily="18" charset="0"/>
                <a:cs typeface="Arial" panose="020B0604020202020204" pitchFamily="34" charset="0"/>
              </a:rPr>
              <a:t>, building, budget).}</a:t>
            </a:r>
            <a:endParaRPr lang="en-US" sz="1800" dirty="0">
              <a:effectLst/>
              <a:latin typeface="Calibri" panose="020F0502020204030204" pitchFamily="34" charset="0"/>
              <a:ea typeface="Calibri" panose="020F0502020204030204" pitchFamily="34" charset="0"/>
              <a:cs typeface="Arial" panose="020B0604020202020204" pitchFamily="34" charset="0"/>
            </a:endParaRPr>
          </a:p>
          <a:p>
            <a:pPr marL="0" marR="0" algn="r" rtl="1">
              <a:lnSpc>
                <a:spcPct val="107000"/>
              </a:lnSpc>
              <a:spcBef>
                <a:spcPts val="0"/>
              </a:spcBef>
              <a:spcAft>
                <a:spcPts val="800"/>
              </a:spcAft>
            </a:pPr>
            <a:r>
              <a:rPr lang="ar-SA" sz="1800" dirty="0">
                <a:effectLst/>
                <a:latin typeface="Calibri" panose="020F0502020204030204" pitchFamily="34" charset="0"/>
                <a:ea typeface="Times New Roman" panose="02020603050405020304" pitchFamily="18" charset="0"/>
                <a:cs typeface="Times New Roman" panose="02020603050405020304" pitchFamily="18" charset="0"/>
              </a:rPr>
              <a:t>انتظار می‌رود این وابستگی‌های تابعی برقرار باشند</a:t>
            </a:r>
            <a:r>
              <a:rPr lang="en-US" sz="1800" dirty="0">
                <a:effectLst/>
                <a:latin typeface="Times New Roman" panose="02020603050405020304" pitchFamily="18" charset="0"/>
                <a:ea typeface="Times New Roman" panose="02020603050405020304" pitchFamily="18" charset="0"/>
                <a:cs typeface="Arial" panose="020B0604020202020204" pitchFamily="34" charset="0"/>
              </a:rPr>
              <a:t>:</a:t>
            </a:r>
            <a:endParaRPr lang="en-US" sz="1800" dirty="0">
              <a:effectLst/>
              <a:latin typeface="Calibri" panose="020F0502020204030204" pitchFamily="34" charset="0"/>
              <a:ea typeface="Calibri" panose="020F0502020204030204" pitchFamily="34" charset="0"/>
              <a:cs typeface="Arial" panose="020B0604020202020204" pitchFamily="34" charset="0"/>
            </a:endParaRPr>
          </a:p>
          <a:p>
            <a:pPr marL="0" marR="0" algn="r" rtl="1">
              <a:lnSpc>
                <a:spcPct val="107000"/>
              </a:lnSpc>
              <a:spcBef>
                <a:spcPts val="0"/>
              </a:spcBef>
              <a:spcAft>
                <a:spcPts val="0"/>
              </a:spcAft>
            </a:pPr>
            <a:r>
              <a:rPr lang="en-US" sz="1800" dirty="0">
                <a:effectLst/>
                <a:latin typeface="Times New Roman" panose="02020603050405020304" pitchFamily="18" charset="0"/>
                <a:ea typeface="Times New Roman" panose="02020603050405020304" pitchFamily="18" charset="0"/>
                <a:cs typeface="Arial" panose="020B0604020202020204" pitchFamily="34" charset="0"/>
              </a:rPr>
              <a:t>\text{</a:t>
            </a:r>
            <a:r>
              <a:rPr lang="en-US" sz="1800" dirty="0" err="1">
                <a:effectLst/>
                <a:latin typeface="Times New Roman" panose="02020603050405020304" pitchFamily="18" charset="0"/>
                <a:ea typeface="Times New Roman" panose="02020603050405020304" pitchFamily="18" charset="0"/>
                <a:cs typeface="Arial" panose="020B0604020202020204" pitchFamily="34" charset="0"/>
              </a:rPr>
              <a:t>dept_name</a:t>
            </a:r>
            <a:r>
              <a:rPr lang="en-US" sz="1800" dirty="0">
                <a:effectLst/>
                <a:latin typeface="Times New Roman" panose="02020603050405020304" pitchFamily="18" charset="0"/>
                <a:ea typeface="Times New Roman" panose="02020603050405020304" pitchFamily="18" charset="0"/>
                <a:cs typeface="Arial" panose="020B0604020202020204" pitchFamily="34" charset="0"/>
              </a:rPr>
              <a:t>} \</a:t>
            </a:r>
            <a:r>
              <a:rPr lang="en-US" sz="1800" dirty="0" err="1">
                <a:effectLst/>
                <a:latin typeface="Times New Roman" panose="02020603050405020304" pitchFamily="18" charset="0"/>
                <a:ea typeface="Times New Roman" panose="02020603050405020304" pitchFamily="18" charset="0"/>
                <a:cs typeface="Arial" panose="020B0604020202020204" pitchFamily="34" charset="0"/>
              </a:rPr>
              <a:t>rightarrow</a:t>
            </a:r>
            <a:r>
              <a:rPr lang="en-US" sz="1800" dirty="0">
                <a:effectLst/>
                <a:latin typeface="Times New Roman" panose="02020603050405020304" pitchFamily="18" charset="0"/>
                <a:ea typeface="Times New Roman" panose="02020603050405020304" pitchFamily="18" charset="0"/>
                <a:cs typeface="Arial" panose="020B0604020202020204" pitchFamily="34" charset="0"/>
              </a:rPr>
              <a:t> \text{building} </a:t>
            </a:r>
            <a:r>
              <a:rPr lang="en-US" sz="1800" dirty="0" err="1">
                <a:effectLst/>
                <a:latin typeface="Times New Roman" panose="02020603050405020304" pitchFamily="18" charset="0"/>
                <a:ea typeface="Times New Roman" panose="02020603050405020304" pitchFamily="18" charset="0"/>
                <a:cs typeface="Arial" panose="020B0604020202020204" pitchFamily="34" charset="0"/>
              </a:rPr>
              <a:t>ID→building</a:t>
            </a:r>
            <a:r>
              <a:rPr lang="en-US" sz="1800" dirty="0">
                <a:effectLst/>
                <a:latin typeface="Times New Roman" panose="02020603050405020304" pitchFamily="18" charset="0"/>
                <a:ea typeface="Times New Roman" panose="02020603050405020304" pitchFamily="18" charset="0"/>
                <a:cs typeface="Arial" panose="020B0604020202020204" pitchFamily="34" charset="0"/>
              </a:rPr>
              <a:t>\text{ID} \</a:t>
            </a:r>
            <a:r>
              <a:rPr lang="en-US" sz="1800" dirty="0" err="1">
                <a:effectLst/>
                <a:latin typeface="Times New Roman" panose="02020603050405020304" pitchFamily="18" charset="0"/>
                <a:ea typeface="Times New Roman" panose="02020603050405020304" pitchFamily="18" charset="0"/>
                <a:cs typeface="Arial" panose="020B0604020202020204" pitchFamily="34" charset="0"/>
              </a:rPr>
              <a:t>rightarrow</a:t>
            </a:r>
            <a:r>
              <a:rPr lang="en-US" sz="1800" dirty="0">
                <a:effectLst/>
                <a:latin typeface="Times New Roman" panose="02020603050405020304" pitchFamily="18" charset="0"/>
                <a:ea typeface="Times New Roman" panose="02020603050405020304" pitchFamily="18" charset="0"/>
                <a:cs typeface="Arial" panose="020B0604020202020204" pitchFamily="34" charset="0"/>
              </a:rPr>
              <a:t> \text{building}</a:t>
            </a:r>
            <a:r>
              <a:rPr lang="en-US" sz="1800" dirty="0" err="1">
                <a:effectLst/>
                <a:latin typeface="Times New Roman" panose="02020603050405020304" pitchFamily="18" charset="0"/>
                <a:ea typeface="Times New Roman" panose="02020603050405020304" pitchFamily="18" charset="0"/>
                <a:cs typeface="Arial" panose="020B0604020202020204" pitchFamily="34" charset="0"/>
              </a:rPr>
              <a:t>ID→building</a:t>
            </a:r>
            <a:endParaRPr lang="en-US" sz="1800" dirty="0">
              <a:effectLst/>
              <a:latin typeface="Calibri" panose="020F0502020204030204" pitchFamily="34" charset="0"/>
              <a:ea typeface="Calibri" panose="020F0502020204030204" pitchFamily="34" charset="0"/>
              <a:cs typeface="Arial" panose="020B0604020202020204" pitchFamily="34" charset="0"/>
            </a:endParaRPr>
          </a:p>
          <a:p>
            <a:pPr marL="0" marR="0" algn="r" rtl="1">
              <a:lnSpc>
                <a:spcPct val="107000"/>
              </a:lnSpc>
              <a:spcBef>
                <a:spcPts val="0"/>
              </a:spcBef>
              <a:spcAft>
                <a:spcPts val="800"/>
              </a:spcAft>
            </a:pPr>
            <a:r>
              <a:rPr lang="ar-SA" sz="1800" dirty="0">
                <a:effectLst/>
                <a:latin typeface="Calibri" panose="020F0502020204030204" pitchFamily="34" charset="0"/>
                <a:ea typeface="Times New Roman" panose="02020603050405020304" pitchFamily="18" charset="0"/>
                <a:cs typeface="Times New Roman" panose="02020603050405020304" pitchFamily="18" charset="0"/>
              </a:rPr>
              <a:t>اما انتظار نمی‌رود وابستگی زیر برقرار باشد</a:t>
            </a:r>
            <a:r>
              <a:rPr lang="en-US" sz="1800" dirty="0">
                <a:effectLst/>
                <a:latin typeface="Times New Roman" panose="02020603050405020304" pitchFamily="18" charset="0"/>
                <a:ea typeface="Times New Roman" panose="02020603050405020304" pitchFamily="18" charset="0"/>
                <a:cs typeface="Arial" panose="020B0604020202020204" pitchFamily="34" charset="0"/>
              </a:rPr>
              <a:t>:</a:t>
            </a:r>
            <a:endParaRPr lang="en-US" sz="1800" dirty="0">
              <a:effectLst/>
              <a:latin typeface="Calibri" panose="020F0502020204030204" pitchFamily="34" charset="0"/>
              <a:ea typeface="Calibri" panose="020F0502020204030204" pitchFamily="34" charset="0"/>
              <a:cs typeface="Arial" panose="020B0604020202020204" pitchFamily="34" charset="0"/>
            </a:endParaRPr>
          </a:p>
          <a:p>
            <a:pPr marL="0" marR="0" algn="r" rtl="1">
              <a:lnSpc>
                <a:spcPct val="107000"/>
              </a:lnSpc>
              <a:spcBef>
                <a:spcPts val="0"/>
              </a:spcBef>
              <a:spcAft>
                <a:spcPts val="800"/>
              </a:spcAft>
            </a:pPr>
            <a:r>
              <a:rPr lang="en-US" sz="1800" dirty="0">
                <a:effectLst/>
                <a:latin typeface="Calibri" panose="020F0502020204030204" pitchFamily="34" charset="0"/>
                <a:ea typeface="Calibri" panose="020F0502020204030204" pitchFamily="34" charset="0"/>
                <a:cs typeface="Arial" panose="020B0604020202020204" pitchFamily="34" charset="0"/>
              </a:rPr>
              <a:t> </a:t>
            </a:r>
          </a:p>
          <a:p>
            <a:endParaRPr lang="en-US" altLang="en-US" dirty="0">
              <a:latin typeface="Times New Roman" panose="02020603050405020304" pitchFamily="18" charset="0"/>
            </a:endParaRPr>
          </a:p>
        </p:txBody>
      </p:sp>
    </p:spTree>
    <p:extLst>
      <p:ext uri="{BB962C8B-B14F-4D97-AF65-F5344CB8AC3E}">
        <p14:creationId xmlns:p14="http://schemas.microsoft.com/office/powerpoint/2010/main" val="39810818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4930"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688">
              <a:defRPr sz="1600">
                <a:solidFill>
                  <a:schemeClr val="tx1"/>
                </a:solidFill>
                <a:latin typeface="Helvetica" panose="020B0604020202020204" pitchFamily="34" charset="0"/>
                <a:ea typeface="MS PGothic" panose="020B0600070205080204" pitchFamily="34" charset="-128"/>
              </a:defRPr>
            </a:lvl1pPr>
            <a:lvl2pPr marL="742950" indent="-285750" defTabSz="928688">
              <a:defRPr sz="1600">
                <a:solidFill>
                  <a:schemeClr val="tx1"/>
                </a:solidFill>
                <a:latin typeface="Helvetica" panose="020B0604020202020204" pitchFamily="34" charset="0"/>
                <a:ea typeface="MS PGothic" panose="020B0600070205080204" pitchFamily="34" charset="-128"/>
              </a:defRPr>
            </a:lvl2pPr>
            <a:lvl3pPr marL="1143000" indent="-228600" defTabSz="928688">
              <a:defRPr sz="1600">
                <a:solidFill>
                  <a:schemeClr val="tx1"/>
                </a:solidFill>
                <a:latin typeface="Helvetica" panose="020B0604020202020204" pitchFamily="34" charset="0"/>
                <a:ea typeface="MS PGothic" panose="020B0600070205080204" pitchFamily="34" charset="-128"/>
              </a:defRPr>
            </a:lvl3pPr>
            <a:lvl4pPr marL="1600200" indent="-228600" defTabSz="928688">
              <a:defRPr sz="1600">
                <a:solidFill>
                  <a:schemeClr val="tx1"/>
                </a:solidFill>
                <a:latin typeface="Helvetica" panose="020B0604020202020204" pitchFamily="34" charset="0"/>
                <a:ea typeface="MS PGothic" panose="020B0600070205080204" pitchFamily="34" charset="-128"/>
              </a:defRPr>
            </a:lvl4pPr>
            <a:lvl5pPr marL="2057400" indent="-228600" defTabSz="928688">
              <a:defRPr sz="1600">
                <a:solidFill>
                  <a:schemeClr val="tx1"/>
                </a:solidFill>
                <a:latin typeface="Helvetica" panose="020B0604020202020204" pitchFamily="34" charset="0"/>
                <a:ea typeface="MS PGothic" panose="020B0600070205080204" pitchFamily="34" charset="-128"/>
              </a:defRPr>
            </a:lvl5pPr>
            <a:lvl6pPr marL="25146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4C0684B9-9744-4E13-BCE3-67E4D5AC52B7}" type="slidenum">
              <a:rPr lang="en-US" altLang="en-US" sz="1200"/>
              <a:pPr/>
              <a:t>49</a:t>
            </a:fld>
            <a:endParaRPr lang="en-US" altLang="en-US" sz="1200"/>
          </a:p>
        </p:txBody>
      </p:sp>
      <p:sp>
        <p:nvSpPr>
          <p:cNvPr id="124931" name="Rectangle 2"/>
          <p:cNvSpPr>
            <a:spLocks noGrp="1" noRot="1" noChangeAspect="1" noChangeArrowheads="1" noTextEdit="1"/>
          </p:cNvSpPr>
          <p:nvPr>
            <p:ph type="sldImg"/>
          </p:nvPr>
        </p:nvSpPr>
        <p:spPr>
          <a:xfrm>
            <a:off x="1177925" y="695325"/>
            <a:ext cx="4641850" cy="3481388"/>
          </a:xfrm>
          <a:ln/>
        </p:spPr>
      </p:sp>
      <p:sp>
        <p:nvSpPr>
          <p:cNvPr id="124932" name="Rectangle 3"/>
          <p:cNvSpPr>
            <a:spLocks noGrp="1" noChangeArrowheads="1"/>
          </p:cNvSpPr>
          <p:nvPr>
            <p:ph type="body" idx="1"/>
          </p:nvPr>
        </p:nvSpPr>
        <p:spPr>
          <a:xfrm>
            <a:off x="931414" y="4410392"/>
            <a:ext cx="5134874" cy="4177348"/>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marL="0" marR="0" algn="r" rtl="1">
              <a:lnSpc>
                <a:spcPct val="107000"/>
              </a:lnSpc>
              <a:spcBef>
                <a:spcPts val="0"/>
              </a:spcBef>
              <a:spcAft>
                <a:spcPts val="800"/>
              </a:spcAft>
            </a:pPr>
            <a:r>
              <a:rPr lang="ar-SA" sz="1800" dirty="0">
                <a:effectLst/>
                <a:latin typeface="Calibri" panose="020F0502020204030204" pitchFamily="34" charset="0"/>
                <a:ea typeface="Times New Roman" panose="02020603050405020304" pitchFamily="18" charset="0"/>
                <a:cs typeface="Times New Roman" panose="02020603050405020304" pitchFamily="18" charset="0"/>
              </a:rPr>
              <a:t>ما از وابستگی‌های تابعی برای موارد زیر استفاده می‌کنیم</a:t>
            </a:r>
            <a:r>
              <a:rPr lang="en-US" sz="1800" dirty="0">
                <a:effectLst/>
                <a:latin typeface="Times New Roman" panose="02020603050405020304" pitchFamily="18" charset="0"/>
                <a:ea typeface="Times New Roman" panose="02020603050405020304" pitchFamily="18" charset="0"/>
                <a:cs typeface="Arial" panose="020B0604020202020204" pitchFamily="34" charset="0"/>
              </a:rPr>
              <a:t>:</a:t>
            </a:r>
            <a:endParaRPr lang="en-US" sz="1800" dirty="0">
              <a:effectLst/>
              <a:latin typeface="Calibri" panose="020F0502020204030204" pitchFamily="34" charset="0"/>
              <a:ea typeface="Calibri" panose="020F0502020204030204" pitchFamily="34" charset="0"/>
              <a:cs typeface="Arial" panose="020B0604020202020204" pitchFamily="34" charset="0"/>
            </a:endParaRPr>
          </a:p>
          <a:p>
            <a:pPr marL="342900" marR="0" lvl="0" indent="-342900" algn="r" rtl="1">
              <a:lnSpc>
                <a:spcPct val="107000"/>
              </a:lnSpc>
              <a:spcBef>
                <a:spcPts val="0"/>
              </a:spcBef>
              <a:spcAft>
                <a:spcPts val="800"/>
              </a:spcAft>
              <a:buSzPts val="1000"/>
              <a:buFont typeface="Symbol" panose="05050102010706020507" pitchFamily="18" charset="2"/>
              <a:buChar char=""/>
              <a:tabLst>
                <a:tab pos="457200" algn="l"/>
              </a:tabLst>
            </a:pPr>
            <a:r>
              <a:rPr lang="ar-SA" sz="1800" dirty="0">
                <a:effectLst/>
                <a:latin typeface="Calibri" panose="020F0502020204030204" pitchFamily="34" charset="0"/>
                <a:ea typeface="Times New Roman" panose="02020603050405020304" pitchFamily="18" charset="0"/>
                <a:cs typeface="Times New Roman" panose="02020603050405020304" pitchFamily="18" charset="0"/>
              </a:rPr>
              <a:t>آزمایش روابط برای بررسی اینکه آیا آن‌ها تحت یک مجموعه مشخص از وابستگی‌های تابعی معتبر هستند یا خیر</a:t>
            </a:r>
            <a:r>
              <a:rPr lang="en-US" sz="1800" dirty="0">
                <a:effectLst/>
                <a:latin typeface="Times New Roman" panose="02020603050405020304" pitchFamily="18" charset="0"/>
                <a:ea typeface="Times New Roman" panose="02020603050405020304" pitchFamily="18" charset="0"/>
                <a:cs typeface="Arial" panose="020B0604020202020204" pitchFamily="34" charset="0"/>
              </a:rPr>
              <a:t>.</a:t>
            </a:r>
            <a:br>
              <a:rPr lang="en-US" sz="1800" dirty="0">
                <a:effectLst/>
                <a:latin typeface="Times New Roman" panose="02020603050405020304" pitchFamily="18" charset="0"/>
                <a:ea typeface="Times New Roman" panose="02020603050405020304" pitchFamily="18" charset="0"/>
                <a:cs typeface="Arial" panose="020B0604020202020204" pitchFamily="34" charset="0"/>
              </a:rPr>
            </a:br>
            <a:r>
              <a:rPr lang="ar-SA" sz="1800" dirty="0">
                <a:effectLst/>
                <a:latin typeface="Calibri" panose="020F0502020204030204" pitchFamily="34" charset="0"/>
                <a:ea typeface="Times New Roman" panose="02020603050405020304" pitchFamily="18" charset="0"/>
                <a:cs typeface="Times New Roman" panose="02020603050405020304" pitchFamily="18" charset="0"/>
              </a:rPr>
              <a:t>اگر یک رابطه </a:t>
            </a:r>
            <a:r>
              <a:rPr lang="en-US" sz="1800" dirty="0" err="1">
                <a:effectLst/>
                <a:latin typeface="Times New Roman" panose="02020603050405020304" pitchFamily="18" charset="0"/>
                <a:ea typeface="Times New Roman" panose="02020603050405020304" pitchFamily="18" charset="0"/>
                <a:cs typeface="Arial" panose="020B0604020202020204" pitchFamily="34" charset="0"/>
              </a:rPr>
              <a:t>rrr</a:t>
            </a:r>
            <a:r>
              <a:rPr lang="en-US" sz="1800" dirty="0">
                <a:effectLst/>
                <a:latin typeface="Times New Roman" panose="02020603050405020304" pitchFamily="18" charset="0"/>
                <a:ea typeface="Times New Roman" panose="02020603050405020304" pitchFamily="18" charset="0"/>
                <a:cs typeface="Arial" panose="020B0604020202020204" pitchFamily="34" charset="0"/>
              </a:rPr>
              <a:t> </a:t>
            </a:r>
            <a:r>
              <a:rPr lang="ar-SA" sz="1800" dirty="0">
                <a:effectLst/>
                <a:latin typeface="Calibri" panose="020F0502020204030204" pitchFamily="34" charset="0"/>
                <a:ea typeface="Times New Roman" panose="02020603050405020304" pitchFamily="18" charset="0"/>
                <a:cs typeface="Times New Roman" panose="02020603050405020304" pitchFamily="18" charset="0"/>
              </a:rPr>
              <a:t>تحت یک مجموعه </a:t>
            </a:r>
            <a:r>
              <a:rPr lang="en-US" sz="1800" dirty="0">
                <a:effectLst/>
                <a:latin typeface="Times New Roman" panose="02020603050405020304" pitchFamily="18" charset="0"/>
                <a:ea typeface="Times New Roman" panose="02020603050405020304" pitchFamily="18" charset="0"/>
                <a:cs typeface="Arial" panose="020B0604020202020204" pitchFamily="34" charset="0"/>
              </a:rPr>
              <a:t>FFF </a:t>
            </a:r>
            <a:r>
              <a:rPr lang="ar-SA" sz="1800" dirty="0">
                <a:effectLst/>
                <a:latin typeface="Calibri" panose="020F0502020204030204" pitchFamily="34" charset="0"/>
                <a:ea typeface="Times New Roman" panose="02020603050405020304" pitchFamily="18" charset="0"/>
                <a:cs typeface="Times New Roman" panose="02020603050405020304" pitchFamily="18" charset="0"/>
              </a:rPr>
              <a:t>از وابستگی‌های تابعی معتبر باشد، می‌گوییم که </a:t>
            </a:r>
            <a:r>
              <a:rPr lang="en-US" sz="1800" dirty="0" err="1">
                <a:effectLst/>
                <a:latin typeface="Times New Roman" panose="02020603050405020304" pitchFamily="18" charset="0"/>
                <a:ea typeface="Times New Roman" panose="02020603050405020304" pitchFamily="18" charset="0"/>
                <a:cs typeface="Arial" panose="020B0604020202020204" pitchFamily="34" charset="0"/>
              </a:rPr>
              <a:t>rrr</a:t>
            </a:r>
            <a:r>
              <a:rPr lang="en-US" sz="1800" dirty="0">
                <a:effectLst/>
                <a:latin typeface="Times New Roman" panose="02020603050405020304" pitchFamily="18" charset="0"/>
                <a:ea typeface="Times New Roman" panose="02020603050405020304" pitchFamily="18" charset="0"/>
                <a:cs typeface="Arial" panose="020B0604020202020204" pitchFamily="34" charset="0"/>
              </a:rPr>
              <a:t> FFF </a:t>
            </a:r>
            <a:r>
              <a:rPr lang="ar-SA" sz="1800" dirty="0">
                <a:effectLst/>
                <a:latin typeface="Calibri" panose="020F0502020204030204" pitchFamily="34" charset="0"/>
                <a:ea typeface="Times New Roman" panose="02020603050405020304" pitchFamily="18" charset="0"/>
                <a:cs typeface="Times New Roman" panose="02020603050405020304" pitchFamily="18" charset="0"/>
              </a:rPr>
              <a:t>را ارضا می‌کند</a:t>
            </a:r>
            <a:r>
              <a:rPr lang="en-US" sz="1800" dirty="0">
                <a:effectLst/>
                <a:latin typeface="Times New Roman" panose="02020603050405020304" pitchFamily="18" charset="0"/>
                <a:ea typeface="Times New Roman" panose="02020603050405020304" pitchFamily="18" charset="0"/>
                <a:cs typeface="Arial" panose="020B0604020202020204" pitchFamily="34" charset="0"/>
              </a:rPr>
              <a:t>.</a:t>
            </a:r>
            <a:endParaRPr lang="en-US" sz="1800" dirty="0">
              <a:effectLst/>
              <a:latin typeface="Calibri" panose="020F0502020204030204" pitchFamily="34" charset="0"/>
              <a:ea typeface="Calibri" panose="020F0502020204030204" pitchFamily="34" charset="0"/>
              <a:cs typeface="Arial" panose="020B0604020202020204" pitchFamily="34" charset="0"/>
            </a:endParaRPr>
          </a:p>
          <a:p>
            <a:pPr marL="342900" marR="0" lvl="0" indent="-342900" algn="r" rtl="1">
              <a:lnSpc>
                <a:spcPct val="107000"/>
              </a:lnSpc>
              <a:spcBef>
                <a:spcPts val="0"/>
              </a:spcBef>
              <a:spcAft>
                <a:spcPts val="800"/>
              </a:spcAft>
              <a:buSzPts val="1000"/>
              <a:buFont typeface="Symbol" panose="05050102010706020507" pitchFamily="18" charset="2"/>
              <a:buChar char=""/>
              <a:tabLst>
                <a:tab pos="457200" algn="l"/>
              </a:tabLst>
            </a:pPr>
            <a:r>
              <a:rPr lang="ar-SA" sz="1800" dirty="0">
                <a:effectLst/>
                <a:latin typeface="Calibri" panose="020F0502020204030204" pitchFamily="34" charset="0"/>
                <a:ea typeface="Times New Roman" panose="02020603050405020304" pitchFamily="18" charset="0"/>
                <a:cs typeface="Times New Roman" panose="02020603050405020304" pitchFamily="18" charset="0"/>
              </a:rPr>
              <a:t>مشخص کردن محدودیت‌ها بر مجموعه روابط معتبر</a:t>
            </a:r>
            <a:r>
              <a:rPr lang="en-US" sz="1800" dirty="0">
                <a:effectLst/>
                <a:latin typeface="Times New Roman" panose="02020603050405020304" pitchFamily="18" charset="0"/>
                <a:ea typeface="Times New Roman" panose="02020603050405020304" pitchFamily="18" charset="0"/>
                <a:cs typeface="Arial" panose="020B0604020202020204" pitchFamily="34" charset="0"/>
              </a:rPr>
              <a:t>.</a:t>
            </a:r>
            <a:br>
              <a:rPr lang="en-US" sz="1800" dirty="0">
                <a:effectLst/>
                <a:latin typeface="Times New Roman" panose="02020603050405020304" pitchFamily="18" charset="0"/>
                <a:ea typeface="Times New Roman" panose="02020603050405020304" pitchFamily="18" charset="0"/>
                <a:cs typeface="Arial" panose="020B0604020202020204" pitchFamily="34" charset="0"/>
              </a:rPr>
            </a:br>
            <a:r>
              <a:rPr lang="ar-SA" sz="1800" dirty="0">
                <a:effectLst/>
                <a:latin typeface="Calibri" panose="020F0502020204030204" pitchFamily="34" charset="0"/>
                <a:ea typeface="Times New Roman" panose="02020603050405020304" pitchFamily="18" charset="0"/>
                <a:cs typeface="Times New Roman" panose="02020603050405020304" pitchFamily="18" charset="0"/>
              </a:rPr>
              <a:t>می‌گوییم </a:t>
            </a:r>
            <a:r>
              <a:rPr lang="en-US" sz="1800" dirty="0">
                <a:effectLst/>
                <a:latin typeface="Times New Roman" panose="02020603050405020304" pitchFamily="18" charset="0"/>
                <a:ea typeface="Times New Roman" panose="02020603050405020304" pitchFamily="18" charset="0"/>
                <a:cs typeface="Arial" panose="020B0604020202020204" pitchFamily="34" charset="0"/>
              </a:rPr>
              <a:t>FFF </a:t>
            </a:r>
            <a:r>
              <a:rPr lang="ar-SA" sz="1800" dirty="0">
                <a:effectLst/>
                <a:latin typeface="Calibri" panose="020F0502020204030204" pitchFamily="34" charset="0"/>
                <a:ea typeface="Times New Roman" panose="02020603050405020304" pitchFamily="18" charset="0"/>
                <a:cs typeface="Times New Roman" panose="02020603050405020304" pitchFamily="18" charset="0"/>
              </a:rPr>
              <a:t>بر </a:t>
            </a:r>
            <a:r>
              <a:rPr lang="en-US" sz="1800" dirty="0">
                <a:effectLst/>
                <a:latin typeface="Times New Roman" panose="02020603050405020304" pitchFamily="18" charset="0"/>
                <a:ea typeface="Times New Roman" panose="02020603050405020304" pitchFamily="18" charset="0"/>
                <a:cs typeface="Arial" panose="020B0604020202020204" pitchFamily="34" charset="0"/>
              </a:rPr>
              <a:t>RRR </a:t>
            </a:r>
            <a:r>
              <a:rPr lang="ar-SA" sz="1800" dirty="0">
                <a:effectLst/>
                <a:latin typeface="Calibri" panose="020F0502020204030204" pitchFamily="34" charset="0"/>
                <a:ea typeface="Times New Roman" panose="02020603050405020304" pitchFamily="18" charset="0"/>
                <a:cs typeface="Times New Roman" panose="02020603050405020304" pitchFamily="18" charset="0"/>
              </a:rPr>
              <a:t>برقرار است اگر تمام روابط معتبر بر </a:t>
            </a:r>
            <a:r>
              <a:rPr lang="en-US" sz="1800" dirty="0">
                <a:effectLst/>
                <a:latin typeface="Times New Roman" panose="02020603050405020304" pitchFamily="18" charset="0"/>
                <a:ea typeface="Times New Roman" panose="02020603050405020304" pitchFamily="18" charset="0"/>
                <a:cs typeface="Arial" panose="020B0604020202020204" pitchFamily="34" charset="0"/>
              </a:rPr>
              <a:t>RRR </a:t>
            </a:r>
            <a:r>
              <a:rPr lang="ar-SA" sz="1800" dirty="0">
                <a:effectLst/>
                <a:latin typeface="Calibri" panose="020F0502020204030204" pitchFamily="34" charset="0"/>
                <a:ea typeface="Times New Roman" panose="02020603050405020304" pitchFamily="18" charset="0"/>
                <a:cs typeface="Times New Roman" panose="02020603050405020304" pitchFamily="18" charset="0"/>
              </a:rPr>
              <a:t>مجموعه وابستگی‌های تابعی </a:t>
            </a:r>
            <a:r>
              <a:rPr lang="en-US" sz="1800" dirty="0">
                <a:effectLst/>
                <a:latin typeface="Times New Roman" panose="02020603050405020304" pitchFamily="18" charset="0"/>
                <a:ea typeface="Times New Roman" panose="02020603050405020304" pitchFamily="18" charset="0"/>
                <a:cs typeface="Arial" panose="020B0604020202020204" pitchFamily="34" charset="0"/>
              </a:rPr>
              <a:t>FFF </a:t>
            </a:r>
            <a:r>
              <a:rPr lang="ar-SA" sz="1800" dirty="0">
                <a:effectLst/>
                <a:latin typeface="Calibri" panose="020F0502020204030204" pitchFamily="34" charset="0"/>
                <a:ea typeface="Times New Roman" panose="02020603050405020304" pitchFamily="18" charset="0"/>
                <a:cs typeface="Times New Roman" panose="02020603050405020304" pitchFamily="18" charset="0"/>
              </a:rPr>
              <a:t>را ارضا کنند</a:t>
            </a:r>
            <a:r>
              <a:rPr lang="en-US" sz="1800" dirty="0">
                <a:effectLst/>
                <a:latin typeface="Times New Roman" panose="02020603050405020304" pitchFamily="18" charset="0"/>
                <a:ea typeface="Times New Roman" panose="02020603050405020304" pitchFamily="18" charset="0"/>
                <a:cs typeface="Arial" panose="020B0604020202020204" pitchFamily="34" charset="0"/>
              </a:rPr>
              <a:t>.</a:t>
            </a:r>
            <a:endParaRPr lang="en-US" sz="1800" dirty="0">
              <a:effectLst/>
              <a:latin typeface="Calibri" panose="020F0502020204030204" pitchFamily="34" charset="0"/>
              <a:ea typeface="Calibri" panose="020F0502020204030204" pitchFamily="34" charset="0"/>
              <a:cs typeface="Arial" panose="020B0604020202020204" pitchFamily="34" charset="0"/>
            </a:endParaRPr>
          </a:p>
          <a:p>
            <a:pPr marL="0" marR="0" algn="r" rtl="1">
              <a:lnSpc>
                <a:spcPct val="107000"/>
              </a:lnSpc>
              <a:spcBef>
                <a:spcPts val="0"/>
              </a:spcBef>
              <a:spcAft>
                <a:spcPts val="800"/>
              </a:spcAft>
            </a:pPr>
            <a:r>
              <a:rPr lang="ar-SA" sz="1800" b="1" dirty="0">
                <a:effectLst/>
                <a:latin typeface="Calibri" panose="020F0502020204030204" pitchFamily="34" charset="0"/>
                <a:ea typeface="Times New Roman" panose="02020603050405020304" pitchFamily="18" charset="0"/>
                <a:cs typeface="Times New Roman" panose="02020603050405020304" pitchFamily="18" charset="0"/>
              </a:rPr>
              <a:t>نکته</a:t>
            </a:r>
            <a:r>
              <a:rPr lang="en-US" sz="1800" b="1" dirty="0">
                <a:effectLst/>
                <a:latin typeface="Times New Roman" panose="02020603050405020304" pitchFamily="18" charset="0"/>
                <a:ea typeface="Times New Roman" panose="02020603050405020304" pitchFamily="18" charset="0"/>
                <a:cs typeface="Arial" panose="020B0604020202020204" pitchFamily="34" charset="0"/>
              </a:rPr>
              <a:t>:</a:t>
            </a:r>
            <a:r>
              <a:rPr lang="en-US" sz="1800" dirty="0">
                <a:effectLst/>
                <a:latin typeface="Times New Roman" panose="02020603050405020304" pitchFamily="18" charset="0"/>
                <a:ea typeface="Times New Roman" panose="02020603050405020304" pitchFamily="18" charset="0"/>
                <a:cs typeface="Arial" panose="020B0604020202020204" pitchFamily="34" charset="0"/>
              </a:rPr>
              <a:t> </a:t>
            </a:r>
            <a:r>
              <a:rPr lang="ar-SA" sz="1800" dirty="0">
                <a:effectLst/>
                <a:latin typeface="Calibri" panose="020F0502020204030204" pitchFamily="34" charset="0"/>
                <a:ea typeface="Times New Roman" panose="02020603050405020304" pitchFamily="18" charset="0"/>
                <a:cs typeface="Times New Roman" panose="02020603050405020304" pitchFamily="18" charset="0"/>
              </a:rPr>
              <a:t>ممکن است یک نمونه خاص از یک طرح رابطه‌ای وابستگی تابعی را ارضا کند، حتی اگر آن وابستگی تابعی برای همه نمونه‌های معتبر برقرار نباشد</a:t>
            </a:r>
            <a:r>
              <a:rPr lang="en-US" sz="1800" dirty="0">
                <a:effectLst/>
                <a:latin typeface="Times New Roman" panose="02020603050405020304" pitchFamily="18" charset="0"/>
                <a:ea typeface="Times New Roman" panose="02020603050405020304" pitchFamily="18" charset="0"/>
                <a:cs typeface="Arial" panose="020B0604020202020204" pitchFamily="34" charset="0"/>
              </a:rPr>
              <a:t>.</a:t>
            </a:r>
            <a:endParaRPr lang="en-US" sz="1800" dirty="0">
              <a:effectLst/>
              <a:latin typeface="Calibri" panose="020F0502020204030204" pitchFamily="34" charset="0"/>
              <a:ea typeface="Calibri" panose="020F0502020204030204" pitchFamily="34" charset="0"/>
              <a:cs typeface="Arial" panose="020B0604020202020204" pitchFamily="34" charset="0"/>
            </a:endParaRPr>
          </a:p>
          <a:p>
            <a:pPr marL="0" marR="0" algn="r" rtl="1">
              <a:lnSpc>
                <a:spcPct val="107000"/>
              </a:lnSpc>
              <a:spcBef>
                <a:spcPts val="0"/>
              </a:spcBef>
              <a:spcAft>
                <a:spcPts val="800"/>
              </a:spcAft>
            </a:pPr>
            <a:r>
              <a:rPr lang="ar-SA" sz="1800" dirty="0">
                <a:effectLst/>
                <a:latin typeface="Calibri" panose="020F0502020204030204" pitchFamily="34" charset="0"/>
                <a:ea typeface="Times New Roman" panose="02020603050405020304" pitchFamily="18" charset="0"/>
                <a:cs typeface="Times New Roman" panose="02020603050405020304" pitchFamily="18" charset="0"/>
              </a:rPr>
              <a:t>برای مثال، ممکن است یک نمونه خاص از رابطه </a:t>
            </a:r>
            <a:r>
              <a:rPr lang="en-US" sz="1800" dirty="0" err="1">
                <a:effectLst/>
                <a:latin typeface="Times New Roman" panose="02020603050405020304" pitchFamily="18" charset="0"/>
                <a:ea typeface="Times New Roman" panose="02020603050405020304" pitchFamily="18" charset="0"/>
                <a:cs typeface="Arial" panose="020B0604020202020204" pitchFamily="34" charset="0"/>
              </a:rPr>
              <a:t>instructorinstructorinstructor</a:t>
            </a:r>
            <a:r>
              <a:rPr lang="ar-SA" sz="1800" dirty="0">
                <a:effectLst/>
                <a:latin typeface="Calibri" panose="020F0502020204030204" pitchFamily="34" charset="0"/>
                <a:ea typeface="Times New Roman" panose="02020603050405020304" pitchFamily="18" charset="0"/>
                <a:cs typeface="Times New Roman" panose="02020603050405020304" pitchFamily="18" charset="0"/>
              </a:rPr>
              <a:t>، به‌طور اتفاقی، وابستگی تابعی زیر را ارضا کند</a:t>
            </a:r>
            <a:r>
              <a:rPr lang="en-US" sz="1800" dirty="0">
                <a:effectLst/>
                <a:latin typeface="Times New Roman" panose="02020603050405020304" pitchFamily="18" charset="0"/>
                <a:ea typeface="Times New Roman" panose="02020603050405020304" pitchFamily="18" charset="0"/>
                <a:cs typeface="Arial" panose="020B0604020202020204" pitchFamily="34" charset="0"/>
              </a:rPr>
              <a:t>:</a:t>
            </a:r>
            <a:endParaRPr lang="en-US" sz="1800" dirty="0">
              <a:effectLst/>
              <a:latin typeface="Calibri" panose="020F0502020204030204" pitchFamily="34" charset="0"/>
              <a:ea typeface="Calibri" panose="020F0502020204030204" pitchFamily="34" charset="0"/>
              <a:cs typeface="Arial" panose="020B0604020202020204" pitchFamily="34" charset="0"/>
            </a:endParaRPr>
          </a:p>
          <a:p>
            <a:pPr marL="0" marR="0" algn="r" rtl="1">
              <a:lnSpc>
                <a:spcPct val="107000"/>
              </a:lnSpc>
              <a:spcBef>
                <a:spcPts val="0"/>
              </a:spcBef>
              <a:spcAft>
                <a:spcPts val="800"/>
              </a:spcAft>
            </a:pPr>
            <a:r>
              <a:rPr lang="en-US" sz="1800" dirty="0" err="1">
                <a:effectLst/>
                <a:latin typeface="Times New Roman" panose="02020603050405020304" pitchFamily="18" charset="0"/>
                <a:ea typeface="Times New Roman" panose="02020603050405020304" pitchFamily="18" charset="0"/>
                <a:cs typeface="Arial" panose="020B0604020202020204" pitchFamily="34" charset="0"/>
              </a:rPr>
              <a:t>name→ID</a:t>
            </a:r>
            <a:r>
              <a:rPr lang="en-US" sz="1800" dirty="0">
                <a:effectLst/>
                <a:latin typeface="Times New Roman" panose="02020603050405020304" pitchFamily="18" charset="0"/>
                <a:ea typeface="Times New Roman" panose="02020603050405020304" pitchFamily="18" charset="0"/>
                <a:cs typeface="Arial" panose="020B0604020202020204" pitchFamily="34" charset="0"/>
              </a:rPr>
              <a:t>.\text{name} \</a:t>
            </a:r>
            <a:r>
              <a:rPr lang="en-US" sz="1800" dirty="0" err="1">
                <a:effectLst/>
                <a:latin typeface="Times New Roman" panose="02020603050405020304" pitchFamily="18" charset="0"/>
                <a:ea typeface="Times New Roman" panose="02020603050405020304" pitchFamily="18" charset="0"/>
                <a:cs typeface="Arial" panose="020B0604020202020204" pitchFamily="34" charset="0"/>
              </a:rPr>
              <a:t>rightarrow</a:t>
            </a:r>
            <a:r>
              <a:rPr lang="en-US" sz="1800" dirty="0">
                <a:effectLst/>
                <a:latin typeface="Times New Roman" panose="02020603050405020304" pitchFamily="18" charset="0"/>
                <a:ea typeface="Times New Roman" panose="02020603050405020304" pitchFamily="18" charset="0"/>
                <a:cs typeface="Arial" panose="020B0604020202020204" pitchFamily="34" charset="0"/>
              </a:rPr>
              <a:t> \text{ID}.</a:t>
            </a:r>
            <a:r>
              <a:rPr lang="en-US" sz="1800" dirty="0" err="1">
                <a:effectLst/>
                <a:latin typeface="Times New Roman" panose="02020603050405020304" pitchFamily="18" charset="0"/>
                <a:ea typeface="Times New Roman" panose="02020603050405020304" pitchFamily="18" charset="0"/>
                <a:cs typeface="Arial" panose="020B0604020202020204" pitchFamily="34" charset="0"/>
              </a:rPr>
              <a:t>name→ID</a:t>
            </a:r>
            <a:r>
              <a:rPr lang="en-US" sz="1800" dirty="0">
                <a:effectLst/>
                <a:latin typeface="Times New Roman" panose="02020603050405020304" pitchFamily="18" charset="0"/>
                <a:ea typeface="Times New Roman" panose="02020603050405020304" pitchFamily="18" charset="0"/>
                <a:cs typeface="Arial" panose="020B0604020202020204" pitchFamily="34" charset="0"/>
              </a:rPr>
              <a:t>.</a:t>
            </a:r>
            <a:endParaRPr lang="en-US" sz="1800" dirty="0">
              <a:effectLst/>
              <a:latin typeface="Calibri" panose="020F0502020204030204" pitchFamily="34" charset="0"/>
              <a:ea typeface="Calibri" panose="020F0502020204030204" pitchFamily="34" charset="0"/>
              <a:cs typeface="Arial" panose="020B0604020202020204" pitchFamily="34" charset="0"/>
            </a:endParaRPr>
          </a:p>
          <a:p>
            <a:endParaRPr lang="en-US" altLang="en-US" dirty="0">
              <a:latin typeface="Times New Roman" panose="02020603050405020304" pitchFamily="18" charset="0"/>
            </a:endParaRPr>
          </a:p>
        </p:txBody>
      </p:sp>
    </p:spTree>
    <p:extLst>
      <p:ext uri="{BB962C8B-B14F-4D97-AF65-F5344CB8AC3E}">
        <p14:creationId xmlns:p14="http://schemas.microsoft.com/office/powerpoint/2010/main" val="271450735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5954"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688">
              <a:defRPr sz="1600">
                <a:solidFill>
                  <a:schemeClr val="tx1"/>
                </a:solidFill>
                <a:latin typeface="Helvetica" panose="020B0604020202020204" pitchFamily="34" charset="0"/>
                <a:ea typeface="MS PGothic" panose="020B0600070205080204" pitchFamily="34" charset="-128"/>
              </a:defRPr>
            </a:lvl1pPr>
            <a:lvl2pPr marL="742950" indent="-285750" defTabSz="928688">
              <a:defRPr sz="1600">
                <a:solidFill>
                  <a:schemeClr val="tx1"/>
                </a:solidFill>
                <a:latin typeface="Helvetica" panose="020B0604020202020204" pitchFamily="34" charset="0"/>
                <a:ea typeface="MS PGothic" panose="020B0600070205080204" pitchFamily="34" charset="-128"/>
              </a:defRPr>
            </a:lvl2pPr>
            <a:lvl3pPr marL="1143000" indent="-228600" defTabSz="928688">
              <a:defRPr sz="1600">
                <a:solidFill>
                  <a:schemeClr val="tx1"/>
                </a:solidFill>
                <a:latin typeface="Helvetica" panose="020B0604020202020204" pitchFamily="34" charset="0"/>
                <a:ea typeface="MS PGothic" panose="020B0600070205080204" pitchFamily="34" charset="-128"/>
              </a:defRPr>
            </a:lvl3pPr>
            <a:lvl4pPr marL="1600200" indent="-228600" defTabSz="928688">
              <a:defRPr sz="1600">
                <a:solidFill>
                  <a:schemeClr val="tx1"/>
                </a:solidFill>
                <a:latin typeface="Helvetica" panose="020B0604020202020204" pitchFamily="34" charset="0"/>
                <a:ea typeface="MS PGothic" panose="020B0600070205080204" pitchFamily="34" charset="-128"/>
              </a:defRPr>
            </a:lvl4pPr>
            <a:lvl5pPr marL="2057400" indent="-228600" defTabSz="928688">
              <a:defRPr sz="1600">
                <a:solidFill>
                  <a:schemeClr val="tx1"/>
                </a:solidFill>
                <a:latin typeface="Helvetica" panose="020B0604020202020204" pitchFamily="34" charset="0"/>
                <a:ea typeface="MS PGothic" panose="020B0600070205080204" pitchFamily="34" charset="-128"/>
              </a:defRPr>
            </a:lvl5pPr>
            <a:lvl6pPr marL="25146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A5911C6D-C523-432C-89F4-406A63F7E4F9}" type="slidenum">
              <a:rPr lang="en-US" altLang="en-US" sz="1200"/>
              <a:pPr/>
              <a:t>50</a:t>
            </a:fld>
            <a:endParaRPr lang="en-US" altLang="en-US" sz="1200"/>
          </a:p>
        </p:txBody>
      </p:sp>
      <p:sp>
        <p:nvSpPr>
          <p:cNvPr id="125955" name="Rectangle 2"/>
          <p:cNvSpPr>
            <a:spLocks noGrp="1" noRot="1" noChangeAspect="1" noChangeArrowheads="1" noTextEdit="1"/>
          </p:cNvSpPr>
          <p:nvPr>
            <p:ph type="sldImg"/>
          </p:nvPr>
        </p:nvSpPr>
        <p:spPr>
          <a:xfrm>
            <a:off x="1177925" y="695325"/>
            <a:ext cx="4641850" cy="3481388"/>
          </a:xfrm>
          <a:ln/>
        </p:spPr>
      </p:sp>
      <p:sp>
        <p:nvSpPr>
          <p:cNvPr id="125956" name="Rectangle 3"/>
          <p:cNvSpPr>
            <a:spLocks noGrp="1" noChangeArrowheads="1"/>
          </p:cNvSpPr>
          <p:nvPr>
            <p:ph type="body" idx="1"/>
          </p:nvPr>
        </p:nvSpPr>
        <p:spPr>
          <a:xfrm>
            <a:off x="931414" y="4410392"/>
            <a:ext cx="5134874" cy="4177348"/>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extLst>
      <p:ext uri="{BB962C8B-B14F-4D97-AF65-F5344CB8AC3E}">
        <p14:creationId xmlns:p14="http://schemas.microsoft.com/office/powerpoint/2010/main" val="1477338225"/>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6978"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688">
              <a:defRPr sz="1600">
                <a:solidFill>
                  <a:schemeClr val="tx1"/>
                </a:solidFill>
                <a:latin typeface="Helvetica" panose="020B0604020202020204" pitchFamily="34" charset="0"/>
                <a:ea typeface="MS PGothic" panose="020B0600070205080204" pitchFamily="34" charset="-128"/>
              </a:defRPr>
            </a:lvl1pPr>
            <a:lvl2pPr marL="742950" indent="-285750" defTabSz="928688">
              <a:defRPr sz="1600">
                <a:solidFill>
                  <a:schemeClr val="tx1"/>
                </a:solidFill>
                <a:latin typeface="Helvetica" panose="020B0604020202020204" pitchFamily="34" charset="0"/>
                <a:ea typeface="MS PGothic" panose="020B0600070205080204" pitchFamily="34" charset="-128"/>
              </a:defRPr>
            </a:lvl2pPr>
            <a:lvl3pPr marL="1143000" indent="-228600" defTabSz="928688">
              <a:defRPr sz="1600">
                <a:solidFill>
                  <a:schemeClr val="tx1"/>
                </a:solidFill>
                <a:latin typeface="Helvetica" panose="020B0604020202020204" pitchFamily="34" charset="0"/>
                <a:ea typeface="MS PGothic" panose="020B0600070205080204" pitchFamily="34" charset="-128"/>
              </a:defRPr>
            </a:lvl3pPr>
            <a:lvl4pPr marL="1600200" indent="-228600" defTabSz="928688">
              <a:defRPr sz="1600">
                <a:solidFill>
                  <a:schemeClr val="tx1"/>
                </a:solidFill>
                <a:latin typeface="Helvetica" panose="020B0604020202020204" pitchFamily="34" charset="0"/>
                <a:ea typeface="MS PGothic" panose="020B0600070205080204" pitchFamily="34" charset="-128"/>
              </a:defRPr>
            </a:lvl4pPr>
            <a:lvl5pPr marL="2057400" indent="-228600" defTabSz="928688">
              <a:defRPr sz="1600">
                <a:solidFill>
                  <a:schemeClr val="tx1"/>
                </a:solidFill>
                <a:latin typeface="Helvetica" panose="020B0604020202020204" pitchFamily="34" charset="0"/>
                <a:ea typeface="MS PGothic" panose="020B0600070205080204" pitchFamily="34" charset="-128"/>
              </a:defRPr>
            </a:lvl5pPr>
            <a:lvl6pPr marL="25146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D954D0A1-F669-443E-ADD7-EBEE7996BBA6}" type="slidenum">
              <a:rPr lang="en-US" altLang="en-US" sz="1200"/>
              <a:pPr/>
              <a:t>51</a:t>
            </a:fld>
            <a:endParaRPr lang="en-US" altLang="en-US" sz="1200"/>
          </a:p>
        </p:txBody>
      </p:sp>
      <p:sp>
        <p:nvSpPr>
          <p:cNvPr id="126979" name="Rectangle 2"/>
          <p:cNvSpPr>
            <a:spLocks noGrp="1" noRot="1" noChangeAspect="1" noChangeArrowheads="1" noTextEdit="1"/>
          </p:cNvSpPr>
          <p:nvPr>
            <p:ph type="sldImg"/>
          </p:nvPr>
        </p:nvSpPr>
        <p:spPr>
          <a:xfrm>
            <a:off x="1177925" y="695325"/>
            <a:ext cx="4641850" cy="3481388"/>
          </a:xfrm>
          <a:ln/>
        </p:spPr>
      </p:sp>
      <p:sp>
        <p:nvSpPr>
          <p:cNvPr id="126980" name="Rectangle 3"/>
          <p:cNvSpPr>
            <a:spLocks noGrp="1" noChangeArrowheads="1"/>
          </p:cNvSpPr>
          <p:nvPr>
            <p:ph type="body" idx="1"/>
          </p:nvPr>
        </p:nvSpPr>
        <p:spPr>
          <a:xfrm>
            <a:off x="931414" y="4410392"/>
            <a:ext cx="5134874" cy="4177348"/>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extLst>
      <p:ext uri="{BB962C8B-B14F-4D97-AF65-F5344CB8AC3E}">
        <p14:creationId xmlns:p14="http://schemas.microsoft.com/office/powerpoint/2010/main" val="56658958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F2E019-C1BF-F73A-2184-55D080BC3F73}"/>
            </a:ext>
          </a:extLst>
        </p:cNvPr>
        <p:cNvGrpSpPr/>
        <p:nvPr/>
      </p:nvGrpSpPr>
      <p:grpSpPr>
        <a:xfrm>
          <a:off x="0" y="0"/>
          <a:ext cx="0" cy="0"/>
          <a:chOff x="0" y="0"/>
          <a:chExt cx="0" cy="0"/>
        </a:xfrm>
      </p:grpSpPr>
      <p:sp>
        <p:nvSpPr>
          <p:cNvPr id="126978" name="Rectangle 7">
            <a:extLst>
              <a:ext uri="{FF2B5EF4-FFF2-40B4-BE49-F238E27FC236}">
                <a16:creationId xmlns:a16="http://schemas.microsoft.com/office/drawing/2014/main" id="{3513CD11-9CF0-1EF5-228B-7B91B2577670}"/>
              </a:ext>
            </a:extLst>
          </p:cNvPr>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688">
              <a:defRPr sz="1600">
                <a:solidFill>
                  <a:schemeClr val="tx1"/>
                </a:solidFill>
                <a:latin typeface="Helvetica" panose="020B0604020202020204" pitchFamily="34" charset="0"/>
                <a:ea typeface="MS PGothic" panose="020B0600070205080204" pitchFamily="34" charset="-128"/>
              </a:defRPr>
            </a:lvl1pPr>
            <a:lvl2pPr marL="742950" indent="-285750" defTabSz="928688">
              <a:defRPr sz="1600">
                <a:solidFill>
                  <a:schemeClr val="tx1"/>
                </a:solidFill>
                <a:latin typeface="Helvetica" panose="020B0604020202020204" pitchFamily="34" charset="0"/>
                <a:ea typeface="MS PGothic" panose="020B0600070205080204" pitchFamily="34" charset="-128"/>
              </a:defRPr>
            </a:lvl2pPr>
            <a:lvl3pPr marL="1143000" indent="-228600" defTabSz="928688">
              <a:defRPr sz="1600">
                <a:solidFill>
                  <a:schemeClr val="tx1"/>
                </a:solidFill>
                <a:latin typeface="Helvetica" panose="020B0604020202020204" pitchFamily="34" charset="0"/>
                <a:ea typeface="MS PGothic" panose="020B0600070205080204" pitchFamily="34" charset="-128"/>
              </a:defRPr>
            </a:lvl3pPr>
            <a:lvl4pPr marL="1600200" indent="-228600" defTabSz="928688">
              <a:defRPr sz="1600">
                <a:solidFill>
                  <a:schemeClr val="tx1"/>
                </a:solidFill>
                <a:latin typeface="Helvetica" panose="020B0604020202020204" pitchFamily="34" charset="0"/>
                <a:ea typeface="MS PGothic" panose="020B0600070205080204" pitchFamily="34" charset="-128"/>
              </a:defRPr>
            </a:lvl4pPr>
            <a:lvl5pPr marL="2057400" indent="-228600" defTabSz="928688">
              <a:defRPr sz="1600">
                <a:solidFill>
                  <a:schemeClr val="tx1"/>
                </a:solidFill>
                <a:latin typeface="Helvetica" panose="020B0604020202020204" pitchFamily="34" charset="0"/>
                <a:ea typeface="MS PGothic" panose="020B0600070205080204" pitchFamily="34" charset="-128"/>
              </a:defRPr>
            </a:lvl5pPr>
            <a:lvl6pPr marL="25146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D954D0A1-F669-443E-ADD7-EBEE7996BBA6}" type="slidenum">
              <a:rPr lang="en-US" altLang="en-US" sz="1200"/>
              <a:pPr/>
              <a:t>52</a:t>
            </a:fld>
            <a:endParaRPr lang="en-US" altLang="en-US" sz="1200"/>
          </a:p>
        </p:txBody>
      </p:sp>
      <p:sp>
        <p:nvSpPr>
          <p:cNvPr id="126979" name="Rectangle 2">
            <a:extLst>
              <a:ext uri="{FF2B5EF4-FFF2-40B4-BE49-F238E27FC236}">
                <a16:creationId xmlns:a16="http://schemas.microsoft.com/office/drawing/2014/main" id="{1ED1315A-84CB-C073-43F2-8EA9CA50D852}"/>
              </a:ext>
            </a:extLst>
          </p:cNvPr>
          <p:cNvSpPr>
            <a:spLocks noGrp="1" noRot="1" noChangeAspect="1" noChangeArrowheads="1" noTextEdit="1"/>
          </p:cNvSpPr>
          <p:nvPr>
            <p:ph type="sldImg"/>
          </p:nvPr>
        </p:nvSpPr>
        <p:spPr>
          <a:xfrm>
            <a:off x="1177925" y="695325"/>
            <a:ext cx="4641850" cy="3481388"/>
          </a:xfrm>
          <a:ln/>
        </p:spPr>
      </p:sp>
      <p:sp>
        <p:nvSpPr>
          <p:cNvPr id="126980" name="Rectangle 3">
            <a:extLst>
              <a:ext uri="{FF2B5EF4-FFF2-40B4-BE49-F238E27FC236}">
                <a16:creationId xmlns:a16="http://schemas.microsoft.com/office/drawing/2014/main" id="{E8421CDF-EEEA-92B8-6E5E-1A33B356C06C}"/>
              </a:ext>
            </a:extLst>
          </p:cNvPr>
          <p:cNvSpPr>
            <a:spLocks noGrp="1" noChangeArrowheads="1"/>
          </p:cNvSpPr>
          <p:nvPr>
            <p:ph type="body" idx="1"/>
          </p:nvPr>
        </p:nvSpPr>
        <p:spPr>
          <a:xfrm>
            <a:off x="931414" y="4410392"/>
            <a:ext cx="5134874" cy="4177348"/>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extLst>
      <p:ext uri="{BB962C8B-B14F-4D97-AF65-F5344CB8AC3E}">
        <p14:creationId xmlns:p14="http://schemas.microsoft.com/office/powerpoint/2010/main" val="387971669"/>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9A735D-EE83-8A76-D42D-476C6FE02C7A}"/>
            </a:ext>
          </a:extLst>
        </p:cNvPr>
        <p:cNvGrpSpPr/>
        <p:nvPr/>
      </p:nvGrpSpPr>
      <p:grpSpPr>
        <a:xfrm>
          <a:off x="0" y="0"/>
          <a:ext cx="0" cy="0"/>
          <a:chOff x="0" y="0"/>
          <a:chExt cx="0" cy="0"/>
        </a:xfrm>
      </p:grpSpPr>
      <p:sp>
        <p:nvSpPr>
          <p:cNvPr id="126978" name="Rectangle 7">
            <a:extLst>
              <a:ext uri="{FF2B5EF4-FFF2-40B4-BE49-F238E27FC236}">
                <a16:creationId xmlns:a16="http://schemas.microsoft.com/office/drawing/2014/main" id="{D5B80192-7328-08B2-906B-3582D45BC8DC}"/>
              </a:ext>
            </a:extLst>
          </p:cNvPr>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688">
              <a:defRPr sz="1600">
                <a:solidFill>
                  <a:schemeClr val="tx1"/>
                </a:solidFill>
                <a:latin typeface="Helvetica" panose="020B0604020202020204" pitchFamily="34" charset="0"/>
                <a:ea typeface="MS PGothic" panose="020B0600070205080204" pitchFamily="34" charset="-128"/>
              </a:defRPr>
            </a:lvl1pPr>
            <a:lvl2pPr marL="742950" indent="-285750" defTabSz="928688">
              <a:defRPr sz="1600">
                <a:solidFill>
                  <a:schemeClr val="tx1"/>
                </a:solidFill>
                <a:latin typeface="Helvetica" panose="020B0604020202020204" pitchFamily="34" charset="0"/>
                <a:ea typeface="MS PGothic" panose="020B0600070205080204" pitchFamily="34" charset="-128"/>
              </a:defRPr>
            </a:lvl2pPr>
            <a:lvl3pPr marL="1143000" indent="-228600" defTabSz="928688">
              <a:defRPr sz="1600">
                <a:solidFill>
                  <a:schemeClr val="tx1"/>
                </a:solidFill>
                <a:latin typeface="Helvetica" panose="020B0604020202020204" pitchFamily="34" charset="0"/>
                <a:ea typeface="MS PGothic" panose="020B0600070205080204" pitchFamily="34" charset="-128"/>
              </a:defRPr>
            </a:lvl3pPr>
            <a:lvl4pPr marL="1600200" indent="-228600" defTabSz="928688">
              <a:defRPr sz="1600">
                <a:solidFill>
                  <a:schemeClr val="tx1"/>
                </a:solidFill>
                <a:latin typeface="Helvetica" panose="020B0604020202020204" pitchFamily="34" charset="0"/>
                <a:ea typeface="MS PGothic" panose="020B0600070205080204" pitchFamily="34" charset="-128"/>
              </a:defRPr>
            </a:lvl4pPr>
            <a:lvl5pPr marL="2057400" indent="-228600" defTabSz="928688">
              <a:defRPr sz="1600">
                <a:solidFill>
                  <a:schemeClr val="tx1"/>
                </a:solidFill>
                <a:latin typeface="Helvetica" panose="020B0604020202020204" pitchFamily="34" charset="0"/>
                <a:ea typeface="MS PGothic" panose="020B0600070205080204" pitchFamily="34" charset="-128"/>
              </a:defRPr>
            </a:lvl5pPr>
            <a:lvl6pPr marL="25146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D954D0A1-F669-443E-ADD7-EBEE7996BBA6}" type="slidenum">
              <a:rPr lang="en-US" altLang="en-US" sz="1200"/>
              <a:pPr/>
              <a:t>53</a:t>
            </a:fld>
            <a:endParaRPr lang="en-US" altLang="en-US" sz="1200"/>
          </a:p>
        </p:txBody>
      </p:sp>
      <p:sp>
        <p:nvSpPr>
          <p:cNvPr id="126979" name="Rectangle 2">
            <a:extLst>
              <a:ext uri="{FF2B5EF4-FFF2-40B4-BE49-F238E27FC236}">
                <a16:creationId xmlns:a16="http://schemas.microsoft.com/office/drawing/2014/main" id="{1419E125-47B3-500F-2B02-DAFFBC2B7159}"/>
              </a:ext>
            </a:extLst>
          </p:cNvPr>
          <p:cNvSpPr>
            <a:spLocks noGrp="1" noRot="1" noChangeAspect="1" noChangeArrowheads="1" noTextEdit="1"/>
          </p:cNvSpPr>
          <p:nvPr>
            <p:ph type="sldImg"/>
          </p:nvPr>
        </p:nvSpPr>
        <p:spPr>
          <a:xfrm>
            <a:off x="1177925" y="695325"/>
            <a:ext cx="4641850" cy="3481388"/>
          </a:xfrm>
          <a:ln/>
        </p:spPr>
      </p:sp>
      <p:sp>
        <p:nvSpPr>
          <p:cNvPr id="126980" name="Rectangle 3">
            <a:extLst>
              <a:ext uri="{FF2B5EF4-FFF2-40B4-BE49-F238E27FC236}">
                <a16:creationId xmlns:a16="http://schemas.microsoft.com/office/drawing/2014/main" id="{5A938C28-773D-A9E6-2031-1E50944AE712}"/>
              </a:ext>
            </a:extLst>
          </p:cNvPr>
          <p:cNvSpPr>
            <a:spLocks noGrp="1" noChangeArrowheads="1"/>
          </p:cNvSpPr>
          <p:nvPr>
            <p:ph type="body" idx="1"/>
          </p:nvPr>
        </p:nvSpPr>
        <p:spPr>
          <a:xfrm>
            <a:off x="931414" y="4410392"/>
            <a:ext cx="5134874" cy="4177348"/>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extLst>
      <p:ext uri="{BB962C8B-B14F-4D97-AF65-F5344CB8AC3E}">
        <p14:creationId xmlns:p14="http://schemas.microsoft.com/office/powerpoint/2010/main" val="130231040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5B27D1-32B3-78D2-81D6-99BB130CFAFF}"/>
            </a:ext>
          </a:extLst>
        </p:cNvPr>
        <p:cNvGrpSpPr/>
        <p:nvPr/>
      </p:nvGrpSpPr>
      <p:grpSpPr>
        <a:xfrm>
          <a:off x="0" y="0"/>
          <a:ext cx="0" cy="0"/>
          <a:chOff x="0" y="0"/>
          <a:chExt cx="0" cy="0"/>
        </a:xfrm>
      </p:grpSpPr>
      <p:sp>
        <p:nvSpPr>
          <p:cNvPr id="128002" name="Rectangle 7">
            <a:extLst>
              <a:ext uri="{FF2B5EF4-FFF2-40B4-BE49-F238E27FC236}">
                <a16:creationId xmlns:a16="http://schemas.microsoft.com/office/drawing/2014/main" id="{FFCAC568-1ACF-F6FD-5A85-DF75C9F4864A}"/>
              </a:ext>
            </a:extLst>
          </p:cNvPr>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19163">
              <a:defRPr sz="1600">
                <a:solidFill>
                  <a:schemeClr val="tx1"/>
                </a:solidFill>
                <a:latin typeface="Helvetica" panose="020B0604020202020204" pitchFamily="34" charset="0"/>
                <a:ea typeface="MS PGothic" panose="020B0600070205080204" pitchFamily="34" charset="-128"/>
              </a:defRPr>
            </a:lvl1pPr>
            <a:lvl2pPr marL="742950" indent="-285750" defTabSz="919163">
              <a:defRPr sz="1600">
                <a:solidFill>
                  <a:schemeClr val="tx1"/>
                </a:solidFill>
                <a:latin typeface="Helvetica" panose="020B0604020202020204" pitchFamily="34" charset="0"/>
                <a:ea typeface="MS PGothic" panose="020B0600070205080204" pitchFamily="34" charset="-128"/>
              </a:defRPr>
            </a:lvl2pPr>
            <a:lvl3pPr marL="1143000" indent="-228600" defTabSz="919163">
              <a:defRPr sz="1600">
                <a:solidFill>
                  <a:schemeClr val="tx1"/>
                </a:solidFill>
                <a:latin typeface="Helvetica" panose="020B0604020202020204" pitchFamily="34" charset="0"/>
                <a:ea typeface="MS PGothic" panose="020B0600070205080204" pitchFamily="34" charset="-128"/>
              </a:defRPr>
            </a:lvl3pPr>
            <a:lvl4pPr marL="1600200" indent="-228600" defTabSz="919163">
              <a:defRPr sz="1600">
                <a:solidFill>
                  <a:schemeClr val="tx1"/>
                </a:solidFill>
                <a:latin typeface="Helvetica" panose="020B0604020202020204" pitchFamily="34" charset="0"/>
                <a:ea typeface="MS PGothic" panose="020B0600070205080204" pitchFamily="34" charset="-128"/>
              </a:defRPr>
            </a:lvl4pPr>
            <a:lvl5pPr marL="2057400" indent="-228600" defTabSz="919163">
              <a:defRPr sz="1600">
                <a:solidFill>
                  <a:schemeClr val="tx1"/>
                </a:solidFill>
                <a:latin typeface="Helvetica" panose="020B0604020202020204" pitchFamily="34" charset="0"/>
                <a:ea typeface="MS PGothic" panose="020B0600070205080204" pitchFamily="34" charset="-128"/>
              </a:defRPr>
            </a:lvl5pPr>
            <a:lvl6pPr marL="2514600" indent="-228600" defTabSz="919163"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defTabSz="919163"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defTabSz="919163"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defTabSz="919163"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9A4B0E9C-818B-4892-804B-8736909E539A}" type="slidenum">
              <a:rPr lang="en-US" altLang="en-US" sz="1200"/>
              <a:pPr/>
              <a:t>54</a:t>
            </a:fld>
            <a:endParaRPr lang="en-US" altLang="en-US" sz="1200"/>
          </a:p>
        </p:txBody>
      </p:sp>
      <p:sp>
        <p:nvSpPr>
          <p:cNvPr id="128003" name="Rectangle 2">
            <a:extLst>
              <a:ext uri="{FF2B5EF4-FFF2-40B4-BE49-F238E27FC236}">
                <a16:creationId xmlns:a16="http://schemas.microsoft.com/office/drawing/2014/main" id="{B1FAE4A4-4B85-9313-A3EC-0E12F6672870}"/>
              </a:ext>
            </a:extLst>
          </p:cNvPr>
          <p:cNvSpPr>
            <a:spLocks noGrp="1" noRot="1" noChangeAspect="1" noChangeArrowheads="1" noTextEdit="1"/>
          </p:cNvSpPr>
          <p:nvPr>
            <p:ph type="sldImg"/>
          </p:nvPr>
        </p:nvSpPr>
        <p:spPr>
          <a:xfrm>
            <a:off x="1177925" y="695325"/>
            <a:ext cx="4641850" cy="3481388"/>
          </a:xfrm>
          <a:ln/>
        </p:spPr>
      </p:sp>
      <p:sp>
        <p:nvSpPr>
          <p:cNvPr id="128004" name="Rectangle 3">
            <a:extLst>
              <a:ext uri="{FF2B5EF4-FFF2-40B4-BE49-F238E27FC236}">
                <a16:creationId xmlns:a16="http://schemas.microsoft.com/office/drawing/2014/main" id="{74757C51-2470-9112-C71F-BAE195D7FA55}"/>
              </a:ext>
            </a:extLst>
          </p:cNvPr>
          <p:cNvSpPr>
            <a:spLocks noGrp="1" noChangeArrowheads="1"/>
          </p:cNvSpPr>
          <p:nvPr>
            <p:ph type="body" idx="1"/>
          </p:nvPr>
        </p:nvSpPr>
        <p:spPr>
          <a:xfrm>
            <a:off x="933027" y="4410392"/>
            <a:ext cx="5131647" cy="4177348"/>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extLst>
      <p:ext uri="{BB962C8B-B14F-4D97-AF65-F5344CB8AC3E}">
        <p14:creationId xmlns:p14="http://schemas.microsoft.com/office/powerpoint/2010/main" val="928430153"/>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4CAE6A-B4F4-7B6A-18F3-7B1A84BFBBE9}"/>
            </a:ext>
          </a:extLst>
        </p:cNvPr>
        <p:cNvGrpSpPr/>
        <p:nvPr/>
      </p:nvGrpSpPr>
      <p:grpSpPr>
        <a:xfrm>
          <a:off x="0" y="0"/>
          <a:ext cx="0" cy="0"/>
          <a:chOff x="0" y="0"/>
          <a:chExt cx="0" cy="0"/>
        </a:xfrm>
      </p:grpSpPr>
      <p:sp>
        <p:nvSpPr>
          <p:cNvPr id="128002" name="Rectangle 7">
            <a:extLst>
              <a:ext uri="{FF2B5EF4-FFF2-40B4-BE49-F238E27FC236}">
                <a16:creationId xmlns:a16="http://schemas.microsoft.com/office/drawing/2014/main" id="{38C37D98-CFE6-3E18-C019-2B181AF76A1C}"/>
              </a:ext>
            </a:extLst>
          </p:cNvPr>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19163">
              <a:defRPr sz="1600">
                <a:solidFill>
                  <a:schemeClr val="tx1"/>
                </a:solidFill>
                <a:latin typeface="Helvetica" panose="020B0604020202020204" pitchFamily="34" charset="0"/>
                <a:ea typeface="MS PGothic" panose="020B0600070205080204" pitchFamily="34" charset="-128"/>
              </a:defRPr>
            </a:lvl1pPr>
            <a:lvl2pPr marL="742950" indent="-285750" defTabSz="919163">
              <a:defRPr sz="1600">
                <a:solidFill>
                  <a:schemeClr val="tx1"/>
                </a:solidFill>
                <a:latin typeface="Helvetica" panose="020B0604020202020204" pitchFamily="34" charset="0"/>
                <a:ea typeface="MS PGothic" panose="020B0600070205080204" pitchFamily="34" charset="-128"/>
              </a:defRPr>
            </a:lvl2pPr>
            <a:lvl3pPr marL="1143000" indent="-228600" defTabSz="919163">
              <a:defRPr sz="1600">
                <a:solidFill>
                  <a:schemeClr val="tx1"/>
                </a:solidFill>
                <a:latin typeface="Helvetica" panose="020B0604020202020204" pitchFamily="34" charset="0"/>
                <a:ea typeface="MS PGothic" panose="020B0600070205080204" pitchFamily="34" charset="-128"/>
              </a:defRPr>
            </a:lvl3pPr>
            <a:lvl4pPr marL="1600200" indent="-228600" defTabSz="919163">
              <a:defRPr sz="1600">
                <a:solidFill>
                  <a:schemeClr val="tx1"/>
                </a:solidFill>
                <a:latin typeface="Helvetica" panose="020B0604020202020204" pitchFamily="34" charset="0"/>
                <a:ea typeface="MS PGothic" panose="020B0600070205080204" pitchFamily="34" charset="-128"/>
              </a:defRPr>
            </a:lvl4pPr>
            <a:lvl5pPr marL="2057400" indent="-228600" defTabSz="919163">
              <a:defRPr sz="1600">
                <a:solidFill>
                  <a:schemeClr val="tx1"/>
                </a:solidFill>
                <a:latin typeface="Helvetica" panose="020B0604020202020204" pitchFamily="34" charset="0"/>
                <a:ea typeface="MS PGothic" panose="020B0600070205080204" pitchFamily="34" charset="-128"/>
              </a:defRPr>
            </a:lvl5pPr>
            <a:lvl6pPr marL="2514600" indent="-228600" defTabSz="919163"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defTabSz="919163"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defTabSz="919163"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defTabSz="919163"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9A4B0E9C-818B-4892-804B-8736909E539A}" type="slidenum">
              <a:rPr lang="en-US" altLang="en-US" sz="1200"/>
              <a:pPr/>
              <a:t>55</a:t>
            </a:fld>
            <a:endParaRPr lang="en-US" altLang="en-US" sz="1200"/>
          </a:p>
        </p:txBody>
      </p:sp>
      <p:sp>
        <p:nvSpPr>
          <p:cNvPr id="128003" name="Rectangle 2">
            <a:extLst>
              <a:ext uri="{FF2B5EF4-FFF2-40B4-BE49-F238E27FC236}">
                <a16:creationId xmlns:a16="http://schemas.microsoft.com/office/drawing/2014/main" id="{73FDF1B3-3115-7AB8-166F-AC411997170B}"/>
              </a:ext>
            </a:extLst>
          </p:cNvPr>
          <p:cNvSpPr>
            <a:spLocks noGrp="1" noRot="1" noChangeAspect="1" noChangeArrowheads="1" noTextEdit="1"/>
          </p:cNvSpPr>
          <p:nvPr>
            <p:ph type="sldImg"/>
          </p:nvPr>
        </p:nvSpPr>
        <p:spPr>
          <a:xfrm>
            <a:off x="1177925" y="695325"/>
            <a:ext cx="4641850" cy="3481388"/>
          </a:xfrm>
          <a:ln/>
        </p:spPr>
      </p:sp>
      <p:sp>
        <p:nvSpPr>
          <p:cNvPr id="128004" name="Rectangle 3">
            <a:extLst>
              <a:ext uri="{FF2B5EF4-FFF2-40B4-BE49-F238E27FC236}">
                <a16:creationId xmlns:a16="http://schemas.microsoft.com/office/drawing/2014/main" id="{2390A3EB-D259-4B93-3A00-63B9F92C3F34}"/>
              </a:ext>
            </a:extLst>
          </p:cNvPr>
          <p:cNvSpPr>
            <a:spLocks noGrp="1" noChangeArrowheads="1"/>
          </p:cNvSpPr>
          <p:nvPr>
            <p:ph type="body" idx="1"/>
          </p:nvPr>
        </p:nvSpPr>
        <p:spPr>
          <a:xfrm>
            <a:off x="933027" y="4410392"/>
            <a:ext cx="5131647" cy="4177348"/>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extLst>
      <p:ext uri="{BB962C8B-B14F-4D97-AF65-F5344CB8AC3E}">
        <p14:creationId xmlns:p14="http://schemas.microsoft.com/office/powerpoint/2010/main" val="3747950568"/>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9026"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688">
              <a:defRPr sz="1600">
                <a:solidFill>
                  <a:schemeClr val="tx1"/>
                </a:solidFill>
                <a:latin typeface="Helvetica" panose="020B0604020202020204" pitchFamily="34" charset="0"/>
                <a:ea typeface="MS PGothic" panose="020B0600070205080204" pitchFamily="34" charset="-128"/>
              </a:defRPr>
            </a:lvl1pPr>
            <a:lvl2pPr marL="742950" indent="-285750" defTabSz="928688">
              <a:defRPr sz="1600">
                <a:solidFill>
                  <a:schemeClr val="tx1"/>
                </a:solidFill>
                <a:latin typeface="Helvetica" panose="020B0604020202020204" pitchFamily="34" charset="0"/>
                <a:ea typeface="MS PGothic" panose="020B0600070205080204" pitchFamily="34" charset="-128"/>
              </a:defRPr>
            </a:lvl2pPr>
            <a:lvl3pPr marL="1143000" indent="-228600" defTabSz="928688">
              <a:defRPr sz="1600">
                <a:solidFill>
                  <a:schemeClr val="tx1"/>
                </a:solidFill>
                <a:latin typeface="Helvetica" panose="020B0604020202020204" pitchFamily="34" charset="0"/>
                <a:ea typeface="MS PGothic" panose="020B0600070205080204" pitchFamily="34" charset="-128"/>
              </a:defRPr>
            </a:lvl3pPr>
            <a:lvl4pPr marL="1600200" indent="-228600" defTabSz="928688">
              <a:defRPr sz="1600">
                <a:solidFill>
                  <a:schemeClr val="tx1"/>
                </a:solidFill>
                <a:latin typeface="Helvetica" panose="020B0604020202020204" pitchFamily="34" charset="0"/>
                <a:ea typeface="MS PGothic" panose="020B0600070205080204" pitchFamily="34" charset="-128"/>
              </a:defRPr>
            </a:lvl4pPr>
            <a:lvl5pPr marL="2057400" indent="-228600" defTabSz="928688">
              <a:defRPr sz="1600">
                <a:solidFill>
                  <a:schemeClr val="tx1"/>
                </a:solidFill>
                <a:latin typeface="Helvetica" panose="020B0604020202020204" pitchFamily="34" charset="0"/>
                <a:ea typeface="MS PGothic" panose="020B0600070205080204" pitchFamily="34" charset="-128"/>
              </a:defRPr>
            </a:lvl5pPr>
            <a:lvl6pPr marL="25146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42205F84-2065-4332-B0FA-E582A1DD7231}" type="slidenum">
              <a:rPr lang="en-US" altLang="en-US" sz="1200"/>
              <a:pPr/>
              <a:t>56</a:t>
            </a:fld>
            <a:endParaRPr lang="en-US" altLang="en-US" sz="1200"/>
          </a:p>
        </p:txBody>
      </p:sp>
      <p:sp>
        <p:nvSpPr>
          <p:cNvPr id="129027" name="Rectangle 2"/>
          <p:cNvSpPr>
            <a:spLocks noGrp="1" noRot="1" noChangeAspect="1" noChangeArrowheads="1" noTextEdit="1"/>
          </p:cNvSpPr>
          <p:nvPr>
            <p:ph type="sldImg"/>
          </p:nvPr>
        </p:nvSpPr>
        <p:spPr>
          <a:xfrm>
            <a:off x="1177925" y="695325"/>
            <a:ext cx="4641850" cy="3481388"/>
          </a:xfrm>
          <a:ln/>
        </p:spPr>
      </p:sp>
      <p:sp>
        <p:nvSpPr>
          <p:cNvPr id="129028" name="Rectangle 3"/>
          <p:cNvSpPr>
            <a:spLocks noGrp="1" noChangeArrowheads="1"/>
          </p:cNvSpPr>
          <p:nvPr>
            <p:ph type="body" idx="1"/>
          </p:nvPr>
        </p:nvSpPr>
        <p:spPr>
          <a:xfrm>
            <a:off x="931414" y="4410392"/>
            <a:ext cx="5134874" cy="4177348"/>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algn="r" rtl="1"/>
            <a:r>
              <a:rPr lang="fa-IR" dirty="0"/>
              <a:t>آزمایش محدودیت‌های وابستگی تابعی هر بار که پایگاه داده به‌روزرسانی می‌شود، می‌تواند هزینه‌بر باشد.</a:t>
            </a:r>
            <a:br>
              <a:rPr lang="fa-IR" dirty="0"/>
            </a:br>
            <a:r>
              <a:rPr lang="fa-IR" dirty="0"/>
              <a:t>بنابراین طراحی پایگاه داده به گونه‌ای که این محدودیت‌ها به‌صورت کارآمد آزمایش شوند، مفید است.</a:t>
            </a:r>
          </a:p>
          <a:p>
            <a:pPr algn="r" rtl="1"/>
            <a:r>
              <a:rPr lang="fa-IR" dirty="0"/>
              <a:t>اگر آزمایش یک وابستگی تابعی تنها با در نظر گرفتن یک رابطه قابل انجام باشد، هزینه آزمایش این محدودیت پایین خواهد بود.</a:t>
            </a:r>
          </a:p>
          <a:p>
            <a:pPr algn="r" rtl="1"/>
            <a:r>
              <a:rPr lang="fa-IR" dirty="0"/>
              <a:t>هنگام تجزیه یک رابطه، ممکن است شرایطی به وجود آید که آزمایش وابستگی تابعی بدون انجام عمل ضرب دکارتی امکان‌پذیر نباشد.</a:t>
            </a:r>
          </a:p>
          <a:p>
            <a:pPr algn="r" rtl="1"/>
            <a:r>
              <a:rPr lang="fa-IR" dirty="0"/>
              <a:t>یک تجزیه که اجرای وابستگی تابعی را از نظر محاسباتی دشوار می‌سازد، به عنوان "حفظ‌کننده وابستگی </a:t>
            </a:r>
            <a:r>
              <a:rPr lang="fa-IR" i="1" dirty="0"/>
              <a:t>نیست</a:t>
            </a:r>
            <a:r>
              <a:rPr lang="fa-IR" dirty="0"/>
              <a:t>" شناخته می‌شود.</a:t>
            </a:r>
          </a:p>
          <a:p>
            <a:pPr algn="r" rtl="1"/>
            <a:endParaRPr lang="en-US" altLang="en-US" dirty="0">
              <a:latin typeface="Times New Roman" panose="02020603050405020304" pitchFamily="18" charset="0"/>
            </a:endParaRPr>
          </a:p>
        </p:txBody>
      </p:sp>
    </p:spTree>
    <p:extLst>
      <p:ext uri="{BB962C8B-B14F-4D97-AF65-F5344CB8AC3E}">
        <p14:creationId xmlns:p14="http://schemas.microsoft.com/office/powerpoint/2010/main" val="857328272"/>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0050"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688">
              <a:defRPr sz="1600">
                <a:solidFill>
                  <a:schemeClr val="tx1"/>
                </a:solidFill>
                <a:latin typeface="Helvetica" panose="020B0604020202020204" pitchFamily="34" charset="0"/>
                <a:ea typeface="MS PGothic" panose="020B0600070205080204" pitchFamily="34" charset="-128"/>
              </a:defRPr>
            </a:lvl1pPr>
            <a:lvl2pPr marL="742950" indent="-285750" defTabSz="928688">
              <a:defRPr sz="1600">
                <a:solidFill>
                  <a:schemeClr val="tx1"/>
                </a:solidFill>
                <a:latin typeface="Helvetica" panose="020B0604020202020204" pitchFamily="34" charset="0"/>
                <a:ea typeface="MS PGothic" panose="020B0600070205080204" pitchFamily="34" charset="-128"/>
              </a:defRPr>
            </a:lvl2pPr>
            <a:lvl3pPr marL="1143000" indent="-228600" defTabSz="928688">
              <a:defRPr sz="1600">
                <a:solidFill>
                  <a:schemeClr val="tx1"/>
                </a:solidFill>
                <a:latin typeface="Helvetica" panose="020B0604020202020204" pitchFamily="34" charset="0"/>
                <a:ea typeface="MS PGothic" panose="020B0600070205080204" pitchFamily="34" charset="-128"/>
              </a:defRPr>
            </a:lvl3pPr>
            <a:lvl4pPr marL="1600200" indent="-228600" defTabSz="928688">
              <a:defRPr sz="1600">
                <a:solidFill>
                  <a:schemeClr val="tx1"/>
                </a:solidFill>
                <a:latin typeface="Helvetica" panose="020B0604020202020204" pitchFamily="34" charset="0"/>
                <a:ea typeface="MS PGothic" panose="020B0600070205080204" pitchFamily="34" charset="-128"/>
              </a:defRPr>
            </a:lvl4pPr>
            <a:lvl5pPr marL="2057400" indent="-228600" defTabSz="928688">
              <a:defRPr sz="1600">
                <a:solidFill>
                  <a:schemeClr val="tx1"/>
                </a:solidFill>
                <a:latin typeface="Helvetica" panose="020B0604020202020204" pitchFamily="34" charset="0"/>
                <a:ea typeface="MS PGothic" panose="020B0600070205080204" pitchFamily="34" charset="-128"/>
              </a:defRPr>
            </a:lvl5pPr>
            <a:lvl6pPr marL="25146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4AA862FF-AA55-4048-85C2-DAA9D3A35A69}" type="slidenum">
              <a:rPr lang="en-US" altLang="en-US" sz="1200"/>
              <a:pPr/>
              <a:t>57</a:t>
            </a:fld>
            <a:endParaRPr lang="en-US" altLang="en-US" sz="1200"/>
          </a:p>
        </p:txBody>
      </p:sp>
      <p:sp>
        <p:nvSpPr>
          <p:cNvPr id="130051" name="Rectangle 2"/>
          <p:cNvSpPr>
            <a:spLocks noGrp="1" noRot="1" noChangeAspect="1" noChangeArrowheads="1" noTextEdit="1"/>
          </p:cNvSpPr>
          <p:nvPr>
            <p:ph type="sldImg"/>
          </p:nvPr>
        </p:nvSpPr>
        <p:spPr>
          <a:xfrm>
            <a:off x="1177925" y="695325"/>
            <a:ext cx="4641850" cy="3481388"/>
          </a:xfrm>
          <a:ln/>
        </p:spPr>
      </p:sp>
      <p:sp>
        <p:nvSpPr>
          <p:cNvPr id="130052" name="Rectangle 3"/>
          <p:cNvSpPr>
            <a:spLocks noGrp="1" noChangeArrowheads="1"/>
          </p:cNvSpPr>
          <p:nvPr>
            <p:ph type="body" idx="1"/>
          </p:nvPr>
        </p:nvSpPr>
        <p:spPr>
          <a:xfrm>
            <a:off x="931414" y="4410392"/>
            <a:ext cx="5134874" cy="4177348"/>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extLst>
      <p:ext uri="{BB962C8B-B14F-4D97-AF65-F5344CB8AC3E}">
        <p14:creationId xmlns:p14="http://schemas.microsoft.com/office/powerpoint/2010/main" val="4090313009"/>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1074"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688">
              <a:defRPr sz="1600">
                <a:solidFill>
                  <a:schemeClr val="tx1"/>
                </a:solidFill>
                <a:latin typeface="Helvetica" panose="020B0604020202020204" pitchFamily="34" charset="0"/>
                <a:ea typeface="MS PGothic" panose="020B0600070205080204" pitchFamily="34" charset="-128"/>
              </a:defRPr>
            </a:lvl1pPr>
            <a:lvl2pPr marL="742950" indent="-285750" defTabSz="928688">
              <a:defRPr sz="1600">
                <a:solidFill>
                  <a:schemeClr val="tx1"/>
                </a:solidFill>
                <a:latin typeface="Helvetica" panose="020B0604020202020204" pitchFamily="34" charset="0"/>
                <a:ea typeface="MS PGothic" panose="020B0600070205080204" pitchFamily="34" charset="-128"/>
              </a:defRPr>
            </a:lvl2pPr>
            <a:lvl3pPr marL="1143000" indent="-228600" defTabSz="928688">
              <a:defRPr sz="1600">
                <a:solidFill>
                  <a:schemeClr val="tx1"/>
                </a:solidFill>
                <a:latin typeface="Helvetica" panose="020B0604020202020204" pitchFamily="34" charset="0"/>
                <a:ea typeface="MS PGothic" panose="020B0600070205080204" pitchFamily="34" charset="-128"/>
              </a:defRPr>
            </a:lvl3pPr>
            <a:lvl4pPr marL="1600200" indent="-228600" defTabSz="928688">
              <a:defRPr sz="1600">
                <a:solidFill>
                  <a:schemeClr val="tx1"/>
                </a:solidFill>
                <a:latin typeface="Helvetica" panose="020B0604020202020204" pitchFamily="34" charset="0"/>
                <a:ea typeface="MS PGothic" panose="020B0600070205080204" pitchFamily="34" charset="-128"/>
              </a:defRPr>
            </a:lvl4pPr>
            <a:lvl5pPr marL="2057400" indent="-228600" defTabSz="928688">
              <a:defRPr sz="1600">
                <a:solidFill>
                  <a:schemeClr val="tx1"/>
                </a:solidFill>
                <a:latin typeface="Helvetica" panose="020B0604020202020204" pitchFamily="34" charset="0"/>
                <a:ea typeface="MS PGothic" panose="020B0600070205080204" pitchFamily="34" charset="-128"/>
              </a:defRPr>
            </a:lvl5pPr>
            <a:lvl6pPr marL="25146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82C79F51-599B-4731-9C05-59A4A5345ABF}" type="slidenum">
              <a:rPr lang="en-US" altLang="en-US" sz="1200"/>
              <a:pPr/>
              <a:t>58</a:t>
            </a:fld>
            <a:endParaRPr lang="en-US" altLang="en-US" sz="1200"/>
          </a:p>
        </p:txBody>
      </p:sp>
      <p:sp>
        <p:nvSpPr>
          <p:cNvPr id="131075" name="Rectangle 2"/>
          <p:cNvSpPr>
            <a:spLocks noGrp="1" noRot="1" noChangeAspect="1" noChangeArrowheads="1" noTextEdit="1"/>
          </p:cNvSpPr>
          <p:nvPr>
            <p:ph type="sldImg"/>
          </p:nvPr>
        </p:nvSpPr>
        <p:spPr>
          <a:xfrm>
            <a:off x="1177925" y="695325"/>
            <a:ext cx="4641850" cy="3481388"/>
          </a:xfrm>
          <a:ln/>
        </p:spPr>
      </p:sp>
      <p:sp>
        <p:nvSpPr>
          <p:cNvPr id="131076" name="Rectangle 3"/>
          <p:cNvSpPr>
            <a:spLocks noGrp="1" noChangeArrowheads="1"/>
          </p:cNvSpPr>
          <p:nvPr>
            <p:ph type="body" idx="1"/>
          </p:nvPr>
        </p:nvSpPr>
        <p:spPr>
          <a:xfrm>
            <a:off x="931414" y="4410392"/>
            <a:ext cx="5134874" cy="4177348"/>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extLst>
      <p:ext uri="{BB962C8B-B14F-4D97-AF65-F5344CB8AC3E}">
        <p14:creationId xmlns:p14="http://schemas.microsoft.com/office/powerpoint/2010/main" val="71825618"/>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3B29A2-3D7E-0E10-DD26-D7492738BB6C}"/>
            </a:ext>
          </a:extLst>
        </p:cNvPr>
        <p:cNvGrpSpPr/>
        <p:nvPr/>
      </p:nvGrpSpPr>
      <p:grpSpPr>
        <a:xfrm>
          <a:off x="0" y="0"/>
          <a:ext cx="0" cy="0"/>
          <a:chOff x="0" y="0"/>
          <a:chExt cx="0" cy="0"/>
        </a:xfrm>
      </p:grpSpPr>
      <p:sp>
        <p:nvSpPr>
          <p:cNvPr id="132098" name="Rectangle 7">
            <a:extLst>
              <a:ext uri="{FF2B5EF4-FFF2-40B4-BE49-F238E27FC236}">
                <a16:creationId xmlns:a16="http://schemas.microsoft.com/office/drawing/2014/main" id="{257A8172-FEC4-E002-0A5F-7D64D9CB4FCB}"/>
              </a:ext>
            </a:extLst>
          </p:cNvPr>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688">
              <a:defRPr sz="1600">
                <a:solidFill>
                  <a:schemeClr val="tx1"/>
                </a:solidFill>
                <a:latin typeface="Helvetica" panose="020B0604020202020204" pitchFamily="34" charset="0"/>
                <a:ea typeface="MS PGothic" panose="020B0600070205080204" pitchFamily="34" charset="-128"/>
              </a:defRPr>
            </a:lvl1pPr>
            <a:lvl2pPr marL="742950" indent="-285750" defTabSz="928688">
              <a:defRPr sz="1600">
                <a:solidFill>
                  <a:schemeClr val="tx1"/>
                </a:solidFill>
                <a:latin typeface="Helvetica" panose="020B0604020202020204" pitchFamily="34" charset="0"/>
                <a:ea typeface="MS PGothic" panose="020B0600070205080204" pitchFamily="34" charset="-128"/>
              </a:defRPr>
            </a:lvl2pPr>
            <a:lvl3pPr marL="1143000" indent="-228600" defTabSz="928688">
              <a:defRPr sz="1600">
                <a:solidFill>
                  <a:schemeClr val="tx1"/>
                </a:solidFill>
                <a:latin typeface="Helvetica" panose="020B0604020202020204" pitchFamily="34" charset="0"/>
                <a:ea typeface="MS PGothic" panose="020B0600070205080204" pitchFamily="34" charset="-128"/>
              </a:defRPr>
            </a:lvl3pPr>
            <a:lvl4pPr marL="1600200" indent="-228600" defTabSz="928688">
              <a:defRPr sz="1600">
                <a:solidFill>
                  <a:schemeClr val="tx1"/>
                </a:solidFill>
                <a:latin typeface="Helvetica" panose="020B0604020202020204" pitchFamily="34" charset="0"/>
                <a:ea typeface="MS PGothic" panose="020B0600070205080204" pitchFamily="34" charset="-128"/>
              </a:defRPr>
            </a:lvl4pPr>
            <a:lvl5pPr marL="2057400" indent="-228600" defTabSz="928688">
              <a:defRPr sz="1600">
                <a:solidFill>
                  <a:schemeClr val="tx1"/>
                </a:solidFill>
                <a:latin typeface="Helvetica" panose="020B0604020202020204" pitchFamily="34" charset="0"/>
                <a:ea typeface="MS PGothic" panose="020B0600070205080204" pitchFamily="34" charset="-128"/>
              </a:defRPr>
            </a:lvl5pPr>
            <a:lvl6pPr marL="25146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2AFCC4C7-9321-4F85-AC15-C96C02999C1E}" type="slidenum">
              <a:rPr lang="en-US" altLang="en-US" sz="1200"/>
              <a:pPr/>
              <a:t>59</a:t>
            </a:fld>
            <a:endParaRPr lang="en-US" altLang="en-US" sz="1200"/>
          </a:p>
        </p:txBody>
      </p:sp>
      <p:sp>
        <p:nvSpPr>
          <p:cNvPr id="132099" name="Rectangle 2">
            <a:extLst>
              <a:ext uri="{FF2B5EF4-FFF2-40B4-BE49-F238E27FC236}">
                <a16:creationId xmlns:a16="http://schemas.microsoft.com/office/drawing/2014/main" id="{D5C5FAD2-DB94-DBF2-32DC-C50752B13D04}"/>
              </a:ext>
            </a:extLst>
          </p:cNvPr>
          <p:cNvSpPr>
            <a:spLocks noGrp="1" noRot="1" noChangeAspect="1" noChangeArrowheads="1" noTextEdit="1"/>
          </p:cNvSpPr>
          <p:nvPr>
            <p:ph type="sldImg"/>
          </p:nvPr>
        </p:nvSpPr>
        <p:spPr>
          <a:xfrm>
            <a:off x="1177925" y="695325"/>
            <a:ext cx="4641850" cy="3481388"/>
          </a:xfrm>
          <a:ln/>
        </p:spPr>
      </p:sp>
      <p:sp>
        <p:nvSpPr>
          <p:cNvPr id="132100" name="Rectangle 3">
            <a:extLst>
              <a:ext uri="{FF2B5EF4-FFF2-40B4-BE49-F238E27FC236}">
                <a16:creationId xmlns:a16="http://schemas.microsoft.com/office/drawing/2014/main" id="{74CA00EB-43D9-6229-528D-61BD6FC36260}"/>
              </a:ext>
            </a:extLst>
          </p:cNvPr>
          <p:cNvSpPr>
            <a:spLocks noGrp="1" noChangeArrowheads="1"/>
          </p:cNvSpPr>
          <p:nvPr>
            <p:ph type="body" idx="1"/>
          </p:nvPr>
        </p:nvSpPr>
        <p:spPr>
          <a:xfrm>
            <a:off x="931414" y="4410392"/>
            <a:ext cx="5134874" cy="4177348"/>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extLst>
      <p:ext uri="{BB962C8B-B14F-4D97-AF65-F5344CB8AC3E}">
        <p14:creationId xmlns:p14="http://schemas.microsoft.com/office/powerpoint/2010/main" val="2820921200"/>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2098"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688">
              <a:defRPr sz="1600">
                <a:solidFill>
                  <a:schemeClr val="tx1"/>
                </a:solidFill>
                <a:latin typeface="Helvetica" panose="020B0604020202020204" pitchFamily="34" charset="0"/>
                <a:ea typeface="MS PGothic" panose="020B0600070205080204" pitchFamily="34" charset="-128"/>
              </a:defRPr>
            </a:lvl1pPr>
            <a:lvl2pPr marL="742950" indent="-285750" defTabSz="928688">
              <a:defRPr sz="1600">
                <a:solidFill>
                  <a:schemeClr val="tx1"/>
                </a:solidFill>
                <a:latin typeface="Helvetica" panose="020B0604020202020204" pitchFamily="34" charset="0"/>
                <a:ea typeface="MS PGothic" panose="020B0600070205080204" pitchFamily="34" charset="-128"/>
              </a:defRPr>
            </a:lvl2pPr>
            <a:lvl3pPr marL="1143000" indent="-228600" defTabSz="928688">
              <a:defRPr sz="1600">
                <a:solidFill>
                  <a:schemeClr val="tx1"/>
                </a:solidFill>
                <a:latin typeface="Helvetica" panose="020B0604020202020204" pitchFamily="34" charset="0"/>
                <a:ea typeface="MS PGothic" panose="020B0600070205080204" pitchFamily="34" charset="-128"/>
              </a:defRPr>
            </a:lvl3pPr>
            <a:lvl4pPr marL="1600200" indent="-228600" defTabSz="928688">
              <a:defRPr sz="1600">
                <a:solidFill>
                  <a:schemeClr val="tx1"/>
                </a:solidFill>
                <a:latin typeface="Helvetica" panose="020B0604020202020204" pitchFamily="34" charset="0"/>
                <a:ea typeface="MS PGothic" panose="020B0600070205080204" pitchFamily="34" charset="-128"/>
              </a:defRPr>
            </a:lvl4pPr>
            <a:lvl5pPr marL="2057400" indent="-228600" defTabSz="928688">
              <a:defRPr sz="1600">
                <a:solidFill>
                  <a:schemeClr val="tx1"/>
                </a:solidFill>
                <a:latin typeface="Helvetica" panose="020B0604020202020204" pitchFamily="34" charset="0"/>
                <a:ea typeface="MS PGothic" panose="020B0600070205080204" pitchFamily="34" charset="-128"/>
              </a:defRPr>
            </a:lvl5pPr>
            <a:lvl6pPr marL="25146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2AFCC4C7-9321-4F85-AC15-C96C02999C1E}" type="slidenum">
              <a:rPr lang="en-US" altLang="en-US" sz="1200"/>
              <a:pPr/>
              <a:t>60</a:t>
            </a:fld>
            <a:endParaRPr lang="en-US" altLang="en-US" sz="1200"/>
          </a:p>
        </p:txBody>
      </p:sp>
      <p:sp>
        <p:nvSpPr>
          <p:cNvPr id="132099" name="Rectangle 2"/>
          <p:cNvSpPr>
            <a:spLocks noGrp="1" noRot="1" noChangeAspect="1" noChangeArrowheads="1" noTextEdit="1"/>
          </p:cNvSpPr>
          <p:nvPr>
            <p:ph type="sldImg"/>
          </p:nvPr>
        </p:nvSpPr>
        <p:spPr>
          <a:xfrm>
            <a:off x="1177925" y="695325"/>
            <a:ext cx="4641850" cy="3481388"/>
          </a:xfrm>
          <a:ln/>
        </p:spPr>
      </p:sp>
      <p:sp>
        <p:nvSpPr>
          <p:cNvPr id="132100" name="Rectangle 3"/>
          <p:cNvSpPr>
            <a:spLocks noGrp="1" noChangeArrowheads="1"/>
          </p:cNvSpPr>
          <p:nvPr>
            <p:ph type="body" idx="1"/>
          </p:nvPr>
        </p:nvSpPr>
        <p:spPr>
          <a:xfrm>
            <a:off x="931414" y="4410392"/>
            <a:ext cx="5134874" cy="4177348"/>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extLst>
      <p:ext uri="{BB962C8B-B14F-4D97-AF65-F5344CB8AC3E}">
        <p14:creationId xmlns:p14="http://schemas.microsoft.com/office/powerpoint/2010/main" val="2683778245"/>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3122"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688">
              <a:defRPr sz="1600">
                <a:solidFill>
                  <a:schemeClr val="tx1"/>
                </a:solidFill>
                <a:latin typeface="Helvetica" panose="020B0604020202020204" pitchFamily="34" charset="0"/>
                <a:ea typeface="MS PGothic" panose="020B0600070205080204" pitchFamily="34" charset="-128"/>
              </a:defRPr>
            </a:lvl1pPr>
            <a:lvl2pPr marL="742950" indent="-285750" defTabSz="928688">
              <a:defRPr sz="1600">
                <a:solidFill>
                  <a:schemeClr val="tx1"/>
                </a:solidFill>
                <a:latin typeface="Helvetica" panose="020B0604020202020204" pitchFamily="34" charset="0"/>
                <a:ea typeface="MS PGothic" panose="020B0600070205080204" pitchFamily="34" charset="-128"/>
              </a:defRPr>
            </a:lvl2pPr>
            <a:lvl3pPr marL="1143000" indent="-228600" defTabSz="928688">
              <a:defRPr sz="1600">
                <a:solidFill>
                  <a:schemeClr val="tx1"/>
                </a:solidFill>
                <a:latin typeface="Helvetica" panose="020B0604020202020204" pitchFamily="34" charset="0"/>
                <a:ea typeface="MS PGothic" panose="020B0600070205080204" pitchFamily="34" charset="-128"/>
              </a:defRPr>
            </a:lvl3pPr>
            <a:lvl4pPr marL="1600200" indent="-228600" defTabSz="928688">
              <a:defRPr sz="1600">
                <a:solidFill>
                  <a:schemeClr val="tx1"/>
                </a:solidFill>
                <a:latin typeface="Helvetica" panose="020B0604020202020204" pitchFamily="34" charset="0"/>
                <a:ea typeface="MS PGothic" panose="020B0600070205080204" pitchFamily="34" charset="-128"/>
              </a:defRPr>
            </a:lvl4pPr>
            <a:lvl5pPr marL="2057400" indent="-228600" defTabSz="928688">
              <a:defRPr sz="1600">
                <a:solidFill>
                  <a:schemeClr val="tx1"/>
                </a:solidFill>
                <a:latin typeface="Helvetica" panose="020B0604020202020204" pitchFamily="34" charset="0"/>
                <a:ea typeface="MS PGothic" panose="020B0600070205080204" pitchFamily="34" charset="-128"/>
              </a:defRPr>
            </a:lvl5pPr>
            <a:lvl6pPr marL="25146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EF539C29-DF58-4677-B4D9-0CC127174E2D}" type="slidenum">
              <a:rPr lang="en-US" altLang="en-US" sz="1200"/>
              <a:pPr/>
              <a:t>61</a:t>
            </a:fld>
            <a:endParaRPr lang="en-US" altLang="en-US" sz="1200"/>
          </a:p>
        </p:txBody>
      </p:sp>
      <p:sp>
        <p:nvSpPr>
          <p:cNvPr id="133123" name="Rectangle 2"/>
          <p:cNvSpPr>
            <a:spLocks noGrp="1" noRot="1" noChangeAspect="1" noChangeArrowheads="1" noTextEdit="1"/>
          </p:cNvSpPr>
          <p:nvPr>
            <p:ph type="sldImg"/>
          </p:nvPr>
        </p:nvSpPr>
        <p:spPr>
          <a:xfrm>
            <a:off x="1177925" y="695325"/>
            <a:ext cx="4641850" cy="3481388"/>
          </a:xfrm>
          <a:ln/>
        </p:spPr>
      </p:sp>
      <p:sp>
        <p:nvSpPr>
          <p:cNvPr id="133124" name="Rectangle 3"/>
          <p:cNvSpPr>
            <a:spLocks noGrp="1" noChangeArrowheads="1"/>
          </p:cNvSpPr>
          <p:nvPr>
            <p:ph type="body" idx="1"/>
          </p:nvPr>
        </p:nvSpPr>
        <p:spPr>
          <a:xfrm>
            <a:off x="931414" y="4410392"/>
            <a:ext cx="5134874" cy="4177348"/>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extLst>
      <p:ext uri="{BB962C8B-B14F-4D97-AF65-F5344CB8AC3E}">
        <p14:creationId xmlns:p14="http://schemas.microsoft.com/office/powerpoint/2010/main" val="2757139685"/>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4146"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688">
              <a:defRPr sz="1600">
                <a:solidFill>
                  <a:schemeClr val="tx1"/>
                </a:solidFill>
                <a:latin typeface="Helvetica" panose="020B0604020202020204" pitchFamily="34" charset="0"/>
                <a:ea typeface="MS PGothic" panose="020B0600070205080204" pitchFamily="34" charset="-128"/>
              </a:defRPr>
            </a:lvl1pPr>
            <a:lvl2pPr marL="742950" indent="-285750" defTabSz="928688">
              <a:defRPr sz="1600">
                <a:solidFill>
                  <a:schemeClr val="tx1"/>
                </a:solidFill>
                <a:latin typeface="Helvetica" panose="020B0604020202020204" pitchFamily="34" charset="0"/>
                <a:ea typeface="MS PGothic" panose="020B0600070205080204" pitchFamily="34" charset="-128"/>
              </a:defRPr>
            </a:lvl2pPr>
            <a:lvl3pPr marL="1143000" indent="-228600" defTabSz="928688">
              <a:defRPr sz="1600">
                <a:solidFill>
                  <a:schemeClr val="tx1"/>
                </a:solidFill>
                <a:latin typeface="Helvetica" panose="020B0604020202020204" pitchFamily="34" charset="0"/>
                <a:ea typeface="MS PGothic" panose="020B0600070205080204" pitchFamily="34" charset="-128"/>
              </a:defRPr>
            </a:lvl3pPr>
            <a:lvl4pPr marL="1600200" indent="-228600" defTabSz="928688">
              <a:defRPr sz="1600">
                <a:solidFill>
                  <a:schemeClr val="tx1"/>
                </a:solidFill>
                <a:latin typeface="Helvetica" panose="020B0604020202020204" pitchFamily="34" charset="0"/>
                <a:ea typeface="MS PGothic" panose="020B0600070205080204" pitchFamily="34" charset="-128"/>
              </a:defRPr>
            </a:lvl4pPr>
            <a:lvl5pPr marL="2057400" indent="-228600" defTabSz="928688">
              <a:defRPr sz="1600">
                <a:solidFill>
                  <a:schemeClr val="tx1"/>
                </a:solidFill>
                <a:latin typeface="Helvetica" panose="020B0604020202020204" pitchFamily="34" charset="0"/>
                <a:ea typeface="MS PGothic" panose="020B0600070205080204" pitchFamily="34" charset="-128"/>
              </a:defRPr>
            </a:lvl5pPr>
            <a:lvl6pPr marL="25146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962CACEA-96F7-41D9-A638-F44E853DC1F9}" type="slidenum">
              <a:rPr lang="en-US" altLang="en-US" sz="1200"/>
              <a:pPr/>
              <a:t>62</a:t>
            </a:fld>
            <a:endParaRPr lang="en-US" altLang="en-US" sz="1200"/>
          </a:p>
        </p:txBody>
      </p:sp>
      <p:sp>
        <p:nvSpPr>
          <p:cNvPr id="134147" name="Rectangle 2"/>
          <p:cNvSpPr>
            <a:spLocks noGrp="1" noRot="1" noChangeAspect="1" noChangeArrowheads="1" noTextEdit="1"/>
          </p:cNvSpPr>
          <p:nvPr>
            <p:ph type="sldImg"/>
          </p:nvPr>
        </p:nvSpPr>
        <p:spPr>
          <a:xfrm>
            <a:off x="1177925" y="695325"/>
            <a:ext cx="4641850" cy="3481388"/>
          </a:xfrm>
          <a:ln/>
        </p:spPr>
      </p:sp>
      <p:sp>
        <p:nvSpPr>
          <p:cNvPr id="134148" name="Rectangle 3"/>
          <p:cNvSpPr>
            <a:spLocks noGrp="1" noChangeArrowheads="1"/>
          </p:cNvSpPr>
          <p:nvPr>
            <p:ph type="body" idx="1"/>
          </p:nvPr>
        </p:nvSpPr>
        <p:spPr>
          <a:xfrm>
            <a:off x="931414" y="4410392"/>
            <a:ext cx="5134874" cy="4177348"/>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extLst>
      <p:ext uri="{BB962C8B-B14F-4D97-AF65-F5344CB8AC3E}">
        <p14:creationId xmlns:p14="http://schemas.microsoft.com/office/powerpoint/2010/main" val="1435707383"/>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5170"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19163">
              <a:defRPr sz="1600">
                <a:solidFill>
                  <a:schemeClr val="tx1"/>
                </a:solidFill>
                <a:latin typeface="Helvetica" panose="020B0604020202020204" pitchFamily="34" charset="0"/>
                <a:ea typeface="MS PGothic" panose="020B0600070205080204" pitchFamily="34" charset="-128"/>
              </a:defRPr>
            </a:lvl1pPr>
            <a:lvl2pPr marL="742950" indent="-285750" defTabSz="919163">
              <a:defRPr sz="1600">
                <a:solidFill>
                  <a:schemeClr val="tx1"/>
                </a:solidFill>
                <a:latin typeface="Helvetica" panose="020B0604020202020204" pitchFamily="34" charset="0"/>
                <a:ea typeface="MS PGothic" panose="020B0600070205080204" pitchFamily="34" charset="-128"/>
              </a:defRPr>
            </a:lvl2pPr>
            <a:lvl3pPr marL="1143000" indent="-228600" defTabSz="919163">
              <a:defRPr sz="1600">
                <a:solidFill>
                  <a:schemeClr val="tx1"/>
                </a:solidFill>
                <a:latin typeface="Helvetica" panose="020B0604020202020204" pitchFamily="34" charset="0"/>
                <a:ea typeface="MS PGothic" panose="020B0600070205080204" pitchFamily="34" charset="-128"/>
              </a:defRPr>
            </a:lvl3pPr>
            <a:lvl4pPr marL="1600200" indent="-228600" defTabSz="919163">
              <a:defRPr sz="1600">
                <a:solidFill>
                  <a:schemeClr val="tx1"/>
                </a:solidFill>
                <a:latin typeface="Helvetica" panose="020B0604020202020204" pitchFamily="34" charset="0"/>
                <a:ea typeface="MS PGothic" panose="020B0600070205080204" pitchFamily="34" charset="-128"/>
              </a:defRPr>
            </a:lvl4pPr>
            <a:lvl5pPr marL="2057400" indent="-228600" defTabSz="919163">
              <a:defRPr sz="1600">
                <a:solidFill>
                  <a:schemeClr val="tx1"/>
                </a:solidFill>
                <a:latin typeface="Helvetica" panose="020B0604020202020204" pitchFamily="34" charset="0"/>
                <a:ea typeface="MS PGothic" panose="020B0600070205080204" pitchFamily="34" charset="-128"/>
              </a:defRPr>
            </a:lvl5pPr>
            <a:lvl6pPr marL="2514600" indent="-228600" defTabSz="919163"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defTabSz="919163"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defTabSz="919163"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defTabSz="919163"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72678A41-D873-4EFC-8823-1C9E9A3093FE}" type="slidenum">
              <a:rPr lang="en-US" altLang="en-US" sz="1200"/>
              <a:pPr/>
              <a:t>63</a:t>
            </a:fld>
            <a:endParaRPr lang="en-US" altLang="en-US" sz="1200"/>
          </a:p>
        </p:txBody>
      </p:sp>
      <p:sp>
        <p:nvSpPr>
          <p:cNvPr id="135171" name="Rectangle 2"/>
          <p:cNvSpPr>
            <a:spLocks noGrp="1" noRot="1" noChangeAspect="1" noChangeArrowheads="1" noTextEdit="1"/>
          </p:cNvSpPr>
          <p:nvPr>
            <p:ph type="sldImg"/>
          </p:nvPr>
        </p:nvSpPr>
        <p:spPr>
          <a:xfrm>
            <a:off x="1177925" y="695325"/>
            <a:ext cx="4641850" cy="3481388"/>
          </a:xfrm>
          <a:ln/>
        </p:spPr>
      </p:sp>
      <p:sp>
        <p:nvSpPr>
          <p:cNvPr id="135172" name="Rectangle 3"/>
          <p:cNvSpPr>
            <a:spLocks noGrp="1" noChangeArrowheads="1"/>
          </p:cNvSpPr>
          <p:nvPr>
            <p:ph type="body" idx="1"/>
          </p:nvPr>
        </p:nvSpPr>
        <p:spPr>
          <a:xfrm>
            <a:off x="933027" y="4410392"/>
            <a:ext cx="5131647" cy="4177348"/>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extLst>
      <p:ext uri="{BB962C8B-B14F-4D97-AF65-F5344CB8AC3E}">
        <p14:creationId xmlns:p14="http://schemas.microsoft.com/office/powerpoint/2010/main" val="947389450"/>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BFD89D-F431-46AD-4FDA-F974D46B0C5C}"/>
            </a:ext>
          </a:extLst>
        </p:cNvPr>
        <p:cNvGrpSpPr/>
        <p:nvPr/>
      </p:nvGrpSpPr>
      <p:grpSpPr>
        <a:xfrm>
          <a:off x="0" y="0"/>
          <a:ext cx="0" cy="0"/>
          <a:chOff x="0" y="0"/>
          <a:chExt cx="0" cy="0"/>
        </a:xfrm>
      </p:grpSpPr>
      <p:sp>
        <p:nvSpPr>
          <p:cNvPr id="135170" name="Rectangle 7">
            <a:extLst>
              <a:ext uri="{FF2B5EF4-FFF2-40B4-BE49-F238E27FC236}">
                <a16:creationId xmlns:a16="http://schemas.microsoft.com/office/drawing/2014/main" id="{B6877DB2-D8B9-285E-63DB-E63C9B44BD55}"/>
              </a:ext>
            </a:extLst>
          </p:cNvPr>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19163">
              <a:defRPr sz="1600">
                <a:solidFill>
                  <a:schemeClr val="tx1"/>
                </a:solidFill>
                <a:latin typeface="Helvetica" panose="020B0604020202020204" pitchFamily="34" charset="0"/>
                <a:ea typeface="MS PGothic" panose="020B0600070205080204" pitchFamily="34" charset="-128"/>
              </a:defRPr>
            </a:lvl1pPr>
            <a:lvl2pPr marL="742950" indent="-285750" defTabSz="919163">
              <a:defRPr sz="1600">
                <a:solidFill>
                  <a:schemeClr val="tx1"/>
                </a:solidFill>
                <a:latin typeface="Helvetica" panose="020B0604020202020204" pitchFamily="34" charset="0"/>
                <a:ea typeface="MS PGothic" panose="020B0600070205080204" pitchFamily="34" charset="-128"/>
              </a:defRPr>
            </a:lvl2pPr>
            <a:lvl3pPr marL="1143000" indent="-228600" defTabSz="919163">
              <a:defRPr sz="1600">
                <a:solidFill>
                  <a:schemeClr val="tx1"/>
                </a:solidFill>
                <a:latin typeface="Helvetica" panose="020B0604020202020204" pitchFamily="34" charset="0"/>
                <a:ea typeface="MS PGothic" panose="020B0600070205080204" pitchFamily="34" charset="-128"/>
              </a:defRPr>
            </a:lvl3pPr>
            <a:lvl4pPr marL="1600200" indent="-228600" defTabSz="919163">
              <a:defRPr sz="1600">
                <a:solidFill>
                  <a:schemeClr val="tx1"/>
                </a:solidFill>
                <a:latin typeface="Helvetica" panose="020B0604020202020204" pitchFamily="34" charset="0"/>
                <a:ea typeface="MS PGothic" panose="020B0600070205080204" pitchFamily="34" charset="-128"/>
              </a:defRPr>
            </a:lvl4pPr>
            <a:lvl5pPr marL="2057400" indent="-228600" defTabSz="919163">
              <a:defRPr sz="1600">
                <a:solidFill>
                  <a:schemeClr val="tx1"/>
                </a:solidFill>
                <a:latin typeface="Helvetica" panose="020B0604020202020204" pitchFamily="34" charset="0"/>
                <a:ea typeface="MS PGothic" panose="020B0600070205080204" pitchFamily="34" charset="-128"/>
              </a:defRPr>
            </a:lvl5pPr>
            <a:lvl6pPr marL="2514600" indent="-228600" defTabSz="919163"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defTabSz="919163"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defTabSz="919163"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defTabSz="919163"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72678A41-D873-4EFC-8823-1C9E9A3093FE}" type="slidenum">
              <a:rPr lang="en-US" altLang="en-US" sz="1200"/>
              <a:pPr/>
              <a:t>64</a:t>
            </a:fld>
            <a:endParaRPr lang="en-US" altLang="en-US" sz="1200"/>
          </a:p>
        </p:txBody>
      </p:sp>
      <p:sp>
        <p:nvSpPr>
          <p:cNvPr id="135171" name="Rectangle 2">
            <a:extLst>
              <a:ext uri="{FF2B5EF4-FFF2-40B4-BE49-F238E27FC236}">
                <a16:creationId xmlns:a16="http://schemas.microsoft.com/office/drawing/2014/main" id="{E19EBD42-C26E-F90F-3009-0FC906ECFDAC}"/>
              </a:ext>
            </a:extLst>
          </p:cNvPr>
          <p:cNvSpPr>
            <a:spLocks noGrp="1" noRot="1" noChangeAspect="1" noChangeArrowheads="1" noTextEdit="1"/>
          </p:cNvSpPr>
          <p:nvPr>
            <p:ph type="sldImg"/>
          </p:nvPr>
        </p:nvSpPr>
        <p:spPr>
          <a:xfrm>
            <a:off x="1177925" y="695325"/>
            <a:ext cx="4641850" cy="3481388"/>
          </a:xfrm>
          <a:ln/>
        </p:spPr>
      </p:sp>
      <p:sp>
        <p:nvSpPr>
          <p:cNvPr id="135172" name="Rectangle 3">
            <a:extLst>
              <a:ext uri="{FF2B5EF4-FFF2-40B4-BE49-F238E27FC236}">
                <a16:creationId xmlns:a16="http://schemas.microsoft.com/office/drawing/2014/main" id="{42099B97-1832-A905-01AF-A8DE1A9078B1}"/>
              </a:ext>
            </a:extLst>
          </p:cNvPr>
          <p:cNvSpPr>
            <a:spLocks noGrp="1" noChangeArrowheads="1"/>
          </p:cNvSpPr>
          <p:nvPr>
            <p:ph type="body" idx="1"/>
          </p:nvPr>
        </p:nvSpPr>
        <p:spPr>
          <a:xfrm>
            <a:off x="933027" y="4410392"/>
            <a:ext cx="5131647" cy="4177348"/>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extLst>
      <p:ext uri="{BB962C8B-B14F-4D97-AF65-F5344CB8AC3E}">
        <p14:creationId xmlns:p14="http://schemas.microsoft.com/office/powerpoint/2010/main" val="1216038526"/>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2DC5A6-3124-6CFC-F17D-874216FFD17A}"/>
            </a:ext>
          </a:extLst>
        </p:cNvPr>
        <p:cNvGrpSpPr/>
        <p:nvPr/>
      </p:nvGrpSpPr>
      <p:grpSpPr>
        <a:xfrm>
          <a:off x="0" y="0"/>
          <a:ext cx="0" cy="0"/>
          <a:chOff x="0" y="0"/>
          <a:chExt cx="0" cy="0"/>
        </a:xfrm>
      </p:grpSpPr>
      <p:sp>
        <p:nvSpPr>
          <p:cNvPr id="135170" name="Rectangle 7">
            <a:extLst>
              <a:ext uri="{FF2B5EF4-FFF2-40B4-BE49-F238E27FC236}">
                <a16:creationId xmlns:a16="http://schemas.microsoft.com/office/drawing/2014/main" id="{2A2EA257-3012-4FA6-E9C4-92232446D22F}"/>
              </a:ext>
            </a:extLst>
          </p:cNvPr>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19163">
              <a:defRPr sz="1600">
                <a:solidFill>
                  <a:schemeClr val="tx1"/>
                </a:solidFill>
                <a:latin typeface="Helvetica" panose="020B0604020202020204" pitchFamily="34" charset="0"/>
                <a:ea typeface="MS PGothic" panose="020B0600070205080204" pitchFamily="34" charset="-128"/>
              </a:defRPr>
            </a:lvl1pPr>
            <a:lvl2pPr marL="742950" indent="-285750" defTabSz="919163">
              <a:defRPr sz="1600">
                <a:solidFill>
                  <a:schemeClr val="tx1"/>
                </a:solidFill>
                <a:latin typeface="Helvetica" panose="020B0604020202020204" pitchFamily="34" charset="0"/>
                <a:ea typeface="MS PGothic" panose="020B0600070205080204" pitchFamily="34" charset="-128"/>
              </a:defRPr>
            </a:lvl2pPr>
            <a:lvl3pPr marL="1143000" indent="-228600" defTabSz="919163">
              <a:defRPr sz="1600">
                <a:solidFill>
                  <a:schemeClr val="tx1"/>
                </a:solidFill>
                <a:latin typeface="Helvetica" panose="020B0604020202020204" pitchFamily="34" charset="0"/>
                <a:ea typeface="MS PGothic" panose="020B0600070205080204" pitchFamily="34" charset="-128"/>
              </a:defRPr>
            </a:lvl3pPr>
            <a:lvl4pPr marL="1600200" indent="-228600" defTabSz="919163">
              <a:defRPr sz="1600">
                <a:solidFill>
                  <a:schemeClr val="tx1"/>
                </a:solidFill>
                <a:latin typeface="Helvetica" panose="020B0604020202020204" pitchFamily="34" charset="0"/>
                <a:ea typeface="MS PGothic" panose="020B0600070205080204" pitchFamily="34" charset="-128"/>
              </a:defRPr>
            </a:lvl4pPr>
            <a:lvl5pPr marL="2057400" indent="-228600" defTabSz="919163">
              <a:defRPr sz="1600">
                <a:solidFill>
                  <a:schemeClr val="tx1"/>
                </a:solidFill>
                <a:latin typeface="Helvetica" panose="020B0604020202020204" pitchFamily="34" charset="0"/>
                <a:ea typeface="MS PGothic" panose="020B0600070205080204" pitchFamily="34" charset="-128"/>
              </a:defRPr>
            </a:lvl5pPr>
            <a:lvl6pPr marL="2514600" indent="-228600" defTabSz="919163"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defTabSz="919163"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defTabSz="919163"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defTabSz="919163"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72678A41-D873-4EFC-8823-1C9E9A3093FE}" type="slidenum">
              <a:rPr lang="en-US" altLang="en-US" sz="1200"/>
              <a:pPr/>
              <a:t>65</a:t>
            </a:fld>
            <a:endParaRPr lang="en-US" altLang="en-US" sz="1200"/>
          </a:p>
        </p:txBody>
      </p:sp>
      <p:sp>
        <p:nvSpPr>
          <p:cNvPr id="135171" name="Rectangle 2">
            <a:extLst>
              <a:ext uri="{FF2B5EF4-FFF2-40B4-BE49-F238E27FC236}">
                <a16:creationId xmlns:a16="http://schemas.microsoft.com/office/drawing/2014/main" id="{F17B7A0B-ACB1-7D5C-855A-C1152CF98A2C}"/>
              </a:ext>
            </a:extLst>
          </p:cNvPr>
          <p:cNvSpPr>
            <a:spLocks noGrp="1" noRot="1" noChangeAspect="1" noChangeArrowheads="1" noTextEdit="1"/>
          </p:cNvSpPr>
          <p:nvPr>
            <p:ph type="sldImg"/>
          </p:nvPr>
        </p:nvSpPr>
        <p:spPr>
          <a:xfrm>
            <a:off x="1177925" y="695325"/>
            <a:ext cx="4641850" cy="3481388"/>
          </a:xfrm>
          <a:ln/>
        </p:spPr>
      </p:sp>
      <p:sp>
        <p:nvSpPr>
          <p:cNvPr id="135172" name="Rectangle 3">
            <a:extLst>
              <a:ext uri="{FF2B5EF4-FFF2-40B4-BE49-F238E27FC236}">
                <a16:creationId xmlns:a16="http://schemas.microsoft.com/office/drawing/2014/main" id="{797DB54D-F1AD-7C9E-0B48-1F7C88D01BB1}"/>
              </a:ext>
            </a:extLst>
          </p:cNvPr>
          <p:cNvSpPr>
            <a:spLocks noGrp="1" noChangeArrowheads="1"/>
          </p:cNvSpPr>
          <p:nvPr>
            <p:ph type="body" idx="1"/>
          </p:nvPr>
        </p:nvSpPr>
        <p:spPr>
          <a:xfrm>
            <a:off x="933027" y="4410392"/>
            <a:ext cx="5131647" cy="4177348"/>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extLst>
      <p:ext uri="{BB962C8B-B14F-4D97-AF65-F5344CB8AC3E}">
        <p14:creationId xmlns:p14="http://schemas.microsoft.com/office/powerpoint/2010/main" val="3868707213"/>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BDD069-0315-1880-80E0-4E7351ACB079}"/>
            </a:ext>
          </a:extLst>
        </p:cNvPr>
        <p:cNvGrpSpPr/>
        <p:nvPr/>
      </p:nvGrpSpPr>
      <p:grpSpPr>
        <a:xfrm>
          <a:off x="0" y="0"/>
          <a:ext cx="0" cy="0"/>
          <a:chOff x="0" y="0"/>
          <a:chExt cx="0" cy="0"/>
        </a:xfrm>
      </p:grpSpPr>
      <p:sp>
        <p:nvSpPr>
          <p:cNvPr id="135170" name="Rectangle 7">
            <a:extLst>
              <a:ext uri="{FF2B5EF4-FFF2-40B4-BE49-F238E27FC236}">
                <a16:creationId xmlns:a16="http://schemas.microsoft.com/office/drawing/2014/main" id="{99B07A27-A039-8C20-B890-BFFD35D28E53}"/>
              </a:ext>
            </a:extLst>
          </p:cNvPr>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19163">
              <a:defRPr sz="1600">
                <a:solidFill>
                  <a:schemeClr val="tx1"/>
                </a:solidFill>
                <a:latin typeface="Helvetica" panose="020B0604020202020204" pitchFamily="34" charset="0"/>
                <a:ea typeface="MS PGothic" panose="020B0600070205080204" pitchFamily="34" charset="-128"/>
              </a:defRPr>
            </a:lvl1pPr>
            <a:lvl2pPr marL="742950" indent="-285750" defTabSz="919163">
              <a:defRPr sz="1600">
                <a:solidFill>
                  <a:schemeClr val="tx1"/>
                </a:solidFill>
                <a:latin typeface="Helvetica" panose="020B0604020202020204" pitchFamily="34" charset="0"/>
                <a:ea typeface="MS PGothic" panose="020B0600070205080204" pitchFamily="34" charset="-128"/>
              </a:defRPr>
            </a:lvl2pPr>
            <a:lvl3pPr marL="1143000" indent="-228600" defTabSz="919163">
              <a:defRPr sz="1600">
                <a:solidFill>
                  <a:schemeClr val="tx1"/>
                </a:solidFill>
                <a:latin typeface="Helvetica" panose="020B0604020202020204" pitchFamily="34" charset="0"/>
                <a:ea typeface="MS PGothic" panose="020B0600070205080204" pitchFamily="34" charset="-128"/>
              </a:defRPr>
            </a:lvl3pPr>
            <a:lvl4pPr marL="1600200" indent="-228600" defTabSz="919163">
              <a:defRPr sz="1600">
                <a:solidFill>
                  <a:schemeClr val="tx1"/>
                </a:solidFill>
                <a:latin typeface="Helvetica" panose="020B0604020202020204" pitchFamily="34" charset="0"/>
                <a:ea typeface="MS PGothic" panose="020B0600070205080204" pitchFamily="34" charset="-128"/>
              </a:defRPr>
            </a:lvl4pPr>
            <a:lvl5pPr marL="2057400" indent="-228600" defTabSz="919163">
              <a:defRPr sz="1600">
                <a:solidFill>
                  <a:schemeClr val="tx1"/>
                </a:solidFill>
                <a:latin typeface="Helvetica" panose="020B0604020202020204" pitchFamily="34" charset="0"/>
                <a:ea typeface="MS PGothic" panose="020B0600070205080204" pitchFamily="34" charset="-128"/>
              </a:defRPr>
            </a:lvl5pPr>
            <a:lvl6pPr marL="2514600" indent="-228600" defTabSz="919163"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defTabSz="919163"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defTabSz="919163"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defTabSz="919163"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72678A41-D873-4EFC-8823-1C9E9A3093FE}" type="slidenum">
              <a:rPr lang="en-US" altLang="en-US" sz="1200"/>
              <a:pPr/>
              <a:t>66</a:t>
            </a:fld>
            <a:endParaRPr lang="en-US" altLang="en-US" sz="1200"/>
          </a:p>
        </p:txBody>
      </p:sp>
      <p:sp>
        <p:nvSpPr>
          <p:cNvPr id="135171" name="Rectangle 2">
            <a:extLst>
              <a:ext uri="{FF2B5EF4-FFF2-40B4-BE49-F238E27FC236}">
                <a16:creationId xmlns:a16="http://schemas.microsoft.com/office/drawing/2014/main" id="{F2E4507A-4B9B-03EF-E067-6D368809C4E8}"/>
              </a:ext>
            </a:extLst>
          </p:cNvPr>
          <p:cNvSpPr>
            <a:spLocks noGrp="1" noRot="1" noChangeAspect="1" noChangeArrowheads="1" noTextEdit="1"/>
          </p:cNvSpPr>
          <p:nvPr>
            <p:ph type="sldImg"/>
          </p:nvPr>
        </p:nvSpPr>
        <p:spPr>
          <a:xfrm>
            <a:off x="1177925" y="695325"/>
            <a:ext cx="4641850" cy="3481388"/>
          </a:xfrm>
          <a:ln/>
        </p:spPr>
      </p:sp>
      <p:sp>
        <p:nvSpPr>
          <p:cNvPr id="135172" name="Rectangle 3">
            <a:extLst>
              <a:ext uri="{FF2B5EF4-FFF2-40B4-BE49-F238E27FC236}">
                <a16:creationId xmlns:a16="http://schemas.microsoft.com/office/drawing/2014/main" id="{FDDF8042-8CEC-43F0-3F6D-831ABEEDC39A}"/>
              </a:ext>
            </a:extLst>
          </p:cNvPr>
          <p:cNvSpPr>
            <a:spLocks noGrp="1" noChangeArrowheads="1"/>
          </p:cNvSpPr>
          <p:nvPr>
            <p:ph type="body" idx="1"/>
          </p:nvPr>
        </p:nvSpPr>
        <p:spPr>
          <a:xfrm>
            <a:off x="933027" y="4410392"/>
            <a:ext cx="5131647" cy="4177348"/>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extLst>
      <p:ext uri="{BB962C8B-B14F-4D97-AF65-F5344CB8AC3E}">
        <p14:creationId xmlns:p14="http://schemas.microsoft.com/office/powerpoint/2010/main" val="2357054265"/>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6194"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688">
              <a:defRPr sz="1600">
                <a:solidFill>
                  <a:schemeClr val="tx1"/>
                </a:solidFill>
                <a:latin typeface="Helvetica" panose="020B0604020202020204" pitchFamily="34" charset="0"/>
                <a:ea typeface="MS PGothic" panose="020B0600070205080204" pitchFamily="34" charset="-128"/>
              </a:defRPr>
            </a:lvl1pPr>
            <a:lvl2pPr marL="742950" indent="-285750" defTabSz="928688">
              <a:defRPr sz="1600">
                <a:solidFill>
                  <a:schemeClr val="tx1"/>
                </a:solidFill>
                <a:latin typeface="Helvetica" panose="020B0604020202020204" pitchFamily="34" charset="0"/>
                <a:ea typeface="MS PGothic" panose="020B0600070205080204" pitchFamily="34" charset="-128"/>
              </a:defRPr>
            </a:lvl2pPr>
            <a:lvl3pPr marL="1143000" indent="-228600" defTabSz="928688">
              <a:defRPr sz="1600">
                <a:solidFill>
                  <a:schemeClr val="tx1"/>
                </a:solidFill>
                <a:latin typeface="Helvetica" panose="020B0604020202020204" pitchFamily="34" charset="0"/>
                <a:ea typeface="MS PGothic" panose="020B0600070205080204" pitchFamily="34" charset="-128"/>
              </a:defRPr>
            </a:lvl3pPr>
            <a:lvl4pPr marL="1600200" indent="-228600" defTabSz="928688">
              <a:defRPr sz="1600">
                <a:solidFill>
                  <a:schemeClr val="tx1"/>
                </a:solidFill>
                <a:latin typeface="Helvetica" panose="020B0604020202020204" pitchFamily="34" charset="0"/>
                <a:ea typeface="MS PGothic" panose="020B0600070205080204" pitchFamily="34" charset="-128"/>
              </a:defRPr>
            </a:lvl4pPr>
            <a:lvl5pPr marL="2057400" indent="-228600" defTabSz="928688">
              <a:defRPr sz="1600">
                <a:solidFill>
                  <a:schemeClr val="tx1"/>
                </a:solidFill>
                <a:latin typeface="Helvetica" panose="020B0604020202020204" pitchFamily="34" charset="0"/>
                <a:ea typeface="MS PGothic" panose="020B0600070205080204" pitchFamily="34" charset="-128"/>
              </a:defRPr>
            </a:lvl5pPr>
            <a:lvl6pPr marL="25146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7EA18F2D-D4E4-4C99-9424-81DA77918E26}" type="slidenum">
              <a:rPr lang="en-US" altLang="en-US" sz="1200"/>
              <a:pPr/>
              <a:t>67</a:t>
            </a:fld>
            <a:endParaRPr lang="en-US" altLang="en-US" sz="1200"/>
          </a:p>
        </p:txBody>
      </p:sp>
      <p:sp>
        <p:nvSpPr>
          <p:cNvPr id="136195" name="Rectangle 2"/>
          <p:cNvSpPr>
            <a:spLocks noGrp="1" noRot="1" noChangeAspect="1" noChangeArrowheads="1" noTextEdit="1"/>
          </p:cNvSpPr>
          <p:nvPr>
            <p:ph type="sldImg"/>
          </p:nvPr>
        </p:nvSpPr>
        <p:spPr>
          <a:xfrm>
            <a:off x="1177925" y="695325"/>
            <a:ext cx="4641850" cy="3481388"/>
          </a:xfrm>
          <a:ln/>
        </p:spPr>
      </p:sp>
      <p:sp>
        <p:nvSpPr>
          <p:cNvPr id="136196" name="Rectangle 3"/>
          <p:cNvSpPr>
            <a:spLocks noGrp="1" noChangeArrowheads="1"/>
          </p:cNvSpPr>
          <p:nvPr>
            <p:ph type="body" idx="1"/>
          </p:nvPr>
        </p:nvSpPr>
        <p:spPr>
          <a:xfrm>
            <a:off x="931414" y="4410392"/>
            <a:ext cx="5134874" cy="4177348"/>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extLst>
      <p:ext uri="{BB962C8B-B14F-4D97-AF65-F5344CB8AC3E}">
        <p14:creationId xmlns:p14="http://schemas.microsoft.com/office/powerpoint/2010/main" val="842990125"/>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7218"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688">
              <a:defRPr sz="1600">
                <a:solidFill>
                  <a:schemeClr val="tx1"/>
                </a:solidFill>
                <a:latin typeface="Helvetica" panose="020B0604020202020204" pitchFamily="34" charset="0"/>
                <a:ea typeface="MS PGothic" panose="020B0600070205080204" pitchFamily="34" charset="-128"/>
              </a:defRPr>
            </a:lvl1pPr>
            <a:lvl2pPr marL="742950" indent="-285750" defTabSz="928688">
              <a:defRPr sz="1600">
                <a:solidFill>
                  <a:schemeClr val="tx1"/>
                </a:solidFill>
                <a:latin typeface="Helvetica" panose="020B0604020202020204" pitchFamily="34" charset="0"/>
                <a:ea typeface="MS PGothic" panose="020B0600070205080204" pitchFamily="34" charset="-128"/>
              </a:defRPr>
            </a:lvl2pPr>
            <a:lvl3pPr marL="1143000" indent="-228600" defTabSz="928688">
              <a:defRPr sz="1600">
                <a:solidFill>
                  <a:schemeClr val="tx1"/>
                </a:solidFill>
                <a:latin typeface="Helvetica" panose="020B0604020202020204" pitchFamily="34" charset="0"/>
                <a:ea typeface="MS PGothic" panose="020B0600070205080204" pitchFamily="34" charset="-128"/>
              </a:defRPr>
            </a:lvl3pPr>
            <a:lvl4pPr marL="1600200" indent="-228600" defTabSz="928688">
              <a:defRPr sz="1600">
                <a:solidFill>
                  <a:schemeClr val="tx1"/>
                </a:solidFill>
                <a:latin typeface="Helvetica" panose="020B0604020202020204" pitchFamily="34" charset="0"/>
                <a:ea typeface="MS PGothic" panose="020B0600070205080204" pitchFamily="34" charset="-128"/>
              </a:defRPr>
            </a:lvl4pPr>
            <a:lvl5pPr marL="2057400" indent="-228600" defTabSz="928688">
              <a:defRPr sz="1600">
                <a:solidFill>
                  <a:schemeClr val="tx1"/>
                </a:solidFill>
                <a:latin typeface="Helvetica" panose="020B0604020202020204" pitchFamily="34" charset="0"/>
                <a:ea typeface="MS PGothic" panose="020B0600070205080204" pitchFamily="34" charset="-128"/>
              </a:defRPr>
            </a:lvl5pPr>
            <a:lvl6pPr marL="25146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36443853-1DD4-4877-B587-65D98B968857}" type="slidenum">
              <a:rPr lang="en-US" altLang="en-US" sz="1200"/>
              <a:pPr/>
              <a:t>68</a:t>
            </a:fld>
            <a:endParaRPr lang="en-US" altLang="en-US" sz="1200"/>
          </a:p>
        </p:txBody>
      </p:sp>
      <p:sp>
        <p:nvSpPr>
          <p:cNvPr id="137219" name="Rectangle 2"/>
          <p:cNvSpPr>
            <a:spLocks noGrp="1" noRot="1" noChangeAspect="1" noChangeArrowheads="1" noTextEdit="1"/>
          </p:cNvSpPr>
          <p:nvPr>
            <p:ph type="sldImg"/>
          </p:nvPr>
        </p:nvSpPr>
        <p:spPr>
          <a:xfrm>
            <a:off x="1177925" y="695325"/>
            <a:ext cx="4641850" cy="3481388"/>
          </a:xfrm>
          <a:ln/>
        </p:spPr>
      </p:sp>
      <p:sp>
        <p:nvSpPr>
          <p:cNvPr id="137220" name="Rectangle 3"/>
          <p:cNvSpPr>
            <a:spLocks noGrp="1" noChangeArrowheads="1"/>
          </p:cNvSpPr>
          <p:nvPr>
            <p:ph type="body" idx="1"/>
          </p:nvPr>
        </p:nvSpPr>
        <p:spPr>
          <a:xfrm>
            <a:off x="931414" y="4410392"/>
            <a:ext cx="5134874" cy="4177348"/>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extLst>
      <p:ext uri="{BB962C8B-B14F-4D97-AF65-F5344CB8AC3E}">
        <p14:creationId xmlns:p14="http://schemas.microsoft.com/office/powerpoint/2010/main" val="3560100819"/>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8242"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688">
              <a:defRPr sz="1600">
                <a:solidFill>
                  <a:schemeClr val="tx1"/>
                </a:solidFill>
                <a:latin typeface="Helvetica" panose="020B0604020202020204" pitchFamily="34" charset="0"/>
                <a:ea typeface="MS PGothic" panose="020B0600070205080204" pitchFamily="34" charset="-128"/>
              </a:defRPr>
            </a:lvl1pPr>
            <a:lvl2pPr marL="742950" indent="-285750" defTabSz="928688">
              <a:defRPr sz="1600">
                <a:solidFill>
                  <a:schemeClr val="tx1"/>
                </a:solidFill>
                <a:latin typeface="Helvetica" panose="020B0604020202020204" pitchFamily="34" charset="0"/>
                <a:ea typeface="MS PGothic" panose="020B0600070205080204" pitchFamily="34" charset="-128"/>
              </a:defRPr>
            </a:lvl2pPr>
            <a:lvl3pPr marL="1143000" indent="-228600" defTabSz="928688">
              <a:defRPr sz="1600">
                <a:solidFill>
                  <a:schemeClr val="tx1"/>
                </a:solidFill>
                <a:latin typeface="Helvetica" panose="020B0604020202020204" pitchFamily="34" charset="0"/>
                <a:ea typeface="MS PGothic" panose="020B0600070205080204" pitchFamily="34" charset="-128"/>
              </a:defRPr>
            </a:lvl3pPr>
            <a:lvl4pPr marL="1600200" indent="-228600" defTabSz="928688">
              <a:defRPr sz="1600">
                <a:solidFill>
                  <a:schemeClr val="tx1"/>
                </a:solidFill>
                <a:latin typeface="Helvetica" panose="020B0604020202020204" pitchFamily="34" charset="0"/>
                <a:ea typeface="MS PGothic" panose="020B0600070205080204" pitchFamily="34" charset="-128"/>
              </a:defRPr>
            </a:lvl4pPr>
            <a:lvl5pPr marL="2057400" indent="-228600" defTabSz="928688">
              <a:defRPr sz="1600">
                <a:solidFill>
                  <a:schemeClr val="tx1"/>
                </a:solidFill>
                <a:latin typeface="Helvetica" panose="020B0604020202020204" pitchFamily="34" charset="0"/>
                <a:ea typeface="MS PGothic" panose="020B0600070205080204" pitchFamily="34" charset="-128"/>
              </a:defRPr>
            </a:lvl5pPr>
            <a:lvl6pPr marL="25146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1A8B56BC-BF26-4697-801E-84F2929930E3}" type="slidenum">
              <a:rPr lang="en-US" altLang="en-US" sz="1200"/>
              <a:pPr/>
              <a:t>69</a:t>
            </a:fld>
            <a:endParaRPr lang="en-US" altLang="en-US" sz="1200"/>
          </a:p>
        </p:txBody>
      </p:sp>
      <p:sp>
        <p:nvSpPr>
          <p:cNvPr id="138243" name="Rectangle 2"/>
          <p:cNvSpPr>
            <a:spLocks noGrp="1" noRot="1" noChangeAspect="1" noChangeArrowheads="1" noTextEdit="1"/>
          </p:cNvSpPr>
          <p:nvPr>
            <p:ph type="sldImg"/>
          </p:nvPr>
        </p:nvSpPr>
        <p:spPr>
          <a:xfrm>
            <a:off x="1177925" y="695325"/>
            <a:ext cx="4641850" cy="3481388"/>
          </a:xfrm>
          <a:ln/>
        </p:spPr>
      </p:sp>
      <p:sp>
        <p:nvSpPr>
          <p:cNvPr id="138244" name="Rectangle 3"/>
          <p:cNvSpPr>
            <a:spLocks noGrp="1" noChangeArrowheads="1"/>
          </p:cNvSpPr>
          <p:nvPr>
            <p:ph type="body" idx="1"/>
          </p:nvPr>
        </p:nvSpPr>
        <p:spPr>
          <a:xfrm>
            <a:off x="931414" y="4410392"/>
            <a:ext cx="5134874" cy="4177348"/>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extLst>
      <p:ext uri="{BB962C8B-B14F-4D97-AF65-F5344CB8AC3E}">
        <p14:creationId xmlns:p14="http://schemas.microsoft.com/office/powerpoint/2010/main" val="2212848275"/>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9266"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19163">
              <a:defRPr sz="1600">
                <a:solidFill>
                  <a:schemeClr val="tx1"/>
                </a:solidFill>
                <a:latin typeface="Helvetica" panose="020B0604020202020204" pitchFamily="34" charset="0"/>
                <a:ea typeface="MS PGothic" panose="020B0600070205080204" pitchFamily="34" charset="-128"/>
              </a:defRPr>
            </a:lvl1pPr>
            <a:lvl2pPr marL="742950" indent="-285750" defTabSz="919163">
              <a:defRPr sz="1600">
                <a:solidFill>
                  <a:schemeClr val="tx1"/>
                </a:solidFill>
                <a:latin typeface="Helvetica" panose="020B0604020202020204" pitchFamily="34" charset="0"/>
                <a:ea typeface="MS PGothic" panose="020B0600070205080204" pitchFamily="34" charset="-128"/>
              </a:defRPr>
            </a:lvl2pPr>
            <a:lvl3pPr marL="1143000" indent="-228600" defTabSz="919163">
              <a:defRPr sz="1600">
                <a:solidFill>
                  <a:schemeClr val="tx1"/>
                </a:solidFill>
                <a:latin typeface="Helvetica" panose="020B0604020202020204" pitchFamily="34" charset="0"/>
                <a:ea typeface="MS PGothic" panose="020B0600070205080204" pitchFamily="34" charset="-128"/>
              </a:defRPr>
            </a:lvl3pPr>
            <a:lvl4pPr marL="1600200" indent="-228600" defTabSz="919163">
              <a:defRPr sz="1600">
                <a:solidFill>
                  <a:schemeClr val="tx1"/>
                </a:solidFill>
                <a:latin typeface="Helvetica" panose="020B0604020202020204" pitchFamily="34" charset="0"/>
                <a:ea typeface="MS PGothic" panose="020B0600070205080204" pitchFamily="34" charset="-128"/>
              </a:defRPr>
            </a:lvl4pPr>
            <a:lvl5pPr marL="2057400" indent="-228600" defTabSz="919163">
              <a:defRPr sz="1600">
                <a:solidFill>
                  <a:schemeClr val="tx1"/>
                </a:solidFill>
                <a:latin typeface="Helvetica" panose="020B0604020202020204" pitchFamily="34" charset="0"/>
                <a:ea typeface="MS PGothic" panose="020B0600070205080204" pitchFamily="34" charset="-128"/>
              </a:defRPr>
            </a:lvl5pPr>
            <a:lvl6pPr marL="2514600" indent="-228600" defTabSz="919163"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defTabSz="919163"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defTabSz="919163"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defTabSz="919163"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E2A4DCD6-4990-4088-8EFB-FAD2F8B84679}" type="slidenum">
              <a:rPr lang="en-US" altLang="en-US" sz="1200"/>
              <a:pPr/>
              <a:t>70</a:t>
            </a:fld>
            <a:endParaRPr lang="en-US" altLang="en-US" sz="1200"/>
          </a:p>
        </p:txBody>
      </p:sp>
      <p:sp>
        <p:nvSpPr>
          <p:cNvPr id="139267" name="Rectangle 2"/>
          <p:cNvSpPr>
            <a:spLocks noGrp="1" noRot="1" noChangeAspect="1" noChangeArrowheads="1" noTextEdit="1"/>
          </p:cNvSpPr>
          <p:nvPr>
            <p:ph type="sldImg"/>
          </p:nvPr>
        </p:nvSpPr>
        <p:spPr>
          <a:xfrm>
            <a:off x="1177925" y="695325"/>
            <a:ext cx="4641850" cy="3481388"/>
          </a:xfrm>
          <a:ln/>
        </p:spPr>
      </p:sp>
      <p:sp>
        <p:nvSpPr>
          <p:cNvPr id="139268" name="Rectangle 3"/>
          <p:cNvSpPr>
            <a:spLocks noGrp="1" noChangeArrowheads="1"/>
          </p:cNvSpPr>
          <p:nvPr>
            <p:ph type="body" idx="1"/>
          </p:nvPr>
        </p:nvSpPr>
        <p:spPr>
          <a:xfrm>
            <a:off x="933027" y="4410392"/>
            <a:ext cx="5131647" cy="4177348"/>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extLst>
      <p:ext uri="{BB962C8B-B14F-4D97-AF65-F5344CB8AC3E}">
        <p14:creationId xmlns:p14="http://schemas.microsoft.com/office/powerpoint/2010/main" val="2891902926"/>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0290"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688">
              <a:defRPr sz="1600">
                <a:solidFill>
                  <a:schemeClr val="tx1"/>
                </a:solidFill>
                <a:latin typeface="Helvetica" panose="020B0604020202020204" pitchFamily="34" charset="0"/>
                <a:ea typeface="MS PGothic" panose="020B0600070205080204" pitchFamily="34" charset="-128"/>
              </a:defRPr>
            </a:lvl1pPr>
            <a:lvl2pPr marL="742950" indent="-285750" defTabSz="928688">
              <a:defRPr sz="1600">
                <a:solidFill>
                  <a:schemeClr val="tx1"/>
                </a:solidFill>
                <a:latin typeface="Helvetica" panose="020B0604020202020204" pitchFamily="34" charset="0"/>
                <a:ea typeface="MS PGothic" panose="020B0600070205080204" pitchFamily="34" charset="-128"/>
              </a:defRPr>
            </a:lvl2pPr>
            <a:lvl3pPr marL="1143000" indent="-228600" defTabSz="928688">
              <a:defRPr sz="1600">
                <a:solidFill>
                  <a:schemeClr val="tx1"/>
                </a:solidFill>
                <a:latin typeface="Helvetica" panose="020B0604020202020204" pitchFamily="34" charset="0"/>
                <a:ea typeface="MS PGothic" panose="020B0600070205080204" pitchFamily="34" charset="-128"/>
              </a:defRPr>
            </a:lvl3pPr>
            <a:lvl4pPr marL="1600200" indent="-228600" defTabSz="928688">
              <a:defRPr sz="1600">
                <a:solidFill>
                  <a:schemeClr val="tx1"/>
                </a:solidFill>
                <a:latin typeface="Helvetica" panose="020B0604020202020204" pitchFamily="34" charset="0"/>
                <a:ea typeface="MS PGothic" panose="020B0600070205080204" pitchFamily="34" charset="-128"/>
              </a:defRPr>
            </a:lvl4pPr>
            <a:lvl5pPr marL="2057400" indent="-228600" defTabSz="928688">
              <a:defRPr sz="1600">
                <a:solidFill>
                  <a:schemeClr val="tx1"/>
                </a:solidFill>
                <a:latin typeface="Helvetica" panose="020B0604020202020204" pitchFamily="34" charset="0"/>
                <a:ea typeface="MS PGothic" panose="020B0600070205080204" pitchFamily="34" charset="-128"/>
              </a:defRPr>
            </a:lvl5pPr>
            <a:lvl6pPr marL="25146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3FB97D8D-6A75-4AFA-8548-85396391880A}" type="slidenum">
              <a:rPr lang="en-US" altLang="en-US" sz="1200"/>
              <a:pPr/>
              <a:t>71</a:t>
            </a:fld>
            <a:endParaRPr lang="en-US" altLang="en-US" sz="1200"/>
          </a:p>
        </p:txBody>
      </p:sp>
      <p:sp>
        <p:nvSpPr>
          <p:cNvPr id="140291" name="Rectangle 2"/>
          <p:cNvSpPr>
            <a:spLocks noGrp="1" noRot="1" noChangeAspect="1" noChangeArrowheads="1" noTextEdit="1"/>
          </p:cNvSpPr>
          <p:nvPr>
            <p:ph type="sldImg"/>
          </p:nvPr>
        </p:nvSpPr>
        <p:spPr>
          <a:xfrm>
            <a:off x="1177925" y="695325"/>
            <a:ext cx="4641850" cy="3481388"/>
          </a:xfrm>
          <a:ln/>
        </p:spPr>
      </p:sp>
      <p:sp>
        <p:nvSpPr>
          <p:cNvPr id="140292" name="Rectangle 3"/>
          <p:cNvSpPr>
            <a:spLocks noGrp="1" noChangeArrowheads="1"/>
          </p:cNvSpPr>
          <p:nvPr>
            <p:ph type="body" idx="1"/>
          </p:nvPr>
        </p:nvSpPr>
        <p:spPr>
          <a:xfrm>
            <a:off x="931414" y="4410392"/>
            <a:ext cx="5134874" cy="4177348"/>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extLst>
      <p:ext uri="{BB962C8B-B14F-4D97-AF65-F5344CB8AC3E}">
        <p14:creationId xmlns:p14="http://schemas.microsoft.com/office/powerpoint/2010/main" val="1899969763"/>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1314"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688">
              <a:defRPr sz="1600">
                <a:solidFill>
                  <a:schemeClr val="tx1"/>
                </a:solidFill>
                <a:latin typeface="Helvetica" panose="020B0604020202020204" pitchFamily="34" charset="0"/>
                <a:ea typeface="MS PGothic" panose="020B0600070205080204" pitchFamily="34" charset="-128"/>
              </a:defRPr>
            </a:lvl1pPr>
            <a:lvl2pPr marL="742950" indent="-285750" defTabSz="928688">
              <a:defRPr sz="1600">
                <a:solidFill>
                  <a:schemeClr val="tx1"/>
                </a:solidFill>
                <a:latin typeface="Helvetica" panose="020B0604020202020204" pitchFamily="34" charset="0"/>
                <a:ea typeface="MS PGothic" panose="020B0600070205080204" pitchFamily="34" charset="-128"/>
              </a:defRPr>
            </a:lvl2pPr>
            <a:lvl3pPr marL="1143000" indent="-228600" defTabSz="928688">
              <a:defRPr sz="1600">
                <a:solidFill>
                  <a:schemeClr val="tx1"/>
                </a:solidFill>
                <a:latin typeface="Helvetica" panose="020B0604020202020204" pitchFamily="34" charset="0"/>
                <a:ea typeface="MS PGothic" panose="020B0600070205080204" pitchFamily="34" charset="-128"/>
              </a:defRPr>
            </a:lvl3pPr>
            <a:lvl4pPr marL="1600200" indent="-228600" defTabSz="928688">
              <a:defRPr sz="1600">
                <a:solidFill>
                  <a:schemeClr val="tx1"/>
                </a:solidFill>
                <a:latin typeface="Helvetica" panose="020B0604020202020204" pitchFamily="34" charset="0"/>
                <a:ea typeface="MS PGothic" panose="020B0600070205080204" pitchFamily="34" charset="-128"/>
              </a:defRPr>
            </a:lvl4pPr>
            <a:lvl5pPr marL="2057400" indent="-228600" defTabSz="928688">
              <a:defRPr sz="1600">
                <a:solidFill>
                  <a:schemeClr val="tx1"/>
                </a:solidFill>
                <a:latin typeface="Helvetica" panose="020B0604020202020204" pitchFamily="34" charset="0"/>
                <a:ea typeface="MS PGothic" panose="020B0600070205080204" pitchFamily="34" charset="-128"/>
              </a:defRPr>
            </a:lvl5pPr>
            <a:lvl6pPr marL="25146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F6DB8CD2-F9D8-4BCF-90A1-A8E625EDFB97}" type="slidenum">
              <a:rPr lang="en-US" altLang="en-US" sz="1200"/>
              <a:pPr/>
              <a:t>72</a:t>
            </a:fld>
            <a:endParaRPr lang="en-US" altLang="en-US" sz="1200"/>
          </a:p>
        </p:txBody>
      </p:sp>
      <p:sp>
        <p:nvSpPr>
          <p:cNvPr id="141315" name="Rectangle 2"/>
          <p:cNvSpPr>
            <a:spLocks noGrp="1" noRot="1" noChangeAspect="1" noChangeArrowheads="1" noTextEdit="1"/>
          </p:cNvSpPr>
          <p:nvPr>
            <p:ph type="sldImg"/>
          </p:nvPr>
        </p:nvSpPr>
        <p:spPr>
          <a:xfrm>
            <a:off x="1177925" y="695325"/>
            <a:ext cx="4641850" cy="3481388"/>
          </a:xfrm>
          <a:ln/>
        </p:spPr>
      </p:sp>
      <p:sp>
        <p:nvSpPr>
          <p:cNvPr id="141316" name="Rectangle 3"/>
          <p:cNvSpPr>
            <a:spLocks noGrp="1" noChangeArrowheads="1"/>
          </p:cNvSpPr>
          <p:nvPr>
            <p:ph type="body" idx="1"/>
          </p:nvPr>
        </p:nvSpPr>
        <p:spPr>
          <a:xfrm>
            <a:off x="931414" y="4410392"/>
            <a:ext cx="5134874" cy="4177348"/>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extLst>
      <p:ext uri="{BB962C8B-B14F-4D97-AF65-F5344CB8AC3E}">
        <p14:creationId xmlns:p14="http://schemas.microsoft.com/office/powerpoint/2010/main" val="1467396699"/>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2338"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688">
              <a:defRPr sz="1600">
                <a:solidFill>
                  <a:schemeClr val="tx1"/>
                </a:solidFill>
                <a:latin typeface="Helvetica" panose="020B0604020202020204" pitchFamily="34" charset="0"/>
                <a:ea typeface="MS PGothic" panose="020B0600070205080204" pitchFamily="34" charset="-128"/>
              </a:defRPr>
            </a:lvl1pPr>
            <a:lvl2pPr marL="742950" indent="-285750" defTabSz="928688">
              <a:defRPr sz="1600">
                <a:solidFill>
                  <a:schemeClr val="tx1"/>
                </a:solidFill>
                <a:latin typeface="Helvetica" panose="020B0604020202020204" pitchFamily="34" charset="0"/>
                <a:ea typeface="MS PGothic" panose="020B0600070205080204" pitchFamily="34" charset="-128"/>
              </a:defRPr>
            </a:lvl2pPr>
            <a:lvl3pPr marL="1143000" indent="-228600" defTabSz="928688">
              <a:defRPr sz="1600">
                <a:solidFill>
                  <a:schemeClr val="tx1"/>
                </a:solidFill>
                <a:latin typeface="Helvetica" panose="020B0604020202020204" pitchFamily="34" charset="0"/>
                <a:ea typeface="MS PGothic" panose="020B0600070205080204" pitchFamily="34" charset="-128"/>
              </a:defRPr>
            </a:lvl3pPr>
            <a:lvl4pPr marL="1600200" indent="-228600" defTabSz="928688">
              <a:defRPr sz="1600">
                <a:solidFill>
                  <a:schemeClr val="tx1"/>
                </a:solidFill>
                <a:latin typeface="Helvetica" panose="020B0604020202020204" pitchFamily="34" charset="0"/>
                <a:ea typeface="MS PGothic" panose="020B0600070205080204" pitchFamily="34" charset="-128"/>
              </a:defRPr>
            </a:lvl4pPr>
            <a:lvl5pPr marL="2057400" indent="-228600" defTabSz="928688">
              <a:defRPr sz="1600">
                <a:solidFill>
                  <a:schemeClr val="tx1"/>
                </a:solidFill>
                <a:latin typeface="Helvetica" panose="020B0604020202020204" pitchFamily="34" charset="0"/>
                <a:ea typeface="MS PGothic" panose="020B0600070205080204" pitchFamily="34" charset="-128"/>
              </a:defRPr>
            </a:lvl5pPr>
            <a:lvl6pPr marL="25146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759040D4-3005-4847-ABB3-16A2B4BDF1CE}" type="slidenum">
              <a:rPr lang="en-US" altLang="en-US" sz="1200"/>
              <a:pPr/>
              <a:t>73</a:t>
            </a:fld>
            <a:endParaRPr lang="en-US" altLang="en-US" sz="1200"/>
          </a:p>
        </p:txBody>
      </p:sp>
      <p:sp>
        <p:nvSpPr>
          <p:cNvPr id="142339" name="Rectangle 2"/>
          <p:cNvSpPr>
            <a:spLocks noGrp="1" noRot="1" noChangeAspect="1" noChangeArrowheads="1" noTextEdit="1"/>
          </p:cNvSpPr>
          <p:nvPr>
            <p:ph type="sldImg"/>
          </p:nvPr>
        </p:nvSpPr>
        <p:spPr>
          <a:xfrm>
            <a:off x="1177925" y="695325"/>
            <a:ext cx="4641850" cy="3481388"/>
          </a:xfrm>
          <a:ln/>
        </p:spPr>
      </p:sp>
      <p:sp>
        <p:nvSpPr>
          <p:cNvPr id="142340" name="Rectangle 3"/>
          <p:cNvSpPr>
            <a:spLocks noGrp="1" noChangeArrowheads="1"/>
          </p:cNvSpPr>
          <p:nvPr>
            <p:ph type="body" idx="1"/>
          </p:nvPr>
        </p:nvSpPr>
        <p:spPr>
          <a:xfrm>
            <a:off x="931414" y="4410392"/>
            <a:ext cx="5134874" cy="4177348"/>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extLst>
      <p:ext uri="{BB962C8B-B14F-4D97-AF65-F5344CB8AC3E}">
        <p14:creationId xmlns:p14="http://schemas.microsoft.com/office/powerpoint/2010/main" val="1954158060"/>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3362"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688">
              <a:defRPr sz="1600">
                <a:solidFill>
                  <a:schemeClr val="tx1"/>
                </a:solidFill>
                <a:latin typeface="Helvetica" panose="020B0604020202020204" pitchFamily="34" charset="0"/>
                <a:ea typeface="MS PGothic" panose="020B0600070205080204" pitchFamily="34" charset="-128"/>
              </a:defRPr>
            </a:lvl1pPr>
            <a:lvl2pPr marL="742950" indent="-285750" defTabSz="928688">
              <a:defRPr sz="1600">
                <a:solidFill>
                  <a:schemeClr val="tx1"/>
                </a:solidFill>
                <a:latin typeface="Helvetica" panose="020B0604020202020204" pitchFamily="34" charset="0"/>
                <a:ea typeface="MS PGothic" panose="020B0600070205080204" pitchFamily="34" charset="-128"/>
              </a:defRPr>
            </a:lvl2pPr>
            <a:lvl3pPr marL="1143000" indent="-228600" defTabSz="928688">
              <a:defRPr sz="1600">
                <a:solidFill>
                  <a:schemeClr val="tx1"/>
                </a:solidFill>
                <a:latin typeface="Helvetica" panose="020B0604020202020204" pitchFamily="34" charset="0"/>
                <a:ea typeface="MS PGothic" panose="020B0600070205080204" pitchFamily="34" charset="-128"/>
              </a:defRPr>
            </a:lvl3pPr>
            <a:lvl4pPr marL="1600200" indent="-228600" defTabSz="928688">
              <a:defRPr sz="1600">
                <a:solidFill>
                  <a:schemeClr val="tx1"/>
                </a:solidFill>
                <a:latin typeface="Helvetica" panose="020B0604020202020204" pitchFamily="34" charset="0"/>
                <a:ea typeface="MS PGothic" panose="020B0600070205080204" pitchFamily="34" charset="-128"/>
              </a:defRPr>
            </a:lvl4pPr>
            <a:lvl5pPr marL="2057400" indent="-228600" defTabSz="928688">
              <a:defRPr sz="1600">
                <a:solidFill>
                  <a:schemeClr val="tx1"/>
                </a:solidFill>
                <a:latin typeface="Helvetica" panose="020B0604020202020204" pitchFamily="34" charset="0"/>
                <a:ea typeface="MS PGothic" panose="020B0600070205080204" pitchFamily="34" charset="-128"/>
              </a:defRPr>
            </a:lvl5pPr>
            <a:lvl6pPr marL="25146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C9B7593E-E541-408E-B62F-DEA0E60392EA}" type="slidenum">
              <a:rPr lang="en-US" altLang="en-US" sz="1200"/>
              <a:pPr/>
              <a:t>74</a:t>
            </a:fld>
            <a:endParaRPr lang="en-US" altLang="en-US" sz="1200"/>
          </a:p>
        </p:txBody>
      </p:sp>
      <p:sp>
        <p:nvSpPr>
          <p:cNvPr id="143363" name="Rectangle 2"/>
          <p:cNvSpPr>
            <a:spLocks noGrp="1" noRot="1" noChangeAspect="1" noChangeArrowheads="1" noTextEdit="1"/>
          </p:cNvSpPr>
          <p:nvPr>
            <p:ph type="sldImg"/>
          </p:nvPr>
        </p:nvSpPr>
        <p:spPr>
          <a:xfrm>
            <a:off x="1177925" y="695325"/>
            <a:ext cx="4641850" cy="3481388"/>
          </a:xfrm>
          <a:ln/>
        </p:spPr>
      </p:sp>
      <p:sp>
        <p:nvSpPr>
          <p:cNvPr id="143364" name="Rectangle 3"/>
          <p:cNvSpPr>
            <a:spLocks noGrp="1" noChangeArrowheads="1"/>
          </p:cNvSpPr>
          <p:nvPr>
            <p:ph type="body" idx="1"/>
          </p:nvPr>
        </p:nvSpPr>
        <p:spPr>
          <a:xfrm>
            <a:off x="931414" y="4410392"/>
            <a:ext cx="5134874" cy="4177348"/>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extLst>
      <p:ext uri="{BB962C8B-B14F-4D97-AF65-F5344CB8AC3E}">
        <p14:creationId xmlns:p14="http://schemas.microsoft.com/office/powerpoint/2010/main" val="1392769494"/>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4386"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688">
              <a:defRPr sz="1600">
                <a:solidFill>
                  <a:schemeClr val="tx1"/>
                </a:solidFill>
                <a:latin typeface="Helvetica" panose="020B0604020202020204" pitchFamily="34" charset="0"/>
                <a:ea typeface="MS PGothic" panose="020B0600070205080204" pitchFamily="34" charset="-128"/>
              </a:defRPr>
            </a:lvl1pPr>
            <a:lvl2pPr marL="742950" indent="-285750" defTabSz="928688">
              <a:defRPr sz="1600">
                <a:solidFill>
                  <a:schemeClr val="tx1"/>
                </a:solidFill>
                <a:latin typeface="Helvetica" panose="020B0604020202020204" pitchFamily="34" charset="0"/>
                <a:ea typeface="MS PGothic" panose="020B0600070205080204" pitchFamily="34" charset="-128"/>
              </a:defRPr>
            </a:lvl2pPr>
            <a:lvl3pPr marL="1143000" indent="-228600" defTabSz="928688">
              <a:defRPr sz="1600">
                <a:solidFill>
                  <a:schemeClr val="tx1"/>
                </a:solidFill>
                <a:latin typeface="Helvetica" panose="020B0604020202020204" pitchFamily="34" charset="0"/>
                <a:ea typeface="MS PGothic" panose="020B0600070205080204" pitchFamily="34" charset="-128"/>
              </a:defRPr>
            </a:lvl3pPr>
            <a:lvl4pPr marL="1600200" indent="-228600" defTabSz="928688">
              <a:defRPr sz="1600">
                <a:solidFill>
                  <a:schemeClr val="tx1"/>
                </a:solidFill>
                <a:latin typeface="Helvetica" panose="020B0604020202020204" pitchFamily="34" charset="0"/>
                <a:ea typeface="MS PGothic" panose="020B0600070205080204" pitchFamily="34" charset="-128"/>
              </a:defRPr>
            </a:lvl4pPr>
            <a:lvl5pPr marL="2057400" indent="-228600" defTabSz="928688">
              <a:defRPr sz="1600">
                <a:solidFill>
                  <a:schemeClr val="tx1"/>
                </a:solidFill>
                <a:latin typeface="Helvetica" panose="020B0604020202020204" pitchFamily="34" charset="0"/>
                <a:ea typeface="MS PGothic" panose="020B0600070205080204" pitchFamily="34" charset="-128"/>
              </a:defRPr>
            </a:lvl5pPr>
            <a:lvl6pPr marL="25146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FB03737A-222D-46BE-B7A9-3EA09C13F967}" type="slidenum">
              <a:rPr lang="en-US" altLang="en-US" sz="1200"/>
              <a:pPr/>
              <a:t>75</a:t>
            </a:fld>
            <a:endParaRPr lang="en-US" altLang="en-US" sz="1200"/>
          </a:p>
        </p:txBody>
      </p:sp>
      <p:sp>
        <p:nvSpPr>
          <p:cNvPr id="144387" name="Rectangle 2"/>
          <p:cNvSpPr>
            <a:spLocks noGrp="1" noRot="1" noChangeAspect="1" noChangeArrowheads="1" noTextEdit="1"/>
          </p:cNvSpPr>
          <p:nvPr>
            <p:ph type="sldImg"/>
          </p:nvPr>
        </p:nvSpPr>
        <p:spPr>
          <a:xfrm>
            <a:off x="1177925" y="695325"/>
            <a:ext cx="4641850" cy="3481388"/>
          </a:xfrm>
          <a:ln/>
        </p:spPr>
      </p:sp>
      <p:sp>
        <p:nvSpPr>
          <p:cNvPr id="144388" name="Rectangle 3"/>
          <p:cNvSpPr>
            <a:spLocks noGrp="1" noChangeArrowheads="1"/>
          </p:cNvSpPr>
          <p:nvPr>
            <p:ph type="body" idx="1"/>
          </p:nvPr>
        </p:nvSpPr>
        <p:spPr>
          <a:xfrm>
            <a:off x="931414" y="4410392"/>
            <a:ext cx="5134874" cy="4177348"/>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extLst>
      <p:ext uri="{BB962C8B-B14F-4D97-AF65-F5344CB8AC3E}">
        <p14:creationId xmlns:p14="http://schemas.microsoft.com/office/powerpoint/2010/main" val="1987482843"/>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407B7A-48AD-C618-564D-1F749F34E6B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E26E2B5-08E9-0526-F360-7B39D034491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19222C5-A1D7-18B2-7093-6B80BA1E521B}"/>
              </a:ext>
            </a:extLst>
          </p:cNvPr>
          <p:cNvSpPr>
            <a:spLocks noGrp="1"/>
          </p:cNvSpPr>
          <p:nvPr>
            <p:ph type="body" idx="1"/>
          </p:nvPr>
        </p:nvSpPr>
        <p:spPr/>
        <p:txBody>
          <a:bodyPr/>
          <a:lstStyle/>
          <a:p>
            <a:pPr marL="0" marR="0" lvl="0" indent="0" algn="l" defTabSz="914400" rtl="0" eaLnBrk="1" fontAlgn="base" latinLnBrk="0" hangingPunct="1">
              <a:lnSpc>
                <a:spcPct val="100000"/>
              </a:lnSpc>
              <a:spcBef>
                <a:spcPct val="30000"/>
              </a:spcBef>
              <a:spcAft>
                <a:spcPct val="0"/>
              </a:spcAft>
              <a:buClrTx/>
              <a:buSzTx/>
              <a:buFontTx/>
              <a:buNone/>
              <a:tabLst/>
              <a:defRPr/>
            </a:pPr>
            <a:r>
              <a:rPr lang="ar-SA" sz="1800" dirty="0">
                <a:effectLst/>
                <a:latin typeface="Calibri" panose="020F0502020204030204" pitchFamily="34" charset="0"/>
                <a:ea typeface="Times New Roman" panose="02020603050405020304" pitchFamily="18" charset="0"/>
                <a:cs typeface="Times New Roman" panose="02020603050405020304" pitchFamily="18" charset="0"/>
              </a:rPr>
              <a:t>این کوئری به چندین اتصال نیاز دارد که می‌تواند برای مجموعه داده‌های بزرگ کند باشد، به‌ویژه اگر چنین کوئری‌هایی مکرر اجرا شوند</a:t>
            </a:r>
            <a:r>
              <a:rPr lang="en-US" sz="1800" dirty="0">
                <a:effectLst/>
                <a:latin typeface="Times New Roman" panose="02020603050405020304" pitchFamily="18" charset="0"/>
                <a:ea typeface="Times New Roman" panose="02020603050405020304" pitchFamily="18" charset="0"/>
                <a:cs typeface="Arial" panose="020B0604020202020204" pitchFamily="34" charset="0"/>
              </a:rPr>
              <a:t>.</a:t>
            </a:r>
            <a:endParaRPr lang="en-US" sz="1800" dirty="0">
              <a:effectLst/>
              <a:latin typeface="Calibri" panose="020F0502020204030204" pitchFamily="34" charset="0"/>
              <a:ea typeface="Calibri" panose="020F0502020204030204" pitchFamily="34" charset="0"/>
              <a:cs typeface="Arial" panose="020B0604020202020204" pitchFamily="34" charset="0"/>
            </a:endParaRPr>
          </a:p>
          <a:p>
            <a:endParaRPr lang="en-US" dirty="0"/>
          </a:p>
        </p:txBody>
      </p:sp>
      <p:sp>
        <p:nvSpPr>
          <p:cNvPr id="4" name="Slide Number Placeholder 3">
            <a:extLst>
              <a:ext uri="{FF2B5EF4-FFF2-40B4-BE49-F238E27FC236}">
                <a16:creationId xmlns:a16="http://schemas.microsoft.com/office/drawing/2014/main" id="{81658C63-459B-58F0-A445-FC0A1E474A19}"/>
              </a:ext>
            </a:extLst>
          </p:cNvPr>
          <p:cNvSpPr>
            <a:spLocks noGrp="1"/>
          </p:cNvSpPr>
          <p:nvPr>
            <p:ph type="sldNum" sz="quarter" idx="5"/>
          </p:nvPr>
        </p:nvSpPr>
        <p:spPr/>
        <p:txBody>
          <a:bodyPr/>
          <a:lstStyle/>
          <a:p>
            <a:fld id="{EF7565D7-C2AB-4CDD-97A1-0422B6964B36}" type="slidenum">
              <a:rPr lang="en-US" altLang="en-US" smtClean="0"/>
              <a:pPr/>
              <a:t>79</a:t>
            </a:fld>
            <a:endParaRPr lang="en-US" altLang="en-US"/>
          </a:p>
        </p:txBody>
      </p:sp>
    </p:spTree>
    <p:extLst>
      <p:ext uri="{BB962C8B-B14F-4D97-AF65-F5344CB8AC3E}">
        <p14:creationId xmlns:p14="http://schemas.microsoft.com/office/powerpoint/2010/main" val="103206935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810AA2-0059-CC37-0724-DC5A2961451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0FBB0A4-538A-D4CF-6CA3-8D592518464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28518D4-26F0-2ABD-B658-DB1D3E915FC6}"/>
              </a:ext>
            </a:extLst>
          </p:cNvPr>
          <p:cNvSpPr>
            <a:spLocks noGrp="1"/>
          </p:cNvSpPr>
          <p:nvPr>
            <p:ph type="body" idx="1"/>
          </p:nvPr>
        </p:nvSpPr>
        <p:spPr/>
        <p:txBody>
          <a:bodyPr/>
          <a:lstStyle/>
          <a:p>
            <a:pPr marL="0" marR="0" algn="r" rtl="1">
              <a:lnSpc>
                <a:spcPct val="107000"/>
              </a:lnSpc>
              <a:spcBef>
                <a:spcPts val="0"/>
              </a:spcBef>
              <a:spcAft>
                <a:spcPts val="800"/>
              </a:spcAft>
            </a:pPr>
            <a:r>
              <a:rPr lang="ar-SA" sz="1200" b="1" dirty="0">
                <a:effectLst/>
                <a:latin typeface="Calibri" panose="020F0502020204030204" pitchFamily="34" charset="0"/>
                <a:ea typeface="Times New Roman" panose="02020603050405020304" pitchFamily="18" charset="0"/>
                <a:cs typeface="Times New Roman" panose="02020603050405020304" pitchFamily="18" charset="0"/>
              </a:rPr>
              <a:t>نتیجه‌گیری</a:t>
            </a:r>
            <a:endParaRPr lang="en-US" sz="1200" dirty="0">
              <a:effectLst/>
              <a:latin typeface="Calibri" panose="020F0502020204030204" pitchFamily="34" charset="0"/>
              <a:ea typeface="Calibri" panose="020F0502020204030204" pitchFamily="34" charset="0"/>
              <a:cs typeface="Arial" panose="020B0604020202020204" pitchFamily="34" charset="0"/>
            </a:endParaRPr>
          </a:p>
          <a:p>
            <a:pPr marL="0" marR="0" algn="r" rtl="1">
              <a:lnSpc>
                <a:spcPct val="107000"/>
              </a:lnSpc>
              <a:spcBef>
                <a:spcPts val="0"/>
              </a:spcBef>
              <a:spcAft>
                <a:spcPts val="800"/>
              </a:spcAft>
            </a:pPr>
            <a:r>
              <a:rPr lang="ar-SA" sz="1200" dirty="0">
                <a:effectLst/>
                <a:latin typeface="Calibri" panose="020F0502020204030204" pitchFamily="34" charset="0"/>
                <a:ea typeface="Times New Roman" panose="02020603050405020304" pitchFamily="18" charset="0"/>
                <a:cs typeface="Times New Roman" panose="02020603050405020304" pitchFamily="18" charset="0"/>
              </a:rPr>
              <a:t>غیرعادی‌سازی زمانی مناسب است که</a:t>
            </a:r>
            <a:r>
              <a:rPr lang="en-US" sz="1200" dirty="0">
                <a:effectLst/>
                <a:latin typeface="Times New Roman" panose="02020603050405020304" pitchFamily="18" charset="0"/>
                <a:ea typeface="Times New Roman" panose="02020603050405020304" pitchFamily="18" charset="0"/>
                <a:cs typeface="Arial" panose="020B0604020202020204" pitchFamily="34" charset="0"/>
              </a:rPr>
              <a:t>:</a:t>
            </a:r>
            <a:endParaRPr lang="en-US" sz="1200" dirty="0">
              <a:effectLst/>
              <a:latin typeface="Calibri" panose="020F0502020204030204" pitchFamily="34" charset="0"/>
              <a:ea typeface="Calibri" panose="020F0502020204030204" pitchFamily="34" charset="0"/>
              <a:cs typeface="Arial" panose="020B0604020202020204" pitchFamily="34" charset="0"/>
            </a:endParaRPr>
          </a:p>
          <a:p>
            <a:pPr marL="342900" marR="0" lvl="0" indent="-342900" algn="r" rtl="1">
              <a:lnSpc>
                <a:spcPct val="107000"/>
              </a:lnSpc>
              <a:spcBef>
                <a:spcPts val="0"/>
              </a:spcBef>
              <a:spcAft>
                <a:spcPts val="800"/>
              </a:spcAft>
              <a:buSzPts val="1000"/>
              <a:buFont typeface="Symbol" panose="05050102010706020507" pitchFamily="18" charset="2"/>
              <a:buChar char=""/>
              <a:tabLst>
                <a:tab pos="457200" algn="l"/>
              </a:tabLst>
            </a:pPr>
            <a:r>
              <a:rPr lang="ar-SA" sz="1200" dirty="0">
                <a:effectLst/>
                <a:latin typeface="Calibri" panose="020F0502020204030204" pitchFamily="34" charset="0"/>
                <a:ea typeface="Times New Roman" panose="02020603050405020304" pitchFamily="18" charset="0"/>
                <a:cs typeface="Times New Roman" panose="02020603050405020304" pitchFamily="18" charset="0"/>
              </a:rPr>
              <a:t>عملکرد حیاتی باشد و سربار اتصالات قابل‌قبول نباشد</a:t>
            </a:r>
            <a:r>
              <a:rPr lang="en-US" sz="1200" dirty="0">
                <a:effectLst/>
                <a:latin typeface="Times New Roman" panose="02020603050405020304" pitchFamily="18" charset="0"/>
                <a:ea typeface="Times New Roman" panose="02020603050405020304" pitchFamily="18" charset="0"/>
                <a:cs typeface="Arial" panose="020B0604020202020204" pitchFamily="34" charset="0"/>
              </a:rPr>
              <a:t>.</a:t>
            </a:r>
            <a:endParaRPr lang="en-US" sz="1200" dirty="0">
              <a:effectLst/>
              <a:latin typeface="Calibri" panose="020F0502020204030204" pitchFamily="34" charset="0"/>
              <a:ea typeface="Calibri" panose="020F0502020204030204" pitchFamily="34" charset="0"/>
              <a:cs typeface="Arial" panose="020B0604020202020204" pitchFamily="34" charset="0"/>
            </a:endParaRPr>
          </a:p>
          <a:p>
            <a:pPr marL="342900" marR="0" lvl="0" indent="-342900" algn="r" rtl="1">
              <a:lnSpc>
                <a:spcPct val="107000"/>
              </a:lnSpc>
              <a:spcBef>
                <a:spcPts val="0"/>
              </a:spcBef>
              <a:spcAft>
                <a:spcPts val="800"/>
              </a:spcAft>
              <a:buSzPts val="1000"/>
              <a:buFont typeface="Symbol" panose="05050102010706020507" pitchFamily="18" charset="2"/>
              <a:buChar char=""/>
              <a:tabLst>
                <a:tab pos="457200" algn="l"/>
              </a:tabLst>
            </a:pPr>
            <a:r>
              <a:rPr lang="ar-SA" sz="1200" dirty="0">
                <a:effectLst/>
                <a:latin typeface="Calibri" panose="020F0502020204030204" pitchFamily="34" charset="0"/>
                <a:ea typeface="Times New Roman" panose="02020603050405020304" pitchFamily="18" charset="0"/>
                <a:cs typeface="Times New Roman" panose="02020603050405020304" pitchFamily="18" charset="0"/>
              </a:rPr>
              <a:t>سیستم سرعت خواندن را نسبت به سرعت نوشتن ترجیح دهد</a:t>
            </a:r>
            <a:r>
              <a:rPr lang="en-US" sz="1200" dirty="0">
                <a:effectLst/>
                <a:latin typeface="Times New Roman" panose="02020603050405020304" pitchFamily="18" charset="0"/>
                <a:ea typeface="Times New Roman" panose="02020603050405020304" pitchFamily="18" charset="0"/>
                <a:cs typeface="Arial" panose="020B0604020202020204" pitchFamily="34" charset="0"/>
              </a:rPr>
              <a:t>.</a:t>
            </a:r>
            <a:endParaRPr lang="en-US" sz="1200" dirty="0">
              <a:effectLst/>
              <a:latin typeface="Calibri" panose="020F0502020204030204" pitchFamily="34" charset="0"/>
              <a:ea typeface="Calibri" panose="020F0502020204030204" pitchFamily="34" charset="0"/>
              <a:cs typeface="Arial" panose="020B0604020202020204" pitchFamily="34" charset="0"/>
            </a:endParaRPr>
          </a:p>
          <a:p>
            <a:pPr marL="342900" marR="0" lvl="0" indent="-342900" algn="r" rtl="1">
              <a:lnSpc>
                <a:spcPct val="107000"/>
              </a:lnSpc>
              <a:spcBef>
                <a:spcPts val="0"/>
              </a:spcBef>
              <a:spcAft>
                <a:spcPts val="800"/>
              </a:spcAft>
              <a:buSzPts val="1000"/>
              <a:buFont typeface="Symbol" panose="05050102010706020507" pitchFamily="18" charset="2"/>
              <a:buChar char=""/>
              <a:tabLst>
                <a:tab pos="457200" algn="l"/>
              </a:tabLst>
            </a:pPr>
            <a:r>
              <a:rPr lang="ar-SA" sz="1200" dirty="0">
                <a:effectLst/>
                <a:latin typeface="Calibri" panose="020F0502020204030204" pitchFamily="34" charset="0"/>
                <a:ea typeface="Times New Roman" panose="02020603050405020304" pitchFamily="18" charset="0"/>
                <a:cs typeface="Times New Roman" panose="02020603050405020304" pitchFamily="18" charset="0"/>
              </a:rPr>
              <a:t>سادگی کوئری‌ها از پیروی از اصول عادی‌سازی مهم‌تر باشد</a:t>
            </a:r>
            <a:r>
              <a:rPr lang="en-US" sz="1200" dirty="0">
                <a:effectLst/>
                <a:latin typeface="Times New Roman" panose="02020603050405020304" pitchFamily="18" charset="0"/>
                <a:ea typeface="Times New Roman" panose="02020603050405020304" pitchFamily="18" charset="0"/>
                <a:cs typeface="Arial" panose="020B0604020202020204" pitchFamily="34" charset="0"/>
              </a:rPr>
              <a:t>.</a:t>
            </a:r>
            <a:endParaRPr lang="en-US" sz="1200" dirty="0">
              <a:effectLst/>
              <a:latin typeface="Calibri" panose="020F0502020204030204" pitchFamily="34" charset="0"/>
              <a:ea typeface="Calibri" panose="020F0502020204030204" pitchFamily="34" charset="0"/>
              <a:cs typeface="Arial" panose="020B0604020202020204" pitchFamily="34" charset="0"/>
            </a:endParaRPr>
          </a:p>
          <a:p>
            <a:endParaRPr lang="en-US" dirty="0"/>
          </a:p>
        </p:txBody>
      </p:sp>
      <p:sp>
        <p:nvSpPr>
          <p:cNvPr id="4" name="Slide Number Placeholder 3">
            <a:extLst>
              <a:ext uri="{FF2B5EF4-FFF2-40B4-BE49-F238E27FC236}">
                <a16:creationId xmlns:a16="http://schemas.microsoft.com/office/drawing/2014/main" id="{3EA8AAE0-ACC4-E356-7DAA-8E58FCD28B88}"/>
              </a:ext>
            </a:extLst>
          </p:cNvPr>
          <p:cNvSpPr>
            <a:spLocks noGrp="1"/>
          </p:cNvSpPr>
          <p:nvPr>
            <p:ph type="sldNum" sz="quarter" idx="5"/>
          </p:nvPr>
        </p:nvSpPr>
        <p:spPr/>
        <p:txBody>
          <a:bodyPr/>
          <a:lstStyle/>
          <a:p>
            <a:fld id="{EF7565D7-C2AB-4CDD-97A1-0422B6964B36}" type="slidenum">
              <a:rPr lang="en-US" altLang="en-US" smtClean="0"/>
              <a:pPr/>
              <a:t>80</a:t>
            </a:fld>
            <a:endParaRPr lang="en-US" altLang="en-US"/>
          </a:p>
        </p:txBody>
      </p:sp>
    </p:spTree>
    <p:extLst>
      <p:ext uri="{BB962C8B-B14F-4D97-AF65-F5344CB8AC3E}">
        <p14:creationId xmlns:p14="http://schemas.microsoft.com/office/powerpoint/2010/main" val="3927122540"/>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5410"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688">
              <a:defRPr sz="1600">
                <a:solidFill>
                  <a:schemeClr val="tx1"/>
                </a:solidFill>
                <a:latin typeface="Helvetica" panose="020B0604020202020204" pitchFamily="34" charset="0"/>
                <a:ea typeface="MS PGothic" panose="020B0600070205080204" pitchFamily="34" charset="-128"/>
              </a:defRPr>
            </a:lvl1pPr>
            <a:lvl2pPr marL="742950" indent="-285750" defTabSz="928688">
              <a:defRPr sz="1600">
                <a:solidFill>
                  <a:schemeClr val="tx1"/>
                </a:solidFill>
                <a:latin typeface="Helvetica" panose="020B0604020202020204" pitchFamily="34" charset="0"/>
                <a:ea typeface="MS PGothic" panose="020B0600070205080204" pitchFamily="34" charset="-128"/>
              </a:defRPr>
            </a:lvl2pPr>
            <a:lvl3pPr marL="1143000" indent="-228600" defTabSz="928688">
              <a:defRPr sz="1600">
                <a:solidFill>
                  <a:schemeClr val="tx1"/>
                </a:solidFill>
                <a:latin typeface="Helvetica" panose="020B0604020202020204" pitchFamily="34" charset="0"/>
                <a:ea typeface="MS PGothic" panose="020B0600070205080204" pitchFamily="34" charset="-128"/>
              </a:defRPr>
            </a:lvl3pPr>
            <a:lvl4pPr marL="1600200" indent="-228600" defTabSz="928688">
              <a:defRPr sz="1600">
                <a:solidFill>
                  <a:schemeClr val="tx1"/>
                </a:solidFill>
                <a:latin typeface="Helvetica" panose="020B0604020202020204" pitchFamily="34" charset="0"/>
                <a:ea typeface="MS PGothic" panose="020B0600070205080204" pitchFamily="34" charset="-128"/>
              </a:defRPr>
            </a:lvl4pPr>
            <a:lvl5pPr marL="2057400" indent="-228600" defTabSz="928688">
              <a:defRPr sz="1600">
                <a:solidFill>
                  <a:schemeClr val="tx1"/>
                </a:solidFill>
                <a:latin typeface="Helvetica" panose="020B0604020202020204" pitchFamily="34" charset="0"/>
                <a:ea typeface="MS PGothic" panose="020B0600070205080204" pitchFamily="34" charset="-128"/>
              </a:defRPr>
            </a:lvl5pPr>
            <a:lvl6pPr marL="25146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2B2ED6F9-53BE-4CD9-8D10-83BD677C8535}" type="slidenum">
              <a:rPr lang="en-US" altLang="en-US" sz="1200"/>
              <a:pPr/>
              <a:t>81</a:t>
            </a:fld>
            <a:endParaRPr lang="en-US" altLang="en-US" sz="1200"/>
          </a:p>
        </p:txBody>
      </p:sp>
      <p:sp>
        <p:nvSpPr>
          <p:cNvPr id="145411" name="Rectangle 2"/>
          <p:cNvSpPr>
            <a:spLocks noGrp="1" noRot="1" noChangeAspect="1" noChangeArrowheads="1" noTextEdit="1"/>
          </p:cNvSpPr>
          <p:nvPr>
            <p:ph type="sldImg"/>
          </p:nvPr>
        </p:nvSpPr>
        <p:spPr>
          <a:xfrm>
            <a:off x="1177925" y="695325"/>
            <a:ext cx="4641850" cy="3481388"/>
          </a:xfrm>
          <a:ln/>
        </p:spPr>
      </p:sp>
      <p:sp>
        <p:nvSpPr>
          <p:cNvPr id="145412" name="Rectangle 3"/>
          <p:cNvSpPr>
            <a:spLocks noGrp="1" noChangeArrowheads="1"/>
          </p:cNvSpPr>
          <p:nvPr>
            <p:ph type="body" idx="1"/>
          </p:nvPr>
        </p:nvSpPr>
        <p:spPr>
          <a:xfrm>
            <a:off x="931414" y="4410392"/>
            <a:ext cx="5134874" cy="4177348"/>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extLst>
      <p:ext uri="{BB962C8B-B14F-4D97-AF65-F5344CB8AC3E}">
        <p14:creationId xmlns:p14="http://schemas.microsoft.com/office/powerpoint/2010/main" val="3523828242"/>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6434"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688">
              <a:defRPr sz="1600">
                <a:solidFill>
                  <a:schemeClr val="tx1"/>
                </a:solidFill>
                <a:latin typeface="Helvetica" panose="020B0604020202020204" pitchFamily="34" charset="0"/>
                <a:ea typeface="MS PGothic" panose="020B0600070205080204" pitchFamily="34" charset="-128"/>
              </a:defRPr>
            </a:lvl1pPr>
            <a:lvl2pPr marL="742950" indent="-285750" defTabSz="928688">
              <a:defRPr sz="1600">
                <a:solidFill>
                  <a:schemeClr val="tx1"/>
                </a:solidFill>
                <a:latin typeface="Helvetica" panose="020B0604020202020204" pitchFamily="34" charset="0"/>
                <a:ea typeface="MS PGothic" panose="020B0600070205080204" pitchFamily="34" charset="-128"/>
              </a:defRPr>
            </a:lvl2pPr>
            <a:lvl3pPr marL="1143000" indent="-228600" defTabSz="928688">
              <a:defRPr sz="1600">
                <a:solidFill>
                  <a:schemeClr val="tx1"/>
                </a:solidFill>
                <a:latin typeface="Helvetica" panose="020B0604020202020204" pitchFamily="34" charset="0"/>
                <a:ea typeface="MS PGothic" panose="020B0600070205080204" pitchFamily="34" charset="-128"/>
              </a:defRPr>
            </a:lvl3pPr>
            <a:lvl4pPr marL="1600200" indent="-228600" defTabSz="928688">
              <a:defRPr sz="1600">
                <a:solidFill>
                  <a:schemeClr val="tx1"/>
                </a:solidFill>
                <a:latin typeface="Helvetica" panose="020B0604020202020204" pitchFamily="34" charset="0"/>
                <a:ea typeface="MS PGothic" panose="020B0600070205080204" pitchFamily="34" charset="-128"/>
              </a:defRPr>
            </a:lvl4pPr>
            <a:lvl5pPr marL="2057400" indent="-228600" defTabSz="928688">
              <a:defRPr sz="1600">
                <a:solidFill>
                  <a:schemeClr val="tx1"/>
                </a:solidFill>
                <a:latin typeface="Helvetica" panose="020B0604020202020204" pitchFamily="34" charset="0"/>
                <a:ea typeface="MS PGothic" panose="020B0600070205080204" pitchFamily="34" charset="-128"/>
              </a:defRPr>
            </a:lvl5pPr>
            <a:lvl6pPr marL="25146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C4B6CE2F-3CD3-45FE-B460-EC2ED3F07842}" type="slidenum">
              <a:rPr lang="en-US" altLang="en-US" sz="1200"/>
              <a:pPr/>
              <a:t>82</a:t>
            </a:fld>
            <a:endParaRPr lang="en-US" altLang="en-US" sz="1200"/>
          </a:p>
        </p:txBody>
      </p:sp>
      <p:sp>
        <p:nvSpPr>
          <p:cNvPr id="146435" name="Rectangle 2"/>
          <p:cNvSpPr>
            <a:spLocks noGrp="1" noRot="1" noChangeAspect="1" noChangeArrowheads="1" noTextEdit="1"/>
          </p:cNvSpPr>
          <p:nvPr>
            <p:ph type="sldImg"/>
          </p:nvPr>
        </p:nvSpPr>
        <p:spPr>
          <a:xfrm>
            <a:off x="1177925" y="695325"/>
            <a:ext cx="4641850" cy="3481388"/>
          </a:xfrm>
          <a:ln/>
        </p:spPr>
      </p:sp>
      <p:sp>
        <p:nvSpPr>
          <p:cNvPr id="146436" name="Rectangle 3"/>
          <p:cNvSpPr>
            <a:spLocks noGrp="1" noChangeArrowheads="1"/>
          </p:cNvSpPr>
          <p:nvPr>
            <p:ph type="body" idx="1"/>
          </p:nvPr>
        </p:nvSpPr>
        <p:spPr>
          <a:xfrm>
            <a:off x="931414" y="4410392"/>
            <a:ext cx="5134874" cy="4177348"/>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7458"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688">
              <a:defRPr sz="1600">
                <a:solidFill>
                  <a:schemeClr val="tx1"/>
                </a:solidFill>
                <a:latin typeface="Helvetica" panose="020B0604020202020204" pitchFamily="34" charset="0"/>
                <a:ea typeface="MS PGothic" panose="020B0600070205080204" pitchFamily="34" charset="-128"/>
              </a:defRPr>
            </a:lvl1pPr>
            <a:lvl2pPr marL="742950" indent="-285750" defTabSz="928688">
              <a:defRPr sz="1600">
                <a:solidFill>
                  <a:schemeClr val="tx1"/>
                </a:solidFill>
                <a:latin typeface="Helvetica" panose="020B0604020202020204" pitchFamily="34" charset="0"/>
                <a:ea typeface="MS PGothic" panose="020B0600070205080204" pitchFamily="34" charset="-128"/>
              </a:defRPr>
            </a:lvl2pPr>
            <a:lvl3pPr marL="1143000" indent="-228600" defTabSz="928688">
              <a:defRPr sz="1600">
                <a:solidFill>
                  <a:schemeClr val="tx1"/>
                </a:solidFill>
                <a:latin typeface="Helvetica" panose="020B0604020202020204" pitchFamily="34" charset="0"/>
                <a:ea typeface="MS PGothic" panose="020B0600070205080204" pitchFamily="34" charset="-128"/>
              </a:defRPr>
            </a:lvl3pPr>
            <a:lvl4pPr marL="1600200" indent="-228600" defTabSz="928688">
              <a:defRPr sz="1600">
                <a:solidFill>
                  <a:schemeClr val="tx1"/>
                </a:solidFill>
                <a:latin typeface="Helvetica" panose="020B0604020202020204" pitchFamily="34" charset="0"/>
                <a:ea typeface="MS PGothic" panose="020B0600070205080204" pitchFamily="34" charset="-128"/>
              </a:defRPr>
            </a:lvl4pPr>
            <a:lvl5pPr marL="2057400" indent="-228600" defTabSz="928688">
              <a:defRPr sz="1600">
                <a:solidFill>
                  <a:schemeClr val="tx1"/>
                </a:solidFill>
                <a:latin typeface="Helvetica" panose="020B0604020202020204" pitchFamily="34" charset="0"/>
                <a:ea typeface="MS PGothic" panose="020B0600070205080204" pitchFamily="34" charset="-128"/>
              </a:defRPr>
            </a:lvl5pPr>
            <a:lvl6pPr marL="25146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A4E4753A-8DE0-4CA5-9E0D-F3763DCF04F6}" type="slidenum">
              <a:rPr lang="en-US" altLang="en-US" sz="1200"/>
              <a:pPr/>
              <a:t>83</a:t>
            </a:fld>
            <a:endParaRPr lang="en-US" altLang="en-US" sz="1200"/>
          </a:p>
        </p:txBody>
      </p:sp>
      <p:sp>
        <p:nvSpPr>
          <p:cNvPr id="147459" name="Rectangle 2"/>
          <p:cNvSpPr>
            <a:spLocks noGrp="1" noRot="1" noChangeAspect="1" noChangeArrowheads="1" noTextEdit="1"/>
          </p:cNvSpPr>
          <p:nvPr>
            <p:ph type="sldImg"/>
          </p:nvPr>
        </p:nvSpPr>
        <p:spPr>
          <a:xfrm>
            <a:off x="1177925" y="695325"/>
            <a:ext cx="4641850" cy="3481388"/>
          </a:xfrm>
          <a:ln/>
        </p:spPr>
      </p:sp>
      <p:sp>
        <p:nvSpPr>
          <p:cNvPr id="147460" name="Rectangle 3"/>
          <p:cNvSpPr>
            <a:spLocks noGrp="1" noChangeArrowheads="1"/>
          </p:cNvSpPr>
          <p:nvPr>
            <p:ph type="body" idx="1"/>
          </p:nvPr>
        </p:nvSpPr>
        <p:spPr>
          <a:xfrm>
            <a:off x="931414" y="4410392"/>
            <a:ext cx="5134874" cy="4177348"/>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8482"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688">
              <a:defRPr sz="1600">
                <a:solidFill>
                  <a:schemeClr val="tx1"/>
                </a:solidFill>
                <a:latin typeface="Helvetica" panose="020B0604020202020204" pitchFamily="34" charset="0"/>
                <a:ea typeface="MS PGothic" panose="020B0600070205080204" pitchFamily="34" charset="-128"/>
              </a:defRPr>
            </a:lvl1pPr>
            <a:lvl2pPr marL="742950" indent="-285750" defTabSz="928688">
              <a:defRPr sz="1600">
                <a:solidFill>
                  <a:schemeClr val="tx1"/>
                </a:solidFill>
                <a:latin typeface="Helvetica" panose="020B0604020202020204" pitchFamily="34" charset="0"/>
                <a:ea typeface="MS PGothic" panose="020B0600070205080204" pitchFamily="34" charset="-128"/>
              </a:defRPr>
            </a:lvl2pPr>
            <a:lvl3pPr marL="1143000" indent="-228600" defTabSz="928688">
              <a:defRPr sz="1600">
                <a:solidFill>
                  <a:schemeClr val="tx1"/>
                </a:solidFill>
                <a:latin typeface="Helvetica" panose="020B0604020202020204" pitchFamily="34" charset="0"/>
                <a:ea typeface="MS PGothic" panose="020B0600070205080204" pitchFamily="34" charset="-128"/>
              </a:defRPr>
            </a:lvl3pPr>
            <a:lvl4pPr marL="1600200" indent="-228600" defTabSz="928688">
              <a:defRPr sz="1600">
                <a:solidFill>
                  <a:schemeClr val="tx1"/>
                </a:solidFill>
                <a:latin typeface="Helvetica" panose="020B0604020202020204" pitchFamily="34" charset="0"/>
                <a:ea typeface="MS PGothic" panose="020B0600070205080204" pitchFamily="34" charset="-128"/>
              </a:defRPr>
            </a:lvl4pPr>
            <a:lvl5pPr marL="2057400" indent="-228600" defTabSz="928688">
              <a:defRPr sz="1600">
                <a:solidFill>
                  <a:schemeClr val="tx1"/>
                </a:solidFill>
                <a:latin typeface="Helvetica" panose="020B0604020202020204" pitchFamily="34" charset="0"/>
                <a:ea typeface="MS PGothic" panose="020B0600070205080204" pitchFamily="34" charset="-128"/>
              </a:defRPr>
            </a:lvl5pPr>
            <a:lvl6pPr marL="25146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47E239C7-4B01-4ACB-AC64-19B9EB42973F}" type="slidenum">
              <a:rPr lang="en-US" altLang="en-US" sz="1200"/>
              <a:pPr/>
              <a:t>84</a:t>
            </a:fld>
            <a:endParaRPr lang="en-US" altLang="en-US" sz="1200"/>
          </a:p>
        </p:txBody>
      </p:sp>
      <p:sp>
        <p:nvSpPr>
          <p:cNvPr id="148483" name="Rectangle 2"/>
          <p:cNvSpPr>
            <a:spLocks noGrp="1" noRot="1" noChangeAspect="1" noChangeArrowheads="1" noTextEdit="1"/>
          </p:cNvSpPr>
          <p:nvPr>
            <p:ph type="sldImg"/>
          </p:nvPr>
        </p:nvSpPr>
        <p:spPr>
          <a:xfrm>
            <a:off x="1177925" y="695325"/>
            <a:ext cx="4641850" cy="3481388"/>
          </a:xfrm>
          <a:ln/>
        </p:spPr>
      </p:sp>
      <p:sp>
        <p:nvSpPr>
          <p:cNvPr id="148484" name="Rectangle 3"/>
          <p:cNvSpPr>
            <a:spLocks noGrp="1" noChangeArrowheads="1"/>
          </p:cNvSpPr>
          <p:nvPr>
            <p:ph type="body" idx="1"/>
          </p:nvPr>
        </p:nvSpPr>
        <p:spPr>
          <a:xfrm>
            <a:off x="931414" y="4410392"/>
            <a:ext cx="5134874" cy="4177348"/>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9506"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688">
              <a:defRPr sz="1600">
                <a:solidFill>
                  <a:schemeClr val="tx1"/>
                </a:solidFill>
                <a:latin typeface="Helvetica" panose="020B0604020202020204" pitchFamily="34" charset="0"/>
                <a:ea typeface="MS PGothic" panose="020B0600070205080204" pitchFamily="34" charset="-128"/>
              </a:defRPr>
            </a:lvl1pPr>
            <a:lvl2pPr marL="742950" indent="-285750" defTabSz="928688">
              <a:defRPr sz="1600">
                <a:solidFill>
                  <a:schemeClr val="tx1"/>
                </a:solidFill>
                <a:latin typeface="Helvetica" panose="020B0604020202020204" pitchFamily="34" charset="0"/>
                <a:ea typeface="MS PGothic" panose="020B0600070205080204" pitchFamily="34" charset="-128"/>
              </a:defRPr>
            </a:lvl2pPr>
            <a:lvl3pPr marL="1143000" indent="-228600" defTabSz="928688">
              <a:defRPr sz="1600">
                <a:solidFill>
                  <a:schemeClr val="tx1"/>
                </a:solidFill>
                <a:latin typeface="Helvetica" panose="020B0604020202020204" pitchFamily="34" charset="0"/>
                <a:ea typeface="MS PGothic" panose="020B0600070205080204" pitchFamily="34" charset="-128"/>
              </a:defRPr>
            </a:lvl3pPr>
            <a:lvl4pPr marL="1600200" indent="-228600" defTabSz="928688">
              <a:defRPr sz="1600">
                <a:solidFill>
                  <a:schemeClr val="tx1"/>
                </a:solidFill>
                <a:latin typeface="Helvetica" panose="020B0604020202020204" pitchFamily="34" charset="0"/>
                <a:ea typeface="MS PGothic" panose="020B0600070205080204" pitchFamily="34" charset="-128"/>
              </a:defRPr>
            </a:lvl4pPr>
            <a:lvl5pPr marL="2057400" indent="-228600" defTabSz="928688">
              <a:defRPr sz="1600">
                <a:solidFill>
                  <a:schemeClr val="tx1"/>
                </a:solidFill>
                <a:latin typeface="Helvetica" panose="020B0604020202020204" pitchFamily="34" charset="0"/>
                <a:ea typeface="MS PGothic" panose="020B0600070205080204" pitchFamily="34" charset="-128"/>
              </a:defRPr>
            </a:lvl5pPr>
            <a:lvl6pPr marL="25146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EAC0A48C-B033-4AC9-8924-4B331051E00D}" type="slidenum">
              <a:rPr lang="en-US" altLang="en-US" sz="1200"/>
              <a:pPr/>
              <a:t>85</a:t>
            </a:fld>
            <a:endParaRPr lang="en-US" altLang="en-US" sz="1200"/>
          </a:p>
        </p:txBody>
      </p:sp>
      <p:sp>
        <p:nvSpPr>
          <p:cNvPr id="149507" name="Rectangle 2"/>
          <p:cNvSpPr>
            <a:spLocks noGrp="1" noRot="1" noChangeAspect="1" noChangeArrowheads="1" noTextEdit="1"/>
          </p:cNvSpPr>
          <p:nvPr>
            <p:ph type="sldImg"/>
          </p:nvPr>
        </p:nvSpPr>
        <p:spPr>
          <a:xfrm>
            <a:off x="1177925" y="695325"/>
            <a:ext cx="4641850" cy="3481388"/>
          </a:xfrm>
          <a:ln/>
        </p:spPr>
      </p:sp>
      <p:sp>
        <p:nvSpPr>
          <p:cNvPr id="149508" name="Rectangle 3"/>
          <p:cNvSpPr>
            <a:spLocks noGrp="1" noChangeArrowheads="1"/>
          </p:cNvSpPr>
          <p:nvPr>
            <p:ph type="body" idx="1"/>
          </p:nvPr>
        </p:nvSpPr>
        <p:spPr>
          <a:xfrm>
            <a:off x="931414" y="4410392"/>
            <a:ext cx="5134874" cy="4177348"/>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0530"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688">
              <a:defRPr sz="1600">
                <a:solidFill>
                  <a:schemeClr val="tx1"/>
                </a:solidFill>
                <a:latin typeface="Helvetica" panose="020B0604020202020204" pitchFamily="34" charset="0"/>
                <a:ea typeface="MS PGothic" panose="020B0600070205080204" pitchFamily="34" charset="-128"/>
              </a:defRPr>
            </a:lvl1pPr>
            <a:lvl2pPr marL="742950" indent="-285750" defTabSz="928688">
              <a:defRPr sz="1600">
                <a:solidFill>
                  <a:schemeClr val="tx1"/>
                </a:solidFill>
                <a:latin typeface="Helvetica" panose="020B0604020202020204" pitchFamily="34" charset="0"/>
                <a:ea typeface="MS PGothic" panose="020B0600070205080204" pitchFamily="34" charset="-128"/>
              </a:defRPr>
            </a:lvl2pPr>
            <a:lvl3pPr marL="1143000" indent="-228600" defTabSz="928688">
              <a:defRPr sz="1600">
                <a:solidFill>
                  <a:schemeClr val="tx1"/>
                </a:solidFill>
                <a:latin typeface="Helvetica" panose="020B0604020202020204" pitchFamily="34" charset="0"/>
                <a:ea typeface="MS PGothic" panose="020B0600070205080204" pitchFamily="34" charset="-128"/>
              </a:defRPr>
            </a:lvl3pPr>
            <a:lvl4pPr marL="1600200" indent="-228600" defTabSz="928688">
              <a:defRPr sz="1600">
                <a:solidFill>
                  <a:schemeClr val="tx1"/>
                </a:solidFill>
                <a:latin typeface="Helvetica" panose="020B0604020202020204" pitchFamily="34" charset="0"/>
                <a:ea typeface="MS PGothic" panose="020B0600070205080204" pitchFamily="34" charset="-128"/>
              </a:defRPr>
            </a:lvl4pPr>
            <a:lvl5pPr marL="2057400" indent="-228600" defTabSz="928688">
              <a:defRPr sz="1600">
                <a:solidFill>
                  <a:schemeClr val="tx1"/>
                </a:solidFill>
                <a:latin typeface="Helvetica" panose="020B0604020202020204" pitchFamily="34" charset="0"/>
                <a:ea typeface="MS PGothic" panose="020B0600070205080204" pitchFamily="34" charset="-128"/>
              </a:defRPr>
            </a:lvl5pPr>
            <a:lvl6pPr marL="25146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A7999FEA-463D-4EC2-9BE5-4E48B7E10B51}" type="slidenum">
              <a:rPr lang="en-US" altLang="en-US" sz="1200"/>
              <a:pPr/>
              <a:t>86</a:t>
            </a:fld>
            <a:endParaRPr lang="en-US" altLang="en-US" sz="1200"/>
          </a:p>
        </p:txBody>
      </p:sp>
      <p:sp>
        <p:nvSpPr>
          <p:cNvPr id="150531" name="Rectangle 2"/>
          <p:cNvSpPr>
            <a:spLocks noGrp="1" noRot="1" noChangeAspect="1" noChangeArrowheads="1" noTextEdit="1"/>
          </p:cNvSpPr>
          <p:nvPr>
            <p:ph type="sldImg"/>
          </p:nvPr>
        </p:nvSpPr>
        <p:spPr>
          <a:xfrm>
            <a:off x="1177925" y="695325"/>
            <a:ext cx="4641850" cy="3481388"/>
          </a:xfrm>
          <a:ln/>
        </p:spPr>
      </p:sp>
      <p:sp>
        <p:nvSpPr>
          <p:cNvPr id="150532" name="Rectangle 3"/>
          <p:cNvSpPr>
            <a:spLocks noGrp="1" noChangeArrowheads="1"/>
          </p:cNvSpPr>
          <p:nvPr>
            <p:ph type="body" idx="1"/>
          </p:nvPr>
        </p:nvSpPr>
        <p:spPr>
          <a:xfrm>
            <a:off x="931414" y="4410392"/>
            <a:ext cx="5134874" cy="4177348"/>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2578"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688">
              <a:defRPr sz="1600">
                <a:solidFill>
                  <a:schemeClr val="tx1"/>
                </a:solidFill>
                <a:latin typeface="Helvetica" panose="020B0604020202020204" pitchFamily="34" charset="0"/>
                <a:ea typeface="MS PGothic" panose="020B0600070205080204" pitchFamily="34" charset="-128"/>
              </a:defRPr>
            </a:lvl1pPr>
            <a:lvl2pPr marL="742950" indent="-285750" defTabSz="928688">
              <a:defRPr sz="1600">
                <a:solidFill>
                  <a:schemeClr val="tx1"/>
                </a:solidFill>
                <a:latin typeface="Helvetica" panose="020B0604020202020204" pitchFamily="34" charset="0"/>
                <a:ea typeface="MS PGothic" panose="020B0600070205080204" pitchFamily="34" charset="-128"/>
              </a:defRPr>
            </a:lvl2pPr>
            <a:lvl3pPr marL="1143000" indent="-228600" defTabSz="928688">
              <a:defRPr sz="1600">
                <a:solidFill>
                  <a:schemeClr val="tx1"/>
                </a:solidFill>
                <a:latin typeface="Helvetica" panose="020B0604020202020204" pitchFamily="34" charset="0"/>
                <a:ea typeface="MS PGothic" panose="020B0600070205080204" pitchFamily="34" charset="-128"/>
              </a:defRPr>
            </a:lvl3pPr>
            <a:lvl4pPr marL="1600200" indent="-228600" defTabSz="928688">
              <a:defRPr sz="1600">
                <a:solidFill>
                  <a:schemeClr val="tx1"/>
                </a:solidFill>
                <a:latin typeface="Helvetica" panose="020B0604020202020204" pitchFamily="34" charset="0"/>
                <a:ea typeface="MS PGothic" panose="020B0600070205080204" pitchFamily="34" charset="-128"/>
              </a:defRPr>
            </a:lvl4pPr>
            <a:lvl5pPr marL="2057400" indent="-228600" defTabSz="928688">
              <a:defRPr sz="1600">
                <a:solidFill>
                  <a:schemeClr val="tx1"/>
                </a:solidFill>
                <a:latin typeface="Helvetica" panose="020B0604020202020204" pitchFamily="34" charset="0"/>
                <a:ea typeface="MS PGothic" panose="020B0600070205080204" pitchFamily="34" charset="-128"/>
              </a:defRPr>
            </a:lvl5pPr>
            <a:lvl6pPr marL="25146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38F86710-0453-46DF-9A04-3F5F631C00F1}" type="slidenum">
              <a:rPr lang="en-US" altLang="en-US" sz="1200"/>
              <a:pPr/>
              <a:t>87</a:t>
            </a:fld>
            <a:endParaRPr lang="en-US" altLang="en-US" sz="1200"/>
          </a:p>
        </p:txBody>
      </p:sp>
      <p:sp>
        <p:nvSpPr>
          <p:cNvPr id="152579" name="Rectangle 2"/>
          <p:cNvSpPr>
            <a:spLocks noGrp="1" noRot="1" noChangeAspect="1" noChangeArrowheads="1" noTextEdit="1"/>
          </p:cNvSpPr>
          <p:nvPr>
            <p:ph type="sldImg"/>
          </p:nvPr>
        </p:nvSpPr>
        <p:spPr>
          <a:xfrm>
            <a:off x="1177925" y="695325"/>
            <a:ext cx="4641850" cy="3481388"/>
          </a:xfrm>
          <a:ln/>
        </p:spPr>
      </p:sp>
      <p:sp>
        <p:nvSpPr>
          <p:cNvPr id="152580" name="Rectangle 3"/>
          <p:cNvSpPr>
            <a:spLocks noGrp="1" noChangeArrowheads="1"/>
          </p:cNvSpPr>
          <p:nvPr>
            <p:ph type="body" idx="1"/>
          </p:nvPr>
        </p:nvSpPr>
        <p:spPr>
          <a:xfrm>
            <a:off x="931414" y="4410392"/>
            <a:ext cx="5134874" cy="4177348"/>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2578"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688">
              <a:defRPr sz="1600">
                <a:solidFill>
                  <a:schemeClr val="tx1"/>
                </a:solidFill>
                <a:latin typeface="Helvetica" panose="020B0604020202020204" pitchFamily="34" charset="0"/>
                <a:ea typeface="MS PGothic" panose="020B0600070205080204" pitchFamily="34" charset="-128"/>
              </a:defRPr>
            </a:lvl1pPr>
            <a:lvl2pPr marL="742950" indent="-285750" defTabSz="928688">
              <a:defRPr sz="1600">
                <a:solidFill>
                  <a:schemeClr val="tx1"/>
                </a:solidFill>
                <a:latin typeface="Helvetica" panose="020B0604020202020204" pitchFamily="34" charset="0"/>
                <a:ea typeface="MS PGothic" panose="020B0600070205080204" pitchFamily="34" charset="-128"/>
              </a:defRPr>
            </a:lvl2pPr>
            <a:lvl3pPr marL="1143000" indent="-228600" defTabSz="928688">
              <a:defRPr sz="1600">
                <a:solidFill>
                  <a:schemeClr val="tx1"/>
                </a:solidFill>
                <a:latin typeface="Helvetica" panose="020B0604020202020204" pitchFamily="34" charset="0"/>
                <a:ea typeface="MS PGothic" panose="020B0600070205080204" pitchFamily="34" charset="-128"/>
              </a:defRPr>
            </a:lvl3pPr>
            <a:lvl4pPr marL="1600200" indent="-228600" defTabSz="928688">
              <a:defRPr sz="1600">
                <a:solidFill>
                  <a:schemeClr val="tx1"/>
                </a:solidFill>
                <a:latin typeface="Helvetica" panose="020B0604020202020204" pitchFamily="34" charset="0"/>
                <a:ea typeface="MS PGothic" panose="020B0600070205080204" pitchFamily="34" charset="-128"/>
              </a:defRPr>
            </a:lvl4pPr>
            <a:lvl5pPr marL="2057400" indent="-228600" defTabSz="928688">
              <a:defRPr sz="1600">
                <a:solidFill>
                  <a:schemeClr val="tx1"/>
                </a:solidFill>
                <a:latin typeface="Helvetica" panose="020B0604020202020204" pitchFamily="34" charset="0"/>
                <a:ea typeface="MS PGothic" panose="020B0600070205080204" pitchFamily="34" charset="-128"/>
              </a:defRPr>
            </a:lvl5pPr>
            <a:lvl6pPr marL="25146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38F86710-0453-46DF-9A04-3F5F631C00F1}" type="slidenum">
              <a:rPr lang="en-US" altLang="en-US" sz="1200"/>
              <a:pPr/>
              <a:t>88</a:t>
            </a:fld>
            <a:endParaRPr lang="en-US" altLang="en-US" sz="1200"/>
          </a:p>
        </p:txBody>
      </p:sp>
      <p:sp>
        <p:nvSpPr>
          <p:cNvPr id="152579" name="Rectangle 2"/>
          <p:cNvSpPr>
            <a:spLocks noGrp="1" noRot="1" noChangeAspect="1" noChangeArrowheads="1" noTextEdit="1"/>
          </p:cNvSpPr>
          <p:nvPr>
            <p:ph type="sldImg"/>
          </p:nvPr>
        </p:nvSpPr>
        <p:spPr>
          <a:xfrm>
            <a:off x="1177925" y="695325"/>
            <a:ext cx="4641850" cy="3481388"/>
          </a:xfrm>
          <a:ln/>
        </p:spPr>
      </p:sp>
      <p:sp>
        <p:nvSpPr>
          <p:cNvPr id="152580" name="Rectangle 3"/>
          <p:cNvSpPr>
            <a:spLocks noGrp="1" noChangeArrowheads="1"/>
          </p:cNvSpPr>
          <p:nvPr>
            <p:ph type="body" idx="1"/>
          </p:nvPr>
        </p:nvSpPr>
        <p:spPr>
          <a:xfrm>
            <a:off x="931414" y="4410392"/>
            <a:ext cx="5134874" cy="4177348"/>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3602"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688">
              <a:defRPr sz="1600">
                <a:solidFill>
                  <a:schemeClr val="tx1"/>
                </a:solidFill>
                <a:latin typeface="Helvetica" panose="020B0604020202020204" pitchFamily="34" charset="0"/>
                <a:ea typeface="MS PGothic" panose="020B0600070205080204" pitchFamily="34" charset="-128"/>
              </a:defRPr>
            </a:lvl1pPr>
            <a:lvl2pPr marL="742950" indent="-285750" defTabSz="928688">
              <a:defRPr sz="1600">
                <a:solidFill>
                  <a:schemeClr val="tx1"/>
                </a:solidFill>
                <a:latin typeface="Helvetica" panose="020B0604020202020204" pitchFamily="34" charset="0"/>
                <a:ea typeface="MS PGothic" panose="020B0600070205080204" pitchFamily="34" charset="-128"/>
              </a:defRPr>
            </a:lvl2pPr>
            <a:lvl3pPr marL="1143000" indent="-228600" defTabSz="928688">
              <a:defRPr sz="1600">
                <a:solidFill>
                  <a:schemeClr val="tx1"/>
                </a:solidFill>
                <a:latin typeface="Helvetica" panose="020B0604020202020204" pitchFamily="34" charset="0"/>
                <a:ea typeface="MS PGothic" panose="020B0600070205080204" pitchFamily="34" charset="-128"/>
              </a:defRPr>
            </a:lvl3pPr>
            <a:lvl4pPr marL="1600200" indent="-228600" defTabSz="928688">
              <a:defRPr sz="1600">
                <a:solidFill>
                  <a:schemeClr val="tx1"/>
                </a:solidFill>
                <a:latin typeface="Helvetica" panose="020B0604020202020204" pitchFamily="34" charset="0"/>
                <a:ea typeface="MS PGothic" panose="020B0600070205080204" pitchFamily="34" charset="-128"/>
              </a:defRPr>
            </a:lvl4pPr>
            <a:lvl5pPr marL="2057400" indent="-228600" defTabSz="928688">
              <a:defRPr sz="1600">
                <a:solidFill>
                  <a:schemeClr val="tx1"/>
                </a:solidFill>
                <a:latin typeface="Helvetica" panose="020B0604020202020204" pitchFamily="34" charset="0"/>
                <a:ea typeface="MS PGothic" panose="020B0600070205080204" pitchFamily="34" charset="-128"/>
              </a:defRPr>
            </a:lvl5pPr>
            <a:lvl6pPr marL="25146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C25BC543-30D6-4AA8-90B4-22C339D46936}" type="slidenum">
              <a:rPr lang="en-US" altLang="en-US" sz="1200"/>
              <a:pPr/>
              <a:t>89</a:t>
            </a:fld>
            <a:endParaRPr lang="en-US" altLang="en-US" sz="1200"/>
          </a:p>
        </p:txBody>
      </p:sp>
      <p:sp>
        <p:nvSpPr>
          <p:cNvPr id="153603" name="Rectangle 2"/>
          <p:cNvSpPr>
            <a:spLocks noGrp="1" noRot="1" noChangeAspect="1" noChangeArrowheads="1" noTextEdit="1"/>
          </p:cNvSpPr>
          <p:nvPr>
            <p:ph type="sldImg"/>
          </p:nvPr>
        </p:nvSpPr>
        <p:spPr>
          <a:xfrm>
            <a:off x="1177925" y="695325"/>
            <a:ext cx="4641850" cy="3481388"/>
          </a:xfrm>
          <a:ln/>
        </p:spPr>
      </p:sp>
      <p:sp>
        <p:nvSpPr>
          <p:cNvPr id="153604" name="Rectangle 3"/>
          <p:cNvSpPr>
            <a:spLocks noGrp="1" noChangeArrowheads="1"/>
          </p:cNvSpPr>
          <p:nvPr>
            <p:ph type="body" idx="1"/>
          </p:nvPr>
        </p:nvSpPr>
        <p:spPr>
          <a:xfrm>
            <a:off x="931414" y="4410392"/>
            <a:ext cx="5134874" cy="4177348"/>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4626"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688">
              <a:defRPr sz="1600">
                <a:solidFill>
                  <a:schemeClr val="tx1"/>
                </a:solidFill>
                <a:latin typeface="Helvetica" panose="020B0604020202020204" pitchFamily="34" charset="0"/>
                <a:ea typeface="MS PGothic" panose="020B0600070205080204" pitchFamily="34" charset="-128"/>
              </a:defRPr>
            </a:lvl1pPr>
            <a:lvl2pPr marL="742950" indent="-285750" defTabSz="928688">
              <a:defRPr sz="1600">
                <a:solidFill>
                  <a:schemeClr val="tx1"/>
                </a:solidFill>
                <a:latin typeface="Helvetica" panose="020B0604020202020204" pitchFamily="34" charset="0"/>
                <a:ea typeface="MS PGothic" panose="020B0600070205080204" pitchFamily="34" charset="-128"/>
              </a:defRPr>
            </a:lvl2pPr>
            <a:lvl3pPr marL="1143000" indent="-228600" defTabSz="928688">
              <a:defRPr sz="1600">
                <a:solidFill>
                  <a:schemeClr val="tx1"/>
                </a:solidFill>
                <a:latin typeface="Helvetica" panose="020B0604020202020204" pitchFamily="34" charset="0"/>
                <a:ea typeface="MS PGothic" panose="020B0600070205080204" pitchFamily="34" charset="-128"/>
              </a:defRPr>
            </a:lvl3pPr>
            <a:lvl4pPr marL="1600200" indent="-228600" defTabSz="928688">
              <a:defRPr sz="1600">
                <a:solidFill>
                  <a:schemeClr val="tx1"/>
                </a:solidFill>
                <a:latin typeface="Helvetica" panose="020B0604020202020204" pitchFamily="34" charset="0"/>
                <a:ea typeface="MS PGothic" panose="020B0600070205080204" pitchFamily="34" charset="-128"/>
              </a:defRPr>
            </a:lvl4pPr>
            <a:lvl5pPr marL="2057400" indent="-228600" defTabSz="928688">
              <a:defRPr sz="1600">
                <a:solidFill>
                  <a:schemeClr val="tx1"/>
                </a:solidFill>
                <a:latin typeface="Helvetica" panose="020B0604020202020204" pitchFamily="34" charset="0"/>
                <a:ea typeface="MS PGothic" panose="020B0600070205080204" pitchFamily="34" charset="-128"/>
              </a:defRPr>
            </a:lvl5pPr>
            <a:lvl6pPr marL="25146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F020452C-B463-4E95-A665-2B99AA28B79B}" type="slidenum">
              <a:rPr lang="en-US" altLang="en-US" sz="1200"/>
              <a:pPr/>
              <a:t>90</a:t>
            </a:fld>
            <a:endParaRPr lang="en-US" altLang="en-US" sz="1200"/>
          </a:p>
        </p:txBody>
      </p:sp>
      <p:sp>
        <p:nvSpPr>
          <p:cNvPr id="154627" name="Rectangle 2"/>
          <p:cNvSpPr>
            <a:spLocks noGrp="1" noRot="1" noChangeAspect="1" noChangeArrowheads="1" noTextEdit="1"/>
          </p:cNvSpPr>
          <p:nvPr>
            <p:ph type="sldImg"/>
          </p:nvPr>
        </p:nvSpPr>
        <p:spPr>
          <a:xfrm>
            <a:off x="1177925" y="695325"/>
            <a:ext cx="4641850" cy="3481388"/>
          </a:xfrm>
          <a:ln/>
        </p:spPr>
      </p:sp>
      <p:sp>
        <p:nvSpPr>
          <p:cNvPr id="154628" name="Rectangle 3"/>
          <p:cNvSpPr>
            <a:spLocks noGrp="1" noChangeArrowheads="1"/>
          </p:cNvSpPr>
          <p:nvPr>
            <p:ph type="body" idx="1"/>
          </p:nvPr>
        </p:nvSpPr>
        <p:spPr>
          <a:xfrm>
            <a:off x="931414" y="4410392"/>
            <a:ext cx="5134874" cy="4177348"/>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5650"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688">
              <a:defRPr sz="1600">
                <a:solidFill>
                  <a:schemeClr val="tx1"/>
                </a:solidFill>
                <a:latin typeface="Helvetica" panose="020B0604020202020204" pitchFamily="34" charset="0"/>
                <a:ea typeface="MS PGothic" panose="020B0600070205080204" pitchFamily="34" charset="-128"/>
              </a:defRPr>
            </a:lvl1pPr>
            <a:lvl2pPr marL="742950" indent="-285750" defTabSz="928688">
              <a:defRPr sz="1600">
                <a:solidFill>
                  <a:schemeClr val="tx1"/>
                </a:solidFill>
                <a:latin typeface="Helvetica" panose="020B0604020202020204" pitchFamily="34" charset="0"/>
                <a:ea typeface="MS PGothic" panose="020B0600070205080204" pitchFamily="34" charset="-128"/>
              </a:defRPr>
            </a:lvl2pPr>
            <a:lvl3pPr marL="1143000" indent="-228600" defTabSz="928688">
              <a:defRPr sz="1600">
                <a:solidFill>
                  <a:schemeClr val="tx1"/>
                </a:solidFill>
                <a:latin typeface="Helvetica" panose="020B0604020202020204" pitchFamily="34" charset="0"/>
                <a:ea typeface="MS PGothic" panose="020B0600070205080204" pitchFamily="34" charset="-128"/>
              </a:defRPr>
            </a:lvl3pPr>
            <a:lvl4pPr marL="1600200" indent="-228600" defTabSz="928688">
              <a:defRPr sz="1600">
                <a:solidFill>
                  <a:schemeClr val="tx1"/>
                </a:solidFill>
                <a:latin typeface="Helvetica" panose="020B0604020202020204" pitchFamily="34" charset="0"/>
                <a:ea typeface="MS PGothic" panose="020B0600070205080204" pitchFamily="34" charset="-128"/>
              </a:defRPr>
            </a:lvl4pPr>
            <a:lvl5pPr marL="2057400" indent="-228600" defTabSz="928688">
              <a:defRPr sz="1600">
                <a:solidFill>
                  <a:schemeClr val="tx1"/>
                </a:solidFill>
                <a:latin typeface="Helvetica" panose="020B0604020202020204" pitchFamily="34" charset="0"/>
                <a:ea typeface="MS PGothic" panose="020B0600070205080204" pitchFamily="34" charset="-128"/>
              </a:defRPr>
            </a:lvl5pPr>
            <a:lvl6pPr marL="25146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9126D1A1-086F-49DE-B921-A09020A520AB}" type="slidenum">
              <a:rPr lang="en-US" altLang="en-US" sz="1200"/>
              <a:pPr/>
              <a:t>91</a:t>
            </a:fld>
            <a:endParaRPr lang="en-US" altLang="en-US" sz="1200"/>
          </a:p>
        </p:txBody>
      </p:sp>
      <p:sp>
        <p:nvSpPr>
          <p:cNvPr id="155651" name="Rectangle 2"/>
          <p:cNvSpPr>
            <a:spLocks noGrp="1" noRot="1" noChangeAspect="1" noChangeArrowheads="1" noTextEdit="1"/>
          </p:cNvSpPr>
          <p:nvPr>
            <p:ph type="sldImg"/>
          </p:nvPr>
        </p:nvSpPr>
        <p:spPr>
          <a:xfrm>
            <a:off x="1177925" y="695325"/>
            <a:ext cx="4641850" cy="3481388"/>
          </a:xfrm>
          <a:ln/>
        </p:spPr>
      </p:sp>
      <p:sp>
        <p:nvSpPr>
          <p:cNvPr id="155652" name="Rectangle 3"/>
          <p:cNvSpPr>
            <a:spLocks noGrp="1" noChangeArrowheads="1"/>
          </p:cNvSpPr>
          <p:nvPr>
            <p:ph type="body" idx="1"/>
          </p:nvPr>
        </p:nvSpPr>
        <p:spPr>
          <a:xfrm>
            <a:off x="931414" y="4410392"/>
            <a:ext cx="5134874" cy="4177348"/>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6674"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688">
              <a:defRPr sz="1600">
                <a:solidFill>
                  <a:schemeClr val="tx1"/>
                </a:solidFill>
                <a:latin typeface="Helvetica" panose="020B0604020202020204" pitchFamily="34" charset="0"/>
                <a:ea typeface="MS PGothic" panose="020B0600070205080204" pitchFamily="34" charset="-128"/>
              </a:defRPr>
            </a:lvl1pPr>
            <a:lvl2pPr marL="742950" indent="-285750" defTabSz="928688">
              <a:defRPr sz="1600">
                <a:solidFill>
                  <a:schemeClr val="tx1"/>
                </a:solidFill>
                <a:latin typeface="Helvetica" panose="020B0604020202020204" pitchFamily="34" charset="0"/>
                <a:ea typeface="MS PGothic" panose="020B0600070205080204" pitchFamily="34" charset="-128"/>
              </a:defRPr>
            </a:lvl2pPr>
            <a:lvl3pPr marL="1143000" indent="-228600" defTabSz="928688">
              <a:defRPr sz="1600">
                <a:solidFill>
                  <a:schemeClr val="tx1"/>
                </a:solidFill>
                <a:latin typeface="Helvetica" panose="020B0604020202020204" pitchFamily="34" charset="0"/>
                <a:ea typeface="MS PGothic" panose="020B0600070205080204" pitchFamily="34" charset="-128"/>
              </a:defRPr>
            </a:lvl3pPr>
            <a:lvl4pPr marL="1600200" indent="-228600" defTabSz="928688">
              <a:defRPr sz="1600">
                <a:solidFill>
                  <a:schemeClr val="tx1"/>
                </a:solidFill>
                <a:latin typeface="Helvetica" panose="020B0604020202020204" pitchFamily="34" charset="0"/>
                <a:ea typeface="MS PGothic" panose="020B0600070205080204" pitchFamily="34" charset="-128"/>
              </a:defRPr>
            </a:lvl4pPr>
            <a:lvl5pPr marL="2057400" indent="-228600" defTabSz="928688">
              <a:defRPr sz="1600">
                <a:solidFill>
                  <a:schemeClr val="tx1"/>
                </a:solidFill>
                <a:latin typeface="Helvetica" panose="020B0604020202020204" pitchFamily="34" charset="0"/>
                <a:ea typeface="MS PGothic" panose="020B0600070205080204" pitchFamily="34" charset="-128"/>
              </a:defRPr>
            </a:lvl5pPr>
            <a:lvl6pPr marL="25146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B1C003AC-91E0-4C02-A3AF-D03041938C29}" type="slidenum">
              <a:rPr lang="en-US" altLang="en-US" sz="1200"/>
              <a:pPr/>
              <a:t>92</a:t>
            </a:fld>
            <a:endParaRPr lang="en-US" altLang="en-US" sz="1200"/>
          </a:p>
        </p:txBody>
      </p:sp>
      <p:sp>
        <p:nvSpPr>
          <p:cNvPr id="156675" name="Rectangle 2"/>
          <p:cNvSpPr>
            <a:spLocks noGrp="1" noRot="1" noChangeAspect="1" noChangeArrowheads="1" noTextEdit="1"/>
          </p:cNvSpPr>
          <p:nvPr>
            <p:ph type="sldImg"/>
          </p:nvPr>
        </p:nvSpPr>
        <p:spPr>
          <a:xfrm>
            <a:off x="1177925" y="695325"/>
            <a:ext cx="4641850" cy="3481388"/>
          </a:xfrm>
          <a:ln/>
        </p:spPr>
      </p:sp>
      <p:sp>
        <p:nvSpPr>
          <p:cNvPr id="156676" name="Rectangle 3"/>
          <p:cNvSpPr>
            <a:spLocks noGrp="1" noChangeArrowheads="1"/>
          </p:cNvSpPr>
          <p:nvPr>
            <p:ph type="body" idx="1"/>
          </p:nvPr>
        </p:nvSpPr>
        <p:spPr>
          <a:xfrm>
            <a:off x="931414" y="4410392"/>
            <a:ext cx="5134874" cy="4177348"/>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7698"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688">
              <a:defRPr sz="1600">
                <a:solidFill>
                  <a:schemeClr val="tx1"/>
                </a:solidFill>
                <a:latin typeface="Helvetica" panose="020B0604020202020204" pitchFamily="34" charset="0"/>
                <a:ea typeface="MS PGothic" panose="020B0600070205080204" pitchFamily="34" charset="-128"/>
              </a:defRPr>
            </a:lvl1pPr>
            <a:lvl2pPr marL="742950" indent="-285750" defTabSz="928688">
              <a:defRPr sz="1600">
                <a:solidFill>
                  <a:schemeClr val="tx1"/>
                </a:solidFill>
                <a:latin typeface="Helvetica" panose="020B0604020202020204" pitchFamily="34" charset="0"/>
                <a:ea typeface="MS PGothic" panose="020B0600070205080204" pitchFamily="34" charset="-128"/>
              </a:defRPr>
            </a:lvl2pPr>
            <a:lvl3pPr marL="1143000" indent="-228600" defTabSz="928688">
              <a:defRPr sz="1600">
                <a:solidFill>
                  <a:schemeClr val="tx1"/>
                </a:solidFill>
                <a:latin typeface="Helvetica" panose="020B0604020202020204" pitchFamily="34" charset="0"/>
                <a:ea typeface="MS PGothic" panose="020B0600070205080204" pitchFamily="34" charset="-128"/>
              </a:defRPr>
            </a:lvl3pPr>
            <a:lvl4pPr marL="1600200" indent="-228600" defTabSz="928688">
              <a:defRPr sz="1600">
                <a:solidFill>
                  <a:schemeClr val="tx1"/>
                </a:solidFill>
                <a:latin typeface="Helvetica" panose="020B0604020202020204" pitchFamily="34" charset="0"/>
                <a:ea typeface="MS PGothic" panose="020B0600070205080204" pitchFamily="34" charset="-128"/>
              </a:defRPr>
            </a:lvl4pPr>
            <a:lvl5pPr marL="2057400" indent="-228600" defTabSz="928688">
              <a:defRPr sz="1600">
                <a:solidFill>
                  <a:schemeClr val="tx1"/>
                </a:solidFill>
                <a:latin typeface="Helvetica" panose="020B0604020202020204" pitchFamily="34" charset="0"/>
                <a:ea typeface="MS PGothic" panose="020B0600070205080204" pitchFamily="34" charset="-128"/>
              </a:defRPr>
            </a:lvl5pPr>
            <a:lvl6pPr marL="25146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C5C3BE13-538F-4FB5-B532-CB8FA5D987FB}" type="slidenum">
              <a:rPr lang="en-US" altLang="en-US" sz="1200"/>
              <a:pPr/>
              <a:t>93</a:t>
            </a:fld>
            <a:endParaRPr lang="en-US" altLang="en-US" sz="1200"/>
          </a:p>
        </p:txBody>
      </p:sp>
      <p:sp>
        <p:nvSpPr>
          <p:cNvPr id="157699" name="Rectangle 2"/>
          <p:cNvSpPr>
            <a:spLocks noGrp="1" noRot="1" noChangeAspect="1" noChangeArrowheads="1" noTextEdit="1"/>
          </p:cNvSpPr>
          <p:nvPr>
            <p:ph type="sldImg"/>
          </p:nvPr>
        </p:nvSpPr>
        <p:spPr>
          <a:xfrm>
            <a:off x="1177925" y="695325"/>
            <a:ext cx="4641850" cy="3481388"/>
          </a:xfrm>
          <a:ln/>
        </p:spPr>
      </p:sp>
      <p:sp>
        <p:nvSpPr>
          <p:cNvPr id="157700" name="Rectangle 3"/>
          <p:cNvSpPr>
            <a:spLocks noGrp="1" noChangeArrowheads="1"/>
          </p:cNvSpPr>
          <p:nvPr>
            <p:ph type="body" idx="1"/>
          </p:nvPr>
        </p:nvSpPr>
        <p:spPr>
          <a:xfrm>
            <a:off x="931414" y="4410392"/>
            <a:ext cx="5134874" cy="4177348"/>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8722"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688">
              <a:defRPr sz="1600">
                <a:solidFill>
                  <a:schemeClr val="tx1"/>
                </a:solidFill>
                <a:latin typeface="Helvetica" panose="020B0604020202020204" pitchFamily="34" charset="0"/>
                <a:ea typeface="MS PGothic" panose="020B0600070205080204" pitchFamily="34" charset="-128"/>
              </a:defRPr>
            </a:lvl1pPr>
            <a:lvl2pPr marL="742950" indent="-285750" defTabSz="928688">
              <a:defRPr sz="1600">
                <a:solidFill>
                  <a:schemeClr val="tx1"/>
                </a:solidFill>
                <a:latin typeface="Helvetica" panose="020B0604020202020204" pitchFamily="34" charset="0"/>
                <a:ea typeface="MS PGothic" panose="020B0600070205080204" pitchFamily="34" charset="-128"/>
              </a:defRPr>
            </a:lvl2pPr>
            <a:lvl3pPr marL="1143000" indent="-228600" defTabSz="928688">
              <a:defRPr sz="1600">
                <a:solidFill>
                  <a:schemeClr val="tx1"/>
                </a:solidFill>
                <a:latin typeface="Helvetica" panose="020B0604020202020204" pitchFamily="34" charset="0"/>
                <a:ea typeface="MS PGothic" panose="020B0600070205080204" pitchFamily="34" charset="-128"/>
              </a:defRPr>
            </a:lvl3pPr>
            <a:lvl4pPr marL="1600200" indent="-228600" defTabSz="928688">
              <a:defRPr sz="1600">
                <a:solidFill>
                  <a:schemeClr val="tx1"/>
                </a:solidFill>
                <a:latin typeface="Helvetica" panose="020B0604020202020204" pitchFamily="34" charset="0"/>
                <a:ea typeface="MS PGothic" panose="020B0600070205080204" pitchFamily="34" charset="-128"/>
              </a:defRPr>
            </a:lvl4pPr>
            <a:lvl5pPr marL="2057400" indent="-228600" defTabSz="928688">
              <a:defRPr sz="1600">
                <a:solidFill>
                  <a:schemeClr val="tx1"/>
                </a:solidFill>
                <a:latin typeface="Helvetica" panose="020B0604020202020204" pitchFamily="34" charset="0"/>
                <a:ea typeface="MS PGothic" panose="020B0600070205080204" pitchFamily="34" charset="-128"/>
              </a:defRPr>
            </a:lvl5pPr>
            <a:lvl6pPr marL="25146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AD756CCF-944F-475F-BC67-70F3E02FC64F}" type="slidenum">
              <a:rPr lang="en-US" altLang="en-US" sz="1200"/>
              <a:pPr/>
              <a:t>94</a:t>
            </a:fld>
            <a:endParaRPr lang="en-US" altLang="en-US" sz="1200"/>
          </a:p>
        </p:txBody>
      </p:sp>
      <p:sp>
        <p:nvSpPr>
          <p:cNvPr id="158723" name="Rectangle 2"/>
          <p:cNvSpPr>
            <a:spLocks noGrp="1" noRot="1" noChangeAspect="1" noChangeArrowheads="1" noTextEdit="1"/>
          </p:cNvSpPr>
          <p:nvPr>
            <p:ph type="sldImg"/>
          </p:nvPr>
        </p:nvSpPr>
        <p:spPr>
          <a:xfrm>
            <a:off x="1177925" y="695325"/>
            <a:ext cx="4641850" cy="3481388"/>
          </a:xfrm>
          <a:ln/>
        </p:spPr>
      </p:sp>
      <p:sp>
        <p:nvSpPr>
          <p:cNvPr id="158724" name="Rectangle 3"/>
          <p:cNvSpPr>
            <a:spLocks noGrp="1" noChangeArrowheads="1"/>
          </p:cNvSpPr>
          <p:nvPr>
            <p:ph type="body" idx="1"/>
          </p:nvPr>
        </p:nvSpPr>
        <p:spPr>
          <a:xfrm>
            <a:off x="931414" y="4410392"/>
            <a:ext cx="5134874" cy="4177348"/>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9746"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688">
              <a:defRPr sz="1600">
                <a:solidFill>
                  <a:schemeClr val="tx1"/>
                </a:solidFill>
                <a:latin typeface="Helvetica" panose="020B0604020202020204" pitchFamily="34" charset="0"/>
                <a:ea typeface="MS PGothic" panose="020B0600070205080204" pitchFamily="34" charset="-128"/>
              </a:defRPr>
            </a:lvl1pPr>
            <a:lvl2pPr marL="742950" indent="-285750" defTabSz="928688">
              <a:defRPr sz="1600">
                <a:solidFill>
                  <a:schemeClr val="tx1"/>
                </a:solidFill>
                <a:latin typeface="Helvetica" panose="020B0604020202020204" pitchFamily="34" charset="0"/>
                <a:ea typeface="MS PGothic" panose="020B0600070205080204" pitchFamily="34" charset="-128"/>
              </a:defRPr>
            </a:lvl2pPr>
            <a:lvl3pPr marL="1143000" indent="-228600" defTabSz="928688">
              <a:defRPr sz="1600">
                <a:solidFill>
                  <a:schemeClr val="tx1"/>
                </a:solidFill>
                <a:latin typeface="Helvetica" panose="020B0604020202020204" pitchFamily="34" charset="0"/>
                <a:ea typeface="MS PGothic" panose="020B0600070205080204" pitchFamily="34" charset="-128"/>
              </a:defRPr>
            </a:lvl3pPr>
            <a:lvl4pPr marL="1600200" indent="-228600" defTabSz="928688">
              <a:defRPr sz="1600">
                <a:solidFill>
                  <a:schemeClr val="tx1"/>
                </a:solidFill>
                <a:latin typeface="Helvetica" panose="020B0604020202020204" pitchFamily="34" charset="0"/>
                <a:ea typeface="MS PGothic" panose="020B0600070205080204" pitchFamily="34" charset="-128"/>
              </a:defRPr>
            </a:lvl4pPr>
            <a:lvl5pPr marL="2057400" indent="-228600" defTabSz="928688">
              <a:defRPr sz="1600">
                <a:solidFill>
                  <a:schemeClr val="tx1"/>
                </a:solidFill>
                <a:latin typeface="Helvetica" panose="020B0604020202020204" pitchFamily="34" charset="0"/>
                <a:ea typeface="MS PGothic" panose="020B0600070205080204" pitchFamily="34" charset="-128"/>
              </a:defRPr>
            </a:lvl5pPr>
            <a:lvl6pPr marL="25146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71FD356F-B370-4905-B475-36D0765F2DB9}" type="slidenum">
              <a:rPr lang="en-US" altLang="en-US" sz="1200"/>
              <a:pPr/>
              <a:t>95</a:t>
            </a:fld>
            <a:endParaRPr lang="en-US" altLang="en-US" sz="1200"/>
          </a:p>
        </p:txBody>
      </p:sp>
      <p:sp>
        <p:nvSpPr>
          <p:cNvPr id="159747" name="Rectangle 2"/>
          <p:cNvSpPr>
            <a:spLocks noGrp="1" noRot="1" noChangeAspect="1" noChangeArrowheads="1" noTextEdit="1"/>
          </p:cNvSpPr>
          <p:nvPr>
            <p:ph type="sldImg"/>
          </p:nvPr>
        </p:nvSpPr>
        <p:spPr>
          <a:xfrm>
            <a:off x="1177925" y="695325"/>
            <a:ext cx="4641850" cy="3481388"/>
          </a:xfrm>
          <a:ln/>
        </p:spPr>
      </p:sp>
      <p:sp>
        <p:nvSpPr>
          <p:cNvPr id="159748" name="Rectangle 3"/>
          <p:cNvSpPr>
            <a:spLocks noGrp="1" noChangeArrowheads="1"/>
          </p:cNvSpPr>
          <p:nvPr>
            <p:ph type="body" idx="1"/>
          </p:nvPr>
        </p:nvSpPr>
        <p:spPr>
          <a:xfrm>
            <a:off x="931414" y="4410392"/>
            <a:ext cx="5134874" cy="4177348"/>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1794"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688">
              <a:defRPr sz="1600">
                <a:solidFill>
                  <a:schemeClr val="tx1"/>
                </a:solidFill>
                <a:latin typeface="Helvetica" panose="020B0604020202020204" pitchFamily="34" charset="0"/>
                <a:ea typeface="MS PGothic" panose="020B0600070205080204" pitchFamily="34" charset="-128"/>
              </a:defRPr>
            </a:lvl1pPr>
            <a:lvl2pPr marL="742950" indent="-285750" defTabSz="928688">
              <a:defRPr sz="1600">
                <a:solidFill>
                  <a:schemeClr val="tx1"/>
                </a:solidFill>
                <a:latin typeface="Helvetica" panose="020B0604020202020204" pitchFamily="34" charset="0"/>
                <a:ea typeface="MS PGothic" panose="020B0600070205080204" pitchFamily="34" charset="-128"/>
              </a:defRPr>
            </a:lvl2pPr>
            <a:lvl3pPr marL="1143000" indent="-228600" defTabSz="928688">
              <a:defRPr sz="1600">
                <a:solidFill>
                  <a:schemeClr val="tx1"/>
                </a:solidFill>
                <a:latin typeface="Helvetica" panose="020B0604020202020204" pitchFamily="34" charset="0"/>
                <a:ea typeface="MS PGothic" panose="020B0600070205080204" pitchFamily="34" charset="-128"/>
              </a:defRPr>
            </a:lvl3pPr>
            <a:lvl4pPr marL="1600200" indent="-228600" defTabSz="928688">
              <a:defRPr sz="1600">
                <a:solidFill>
                  <a:schemeClr val="tx1"/>
                </a:solidFill>
                <a:latin typeface="Helvetica" panose="020B0604020202020204" pitchFamily="34" charset="0"/>
                <a:ea typeface="MS PGothic" panose="020B0600070205080204" pitchFamily="34" charset="-128"/>
              </a:defRPr>
            </a:lvl4pPr>
            <a:lvl5pPr marL="2057400" indent="-228600" defTabSz="928688">
              <a:defRPr sz="1600">
                <a:solidFill>
                  <a:schemeClr val="tx1"/>
                </a:solidFill>
                <a:latin typeface="Helvetica" panose="020B0604020202020204" pitchFamily="34" charset="0"/>
                <a:ea typeface="MS PGothic" panose="020B0600070205080204" pitchFamily="34" charset="-128"/>
              </a:defRPr>
            </a:lvl5pPr>
            <a:lvl6pPr marL="25146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CFA8EE5B-27ED-41B6-B0F7-B62E458A1259}" type="slidenum">
              <a:rPr lang="en-US" altLang="en-US" sz="1200"/>
              <a:pPr/>
              <a:t>97</a:t>
            </a:fld>
            <a:endParaRPr lang="en-US" altLang="en-US" sz="1200"/>
          </a:p>
        </p:txBody>
      </p:sp>
      <p:sp>
        <p:nvSpPr>
          <p:cNvPr id="161795" name="Rectangle 2"/>
          <p:cNvSpPr>
            <a:spLocks noGrp="1" noRot="1" noChangeAspect="1" noChangeArrowheads="1" noTextEdit="1"/>
          </p:cNvSpPr>
          <p:nvPr>
            <p:ph type="sldImg"/>
          </p:nvPr>
        </p:nvSpPr>
        <p:spPr>
          <a:xfrm>
            <a:off x="1177925" y="695325"/>
            <a:ext cx="4641850" cy="3481388"/>
          </a:xfrm>
          <a:ln/>
        </p:spPr>
      </p:sp>
      <p:sp>
        <p:nvSpPr>
          <p:cNvPr id="161796" name="Rectangle 3"/>
          <p:cNvSpPr>
            <a:spLocks noGrp="1" noChangeArrowheads="1"/>
          </p:cNvSpPr>
          <p:nvPr>
            <p:ph type="body" idx="1"/>
          </p:nvPr>
        </p:nvSpPr>
        <p:spPr>
          <a:xfrm>
            <a:off x="931414" y="4410392"/>
            <a:ext cx="5134874" cy="4177348"/>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2818"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688">
              <a:defRPr sz="1600">
                <a:solidFill>
                  <a:schemeClr val="tx1"/>
                </a:solidFill>
                <a:latin typeface="Helvetica" panose="020B0604020202020204" pitchFamily="34" charset="0"/>
                <a:ea typeface="MS PGothic" panose="020B0600070205080204" pitchFamily="34" charset="-128"/>
              </a:defRPr>
            </a:lvl1pPr>
            <a:lvl2pPr marL="742950" indent="-285750" defTabSz="928688">
              <a:defRPr sz="1600">
                <a:solidFill>
                  <a:schemeClr val="tx1"/>
                </a:solidFill>
                <a:latin typeface="Helvetica" panose="020B0604020202020204" pitchFamily="34" charset="0"/>
                <a:ea typeface="MS PGothic" panose="020B0600070205080204" pitchFamily="34" charset="-128"/>
              </a:defRPr>
            </a:lvl2pPr>
            <a:lvl3pPr marL="1143000" indent="-228600" defTabSz="928688">
              <a:defRPr sz="1600">
                <a:solidFill>
                  <a:schemeClr val="tx1"/>
                </a:solidFill>
                <a:latin typeface="Helvetica" panose="020B0604020202020204" pitchFamily="34" charset="0"/>
                <a:ea typeface="MS PGothic" panose="020B0600070205080204" pitchFamily="34" charset="-128"/>
              </a:defRPr>
            </a:lvl3pPr>
            <a:lvl4pPr marL="1600200" indent="-228600" defTabSz="928688">
              <a:defRPr sz="1600">
                <a:solidFill>
                  <a:schemeClr val="tx1"/>
                </a:solidFill>
                <a:latin typeface="Helvetica" panose="020B0604020202020204" pitchFamily="34" charset="0"/>
                <a:ea typeface="MS PGothic" panose="020B0600070205080204" pitchFamily="34" charset="-128"/>
              </a:defRPr>
            </a:lvl4pPr>
            <a:lvl5pPr marL="2057400" indent="-228600" defTabSz="928688">
              <a:defRPr sz="1600">
                <a:solidFill>
                  <a:schemeClr val="tx1"/>
                </a:solidFill>
                <a:latin typeface="Helvetica" panose="020B0604020202020204" pitchFamily="34" charset="0"/>
                <a:ea typeface="MS PGothic" panose="020B0600070205080204" pitchFamily="34" charset="-128"/>
              </a:defRPr>
            </a:lvl5pPr>
            <a:lvl6pPr marL="25146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069B94BD-CECE-4C33-9065-62089078E886}" type="slidenum">
              <a:rPr lang="en-US" altLang="en-US" sz="1200"/>
              <a:pPr/>
              <a:t>98</a:t>
            </a:fld>
            <a:endParaRPr lang="en-US" altLang="en-US" sz="1200"/>
          </a:p>
        </p:txBody>
      </p:sp>
      <p:sp>
        <p:nvSpPr>
          <p:cNvPr id="162819" name="Rectangle 2"/>
          <p:cNvSpPr>
            <a:spLocks noGrp="1" noRot="1" noChangeAspect="1" noChangeArrowheads="1" noTextEdit="1"/>
          </p:cNvSpPr>
          <p:nvPr>
            <p:ph type="sldImg"/>
          </p:nvPr>
        </p:nvSpPr>
        <p:spPr>
          <a:xfrm>
            <a:off x="1177925" y="695325"/>
            <a:ext cx="4641850" cy="3481388"/>
          </a:xfrm>
          <a:ln/>
        </p:spPr>
      </p:sp>
      <p:sp>
        <p:nvSpPr>
          <p:cNvPr id="162820" name="Rectangle 3"/>
          <p:cNvSpPr>
            <a:spLocks noGrp="1" noChangeArrowheads="1"/>
          </p:cNvSpPr>
          <p:nvPr>
            <p:ph type="body" idx="1"/>
          </p:nvPr>
        </p:nvSpPr>
        <p:spPr>
          <a:xfrm>
            <a:off x="931414" y="4410392"/>
            <a:ext cx="5134874" cy="4177348"/>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4866"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688">
              <a:defRPr sz="1600">
                <a:solidFill>
                  <a:schemeClr val="tx1"/>
                </a:solidFill>
                <a:latin typeface="Helvetica" panose="020B0604020202020204" pitchFamily="34" charset="0"/>
                <a:ea typeface="MS PGothic" panose="020B0600070205080204" pitchFamily="34" charset="-128"/>
              </a:defRPr>
            </a:lvl1pPr>
            <a:lvl2pPr marL="742950" indent="-285750" defTabSz="928688">
              <a:defRPr sz="1600">
                <a:solidFill>
                  <a:schemeClr val="tx1"/>
                </a:solidFill>
                <a:latin typeface="Helvetica" panose="020B0604020202020204" pitchFamily="34" charset="0"/>
                <a:ea typeface="MS PGothic" panose="020B0600070205080204" pitchFamily="34" charset="-128"/>
              </a:defRPr>
            </a:lvl2pPr>
            <a:lvl3pPr marL="1143000" indent="-228600" defTabSz="928688">
              <a:defRPr sz="1600">
                <a:solidFill>
                  <a:schemeClr val="tx1"/>
                </a:solidFill>
                <a:latin typeface="Helvetica" panose="020B0604020202020204" pitchFamily="34" charset="0"/>
                <a:ea typeface="MS PGothic" panose="020B0600070205080204" pitchFamily="34" charset="-128"/>
              </a:defRPr>
            </a:lvl3pPr>
            <a:lvl4pPr marL="1600200" indent="-228600" defTabSz="928688">
              <a:defRPr sz="1600">
                <a:solidFill>
                  <a:schemeClr val="tx1"/>
                </a:solidFill>
                <a:latin typeface="Helvetica" panose="020B0604020202020204" pitchFamily="34" charset="0"/>
                <a:ea typeface="MS PGothic" panose="020B0600070205080204" pitchFamily="34" charset="-128"/>
              </a:defRPr>
            </a:lvl4pPr>
            <a:lvl5pPr marL="2057400" indent="-228600" defTabSz="928688">
              <a:defRPr sz="1600">
                <a:solidFill>
                  <a:schemeClr val="tx1"/>
                </a:solidFill>
                <a:latin typeface="Helvetica" panose="020B0604020202020204" pitchFamily="34" charset="0"/>
                <a:ea typeface="MS PGothic" panose="020B0600070205080204" pitchFamily="34" charset="-128"/>
              </a:defRPr>
            </a:lvl5pPr>
            <a:lvl6pPr marL="25146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B1C0C611-501B-4334-8DD9-2D5A8FF01FE8}" type="slidenum">
              <a:rPr lang="en-US" altLang="en-US" sz="1200"/>
              <a:pPr/>
              <a:t>100</a:t>
            </a:fld>
            <a:endParaRPr lang="en-US" altLang="en-US" sz="1200"/>
          </a:p>
        </p:txBody>
      </p:sp>
      <p:sp>
        <p:nvSpPr>
          <p:cNvPr id="164867" name="Rectangle 2"/>
          <p:cNvSpPr>
            <a:spLocks noGrp="1" noRot="1" noChangeAspect="1" noChangeArrowheads="1" noTextEdit="1"/>
          </p:cNvSpPr>
          <p:nvPr>
            <p:ph type="sldImg"/>
          </p:nvPr>
        </p:nvSpPr>
        <p:spPr>
          <a:xfrm>
            <a:off x="1177925" y="695325"/>
            <a:ext cx="4641850" cy="3481388"/>
          </a:xfrm>
          <a:ln/>
        </p:spPr>
      </p:sp>
      <p:sp>
        <p:nvSpPr>
          <p:cNvPr id="164868" name="Rectangle 3"/>
          <p:cNvSpPr>
            <a:spLocks noGrp="1" noChangeArrowheads="1"/>
          </p:cNvSpPr>
          <p:nvPr>
            <p:ph type="body" idx="1"/>
          </p:nvPr>
        </p:nvSpPr>
        <p:spPr>
          <a:xfrm>
            <a:off x="931414" y="4410392"/>
            <a:ext cx="5134874" cy="4177348"/>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5890"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688">
              <a:defRPr sz="1600">
                <a:solidFill>
                  <a:schemeClr val="tx1"/>
                </a:solidFill>
                <a:latin typeface="Helvetica" panose="020B0604020202020204" pitchFamily="34" charset="0"/>
                <a:ea typeface="MS PGothic" panose="020B0600070205080204" pitchFamily="34" charset="-128"/>
              </a:defRPr>
            </a:lvl1pPr>
            <a:lvl2pPr marL="742950" indent="-285750" defTabSz="928688">
              <a:defRPr sz="1600">
                <a:solidFill>
                  <a:schemeClr val="tx1"/>
                </a:solidFill>
                <a:latin typeface="Helvetica" panose="020B0604020202020204" pitchFamily="34" charset="0"/>
                <a:ea typeface="MS PGothic" panose="020B0600070205080204" pitchFamily="34" charset="-128"/>
              </a:defRPr>
            </a:lvl2pPr>
            <a:lvl3pPr marL="1143000" indent="-228600" defTabSz="928688">
              <a:defRPr sz="1600">
                <a:solidFill>
                  <a:schemeClr val="tx1"/>
                </a:solidFill>
                <a:latin typeface="Helvetica" panose="020B0604020202020204" pitchFamily="34" charset="0"/>
                <a:ea typeface="MS PGothic" panose="020B0600070205080204" pitchFamily="34" charset="-128"/>
              </a:defRPr>
            </a:lvl3pPr>
            <a:lvl4pPr marL="1600200" indent="-228600" defTabSz="928688">
              <a:defRPr sz="1600">
                <a:solidFill>
                  <a:schemeClr val="tx1"/>
                </a:solidFill>
                <a:latin typeface="Helvetica" panose="020B0604020202020204" pitchFamily="34" charset="0"/>
                <a:ea typeface="MS PGothic" panose="020B0600070205080204" pitchFamily="34" charset="-128"/>
              </a:defRPr>
            </a:lvl4pPr>
            <a:lvl5pPr marL="2057400" indent="-228600" defTabSz="928688">
              <a:defRPr sz="1600">
                <a:solidFill>
                  <a:schemeClr val="tx1"/>
                </a:solidFill>
                <a:latin typeface="Helvetica" panose="020B0604020202020204" pitchFamily="34" charset="0"/>
                <a:ea typeface="MS PGothic" panose="020B0600070205080204" pitchFamily="34" charset="-128"/>
              </a:defRPr>
            </a:lvl5pPr>
            <a:lvl6pPr marL="25146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D87BC9CE-BF8C-4DA1-B24E-2871B5D5AD09}" type="slidenum">
              <a:rPr lang="en-US" altLang="en-US" sz="1200"/>
              <a:pPr/>
              <a:t>101</a:t>
            </a:fld>
            <a:endParaRPr lang="en-US" altLang="en-US" sz="1200"/>
          </a:p>
        </p:txBody>
      </p:sp>
      <p:sp>
        <p:nvSpPr>
          <p:cNvPr id="165891" name="Rectangle 2"/>
          <p:cNvSpPr>
            <a:spLocks noGrp="1" noRot="1" noChangeAspect="1" noChangeArrowheads="1" noTextEdit="1"/>
          </p:cNvSpPr>
          <p:nvPr>
            <p:ph type="sldImg"/>
          </p:nvPr>
        </p:nvSpPr>
        <p:spPr>
          <a:xfrm>
            <a:off x="1177925" y="695325"/>
            <a:ext cx="4641850" cy="3481388"/>
          </a:xfrm>
          <a:ln/>
        </p:spPr>
      </p:sp>
      <p:sp>
        <p:nvSpPr>
          <p:cNvPr id="165892" name="Rectangle 3"/>
          <p:cNvSpPr>
            <a:spLocks noGrp="1" noChangeArrowheads="1"/>
          </p:cNvSpPr>
          <p:nvPr>
            <p:ph type="body" idx="1"/>
          </p:nvPr>
        </p:nvSpPr>
        <p:spPr>
          <a:xfrm>
            <a:off x="931414" y="4410392"/>
            <a:ext cx="5134874" cy="4177348"/>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6914"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688">
              <a:defRPr sz="1600">
                <a:solidFill>
                  <a:schemeClr val="tx1"/>
                </a:solidFill>
                <a:latin typeface="Helvetica" panose="020B0604020202020204" pitchFamily="34" charset="0"/>
                <a:ea typeface="MS PGothic" panose="020B0600070205080204" pitchFamily="34" charset="-128"/>
              </a:defRPr>
            </a:lvl1pPr>
            <a:lvl2pPr marL="742950" indent="-285750" defTabSz="928688">
              <a:defRPr sz="1600">
                <a:solidFill>
                  <a:schemeClr val="tx1"/>
                </a:solidFill>
                <a:latin typeface="Helvetica" panose="020B0604020202020204" pitchFamily="34" charset="0"/>
                <a:ea typeface="MS PGothic" panose="020B0600070205080204" pitchFamily="34" charset="-128"/>
              </a:defRPr>
            </a:lvl2pPr>
            <a:lvl3pPr marL="1143000" indent="-228600" defTabSz="928688">
              <a:defRPr sz="1600">
                <a:solidFill>
                  <a:schemeClr val="tx1"/>
                </a:solidFill>
                <a:latin typeface="Helvetica" panose="020B0604020202020204" pitchFamily="34" charset="0"/>
                <a:ea typeface="MS PGothic" panose="020B0600070205080204" pitchFamily="34" charset="-128"/>
              </a:defRPr>
            </a:lvl3pPr>
            <a:lvl4pPr marL="1600200" indent="-228600" defTabSz="928688">
              <a:defRPr sz="1600">
                <a:solidFill>
                  <a:schemeClr val="tx1"/>
                </a:solidFill>
                <a:latin typeface="Helvetica" panose="020B0604020202020204" pitchFamily="34" charset="0"/>
                <a:ea typeface="MS PGothic" panose="020B0600070205080204" pitchFamily="34" charset="-128"/>
              </a:defRPr>
            </a:lvl4pPr>
            <a:lvl5pPr marL="2057400" indent="-228600" defTabSz="928688">
              <a:defRPr sz="1600">
                <a:solidFill>
                  <a:schemeClr val="tx1"/>
                </a:solidFill>
                <a:latin typeface="Helvetica" panose="020B0604020202020204" pitchFamily="34" charset="0"/>
                <a:ea typeface="MS PGothic" panose="020B0600070205080204" pitchFamily="34" charset="-128"/>
              </a:defRPr>
            </a:lvl5pPr>
            <a:lvl6pPr marL="25146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4ABC47A9-62C0-457E-AB19-17B7324B6011}" type="slidenum">
              <a:rPr lang="en-US" altLang="en-US" sz="1200"/>
              <a:pPr/>
              <a:t>102</a:t>
            </a:fld>
            <a:endParaRPr lang="en-US" altLang="en-US" sz="1200"/>
          </a:p>
        </p:txBody>
      </p:sp>
      <p:sp>
        <p:nvSpPr>
          <p:cNvPr id="166915" name="Rectangle 2"/>
          <p:cNvSpPr>
            <a:spLocks noGrp="1" noRot="1" noChangeAspect="1" noChangeArrowheads="1" noTextEdit="1"/>
          </p:cNvSpPr>
          <p:nvPr>
            <p:ph type="sldImg"/>
          </p:nvPr>
        </p:nvSpPr>
        <p:spPr>
          <a:xfrm>
            <a:off x="1177925" y="695325"/>
            <a:ext cx="4641850" cy="3481388"/>
          </a:xfrm>
          <a:ln/>
        </p:spPr>
      </p:sp>
      <p:sp>
        <p:nvSpPr>
          <p:cNvPr id="166916" name="Rectangle 3"/>
          <p:cNvSpPr>
            <a:spLocks noGrp="1" noChangeArrowheads="1"/>
          </p:cNvSpPr>
          <p:nvPr>
            <p:ph type="body" idx="1"/>
          </p:nvPr>
        </p:nvSpPr>
        <p:spPr>
          <a:xfrm>
            <a:off x="931414" y="4410392"/>
            <a:ext cx="5134874" cy="4177348"/>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8962"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688">
              <a:defRPr sz="1600">
                <a:solidFill>
                  <a:schemeClr val="tx1"/>
                </a:solidFill>
                <a:latin typeface="Helvetica" panose="020B0604020202020204" pitchFamily="34" charset="0"/>
                <a:ea typeface="MS PGothic" panose="020B0600070205080204" pitchFamily="34" charset="-128"/>
              </a:defRPr>
            </a:lvl1pPr>
            <a:lvl2pPr marL="742950" indent="-285750" defTabSz="928688">
              <a:defRPr sz="1600">
                <a:solidFill>
                  <a:schemeClr val="tx1"/>
                </a:solidFill>
                <a:latin typeface="Helvetica" panose="020B0604020202020204" pitchFamily="34" charset="0"/>
                <a:ea typeface="MS PGothic" panose="020B0600070205080204" pitchFamily="34" charset="-128"/>
              </a:defRPr>
            </a:lvl2pPr>
            <a:lvl3pPr marL="1143000" indent="-228600" defTabSz="928688">
              <a:defRPr sz="1600">
                <a:solidFill>
                  <a:schemeClr val="tx1"/>
                </a:solidFill>
                <a:latin typeface="Helvetica" panose="020B0604020202020204" pitchFamily="34" charset="0"/>
                <a:ea typeface="MS PGothic" panose="020B0600070205080204" pitchFamily="34" charset="-128"/>
              </a:defRPr>
            </a:lvl3pPr>
            <a:lvl4pPr marL="1600200" indent="-228600" defTabSz="928688">
              <a:defRPr sz="1600">
                <a:solidFill>
                  <a:schemeClr val="tx1"/>
                </a:solidFill>
                <a:latin typeface="Helvetica" panose="020B0604020202020204" pitchFamily="34" charset="0"/>
                <a:ea typeface="MS PGothic" panose="020B0600070205080204" pitchFamily="34" charset="-128"/>
              </a:defRPr>
            </a:lvl4pPr>
            <a:lvl5pPr marL="2057400" indent="-228600" defTabSz="928688">
              <a:defRPr sz="1600">
                <a:solidFill>
                  <a:schemeClr val="tx1"/>
                </a:solidFill>
                <a:latin typeface="Helvetica" panose="020B0604020202020204" pitchFamily="34" charset="0"/>
                <a:ea typeface="MS PGothic" panose="020B0600070205080204" pitchFamily="34" charset="-128"/>
              </a:defRPr>
            </a:lvl5pPr>
            <a:lvl6pPr marL="25146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9696B17E-EA99-4BE4-8109-8D7786A8AC53}" type="slidenum">
              <a:rPr lang="en-US" altLang="en-US" sz="1200"/>
              <a:pPr/>
              <a:t>104</a:t>
            </a:fld>
            <a:endParaRPr lang="en-US" altLang="en-US" sz="1200"/>
          </a:p>
        </p:txBody>
      </p:sp>
      <p:sp>
        <p:nvSpPr>
          <p:cNvPr id="168963" name="Rectangle 2"/>
          <p:cNvSpPr>
            <a:spLocks noGrp="1" noRot="1" noChangeAspect="1" noChangeArrowheads="1" noTextEdit="1"/>
          </p:cNvSpPr>
          <p:nvPr>
            <p:ph type="sldImg"/>
          </p:nvPr>
        </p:nvSpPr>
        <p:spPr>
          <a:xfrm>
            <a:off x="1177925" y="695325"/>
            <a:ext cx="4641850" cy="3481388"/>
          </a:xfrm>
          <a:ln/>
        </p:spPr>
      </p:sp>
      <p:sp>
        <p:nvSpPr>
          <p:cNvPr id="168964" name="Rectangle 3"/>
          <p:cNvSpPr>
            <a:spLocks noGrp="1" noChangeArrowheads="1"/>
          </p:cNvSpPr>
          <p:nvPr>
            <p:ph type="body" idx="1"/>
          </p:nvPr>
        </p:nvSpPr>
        <p:spPr>
          <a:xfrm>
            <a:off x="931414" y="4410392"/>
            <a:ext cx="5134874" cy="4177348"/>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9986"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688">
              <a:defRPr sz="1600">
                <a:solidFill>
                  <a:schemeClr val="tx1"/>
                </a:solidFill>
                <a:latin typeface="Helvetica" panose="020B0604020202020204" pitchFamily="34" charset="0"/>
                <a:ea typeface="MS PGothic" panose="020B0600070205080204" pitchFamily="34" charset="-128"/>
              </a:defRPr>
            </a:lvl1pPr>
            <a:lvl2pPr marL="742950" indent="-285750" defTabSz="928688">
              <a:defRPr sz="1600">
                <a:solidFill>
                  <a:schemeClr val="tx1"/>
                </a:solidFill>
                <a:latin typeface="Helvetica" panose="020B0604020202020204" pitchFamily="34" charset="0"/>
                <a:ea typeface="MS PGothic" panose="020B0600070205080204" pitchFamily="34" charset="-128"/>
              </a:defRPr>
            </a:lvl2pPr>
            <a:lvl3pPr marL="1143000" indent="-228600" defTabSz="928688">
              <a:defRPr sz="1600">
                <a:solidFill>
                  <a:schemeClr val="tx1"/>
                </a:solidFill>
                <a:latin typeface="Helvetica" panose="020B0604020202020204" pitchFamily="34" charset="0"/>
                <a:ea typeface="MS PGothic" panose="020B0600070205080204" pitchFamily="34" charset="-128"/>
              </a:defRPr>
            </a:lvl3pPr>
            <a:lvl4pPr marL="1600200" indent="-228600" defTabSz="928688">
              <a:defRPr sz="1600">
                <a:solidFill>
                  <a:schemeClr val="tx1"/>
                </a:solidFill>
                <a:latin typeface="Helvetica" panose="020B0604020202020204" pitchFamily="34" charset="0"/>
                <a:ea typeface="MS PGothic" panose="020B0600070205080204" pitchFamily="34" charset="-128"/>
              </a:defRPr>
            </a:lvl4pPr>
            <a:lvl5pPr marL="2057400" indent="-228600" defTabSz="928688">
              <a:defRPr sz="1600">
                <a:solidFill>
                  <a:schemeClr val="tx1"/>
                </a:solidFill>
                <a:latin typeface="Helvetica" panose="020B0604020202020204" pitchFamily="34" charset="0"/>
                <a:ea typeface="MS PGothic" panose="020B0600070205080204" pitchFamily="34" charset="-128"/>
              </a:defRPr>
            </a:lvl5pPr>
            <a:lvl6pPr marL="25146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037F53DE-0A03-40E0-A2C9-F027B409EFB7}" type="slidenum">
              <a:rPr lang="en-US" altLang="en-US" sz="1200"/>
              <a:pPr/>
              <a:t>105</a:t>
            </a:fld>
            <a:endParaRPr lang="en-US" altLang="en-US" sz="1200"/>
          </a:p>
        </p:txBody>
      </p:sp>
      <p:sp>
        <p:nvSpPr>
          <p:cNvPr id="169987" name="Rectangle 2"/>
          <p:cNvSpPr>
            <a:spLocks noGrp="1" noRot="1" noChangeAspect="1" noChangeArrowheads="1" noTextEdit="1"/>
          </p:cNvSpPr>
          <p:nvPr>
            <p:ph type="sldImg"/>
          </p:nvPr>
        </p:nvSpPr>
        <p:spPr>
          <a:xfrm>
            <a:off x="1177925" y="695325"/>
            <a:ext cx="4641850" cy="3481388"/>
          </a:xfrm>
          <a:ln/>
        </p:spPr>
      </p:sp>
      <p:sp>
        <p:nvSpPr>
          <p:cNvPr id="169988" name="Rectangle 3"/>
          <p:cNvSpPr>
            <a:spLocks noGrp="1" noChangeArrowheads="1"/>
          </p:cNvSpPr>
          <p:nvPr>
            <p:ph type="body" idx="1"/>
          </p:nvPr>
        </p:nvSpPr>
        <p:spPr>
          <a:xfrm>
            <a:off x="931414" y="4410392"/>
            <a:ext cx="5134874" cy="4177348"/>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1010"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688">
              <a:defRPr sz="1600">
                <a:solidFill>
                  <a:schemeClr val="tx1"/>
                </a:solidFill>
                <a:latin typeface="Helvetica" panose="020B0604020202020204" pitchFamily="34" charset="0"/>
                <a:ea typeface="MS PGothic" panose="020B0600070205080204" pitchFamily="34" charset="-128"/>
              </a:defRPr>
            </a:lvl1pPr>
            <a:lvl2pPr marL="742950" indent="-285750" defTabSz="928688">
              <a:defRPr sz="1600">
                <a:solidFill>
                  <a:schemeClr val="tx1"/>
                </a:solidFill>
                <a:latin typeface="Helvetica" panose="020B0604020202020204" pitchFamily="34" charset="0"/>
                <a:ea typeface="MS PGothic" panose="020B0600070205080204" pitchFamily="34" charset="-128"/>
              </a:defRPr>
            </a:lvl2pPr>
            <a:lvl3pPr marL="1143000" indent="-228600" defTabSz="928688">
              <a:defRPr sz="1600">
                <a:solidFill>
                  <a:schemeClr val="tx1"/>
                </a:solidFill>
                <a:latin typeface="Helvetica" panose="020B0604020202020204" pitchFamily="34" charset="0"/>
                <a:ea typeface="MS PGothic" panose="020B0600070205080204" pitchFamily="34" charset="-128"/>
              </a:defRPr>
            </a:lvl3pPr>
            <a:lvl4pPr marL="1600200" indent="-228600" defTabSz="928688">
              <a:defRPr sz="1600">
                <a:solidFill>
                  <a:schemeClr val="tx1"/>
                </a:solidFill>
                <a:latin typeface="Helvetica" panose="020B0604020202020204" pitchFamily="34" charset="0"/>
                <a:ea typeface="MS PGothic" panose="020B0600070205080204" pitchFamily="34" charset="-128"/>
              </a:defRPr>
            </a:lvl4pPr>
            <a:lvl5pPr marL="2057400" indent="-228600" defTabSz="928688">
              <a:defRPr sz="1600">
                <a:solidFill>
                  <a:schemeClr val="tx1"/>
                </a:solidFill>
                <a:latin typeface="Helvetica" panose="020B0604020202020204" pitchFamily="34" charset="0"/>
                <a:ea typeface="MS PGothic" panose="020B0600070205080204" pitchFamily="34" charset="-128"/>
              </a:defRPr>
            </a:lvl5pPr>
            <a:lvl6pPr marL="25146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2CBA1292-271E-4250-9539-FFC50DBCE514}" type="slidenum">
              <a:rPr lang="en-US" altLang="en-US" sz="1200"/>
              <a:pPr/>
              <a:t>106</a:t>
            </a:fld>
            <a:endParaRPr lang="en-US" altLang="en-US" sz="1200"/>
          </a:p>
        </p:txBody>
      </p:sp>
      <p:sp>
        <p:nvSpPr>
          <p:cNvPr id="171011" name="Rectangle 2"/>
          <p:cNvSpPr>
            <a:spLocks noGrp="1" noRot="1" noChangeAspect="1" noChangeArrowheads="1" noTextEdit="1"/>
          </p:cNvSpPr>
          <p:nvPr>
            <p:ph type="sldImg"/>
          </p:nvPr>
        </p:nvSpPr>
        <p:spPr>
          <a:xfrm>
            <a:off x="1177925" y="695325"/>
            <a:ext cx="4641850" cy="3481388"/>
          </a:xfrm>
          <a:ln/>
        </p:spPr>
      </p:sp>
      <p:sp>
        <p:nvSpPr>
          <p:cNvPr id="171012" name="Rectangle 3"/>
          <p:cNvSpPr>
            <a:spLocks noGrp="1" noChangeArrowheads="1"/>
          </p:cNvSpPr>
          <p:nvPr>
            <p:ph type="body" idx="1"/>
          </p:nvPr>
        </p:nvSpPr>
        <p:spPr>
          <a:xfrm>
            <a:off x="931414" y="4410392"/>
            <a:ext cx="5134874" cy="4177348"/>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2034"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688">
              <a:defRPr sz="1600">
                <a:solidFill>
                  <a:schemeClr val="tx1"/>
                </a:solidFill>
                <a:latin typeface="Helvetica" panose="020B0604020202020204" pitchFamily="34" charset="0"/>
                <a:ea typeface="MS PGothic" panose="020B0600070205080204" pitchFamily="34" charset="-128"/>
              </a:defRPr>
            </a:lvl1pPr>
            <a:lvl2pPr marL="742950" indent="-285750" defTabSz="928688">
              <a:defRPr sz="1600">
                <a:solidFill>
                  <a:schemeClr val="tx1"/>
                </a:solidFill>
                <a:latin typeface="Helvetica" panose="020B0604020202020204" pitchFamily="34" charset="0"/>
                <a:ea typeface="MS PGothic" panose="020B0600070205080204" pitchFamily="34" charset="-128"/>
              </a:defRPr>
            </a:lvl2pPr>
            <a:lvl3pPr marL="1143000" indent="-228600" defTabSz="928688">
              <a:defRPr sz="1600">
                <a:solidFill>
                  <a:schemeClr val="tx1"/>
                </a:solidFill>
                <a:latin typeface="Helvetica" panose="020B0604020202020204" pitchFamily="34" charset="0"/>
                <a:ea typeface="MS PGothic" panose="020B0600070205080204" pitchFamily="34" charset="-128"/>
              </a:defRPr>
            </a:lvl3pPr>
            <a:lvl4pPr marL="1600200" indent="-228600" defTabSz="928688">
              <a:defRPr sz="1600">
                <a:solidFill>
                  <a:schemeClr val="tx1"/>
                </a:solidFill>
                <a:latin typeface="Helvetica" panose="020B0604020202020204" pitchFamily="34" charset="0"/>
                <a:ea typeface="MS PGothic" panose="020B0600070205080204" pitchFamily="34" charset="-128"/>
              </a:defRPr>
            </a:lvl4pPr>
            <a:lvl5pPr marL="2057400" indent="-228600" defTabSz="928688">
              <a:defRPr sz="1600">
                <a:solidFill>
                  <a:schemeClr val="tx1"/>
                </a:solidFill>
                <a:latin typeface="Helvetica" panose="020B0604020202020204" pitchFamily="34" charset="0"/>
                <a:ea typeface="MS PGothic" panose="020B0600070205080204" pitchFamily="34" charset="-128"/>
              </a:defRPr>
            </a:lvl5pPr>
            <a:lvl6pPr marL="25146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45027822-1DA4-45D6-8B4A-F0F2C0E9336B}" type="slidenum">
              <a:rPr lang="en-US" altLang="en-US" sz="1200"/>
              <a:pPr/>
              <a:t>107</a:t>
            </a:fld>
            <a:endParaRPr lang="en-US" altLang="en-US" sz="1200"/>
          </a:p>
        </p:txBody>
      </p:sp>
      <p:sp>
        <p:nvSpPr>
          <p:cNvPr id="172035" name="Rectangle 2"/>
          <p:cNvSpPr>
            <a:spLocks noGrp="1" noRot="1" noChangeAspect="1" noChangeArrowheads="1" noTextEdit="1"/>
          </p:cNvSpPr>
          <p:nvPr>
            <p:ph type="sldImg"/>
          </p:nvPr>
        </p:nvSpPr>
        <p:spPr>
          <a:xfrm>
            <a:off x="1177925" y="695325"/>
            <a:ext cx="4641850" cy="3481388"/>
          </a:xfrm>
          <a:ln/>
        </p:spPr>
      </p:sp>
      <p:sp>
        <p:nvSpPr>
          <p:cNvPr id="172036" name="Rectangle 3"/>
          <p:cNvSpPr>
            <a:spLocks noGrp="1" noChangeArrowheads="1"/>
          </p:cNvSpPr>
          <p:nvPr>
            <p:ph type="body" idx="1"/>
          </p:nvPr>
        </p:nvSpPr>
        <p:spPr>
          <a:xfrm>
            <a:off x="931414" y="4410392"/>
            <a:ext cx="5134874" cy="4177348"/>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3058"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688">
              <a:defRPr sz="1600">
                <a:solidFill>
                  <a:schemeClr val="tx1"/>
                </a:solidFill>
                <a:latin typeface="Helvetica" panose="020B0604020202020204" pitchFamily="34" charset="0"/>
                <a:ea typeface="MS PGothic" panose="020B0600070205080204" pitchFamily="34" charset="-128"/>
              </a:defRPr>
            </a:lvl1pPr>
            <a:lvl2pPr marL="742950" indent="-285750" defTabSz="928688">
              <a:defRPr sz="1600">
                <a:solidFill>
                  <a:schemeClr val="tx1"/>
                </a:solidFill>
                <a:latin typeface="Helvetica" panose="020B0604020202020204" pitchFamily="34" charset="0"/>
                <a:ea typeface="MS PGothic" panose="020B0600070205080204" pitchFamily="34" charset="-128"/>
              </a:defRPr>
            </a:lvl2pPr>
            <a:lvl3pPr marL="1143000" indent="-228600" defTabSz="928688">
              <a:defRPr sz="1600">
                <a:solidFill>
                  <a:schemeClr val="tx1"/>
                </a:solidFill>
                <a:latin typeface="Helvetica" panose="020B0604020202020204" pitchFamily="34" charset="0"/>
                <a:ea typeface="MS PGothic" panose="020B0600070205080204" pitchFamily="34" charset="-128"/>
              </a:defRPr>
            </a:lvl3pPr>
            <a:lvl4pPr marL="1600200" indent="-228600" defTabSz="928688">
              <a:defRPr sz="1600">
                <a:solidFill>
                  <a:schemeClr val="tx1"/>
                </a:solidFill>
                <a:latin typeface="Helvetica" panose="020B0604020202020204" pitchFamily="34" charset="0"/>
                <a:ea typeface="MS PGothic" panose="020B0600070205080204" pitchFamily="34" charset="-128"/>
              </a:defRPr>
            </a:lvl4pPr>
            <a:lvl5pPr marL="2057400" indent="-228600" defTabSz="928688">
              <a:defRPr sz="1600">
                <a:solidFill>
                  <a:schemeClr val="tx1"/>
                </a:solidFill>
                <a:latin typeface="Helvetica" panose="020B0604020202020204" pitchFamily="34" charset="0"/>
                <a:ea typeface="MS PGothic" panose="020B0600070205080204" pitchFamily="34" charset="-128"/>
              </a:defRPr>
            </a:lvl5pPr>
            <a:lvl6pPr marL="25146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4F5AE4C2-505E-4B52-AE25-D384F1F0AFC8}" type="slidenum">
              <a:rPr lang="en-US" altLang="en-US" sz="1200"/>
              <a:pPr/>
              <a:t>108</a:t>
            </a:fld>
            <a:endParaRPr lang="en-US" altLang="en-US" sz="1200"/>
          </a:p>
        </p:txBody>
      </p:sp>
      <p:sp>
        <p:nvSpPr>
          <p:cNvPr id="173059" name="Rectangle 2"/>
          <p:cNvSpPr>
            <a:spLocks noGrp="1" noRot="1" noChangeAspect="1" noChangeArrowheads="1" noTextEdit="1"/>
          </p:cNvSpPr>
          <p:nvPr>
            <p:ph type="sldImg"/>
          </p:nvPr>
        </p:nvSpPr>
        <p:spPr>
          <a:xfrm>
            <a:off x="1177925" y="695325"/>
            <a:ext cx="4641850" cy="3481388"/>
          </a:xfrm>
          <a:ln/>
        </p:spPr>
      </p:sp>
      <p:sp>
        <p:nvSpPr>
          <p:cNvPr id="173060" name="Rectangle 3"/>
          <p:cNvSpPr>
            <a:spLocks noGrp="1" noChangeArrowheads="1"/>
          </p:cNvSpPr>
          <p:nvPr>
            <p:ph type="body" idx="1"/>
          </p:nvPr>
        </p:nvSpPr>
        <p:spPr>
          <a:xfrm>
            <a:off x="931414" y="4410392"/>
            <a:ext cx="5134874" cy="4177348"/>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4082"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688">
              <a:defRPr sz="1600">
                <a:solidFill>
                  <a:schemeClr val="tx1"/>
                </a:solidFill>
                <a:latin typeface="Helvetica" panose="020B0604020202020204" pitchFamily="34" charset="0"/>
                <a:ea typeface="MS PGothic" panose="020B0600070205080204" pitchFamily="34" charset="-128"/>
              </a:defRPr>
            </a:lvl1pPr>
            <a:lvl2pPr marL="742950" indent="-285750" defTabSz="928688">
              <a:defRPr sz="1600">
                <a:solidFill>
                  <a:schemeClr val="tx1"/>
                </a:solidFill>
                <a:latin typeface="Helvetica" panose="020B0604020202020204" pitchFamily="34" charset="0"/>
                <a:ea typeface="MS PGothic" panose="020B0600070205080204" pitchFamily="34" charset="-128"/>
              </a:defRPr>
            </a:lvl2pPr>
            <a:lvl3pPr marL="1143000" indent="-228600" defTabSz="928688">
              <a:defRPr sz="1600">
                <a:solidFill>
                  <a:schemeClr val="tx1"/>
                </a:solidFill>
                <a:latin typeface="Helvetica" panose="020B0604020202020204" pitchFamily="34" charset="0"/>
                <a:ea typeface="MS PGothic" panose="020B0600070205080204" pitchFamily="34" charset="-128"/>
              </a:defRPr>
            </a:lvl3pPr>
            <a:lvl4pPr marL="1600200" indent="-228600" defTabSz="928688">
              <a:defRPr sz="1600">
                <a:solidFill>
                  <a:schemeClr val="tx1"/>
                </a:solidFill>
                <a:latin typeface="Helvetica" panose="020B0604020202020204" pitchFamily="34" charset="0"/>
                <a:ea typeface="MS PGothic" panose="020B0600070205080204" pitchFamily="34" charset="-128"/>
              </a:defRPr>
            </a:lvl4pPr>
            <a:lvl5pPr marL="2057400" indent="-228600" defTabSz="928688">
              <a:defRPr sz="1600">
                <a:solidFill>
                  <a:schemeClr val="tx1"/>
                </a:solidFill>
                <a:latin typeface="Helvetica" panose="020B0604020202020204" pitchFamily="34" charset="0"/>
                <a:ea typeface="MS PGothic" panose="020B0600070205080204" pitchFamily="34" charset="-128"/>
              </a:defRPr>
            </a:lvl5pPr>
            <a:lvl6pPr marL="25146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7749D456-034E-4195-8672-8080BB49D1C9}" type="slidenum">
              <a:rPr lang="en-US" altLang="en-US" sz="1200"/>
              <a:pPr/>
              <a:t>109</a:t>
            </a:fld>
            <a:endParaRPr lang="en-US" altLang="en-US" sz="1200"/>
          </a:p>
        </p:txBody>
      </p:sp>
      <p:sp>
        <p:nvSpPr>
          <p:cNvPr id="174083" name="Rectangle 2"/>
          <p:cNvSpPr>
            <a:spLocks noGrp="1" noRot="1" noChangeAspect="1" noChangeArrowheads="1" noTextEdit="1"/>
          </p:cNvSpPr>
          <p:nvPr>
            <p:ph type="sldImg"/>
          </p:nvPr>
        </p:nvSpPr>
        <p:spPr>
          <a:ln/>
        </p:spPr>
      </p:sp>
      <p:sp>
        <p:nvSpPr>
          <p:cNvPr id="174084"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5106"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688">
              <a:defRPr sz="1600">
                <a:solidFill>
                  <a:schemeClr val="tx1"/>
                </a:solidFill>
                <a:latin typeface="Helvetica" panose="020B0604020202020204" pitchFamily="34" charset="0"/>
                <a:ea typeface="MS PGothic" panose="020B0600070205080204" pitchFamily="34" charset="-128"/>
              </a:defRPr>
            </a:lvl1pPr>
            <a:lvl2pPr marL="742950" indent="-285750" defTabSz="928688">
              <a:defRPr sz="1600">
                <a:solidFill>
                  <a:schemeClr val="tx1"/>
                </a:solidFill>
                <a:latin typeface="Helvetica" panose="020B0604020202020204" pitchFamily="34" charset="0"/>
                <a:ea typeface="MS PGothic" panose="020B0600070205080204" pitchFamily="34" charset="-128"/>
              </a:defRPr>
            </a:lvl2pPr>
            <a:lvl3pPr marL="1143000" indent="-228600" defTabSz="928688">
              <a:defRPr sz="1600">
                <a:solidFill>
                  <a:schemeClr val="tx1"/>
                </a:solidFill>
                <a:latin typeface="Helvetica" panose="020B0604020202020204" pitchFamily="34" charset="0"/>
                <a:ea typeface="MS PGothic" panose="020B0600070205080204" pitchFamily="34" charset="-128"/>
              </a:defRPr>
            </a:lvl3pPr>
            <a:lvl4pPr marL="1600200" indent="-228600" defTabSz="928688">
              <a:defRPr sz="1600">
                <a:solidFill>
                  <a:schemeClr val="tx1"/>
                </a:solidFill>
                <a:latin typeface="Helvetica" panose="020B0604020202020204" pitchFamily="34" charset="0"/>
                <a:ea typeface="MS PGothic" panose="020B0600070205080204" pitchFamily="34" charset="-128"/>
              </a:defRPr>
            </a:lvl4pPr>
            <a:lvl5pPr marL="2057400" indent="-228600" defTabSz="928688">
              <a:defRPr sz="1600">
                <a:solidFill>
                  <a:schemeClr val="tx1"/>
                </a:solidFill>
                <a:latin typeface="Helvetica" panose="020B0604020202020204" pitchFamily="34" charset="0"/>
                <a:ea typeface="MS PGothic" panose="020B0600070205080204" pitchFamily="34" charset="-128"/>
              </a:defRPr>
            </a:lvl5pPr>
            <a:lvl6pPr marL="25146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AF5C975C-CA24-4F0D-85AD-F6146BCF0205}" type="slidenum">
              <a:rPr lang="en-US" altLang="en-US" sz="1200"/>
              <a:pPr/>
              <a:t>110</a:t>
            </a:fld>
            <a:endParaRPr lang="en-US" altLang="en-US" sz="1200"/>
          </a:p>
        </p:txBody>
      </p:sp>
      <p:sp>
        <p:nvSpPr>
          <p:cNvPr id="175107" name="Rectangle 2"/>
          <p:cNvSpPr>
            <a:spLocks noGrp="1" noRot="1" noChangeAspect="1" noChangeArrowheads="1" noTextEdit="1"/>
          </p:cNvSpPr>
          <p:nvPr>
            <p:ph type="sldImg"/>
          </p:nvPr>
        </p:nvSpPr>
        <p:spPr>
          <a:xfrm>
            <a:off x="1177925" y="695325"/>
            <a:ext cx="4641850" cy="3481388"/>
          </a:xfrm>
          <a:ln/>
        </p:spPr>
      </p:sp>
      <p:sp>
        <p:nvSpPr>
          <p:cNvPr id="175108" name="Rectangle 3"/>
          <p:cNvSpPr>
            <a:spLocks noGrp="1" noChangeArrowheads="1"/>
          </p:cNvSpPr>
          <p:nvPr>
            <p:ph type="body" idx="1"/>
          </p:nvPr>
        </p:nvSpPr>
        <p:spPr>
          <a:xfrm>
            <a:off x="931414" y="4410392"/>
            <a:ext cx="5134874" cy="4177348"/>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6130"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688">
              <a:defRPr sz="1600">
                <a:solidFill>
                  <a:schemeClr val="tx1"/>
                </a:solidFill>
                <a:latin typeface="Helvetica" panose="020B0604020202020204" pitchFamily="34" charset="0"/>
                <a:ea typeface="MS PGothic" panose="020B0600070205080204" pitchFamily="34" charset="-128"/>
              </a:defRPr>
            </a:lvl1pPr>
            <a:lvl2pPr marL="742950" indent="-285750" defTabSz="928688">
              <a:defRPr sz="1600">
                <a:solidFill>
                  <a:schemeClr val="tx1"/>
                </a:solidFill>
                <a:latin typeface="Helvetica" panose="020B0604020202020204" pitchFamily="34" charset="0"/>
                <a:ea typeface="MS PGothic" panose="020B0600070205080204" pitchFamily="34" charset="-128"/>
              </a:defRPr>
            </a:lvl2pPr>
            <a:lvl3pPr marL="1143000" indent="-228600" defTabSz="928688">
              <a:defRPr sz="1600">
                <a:solidFill>
                  <a:schemeClr val="tx1"/>
                </a:solidFill>
                <a:latin typeface="Helvetica" panose="020B0604020202020204" pitchFamily="34" charset="0"/>
                <a:ea typeface="MS PGothic" panose="020B0600070205080204" pitchFamily="34" charset="-128"/>
              </a:defRPr>
            </a:lvl3pPr>
            <a:lvl4pPr marL="1600200" indent="-228600" defTabSz="928688">
              <a:defRPr sz="1600">
                <a:solidFill>
                  <a:schemeClr val="tx1"/>
                </a:solidFill>
                <a:latin typeface="Helvetica" panose="020B0604020202020204" pitchFamily="34" charset="0"/>
                <a:ea typeface="MS PGothic" panose="020B0600070205080204" pitchFamily="34" charset="-128"/>
              </a:defRPr>
            </a:lvl4pPr>
            <a:lvl5pPr marL="2057400" indent="-228600" defTabSz="928688">
              <a:defRPr sz="1600">
                <a:solidFill>
                  <a:schemeClr val="tx1"/>
                </a:solidFill>
                <a:latin typeface="Helvetica" panose="020B0604020202020204" pitchFamily="34" charset="0"/>
                <a:ea typeface="MS PGothic" panose="020B0600070205080204" pitchFamily="34" charset="-128"/>
              </a:defRPr>
            </a:lvl5pPr>
            <a:lvl6pPr marL="25146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CA5F8435-A232-49CF-A9C6-B8722E09AEA4}" type="slidenum">
              <a:rPr lang="en-US" altLang="en-US" sz="1200"/>
              <a:pPr/>
              <a:t>111</a:t>
            </a:fld>
            <a:endParaRPr lang="en-US" altLang="en-US" sz="1200"/>
          </a:p>
        </p:txBody>
      </p:sp>
      <p:sp>
        <p:nvSpPr>
          <p:cNvPr id="176131" name="Rectangle 2"/>
          <p:cNvSpPr>
            <a:spLocks noGrp="1" noRot="1" noChangeAspect="1" noChangeArrowheads="1" noTextEdit="1"/>
          </p:cNvSpPr>
          <p:nvPr>
            <p:ph type="sldImg"/>
          </p:nvPr>
        </p:nvSpPr>
        <p:spPr>
          <a:xfrm>
            <a:off x="1177925" y="695325"/>
            <a:ext cx="4641850" cy="3481388"/>
          </a:xfrm>
          <a:ln/>
        </p:spPr>
      </p:sp>
      <p:sp>
        <p:nvSpPr>
          <p:cNvPr id="176132" name="Rectangle 3"/>
          <p:cNvSpPr>
            <a:spLocks noGrp="1" noChangeArrowheads="1"/>
          </p:cNvSpPr>
          <p:nvPr>
            <p:ph type="body" idx="1"/>
          </p:nvPr>
        </p:nvSpPr>
        <p:spPr>
          <a:xfrm>
            <a:off x="931414" y="4410392"/>
            <a:ext cx="5134874" cy="4177348"/>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7154"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688">
              <a:defRPr sz="1600">
                <a:solidFill>
                  <a:schemeClr val="tx1"/>
                </a:solidFill>
                <a:latin typeface="Helvetica" panose="020B0604020202020204" pitchFamily="34" charset="0"/>
                <a:ea typeface="MS PGothic" panose="020B0600070205080204" pitchFamily="34" charset="-128"/>
              </a:defRPr>
            </a:lvl1pPr>
            <a:lvl2pPr marL="742950" indent="-285750" defTabSz="928688">
              <a:defRPr sz="1600">
                <a:solidFill>
                  <a:schemeClr val="tx1"/>
                </a:solidFill>
                <a:latin typeface="Helvetica" panose="020B0604020202020204" pitchFamily="34" charset="0"/>
                <a:ea typeface="MS PGothic" panose="020B0600070205080204" pitchFamily="34" charset="-128"/>
              </a:defRPr>
            </a:lvl2pPr>
            <a:lvl3pPr marL="1143000" indent="-228600" defTabSz="928688">
              <a:defRPr sz="1600">
                <a:solidFill>
                  <a:schemeClr val="tx1"/>
                </a:solidFill>
                <a:latin typeface="Helvetica" panose="020B0604020202020204" pitchFamily="34" charset="0"/>
                <a:ea typeface="MS PGothic" panose="020B0600070205080204" pitchFamily="34" charset="-128"/>
              </a:defRPr>
            </a:lvl3pPr>
            <a:lvl4pPr marL="1600200" indent="-228600" defTabSz="928688">
              <a:defRPr sz="1600">
                <a:solidFill>
                  <a:schemeClr val="tx1"/>
                </a:solidFill>
                <a:latin typeface="Helvetica" panose="020B0604020202020204" pitchFamily="34" charset="0"/>
                <a:ea typeface="MS PGothic" panose="020B0600070205080204" pitchFamily="34" charset="-128"/>
              </a:defRPr>
            </a:lvl4pPr>
            <a:lvl5pPr marL="2057400" indent="-228600" defTabSz="928688">
              <a:defRPr sz="1600">
                <a:solidFill>
                  <a:schemeClr val="tx1"/>
                </a:solidFill>
                <a:latin typeface="Helvetica" panose="020B0604020202020204" pitchFamily="34" charset="0"/>
                <a:ea typeface="MS PGothic" panose="020B0600070205080204" pitchFamily="34" charset="-128"/>
              </a:defRPr>
            </a:lvl5pPr>
            <a:lvl6pPr marL="25146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29301218-705C-4D04-BB0F-53A85D1868AA}" type="slidenum">
              <a:rPr lang="en-US" altLang="en-US" sz="1200"/>
              <a:pPr/>
              <a:t>112</a:t>
            </a:fld>
            <a:endParaRPr lang="en-US" altLang="en-US" sz="1200"/>
          </a:p>
        </p:txBody>
      </p:sp>
      <p:sp>
        <p:nvSpPr>
          <p:cNvPr id="177155" name="Rectangle 2"/>
          <p:cNvSpPr>
            <a:spLocks noGrp="1" noRot="1" noChangeAspect="1" noChangeArrowheads="1" noTextEdit="1"/>
          </p:cNvSpPr>
          <p:nvPr>
            <p:ph type="sldImg"/>
          </p:nvPr>
        </p:nvSpPr>
        <p:spPr>
          <a:xfrm>
            <a:off x="1177925" y="695325"/>
            <a:ext cx="4641850" cy="3481388"/>
          </a:xfrm>
          <a:ln/>
        </p:spPr>
      </p:sp>
      <p:sp>
        <p:nvSpPr>
          <p:cNvPr id="177156" name="Rectangle 3"/>
          <p:cNvSpPr>
            <a:spLocks noGrp="1" noChangeArrowheads="1"/>
          </p:cNvSpPr>
          <p:nvPr>
            <p:ph type="body" idx="1"/>
          </p:nvPr>
        </p:nvSpPr>
        <p:spPr>
          <a:xfrm>
            <a:off x="931414" y="4410392"/>
            <a:ext cx="5134874" cy="4177348"/>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8178"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688">
              <a:defRPr sz="1600">
                <a:solidFill>
                  <a:schemeClr val="tx1"/>
                </a:solidFill>
                <a:latin typeface="Helvetica" panose="020B0604020202020204" pitchFamily="34" charset="0"/>
                <a:ea typeface="MS PGothic" panose="020B0600070205080204" pitchFamily="34" charset="-128"/>
              </a:defRPr>
            </a:lvl1pPr>
            <a:lvl2pPr marL="742950" indent="-285750" defTabSz="928688">
              <a:defRPr sz="1600">
                <a:solidFill>
                  <a:schemeClr val="tx1"/>
                </a:solidFill>
                <a:latin typeface="Helvetica" panose="020B0604020202020204" pitchFamily="34" charset="0"/>
                <a:ea typeface="MS PGothic" panose="020B0600070205080204" pitchFamily="34" charset="-128"/>
              </a:defRPr>
            </a:lvl2pPr>
            <a:lvl3pPr marL="1143000" indent="-228600" defTabSz="928688">
              <a:defRPr sz="1600">
                <a:solidFill>
                  <a:schemeClr val="tx1"/>
                </a:solidFill>
                <a:latin typeface="Helvetica" panose="020B0604020202020204" pitchFamily="34" charset="0"/>
                <a:ea typeface="MS PGothic" panose="020B0600070205080204" pitchFamily="34" charset="-128"/>
              </a:defRPr>
            </a:lvl3pPr>
            <a:lvl4pPr marL="1600200" indent="-228600" defTabSz="928688">
              <a:defRPr sz="1600">
                <a:solidFill>
                  <a:schemeClr val="tx1"/>
                </a:solidFill>
                <a:latin typeface="Helvetica" panose="020B0604020202020204" pitchFamily="34" charset="0"/>
                <a:ea typeface="MS PGothic" panose="020B0600070205080204" pitchFamily="34" charset="-128"/>
              </a:defRPr>
            </a:lvl4pPr>
            <a:lvl5pPr marL="2057400" indent="-228600" defTabSz="928688">
              <a:defRPr sz="1600">
                <a:solidFill>
                  <a:schemeClr val="tx1"/>
                </a:solidFill>
                <a:latin typeface="Helvetica" panose="020B0604020202020204" pitchFamily="34" charset="0"/>
                <a:ea typeface="MS PGothic" panose="020B0600070205080204" pitchFamily="34" charset="-128"/>
              </a:defRPr>
            </a:lvl5pPr>
            <a:lvl6pPr marL="25146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5FB9D207-2DEF-441B-BED4-CFAF747A5F24}" type="slidenum">
              <a:rPr lang="en-US" altLang="en-US" sz="1200"/>
              <a:pPr/>
              <a:t>113</a:t>
            </a:fld>
            <a:endParaRPr lang="en-US" altLang="en-US" sz="1200"/>
          </a:p>
        </p:txBody>
      </p:sp>
      <p:sp>
        <p:nvSpPr>
          <p:cNvPr id="178179" name="Rectangle 2"/>
          <p:cNvSpPr>
            <a:spLocks noGrp="1" noRot="1" noChangeAspect="1" noChangeArrowheads="1" noTextEdit="1"/>
          </p:cNvSpPr>
          <p:nvPr>
            <p:ph type="sldImg"/>
          </p:nvPr>
        </p:nvSpPr>
        <p:spPr>
          <a:xfrm>
            <a:off x="1177925" y="695325"/>
            <a:ext cx="4641850" cy="3481388"/>
          </a:xfrm>
          <a:ln/>
        </p:spPr>
      </p:sp>
      <p:sp>
        <p:nvSpPr>
          <p:cNvPr id="178180" name="Rectangle 3"/>
          <p:cNvSpPr>
            <a:spLocks noGrp="1" noChangeArrowheads="1"/>
          </p:cNvSpPr>
          <p:nvPr>
            <p:ph type="body" idx="1"/>
          </p:nvPr>
        </p:nvSpPr>
        <p:spPr>
          <a:xfrm>
            <a:off x="931414" y="4410392"/>
            <a:ext cx="5134874" cy="4177348"/>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9202"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688">
              <a:defRPr sz="1600">
                <a:solidFill>
                  <a:schemeClr val="tx1"/>
                </a:solidFill>
                <a:latin typeface="Helvetica" panose="020B0604020202020204" pitchFamily="34" charset="0"/>
                <a:ea typeface="MS PGothic" panose="020B0600070205080204" pitchFamily="34" charset="-128"/>
              </a:defRPr>
            </a:lvl1pPr>
            <a:lvl2pPr marL="742950" indent="-285750" defTabSz="928688">
              <a:defRPr sz="1600">
                <a:solidFill>
                  <a:schemeClr val="tx1"/>
                </a:solidFill>
                <a:latin typeface="Helvetica" panose="020B0604020202020204" pitchFamily="34" charset="0"/>
                <a:ea typeface="MS PGothic" panose="020B0600070205080204" pitchFamily="34" charset="-128"/>
              </a:defRPr>
            </a:lvl2pPr>
            <a:lvl3pPr marL="1143000" indent="-228600" defTabSz="928688">
              <a:defRPr sz="1600">
                <a:solidFill>
                  <a:schemeClr val="tx1"/>
                </a:solidFill>
                <a:latin typeface="Helvetica" panose="020B0604020202020204" pitchFamily="34" charset="0"/>
                <a:ea typeface="MS PGothic" panose="020B0600070205080204" pitchFamily="34" charset="-128"/>
              </a:defRPr>
            </a:lvl3pPr>
            <a:lvl4pPr marL="1600200" indent="-228600" defTabSz="928688">
              <a:defRPr sz="1600">
                <a:solidFill>
                  <a:schemeClr val="tx1"/>
                </a:solidFill>
                <a:latin typeface="Helvetica" panose="020B0604020202020204" pitchFamily="34" charset="0"/>
                <a:ea typeface="MS PGothic" panose="020B0600070205080204" pitchFamily="34" charset="-128"/>
              </a:defRPr>
            </a:lvl4pPr>
            <a:lvl5pPr marL="2057400" indent="-228600" defTabSz="928688">
              <a:defRPr sz="1600">
                <a:solidFill>
                  <a:schemeClr val="tx1"/>
                </a:solidFill>
                <a:latin typeface="Helvetica" panose="020B0604020202020204" pitchFamily="34" charset="0"/>
                <a:ea typeface="MS PGothic" panose="020B0600070205080204" pitchFamily="34" charset="-128"/>
              </a:defRPr>
            </a:lvl5pPr>
            <a:lvl6pPr marL="25146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060B2CAC-AEF3-41E1-B7D5-B6BAEDAB4D0E}" type="slidenum">
              <a:rPr lang="en-US" altLang="en-US" sz="1200"/>
              <a:pPr/>
              <a:t>114</a:t>
            </a:fld>
            <a:endParaRPr lang="en-US" altLang="en-US" sz="1200"/>
          </a:p>
        </p:txBody>
      </p:sp>
      <p:sp>
        <p:nvSpPr>
          <p:cNvPr id="179203" name="Rectangle 2"/>
          <p:cNvSpPr>
            <a:spLocks noGrp="1" noRot="1" noChangeAspect="1" noChangeArrowheads="1" noTextEdit="1"/>
          </p:cNvSpPr>
          <p:nvPr>
            <p:ph type="sldImg"/>
          </p:nvPr>
        </p:nvSpPr>
        <p:spPr>
          <a:xfrm>
            <a:off x="1177925" y="695325"/>
            <a:ext cx="4641850" cy="3481388"/>
          </a:xfrm>
          <a:ln/>
        </p:spPr>
      </p:sp>
      <p:sp>
        <p:nvSpPr>
          <p:cNvPr id="179204" name="Rectangle 3"/>
          <p:cNvSpPr>
            <a:spLocks noGrp="1" noChangeArrowheads="1"/>
          </p:cNvSpPr>
          <p:nvPr>
            <p:ph type="body" idx="1"/>
          </p:nvPr>
        </p:nvSpPr>
        <p:spPr>
          <a:xfrm>
            <a:off x="931414" y="4410392"/>
            <a:ext cx="5134874" cy="4177348"/>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0226"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688">
              <a:defRPr sz="1600">
                <a:solidFill>
                  <a:schemeClr val="tx1"/>
                </a:solidFill>
                <a:latin typeface="Helvetica" panose="020B0604020202020204" pitchFamily="34" charset="0"/>
                <a:ea typeface="MS PGothic" panose="020B0600070205080204" pitchFamily="34" charset="-128"/>
              </a:defRPr>
            </a:lvl1pPr>
            <a:lvl2pPr marL="742950" indent="-285750" defTabSz="928688">
              <a:defRPr sz="1600">
                <a:solidFill>
                  <a:schemeClr val="tx1"/>
                </a:solidFill>
                <a:latin typeface="Helvetica" panose="020B0604020202020204" pitchFamily="34" charset="0"/>
                <a:ea typeface="MS PGothic" panose="020B0600070205080204" pitchFamily="34" charset="-128"/>
              </a:defRPr>
            </a:lvl2pPr>
            <a:lvl3pPr marL="1143000" indent="-228600" defTabSz="928688">
              <a:defRPr sz="1600">
                <a:solidFill>
                  <a:schemeClr val="tx1"/>
                </a:solidFill>
                <a:latin typeface="Helvetica" panose="020B0604020202020204" pitchFamily="34" charset="0"/>
                <a:ea typeface="MS PGothic" panose="020B0600070205080204" pitchFamily="34" charset="-128"/>
              </a:defRPr>
            </a:lvl3pPr>
            <a:lvl4pPr marL="1600200" indent="-228600" defTabSz="928688">
              <a:defRPr sz="1600">
                <a:solidFill>
                  <a:schemeClr val="tx1"/>
                </a:solidFill>
                <a:latin typeface="Helvetica" panose="020B0604020202020204" pitchFamily="34" charset="0"/>
                <a:ea typeface="MS PGothic" panose="020B0600070205080204" pitchFamily="34" charset="-128"/>
              </a:defRPr>
            </a:lvl4pPr>
            <a:lvl5pPr marL="2057400" indent="-228600" defTabSz="928688">
              <a:defRPr sz="1600">
                <a:solidFill>
                  <a:schemeClr val="tx1"/>
                </a:solidFill>
                <a:latin typeface="Helvetica" panose="020B0604020202020204" pitchFamily="34" charset="0"/>
                <a:ea typeface="MS PGothic" panose="020B0600070205080204" pitchFamily="34" charset="-128"/>
              </a:defRPr>
            </a:lvl5pPr>
            <a:lvl6pPr marL="25146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1062B22B-5B5B-47F1-897F-E166688E4CF0}" type="slidenum">
              <a:rPr lang="en-US" altLang="en-US" sz="1200"/>
              <a:pPr/>
              <a:t>115</a:t>
            </a:fld>
            <a:endParaRPr lang="en-US" altLang="en-US" sz="1200"/>
          </a:p>
        </p:txBody>
      </p:sp>
      <p:sp>
        <p:nvSpPr>
          <p:cNvPr id="180227" name="Rectangle 2"/>
          <p:cNvSpPr>
            <a:spLocks noGrp="1" noRot="1" noChangeAspect="1" noChangeArrowheads="1" noTextEdit="1"/>
          </p:cNvSpPr>
          <p:nvPr>
            <p:ph type="sldImg"/>
          </p:nvPr>
        </p:nvSpPr>
        <p:spPr>
          <a:xfrm>
            <a:off x="1177925" y="695325"/>
            <a:ext cx="4641850" cy="3481388"/>
          </a:xfrm>
          <a:ln/>
        </p:spPr>
      </p:sp>
      <p:sp>
        <p:nvSpPr>
          <p:cNvPr id="180228" name="Rectangle 3"/>
          <p:cNvSpPr>
            <a:spLocks noGrp="1" noChangeArrowheads="1"/>
          </p:cNvSpPr>
          <p:nvPr>
            <p:ph type="body" idx="1"/>
          </p:nvPr>
        </p:nvSpPr>
        <p:spPr>
          <a:xfrm>
            <a:off x="931414" y="4410392"/>
            <a:ext cx="5134874" cy="4177348"/>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1250"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688">
              <a:defRPr sz="1600">
                <a:solidFill>
                  <a:schemeClr val="tx1"/>
                </a:solidFill>
                <a:latin typeface="Helvetica" panose="020B0604020202020204" pitchFamily="34" charset="0"/>
                <a:ea typeface="MS PGothic" panose="020B0600070205080204" pitchFamily="34" charset="-128"/>
              </a:defRPr>
            </a:lvl1pPr>
            <a:lvl2pPr marL="742950" indent="-285750" defTabSz="928688">
              <a:defRPr sz="1600">
                <a:solidFill>
                  <a:schemeClr val="tx1"/>
                </a:solidFill>
                <a:latin typeface="Helvetica" panose="020B0604020202020204" pitchFamily="34" charset="0"/>
                <a:ea typeface="MS PGothic" panose="020B0600070205080204" pitchFamily="34" charset="-128"/>
              </a:defRPr>
            </a:lvl2pPr>
            <a:lvl3pPr marL="1143000" indent="-228600" defTabSz="928688">
              <a:defRPr sz="1600">
                <a:solidFill>
                  <a:schemeClr val="tx1"/>
                </a:solidFill>
                <a:latin typeface="Helvetica" panose="020B0604020202020204" pitchFamily="34" charset="0"/>
                <a:ea typeface="MS PGothic" panose="020B0600070205080204" pitchFamily="34" charset="-128"/>
              </a:defRPr>
            </a:lvl3pPr>
            <a:lvl4pPr marL="1600200" indent="-228600" defTabSz="928688">
              <a:defRPr sz="1600">
                <a:solidFill>
                  <a:schemeClr val="tx1"/>
                </a:solidFill>
                <a:latin typeface="Helvetica" panose="020B0604020202020204" pitchFamily="34" charset="0"/>
                <a:ea typeface="MS PGothic" panose="020B0600070205080204" pitchFamily="34" charset="-128"/>
              </a:defRPr>
            </a:lvl4pPr>
            <a:lvl5pPr marL="2057400" indent="-228600" defTabSz="928688">
              <a:defRPr sz="1600">
                <a:solidFill>
                  <a:schemeClr val="tx1"/>
                </a:solidFill>
                <a:latin typeface="Helvetica" panose="020B0604020202020204" pitchFamily="34" charset="0"/>
                <a:ea typeface="MS PGothic" panose="020B0600070205080204" pitchFamily="34" charset="-128"/>
              </a:defRPr>
            </a:lvl5pPr>
            <a:lvl6pPr marL="25146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E09E8797-367B-4BC3-98D0-381C471A0413}" type="slidenum">
              <a:rPr lang="en-US" altLang="en-US" sz="1200"/>
              <a:pPr/>
              <a:t>116</a:t>
            </a:fld>
            <a:endParaRPr lang="en-US" altLang="en-US" sz="1200"/>
          </a:p>
        </p:txBody>
      </p:sp>
      <p:sp>
        <p:nvSpPr>
          <p:cNvPr id="181251" name="Rectangle 2"/>
          <p:cNvSpPr>
            <a:spLocks noGrp="1" noRot="1" noChangeAspect="1" noChangeArrowheads="1" noTextEdit="1"/>
          </p:cNvSpPr>
          <p:nvPr>
            <p:ph type="sldImg"/>
          </p:nvPr>
        </p:nvSpPr>
        <p:spPr>
          <a:xfrm>
            <a:off x="1177925" y="695325"/>
            <a:ext cx="4641850" cy="3481388"/>
          </a:xfrm>
          <a:ln/>
        </p:spPr>
      </p:sp>
      <p:sp>
        <p:nvSpPr>
          <p:cNvPr id="181252" name="Rectangle 3"/>
          <p:cNvSpPr>
            <a:spLocks noGrp="1" noChangeArrowheads="1"/>
          </p:cNvSpPr>
          <p:nvPr>
            <p:ph type="body" idx="1"/>
          </p:nvPr>
        </p:nvSpPr>
        <p:spPr>
          <a:xfrm>
            <a:off x="931414" y="4410392"/>
            <a:ext cx="5134874" cy="4177348"/>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2274"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688">
              <a:defRPr sz="1600">
                <a:solidFill>
                  <a:schemeClr val="tx1"/>
                </a:solidFill>
                <a:latin typeface="Helvetica" panose="020B0604020202020204" pitchFamily="34" charset="0"/>
                <a:ea typeface="MS PGothic" panose="020B0600070205080204" pitchFamily="34" charset="-128"/>
              </a:defRPr>
            </a:lvl1pPr>
            <a:lvl2pPr marL="742950" indent="-285750" defTabSz="928688">
              <a:defRPr sz="1600">
                <a:solidFill>
                  <a:schemeClr val="tx1"/>
                </a:solidFill>
                <a:latin typeface="Helvetica" panose="020B0604020202020204" pitchFamily="34" charset="0"/>
                <a:ea typeface="MS PGothic" panose="020B0600070205080204" pitchFamily="34" charset="-128"/>
              </a:defRPr>
            </a:lvl2pPr>
            <a:lvl3pPr marL="1143000" indent="-228600" defTabSz="928688">
              <a:defRPr sz="1600">
                <a:solidFill>
                  <a:schemeClr val="tx1"/>
                </a:solidFill>
                <a:latin typeface="Helvetica" panose="020B0604020202020204" pitchFamily="34" charset="0"/>
                <a:ea typeface="MS PGothic" panose="020B0600070205080204" pitchFamily="34" charset="-128"/>
              </a:defRPr>
            </a:lvl3pPr>
            <a:lvl4pPr marL="1600200" indent="-228600" defTabSz="928688">
              <a:defRPr sz="1600">
                <a:solidFill>
                  <a:schemeClr val="tx1"/>
                </a:solidFill>
                <a:latin typeface="Helvetica" panose="020B0604020202020204" pitchFamily="34" charset="0"/>
                <a:ea typeface="MS PGothic" panose="020B0600070205080204" pitchFamily="34" charset="-128"/>
              </a:defRPr>
            </a:lvl4pPr>
            <a:lvl5pPr marL="2057400" indent="-228600" defTabSz="928688">
              <a:defRPr sz="1600">
                <a:solidFill>
                  <a:schemeClr val="tx1"/>
                </a:solidFill>
                <a:latin typeface="Helvetica" panose="020B0604020202020204" pitchFamily="34" charset="0"/>
                <a:ea typeface="MS PGothic" panose="020B0600070205080204" pitchFamily="34" charset="-128"/>
              </a:defRPr>
            </a:lvl5pPr>
            <a:lvl6pPr marL="25146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DB84E881-A958-4B68-ADE6-2B7C0AFAFFC8}" type="slidenum">
              <a:rPr lang="en-US" altLang="en-US" sz="1200"/>
              <a:pPr/>
              <a:t>117</a:t>
            </a:fld>
            <a:endParaRPr lang="en-US" altLang="en-US" sz="1200"/>
          </a:p>
        </p:txBody>
      </p:sp>
      <p:sp>
        <p:nvSpPr>
          <p:cNvPr id="182275" name="Rectangle 2"/>
          <p:cNvSpPr>
            <a:spLocks noGrp="1" noRot="1" noChangeAspect="1" noChangeArrowheads="1" noTextEdit="1"/>
          </p:cNvSpPr>
          <p:nvPr>
            <p:ph type="sldImg"/>
          </p:nvPr>
        </p:nvSpPr>
        <p:spPr>
          <a:xfrm>
            <a:off x="1177925" y="695325"/>
            <a:ext cx="4641850" cy="3481388"/>
          </a:xfrm>
          <a:ln/>
        </p:spPr>
      </p:sp>
      <p:sp>
        <p:nvSpPr>
          <p:cNvPr id="182276" name="Rectangle 3"/>
          <p:cNvSpPr>
            <a:spLocks noGrp="1" noChangeArrowheads="1"/>
          </p:cNvSpPr>
          <p:nvPr>
            <p:ph type="body" idx="1"/>
          </p:nvPr>
        </p:nvSpPr>
        <p:spPr>
          <a:xfrm>
            <a:off x="931414" y="4410392"/>
            <a:ext cx="5134874" cy="4177348"/>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3298"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688">
              <a:defRPr sz="1600">
                <a:solidFill>
                  <a:schemeClr val="tx1"/>
                </a:solidFill>
                <a:latin typeface="Helvetica" panose="020B0604020202020204" pitchFamily="34" charset="0"/>
                <a:ea typeface="MS PGothic" panose="020B0600070205080204" pitchFamily="34" charset="-128"/>
              </a:defRPr>
            </a:lvl1pPr>
            <a:lvl2pPr marL="742950" indent="-285750" defTabSz="928688">
              <a:defRPr sz="1600">
                <a:solidFill>
                  <a:schemeClr val="tx1"/>
                </a:solidFill>
                <a:latin typeface="Helvetica" panose="020B0604020202020204" pitchFamily="34" charset="0"/>
                <a:ea typeface="MS PGothic" panose="020B0600070205080204" pitchFamily="34" charset="-128"/>
              </a:defRPr>
            </a:lvl2pPr>
            <a:lvl3pPr marL="1143000" indent="-228600" defTabSz="928688">
              <a:defRPr sz="1600">
                <a:solidFill>
                  <a:schemeClr val="tx1"/>
                </a:solidFill>
                <a:latin typeface="Helvetica" panose="020B0604020202020204" pitchFamily="34" charset="0"/>
                <a:ea typeface="MS PGothic" panose="020B0600070205080204" pitchFamily="34" charset="-128"/>
              </a:defRPr>
            </a:lvl3pPr>
            <a:lvl4pPr marL="1600200" indent="-228600" defTabSz="928688">
              <a:defRPr sz="1600">
                <a:solidFill>
                  <a:schemeClr val="tx1"/>
                </a:solidFill>
                <a:latin typeface="Helvetica" panose="020B0604020202020204" pitchFamily="34" charset="0"/>
                <a:ea typeface="MS PGothic" panose="020B0600070205080204" pitchFamily="34" charset="-128"/>
              </a:defRPr>
            </a:lvl4pPr>
            <a:lvl5pPr marL="2057400" indent="-228600" defTabSz="928688">
              <a:defRPr sz="1600">
                <a:solidFill>
                  <a:schemeClr val="tx1"/>
                </a:solidFill>
                <a:latin typeface="Helvetica" panose="020B0604020202020204" pitchFamily="34" charset="0"/>
                <a:ea typeface="MS PGothic" panose="020B0600070205080204" pitchFamily="34" charset="-128"/>
              </a:defRPr>
            </a:lvl5pPr>
            <a:lvl6pPr marL="25146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14A4D597-B539-4990-B3B7-C5878BB257C4}" type="slidenum">
              <a:rPr lang="en-US" altLang="en-US" sz="1200"/>
              <a:pPr/>
              <a:t>118</a:t>
            </a:fld>
            <a:endParaRPr lang="en-US" altLang="en-US" sz="1200"/>
          </a:p>
        </p:txBody>
      </p:sp>
      <p:sp>
        <p:nvSpPr>
          <p:cNvPr id="183299" name="Rectangle 2"/>
          <p:cNvSpPr>
            <a:spLocks noGrp="1" noRot="1" noChangeAspect="1" noChangeArrowheads="1" noTextEdit="1"/>
          </p:cNvSpPr>
          <p:nvPr>
            <p:ph type="sldImg"/>
          </p:nvPr>
        </p:nvSpPr>
        <p:spPr>
          <a:xfrm>
            <a:off x="1177925" y="695325"/>
            <a:ext cx="4641850" cy="3481388"/>
          </a:xfrm>
          <a:ln/>
        </p:spPr>
      </p:sp>
      <p:sp>
        <p:nvSpPr>
          <p:cNvPr id="183300" name="Rectangle 3"/>
          <p:cNvSpPr>
            <a:spLocks noGrp="1" noChangeArrowheads="1"/>
          </p:cNvSpPr>
          <p:nvPr>
            <p:ph type="body" idx="1"/>
          </p:nvPr>
        </p:nvSpPr>
        <p:spPr>
          <a:xfrm>
            <a:off x="931414" y="4410392"/>
            <a:ext cx="5134874" cy="4177348"/>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22"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688">
              <a:defRPr sz="1600">
                <a:solidFill>
                  <a:schemeClr val="tx1"/>
                </a:solidFill>
                <a:latin typeface="Helvetica" panose="020B0604020202020204" pitchFamily="34" charset="0"/>
                <a:ea typeface="MS PGothic" panose="020B0600070205080204" pitchFamily="34" charset="-128"/>
              </a:defRPr>
            </a:lvl1pPr>
            <a:lvl2pPr marL="742950" indent="-285750" defTabSz="928688">
              <a:defRPr sz="1600">
                <a:solidFill>
                  <a:schemeClr val="tx1"/>
                </a:solidFill>
                <a:latin typeface="Helvetica" panose="020B0604020202020204" pitchFamily="34" charset="0"/>
                <a:ea typeface="MS PGothic" panose="020B0600070205080204" pitchFamily="34" charset="-128"/>
              </a:defRPr>
            </a:lvl2pPr>
            <a:lvl3pPr marL="1143000" indent="-228600" defTabSz="928688">
              <a:defRPr sz="1600">
                <a:solidFill>
                  <a:schemeClr val="tx1"/>
                </a:solidFill>
                <a:latin typeface="Helvetica" panose="020B0604020202020204" pitchFamily="34" charset="0"/>
                <a:ea typeface="MS PGothic" panose="020B0600070205080204" pitchFamily="34" charset="-128"/>
              </a:defRPr>
            </a:lvl3pPr>
            <a:lvl4pPr marL="1600200" indent="-228600" defTabSz="928688">
              <a:defRPr sz="1600">
                <a:solidFill>
                  <a:schemeClr val="tx1"/>
                </a:solidFill>
                <a:latin typeface="Helvetica" panose="020B0604020202020204" pitchFamily="34" charset="0"/>
                <a:ea typeface="MS PGothic" panose="020B0600070205080204" pitchFamily="34" charset="-128"/>
              </a:defRPr>
            </a:lvl4pPr>
            <a:lvl5pPr marL="2057400" indent="-228600" defTabSz="928688">
              <a:defRPr sz="1600">
                <a:solidFill>
                  <a:schemeClr val="tx1"/>
                </a:solidFill>
                <a:latin typeface="Helvetica" panose="020B0604020202020204" pitchFamily="34" charset="0"/>
                <a:ea typeface="MS PGothic" panose="020B0600070205080204" pitchFamily="34" charset="-128"/>
              </a:defRPr>
            </a:lvl5pPr>
            <a:lvl6pPr marL="25146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8AF6520D-BDC3-4206-98C8-000B2AAC71C5}" type="slidenum">
              <a:rPr lang="en-US" altLang="en-US" sz="1200"/>
              <a:pPr/>
              <a:t>119</a:t>
            </a:fld>
            <a:endParaRPr lang="en-US" altLang="en-US" sz="1200"/>
          </a:p>
        </p:txBody>
      </p:sp>
      <p:sp>
        <p:nvSpPr>
          <p:cNvPr id="184323" name="Rectangle 2"/>
          <p:cNvSpPr>
            <a:spLocks noGrp="1" noRot="1" noChangeAspect="1" noChangeArrowheads="1" noTextEdit="1"/>
          </p:cNvSpPr>
          <p:nvPr>
            <p:ph type="sldImg"/>
          </p:nvPr>
        </p:nvSpPr>
        <p:spPr>
          <a:xfrm>
            <a:off x="1177925" y="695325"/>
            <a:ext cx="4641850" cy="3481388"/>
          </a:xfrm>
          <a:ln/>
        </p:spPr>
      </p:sp>
      <p:sp>
        <p:nvSpPr>
          <p:cNvPr id="184324" name="Rectangle 3"/>
          <p:cNvSpPr>
            <a:spLocks noGrp="1" noChangeArrowheads="1"/>
          </p:cNvSpPr>
          <p:nvPr>
            <p:ph type="body" idx="1"/>
          </p:nvPr>
        </p:nvSpPr>
        <p:spPr>
          <a:xfrm>
            <a:off x="931414" y="4410392"/>
            <a:ext cx="5134874" cy="4177348"/>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5346"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688">
              <a:defRPr sz="1600">
                <a:solidFill>
                  <a:schemeClr val="tx1"/>
                </a:solidFill>
                <a:latin typeface="Helvetica" panose="020B0604020202020204" pitchFamily="34" charset="0"/>
                <a:ea typeface="MS PGothic" panose="020B0600070205080204" pitchFamily="34" charset="-128"/>
              </a:defRPr>
            </a:lvl1pPr>
            <a:lvl2pPr marL="742950" indent="-285750" defTabSz="928688">
              <a:defRPr sz="1600">
                <a:solidFill>
                  <a:schemeClr val="tx1"/>
                </a:solidFill>
                <a:latin typeface="Helvetica" panose="020B0604020202020204" pitchFamily="34" charset="0"/>
                <a:ea typeface="MS PGothic" panose="020B0600070205080204" pitchFamily="34" charset="-128"/>
              </a:defRPr>
            </a:lvl2pPr>
            <a:lvl3pPr marL="1143000" indent="-228600" defTabSz="928688">
              <a:defRPr sz="1600">
                <a:solidFill>
                  <a:schemeClr val="tx1"/>
                </a:solidFill>
                <a:latin typeface="Helvetica" panose="020B0604020202020204" pitchFamily="34" charset="0"/>
                <a:ea typeface="MS PGothic" panose="020B0600070205080204" pitchFamily="34" charset="-128"/>
              </a:defRPr>
            </a:lvl3pPr>
            <a:lvl4pPr marL="1600200" indent="-228600" defTabSz="928688">
              <a:defRPr sz="1600">
                <a:solidFill>
                  <a:schemeClr val="tx1"/>
                </a:solidFill>
                <a:latin typeface="Helvetica" panose="020B0604020202020204" pitchFamily="34" charset="0"/>
                <a:ea typeface="MS PGothic" panose="020B0600070205080204" pitchFamily="34" charset="-128"/>
              </a:defRPr>
            </a:lvl4pPr>
            <a:lvl5pPr marL="2057400" indent="-228600" defTabSz="928688">
              <a:defRPr sz="1600">
                <a:solidFill>
                  <a:schemeClr val="tx1"/>
                </a:solidFill>
                <a:latin typeface="Helvetica" panose="020B0604020202020204" pitchFamily="34" charset="0"/>
                <a:ea typeface="MS PGothic" panose="020B0600070205080204" pitchFamily="34" charset="-128"/>
              </a:defRPr>
            </a:lvl5pPr>
            <a:lvl6pPr marL="25146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1A439975-68C6-4A78-9207-604005262388}" type="slidenum">
              <a:rPr lang="en-US" altLang="en-US" sz="1200"/>
              <a:pPr/>
              <a:t>120</a:t>
            </a:fld>
            <a:endParaRPr lang="en-US" altLang="en-US" sz="1200"/>
          </a:p>
        </p:txBody>
      </p:sp>
      <p:sp>
        <p:nvSpPr>
          <p:cNvPr id="185347" name="Rectangle 2"/>
          <p:cNvSpPr>
            <a:spLocks noGrp="1" noRot="1" noChangeAspect="1" noChangeArrowheads="1" noTextEdit="1"/>
          </p:cNvSpPr>
          <p:nvPr>
            <p:ph type="sldImg"/>
          </p:nvPr>
        </p:nvSpPr>
        <p:spPr>
          <a:ln/>
        </p:spPr>
      </p:sp>
      <p:sp>
        <p:nvSpPr>
          <p:cNvPr id="185348"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6370"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688">
              <a:defRPr sz="1600">
                <a:solidFill>
                  <a:schemeClr val="tx1"/>
                </a:solidFill>
                <a:latin typeface="Helvetica" panose="020B0604020202020204" pitchFamily="34" charset="0"/>
                <a:ea typeface="MS PGothic" panose="020B0600070205080204" pitchFamily="34" charset="-128"/>
              </a:defRPr>
            </a:lvl1pPr>
            <a:lvl2pPr marL="742950" indent="-285750" defTabSz="928688">
              <a:defRPr sz="1600">
                <a:solidFill>
                  <a:schemeClr val="tx1"/>
                </a:solidFill>
                <a:latin typeface="Helvetica" panose="020B0604020202020204" pitchFamily="34" charset="0"/>
                <a:ea typeface="MS PGothic" panose="020B0600070205080204" pitchFamily="34" charset="-128"/>
              </a:defRPr>
            </a:lvl2pPr>
            <a:lvl3pPr marL="1143000" indent="-228600" defTabSz="928688">
              <a:defRPr sz="1600">
                <a:solidFill>
                  <a:schemeClr val="tx1"/>
                </a:solidFill>
                <a:latin typeface="Helvetica" panose="020B0604020202020204" pitchFamily="34" charset="0"/>
                <a:ea typeface="MS PGothic" panose="020B0600070205080204" pitchFamily="34" charset="-128"/>
              </a:defRPr>
            </a:lvl3pPr>
            <a:lvl4pPr marL="1600200" indent="-228600" defTabSz="928688">
              <a:defRPr sz="1600">
                <a:solidFill>
                  <a:schemeClr val="tx1"/>
                </a:solidFill>
                <a:latin typeface="Helvetica" panose="020B0604020202020204" pitchFamily="34" charset="0"/>
                <a:ea typeface="MS PGothic" panose="020B0600070205080204" pitchFamily="34" charset="-128"/>
              </a:defRPr>
            </a:lvl4pPr>
            <a:lvl5pPr marL="2057400" indent="-228600" defTabSz="928688">
              <a:defRPr sz="1600">
                <a:solidFill>
                  <a:schemeClr val="tx1"/>
                </a:solidFill>
                <a:latin typeface="Helvetica" panose="020B0604020202020204" pitchFamily="34" charset="0"/>
                <a:ea typeface="MS PGothic" panose="020B0600070205080204" pitchFamily="34" charset="-128"/>
              </a:defRPr>
            </a:lvl5pPr>
            <a:lvl6pPr marL="25146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10CA98BF-2766-4132-A090-BEDD1F53C69F}" type="slidenum">
              <a:rPr lang="en-US" altLang="en-US" sz="1200"/>
              <a:pPr/>
              <a:t>121</a:t>
            </a:fld>
            <a:endParaRPr lang="en-US" altLang="en-US" sz="1200"/>
          </a:p>
        </p:txBody>
      </p:sp>
      <p:sp>
        <p:nvSpPr>
          <p:cNvPr id="186371" name="Rectangle 2"/>
          <p:cNvSpPr>
            <a:spLocks noGrp="1" noRot="1" noChangeAspect="1" noChangeArrowheads="1" noTextEdit="1"/>
          </p:cNvSpPr>
          <p:nvPr>
            <p:ph type="sldImg"/>
          </p:nvPr>
        </p:nvSpPr>
        <p:spPr>
          <a:xfrm>
            <a:off x="1177925" y="695325"/>
            <a:ext cx="4641850" cy="3481388"/>
          </a:xfrm>
          <a:ln/>
        </p:spPr>
      </p:sp>
      <p:sp>
        <p:nvSpPr>
          <p:cNvPr id="186372" name="Rectangle 3"/>
          <p:cNvSpPr>
            <a:spLocks noGrp="1" noChangeArrowheads="1"/>
          </p:cNvSpPr>
          <p:nvPr>
            <p:ph type="body" idx="1"/>
          </p:nvPr>
        </p:nvSpPr>
        <p:spPr>
          <a:xfrm>
            <a:off x="931414" y="4410392"/>
            <a:ext cx="5134874" cy="4177348"/>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7394"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688">
              <a:defRPr sz="1600">
                <a:solidFill>
                  <a:schemeClr val="tx1"/>
                </a:solidFill>
                <a:latin typeface="Helvetica" panose="020B0604020202020204" pitchFamily="34" charset="0"/>
                <a:ea typeface="MS PGothic" panose="020B0600070205080204" pitchFamily="34" charset="-128"/>
              </a:defRPr>
            </a:lvl1pPr>
            <a:lvl2pPr marL="742950" indent="-285750" defTabSz="928688">
              <a:defRPr sz="1600">
                <a:solidFill>
                  <a:schemeClr val="tx1"/>
                </a:solidFill>
                <a:latin typeface="Helvetica" panose="020B0604020202020204" pitchFamily="34" charset="0"/>
                <a:ea typeface="MS PGothic" panose="020B0600070205080204" pitchFamily="34" charset="-128"/>
              </a:defRPr>
            </a:lvl2pPr>
            <a:lvl3pPr marL="1143000" indent="-228600" defTabSz="928688">
              <a:defRPr sz="1600">
                <a:solidFill>
                  <a:schemeClr val="tx1"/>
                </a:solidFill>
                <a:latin typeface="Helvetica" panose="020B0604020202020204" pitchFamily="34" charset="0"/>
                <a:ea typeface="MS PGothic" panose="020B0600070205080204" pitchFamily="34" charset="-128"/>
              </a:defRPr>
            </a:lvl3pPr>
            <a:lvl4pPr marL="1600200" indent="-228600" defTabSz="928688">
              <a:defRPr sz="1600">
                <a:solidFill>
                  <a:schemeClr val="tx1"/>
                </a:solidFill>
                <a:latin typeface="Helvetica" panose="020B0604020202020204" pitchFamily="34" charset="0"/>
                <a:ea typeface="MS PGothic" panose="020B0600070205080204" pitchFamily="34" charset="-128"/>
              </a:defRPr>
            </a:lvl4pPr>
            <a:lvl5pPr marL="2057400" indent="-228600" defTabSz="928688">
              <a:defRPr sz="1600">
                <a:solidFill>
                  <a:schemeClr val="tx1"/>
                </a:solidFill>
                <a:latin typeface="Helvetica" panose="020B0604020202020204" pitchFamily="34" charset="0"/>
                <a:ea typeface="MS PGothic" panose="020B0600070205080204" pitchFamily="34" charset="-128"/>
              </a:defRPr>
            </a:lvl5pPr>
            <a:lvl6pPr marL="25146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F70A9382-BE8A-447D-8A13-E2C05FAE4009}" type="slidenum">
              <a:rPr lang="en-US" altLang="en-US" sz="1200"/>
              <a:pPr/>
              <a:t>122</a:t>
            </a:fld>
            <a:endParaRPr lang="en-US" altLang="en-US" sz="1200"/>
          </a:p>
        </p:txBody>
      </p:sp>
      <p:sp>
        <p:nvSpPr>
          <p:cNvPr id="187395" name="Rectangle 2"/>
          <p:cNvSpPr>
            <a:spLocks noGrp="1" noRot="1" noChangeAspect="1" noChangeArrowheads="1" noTextEdit="1"/>
          </p:cNvSpPr>
          <p:nvPr>
            <p:ph type="sldImg"/>
          </p:nvPr>
        </p:nvSpPr>
        <p:spPr>
          <a:xfrm>
            <a:off x="1177925" y="695325"/>
            <a:ext cx="4641850" cy="3481388"/>
          </a:xfrm>
          <a:ln/>
        </p:spPr>
      </p:sp>
      <p:sp>
        <p:nvSpPr>
          <p:cNvPr id="187396" name="Rectangle 3"/>
          <p:cNvSpPr>
            <a:spLocks noGrp="1" noChangeArrowheads="1"/>
          </p:cNvSpPr>
          <p:nvPr>
            <p:ph type="body" idx="1"/>
          </p:nvPr>
        </p:nvSpPr>
        <p:spPr>
          <a:xfrm>
            <a:off x="931414" y="4410392"/>
            <a:ext cx="5134874" cy="4177348"/>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9442"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688">
              <a:defRPr sz="1600">
                <a:solidFill>
                  <a:schemeClr val="tx1"/>
                </a:solidFill>
                <a:latin typeface="Helvetica" panose="020B0604020202020204" pitchFamily="34" charset="0"/>
                <a:ea typeface="MS PGothic" panose="020B0600070205080204" pitchFamily="34" charset="-128"/>
              </a:defRPr>
            </a:lvl1pPr>
            <a:lvl2pPr marL="742950" indent="-285750" defTabSz="928688">
              <a:defRPr sz="1600">
                <a:solidFill>
                  <a:schemeClr val="tx1"/>
                </a:solidFill>
                <a:latin typeface="Helvetica" panose="020B0604020202020204" pitchFamily="34" charset="0"/>
                <a:ea typeface="MS PGothic" panose="020B0600070205080204" pitchFamily="34" charset="-128"/>
              </a:defRPr>
            </a:lvl2pPr>
            <a:lvl3pPr marL="1143000" indent="-228600" defTabSz="928688">
              <a:defRPr sz="1600">
                <a:solidFill>
                  <a:schemeClr val="tx1"/>
                </a:solidFill>
                <a:latin typeface="Helvetica" panose="020B0604020202020204" pitchFamily="34" charset="0"/>
                <a:ea typeface="MS PGothic" panose="020B0600070205080204" pitchFamily="34" charset="-128"/>
              </a:defRPr>
            </a:lvl3pPr>
            <a:lvl4pPr marL="1600200" indent="-228600" defTabSz="928688">
              <a:defRPr sz="1600">
                <a:solidFill>
                  <a:schemeClr val="tx1"/>
                </a:solidFill>
                <a:latin typeface="Helvetica" panose="020B0604020202020204" pitchFamily="34" charset="0"/>
                <a:ea typeface="MS PGothic" panose="020B0600070205080204" pitchFamily="34" charset="-128"/>
              </a:defRPr>
            </a:lvl4pPr>
            <a:lvl5pPr marL="2057400" indent="-228600" defTabSz="928688">
              <a:defRPr sz="1600">
                <a:solidFill>
                  <a:schemeClr val="tx1"/>
                </a:solidFill>
                <a:latin typeface="Helvetica" panose="020B0604020202020204" pitchFamily="34" charset="0"/>
                <a:ea typeface="MS PGothic" panose="020B0600070205080204" pitchFamily="34" charset="-128"/>
              </a:defRPr>
            </a:lvl5pPr>
            <a:lvl6pPr marL="25146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5FFF916E-004C-4E0F-94C7-A1F1AB4046CB}" type="slidenum">
              <a:rPr lang="en-US" altLang="en-US" sz="1200"/>
              <a:pPr/>
              <a:t>124</a:t>
            </a:fld>
            <a:endParaRPr lang="en-US" altLang="en-US" sz="1200"/>
          </a:p>
        </p:txBody>
      </p:sp>
      <p:sp>
        <p:nvSpPr>
          <p:cNvPr id="189443" name="Rectangle 2"/>
          <p:cNvSpPr>
            <a:spLocks noGrp="1" noRot="1" noChangeAspect="1" noChangeArrowheads="1" noTextEdit="1"/>
          </p:cNvSpPr>
          <p:nvPr>
            <p:ph type="sldImg"/>
          </p:nvPr>
        </p:nvSpPr>
        <p:spPr>
          <a:xfrm>
            <a:off x="1177925" y="695325"/>
            <a:ext cx="4641850" cy="3481388"/>
          </a:xfrm>
          <a:ln/>
        </p:spPr>
      </p:sp>
      <p:sp>
        <p:nvSpPr>
          <p:cNvPr id="189444" name="Rectangle 3"/>
          <p:cNvSpPr>
            <a:spLocks noGrp="1" noChangeArrowheads="1"/>
          </p:cNvSpPr>
          <p:nvPr>
            <p:ph type="body" idx="1"/>
          </p:nvPr>
        </p:nvSpPr>
        <p:spPr>
          <a:xfrm>
            <a:off x="931414" y="4410392"/>
            <a:ext cx="5134874" cy="4177348"/>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0466"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688">
              <a:defRPr sz="1600">
                <a:solidFill>
                  <a:schemeClr val="tx1"/>
                </a:solidFill>
                <a:latin typeface="Helvetica" panose="020B0604020202020204" pitchFamily="34" charset="0"/>
                <a:ea typeface="MS PGothic" panose="020B0600070205080204" pitchFamily="34" charset="-128"/>
              </a:defRPr>
            </a:lvl1pPr>
            <a:lvl2pPr marL="742950" indent="-285750" defTabSz="928688">
              <a:defRPr sz="1600">
                <a:solidFill>
                  <a:schemeClr val="tx1"/>
                </a:solidFill>
                <a:latin typeface="Helvetica" panose="020B0604020202020204" pitchFamily="34" charset="0"/>
                <a:ea typeface="MS PGothic" panose="020B0600070205080204" pitchFamily="34" charset="-128"/>
              </a:defRPr>
            </a:lvl2pPr>
            <a:lvl3pPr marL="1143000" indent="-228600" defTabSz="928688">
              <a:defRPr sz="1600">
                <a:solidFill>
                  <a:schemeClr val="tx1"/>
                </a:solidFill>
                <a:latin typeface="Helvetica" panose="020B0604020202020204" pitchFamily="34" charset="0"/>
                <a:ea typeface="MS PGothic" panose="020B0600070205080204" pitchFamily="34" charset="-128"/>
              </a:defRPr>
            </a:lvl3pPr>
            <a:lvl4pPr marL="1600200" indent="-228600" defTabSz="928688">
              <a:defRPr sz="1600">
                <a:solidFill>
                  <a:schemeClr val="tx1"/>
                </a:solidFill>
                <a:latin typeface="Helvetica" panose="020B0604020202020204" pitchFamily="34" charset="0"/>
                <a:ea typeface="MS PGothic" panose="020B0600070205080204" pitchFamily="34" charset="-128"/>
              </a:defRPr>
            </a:lvl4pPr>
            <a:lvl5pPr marL="2057400" indent="-228600" defTabSz="928688">
              <a:defRPr sz="1600">
                <a:solidFill>
                  <a:schemeClr val="tx1"/>
                </a:solidFill>
                <a:latin typeface="Helvetica" panose="020B0604020202020204" pitchFamily="34" charset="0"/>
                <a:ea typeface="MS PGothic" panose="020B0600070205080204" pitchFamily="34" charset="-128"/>
              </a:defRPr>
            </a:lvl5pPr>
            <a:lvl6pPr marL="25146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4AA5FC84-D300-4993-8FFF-76B7189FD726}" type="slidenum">
              <a:rPr lang="en-US" altLang="en-US" sz="1200"/>
              <a:pPr/>
              <a:t>125</a:t>
            </a:fld>
            <a:endParaRPr lang="en-US" altLang="en-US" sz="1200"/>
          </a:p>
        </p:txBody>
      </p:sp>
      <p:sp>
        <p:nvSpPr>
          <p:cNvPr id="190467" name="Rectangle 2"/>
          <p:cNvSpPr>
            <a:spLocks noGrp="1" noRot="1" noChangeAspect="1" noChangeArrowheads="1" noTextEdit="1"/>
          </p:cNvSpPr>
          <p:nvPr>
            <p:ph type="sldImg"/>
          </p:nvPr>
        </p:nvSpPr>
        <p:spPr>
          <a:xfrm>
            <a:off x="1177925" y="695325"/>
            <a:ext cx="4641850" cy="3481388"/>
          </a:xfrm>
          <a:ln/>
        </p:spPr>
      </p:sp>
      <p:sp>
        <p:nvSpPr>
          <p:cNvPr id="190468" name="Rectangle 3"/>
          <p:cNvSpPr>
            <a:spLocks noGrp="1" noChangeArrowheads="1"/>
          </p:cNvSpPr>
          <p:nvPr>
            <p:ph type="body" idx="1"/>
          </p:nvPr>
        </p:nvSpPr>
        <p:spPr>
          <a:xfrm>
            <a:off x="931414" y="4410392"/>
            <a:ext cx="5134874" cy="4177348"/>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1490"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688">
              <a:defRPr sz="1600">
                <a:solidFill>
                  <a:schemeClr val="tx1"/>
                </a:solidFill>
                <a:latin typeface="Helvetica" panose="020B0604020202020204" pitchFamily="34" charset="0"/>
                <a:ea typeface="MS PGothic" panose="020B0600070205080204" pitchFamily="34" charset="-128"/>
              </a:defRPr>
            </a:lvl1pPr>
            <a:lvl2pPr marL="742950" indent="-285750" defTabSz="928688">
              <a:defRPr sz="1600">
                <a:solidFill>
                  <a:schemeClr val="tx1"/>
                </a:solidFill>
                <a:latin typeface="Helvetica" panose="020B0604020202020204" pitchFamily="34" charset="0"/>
                <a:ea typeface="MS PGothic" panose="020B0600070205080204" pitchFamily="34" charset="-128"/>
              </a:defRPr>
            </a:lvl2pPr>
            <a:lvl3pPr marL="1143000" indent="-228600" defTabSz="928688">
              <a:defRPr sz="1600">
                <a:solidFill>
                  <a:schemeClr val="tx1"/>
                </a:solidFill>
                <a:latin typeface="Helvetica" panose="020B0604020202020204" pitchFamily="34" charset="0"/>
                <a:ea typeface="MS PGothic" panose="020B0600070205080204" pitchFamily="34" charset="-128"/>
              </a:defRPr>
            </a:lvl3pPr>
            <a:lvl4pPr marL="1600200" indent="-228600" defTabSz="928688">
              <a:defRPr sz="1600">
                <a:solidFill>
                  <a:schemeClr val="tx1"/>
                </a:solidFill>
                <a:latin typeface="Helvetica" panose="020B0604020202020204" pitchFamily="34" charset="0"/>
                <a:ea typeface="MS PGothic" panose="020B0600070205080204" pitchFamily="34" charset="-128"/>
              </a:defRPr>
            </a:lvl4pPr>
            <a:lvl5pPr marL="2057400" indent="-228600" defTabSz="928688">
              <a:defRPr sz="1600">
                <a:solidFill>
                  <a:schemeClr val="tx1"/>
                </a:solidFill>
                <a:latin typeface="Helvetica" panose="020B0604020202020204" pitchFamily="34" charset="0"/>
                <a:ea typeface="MS PGothic" panose="020B0600070205080204" pitchFamily="34" charset="-128"/>
              </a:defRPr>
            </a:lvl5pPr>
            <a:lvl6pPr marL="25146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834D146A-0FCA-4AA9-B806-71D700033438}" type="slidenum">
              <a:rPr lang="en-US" altLang="en-US" sz="1200"/>
              <a:pPr/>
              <a:t>126</a:t>
            </a:fld>
            <a:endParaRPr lang="en-US" altLang="en-US" sz="1200"/>
          </a:p>
        </p:txBody>
      </p:sp>
      <p:sp>
        <p:nvSpPr>
          <p:cNvPr id="191491" name="Rectangle 2"/>
          <p:cNvSpPr>
            <a:spLocks noGrp="1" noRot="1" noChangeAspect="1" noChangeArrowheads="1" noTextEdit="1"/>
          </p:cNvSpPr>
          <p:nvPr>
            <p:ph type="sldImg"/>
          </p:nvPr>
        </p:nvSpPr>
        <p:spPr>
          <a:xfrm>
            <a:off x="1177925" y="695325"/>
            <a:ext cx="4641850" cy="3481388"/>
          </a:xfrm>
          <a:ln/>
        </p:spPr>
      </p:sp>
      <p:sp>
        <p:nvSpPr>
          <p:cNvPr id="191492" name="Rectangle 3"/>
          <p:cNvSpPr>
            <a:spLocks noGrp="1" noChangeArrowheads="1"/>
          </p:cNvSpPr>
          <p:nvPr>
            <p:ph type="body" idx="1"/>
          </p:nvPr>
        </p:nvSpPr>
        <p:spPr>
          <a:xfrm>
            <a:off x="931414" y="4410392"/>
            <a:ext cx="5134874" cy="4177348"/>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2514"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688">
              <a:defRPr sz="1600">
                <a:solidFill>
                  <a:schemeClr val="tx1"/>
                </a:solidFill>
                <a:latin typeface="Helvetica" panose="020B0604020202020204" pitchFamily="34" charset="0"/>
                <a:ea typeface="MS PGothic" panose="020B0600070205080204" pitchFamily="34" charset="-128"/>
              </a:defRPr>
            </a:lvl1pPr>
            <a:lvl2pPr marL="742950" indent="-285750" defTabSz="928688">
              <a:defRPr sz="1600">
                <a:solidFill>
                  <a:schemeClr val="tx1"/>
                </a:solidFill>
                <a:latin typeface="Helvetica" panose="020B0604020202020204" pitchFamily="34" charset="0"/>
                <a:ea typeface="MS PGothic" panose="020B0600070205080204" pitchFamily="34" charset="-128"/>
              </a:defRPr>
            </a:lvl2pPr>
            <a:lvl3pPr marL="1143000" indent="-228600" defTabSz="928688">
              <a:defRPr sz="1600">
                <a:solidFill>
                  <a:schemeClr val="tx1"/>
                </a:solidFill>
                <a:latin typeface="Helvetica" panose="020B0604020202020204" pitchFamily="34" charset="0"/>
                <a:ea typeface="MS PGothic" panose="020B0600070205080204" pitchFamily="34" charset="-128"/>
              </a:defRPr>
            </a:lvl3pPr>
            <a:lvl4pPr marL="1600200" indent="-228600" defTabSz="928688">
              <a:defRPr sz="1600">
                <a:solidFill>
                  <a:schemeClr val="tx1"/>
                </a:solidFill>
                <a:latin typeface="Helvetica" panose="020B0604020202020204" pitchFamily="34" charset="0"/>
                <a:ea typeface="MS PGothic" panose="020B0600070205080204" pitchFamily="34" charset="-128"/>
              </a:defRPr>
            </a:lvl4pPr>
            <a:lvl5pPr marL="2057400" indent="-228600" defTabSz="928688">
              <a:defRPr sz="1600">
                <a:solidFill>
                  <a:schemeClr val="tx1"/>
                </a:solidFill>
                <a:latin typeface="Helvetica" panose="020B0604020202020204" pitchFamily="34" charset="0"/>
                <a:ea typeface="MS PGothic" panose="020B0600070205080204" pitchFamily="34" charset="-128"/>
              </a:defRPr>
            </a:lvl5pPr>
            <a:lvl6pPr marL="25146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A7662A18-7A7C-4076-893B-6E4783118D4F}" type="slidenum">
              <a:rPr lang="en-US" altLang="en-US" sz="1200"/>
              <a:pPr/>
              <a:t>127</a:t>
            </a:fld>
            <a:endParaRPr lang="en-US" altLang="en-US" sz="1200"/>
          </a:p>
        </p:txBody>
      </p:sp>
      <p:sp>
        <p:nvSpPr>
          <p:cNvPr id="192515" name="Rectangle 2"/>
          <p:cNvSpPr>
            <a:spLocks noGrp="1" noRot="1" noChangeAspect="1" noChangeArrowheads="1" noTextEdit="1"/>
          </p:cNvSpPr>
          <p:nvPr>
            <p:ph type="sldImg"/>
          </p:nvPr>
        </p:nvSpPr>
        <p:spPr>
          <a:xfrm>
            <a:off x="1177925" y="695325"/>
            <a:ext cx="4641850" cy="3481388"/>
          </a:xfrm>
          <a:ln/>
        </p:spPr>
      </p:sp>
      <p:sp>
        <p:nvSpPr>
          <p:cNvPr id="192516" name="Rectangle 3"/>
          <p:cNvSpPr>
            <a:spLocks noGrp="1" noChangeArrowheads="1"/>
          </p:cNvSpPr>
          <p:nvPr>
            <p:ph type="body" idx="1"/>
          </p:nvPr>
        </p:nvSpPr>
        <p:spPr>
          <a:xfrm>
            <a:off x="931414" y="4410392"/>
            <a:ext cx="5134874" cy="4177348"/>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3538"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688">
              <a:defRPr sz="1600">
                <a:solidFill>
                  <a:schemeClr val="tx1"/>
                </a:solidFill>
                <a:latin typeface="Helvetica" panose="020B0604020202020204" pitchFamily="34" charset="0"/>
                <a:ea typeface="MS PGothic" panose="020B0600070205080204" pitchFamily="34" charset="-128"/>
              </a:defRPr>
            </a:lvl1pPr>
            <a:lvl2pPr marL="742950" indent="-285750" defTabSz="928688">
              <a:defRPr sz="1600">
                <a:solidFill>
                  <a:schemeClr val="tx1"/>
                </a:solidFill>
                <a:latin typeface="Helvetica" panose="020B0604020202020204" pitchFamily="34" charset="0"/>
                <a:ea typeface="MS PGothic" panose="020B0600070205080204" pitchFamily="34" charset="-128"/>
              </a:defRPr>
            </a:lvl2pPr>
            <a:lvl3pPr marL="1143000" indent="-228600" defTabSz="928688">
              <a:defRPr sz="1600">
                <a:solidFill>
                  <a:schemeClr val="tx1"/>
                </a:solidFill>
                <a:latin typeface="Helvetica" panose="020B0604020202020204" pitchFamily="34" charset="0"/>
                <a:ea typeface="MS PGothic" panose="020B0600070205080204" pitchFamily="34" charset="-128"/>
              </a:defRPr>
            </a:lvl3pPr>
            <a:lvl4pPr marL="1600200" indent="-228600" defTabSz="928688">
              <a:defRPr sz="1600">
                <a:solidFill>
                  <a:schemeClr val="tx1"/>
                </a:solidFill>
                <a:latin typeface="Helvetica" panose="020B0604020202020204" pitchFamily="34" charset="0"/>
                <a:ea typeface="MS PGothic" panose="020B0600070205080204" pitchFamily="34" charset="-128"/>
              </a:defRPr>
            </a:lvl4pPr>
            <a:lvl5pPr marL="2057400" indent="-228600" defTabSz="928688">
              <a:defRPr sz="1600">
                <a:solidFill>
                  <a:schemeClr val="tx1"/>
                </a:solidFill>
                <a:latin typeface="Helvetica" panose="020B0604020202020204" pitchFamily="34" charset="0"/>
                <a:ea typeface="MS PGothic" panose="020B0600070205080204" pitchFamily="34" charset="-128"/>
              </a:defRPr>
            </a:lvl5pPr>
            <a:lvl6pPr marL="25146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FEB02815-2E8F-4F1F-8AF4-3F688E850CE7}" type="slidenum">
              <a:rPr lang="en-US" altLang="en-US" sz="1200"/>
              <a:pPr/>
              <a:t>128</a:t>
            </a:fld>
            <a:endParaRPr lang="en-US" altLang="en-US" sz="1200"/>
          </a:p>
        </p:txBody>
      </p:sp>
      <p:sp>
        <p:nvSpPr>
          <p:cNvPr id="193539" name="Rectangle 2"/>
          <p:cNvSpPr>
            <a:spLocks noGrp="1" noRot="1" noChangeAspect="1" noChangeArrowheads="1" noTextEdit="1"/>
          </p:cNvSpPr>
          <p:nvPr>
            <p:ph type="sldImg"/>
          </p:nvPr>
        </p:nvSpPr>
        <p:spPr>
          <a:xfrm>
            <a:off x="1177925" y="695325"/>
            <a:ext cx="4641850" cy="3481388"/>
          </a:xfrm>
          <a:ln/>
        </p:spPr>
      </p:sp>
      <p:sp>
        <p:nvSpPr>
          <p:cNvPr id="193540" name="Rectangle 3"/>
          <p:cNvSpPr>
            <a:spLocks noGrp="1" noChangeArrowheads="1"/>
          </p:cNvSpPr>
          <p:nvPr>
            <p:ph type="body" idx="1"/>
          </p:nvPr>
        </p:nvSpPr>
        <p:spPr>
          <a:xfrm>
            <a:off x="931414" y="4410392"/>
            <a:ext cx="5134874" cy="4177348"/>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62"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688">
              <a:defRPr sz="1600">
                <a:solidFill>
                  <a:schemeClr val="tx1"/>
                </a:solidFill>
                <a:latin typeface="Helvetica" panose="020B0604020202020204" pitchFamily="34" charset="0"/>
                <a:ea typeface="MS PGothic" panose="020B0600070205080204" pitchFamily="34" charset="-128"/>
              </a:defRPr>
            </a:lvl1pPr>
            <a:lvl2pPr marL="742950" indent="-285750" defTabSz="928688">
              <a:defRPr sz="1600">
                <a:solidFill>
                  <a:schemeClr val="tx1"/>
                </a:solidFill>
                <a:latin typeface="Helvetica" panose="020B0604020202020204" pitchFamily="34" charset="0"/>
                <a:ea typeface="MS PGothic" panose="020B0600070205080204" pitchFamily="34" charset="-128"/>
              </a:defRPr>
            </a:lvl2pPr>
            <a:lvl3pPr marL="1143000" indent="-228600" defTabSz="928688">
              <a:defRPr sz="1600">
                <a:solidFill>
                  <a:schemeClr val="tx1"/>
                </a:solidFill>
                <a:latin typeface="Helvetica" panose="020B0604020202020204" pitchFamily="34" charset="0"/>
                <a:ea typeface="MS PGothic" panose="020B0600070205080204" pitchFamily="34" charset="-128"/>
              </a:defRPr>
            </a:lvl3pPr>
            <a:lvl4pPr marL="1600200" indent="-228600" defTabSz="928688">
              <a:defRPr sz="1600">
                <a:solidFill>
                  <a:schemeClr val="tx1"/>
                </a:solidFill>
                <a:latin typeface="Helvetica" panose="020B0604020202020204" pitchFamily="34" charset="0"/>
                <a:ea typeface="MS PGothic" panose="020B0600070205080204" pitchFamily="34" charset="-128"/>
              </a:defRPr>
            </a:lvl4pPr>
            <a:lvl5pPr marL="2057400" indent="-228600" defTabSz="928688">
              <a:defRPr sz="1600">
                <a:solidFill>
                  <a:schemeClr val="tx1"/>
                </a:solidFill>
                <a:latin typeface="Helvetica" panose="020B0604020202020204" pitchFamily="34" charset="0"/>
                <a:ea typeface="MS PGothic" panose="020B0600070205080204" pitchFamily="34" charset="-128"/>
              </a:defRPr>
            </a:lvl5pPr>
            <a:lvl6pPr marL="25146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87AD0300-7DF2-417B-9258-1FCF1C4B0F18}" type="slidenum">
              <a:rPr lang="en-US" altLang="en-US" sz="1200"/>
              <a:pPr/>
              <a:t>129</a:t>
            </a:fld>
            <a:endParaRPr lang="en-US" altLang="en-US" sz="1200"/>
          </a:p>
        </p:txBody>
      </p:sp>
      <p:sp>
        <p:nvSpPr>
          <p:cNvPr id="194563" name="Rectangle 2"/>
          <p:cNvSpPr>
            <a:spLocks noGrp="1" noRot="1" noChangeAspect="1" noChangeArrowheads="1" noTextEdit="1"/>
          </p:cNvSpPr>
          <p:nvPr>
            <p:ph type="sldImg"/>
          </p:nvPr>
        </p:nvSpPr>
        <p:spPr>
          <a:xfrm>
            <a:off x="1177925" y="695325"/>
            <a:ext cx="4641850" cy="3481388"/>
          </a:xfrm>
          <a:ln/>
        </p:spPr>
      </p:sp>
      <p:sp>
        <p:nvSpPr>
          <p:cNvPr id="194564" name="Rectangle 3"/>
          <p:cNvSpPr>
            <a:spLocks noGrp="1" noChangeArrowheads="1"/>
          </p:cNvSpPr>
          <p:nvPr>
            <p:ph type="body" idx="1"/>
          </p:nvPr>
        </p:nvSpPr>
        <p:spPr>
          <a:xfrm>
            <a:off x="931414" y="4410392"/>
            <a:ext cx="5134874" cy="4177348"/>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6610"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688">
              <a:defRPr sz="1600">
                <a:solidFill>
                  <a:schemeClr val="tx1"/>
                </a:solidFill>
                <a:latin typeface="Helvetica" panose="020B0604020202020204" pitchFamily="34" charset="0"/>
                <a:ea typeface="MS PGothic" panose="020B0600070205080204" pitchFamily="34" charset="-128"/>
              </a:defRPr>
            </a:lvl1pPr>
            <a:lvl2pPr marL="742950" indent="-285750" defTabSz="928688">
              <a:defRPr sz="1600">
                <a:solidFill>
                  <a:schemeClr val="tx1"/>
                </a:solidFill>
                <a:latin typeface="Helvetica" panose="020B0604020202020204" pitchFamily="34" charset="0"/>
                <a:ea typeface="MS PGothic" panose="020B0600070205080204" pitchFamily="34" charset="-128"/>
              </a:defRPr>
            </a:lvl2pPr>
            <a:lvl3pPr marL="1143000" indent="-228600" defTabSz="928688">
              <a:defRPr sz="1600">
                <a:solidFill>
                  <a:schemeClr val="tx1"/>
                </a:solidFill>
                <a:latin typeface="Helvetica" panose="020B0604020202020204" pitchFamily="34" charset="0"/>
                <a:ea typeface="MS PGothic" panose="020B0600070205080204" pitchFamily="34" charset="-128"/>
              </a:defRPr>
            </a:lvl3pPr>
            <a:lvl4pPr marL="1600200" indent="-228600" defTabSz="928688">
              <a:defRPr sz="1600">
                <a:solidFill>
                  <a:schemeClr val="tx1"/>
                </a:solidFill>
                <a:latin typeface="Helvetica" panose="020B0604020202020204" pitchFamily="34" charset="0"/>
                <a:ea typeface="MS PGothic" panose="020B0600070205080204" pitchFamily="34" charset="-128"/>
              </a:defRPr>
            </a:lvl4pPr>
            <a:lvl5pPr marL="2057400" indent="-228600" defTabSz="928688">
              <a:defRPr sz="1600">
                <a:solidFill>
                  <a:schemeClr val="tx1"/>
                </a:solidFill>
                <a:latin typeface="Helvetica" panose="020B0604020202020204" pitchFamily="34" charset="0"/>
                <a:ea typeface="MS PGothic" panose="020B0600070205080204" pitchFamily="34" charset="-128"/>
              </a:defRPr>
            </a:lvl5pPr>
            <a:lvl6pPr marL="25146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C65BE18E-95C0-4077-93A4-3B3170CA9954}" type="slidenum">
              <a:rPr lang="en-US" altLang="en-US" sz="1200"/>
              <a:pPr/>
              <a:t>131</a:t>
            </a:fld>
            <a:endParaRPr lang="en-US" altLang="en-US" sz="1200"/>
          </a:p>
        </p:txBody>
      </p:sp>
      <p:sp>
        <p:nvSpPr>
          <p:cNvPr id="196611" name="Rectangle 2"/>
          <p:cNvSpPr>
            <a:spLocks noGrp="1" noRot="1" noChangeAspect="1" noChangeArrowheads="1" noTextEdit="1"/>
          </p:cNvSpPr>
          <p:nvPr>
            <p:ph type="sldImg"/>
          </p:nvPr>
        </p:nvSpPr>
        <p:spPr>
          <a:xfrm>
            <a:off x="1177925" y="695325"/>
            <a:ext cx="4641850" cy="3481388"/>
          </a:xfrm>
          <a:ln/>
        </p:spPr>
      </p:sp>
      <p:sp>
        <p:nvSpPr>
          <p:cNvPr id="196612" name="Rectangle 3"/>
          <p:cNvSpPr>
            <a:spLocks noGrp="1" noChangeArrowheads="1"/>
          </p:cNvSpPr>
          <p:nvPr>
            <p:ph type="body" idx="1"/>
          </p:nvPr>
        </p:nvSpPr>
        <p:spPr>
          <a:xfrm>
            <a:off x="931414" y="4410392"/>
            <a:ext cx="5134874" cy="4177348"/>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7634"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688">
              <a:defRPr sz="1600">
                <a:solidFill>
                  <a:schemeClr val="tx1"/>
                </a:solidFill>
                <a:latin typeface="Helvetica" panose="020B0604020202020204" pitchFamily="34" charset="0"/>
                <a:ea typeface="MS PGothic" panose="020B0600070205080204" pitchFamily="34" charset="-128"/>
              </a:defRPr>
            </a:lvl1pPr>
            <a:lvl2pPr marL="742950" indent="-285750" defTabSz="928688">
              <a:defRPr sz="1600">
                <a:solidFill>
                  <a:schemeClr val="tx1"/>
                </a:solidFill>
                <a:latin typeface="Helvetica" panose="020B0604020202020204" pitchFamily="34" charset="0"/>
                <a:ea typeface="MS PGothic" panose="020B0600070205080204" pitchFamily="34" charset="-128"/>
              </a:defRPr>
            </a:lvl2pPr>
            <a:lvl3pPr marL="1143000" indent="-228600" defTabSz="928688">
              <a:defRPr sz="1600">
                <a:solidFill>
                  <a:schemeClr val="tx1"/>
                </a:solidFill>
                <a:latin typeface="Helvetica" panose="020B0604020202020204" pitchFamily="34" charset="0"/>
                <a:ea typeface="MS PGothic" panose="020B0600070205080204" pitchFamily="34" charset="-128"/>
              </a:defRPr>
            </a:lvl3pPr>
            <a:lvl4pPr marL="1600200" indent="-228600" defTabSz="928688">
              <a:defRPr sz="1600">
                <a:solidFill>
                  <a:schemeClr val="tx1"/>
                </a:solidFill>
                <a:latin typeface="Helvetica" panose="020B0604020202020204" pitchFamily="34" charset="0"/>
                <a:ea typeface="MS PGothic" panose="020B0600070205080204" pitchFamily="34" charset="-128"/>
              </a:defRPr>
            </a:lvl4pPr>
            <a:lvl5pPr marL="2057400" indent="-228600" defTabSz="928688">
              <a:defRPr sz="1600">
                <a:solidFill>
                  <a:schemeClr val="tx1"/>
                </a:solidFill>
                <a:latin typeface="Helvetica" panose="020B0604020202020204" pitchFamily="34" charset="0"/>
                <a:ea typeface="MS PGothic" panose="020B0600070205080204" pitchFamily="34" charset="-128"/>
              </a:defRPr>
            </a:lvl5pPr>
            <a:lvl6pPr marL="25146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4D675266-589F-43B0-9701-90476419F730}" type="slidenum">
              <a:rPr lang="en-US" altLang="en-US" sz="1200"/>
              <a:pPr/>
              <a:t>132</a:t>
            </a:fld>
            <a:endParaRPr lang="en-US" altLang="en-US" sz="1200"/>
          </a:p>
        </p:txBody>
      </p:sp>
      <p:sp>
        <p:nvSpPr>
          <p:cNvPr id="197635" name="Rectangle 2"/>
          <p:cNvSpPr>
            <a:spLocks noGrp="1" noRot="1" noChangeAspect="1" noChangeArrowheads="1" noTextEdit="1"/>
          </p:cNvSpPr>
          <p:nvPr>
            <p:ph type="sldImg"/>
          </p:nvPr>
        </p:nvSpPr>
        <p:spPr>
          <a:xfrm>
            <a:off x="1177925" y="695325"/>
            <a:ext cx="4641850" cy="3481388"/>
          </a:xfrm>
          <a:ln/>
        </p:spPr>
      </p:sp>
      <p:sp>
        <p:nvSpPr>
          <p:cNvPr id="197636" name="Rectangle 3"/>
          <p:cNvSpPr>
            <a:spLocks noGrp="1" noChangeArrowheads="1"/>
          </p:cNvSpPr>
          <p:nvPr>
            <p:ph type="body" idx="1"/>
          </p:nvPr>
        </p:nvSpPr>
        <p:spPr>
          <a:xfrm>
            <a:off x="931414" y="4410392"/>
            <a:ext cx="5134874" cy="4177348"/>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8658"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688">
              <a:defRPr sz="1600">
                <a:solidFill>
                  <a:schemeClr val="tx1"/>
                </a:solidFill>
                <a:latin typeface="Helvetica" panose="020B0604020202020204" pitchFamily="34" charset="0"/>
                <a:ea typeface="MS PGothic" panose="020B0600070205080204" pitchFamily="34" charset="-128"/>
              </a:defRPr>
            </a:lvl1pPr>
            <a:lvl2pPr marL="742950" indent="-285750" defTabSz="928688">
              <a:defRPr sz="1600">
                <a:solidFill>
                  <a:schemeClr val="tx1"/>
                </a:solidFill>
                <a:latin typeface="Helvetica" panose="020B0604020202020204" pitchFamily="34" charset="0"/>
                <a:ea typeface="MS PGothic" panose="020B0600070205080204" pitchFamily="34" charset="-128"/>
              </a:defRPr>
            </a:lvl2pPr>
            <a:lvl3pPr marL="1143000" indent="-228600" defTabSz="928688">
              <a:defRPr sz="1600">
                <a:solidFill>
                  <a:schemeClr val="tx1"/>
                </a:solidFill>
                <a:latin typeface="Helvetica" panose="020B0604020202020204" pitchFamily="34" charset="0"/>
                <a:ea typeface="MS PGothic" panose="020B0600070205080204" pitchFamily="34" charset="-128"/>
              </a:defRPr>
            </a:lvl3pPr>
            <a:lvl4pPr marL="1600200" indent="-228600" defTabSz="928688">
              <a:defRPr sz="1600">
                <a:solidFill>
                  <a:schemeClr val="tx1"/>
                </a:solidFill>
                <a:latin typeface="Helvetica" panose="020B0604020202020204" pitchFamily="34" charset="0"/>
                <a:ea typeface="MS PGothic" panose="020B0600070205080204" pitchFamily="34" charset="-128"/>
              </a:defRPr>
            </a:lvl4pPr>
            <a:lvl5pPr marL="2057400" indent="-228600" defTabSz="928688">
              <a:defRPr sz="1600">
                <a:solidFill>
                  <a:schemeClr val="tx1"/>
                </a:solidFill>
                <a:latin typeface="Helvetica" panose="020B0604020202020204" pitchFamily="34" charset="0"/>
                <a:ea typeface="MS PGothic" panose="020B0600070205080204" pitchFamily="34" charset="-128"/>
              </a:defRPr>
            </a:lvl5pPr>
            <a:lvl6pPr marL="25146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588DF86E-0385-4E7C-82B3-654758E8AEBF}" type="slidenum">
              <a:rPr lang="en-US" altLang="en-US" sz="1200"/>
              <a:pPr/>
              <a:t>133</a:t>
            </a:fld>
            <a:endParaRPr lang="en-US" altLang="en-US" sz="1200"/>
          </a:p>
        </p:txBody>
      </p:sp>
      <p:sp>
        <p:nvSpPr>
          <p:cNvPr id="198659" name="Rectangle 2"/>
          <p:cNvSpPr>
            <a:spLocks noGrp="1" noRot="1" noChangeAspect="1" noChangeArrowheads="1" noTextEdit="1"/>
          </p:cNvSpPr>
          <p:nvPr>
            <p:ph type="sldImg"/>
          </p:nvPr>
        </p:nvSpPr>
        <p:spPr>
          <a:xfrm>
            <a:off x="1177925" y="695325"/>
            <a:ext cx="4641850" cy="3481388"/>
          </a:xfrm>
          <a:ln/>
        </p:spPr>
      </p:sp>
      <p:sp>
        <p:nvSpPr>
          <p:cNvPr id="198660" name="Rectangle 3"/>
          <p:cNvSpPr>
            <a:spLocks noGrp="1" noChangeArrowheads="1"/>
          </p:cNvSpPr>
          <p:nvPr>
            <p:ph type="body" idx="1"/>
          </p:nvPr>
        </p:nvSpPr>
        <p:spPr>
          <a:xfrm>
            <a:off x="931414" y="4410392"/>
            <a:ext cx="5134874" cy="4177348"/>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9682"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688">
              <a:defRPr sz="1600">
                <a:solidFill>
                  <a:schemeClr val="tx1"/>
                </a:solidFill>
                <a:latin typeface="Helvetica" panose="020B0604020202020204" pitchFamily="34" charset="0"/>
                <a:ea typeface="MS PGothic" panose="020B0600070205080204" pitchFamily="34" charset="-128"/>
              </a:defRPr>
            </a:lvl1pPr>
            <a:lvl2pPr marL="742950" indent="-285750" defTabSz="928688">
              <a:defRPr sz="1600">
                <a:solidFill>
                  <a:schemeClr val="tx1"/>
                </a:solidFill>
                <a:latin typeface="Helvetica" panose="020B0604020202020204" pitchFamily="34" charset="0"/>
                <a:ea typeface="MS PGothic" panose="020B0600070205080204" pitchFamily="34" charset="-128"/>
              </a:defRPr>
            </a:lvl2pPr>
            <a:lvl3pPr marL="1143000" indent="-228600" defTabSz="928688">
              <a:defRPr sz="1600">
                <a:solidFill>
                  <a:schemeClr val="tx1"/>
                </a:solidFill>
                <a:latin typeface="Helvetica" panose="020B0604020202020204" pitchFamily="34" charset="0"/>
                <a:ea typeface="MS PGothic" panose="020B0600070205080204" pitchFamily="34" charset="-128"/>
              </a:defRPr>
            </a:lvl3pPr>
            <a:lvl4pPr marL="1600200" indent="-228600" defTabSz="928688">
              <a:defRPr sz="1600">
                <a:solidFill>
                  <a:schemeClr val="tx1"/>
                </a:solidFill>
                <a:latin typeface="Helvetica" panose="020B0604020202020204" pitchFamily="34" charset="0"/>
                <a:ea typeface="MS PGothic" panose="020B0600070205080204" pitchFamily="34" charset="-128"/>
              </a:defRPr>
            </a:lvl4pPr>
            <a:lvl5pPr marL="2057400" indent="-228600" defTabSz="928688">
              <a:defRPr sz="1600">
                <a:solidFill>
                  <a:schemeClr val="tx1"/>
                </a:solidFill>
                <a:latin typeface="Helvetica" panose="020B0604020202020204" pitchFamily="34" charset="0"/>
                <a:ea typeface="MS PGothic" panose="020B0600070205080204" pitchFamily="34" charset="-128"/>
              </a:defRPr>
            </a:lvl5pPr>
            <a:lvl6pPr marL="25146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5DB39A99-E879-404A-858C-3AE1BF5F92CA}" type="slidenum">
              <a:rPr lang="en-US" altLang="en-US" sz="1200"/>
              <a:pPr/>
              <a:t>134</a:t>
            </a:fld>
            <a:endParaRPr lang="en-US" altLang="en-US" sz="1200"/>
          </a:p>
        </p:txBody>
      </p:sp>
      <p:sp>
        <p:nvSpPr>
          <p:cNvPr id="199683" name="Rectangle 2"/>
          <p:cNvSpPr>
            <a:spLocks noGrp="1" noRot="1" noChangeAspect="1" noChangeArrowheads="1" noTextEdit="1"/>
          </p:cNvSpPr>
          <p:nvPr>
            <p:ph type="sldImg"/>
          </p:nvPr>
        </p:nvSpPr>
        <p:spPr>
          <a:xfrm>
            <a:off x="1177925" y="695325"/>
            <a:ext cx="4641850" cy="3481388"/>
          </a:xfrm>
          <a:ln/>
        </p:spPr>
      </p:sp>
      <p:sp>
        <p:nvSpPr>
          <p:cNvPr id="199684" name="Rectangle 3"/>
          <p:cNvSpPr>
            <a:spLocks noGrp="1" noChangeArrowheads="1"/>
          </p:cNvSpPr>
          <p:nvPr>
            <p:ph type="body" idx="1"/>
          </p:nvPr>
        </p:nvSpPr>
        <p:spPr>
          <a:xfrm>
            <a:off x="931414" y="4410392"/>
            <a:ext cx="5134874" cy="4177348"/>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0706"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688">
              <a:defRPr sz="1600">
                <a:solidFill>
                  <a:schemeClr val="tx1"/>
                </a:solidFill>
                <a:latin typeface="Helvetica" panose="020B0604020202020204" pitchFamily="34" charset="0"/>
                <a:ea typeface="MS PGothic" panose="020B0600070205080204" pitchFamily="34" charset="-128"/>
              </a:defRPr>
            </a:lvl1pPr>
            <a:lvl2pPr marL="742950" indent="-285750" defTabSz="928688">
              <a:defRPr sz="1600">
                <a:solidFill>
                  <a:schemeClr val="tx1"/>
                </a:solidFill>
                <a:latin typeface="Helvetica" panose="020B0604020202020204" pitchFamily="34" charset="0"/>
                <a:ea typeface="MS PGothic" panose="020B0600070205080204" pitchFamily="34" charset="-128"/>
              </a:defRPr>
            </a:lvl2pPr>
            <a:lvl3pPr marL="1143000" indent="-228600" defTabSz="928688">
              <a:defRPr sz="1600">
                <a:solidFill>
                  <a:schemeClr val="tx1"/>
                </a:solidFill>
                <a:latin typeface="Helvetica" panose="020B0604020202020204" pitchFamily="34" charset="0"/>
                <a:ea typeface="MS PGothic" panose="020B0600070205080204" pitchFamily="34" charset="-128"/>
              </a:defRPr>
            </a:lvl3pPr>
            <a:lvl4pPr marL="1600200" indent="-228600" defTabSz="928688">
              <a:defRPr sz="1600">
                <a:solidFill>
                  <a:schemeClr val="tx1"/>
                </a:solidFill>
                <a:latin typeface="Helvetica" panose="020B0604020202020204" pitchFamily="34" charset="0"/>
                <a:ea typeface="MS PGothic" panose="020B0600070205080204" pitchFamily="34" charset="-128"/>
              </a:defRPr>
            </a:lvl4pPr>
            <a:lvl5pPr marL="2057400" indent="-228600" defTabSz="928688">
              <a:defRPr sz="1600">
                <a:solidFill>
                  <a:schemeClr val="tx1"/>
                </a:solidFill>
                <a:latin typeface="Helvetica" panose="020B0604020202020204" pitchFamily="34" charset="0"/>
                <a:ea typeface="MS PGothic" panose="020B0600070205080204" pitchFamily="34" charset="-128"/>
              </a:defRPr>
            </a:lvl5pPr>
            <a:lvl6pPr marL="25146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0DDD9CE7-351F-48CE-967A-358B845A4695}" type="slidenum">
              <a:rPr lang="en-US" altLang="en-US" sz="1200"/>
              <a:pPr/>
              <a:t>135</a:t>
            </a:fld>
            <a:endParaRPr lang="en-US" altLang="en-US" sz="1200"/>
          </a:p>
        </p:txBody>
      </p:sp>
      <p:sp>
        <p:nvSpPr>
          <p:cNvPr id="200707" name="Rectangle 2"/>
          <p:cNvSpPr>
            <a:spLocks noGrp="1" noRot="1" noChangeAspect="1" noChangeArrowheads="1" noTextEdit="1"/>
          </p:cNvSpPr>
          <p:nvPr>
            <p:ph type="sldImg"/>
          </p:nvPr>
        </p:nvSpPr>
        <p:spPr>
          <a:xfrm>
            <a:off x="1177925" y="695325"/>
            <a:ext cx="4641850" cy="3481388"/>
          </a:xfrm>
          <a:ln/>
        </p:spPr>
      </p:sp>
      <p:sp>
        <p:nvSpPr>
          <p:cNvPr id="200708" name="Rectangle 3"/>
          <p:cNvSpPr>
            <a:spLocks noGrp="1" noChangeArrowheads="1"/>
          </p:cNvSpPr>
          <p:nvPr>
            <p:ph type="body" idx="1"/>
          </p:nvPr>
        </p:nvSpPr>
        <p:spPr>
          <a:xfrm>
            <a:off x="931414" y="4410392"/>
            <a:ext cx="5134874" cy="4177348"/>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1730"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688">
              <a:defRPr sz="1600">
                <a:solidFill>
                  <a:schemeClr val="tx1"/>
                </a:solidFill>
                <a:latin typeface="Helvetica" panose="020B0604020202020204" pitchFamily="34" charset="0"/>
                <a:ea typeface="MS PGothic" panose="020B0600070205080204" pitchFamily="34" charset="-128"/>
              </a:defRPr>
            </a:lvl1pPr>
            <a:lvl2pPr marL="742950" indent="-285750" defTabSz="928688">
              <a:defRPr sz="1600">
                <a:solidFill>
                  <a:schemeClr val="tx1"/>
                </a:solidFill>
                <a:latin typeface="Helvetica" panose="020B0604020202020204" pitchFamily="34" charset="0"/>
                <a:ea typeface="MS PGothic" panose="020B0600070205080204" pitchFamily="34" charset="-128"/>
              </a:defRPr>
            </a:lvl2pPr>
            <a:lvl3pPr marL="1143000" indent="-228600" defTabSz="928688">
              <a:defRPr sz="1600">
                <a:solidFill>
                  <a:schemeClr val="tx1"/>
                </a:solidFill>
                <a:latin typeface="Helvetica" panose="020B0604020202020204" pitchFamily="34" charset="0"/>
                <a:ea typeface="MS PGothic" panose="020B0600070205080204" pitchFamily="34" charset="-128"/>
              </a:defRPr>
            </a:lvl3pPr>
            <a:lvl4pPr marL="1600200" indent="-228600" defTabSz="928688">
              <a:defRPr sz="1600">
                <a:solidFill>
                  <a:schemeClr val="tx1"/>
                </a:solidFill>
                <a:latin typeface="Helvetica" panose="020B0604020202020204" pitchFamily="34" charset="0"/>
                <a:ea typeface="MS PGothic" panose="020B0600070205080204" pitchFamily="34" charset="-128"/>
              </a:defRPr>
            </a:lvl4pPr>
            <a:lvl5pPr marL="2057400" indent="-228600" defTabSz="928688">
              <a:defRPr sz="1600">
                <a:solidFill>
                  <a:schemeClr val="tx1"/>
                </a:solidFill>
                <a:latin typeface="Helvetica" panose="020B0604020202020204" pitchFamily="34" charset="0"/>
                <a:ea typeface="MS PGothic" panose="020B0600070205080204" pitchFamily="34" charset="-128"/>
              </a:defRPr>
            </a:lvl5pPr>
            <a:lvl6pPr marL="25146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70029BB9-2A89-4B67-AE42-9DB9D32BF98D}" type="slidenum">
              <a:rPr lang="en-US" altLang="en-US" sz="1200"/>
              <a:pPr/>
              <a:t>136</a:t>
            </a:fld>
            <a:endParaRPr lang="en-US" altLang="en-US" sz="1200"/>
          </a:p>
        </p:txBody>
      </p:sp>
      <p:sp>
        <p:nvSpPr>
          <p:cNvPr id="201731" name="Rectangle 2"/>
          <p:cNvSpPr>
            <a:spLocks noGrp="1" noRot="1" noChangeAspect="1" noChangeArrowheads="1" noTextEdit="1"/>
          </p:cNvSpPr>
          <p:nvPr>
            <p:ph type="sldImg"/>
          </p:nvPr>
        </p:nvSpPr>
        <p:spPr>
          <a:xfrm>
            <a:off x="1177925" y="695325"/>
            <a:ext cx="4641850" cy="3481388"/>
          </a:xfrm>
          <a:ln/>
        </p:spPr>
      </p:sp>
      <p:sp>
        <p:nvSpPr>
          <p:cNvPr id="201732" name="Rectangle 3"/>
          <p:cNvSpPr>
            <a:spLocks noGrp="1" noChangeArrowheads="1"/>
          </p:cNvSpPr>
          <p:nvPr>
            <p:ph type="body" idx="1"/>
          </p:nvPr>
        </p:nvSpPr>
        <p:spPr>
          <a:xfrm>
            <a:off x="931414" y="4410392"/>
            <a:ext cx="5134874" cy="4177348"/>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2754"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688">
              <a:defRPr sz="1600">
                <a:solidFill>
                  <a:schemeClr val="tx1"/>
                </a:solidFill>
                <a:latin typeface="Helvetica" panose="020B0604020202020204" pitchFamily="34" charset="0"/>
                <a:ea typeface="MS PGothic" panose="020B0600070205080204" pitchFamily="34" charset="-128"/>
              </a:defRPr>
            </a:lvl1pPr>
            <a:lvl2pPr marL="742950" indent="-285750" defTabSz="928688">
              <a:defRPr sz="1600">
                <a:solidFill>
                  <a:schemeClr val="tx1"/>
                </a:solidFill>
                <a:latin typeface="Helvetica" panose="020B0604020202020204" pitchFamily="34" charset="0"/>
                <a:ea typeface="MS PGothic" panose="020B0600070205080204" pitchFamily="34" charset="-128"/>
              </a:defRPr>
            </a:lvl2pPr>
            <a:lvl3pPr marL="1143000" indent="-228600" defTabSz="928688">
              <a:defRPr sz="1600">
                <a:solidFill>
                  <a:schemeClr val="tx1"/>
                </a:solidFill>
                <a:latin typeface="Helvetica" panose="020B0604020202020204" pitchFamily="34" charset="0"/>
                <a:ea typeface="MS PGothic" panose="020B0600070205080204" pitchFamily="34" charset="-128"/>
              </a:defRPr>
            </a:lvl3pPr>
            <a:lvl4pPr marL="1600200" indent="-228600" defTabSz="928688">
              <a:defRPr sz="1600">
                <a:solidFill>
                  <a:schemeClr val="tx1"/>
                </a:solidFill>
                <a:latin typeface="Helvetica" panose="020B0604020202020204" pitchFamily="34" charset="0"/>
                <a:ea typeface="MS PGothic" panose="020B0600070205080204" pitchFamily="34" charset="-128"/>
              </a:defRPr>
            </a:lvl4pPr>
            <a:lvl5pPr marL="2057400" indent="-228600" defTabSz="928688">
              <a:defRPr sz="1600">
                <a:solidFill>
                  <a:schemeClr val="tx1"/>
                </a:solidFill>
                <a:latin typeface="Helvetica" panose="020B0604020202020204" pitchFamily="34" charset="0"/>
                <a:ea typeface="MS PGothic" panose="020B0600070205080204" pitchFamily="34" charset="-128"/>
              </a:defRPr>
            </a:lvl5pPr>
            <a:lvl6pPr marL="25146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AF9645A2-1248-423A-8556-84A2D4FA5E36}" type="slidenum">
              <a:rPr lang="en-US" altLang="en-US" sz="1200"/>
              <a:pPr/>
              <a:t>137</a:t>
            </a:fld>
            <a:endParaRPr lang="en-US" altLang="en-US" sz="1200"/>
          </a:p>
        </p:txBody>
      </p:sp>
      <p:sp>
        <p:nvSpPr>
          <p:cNvPr id="202755" name="Rectangle 2"/>
          <p:cNvSpPr>
            <a:spLocks noGrp="1" noRot="1" noChangeAspect="1" noChangeArrowheads="1" noTextEdit="1"/>
          </p:cNvSpPr>
          <p:nvPr>
            <p:ph type="sldImg"/>
          </p:nvPr>
        </p:nvSpPr>
        <p:spPr>
          <a:xfrm>
            <a:off x="1177925" y="695325"/>
            <a:ext cx="4641850" cy="3481388"/>
          </a:xfrm>
          <a:ln/>
        </p:spPr>
      </p:sp>
      <p:sp>
        <p:nvSpPr>
          <p:cNvPr id="202756" name="Rectangle 3"/>
          <p:cNvSpPr>
            <a:spLocks noGrp="1" noChangeArrowheads="1"/>
          </p:cNvSpPr>
          <p:nvPr>
            <p:ph type="body" idx="1"/>
          </p:nvPr>
        </p:nvSpPr>
        <p:spPr>
          <a:xfrm>
            <a:off x="931414" y="4410392"/>
            <a:ext cx="5134874" cy="4177348"/>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cSld>
  <p:clrMapOvr>
    <a:masterClrMapping/>
  </p:clrMapOvr>
</p:notes>
</file>

<file path=ppt/notesSlides/notesSlide1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3778"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688">
              <a:defRPr sz="1600">
                <a:solidFill>
                  <a:schemeClr val="tx1"/>
                </a:solidFill>
                <a:latin typeface="Helvetica" panose="020B0604020202020204" pitchFamily="34" charset="0"/>
                <a:ea typeface="MS PGothic" panose="020B0600070205080204" pitchFamily="34" charset="-128"/>
              </a:defRPr>
            </a:lvl1pPr>
            <a:lvl2pPr marL="742950" indent="-285750" defTabSz="928688">
              <a:defRPr sz="1600">
                <a:solidFill>
                  <a:schemeClr val="tx1"/>
                </a:solidFill>
                <a:latin typeface="Helvetica" panose="020B0604020202020204" pitchFamily="34" charset="0"/>
                <a:ea typeface="MS PGothic" panose="020B0600070205080204" pitchFamily="34" charset="-128"/>
              </a:defRPr>
            </a:lvl2pPr>
            <a:lvl3pPr marL="1143000" indent="-228600" defTabSz="928688">
              <a:defRPr sz="1600">
                <a:solidFill>
                  <a:schemeClr val="tx1"/>
                </a:solidFill>
                <a:latin typeface="Helvetica" panose="020B0604020202020204" pitchFamily="34" charset="0"/>
                <a:ea typeface="MS PGothic" panose="020B0600070205080204" pitchFamily="34" charset="-128"/>
              </a:defRPr>
            </a:lvl3pPr>
            <a:lvl4pPr marL="1600200" indent="-228600" defTabSz="928688">
              <a:defRPr sz="1600">
                <a:solidFill>
                  <a:schemeClr val="tx1"/>
                </a:solidFill>
                <a:latin typeface="Helvetica" panose="020B0604020202020204" pitchFamily="34" charset="0"/>
                <a:ea typeface="MS PGothic" panose="020B0600070205080204" pitchFamily="34" charset="-128"/>
              </a:defRPr>
            </a:lvl4pPr>
            <a:lvl5pPr marL="2057400" indent="-228600" defTabSz="928688">
              <a:defRPr sz="1600">
                <a:solidFill>
                  <a:schemeClr val="tx1"/>
                </a:solidFill>
                <a:latin typeface="Helvetica" panose="020B0604020202020204" pitchFamily="34" charset="0"/>
                <a:ea typeface="MS PGothic" panose="020B0600070205080204" pitchFamily="34" charset="-128"/>
              </a:defRPr>
            </a:lvl5pPr>
            <a:lvl6pPr marL="25146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D9BE1E68-DCB1-4B85-8BF4-1674F75BDA38}" type="slidenum">
              <a:rPr lang="en-US" altLang="en-US" sz="1200"/>
              <a:pPr/>
              <a:t>138</a:t>
            </a:fld>
            <a:endParaRPr lang="en-US" altLang="en-US" sz="1200"/>
          </a:p>
        </p:txBody>
      </p:sp>
      <p:sp>
        <p:nvSpPr>
          <p:cNvPr id="203779" name="Rectangle 2"/>
          <p:cNvSpPr>
            <a:spLocks noGrp="1" noRot="1" noChangeAspect="1" noChangeArrowheads="1" noTextEdit="1"/>
          </p:cNvSpPr>
          <p:nvPr>
            <p:ph type="sldImg"/>
          </p:nvPr>
        </p:nvSpPr>
        <p:spPr>
          <a:xfrm>
            <a:off x="1177925" y="695325"/>
            <a:ext cx="4641850" cy="3481388"/>
          </a:xfrm>
          <a:ln/>
        </p:spPr>
      </p:sp>
      <p:sp>
        <p:nvSpPr>
          <p:cNvPr id="203780" name="Rectangle 3"/>
          <p:cNvSpPr>
            <a:spLocks noGrp="1" noChangeArrowheads="1"/>
          </p:cNvSpPr>
          <p:nvPr>
            <p:ph type="body" idx="1"/>
          </p:nvPr>
        </p:nvSpPr>
        <p:spPr>
          <a:xfrm>
            <a:off x="931414" y="4410392"/>
            <a:ext cx="5134874" cy="4177348"/>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cSld>
  <p:clrMapOvr>
    <a:masterClrMapping/>
  </p:clrMapOvr>
</p:notes>
</file>

<file path=ppt/notesSlides/notesSlide1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02"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688">
              <a:defRPr sz="1600">
                <a:solidFill>
                  <a:schemeClr val="tx1"/>
                </a:solidFill>
                <a:latin typeface="Helvetica" panose="020B0604020202020204" pitchFamily="34" charset="0"/>
                <a:ea typeface="MS PGothic" panose="020B0600070205080204" pitchFamily="34" charset="-128"/>
              </a:defRPr>
            </a:lvl1pPr>
            <a:lvl2pPr marL="742950" indent="-285750" defTabSz="928688">
              <a:defRPr sz="1600">
                <a:solidFill>
                  <a:schemeClr val="tx1"/>
                </a:solidFill>
                <a:latin typeface="Helvetica" panose="020B0604020202020204" pitchFamily="34" charset="0"/>
                <a:ea typeface="MS PGothic" panose="020B0600070205080204" pitchFamily="34" charset="-128"/>
              </a:defRPr>
            </a:lvl2pPr>
            <a:lvl3pPr marL="1143000" indent="-228600" defTabSz="928688">
              <a:defRPr sz="1600">
                <a:solidFill>
                  <a:schemeClr val="tx1"/>
                </a:solidFill>
                <a:latin typeface="Helvetica" panose="020B0604020202020204" pitchFamily="34" charset="0"/>
                <a:ea typeface="MS PGothic" panose="020B0600070205080204" pitchFamily="34" charset="-128"/>
              </a:defRPr>
            </a:lvl3pPr>
            <a:lvl4pPr marL="1600200" indent="-228600" defTabSz="928688">
              <a:defRPr sz="1600">
                <a:solidFill>
                  <a:schemeClr val="tx1"/>
                </a:solidFill>
                <a:latin typeface="Helvetica" panose="020B0604020202020204" pitchFamily="34" charset="0"/>
                <a:ea typeface="MS PGothic" panose="020B0600070205080204" pitchFamily="34" charset="-128"/>
              </a:defRPr>
            </a:lvl4pPr>
            <a:lvl5pPr marL="2057400" indent="-228600" defTabSz="928688">
              <a:defRPr sz="1600">
                <a:solidFill>
                  <a:schemeClr val="tx1"/>
                </a:solidFill>
                <a:latin typeface="Helvetica" panose="020B0604020202020204" pitchFamily="34" charset="0"/>
                <a:ea typeface="MS PGothic" panose="020B0600070205080204" pitchFamily="34" charset="-128"/>
              </a:defRPr>
            </a:lvl5pPr>
            <a:lvl6pPr marL="25146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038419CD-81A9-4ED0-AB27-AA58D803B9B6}" type="slidenum">
              <a:rPr lang="en-US" altLang="en-US" sz="1200"/>
              <a:pPr/>
              <a:t>139</a:t>
            </a:fld>
            <a:endParaRPr lang="en-US" altLang="en-US" sz="1200"/>
          </a:p>
        </p:txBody>
      </p:sp>
      <p:sp>
        <p:nvSpPr>
          <p:cNvPr id="204803" name="Rectangle 2"/>
          <p:cNvSpPr>
            <a:spLocks noGrp="1" noRot="1" noChangeAspect="1" noChangeArrowheads="1" noTextEdit="1"/>
          </p:cNvSpPr>
          <p:nvPr>
            <p:ph type="sldImg"/>
          </p:nvPr>
        </p:nvSpPr>
        <p:spPr>
          <a:xfrm>
            <a:off x="1177925" y="695325"/>
            <a:ext cx="4641850" cy="3481388"/>
          </a:xfrm>
          <a:ln/>
        </p:spPr>
      </p:sp>
      <p:sp>
        <p:nvSpPr>
          <p:cNvPr id="204804" name="Rectangle 3"/>
          <p:cNvSpPr>
            <a:spLocks noGrp="1" noChangeArrowheads="1"/>
          </p:cNvSpPr>
          <p:nvPr>
            <p:ph type="body" idx="1"/>
          </p:nvPr>
        </p:nvSpPr>
        <p:spPr>
          <a:xfrm>
            <a:off x="931414" y="4410392"/>
            <a:ext cx="5134874" cy="4177348"/>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cSld>
  <p:clrMapOvr>
    <a:masterClrMapping/>
  </p:clrMapOvr>
</p:notes>
</file>

<file path=ppt/notesSlides/notesSlide1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5826"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688">
              <a:defRPr sz="1600">
                <a:solidFill>
                  <a:schemeClr val="tx1"/>
                </a:solidFill>
                <a:latin typeface="Helvetica" panose="020B0604020202020204" pitchFamily="34" charset="0"/>
                <a:ea typeface="MS PGothic" panose="020B0600070205080204" pitchFamily="34" charset="-128"/>
              </a:defRPr>
            </a:lvl1pPr>
            <a:lvl2pPr marL="742950" indent="-285750" defTabSz="928688">
              <a:defRPr sz="1600">
                <a:solidFill>
                  <a:schemeClr val="tx1"/>
                </a:solidFill>
                <a:latin typeface="Helvetica" panose="020B0604020202020204" pitchFamily="34" charset="0"/>
                <a:ea typeface="MS PGothic" panose="020B0600070205080204" pitchFamily="34" charset="-128"/>
              </a:defRPr>
            </a:lvl2pPr>
            <a:lvl3pPr marL="1143000" indent="-228600" defTabSz="928688">
              <a:defRPr sz="1600">
                <a:solidFill>
                  <a:schemeClr val="tx1"/>
                </a:solidFill>
                <a:latin typeface="Helvetica" panose="020B0604020202020204" pitchFamily="34" charset="0"/>
                <a:ea typeface="MS PGothic" panose="020B0600070205080204" pitchFamily="34" charset="-128"/>
              </a:defRPr>
            </a:lvl3pPr>
            <a:lvl4pPr marL="1600200" indent="-228600" defTabSz="928688">
              <a:defRPr sz="1600">
                <a:solidFill>
                  <a:schemeClr val="tx1"/>
                </a:solidFill>
                <a:latin typeface="Helvetica" panose="020B0604020202020204" pitchFamily="34" charset="0"/>
                <a:ea typeface="MS PGothic" panose="020B0600070205080204" pitchFamily="34" charset="-128"/>
              </a:defRPr>
            </a:lvl4pPr>
            <a:lvl5pPr marL="2057400" indent="-228600" defTabSz="928688">
              <a:defRPr sz="1600">
                <a:solidFill>
                  <a:schemeClr val="tx1"/>
                </a:solidFill>
                <a:latin typeface="Helvetica" panose="020B0604020202020204" pitchFamily="34" charset="0"/>
                <a:ea typeface="MS PGothic" panose="020B0600070205080204" pitchFamily="34" charset="-128"/>
              </a:defRPr>
            </a:lvl5pPr>
            <a:lvl6pPr marL="25146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9ACD90F2-E731-4C57-9E9C-AE613BD3ED33}" type="slidenum">
              <a:rPr lang="en-US" altLang="en-US" sz="1200"/>
              <a:pPr/>
              <a:t>140</a:t>
            </a:fld>
            <a:endParaRPr lang="en-US" altLang="en-US" sz="1200"/>
          </a:p>
        </p:txBody>
      </p:sp>
      <p:sp>
        <p:nvSpPr>
          <p:cNvPr id="205827" name="Rectangle 2"/>
          <p:cNvSpPr>
            <a:spLocks noGrp="1" noRot="1" noChangeAspect="1" noChangeArrowheads="1" noTextEdit="1"/>
          </p:cNvSpPr>
          <p:nvPr>
            <p:ph type="sldImg"/>
          </p:nvPr>
        </p:nvSpPr>
        <p:spPr>
          <a:xfrm>
            <a:off x="1177925" y="695325"/>
            <a:ext cx="4641850" cy="3481388"/>
          </a:xfrm>
          <a:ln/>
        </p:spPr>
      </p:sp>
      <p:sp>
        <p:nvSpPr>
          <p:cNvPr id="205828" name="Rectangle 3"/>
          <p:cNvSpPr>
            <a:spLocks noGrp="1" noChangeArrowheads="1"/>
          </p:cNvSpPr>
          <p:nvPr>
            <p:ph type="body" idx="1"/>
          </p:nvPr>
        </p:nvSpPr>
        <p:spPr>
          <a:xfrm>
            <a:off x="931414" y="4410392"/>
            <a:ext cx="5134874" cy="4177348"/>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cSld>
  <p:clrMapOvr>
    <a:masterClrMapping/>
  </p:clrMapOvr>
</p:notes>
</file>

<file path=ppt/notesSlides/notesSlide1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6850"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688">
              <a:defRPr sz="1600">
                <a:solidFill>
                  <a:schemeClr val="tx1"/>
                </a:solidFill>
                <a:latin typeface="Helvetica" panose="020B0604020202020204" pitchFamily="34" charset="0"/>
                <a:ea typeface="MS PGothic" panose="020B0600070205080204" pitchFamily="34" charset="-128"/>
              </a:defRPr>
            </a:lvl1pPr>
            <a:lvl2pPr marL="742950" indent="-285750" defTabSz="928688">
              <a:defRPr sz="1600">
                <a:solidFill>
                  <a:schemeClr val="tx1"/>
                </a:solidFill>
                <a:latin typeface="Helvetica" panose="020B0604020202020204" pitchFamily="34" charset="0"/>
                <a:ea typeface="MS PGothic" panose="020B0600070205080204" pitchFamily="34" charset="-128"/>
              </a:defRPr>
            </a:lvl2pPr>
            <a:lvl3pPr marL="1143000" indent="-228600" defTabSz="928688">
              <a:defRPr sz="1600">
                <a:solidFill>
                  <a:schemeClr val="tx1"/>
                </a:solidFill>
                <a:latin typeface="Helvetica" panose="020B0604020202020204" pitchFamily="34" charset="0"/>
                <a:ea typeface="MS PGothic" panose="020B0600070205080204" pitchFamily="34" charset="-128"/>
              </a:defRPr>
            </a:lvl3pPr>
            <a:lvl4pPr marL="1600200" indent="-228600" defTabSz="928688">
              <a:defRPr sz="1600">
                <a:solidFill>
                  <a:schemeClr val="tx1"/>
                </a:solidFill>
                <a:latin typeface="Helvetica" panose="020B0604020202020204" pitchFamily="34" charset="0"/>
                <a:ea typeface="MS PGothic" panose="020B0600070205080204" pitchFamily="34" charset="-128"/>
              </a:defRPr>
            </a:lvl4pPr>
            <a:lvl5pPr marL="2057400" indent="-228600" defTabSz="928688">
              <a:defRPr sz="1600">
                <a:solidFill>
                  <a:schemeClr val="tx1"/>
                </a:solidFill>
                <a:latin typeface="Helvetica" panose="020B0604020202020204" pitchFamily="34" charset="0"/>
                <a:ea typeface="MS PGothic" panose="020B0600070205080204" pitchFamily="34" charset="-128"/>
              </a:defRPr>
            </a:lvl5pPr>
            <a:lvl6pPr marL="25146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5A6B90E9-AD16-49EE-8AC8-14E0E639CE5E}" type="slidenum">
              <a:rPr lang="en-US" altLang="en-US" sz="1200"/>
              <a:pPr/>
              <a:t>141</a:t>
            </a:fld>
            <a:endParaRPr lang="en-US" altLang="en-US" sz="1200"/>
          </a:p>
        </p:txBody>
      </p:sp>
      <p:sp>
        <p:nvSpPr>
          <p:cNvPr id="206851" name="Rectangle 2"/>
          <p:cNvSpPr>
            <a:spLocks noGrp="1" noRot="1" noChangeAspect="1" noChangeArrowheads="1" noTextEdit="1"/>
          </p:cNvSpPr>
          <p:nvPr>
            <p:ph type="sldImg"/>
          </p:nvPr>
        </p:nvSpPr>
        <p:spPr>
          <a:xfrm>
            <a:off x="1177925" y="695325"/>
            <a:ext cx="4641850" cy="3481388"/>
          </a:xfrm>
          <a:ln/>
        </p:spPr>
      </p:sp>
      <p:sp>
        <p:nvSpPr>
          <p:cNvPr id="206852" name="Rectangle 3"/>
          <p:cNvSpPr>
            <a:spLocks noGrp="1" noChangeArrowheads="1"/>
          </p:cNvSpPr>
          <p:nvPr>
            <p:ph type="body" idx="1"/>
          </p:nvPr>
        </p:nvSpPr>
        <p:spPr>
          <a:xfrm>
            <a:off x="931414" y="4410392"/>
            <a:ext cx="5134874" cy="4177348"/>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cSld>
  <p:clrMapOvr>
    <a:masterClrMapping/>
  </p:clrMapOvr>
</p:notes>
</file>

<file path=ppt/notesSlides/notesSlide1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7874"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688">
              <a:defRPr sz="1600">
                <a:solidFill>
                  <a:schemeClr val="tx1"/>
                </a:solidFill>
                <a:latin typeface="Helvetica" panose="020B0604020202020204" pitchFamily="34" charset="0"/>
                <a:ea typeface="MS PGothic" panose="020B0600070205080204" pitchFamily="34" charset="-128"/>
              </a:defRPr>
            </a:lvl1pPr>
            <a:lvl2pPr marL="742950" indent="-285750" defTabSz="928688">
              <a:defRPr sz="1600">
                <a:solidFill>
                  <a:schemeClr val="tx1"/>
                </a:solidFill>
                <a:latin typeface="Helvetica" panose="020B0604020202020204" pitchFamily="34" charset="0"/>
                <a:ea typeface="MS PGothic" panose="020B0600070205080204" pitchFamily="34" charset="-128"/>
              </a:defRPr>
            </a:lvl2pPr>
            <a:lvl3pPr marL="1143000" indent="-228600" defTabSz="928688">
              <a:defRPr sz="1600">
                <a:solidFill>
                  <a:schemeClr val="tx1"/>
                </a:solidFill>
                <a:latin typeface="Helvetica" panose="020B0604020202020204" pitchFamily="34" charset="0"/>
                <a:ea typeface="MS PGothic" panose="020B0600070205080204" pitchFamily="34" charset="-128"/>
              </a:defRPr>
            </a:lvl3pPr>
            <a:lvl4pPr marL="1600200" indent="-228600" defTabSz="928688">
              <a:defRPr sz="1600">
                <a:solidFill>
                  <a:schemeClr val="tx1"/>
                </a:solidFill>
                <a:latin typeface="Helvetica" panose="020B0604020202020204" pitchFamily="34" charset="0"/>
                <a:ea typeface="MS PGothic" panose="020B0600070205080204" pitchFamily="34" charset="-128"/>
              </a:defRPr>
            </a:lvl4pPr>
            <a:lvl5pPr marL="2057400" indent="-228600" defTabSz="928688">
              <a:defRPr sz="1600">
                <a:solidFill>
                  <a:schemeClr val="tx1"/>
                </a:solidFill>
                <a:latin typeface="Helvetica" panose="020B0604020202020204" pitchFamily="34" charset="0"/>
                <a:ea typeface="MS PGothic" panose="020B0600070205080204" pitchFamily="34" charset="-128"/>
              </a:defRPr>
            </a:lvl5pPr>
            <a:lvl6pPr marL="25146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6BBED4C9-4176-4C1E-9BDD-B23EF2DAA67E}" type="slidenum">
              <a:rPr lang="en-US" altLang="en-US" sz="1200"/>
              <a:pPr/>
              <a:t>142</a:t>
            </a:fld>
            <a:endParaRPr lang="en-US" altLang="en-US" sz="1200"/>
          </a:p>
        </p:txBody>
      </p:sp>
      <p:sp>
        <p:nvSpPr>
          <p:cNvPr id="207875" name="Rectangle 2"/>
          <p:cNvSpPr>
            <a:spLocks noGrp="1" noRot="1" noChangeAspect="1" noChangeArrowheads="1" noTextEdit="1"/>
          </p:cNvSpPr>
          <p:nvPr>
            <p:ph type="sldImg"/>
          </p:nvPr>
        </p:nvSpPr>
        <p:spPr>
          <a:xfrm>
            <a:off x="1177925" y="695325"/>
            <a:ext cx="4641850" cy="3481388"/>
          </a:xfrm>
          <a:ln/>
        </p:spPr>
      </p:sp>
      <p:sp>
        <p:nvSpPr>
          <p:cNvPr id="207876" name="Rectangle 3"/>
          <p:cNvSpPr>
            <a:spLocks noGrp="1" noChangeArrowheads="1"/>
          </p:cNvSpPr>
          <p:nvPr>
            <p:ph type="body" idx="1"/>
          </p:nvPr>
        </p:nvSpPr>
        <p:spPr>
          <a:xfrm>
            <a:off x="931414" y="4410392"/>
            <a:ext cx="5134874" cy="4177348"/>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cSld>
  <p:clrMapOvr>
    <a:masterClrMapping/>
  </p:clrMapOvr>
</p:notes>
</file>

<file path=ppt/notesSlides/notesSlide1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8898"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688">
              <a:defRPr sz="1600">
                <a:solidFill>
                  <a:schemeClr val="tx1"/>
                </a:solidFill>
                <a:latin typeface="Helvetica" panose="020B0604020202020204" pitchFamily="34" charset="0"/>
                <a:ea typeface="MS PGothic" panose="020B0600070205080204" pitchFamily="34" charset="-128"/>
              </a:defRPr>
            </a:lvl1pPr>
            <a:lvl2pPr marL="742950" indent="-285750" defTabSz="928688">
              <a:defRPr sz="1600">
                <a:solidFill>
                  <a:schemeClr val="tx1"/>
                </a:solidFill>
                <a:latin typeface="Helvetica" panose="020B0604020202020204" pitchFamily="34" charset="0"/>
                <a:ea typeface="MS PGothic" panose="020B0600070205080204" pitchFamily="34" charset="-128"/>
              </a:defRPr>
            </a:lvl2pPr>
            <a:lvl3pPr marL="1143000" indent="-228600" defTabSz="928688">
              <a:defRPr sz="1600">
                <a:solidFill>
                  <a:schemeClr val="tx1"/>
                </a:solidFill>
                <a:latin typeface="Helvetica" panose="020B0604020202020204" pitchFamily="34" charset="0"/>
                <a:ea typeface="MS PGothic" panose="020B0600070205080204" pitchFamily="34" charset="-128"/>
              </a:defRPr>
            </a:lvl3pPr>
            <a:lvl4pPr marL="1600200" indent="-228600" defTabSz="928688">
              <a:defRPr sz="1600">
                <a:solidFill>
                  <a:schemeClr val="tx1"/>
                </a:solidFill>
                <a:latin typeface="Helvetica" panose="020B0604020202020204" pitchFamily="34" charset="0"/>
                <a:ea typeface="MS PGothic" panose="020B0600070205080204" pitchFamily="34" charset="-128"/>
              </a:defRPr>
            </a:lvl4pPr>
            <a:lvl5pPr marL="2057400" indent="-228600" defTabSz="928688">
              <a:defRPr sz="1600">
                <a:solidFill>
                  <a:schemeClr val="tx1"/>
                </a:solidFill>
                <a:latin typeface="Helvetica" panose="020B0604020202020204" pitchFamily="34" charset="0"/>
                <a:ea typeface="MS PGothic" panose="020B0600070205080204" pitchFamily="34" charset="-128"/>
              </a:defRPr>
            </a:lvl5pPr>
            <a:lvl6pPr marL="25146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745FF9D4-41DB-4DDD-A2B7-DFC2E567BB37}" type="slidenum">
              <a:rPr lang="en-US" altLang="en-US" sz="1200"/>
              <a:pPr/>
              <a:t>143</a:t>
            </a:fld>
            <a:endParaRPr lang="en-US" altLang="en-US" sz="1200"/>
          </a:p>
        </p:txBody>
      </p:sp>
      <p:sp>
        <p:nvSpPr>
          <p:cNvPr id="208899" name="Rectangle 2"/>
          <p:cNvSpPr>
            <a:spLocks noGrp="1" noRot="1" noChangeAspect="1" noChangeArrowheads="1" noTextEdit="1"/>
          </p:cNvSpPr>
          <p:nvPr>
            <p:ph type="sldImg"/>
          </p:nvPr>
        </p:nvSpPr>
        <p:spPr>
          <a:xfrm>
            <a:off x="1177925" y="695325"/>
            <a:ext cx="4641850" cy="3481388"/>
          </a:xfrm>
          <a:ln/>
        </p:spPr>
      </p:sp>
      <p:sp>
        <p:nvSpPr>
          <p:cNvPr id="208900" name="Rectangle 3"/>
          <p:cNvSpPr>
            <a:spLocks noGrp="1" noChangeArrowheads="1"/>
          </p:cNvSpPr>
          <p:nvPr>
            <p:ph type="body" idx="1"/>
          </p:nvPr>
        </p:nvSpPr>
        <p:spPr>
          <a:xfrm>
            <a:off x="931414" y="4410392"/>
            <a:ext cx="5134874" cy="4177348"/>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cSld>
  <p:clrMapOvr>
    <a:masterClrMapping/>
  </p:clrMapOvr>
</p:notes>
</file>

<file path=ppt/notesSlides/notesSlide1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9922"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688">
              <a:defRPr sz="1600">
                <a:solidFill>
                  <a:schemeClr val="tx1"/>
                </a:solidFill>
                <a:latin typeface="Helvetica" panose="020B0604020202020204" pitchFamily="34" charset="0"/>
                <a:ea typeface="MS PGothic" panose="020B0600070205080204" pitchFamily="34" charset="-128"/>
              </a:defRPr>
            </a:lvl1pPr>
            <a:lvl2pPr marL="742950" indent="-285750" defTabSz="928688">
              <a:defRPr sz="1600">
                <a:solidFill>
                  <a:schemeClr val="tx1"/>
                </a:solidFill>
                <a:latin typeface="Helvetica" panose="020B0604020202020204" pitchFamily="34" charset="0"/>
                <a:ea typeface="MS PGothic" panose="020B0600070205080204" pitchFamily="34" charset="-128"/>
              </a:defRPr>
            </a:lvl2pPr>
            <a:lvl3pPr marL="1143000" indent="-228600" defTabSz="928688">
              <a:defRPr sz="1600">
                <a:solidFill>
                  <a:schemeClr val="tx1"/>
                </a:solidFill>
                <a:latin typeface="Helvetica" panose="020B0604020202020204" pitchFamily="34" charset="0"/>
                <a:ea typeface="MS PGothic" panose="020B0600070205080204" pitchFamily="34" charset="-128"/>
              </a:defRPr>
            </a:lvl3pPr>
            <a:lvl4pPr marL="1600200" indent="-228600" defTabSz="928688">
              <a:defRPr sz="1600">
                <a:solidFill>
                  <a:schemeClr val="tx1"/>
                </a:solidFill>
                <a:latin typeface="Helvetica" panose="020B0604020202020204" pitchFamily="34" charset="0"/>
                <a:ea typeface="MS PGothic" panose="020B0600070205080204" pitchFamily="34" charset="-128"/>
              </a:defRPr>
            </a:lvl4pPr>
            <a:lvl5pPr marL="2057400" indent="-228600" defTabSz="928688">
              <a:defRPr sz="1600">
                <a:solidFill>
                  <a:schemeClr val="tx1"/>
                </a:solidFill>
                <a:latin typeface="Helvetica" panose="020B0604020202020204" pitchFamily="34" charset="0"/>
                <a:ea typeface="MS PGothic" panose="020B0600070205080204" pitchFamily="34" charset="-128"/>
              </a:defRPr>
            </a:lvl5pPr>
            <a:lvl6pPr marL="25146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1B4B128C-0F01-4305-977D-D3781B10800B}" type="slidenum">
              <a:rPr lang="en-US" altLang="en-US" sz="1200"/>
              <a:pPr/>
              <a:t>144</a:t>
            </a:fld>
            <a:endParaRPr lang="en-US" altLang="en-US" sz="1200"/>
          </a:p>
        </p:txBody>
      </p:sp>
      <p:sp>
        <p:nvSpPr>
          <p:cNvPr id="209923" name="Rectangle 2"/>
          <p:cNvSpPr>
            <a:spLocks noGrp="1" noRot="1" noChangeAspect="1" noChangeArrowheads="1" noTextEdit="1"/>
          </p:cNvSpPr>
          <p:nvPr>
            <p:ph type="sldImg"/>
          </p:nvPr>
        </p:nvSpPr>
        <p:spPr>
          <a:xfrm>
            <a:off x="1177925" y="695325"/>
            <a:ext cx="4641850" cy="3481388"/>
          </a:xfrm>
          <a:ln/>
        </p:spPr>
      </p:sp>
      <p:sp>
        <p:nvSpPr>
          <p:cNvPr id="209924" name="Rectangle 3"/>
          <p:cNvSpPr>
            <a:spLocks noGrp="1" noChangeArrowheads="1"/>
          </p:cNvSpPr>
          <p:nvPr>
            <p:ph type="body" idx="1"/>
          </p:nvPr>
        </p:nvSpPr>
        <p:spPr>
          <a:xfrm>
            <a:off x="931414" y="4410392"/>
            <a:ext cx="5134874" cy="4177348"/>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cSld>
  <p:clrMapOvr>
    <a:masterClrMapping/>
  </p:clrMapOvr>
</p:notes>
</file>

<file path=ppt/notesSlides/notesSlide1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0946"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688">
              <a:defRPr sz="1600">
                <a:solidFill>
                  <a:schemeClr val="tx1"/>
                </a:solidFill>
                <a:latin typeface="Helvetica" panose="020B0604020202020204" pitchFamily="34" charset="0"/>
                <a:ea typeface="MS PGothic" panose="020B0600070205080204" pitchFamily="34" charset="-128"/>
              </a:defRPr>
            </a:lvl1pPr>
            <a:lvl2pPr marL="742950" indent="-285750" defTabSz="928688">
              <a:defRPr sz="1600">
                <a:solidFill>
                  <a:schemeClr val="tx1"/>
                </a:solidFill>
                <a:latin typeface="Helvetica" panose="020B0604020202020204" pitchFamily="34" charset="0"/>
                <a:ea typeface="MS PGothic" panose="020B0600070205080204" pitchFamily="34" charset="-128"/>
              </a:defRPr>
            </a:lvl2pPr>
            <a:lvl3pPr marL="1143000" indent="-228600" defTabSz="928688">
              <a:defRPr sz="1600">
                <a:solidFill>
                  <a:schemeClr val="tx1"/>
                </a:solidFill>
                <a:latin typeface="Helvetica" panose="020B0604020202020204" pitchFamily="34" charset="0"/>
                <a:ea typeface="MS PGothic" panose="020B0600070205080204" pitchFamily="34" charset="-128"/>
              </a:defRPr>
            </a:lvl3pPr>
            <a:lvl4pPr marL="1600200" indent="-228600" defTabSz="928688">
              <a:defRPr sz="1600">
                <a:solidFill>
                  <a:schemeClr val="tx1"/>
                </a:solidFill>
                <a:latin typeface="Helvetica" panose="020B0604020202020204" pitchFamily="34" charset="0"/>
                <a:ea typeface="MS PGothic" panose="020B0600070205080204" pitchFamily="34" charset="-128"/>
              </a:defRPr>
            </a:lvl4pPr>
            <a:lvl5pPr marL="2057400" indent="-228600" defTabSz="928688">
              <a:defRPr sz="1600">
                <a:solidFill>
                  <a:schemeClr val="tx1"/>
                </a:solidFill>
                <a:latin typeface="Helvetica" panose="020B0604020202020204" pitchFamily="34" charset="0"/>
                <a:ea typeface="MS PGothic" panose="020B0600070205080204" pitchFamily="34" charset="-128"/>
              </a:defRPr>
            </a:lvl5pPr>
            <a:lvl6pPr marL="25146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B6A4B368-5493-43AB-83D2-FB2745DC6257}" type="slidenum">
              <a:rPr lang="en-US" altLang="en-US" sz="1200"/>
              <a:pPr/>
              <a:t>145</a:t>
            </a:fld>
            <a:endParaRPr lang="en-US" altLang="en-US" sz="1200"/>
          </a:p>
        </p:txBody>
      </p:sp>
      <p:sp>
        <p:nvSpPr>
          <p:cNvPr id="210947" name="Rectangle 2"/>
          <p:cNvSpPr>
            <a:spLocks noGrp="1" noRot="1" noChangeAspect="1" noChangeArrowheads="1" noTextEdit="1"/>
          </p:cNvSpPr>
          <p:nvPr>
            <p:ph type="sldImg"/>
          </p:nvPr>
        </p:nvSpPr>
        <p:spPr>
          <a:xfrm>
            <a:off x="1177925" y="695325"/>
            <a:ext cx="4641850" cy="3481388"/>
          </a:xfrm>
          <a:ln/>
        </p:spPr>
      </p:sp>
      <p:sp>
        <p:nvSpPr>
          <p:cNvPr id="210948" name="Rectangle 3"/>
          <p:cNvSpPr>
            <a:spLocks noGrp="1" noChangeArrowheads="1"/>
          </p:cNvSpPr>
          <p:nvPr>
            <p:ph type="body" idx="1"/>
          </p:nvPr>
        </p:nvSpPr>
        <p:spPr>
          <a:xfrm>
            <a:off x="931414" y="4410392"/>
            <a:ext cx="5134874" cy="4177348"/>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cSld>
  <p:clrMapOvr>
    <a:masterClrMapping/>
  </p:clrMapOvr>
</p:notes>
</file>

<file path=ppt/notesSlides/notesSlide1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1970"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688">
              <a:defRPr sz="1600">
                <a:solidFill>
                  <a:schemeClr val="tx1"/>
                </a:solidFill>
                <a:latin typeface="Helvetica" panose="020B0604020202020204" pitchFamily="34" charset="0"/>
                <a:ea typeface="MS PGothic" panose="020B0600070205080204" pitchFamily="34" charset="-128"/>
              </a:defRPr>
            </a:lvl1pPr>
            <a:lvl2pPr marL="742950" indent="-285750" defTabSz="928688">
              <a:defRPr sz="1600">
                <a:solidFill>
                  <a:schemeClr val="tx1"/>
                </a:solidFill>
                <a:latin typeface="Helvetica" panose="020B0604020202020204" pitchFamily="34" charset="0"/>
                <a:ea typeface="MS PGothic" panose="020B0600070205080204" pitchFamily="34" charset="-128"/>
              </a:defRPr>
            </a:lvl2pPr>
            <a:lvl3pPr marL="1143000" indent="-228600" defTabSz="928688">
              <a:defRPr sz="1600">
                <a:solidFill>
                  <a:schemeClr val="tx1"/>
                </a:solidFill>
                <a:latin typeface="Helvetica" panose="020B0604020202020204" pitchFamily="34" charset="0"/>
                <a:ea typeface="MS PGothic" panose="020B0600070205080204" pitchFamily="34" charset="-128"/>
              </a:defRPr>
            </a:lvl3pPr>
            <a:lvl4pPr marL="1600200" indent="-228600" defTabSz="928688">
              <a:defRPr sz="1600">
                <a:solidFill>
                  <a:schemeClr val="tx1"/>
                </a:solidFill>
                <a:latin typeface="Helvetica" panose="020B0604020202020204" pitchFamily="34" charset="0"/>
                <a:ea typeface="MS PGothic" panose="020B0600070205080204" pitchFamily="34" charset="-128"/>
              </a:defRPr>
            </a:lvl4pPr>
            <a:lvl5pPr marL="2057400" indent="-228600" defTabSz="928688">
              <a:defRPr sz="1600">
                <a:solidFill>
                  <a:schemeClr val="tx1"/>
                </a:solidFill>
                <a:latin typeface="Helvetica" panose="020B0604020202020204" pitchFamily="34" charset="0"/>
                <a:ea typeface="MS PGothic" panose="020B0600070205080204" pitchFamily="34" charset="-128"/>
              </a:defRPr>
            </a:lvl5pPr>
            <a:lvl6pPr marL="25146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AE26C2D1-1E1E-42BD-85B4-1BCC855514C0}" type="slidenum">
              <a:rPr lang="en-US" altLang="en-US" sz="1200"/>
              <a:pPr/>
              <a:t>146</a:t>
            </a:fld>
            <a:endParaRPr lang="en-US" altLang="en-US" sz="1200"/>
          </a:p>
        </p:txBody>
      </p:sp>
      <p:sp>
        <p:nvSpPr>
          <p:cNvPr id="211971" name="Rectangle 2"/>
          <p:cNvSpPr>
            <a:spLocks noGrp="1" noRot="1" noChangeAspect="1" noChangeArrowheads="1" noTextEdit="1"/>
          </p:cNvSpPr>
          <p:nvPr>
            <p:ph type="sldImg"/>
          </p:nvPr>
        </p:nvSpPr>
        <p:spPr>
          <a:xfrm>
            <a:off x="1177925" y="695325"/>
            <a:ext cx="4641850" cy="3481388"/>
          </a:xfrm>
          <a:ln/>
        </p:spPr>
      </p:sp>
      <p:sp>
        <p:nvSpPr>
          <p:cNvPr id="211972" name="Rectangle 3"/>
          <p:cNvSpPr>
            <a:spLocks noGrp="1" noChangeArrowheads="1"/>
          </p:cNvSpPr>
          <p:nvPr>
            <p:ph type="body" idx="1"/>
          </p:nvPr>
        </p:nvSpPr>
        <p:spPr>
          <a:xfrm>
            <a:off x="931414" y="4410392"/>
            <a:ext cx="5134874" cy="4177348"/>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hyperlink" Target="http://www.db-book.com/" TargetMode="External"/><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4.jpe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hyperlink" Target="http://www.db-book.com/" TargetMode="External"/><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hyperlink" Target="http://www.db-book.com/" TargetMode="External"/><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hyperlink" Target="http://www.db-book.com/" TargetMode="External"/><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Slide">
    <p:spTree>
      <p:nvGrpSpPr>
        <p:cNvPr id="1" name=""/>
        <p:cNvGrpSpPr/>
        <p:nvPr/>
      </p:nvGrpSpPr>
      <p:grpSpPr>
        <a:xfrm>
          <a:off x="0" y="0"/>
          <a:ext cx="0" cy="0"/>
          <a:chOff x="0" y="0"/>
          <a:chExt cx="0" cy="0"/>
        </a:xfrm>
      </p:grpSpPr>
      <p:sp>
        <p:nvSpPr>
          <p:cNvPr id="3" name="Text Box 7">
            <a:extLst>
              <a:ext uri="{FF2B5EF4-FFF2-40B4-BE49-F238E27FC236}">
                <a16:creationId xmlns:a16="http://schemas.microsoft.com/office/drawing/2014/main" id="{3B824858-D1FC-4D05-A041-6B7ADBE51124}"/>
              </a:ext>
            </a:extLst>
          </p:cNvPr>
          <p:cNvSpPr txBox="1">
            <a:spLocks noChangeArrowheads="1"/>
          </p:cNvSpPr>
          <p:nvPr/>
        </p:nvSpPr>
        <p:spPr bwMode="auto">
          <a:xfrm>
            <a:off x="2674938" y="5726113"/>
            <a:ext cx="3694112" cy="793750"/>
          </a:xfrm>
          <a:prstGeom prst="rect">
            <a:avLst/>
          </a:prstGeom>
          <a:noFill/>
          <a:ln>
            <a:noFill/>
          </a:ln>
        </p:spPr>
        <p:txBody>
          <a:bodyPr wrap="none">
            <a:spAutoFit/>
          </a:bodyPr>
          <a:lstStyle>
            <a:lvl1pPr>
              <a:defRPr sz="1600">
                <a:solidFill>
                  <a:schemeClr val="tx1"/>
                </a:solidFill>
                <a:latin typeface="Helvetica" panose="020B0604020202020204" pitchFamily="34" charset="0"/>
                <a:ea typeface="MS PGothic" panose="020B0600070205080204" pitchFamily="34" charset="-128"/>
              </a:defRPr>
            </a:lvl1pPr>
            <a:lvl2pPr marL="742950" indent="-285750">
              <a:defRPr sz="1600">
                <a:solidFill>
                  <a:schemeClr val="tx1"/>
                </a:solidFill>
                <a:latin typeface="Helvetica" panose="020B0604020202020204" pitchFamily="34" charset="0"/>
                <a:ea typeface="MS PGothic" panose="020B0600070205080204" pitchFamily="34" charset="-128"/>
              </a:defRPr>
            </a:lvl2pPr>
            <a:lvl3pPr marL="1143000" indent="-228600">
              <a:defRPr sz="1600">
                <a:solidFill>
                  <a:schemeClr val="tx1"/>
                </a:solidFill>
                <a:latin typeface="Helvetica" panose="020B0604020202020204" pitchFamily="34" charset="0"/>
                <a:ea typeface="MS PGothic" panose="020B0600070205080204" pitchFamily="34" charset="-128"/>
              </a:defRPr>
            </a:lvl3pPr>
            <a:lvl4pPr marL="1600200" indent="-228600">
              <a:defRPr sz="1600">
                <a:solidFill>
                  <a:schemeClr val="tx1"/>
                </a:solidFill>
                <a:latin typeface="Helvetica" panose="020B0604020202020204" pitchFamily="34" charset="0"/>
                <a:ea typeface="MS PGothic" panose="020B0600070205080204" pitchFamily="34" charset="-128"/>
              </a:defRPr>
            </a:lvl4pPr>
            <a:lvl5pPr marL="2057400" indent="-228600">
              <a:defRPr sz="16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pPr algn="ctr">
              <a:spcBef>
                <a:spcPct val="50000"/>
              </a:spcBef>
              <a:defRPr/>
            </a:pPr>
            <a:r>
              <a:rPr lang="en-US" altLang="en-US" b="1" dirty="0">
                <a:solidFill>
                  <a:srgbClr val="002060"/>
                </a:solidFill>
              </a:rPr>
              <a:t>Database System Concepts, 7</a:t>
            </a:r>
            <a:r>
              <a:rPr lang="en-US" altLang="en-US" b="1" baseline="30000" dirty="0">
                <a:solidFill>
                  <a:srgbClr val="002060"/>
                </a:solidFill>
              </a:rPr>
              <a:t>th</a:t>
            </a:r>
            <a:r>
              <a:rPr lang="en-US" altLang="en-US" b="1" dirty="0">
                <a:solidFill>
                  <a:srgbClr val="002060"/>
                </a:solidFill>
              </a:rPr>
              <a:t> Ed</a:t>
            </a:r>
            <a:r>
              <a:rPr lang="en-US" altLang="en-US" dirty="0">
                <a:solidFill>
                  <a:srgbClr val="002060"/>
                </a:solidFill>
              </a:rPr>
              <a:t>.</a:t>
            </a:r>
          </a:p>
          <a:p>
            <a:pPr algn="ctr">
              <a:spcBef>
                <a:spcPct val="50000"/>
              </a:spcBef>
              <a:defRPr/>
            </a:pPr>
            <a:r>
              <a:rPr lang="en-US" altLang="en-US" sz="1200" b="1" dirty="0">
                <a:solidFill>
                  <a:srgbClr val="002060"/>
                </a:solidFill>
              </a:rPr>
              <a:t>©Silberschatz, Korth and Sudarshan</a:t>
            </a:r>
            <a:br>
              <a:rPr lang="en-US" altLang="en-US" sz="1200" b="1" dirty="0">
                <a:solidFill>
                  <a:srgbClr val="002060"/>
                </a:solidFill>
              </a:rPr>
            </a:br>
            <a:r>
              <a:rPr lang="en-US" altLang="en-US" sz="1200" b="1" dirty="0">
                <a:solidFill>
                  <a:srgbClr val="002060"/>
                </a:solidFill>
              </a:rPr>
              <a:t>See </a:t>
            </a:r>
            <a:r>
              <a:rPr lang="en-US" altLang="en-US" sz="1200" b="1" dirty="0">
                <a:solidFill>
                  <a:srgbClr val="002060"/>
                </a:solidFill>
                <a:hlinkClick r:id="rId2"/>
              </a:rPr>
              <a:t>www.db-book.com</a:t>
            </a:r>
            <a:r>
              <a:rPr lang="en-US" altLang="en-US" sz="1200" b="1" dirty="0">
                <a:solidFill>
                  <a:srgbClr val="002060"/>
                </a:solidFill>
              </a:rPr>
              <a:t> for conditions on re-use </a:t>
            </a:r>
          </a:p>
        </p:txBody>
      </p:sp>
      <p:pic>
        <p:nvPicPr>
          <p:cNvPr id="4" name="Picture 11" descr="Cover-6Ed">
            <a:extLst>
              <a:ext uri="{FF2B5EF4-FFF2-40B4-BE49-F238E27FC236}">
                <a16:creationId xmlns:a16="http://schemas.microsoft.com/office/drawing/2014/main" id="{18F428B9-7195-4F57-AF63-E4A9D8CD8349}"/>
              </a:ext>
            </a:extLst>
          </p:cNvPr>
          <p:cNvPicPr>
            <a:picLocks noChangeAspect="1" noChangeArrowheads="1"/>
          </p:cNvPicPr>
          <p:nvPr userDrawn="1"/>
        </p:nvPicPr>
        <p:blipFill>
          <a:blip r:embed="rId3">
            <a:extLst>
              <a:ext uri="{28A0092B-C50C-407E-A947-70E740481C1C}">
                <a14:useLocalDpi xmlns:a14="http://schemas.microsoft.com/office/drawing/2010/main" val="0"/>
              </a:ext>
            </a:extLst>
          </a:blip>
          <a:srcRect/>
          <a:stretch>
            <a:fillRect/>
          </a:stretch>
        </p:blipFill>
        <p:spPr bwMode="auto">
          <a:xfrm>
            <a:off x="14288" y="0"/>
            <a:ext cx="1330325" cy="17002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13026" name="Rectangle 2"/>
          <p:cNvSpPr>
            <a:spLocks noGrp="1" noChangeArrowheads="1"/>
          </p:cNvSpPr>
          <p:nvPr>
            <p:ph type="ctrTitle"/>
          </p:nvPr>
        </p:nvSpPr>
        <p:spPr>
          <a:xfrm>
            <a:off x="685800" y="2286000"/>
            <a:ext cx="7772400" cy="1143000"/>
          </a:xfrm>
        </p:spPr>
        <p:txBody>
          <a:bodyPr/>
          <a:lstStyle>
            <a:lvl1pPr>
              <a:defRPr>
                <a:solidFill>
                  <a:srgbClr val="002060"/>
                </a:solidFill>
              </a:defRPr>
            </a:lvl1pPr>
          </a:lstStyle>
          <a:p>
            <a:r>
              <a:rPr lang="en-US" dirty="0"/>
              <a:t>Click to edit Master title style</a:t>
            </a:r>
          </a:p>
        </p:txBody>
      </p:sp>
      <p:sp>
        <p:nvSpPr>
          <p:cNvPr id="5" name="Rectangle 5">
            <a:extLst>
              <a:ext uri="{FF2B5EF4-FFF2-40B4-BE49-F238E27FC236}">
                <a16:creationId xmlns:a16="http://schemas.microsoft.com/office/drawing/2014/main" id="{33FCF00C-44D2-4DAB-8FFD-D10102022EE2}"/>
              </a:ext>
            </a:extLst>
          </p:cNvPr>
          <p:cNvSpPr>
            <a:spLocks noGrp="1" noChangeArrowheads="1"/>
          </p:cNvSpPr>
          <p:nvPr>
            <p:ph type="sldNum" sz="quarter" idx="10"/>
          </p:nvPr>
        </p:nvSpPr>
        <p:spPr>
          <a:xfrm>
            <a:off x="6596063" y="6218238"/>
            <a:ext cx="1905000" cy="457200"/>
          </a:xfrm>
        </p:spPr>
        <p:txBody>
          <a:bodyPr/>
          <a:lstStyle>
            <a:lvl1pPr>
              <a:defRPr>
                <a:solidFill>
                  <a:srgbClr val="578963"/>
                </a:solidFill>
              </a:defRPr>
            </a:lvl1pPr>
          </a:lstStyle>
          <a:p>
            <a:pPr>
              <a:defRPr/>
            </a:pPr>
            <a:fld id="{ADD8DEBD-898F-47E3-B439-B7F4B77DCB7A}" type="slidenum">
              <a:rPr lang="en-US" altLang="en-US"/>
              <a:pPr>
                <a:defRPr/>
              </a:pPr>
              <a:t>‹#›</a:t>
            </a:fld>
            <a:endParaRPr lang="en-US" altLang="en-US"/>
          </a:p>
        </p:txBody>
      </p:sp>
    </p:spTree>
    <p:extLst>
      <p:ext uri="{BB962C8B-B14F-4D97-AF65-F5344CB8AC3E}">
        <p14:creationId xmlns:p14="http://schemas.microsoft.com/office/powerpoint/2010/main" val="165128887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cs typeface="B Nazanin" panose="00000400000000000000" pitchFamily="2" charset="-78"/>
              </a:defRPr>
            </a:lvl1pPr>
          </a:lstStyle>
          <a:p>
            <a:r>
              <a:rPr lang="en-US" dirty="0"/>
              <a:t>Click to edit Master title style</a:t>
            </a:r>
          </a:p>
        </p:txBody>
      </p:sp>
      <p:sp>
        <p:nvSpPr>
          <p:cNvPr id="3" name="Content Placeholder 2"/>
          <p:cNvSpPr>
            <a:spLocks noGrp="1"/>
          </p:cNvSpPr>
          <p:nvPr>
            <p:ph idx="1"/>
          </p:nvPr>
        </p:nvSpPr>
        <p:spPr>
          <a:xfrm>
            <a:off x="289710" y="1093788"/>
            <a:ext cx="8555839" cy="5288905"/>
          </a:xfrm>
        </p:spPr>
        <p:txBody>
          <a:bodyPr/>
          <a:lstStyle>
            <a:lvl1pPr marL="342900" indent="-342900">
              <a:buSzPct val="110000"/>
              <a:buFont typeface="Wingdings" panose="05000000000000000000" pitchFamily="2" charset="2"/>
              <a:buChar char="§"/>
              <a:defRPr sz="2000">
                <a:cs typeface="B Nazanin" panose="00000400000000000000" pitchFamily="2" charset="-78"/>
              </a:defRPr>
            </a:lvl1pPr>
            <a:lvl2pPr marL="742950" indent="-285750">
              <a:buSzPct val="110000"/>
              <a:buFont typeface="Arial" panose="020B0604020202020204" pitchFamily="34" charset="0"/>
              <a:buChar char="•"/>
              <a:defRPr sz="2000">
                <a:cs typeface="B Nazanin" panose="00000400000000000000" pitchFamily="2" charset="-78"/>
              </a:defRPr>
            </a:lvl2pPr>
            <a:lvl3pPr marL="1085850" indent="-228600">
              <a:buFont typeface="Wingdings" panose="05000000000000000000" pitchFamily="2" charset="2"/>
              <a:buChar char="§"/>
              <a:defRPr sz="2000">
                <a:cs typeface="B Nazanin" panose="00000400000000000000" pitchFamily="2" charset="-78"/>
              </a:defRPr>
            </a:lvl3pPr>
            <a:lvl4pPr marL="1428750" indent="-228600">
              <a:buFont typeface="Arial" panose="020B0604020202020204" pitchFamily="34" charset="0"/>
              <a:buChar char="•"/>
              <a:defRPr sz="2000">
                <a:cs typeface="B Nazanin" panose="00000400000000000000" pitchFamily="2" charset="-78"/>
              </a:defRPr>
            </a:lvl4pPr>
            <a:lvl5pPr marL="1771650" indent="-228600">
              <a:buFont typeface="Wingdings" panose="05000000000000000000" pitchFamily="2" charset="2"/>
              <a:buChar char="§"/>
              <a:defRPr sz="2000">
                <a:cs typeface="B Nazanin" panose="00000400000000000000" pitchFamily="2" charset="-78"/>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119606138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en-US"/>
              <a:t>Click to edit Master text styles</a:t>
            </a:r>
          </a:p>
        </p:txBody>
      </p:sp>
      <p:sp>
        <p:nvSpPr>
          <p:cNvPr id="4" name="Rectangle 3">
            <a:extLst>
              <a:ext uri="{FF2B5EF4-FFF2-40B4-BE49-F238E27FC236}">
                <a16:creationId xmlns:a16="http://schemas.microsoft.com/office/drawing/2014/main" id="{D3A70D55-6B89-4FBD-8EDA-9DB357D48036}"/>
              </a:ext>
            </a:extLst>
          </p:cNvPr>
          <p:cNvSpPr>
            <a:spLocks noGrp="1" noChangeArrowheads="1"/>
          </p:cNvSpPr>
          <p:nvPr>
            <p:ph type="sldNum" sz="quarter" idx="10"/>
          </p:nvPr>
        </p:nvSpPr>
        <p:spPr>
          <a:ln/>
        </p:spPr>
        <p:txBody>
          <a:bodyPr/>
          <a:lstStyle>
            <a:lvl1pPr>
              <a:defRPr/>
            </a:lvl1pPr>
          </a:lstStyle>
          <a:p>
            <a:pPr>
              <a:defRPr/>
            </a:pPr>
            <a:fld id="{DF2F8932-DE11-41D2-8F5F-F6C91B113884}" type="slidenum">
              <a:rPr lang="en-US" altLang="en-US"/>
              <a:pPr>
                <a:defRPr/>
              </a:pPr>
              <a:t>‹#›</a:t>
            </a:fld>
            <a:endParaRPr lang="en-US" altLang="en-US" dirty="0"/>
          </a:p>
        </p:txBody>
      </p:sp>
    </p:spTree>
    <p:extLst>
      <p:ext uri="{BB962C8B-B14F-4D97-AF65-F5344CB8AC3E}">
        <p14:creationId xmlns:p14="http://schemas.microsoft.com/office/powerpoint/2010/main" val="265093974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814388" y="1093788"/>
            <a:ext cx="3754437" cy="4903787"/>
          </a:xfrm>
        </p:spPr>
        <p:txBody>
          <a:bodyPr/>
          <a:lstStyle>
            <a:lvl1pPr>
              <a:defRPr sz="1700"/>
            </a:lvl1pPr>
            <a:lvl2pPr>
              <a:defRPr sz="1700"/>
            </a:lvl2pPr>
            <a:lvl3pPr>
              <a:defRPr sz="1700"/>
            </a:lvl3pPr>
            <a:lvl4pPr>
              <a:defRPr sz="1700"/>
            </a:lvl4pPr>
            <a:lvl5pPr>
              <a:defRPr sz="17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721225" y="1093788"/>
            <a:ext cx="3754438" cy="4903787"/>
          </a:xfrm>
        </p:spPr>
        <p:txBody>
          <a:bodyPr/>
          <a:lstStyle>
            <a:lvl1pPr>
              <a:defRPr sz="1700"/>
            </a:lvl1pPr>
            <a:lvl2pPr>
              <a:defRPr sz="1700"/>
            </a:lvl2pPr>
            <a:lvl3pPr>
              <a:defRPr sz="1700"/>
            </a:lvl3pPr>
            <a:lvl4pPr>
              <a:defRPr sz="1700"/>
            </a:lvl4pPr>
            <a:lvl5pPr>
              <a:defRPr sz="17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Rectangle 3">
            <a:extLst>
              <a:ext uri="{FF2B5EF4-FFF2-40B4-BE49-F238E27FC236}">
                <a16:creationId xmlns:a16="http://schemas.microsoft.com/office/drawing/2014/main" id="{EB0740F3-B76E-4043-91C9-D76CE8D0AE84}"/>
              </a:ext>
            </a:extLst>
          </p:cNvPr>
          <p:cNvSpPr>
            <a:spLocks noGrp="1" noChangeArrowheads="1"/>
          </p:cNvSpPr>
          <p:nvPr>
            <p:ph type="sldNum" sz="quarter" idx="10"/>
          </p:nvPr>
        </p:nvSpPr>
        <p:spPr>
          <a:ln/>
        </p:spPr>
        <p:txBody>
          <a:bodyPr/>
          <a:lstStyle>
            <a:lvl1pPr>
              <a:defRPr/>
            </a:lvl1pPr>
          </a:lstStyle>
          <a:p>
            <a:pPr>
              <a:defRPr/>
            </a:pPr>
            <a:fld id="{99D88414-175B-4785-BEBD-C347E968E1D6}" type="slidenum">
              <a:rPr lang="en-US" altLang="en-US"/>
              <a:pPr>
                <a:defRPr/>
              </a:pPr>
              <a:t>‹#›</a:t>
            </a:fld>
            <a:endParaRPr lang="en-US" altLang="en-US" dirty="0"/>
          </a:p>
        </p:txBody>
      </p:sp>
    </p:spTree>
    <p:extLst>
      <p:ext uri="{BB962C8B-B14F-4D97-AF65-F5344CB8AC3E}">
        <p14:creationId xmlns:p14="http://schemas.microsoft.com/office/powerpoint/2010/main" val="232654757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4638"/>
            <a:ext cx="8229600" cy="1143000"/>
          </a:xfrm>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1700"/>
            </a:lvl1pPr>
            <a:lvl2pPr>
              <a:defRPr sz="1700"/>
            </a:lvl2pPr>
            <a:lvl3pPr>
              <a:defRPr sz="1700"/>
            </a:lvl3pPr>
            <a:lvl4pPr>
              <a:defRPr sz="1700"/>
            </a:lvl4pPr>
            <a:lvl5pPr>
              <a:defRPr sz="17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1700"/>
            </a:lvl1pPr>
            <a:lvl2pPr>
              <a:defRPr sz="1700"/>
            </a:lvl2pPr>
            <a:lvl3pPr>
              <a:defRPr sz="1700"/>
            </a:lvl3pPr>
            <a:lvl4pPr>
              <a:defRPr sz="1700"/>
            </a:lvl4pPr>
            <a:lvl5pPr>
              <a:defRPr sz="17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Rectangle 3">
            <a:extLst>
              <a:ext uri="{FF2B5EF4-FFF2-40B4-BE49-F238E27FC236}">
                <a16:creationId xmlns:a16="http://schemas.microsoft.com/office/drawing/2014/main" id="{E3664E68-6662-4010-A6E8-FF6294756F0E}"/>
              </a:ext>
            </a:extLst>
          </p:cNvPr>
          <p:cNvSpPr>
            <a:spLocks noGrp="1" noChangeArrowheads="1"/>
          </p:cNvSpPr>
          <p:nvPr>
            <p:ph type="sldNum" sz="quarter" idx="10"/>
          </p:nvPr>
        </p:nvSpPr>
        <p:spPr>
          <a:ln/>
        </p:spPr>
        <p:txBody>
          <a:bodyPr/>
          <a:lstStyle>
            <a:lvl1pPr>
              <a:defRPr/>
            </a:lvl1pPr>
          </a:lstStyle>
          <a:p>
            <a:pPr>
              <a:defRPr/>
            </a:pPr>
            <a:fld id="{A1C06BFB-2E11-4999-AD66-67677BC72E68}" type="slidenum">
              <a:rPr lang="en-US" altLang="en-US"/>
              <a:pPr>
                <a:defRPr/>
              </a:pPr>
              <a:t>‹#›</a:t>
            </a:fld>
            <a:endParaRPr lang="en-US" altLang="en-US" dirty="0"/>
          </a:p>
        </p:txBody>
      </p:sp>
    </p:spTree>
    <p:extLst>
      <p:ext uri="{BB962C8B-B14F-4D97-AF65-F5344CB8AC3E}">
        <p14:creationId xmlns:p14="http://schemas.microsoft.com/office/powerpoint/2010/main" val="201758046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Rectangle 3">
            <a:extLst>
              <a:ext uri="{FF2B5EF4-FFF2-40B4-BE49-F238E27FC236}">
                <a16:creationId xmlns:a16="http://schemas.microsoft.com/office/drawing/2014/main" id="{1E48AB69-0D09-431E-A361-3BC3A0C75196}"/>
              </a:ext>
            </a:extLst>
          </p:cNvPr>
          <p:cNvSpPr>
            <a:spLocks noGrp="1" noChangeArrowheads="1"/>
          </p:cNvSpPr>
          <p:nvPr>
            <p:ph type="sldNum" sz="quarter" idx="10"/>
          </p:nvPr>
        </p:nvSpPr>
        <p:spPr>
          <a:ln/>
        </p:spPr>
        <p:txBody>
          <a:bodyPr/>
          <a:lstStyle>
            <a:lvl1pPr>
              <a:defRPr/>
            </a:lvl1pPr>
          </a:lstStyle>
          <a:p>
            <a:pPr>
              <a:defRPr/>
            </a:pPr>
            <a:fld id="{7EA32BBC-A29E-4B84-809F-169E3D623CDF}" type="slidenum">
              <a:rPr lang="en-US" altLang="en-US"/>
              <a:pPr>
                <a:defRPr/>
              </a:pPr>
              <a:t>‹#›</a:t>
            </a:fld>
            <a:endParaRPr lang="en-US" altLang="en-US" dirty="0"/>
          </a:p>
        </p:txBody>
      </p:sp>
    </p:spTree>
    <p:extLst>
      <p:ext uri="{BB962C8B-B14F-4D97-AF65-F5344CB8AC3E}">
        <p14:creationId xmlns:p14="http://schemas.microsoft.com/office/powerpoint/2010/main" val="105821933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Rectangle 3">
            <a:extLst>
              <a:ext uri="{FF2B5EF4-FFF2-40B4-BE49-F238E27FC236}">
                <a16:creationId xmlns:a16="http://schemas.microsoft.com/office/drawing/2014/main" id="{62A2769D-4840-425C-82B3-82E2BD096DFF}"/>
              </a:ext>
            </a:extLst>
          </p:cNvPr>
          <p:cNvSpPr>
            <a:spLocks noGrp="1" noChangeArrowheads="1"/>
          </p:cNvSpPr>
          <p:nvPr>
            <p:ph type="sldNum" sz="quarter" idx="10"/>
          </p:nvPr>
        </p:nvSpPr>
        <p:spPr>
          <a:ln/>
        </p:spPr>
        <p:txBody>
          <a:bodyPr/>
          <a:lstStyle>
            <a:lvl1pPr>
              <a:defRPr/>
            </a:lvl1pPr>
          </a:lstStyle>
          <a:p>
            <a:pPr>
              <a:defRPr/>
            </a:pPr>
            <a:fld id="{B66C1EFD-4131-4EE6-8842-FE51BBBF3C1C}" type="slidenum">
              <a:rPr lang="en-US" altLang="en-US"/>
              <a:pPr>
                <a:defRPr/>
              </a:pPr>
              <a:t>‹#›</a:t>
            </a:fld>
            <a:endParaRPr lang="en-US" altLang="en-US" dirty="0"/>
          </a:p>
        </p:txBody>
      </p:sp>
    </p:spTree>
    <p:extLst>
      <p:ext uri="{BB962C8B-B14F-4D97-AF65-F5344CB8AC3E}">
        <p14:creationId xmlns:p14="http://schemas.microsoft.com/office/powerpoint/2010/main" val="405691882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1700"/>
            </a:lvl1pPr>
            <a:lvl2pPr>
              <a:defRPr sz="1700"/>
            </a:lvl2pPr>
            <a:lvl3pPr>
              <a:defRPr sz="1700"/>
            </a:lvl3pPr>
            <a:lvl4pPr>
              <a:defRPr sz="1700"/>
            </a:lvl4pPr>
            <a:lvl5pPr>
              <a:defRPr sz="17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Rectangle 3">
            <a:extLst>
              <a:ext uri="{FF2B5EF4-FFF2-40B4-BE49-F238E27FC236}">
                <a16:creationId xmlns:a16="http://schemas.microsoft.com/office/drawing/2014/main" id="{5D0FCC82-A10A-4249-BE3C-30A3818712CA}"/>
              </a:ext>
            </a:extLst>
          </p:cNvPr>
          <p:cNvSpPr>
            <a:spLocks noGrp="1" noChangeArrowheads="1"/>
          </p:cNvSpPr>
          <p:nvPr>
            <p:ph type="sldNum" sz="quarter" idx="10"/>
          </p:nvPr>
        </p:nvSpPr>
        <p:spPr>
          <a:ln/>
        </p:spPr>
        <p:txBody>
          <a:bodyPr/>
          <a:lstStyle>
            <a:lvl1pPr>
              <a:defRPr/>
            </a:lvl1pPr>
          </a:lstStyle>
          <a:p>
            <a:pPr>
              <a:defRPr/>
            </a:pPr>
            <a:fld id="{B779BB6A-39A7-436B-BBF4-5F7C857EBE16}" type="slidenum">
              <a:rPr lang="en-US" altLang="en-US"/>
              <a:pPr>
                <a:defRPr/>
              </a:pPr>
              <a:t>‹#›</a:t>
            </a:fld>
            <a:endParaRPr lang="en-US" altLang="en-US" dirty="0"/>
          </a:p>
        </p:txBody>
      </p:sp>
    </p:spTree>
    <p:extLst>
      <p:ext uri="{BB962C8B-B14F-4D97-AF65-F5344CB8AC3E}">
        <p14:creationId xmlns:p14="http://schemas.microsoft.com/office/powerpoint/2010/main" val="80592398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bg>
      <p:bgPr>
        <a:blipFill dpi="0" rotWithShape="0">
          <a:blip r:embed="rId2"/>
          <a:srcRect/>
          <a:stretch>
            <a:fillRect/>
          </a:stretch>
        </a:blip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en-US" noProof="0"/>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Rectangle 3">
            <a:extLst>
              <a:ext uri="{FF2B5EF4-FFF2-40B4-BE49-F238E27FC236}">
                <a16:creationId xmlns:a16="http://schemas.microsoft.com/office/drawing/2014/main" id="{105B0599-BFB7-43E9-9A10-6C35573F5877}"/>
              </a:ext>
            </a:extLst>
          </p:cNvPr>
          <p:cNvSpPr>
            <a:spLocks noGrp="1" noChangeArrowheads="1"/>
          </p:cNvSpPr>
          <p:nvPr>
            <p:ph type="sldNum" sz="quarter" idx="10"/>
          </p:nvPr>
        </p:nvSpPr>
        <p:spPr/>
        <p:txBody>
          <a:bodyPr/>
          <a:lstStyle>
            <a:lvl1pPr>
              <a:defRPr/>
            </a:lvl1pPr>
          </a:lstStyle>
          <a:p>
            <a:pPr>
              <a:defRPr/>
            </a:pPr>
            <a:fld id="{97ABA554-7D95-4375-943A-676624D8DFE3}" type="slidenum">
              <a:rPr lang="en-US" altLang="en-US"/>
              <a:pPr>
                <a:defRPr/>
              </a:pPr>
              <a:t>‹#›</a:t>
            </a:fld>
            <a:endParaRPr lang="en-US" altLang="en-US"/>
          </a:p>
        </p:txBody>
      </p:sp>
    </p:spTree>
    <p:extLst>
      <p:ext uri="{BB962C8B-B14F-4D97-AF65-F5344CB8AC3E}">
        <p14:creationId xmlns:p14="http://schemas.microsoft.com/office/powerpoint/2010/main" val="409769202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Rectangle 3">
            <a:extLst>
              <a:ext uri="{FF2B5EF4-FFF2-40B4-BE49-F238E27FC236}">
                <a16:creationId xmlns:a16="http://schemas.microsoft.com/office/drawing/2014/main" id="{759E58FA-2701-4089-BED0-ED4504B31C4A}"/>
              </a:ext>
            </a:extLst>
          </p:cNvPr>
          <p:cNvSpPr>
            <a:spLocks noGrp="1" noChangeArrowheads="1"/>
          </p:cNvSpPr>
          <p:nvPr>
            <p:ph type="sldNum" sz="quarter" idx="10"/>
          </p:nvPr>
        </p:nvSpPr>
        <p:spPr>
          <a:ln/>
        </p:spPr>
        <p:txBody>
          <a:bodyPr/>
          <a:lstStyle>
            <a:lvl1pPr>
              <a:defRPr/>
            </a:lvl1pPr>
          </a:lstStyle>
          <a:p>
            <a:pPr>
              <a:defRPr/>
            </a:pPr>
            <a:fld id="{5D284B68-EE10-40DB-86C4-ECB61F986744}" type="slidenum">
              <a:rPr lang="en-US" altLang="en-US"/>
              <a:pPr>
                <a:defRPr/>
              </a:pPr>
              <a:t>‹#›</a:t>
            </a:fld>
            <a:endParaRPr lang="en-US" altLang="en-US" dirty="0"/>
          </a:p>
        </p:txBody>
      </p:sp>
    </p:spTree>
    <p:extLst>
      <p:ext uri="{BB962C8B-B14F-4D97-AF65-F5344CB8AC3E}">
        <p14:creationId xmlns:p14="http://schemas.microsoft.com/office/powerpoint/2010/main" val="215768283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826250" y="117475"/>
            <a:ext cx="2019300" cy="5880100"/>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768350" y="117475"/>
            <a:ext cx="5905500" cy="5880100"/>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Rectangle 3">
            <a:extLst>
              <a:ext uri="{FF2B5EF4-FFF2-40B4-BE49-F238E27FC236}">
                <a16:creationId xmlns:a16="http://schemas.microsoft.com/office/drawing/2014/main" id="{A9D4DF82-9343-4D6D-A76D-75BD6EC7AA50}"/>
              </a:ext>
            </a:extLst>
          </p:cNvPr>
          <p:cNvSpPr>
            <a:spLocks noGrp="1" noChangeArrowheads="1"/>
          </p:cNvSpPr>
          <p:nvPr>
            <p:ph type="sldNum" sz="quarter" idx="10"/>
          </p:nvPr>
        </p:nvSpPr>
        <p:spPr>
          <a:ln/>
        </p:spPr>
        <p:txBody>
          <a:bodyPr/>
          <a:lstStyle>
            <a:lvl1pPr>
              <a:defRPr/>
            </a:lvl1pPr>
          </a:lstStyle>
          <a:p>
            <a:pPr>
              <a:defRPr/>
            </a:pPr>
            <a:fld id="{963A4818-A1CF-4D3D-BEF0-CEF2FAF585C8}" type="slidenum">
              <a:rPr lang="en-US" altLang="en-US"/>
              <a:pPr>
                <a:defRPr/>
              </a:pPr>
              <a:t>‹#›</a:t>
            </a:fld>
            <a:endParaRPr lang="en-US" altLang="en-US" dirty="0"/>
          </a:p>
        </p:txBody>
      </p:sp>
    </p:spTree>
    <p:extLst>
      <p:ext uri="{BB962C8B-B14F-4D97-AF65-F5344CB8AC3E}">
        <p14:creationId xmlns:p14="http://schemas.microsoft.com/office/powerpoint/2010/main" val="917240819"/>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reserve="1">
  <p:cSld name="1_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lvl1pPr>
            <a:lvl2pPr marL="457200" indent="0" algn="ctr">
              <a:buNone/>
              <a:defRPr/>
            </a:lvl2pPr>
            <a:lvl3pPr marL="914400" indent="0" algn="ctr">
              <a:buNone/>
              <a:defRPr/>
            </a:lvl3pPr>
            <a:lvl4pPr marL="1371600" indent="0" algn="ctr">
              <a:buNone/>
              <a:defRPr/>
            </a:lvl4pPr>
            <a:lvl5pPr marL="1828800" indent="0" algn="ctr">
              <a:buNone/>
              <a:defRPr/>
            </a:lvl5pPr>
            <a:lvl6pPr marL="2286000" indent="0" algn="ctr">
              <a:buNone/>
              <a:defRPr/>
            </a:lvl6pPr>
            <a:lvl7pPr marL="2743200" indent="0" algn="ctr">
              <a:buNone/>
              <a:defRPr/>
            </a:lvl7pPr>
            <a:lvl8pPr marL="3200400" indent="0" algn="ctr">
              <a:buNone/>
              <a:defRPr/>
            </a:lvl8pPr>
            <a:lvl9pPr marL="3657600" indent="0" algn="ctr">
              <a:buNone/>
              <a:defRPr/>
            </a:lvl9pPr>
          </a:lstStyle>
          <a:p>
            <a:r>
              <a:rPr lang="en-US"/>
              <a:t>Click to edit Master subtitle style</a:t>
            </a:r>
          </a:p>
        </p:txBody>
      </p:sp>
      <p:sp>
        <p:nvSpPr>
          <p:cNvPr id="4" name="Rectangle 3">
            <a:extLst>
              <a:ext uri="{FF2B5EF4-FFF2-40B4-BE49-F238E27FC236}">
                <a16:creationId xmlns:a16="http://schemas.microsoft.com/office/drawing/2014/main" id="{C6F8AF6A-7417-414C-9EB6-4C13160AA17A}"/>
              </a:ext>
            </a:extLst>
          </p:cNvPr>
          <p:cNvSpPr>
            <a:spLocks noGrp="1" noChangeArrowheads="1"/>
          </p:cNvSpPr>
          <p:nvPr>
            <p:ph type="sldNum" sz="quarter" idx="10"/>
          </p:nvPr>
        </p:nvSpPr>
        <p:spPr>
          <a:ln/>
        </p:spPr>
        <p:txBody>
          <a:bodyPr/>
          <a:lstStyle>
            <a:lvl1pPr>
              <a:defRPr/>
            </a:lvl1pPr>
          </a:lstStyle>
          <a:p>
            <a:pPr>
              <a:defRPr/>
            </a:pPr>
            <a:fld id="{9F116BEB-6062-461A-AF49-3C8F094D6C90}" type="slidenum">
              <a:rPr lang="en-US" altLang="en-US"/>
              <a:pPr>
                <a:defRPr/>
              </a:pPr>
              <a:t>‹#›</a:t>
            </a:fld>
            <a:endParaRPr lang="en-US" altLang="en-US" dirty="0"/>
          </a:p>
        </p:txBody>
      </p:sp>
    </p:spTree>
    <p:extLst>
      <p:ext uri="{BB962C8B-B14F-4D97-AF65-F5344CB8AC3E}">
        <p14:creationId xmlns:p14="http://schemas.microsoft.com/office/powerpoint/2010/main" val="2484178573"/>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showMasterSp="0" preserve="1" userDrawn="1">
  <p:cSld name="2_Title Slide">
    <p:spTree>
      <p:nvGrpSpPr>
        <p:cNvPr id="1" name=""/>
        <p:cNvGrpSpPr/>
        <p:nvPr/>
      </p:nvGrpSpPr>
      <p:grpSpPr>
        <a:xfrm>
          <a:off x="0" y="0"/>
          <a:ext cx="0" cy="0"/>
          <a:chOff x="0" y="0"/>
          <a:chExt cx="0" cy="0"/>
        </a:xfrm>
      </p:grpSpPr>
      <p:sp>
        <p:nvSpPr>
          <p:cNvPr id="5" name="Text Box 7">
            <a:extLst>
              <a:ext uri="{FF2B5EF4-FFF2-40B4-BE49-F238E27FC236}">
                <a16:creationId xmlns:a16="http://schemas.microsoft.com/office/drawing/2014/main" id="{A25BB261-D773-4836-B381-7A051175F570}"/>
              </a:ext>
            </a:extLst>
          </p:cNvPr>
          <p:cNvSpPr txBox="1">
            <a:spLocks noChangeArrowheads="1"/>
          </p:cNvSpPr>
          <p:nvPr/>
        </p:nvSpPr>
        <p:spPr bwMode="auto">
          <a:xfrm>
            <a:off x="2674938" y="5726113"/>
            <a:ext cx="3694112" cy="793750"/>
          </a:xfrm>
          <a:prstGeom prst="rect">
            <a:avLst/>
          </a:prstGeom>
          <a:noFill/>
          <a:ln>
            <a:noFill/>
          </a:ln>
          <a:extLst>
            <a:ext uri="{909E8E84-426E-40dd-AFC4-6F175D3DCCD1}"/>
            <a:ext uri="{91240B29-F687-4f45-9708-019B960494DF}"/>
          </a:extLst>
        </p:spPr>
        <p:txBody>
          <a:bodyPr wrap="none">
            <a:spAutoFit/>
          </a:bodyPr>
          <a:lstStyle>
            <a:lvl1pPr>
              <a:defRPr sz="1600">
                <a:solidFill>
                  <a:schemeClr val="tx1"/>
                </a:solidFill>
                <a:latin typeface="Helvetica" panose="020B0604020202020204" pitchFamily="34" charset="0"/>
                <a:ea typeface="MS PGothic" panose="020B0600070205080204" pitchFamily="34" charset="-128"/>
              </a:defRPr>
            </a:lvl1pPr>
            <a:lvl2pPr marL="742950" indent="-285750">
              <a:defRPr sz="1600">
                <a:solidFill>
                  <a:schemeClr val="tx1"/>
                </a:solidFill>
                <a:latin typeface="Helvetica" panose="020B0604020202020204" pitchFamily="34" charset="0"/>
                <a:ea typeface="MS PGothic" panose="020B0600070205080204" pitchFamily="34" charset="-128"/>
              </a:defRPr>
            </a:lvl2pPr>
            <a:lvl3pPr marL="1143000" indent="-228600">
              <a:defRPr sz="1600">
                <a:solidFill>
                  <a:schemeClr val="tx1"/>
                </a:solidFill>
                <a:latin typeface="Helvetica" panose="020B0604020202020204" pitchFamily="34" charset="0"/>
                <a:ea typeface="MS PGothic" panose="020B0600070205080204" pitchFamily="34" charset="-128"/>
              </a:defRPr>
            </a:lvl3pPr>
            <a:lvl4pPr marL="1600200" indent="-228600">
              <a:defRPr sz="1600">
                <a:solidFill>
                  <a:schemeClr val="tx1"/>
                </a:solidFill>
                <a:latin typeface="Helvetica" panose="020B0604020202020204" pitchFamily="34" charset="0"/>
                <a:ea typeface="MS PGothic" panose="020B0600070205080204" pitchFamily="34" charset="-128"/>
              </a:defRPr>
            </a:lvl4pPr>
            <a:lvl5pPr marL="2057400" indent="-228600">
              <a:defRPr sz="16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pPr algn="ctr">
              <a:spcBef>
                <a:spcPct val="50000"/>
              </a:spcBef>
              <a:defRPr/>
            </a:pPr>
            <a:r>
              <a:rPr lang="en-US" altLang="en-US" b="1" dirty="0">
                <a:solidFill>
                  <a:srgbClr val="002060"/>
                </a:solidFill>
              </a:rPr>
              <a:t>Database System Concepts, 7</a:t>
            </a:r>
            <a:r>
              <a:rPr lang="en-US" altLang="en-US" b="1" baseline="30000" dirty="0">
                <a:solidFill>
                  <a:srgbClr val="002060"/>
                </a:solidFill>
              </a:rPr>
              <a:t>th</a:t>
            </a:r>
            <a:r>
              <a:rPr lang="en-US" altLang="en-US" b="1" dirty="0">
                <a:solidFill>
                  <a:srgbClr val="002060"/>
                </a:solidFill>
              </a:rPr>
              <a:t> Ed</a:t>
            </a:r>
            <a:r>
              <a:rPr lang="en-US" altLang="en-US" dirty="0">
                <a:solidFill>
                  <a:srgbClr val="002060"/>
                </a:solidFill>
              </a:rPr>
              <a:t>.</a:t>
            </a:r>
          </a:p>
          <a:p>
            <a:pPr algn="ctr">
              <a:spcBef>
                <a:spcPct val="50000"/>
              </a:spcBef>
              <a:defRPr/>
            </a:pPr>
            <a:r>
              <a:rPr lang="en-US" altLang="en-US" sz="1200" b="1" dirty="0">
                <a:solidFill>
                  <a:srgbClr val="002060"/>
                </a:solidFill>
              </a:rPr>
              <a:t>©Silberschatz, Korth and Sudarshan</a:t>
            </a:r>
            <a:br>
              <a:rPr lang="en-US" altLang="en-US" sz="1200" b="1" dirty="0">
                <a:solidFill>
                  <a:srgbClr val="002060"/>
                </a:solidFill>
              </a:rPr>
            </a:br>
            <a:r>
              <a:rPr lang="en-US" altLang="en-US" sz="1200" b="1" dirty="0">
                <a:solidFill>
                  <a:srgbClr val="002060"/>
                </a:solidFill>
              </a:rPr>
              <a:t>See </a:t>
            </a:r>
            <a:r>
              <a:rPr lang="en-US" altLang="en-US" sz="1200" b="1" dirty="0">
                <a:solidFill>
                  <a:srgbClr val="002060"/>
                </a:solidFill>
                <a:hlinkClick r:id="rId2"/>
              </a:rPr>
              <a:t>www.db-book.com</a:t>
            </a:r>
            <a:r>
              <a:rPr lang="en-US" altLang="en-US" sz="1200" b="1" dirty="0">
                <a:solidFill>
                  <a:srgbClr val="002060"/>
                </a:solidFill>
              </a:rPr>
              <a:t> for conditions on re-use </a:t>
            </a:r>
          </a:p>
        </p:txBody>
      </p:sp>
      <p:sp>
        <p:nvSpPr>
          <p:cNvPr id="513026" name="Rectangle 2"/>
          <p:cNvSpPr>
            <a:spLocks noGrp="1" noChangeArrowheads="1"/>
          </p:cNvSpPr>
          <p:nvPr>
            <p:ph type="ctrTitle"/>
          </p:nvPr>
        </p:nvSpPr>
        <p:spPr>
          <a:xfrm>
            <a:off x="685800" y="2286000"/>
            <a:ext cx="7772400" cy="1143000"/>
          </a:xfrm>
        </p:spPr>
        <p:txBody>
          <a:bodyPr/>
          <a:lstStyle>
            <a:lvl1pPr>
              <a:defRPr>
                <a:solidFill>
                  <a:srgbClr val="002060"/>
                </a:solidFill>
              </a:defRPr>
            </a:lvl1pPr>
          </a:lstStyle>
          <a:p>
            <a:r>
              <a:rPr lang="en-US" dirty="0"/>
              <a:t>Click to edit Master title style</a:t>
            </a:r>
          </a:p>
        </p:txBody>
      </p:sp>
      <p:sp>
        <p:nvSpPr>
          <p:cNvPr id="8" name="Rectangle 5">
            <a:extLst>
              <a:ext uri="{FF2B5EF4-FFF2-40B4-BE49-F238E27FC236}">
                <a16:creationId xmlns:a16="http://schemas.microsoft.com/office/drawing/2014/main" id="{B4760F52-45E1-4E1D-A744-2F2290DE90CC}"/>
              </a:ext>
            </a:extLst>
          </p:cNvPr>
          <p:cNvSpPr>
            <a:spLocks noGrp="1" noChangeArrowheads="1"/>
          </p:cNvSpPr>
          <p:nvPr>
            <p:ph type="sldNum" sz="quarter" idx="11"/>
          </p:nvPr>
        </p:nvSpPr>
        <p:spPr>
          <a:xfrm>
            <a:off x="6596063" y="6218238"/>
            <a:ext cx="1905000" cy="457200"/>
          </a:xfrm>
        </p:spPr>
        <p:txBody>
          <a:bodyPr/>
          <a:lstStyle>
            <a:lvl1pPr>
              <a:defRPr>
                <a:solidFill>
                  <a:srgbClr val="578963"/>
                </a:solidFill>
              </a:defRPr>
            </a:lvl1pPr>
          </a:lstStyle>
          <a:p>
            <a:pPr>
              <a:defRPr/>
            </a:pPr>
            <a:fld id="{3B69BB99-A72A-4470-971F-83530C443C91}" type="slidenum">
              <a:rPr lang="en-US" altLang="en-US"/>
              <a:pPr>
                <a:defRPr/>
              </a:pPr>
              <a:t>‹#›</a:t>
            </a:fld>
            <a:endParaRPr lang="en-US" altLang="en-US"/>
          </a:p>
        </p:txBody>
      </p:sp>
      <p:pic>
        <p:nvPicPr>
          <p:cNvPr id="9" name="Picture 8" descr="Cover-6Ed"/>
          <p:cNvPicPr>
            <a:picLocks noChangeAspect="1" noChangeArrowheads="1"/>
          </p:cNvPicPr>
          <p:nvPr userDrawn="1"/>
        </p:nvPicPr>
        <p:blipFill>
          <a:blip r:embed="rId3"/>
          <a:stretch>
            <a:fillRect/>
          </a:stretch>
        </p:blipFill>
        <p:spPr bwMode="auto">
          <a:xfrm>
            <a:off x="13858" y="0"/>
            <a:ext cx="1331269" cy="17002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756376123"/>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showMasterSp="0" preserve="1" userDrawn="1">
  <p:cSld name="3_Title Slide">
    <p:spTree>
      <p:nvGrpSpPr>
        <p:cNvPr id="1" name=""/>
        <p:cNvGrpSpPr/>
        <p:nvPr/>
      </p:nvGrpSpPr>
      <p:grpSpPr>
        <a:xfrm>
          <a:off x="0" y="0"/>
          <a:ext cx="0" cy="0"/>
          <a:chOff x="0" y="0"/>
          <a:chExt cx="0" cy="0"/>
        </a:xfrm>
      </p:grpSpPr>
      <p:sp>
        <p:nvSpPr>
          <p:cNvPr id="5" name="Text Box 7">
            <a:extLst>
              <a:ext uri="{FF2B5EF4-FFF2-40B4-BE49-F238E27FC236}">
                <a16:creationId xmlns:a16="http://schemas.microsoft.com/office/drawing/2014/main" id="{A25BB261-D773-4836-B381-7A051175F570}"/>
              </a:ext>
            </a:extLst>
          </p:cNvPr>
          <p:cNvSpPr txBox="1">
            <a:spLocks noChangeArrowheads="1"/>
          </p:cNvSpPr>
          <p:nvPr/>
        </p:nvSpPr>
        <p:spPr bwMode="auto">
          <a:xfrm>
            <a:off x="2674938" y="5726113"/>
            <a:ext cx="3694112" cy="793750"/>
          </a:xfrm>
          <a:prstGeom prst="rect">
            <a:avLst/>
          </a:prstGeom>
          <a:noFill/>
          <a:ln>
            <a:noFill/>
          </a:ln>
          <a:extLst>
            <a:ext uri="{909E8E84-426E-40dd-AFC4-6F175D3DCCD1}"/>
            <a:ext uri="{91240B29-F687-4f45-9708-019B960494DF}"/>
          </a:extLst>
        </p:spPr>
        <p:txBody>
          <a:bodyPr wrap="none">
            <a:spAutoFit/>
          </a:bodyPr>
          <a:lstStyle>
            <a:lvl1pPr>
              <a:defRPr sz="1600">
                <a:solidFill>
                  <a:schemeClr val="tx1"/>
                </a:solidFill>
                <a:latin typeface="Helvetica" panose="020B0604020202020204" pitchFamily="34" charset="0"/>
                <a:ea typeface="MS PGothic" panose="020B0600070205080204" pitchFamily="34" charset="-128"/>
              </a:defRPr>
            </a:lvl1pPr>
            <a:lvl2pPr marL="742950" indent="-285750">
              <a:defRPr sz="1600">
                <a:solidFill>
                  <a:schemeClr val="tx1"/>
                </a:solidFill>
                <a:latin typeface="Helvetica" panose="020B0604020202020204" pitchFamily="34" charset="0"/>
                <a:ea typeface="MS PGothic" panose="020B0600070205080204" pitchFamily="34" charset="-128"/>
              </a:defRPr>
            </a:lvl2pPr>
            <a:lvl3pPr marL="1143000" indent="-228600">
              <a:defRPr sz="1600">
                <a:solidFill>
                  <a:schemeClr val="tx1"/>
                </a:solidFill>
                <a:latin typeface="Helvetica" panose="020B0604020202020204" pitchFamily="34" charset="0"/>
                <a:ea typeface="MS PGothic" panose="020B0600070205080204" pitchFamily="34" charset="-128"/>
              </a:defRPr>
            </a:lvl3pPr>
            <a:lvl4pPr marL="1600200" indent="-228600">
              <a:defRPr sz="1600">
                <a:solidFill>
                  <a:schemeClr val="tx1"/>
                </a:solidFill>
                <a:latin typeface="Helvetica" panose="020B0604020202020204" pitchFamily="34" charset="0"/>
                <a:ea typeface="MS PGothic" panose="020B0600070205080204" pitchFamily="34" charset="-128"/>
              </a:defRPr>
            </a:lvl4pPr>
            <a:lvl5pPr marL="2057400" indent="-228600">
              <a:defRPr sz="16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pPr algn="ctr">
              <a:spcBef>
                <a:spcPct val="50000"/>
              </a:spcBef>
              <a:defRPr/>
            </a:pPr>
            <a:r>
              <a:rPr lang="en-US" altLang="en-US" b="1" dirty="0">
                <a:solidFill>
                  <a:srgbClr val="002060"/>
                </a:solidFill>
              </a:rPr>
              <a:t>Database System Concepts, 7</a:t>
            </a:r>
            <a:r>
              <a:rPr lang="en-US" altLang="en-US" b="1" baseline="30000" dirty="0">
                <a:solidFill>
                  <a:srgbClr val="002060"/>
                </a:solidFill>
              </a:rPr>
              <a:t>th</a:t>
            </a:r>
            <a:r>
              <a:rPr lang="en-US" altLang="en-US" b="1" dirty="0">
                <a:solidFill>
                  <a:srgbClr val="002060"/>
                </a:solidFill>
              </a:rPr>
              <a:t> Ed</a:t>
            </a:r>
            <a:r>
              <a:rPr lang="en-US" altLang="en-US" dirty="0">
                <a:solidFill>
                  <a:srgbClr val="002060"/>
                </a:solidFill>
              </a:rPr>
              <a:t>.</a:t>
            </a:r>
          </a:p>
          <a:p>
            <a:pPr algn="ctr">
              <a:spcBef>
                <a:spcPct val="50000"/>
              </a:spcBef>
              <a:defRPr/>
            </a:pPr>
            <a:r>
              <a:rPr lang="en-US" altLang="en-US" sz="1200" b="1" dirty="0">
                <a:solidFill>
                  <a:srgbClr val="002060"/>
                </a:solidFill>
              </a:rPr>
              <a:t>©Silberschatz, Korth and Sudarshan</a:t>
            </a:r>
            <a:br>
              <a:rPr lang="en-US" altLang="en-US" sz="1200" b="1" dirty="0">
                <a:solidFill>
                  <a:srgbClr val="002060"/>
                </a:solidFill>
              </a:rPr>
            </a:br>
            <a:r>
              <a:rPr lang="en-US" altLang="en-US" sz="1200" b="1" dirty="0">
                <a:solidFill>
                  <a:srgbClr val="002060"/>
                </a:solidFill>
              </a:rPr>
              <a:t>See </a:t>
            </a:r>
            <a:r>
              <a:rPr lang="en-US" altLang="en-US" sz="1200" b="1" dirty="0">
                <a:solidFill>
                  <a:srgbClr val="002060"/>
                </a:solidFill>
                <a:hlinkClick r:id="rId2"/>
              </a:rPr>
              <a:t>www.db-book.com</a:t>
            </a:r>
            <a:r>
              <a:rPr lang="en-US" altLang="en-US" sz="1200" b="1" dirty="0">
                <a:solidFill>
                  <a:srgbClr val="002060"/>
                </a:solidFill>
              </a:rPr>
              <a:t> for conditions on re-use </a:t>
            </a:r>
          </a:p>
        </p:txBody>
      </p:sp>
      <p:sp>
        <p:nvSpPr>
          <p:cNvPr id="513026" name="Rectangle 2"/>
          <p:cNvSpPr>
            <a:spLocks noGrp="1" noChangeArrowheads="1"/>
          </p:cNvSpPr>
          <p:nvPr>
            <p:ph type="ctrTitle"/>
          </p:nvPr>
        </p:nvSpPr>
        <p:spPr>
          <a:xfrm>
            <a:off x="685800" y="2286000"/>
            <a:ext cx="7772400" cy="1143000"/>
          </a:xfrm>
        </p:spPr>
        <p:txBody>
          <a:bodyPr/>
          <a:lstStyle>
            <a:lvl1pPr>
              <a:defRPr>
                <a:solidFill>
                  <a:srgbClr val="002060"/>
                </a:solidFill>
              </a:defRPr>
            </a:lvl1pPr>
          </a:lstStyle>
          <a:p>
            <a:r>
              <a:rPr lang="en-US" dirty="0"/>
              <a:t>Click to edit Master title style</a:t>
            </a:r>
          </a:p>
        </p:txBody>
      </p:sp>
      <p:sp>
        <p:nvSpPr>
          <p:cNvPr id="8" name="Rectangle 5">
            <a:extLst>
              <a:ext uri="{FF2B5EF4-FFF2-40B4-BE49-F238E27FC236}">
                <a16:creationId xmlns:a16="http://schemas.microsoft.com/office/drawing/2014/main" id="{B4760F52-45E1-4E1D-A744-2F2290DE90CC}"/>
              </a:ext>
            </a:extLst>
          </p:cNvPr>
          <p:cNvSpPr>
            <a:spLocks noGrp="1" noChangeArrowheads="1"/>
          </p:cNvSpPr>
          <p:nvPr>
            <p:ph type="sldNum" sz="quarter" idx="11"/>
          </p:nvPr>
        </p:nvSpPr>
        <p:spPr>
          <a:xfrm>
            <a:off x="6596063" y="6218238"/>
            <a:ext cx="1905000" cy="457200"/>
          </a:xfrm>
        </p:spPr>
        <p:txBody>
          <a:bodyPr/>
          <a:lstStyle>
            <a:lvl1pPr>
              <a:defRPr>
                <a:solidFill>
                  <a:srgbClr val="578963"/>
                </a:solidFill>
              </a:defRPr>
            </a:lvl1pPr>
          </a:lstStyle>
          <a:p>
            <a:pPr>
              <a:defRPr/>
            </a:pPr>
            <a:fld id="{3B69BB99-A72A-4470-971F-83530C443C91}" type="slidenum">
              <a:rPr lang="en-US" altLang="en-US"/>
              <a:pPr>
                <a:defRPr/>
              </a:pPr>
              <a:t>‹#›</a:t>
            </a:fld>
            <a:endParaRPr lang="en-US" altLang="en-US"/>
          </a:p>
        </p:txBody>
      </p:sp>
      <p:pic>
        <p:nvPicPr>
          <p:cNvPr id="9" name="Picture 8" descr="Cover-6Ed"/>
          <p:cNvPicPr>
            <a:picLocks noChangeAspect="1" noChangeArrowheads="1"/>
          </p:cNvPicPr>
          <p:nvPr userDrawn="1"/>
        </p:nvPicPr>
        <p:blipFill>
          <a:blip r:embed="rId3"/>
          <a:stretch>
            <a:fillRect/>
          </a:stretch>
        </p:blipFill>
        <p:spPr bwMode="auto">
          <a:xfrm>
            <a:off x="13858" y="0"/>
            <a:ext cx="1331269" cy="17002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3762076657"/>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showMasterSp="0" preserve="1" userDrawn="1">
  <p:cSld name="4_Title Slide">
    <p:spTree>
      <p:nvGrpSpPr>
        <p:cNvPr id="1" name=""/>
        <p:cNvGrpSpPr/>
        <p:nvPr/>
      </p:nvGrpSpPr>
      <p:grpSpPr>
        <a:xfrm>
          <a:off x="0" y="0"/>
          <a:ext cx="0" cy="0"/>
          <a:chOff x="0" y="0"/>
          <a:chExt cx="0" cy="0"/>
        </a:xfrm>
      </p:grpSpPr>
      <p:sp>
        <p:nvSpPr>
          <p:cNvPr id="5" name="Text Box 7">
            <a:extLst>
              <a:ext uri="{FF2B5EF4-FFF2-40B4-BE49-F238E27FC236}">
                <a16:creationId xmlns:a16="http://schemas.microsoft.com/office/drawing/2014/main" id="{A25BB261-D773-4836-B381-7A051175F570}"/>
              </a:ext>
            </a:extLst>
          </p:cNvPr>
          <p:cNvSpPr txBox="1">
            <a:spLocks noChangeArrowheads="1"/>
          </p:cNvSpPr>
          <p:nvPr/>
        </p:nvSpPr>
        <p:spPr bwMode="auto">
          <a:xfrm>
            <a:off x="2714127" y="5821363"/>
            <a:ext cx="3694112" cy="793750"/>
          </a:xfrm>
          <a:prstGeom prst="rect">
            <a:avLst/>
          </a:prstGeom>
          <a:noFill/>
          <a:ln>
            <a:noFill/>
          </a:ln>
          <a:extLst>
            <a:ext uri="{909E8E84-426E-40dd-AFC4-6F175D3DCCD1}"/>
            <a:ext uri="{91240B29-F687-4f45-9708-019B960494DF}"/>
          </a:extLst>
        </p:spPr>
        <p:txBody>
          <a:bodyPr wrap="none">
            <a:spAutoFit/>
          </a:bodyPr>
          <a:lstStyle>
            <a:lvl1pPr>
              <a:defRPr sz="1600">
                <a:solidFill>
                  <a:schemeClr val="tx1"/>
                </a:solidFill>
                <a:latin typeface="Helvetica" panose="020B0604020202020204" pitchFamily="34" charset="0"/>
                <a:ea typeface="MS PGothic" panose="020B0600070205080204" pitchFamily="34" charset="-128"/>
              </a:defRPr>
            </a:lvl1pPr>
            <a:lvl2pPr marL="742950" indent="-285750">
              <a:defRPr sz="1600">
                <a:solidFill>
                  <a:schemeClr val="tx1"/>
                </a:solidFill>
                <a:latin typeface="Helvetica" panose="020B0604020202020204" pitchFamily="34" charset="0"/>
                <a:ea typeface="MS PGothic" panose="020B0600070205080204" pitchFamily="34" charset="-128"/>
              </a:defRPr>
            </a:lvl2pPr>
            <a:lvl3pPr marL="1143000" indent="-228600">
              <a:defRPr sz="1600">
                <a:solidFill>
                  <a:schemeClr val="tx1"/>
                </a:solidFill>
                <a:latin typeface="Helvetica" panose="020B0604020202020204" pitchFamily="34" charset="0"/>
                <a:ea typeface="MS PGothic" panose="020B0600070205080204" pitchFamily="34" charset="-128"/>
              </a:defRPr>
            </a:lvl3pPr>
            <a:lvl4pPr marL="1600200" indent="-228600">
              <a:defRPr sz="1600">
                <a:solidFill>
                  <a:schemeClr val="tx1"/>
                </a:solidFill>
                <a:latin typeface="Helvetica" panose="020B0604020202020204" pitchFamily="34" charset="0"/>
                <a:ea typeface="MS PGothic" panose="020B0600070205080204" pitchFamily="34" charset="-128"/>
              </a:defRPr>
            </a:lvl4pPr>
            <a:lvl5pPr marL="2057400" indent="-228600">
              <a:defRPr sz="16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pPr algn="ctr">
              <a:spcBef>
                <a:spcPct val="50000"/>
              </a:spcBef>
              <a:defRPr/>
            </a:pPr>
            <a:r>
              <a:rPr lang="en-US" altLang="en-US" b="1" dirty="0">
                <a:solidFill>
                  <a:srgbClr val="002060"/>
                </a:solidFill>
              </a:rPr>
              <a:t>Database System Concepts, 7</a:t>
            </a:r>
            <a:r>
              <a:rPr lang="en-US" altLang="en-US" b="1" baseline="30000" dirty="0">
                <a:solidFill>
                  <a:srgbClr val="002060"/>
                </a:solidFill>
              </a:rPr>
              <a:t>th</a:t>
            </a:r>
            <a:r>
              <a:rPr lang="en-US" altLang="en-US" b="1" dirty="0">
                <a:solidFill>
                  <a:srgbClr val="002060"/>
                </a:solidFill>
              </a:rPr>
              <a:t> Ed</a:t>
            </a:r>
            <a:r>
              <a:rPr lang="en-US" altLang="en-US" dirty="0">
                <a:solidFill>
                  <a:srgbClr val="002060"/>
                </a:solidFill>
              </a:rPr>
              <a:t>.</a:t>
            </a:r>
          </a:p>
          <a:p>
            <a:pPr algn="ctr">
              <a:spcBef>
                <a:spcPct val="50000"/>
              </a:spcBef>
              <a:defRPr/>
            </a:pPr>
            <a:r>
              <a:rPr lang="en-US" altLang="en-US" sz="1200" b="1" dirty="0">
                <a:solidFill>
                  <a:srgbClr val="002060"/>
                </a:solidFill>
              </a:rPr>
              <a:t>©Silberschatz, Korth and Sudarshan</a:t>
            </a:r>
            <a:br>
              <a:rPr lang="en-US" altLang="en-US" sz="1200" b="1" dirty="0">
                <a:solidFill>
                  <a:srgbClr val="002060"/>
                </a:solidFill>
              </a:rPr>
            </a:br>
            <a:r>
              <a:rPr lang="en-US" altLang="en-US" sz="1200" b="1" dirty="0">
                <a:solidFill>
                  <a:srgbClr val="002060"/>
                </a:solidFill>
              </a:rPr>
              <a:t>See </a:t>
            </a:r>
            <a:r>
              <a:rPr lang="en-US" altLang="en-US" sz="1200" b="1" dirty="0">
                <a:solidFill>
                  <a:srgbClr val="002060"/>
                </a:solidFill>
                <a:hlinkClick r:id="rId2"/>
              </a:rPr>
              <a:t>www.db-book.com</a:t>
            </a:r>
            <a:r>
              <a:rPr lang="en-US" altLang="en-US" sz="1200" b="1" dirty="0">
                <a:solidFill>
                  <a:srgbClr val="002060"/>
                </a:solidFill>
              </a:rPr>
              <a:t> for conditions on re-use </a:t>
            </a:r>
          </a:p>
        </p:txBody>
      </p:sp>
      <p:sp>
        <p:nvSpPr>
          <p:cNvPr id="513026" name="Rectangle 2"/>
          <p:cNvSpPr>
            <a:spLocks noGrp="1" noChangeArrowheads="1"/>
          </p:cNvSpPr>
          <p:nvPr>
            <p:ph type="ctrTitle"/>
          </p:nvPr>
        </p:nvSpPr>
        <p:spPr>
          <a:xfrm>
            <a:off x="685800" y="2286000"/>
            <a:ext cx="7772400" cy="1143000"/>
          </a:xfrm>
        </p:spPr>
        <p:txBody>
          <a:bodyPr/>
          <a:lstStyle>
            <a:lvl1pPr>
              <a:defRPr>
                <a:solidFill>
                  <a:srgbClr val="002060"/>
                </a:solidFill>
              </a:defRPr>
            </a:lvl1pPr>
          </a:lstStyle>
          <a:p>
            <a:r>
              <a:rPr lang="en-US" dirty="0"/>
              <a:t>Click to edit Master title style</a:t>
            </a:r>
          </a:p>
        </p:txBody>
      </p:sp>
      <p:sp>
        <p:nvSpPr>
          <p:cNvPr id="8" name="Rectangle 5">
            <a:extLst>
              <a:ext uri="{FF2B5EF4-FFF2-40B4-BE49-F238E27FC236}">
                <a16:creationId xmlns:a16="http://schemas.microsoft.com/office/drawing/2014/main" id="{B4760F52-45E1-4E1D-A744-2F2290DE90CC}"/>
              </a:ext>
            </a:extLst>
          </p:cNvPr>
          <p:cNvSpPr>
            <a:spLocks noGrp="1" noChangeArrowheads="1"/>
          </p:cNvSpPr>
          <p:nvPr>
            <p:ph type="sldNum" sz="quarter" idx="11"/>
          </p:nvPr>
        </p:nvSpPr>
        <p:spPr>
          <a:xfrm>
            <a:off x="6596063" y="6218238"/>
            <a:ext cx="1905000" cy="457200"/>
          </a:xfrm>
        </p:spPr>
        <p:txBody>
          <a:bodyPr/>
          <a:lstStyle>
            <a:lvl1pPr>
              <a:defRPr>
                <a:solidFill>
                  <a:srgbClr val="578963"/>
                </a:solidFill>
              </a:defRPr>
            </a:lvl1pPr>
          </a:lstStyle>
          <a:p>
            <a:pPr>
              <a:defRPr/>
            </a:pPr>
            <a:fld id="{3B69BB99-A72A-4470-971F-83530C443C91}" type="slidenum">
              <a:rPr lang="en-US" altLang="en-US"/>
              <a:pPr>
                <a:defRPr/>
              </a:pPr>
              <a:t>‹#›</a:t>
            </a:fld>
            <a:endParaRPr lang="en-US" altLang="en-US"/>
          </a:p>
        </p:txBody>
      </p:sp>
      <p:pic>
        <p:nvPicPr>
          <p:cNvPr id="9" name="Picture 8" descr="Cover-6Ed"/>
          <p:cNvPicPr>
            <a:picLocks noChangeAspect="1" noChangeArrowheads="1"/>
          </p:cNvPicPr>
          <p:nvPr userDrawn="1"/>
        </p:nvPicPr>
        <p:blipFill>
          <a:blip r:embed="rId3"/>
          <a:stretch>
            <a:fillRect/>
          </a:stretch>
        </p:blipFill>
        <p:spPr bwMode="auto">
          <a:xfrm>
            <a:off x="13858" y="0"/>
            <a:ext cx="1331269" cy="17002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326048719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image" Target="../media/image2.pn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image" Target="../media/image1.jpeg"/><Relationship Id="rId2" Type="http://schemas.openxmlformats.org/officeDocument/2006/relationships/slideLayout" Target="../slideLayouts/slideLayout2.xml"/><Relationship Id="rId16" Type="http://schemas.openxmlformats.org/officeDocument/2006/relationships/theme" Target="../theme/theme1.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blipFill dpi="0" rotWithShape="0">
          <a:blip r:embed="rId17">
            <a:lum/>
          </a:blip>
          <a:srcRect/>
          <a:stretch>
            <a:fillRect/>
          </a:stretch>
        </a:blipFill>
        <a:effectLst/>
      </p:bgPr>
    </p:bg>
    <p:spTree>
      <p:nvGrpSpPr>
        <p:cNvPr id="1" name=""/>
        <p:cNvGrpSpPr/>
        <p:nvPr/>
      </p:nvGrpSpPr>
      <p:grpSpPr>
        <a:xfrm>
          <a:off x="0" y="0"/>
          <a:ext cx="0" cy="0"/>
          <a:chOff x="0" y="0"/>
          <a:chExt cx="0" cy="0"/>
        </a:xfrm>
      </p:grpSpPr>
      <p:sp>
        <p:nvSpPr>
          <p:cNvPr id="1026" name="Rectangle 2">
            <a:extLst>
              <a:ext uri="{FF2B5EF4-FFF2-40B4-BE49-F238E27FC236}">
                <a16:creationId xmlns:a16="http://schemas.microsoft.com/office/drawing/2014/main" id="{F2585086-EE90-497D-93B1-CA9810D2C770}"/>
              </a:ext>
            </a:extLst>
          </p:cNvPr>
          <p:cNvSpPr>
            <a:spLocks noGrp="1" noChangeArrowheads="1"/>
          </p:cNvSpPr>
          <p:nvPr>
            <p:ph type="body" idx="1"/>
          </p:nvPr>
        </p:nvSpPr>
        <p:spPr bwMode="auto">
          <a:xfrm>
            <a:off x="317500" y="1093788"/>
            <a:ext cx="8599488" cy="53070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lvl="0"/>
            <a:r>
              <a:rPr lang="en-US" altLang="en-US"/>
              <a:t>Click to edit Master text styles</a:t>
            </a:r>
          </a:p>
          <a:p>
            <a:pPr lvl="1"/>
            <a:r>
              <a:rPr lang="en-US" altLang="en-US"/>
              <a:t>Second level</a:t>
            </a:r>
          </a:p>
          <a:p>
            <a:pPr lvl="2"/>
            <a:r>
              <a:rPr lang="en-US" altLang="en-US"/>
              <a:t>Third level</a:t>
            </a:r>
          </a:p>
          <a:p>
            <a:pPr lvl="3"/>
            <a:r>
              <a:rPr lang="en-US" altLang="en-US"/>
              <a:t>Fourth level</a:t>
            </a:r>
          </a:p>
          <a:p>
            <a:pPr lvl="4"/>
            <a:r>
              <a:rPr lang="en-US" altLang="en-US"/>
              <a:t>Fifth level</a:t>
            </a:r>
          </a:p>
        </p:txBody>
      </p:sp>
      <p:sp>
        <p:nvSpPr>
          <p:cNvPr id="512003" name="Rectangle 3">
            <a:extLst>
              <a:ext uri="{FF2B5EF4-FFF2-40B4-BE49-F238E27FC236}">
                <a16:creationId xmlns:a16="http://schemas.microsoft.com/office/drawing/2014/main" id="{09F098C3-0453-4B17-944A-7582B1D8667D}"/>
              </a:ext>
            </a:extLst>
          </p:cNvPr>
          <p:cNvSpPr>
            <a:spLocks noGrp="1" noChangeArrowheads="1"/>
          </p:cNvSpPr>
          <p:nvPr>
            <p:ph type="sldNum" sz="quarter" idx="4"/>
          </p:nvPr>
        </p:nvSpPr>
        <p:spPr bwMode="auto">
          <a:xfrm>
            <a:off x="6553200" y="6400800"/>
            <a:ext cx="1905000" cy="457200"/>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lvl1pPr algn="r">
              <a:spcBef>
                <a:spcPct val="50000"/>
              </a:spcBef>
              <a:defRPr sz="1400" smtClean="0">
                <a:solidFill>
                  <a:srgbClr val="002060"/>
                </a:solidFill>
                <a:latin typeface="Times New Roman" panose="02020603050405020304" pitchFamily="18" charset="0"/>
              </a:defRPr>
            </a:lvl1pPr>
          </a:lstStyle>
          <a:p>
            <a:pPr>
              <a:defRPr/>
            </a:pPr>
            <a:fld id="{0730C3E9-3565-488E-AB92-2BC48C8CC962}" type="slidenum">
              <a:rPr lang="en-US" altLang="en-US"/>
              <a:pPr>
                <a:defRPr/>
              </a:pPr>
              <a:t>‹#›</a:t>
            </a:fld>
            <a:endParaRPr lang="en-US" altLang="en-US" dirty="0"/>
          </a:p>
        </p:txBody>
      </p:sp>
      <p:sp>
        <p:nvSpPr>
          <p:cNvPr id="1028" name="Text Box 4">
            <a:extLst>
              <a:ext uri="{FF2B5EF4-FFF2-40B4-BE49-F238E27FC236}">
                <a16:creationId xmlns:a16="http://schemas.microsoft.com/office/drawing/2014/main" id="{9D2F09C8-E397-469C-84E6-283AA902DBA5}"/>
              </a:ext>
            </a:extLst>
          </p:cNvPr>
          <p:cNvSpPr txBox="1">
            <a:spLocks noChangeArrowheads="1"/>
          </p:cNvSpPr>
          <p:nvPr/>
        </p:nvSpPr>
        <p:spPr bwMode="auto">
          <a:xfrm>
            <a:off x="8391525" y="6643688"/>
            <a:ext cx="752475" cy="247650"/>
          </a:xfrm>
          <a:prstGeom prst="rect">
            <a:avLst/>
          </a:prstGeom>
          <a:noFill/>
          <a:ln>
            <a:noFill/>
          </a:ln>
        </p:spPr>
        <p:txBody>
          <a:bodyPr wrap="none">
            <a:spAutoFit/>
          </a:bodyPr>
          <a:lstStyle>
            <a:lvl1pPr>
              <a:defRPr sz="1600">
                <a:solidFill>
                  <a:schemeClr val="tx1"/>
                </a:solidFill>
                <a:latin typeface="Helvetica" panose="020B0604020202020204" pitchFamily="34" charset="0"/>
                <a:ea typeface="MS PGothic" panose="020B0600070205080204" pitchFamily="34" charset="-128"/>
              </a:defRPr>
            </a:lvl1pPr>
            <a:lvl2pPr marL="742950" indent="-285750">
              <a:defRPr sz="1600">
                <a:solidFill>
                  <a:schemeClr val="tx1"/>
                </a:solidFill>
                <a:latin typeface="Helvetica" panose="020B0604020202020204" pitchFamily="34" charset="0"/>
                <a:ea typeface="MS PGothic" panose="020B0600070205080204" pitchFamily="34" charset="-128"/>
              </a:defRPr>
            </a:lvl2pPr>
            <a:lvl3pPr marL="1143000" indent="-228600">
              <a:defRPr sz="1600">
                <a:solidFill>
                  <a:schemeClr val="tx1"/>
                </a:solidFill>
                <a:latin typeface="Helvetica" panose="020B0604020202020204" pitchFamily="34" charset="0"/>
                <a:ea typeface="MS PGothic" panose="020B0600070205080204" pitchFamily="34" charset="-128"/>
              </a:defRPr>
            </a:lvl3pPr>
            <a:lvl4pPr marL="1600200" indent="-228600">
              <a:defRPr sz="1600">
                <a:solidFill>
                  <a:schemeClr val="tx1"/>
                </a:solidFill>
                <a:latin typeface="Helvetica" panose="020B0604020202020204" pitchFamily="34" charset="0"/>
                <a:ea typeface="MS PGothic" panose="020B0600070205080204" pitchFamily="34" charset="-128"/>
              </a:defRPr>
            </a:lvl4pPr>
            <a:lvl5pPr marL="2057400" indent="-228600">
              <a:defRPr sz="16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pPr algn="ctr">
              <a:spcBef>
                <a:spcPct val="50000"/>
              </a:spcBef>
              <a:defRPr/>
            </a:pPr>
            <a:r>
              <a:rPr lang="en-US" altLang="en-US" sz="1000" b="1" dirty="0">
                <a:solidFill>
                  <a:srgbClr val="002060"/>
                </a:solidFill>
              </a:rPr>
              <a:t>Database</a:t>
            </a:r>
          </a:p>
        </p:txBody>
      </p:sp>
      <p:sp>
        <p:nvSpPr>
          <p:cNvPr id="512005" name="Text Box 5">
            <a:extLst>
              <a:ext uri="{FF2B5EF4-FFF2-40B4-BE49-F238E27FC236}">
                <a16:creationId xmlns:a16="http://schemas.microsoft.com/office/drawing/2014/main" id="{C99B81AF-1E34-452D-A29A-22FA9696AAC5}"/>
              </a:ext>
            </a:extLst>
          </p:cNvPr>
          <p:cNvSpPr txBox="1">
            <a:spLocks noChangeArrowheads="1"/>
          </p:cNvSpPr>
          <p:nvPr userDrawn="1"/>
        </p:nvSpPr>
        <p:spPr bwMode="auto">
          <a:xfrm>
            <a:off x="4479925" y="6613525"/>
            <a:ext cx="447675" cy="246063"/>
          </a:xfrm>
          <a:prstGeom prst="rect">
            <a:avLst/>
          </a:prstGeom>
          <a:noFill/>
          <a:ln w="9525">
            <a:noFill/>
            <a:miter lim="800000"/>
            <a:headEnd/>
            <a:tailEnd/>
          </a:ln>
          <a:effectLst/>
        </p:spPr>
        <p:txBody>
          <a:bodyPr wrap="none">
            <a:spAutoFit/>
          </a:bodyPr>
          <a:lstStyle>
            <a:lvl1pPr>
              <a:defRPr sz="1600">
                <a:solidFill>
                  <a:schemeClr val="tx1"/>
                </a:solidFill>
                <a:latin typeface="Helvetica" panose="020B0604020202020204" pitchFamily="34" charset="0"/>
                <a:ea typeface="MS PGothic" panose="020B0600070205080204" pitchFamily="34" charset="-128"/>
              </a:defRPr>
            </a:lvl1pPr>
            <a:lvl2pPr marL="742950" indent="-285750">
              <a:defRPr sz="1600">
                <a:solidFill>
                  <a:schemeClr val="tx1"/>
                </a:solidFill>
                <a:latin typeface="Helvetica" panose="020B0604020202020204" pitchFamily="34" charset="0"/>
                <a:ea typeface="MS PGothic" panose="020B0600070205080204" pitchFamily="34" charset="-128"/>
              </a:defRPr>
            </a:lvl2pPr>
            <a:lvl3pPr marL="1143000" indent="-228600">
              <a:defRPr sz="1600">
                <a:solidFill>
                  <a:schemeClr val="tx1"/>
                </a:solidFill>
                <a:latin typeface="Helvetica" panose="020B0604020202020204" pitchFamily="34" charset="0"/>
                <a:ea typeface="MS PGothic" panose="020B0600070205080204" pitchFamily="34" charset="-128"/>
              </a:defRPr>
            </a:lvl3pPr>
            <a:lvl4pPr marL="1600200" indent="-228600">
              <a:defRPr sz="1600">
                <a:solidFill>
                  <a:schemeClr val="tx1"/>
                </a:solidFill>
                <a:latin typeface="Helvetica" panose="020B0604020202020204" pitchFamily="34" charset="0"/>
                <a:ea typeface="MS PGothic" panose="020B0600070205080204" pitchFamily="34" charset="-128"/>
              </a:defRPr>
            </a:lvl4pPr>
            <a:lvl5pPr marL="2057400" indent="-228600">
              <a:defRPr sz="16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pPr algn="ctr">
              <a:spcBef>
                <a:spcPct val="50000"/>
              </a:spcBef>
              <a:defRPr/>
            </a:pPr>
            <a:r>
              <a:rPr lang="en-US" altLang="en-US" sz="1000" b="1" dirty="0">
                <a:solidFill>
                  <a:srgbClr val="002060"/>
                </a:solidFill>
              </a:rPr>
              <a:t>1.</a:t>
            </a:r>
            <a:fld id="{AC6F3C8E-B910-47D3-9FC6-86B6F864454C}" type="slidenum">
              <a:rPr lang="en-US" altLang="en-US" sz="1000" b="1" smtClean="0">
                <a:solidFill>
                  <a:srgbClr val="002060"/>
                </a:solidFill>
              </a:rPr>
              <a:pPr algn="ctr">
                <a:spcBef>
                  <a:spcPct val="50000"/>
                </a:spcBef>
                <a:defRPr/>
              </a:pPr>
              <a:t>‹#›</a:t>
            </a:fld>
            <a:endParaRPr lang="en-US" altLang="en-US" sz="1000" b="1" dirty="0">
              <a:solidFill>
                <a:srgbClr val="002060"/>
              </a:solidFill>
            </a:endParaRPr>
          </a:p>
        </p:txBody>
      </p:sp>
      <p:sp>
        <p:nvSpPr>
          <p:cNvPr id="512006" name="Rectangle 6">
            <a:extLst>
              <a:ext uri="{FF2B5EF4-FFF2-40B4-BE49-F238E27FC236}">
                <a16:creationId xmlns:a16="http://schemas.microsoft.com/office/drawing/2014/main" id="{ADBFB4FE-43F4-4FA0-B051-0D44F560CCC2}"/>
              </a:ext>
            </a:extLst>
          </p:cNvPr>
          <p:cNvSpPr>
            <a:spLocks noGrp="1" noChangeArrowheads="1"/>
          </p:cNvSpPr>
          <p:nvPr>
            <p:ph type="title"/>
          </p:nvPr>
        </p:nvSpPr>
        <p:spPr bwMode="auto">
          <a:xfrm>
            <a:off x="768350" y="117475"/>
            <a:ext cx="8077200" cy="609600"/>
          </a:xfrm>
          <a:prstGeom prst="rect">
            <a:avLst/>
          </a:prstGeom>
          <a:noFill/>
          <a:ln w="9525">
            <a:noFill/>
            <a:miter lim="800000"/>
            <a:headEnd/>
            <a:tailEnd/>
          </a:ln>
        </p:spPr>
        <p:txBody>
          <a:bodyPr vert="horz" wrap="square" lIns="91440" tIns="45720" rIns="91440" bIns="45720" numCol="1" anchor="b" anchorCtr="0" compatLnSpc="1">
            <a:prstTxWarp prst="textNoShape">
              <a:avLst/>
            </a:prstTxWarp>
          </a:bodyPr>
          <a:lstStyle/>
          <a:p>
            <a:pPr lvl="0"/>
            <a:r>
              <a:rPr lang="en-US" dirty="0"/>
              <a:t>Click to edit Master title style</a:t>
            </a:r>
          </a:p>
        </p:txBody>
      </p:sp>
      <p:sp>
        <p:nvSpPr>
          <p:cNvPr id="1031" name="Text Box 7">
            <a:extLst>
              <a:ext uri="{FF2B5EF4-FFF2-40B4-BE49-F238E27FC236}">
                <a16:creationId xmlns:a16="http://schemas.microsoft.com/office/drawing/2014/main" id="{880E5318-7384-4990-8CA8-5173B7F3BF0E}"/>
              </a:ext>
            </a:extLst>
          </p:cNvPr>
          <p:cNvSpPr txBox="1">
            <a:spLocks noChangeArrowheads="1"/>
          </p:cNvSpPr>
          <p:nvPr/>
        </p:nvSpPr>
        <p:spPr bwMode="auto">
          <a:xfrm>
            <a:off x="0" y="6613525"/>
            <a:ext cx="1343025" cy="246063"/>
          </a:xfrm>
          <a:prstGeom prst="rect">
            <a:avLst/>
          </a:prstGeom>
          <a:noFill/>
          <a:ln>
            <a:noFill/>
          </a:ln>
        </p:spPr>
        <p:txBody>
          <a:bodyPr wrap="none">
            <a:spAutoFit/>
          </a:bodyPr>
          <a:lstStyle>
            <a:lvl1pPr>
              <a:defRPr sz="1600">
                <a:solidFill>
                  <a:schemeClr val="tx1"/>
                </a:solidFill>
                <a:latin typeface="Helvetica" charset="0"/>
                <a:ea typeface="ＭＳ Ｐゴシック" charset="0"/>
                <a:cs typeface="ＭＳ Ｐゴシック" charset="0"/>
              </a:defRPr>
            </a:lvl1pPr>
            <a:lvl2pPr marL="742950" indent="-285750">
              <a:defRPr sz="1600">
                <a:solidFill>
                  <a:schemeClr val="tx1"/>
                </a:solidFill>
                <a:latin typeface="Helvetica" charset="0"/>
                <a:ea typeface="ＭＳ Ｐゴシック" charset="0"/>
              </a:defRPr>
            </a:lvl2pPr>
            <a:lvl3pPr marL="1143000" indent="-228600">
              <a:defRPr sz="1600">
                <a:solidFill>
                  <a:schemeClr val="tx1"/>
                </a:solidFill>
                <a:latin typeface="Helvetica" charset="0"/>
                <a:ea typeface="ＭＳ Ｐゴシック" charset="0"/>
              </a:defRPr>
            </a:lvl3pPr>
            <a:lvl4pPr marL="1600200" indent="-228600">
              <a:defRPr sz="1600">
                <a:solidFill>
                  <a:schemeClr val="tx1"/>
                </a:solidFill>
                <a:latin typeface="Helvetica" charset="0"/>
                <a:ea typeface="ＭＳ Ｐゴシック" charset="0"/>
              </a:defRPr>
            </a:lvl4pPr>
            <a:lvl5pPr marL="2057400" indent="-228600">
              <a:defRPr sz="1600">
                <a:solidFill>
                  <a:schemeClr val="tx1"/>
                </a:solidFill>
                <a:latin typeface="Helvetica" charset="0"/>
                <a:ea typeface="ＭＳ Ｐゴシック" charset="0"/>
              </a:defRPr>
            </a:lvl5pPr>
            <a:lvl6pPr marL="2514600" indent="-228600" eaLnBrk="0" fontAlgn="base" hangingPunct="0">
              <a:spcBef>
                <a:spcPct val="0"/>
              </a:spcBef>
              <a:spcAft>
                <a:spcPct val="0"/>
              </a:spcAft>
              <a:defRPr sz="1600">
                <a:solidFill>
                  <a:schemeClr val="tx1"/>
                </a:solidFill>
                <a:latin typeface="Helvetica" charset="0"/>
                <a:ea typeface="ＭＳ Ｐゴシック" charset="0"/>
              </a:defRPr>
            </a:lvl6pPr>
            <a:lvl7pPr marL="2971800" indent="-228600" eaLnBrk="0" fontAlgn="base" hangingPunct="0">
              <a:spcBef>
                <a:spcPct val="0"/>
              </a:spcBef>
              <a:spcAft>
                <a:spcPct val="0"/>
              </a:spcAft>
              <a:defRPr sz="1600">
                <a:solidFill>
                  <a:schemeClr val="tx1"/>
                </a:solidFill>
                <a:latin typeface="Helvetica" charset="0"/>
                <a:ea typeface="ＭＳ Ｐゴシック" charset="0"/>
              </a:defRPr>
            </a:lvl7pPr>
            <a:lvl8pPr marL="3429000" indent="-228600" eaLnBrk="0" fontAlgn="base" hangingPunct="0">
              <a:spcBef>
                <a:spcPct val="0"/>
              </a:spcBef>
              <a:spcAft>
                <a:spcPct val="0"/>
              </a:spcAft>
              <a:defRPr sz="1600">
                <a:solidFill>
                  <a:schemeClr val="tx1"/>
                </a:solidFill>
                <a:latin typeface="Helvetica" charset="0"/>
                <a:ea typeface="ＭＳ Ｐゴシック" charset="0"/>
              </a:defRPr>
            </a:lvl8pPr>
            <a:lvl9pPr marL="3886200" indent="-228600" eaLnBrk="0" fontAlgn="base" hangingPunct="0">
              <a:spcBef>
                <a:spcPct val="0"/>
              </a:spcBef>
              <a:spcAft>
                <a:spcPct val="0"/>
              </a:spcAft>
              <a:defRPr sz="1600">
                <a:solidFill>
                  <a:schemeClr val="tx1"/>
                </a:solidFill>
                <a:latin typeface="Helvetica" charset="0"/>
                <a:ea typeface="ＭＳ Ｐゴシック" charset="0"/>
              </a:defRPr>
            </a:lvl9pPr>
          </a:lstStyle>
          <a:p>
            <a:pPr>
              <a:spcBef>
                <a:spcPct val="50000"/>
              </a:spcBef>
              <a:defRPr/>
            </a:pPr>
            <a:r>
              <a:rPr lang="en-US" sz="1000" b="1" dirty="0">
                <a:solidFill>
                  <a:srgbClr val="002060"/>
                </a:solidFill>
              </a:rPr>
              <a:t>Dr. A. Taghinezhad</a:t>
            </a:r>
          </a:p>
        </p:txBody>
      </p:sp>
      <p:sp>
        <p:nvSpPr>
          <p:cNvPr id="1032" name="Freeform 8">
            <a:extLst>
              <a:ext uri="{FF2B5EF4-FFF2-40B4-BE49-F238E27FC236}">
                <a16:creationId xmlns:a16="http://schemas.microsoft.com/office/drawing/2014/main" id="{6CDA35BA-8F04-4DFE-86B0-545ADDF4393D}"/>
              </a:ext>
            </a:extLst>
          </p:cNvPr>
          <p:cNvSpPr>
            <a:spLocks/>
          </p:cNvSpPr>
          <p:nvPr/>
        </p:nvSpPr>
        <p:spPr bwMode="auto">
          <a:xfrm>
            <a:off x="8916988" y="5445125"/>
            <a:ext cx="227012" cy="47625"/>
          </a:xfrm>
          <a:custGeom>
            <a:avLst/>
            <a:gdLst>
              <a:gd name="T0" fmla="*/ 0 w 285"/>
              <a:gd name="T1" fmla="*/ 2147483646 h 61"/>
              <a:gd name="T2" fmla="*/ 2147483646 w 285"/>
              <a:gd name="T3" fmla="*/ 2147483646 h 61"/>
              <a:gd name="T4" fmla="*/ 2147483646 w 285"/>
              <a:gd name="T5" fmla="*/ 2147483646 h 61"/>
              <a:gd name="T6" fmla="*/ 2147483646 w 285"/>
              <a:gd name="T7" fmla="*/ 2147483646 h 61"/>
              <a:gd name="T8" fmla="*/ 2147483646 w 285"/>
              <a:gd name="T9" fmla="*/ 2147483646 h 61"/>
              <a:gd name="T10" fmla="*/ 2147483646 w 285"/>
              <a:gd name="T11" fmla="*/ 2147483646 h 61"/>
              <a:gd name="T12" fmla="*/ 2147483646 w 285"/>
              <a:gd name="T13" fmla="*/ 2147483646 h 61"/>
              <a:gd name="T14" fmla="*/ 2147483646 w 285"/>
              <a:gd name="T15" fmla="*/ 2147483646 h 61"/>
              <a:gd name="T16" fmla="*/ 2147483646 w 285"/>
              <a:gd name="T17" fmla="*/ 0 h 61"/>
              <a:gd name="T18" fmla="*/ 2147483646 w 285"/>
              <a:gd name="T19" fmla="*/ 0 h 61"/>
              <a:gd name="T20" fmla="*/ 2147483646 w 285"/>
              <a:gd name="T21" fmla="*/ 0 h 61"/>
              <a:gd name="T22" fmla="*/ 2147483646 w 285"/>
              <a:gd name="T23" fmla="*/ 0 h 61"/>
              <a:gd name="T24" fmla="*/ 2147483646 w 285"/>
              <a:gd name="T25" fmla="*/ 2147483646 h 61"/>
              <a:gd name="T26" fmla="*/ 2147483646 w 285"/>
              <a:gd name="T27" fmla="*/ 2147483646 h 61"/>
              <a:gd name="T28" fmla="*/ 2147483646 w 285"/>
              <a:gd name="T29" fmla="*/ 2147483646 h 61"/>
              <a:gd name="T30" fmla="*/ 2147483646 w 285"/>
              <a:gd name="T31" fmla="*/ 2147483646 h 61"/>
              <a:gd name="T32" fmla="*/ 2147483646 w 285"/>
              <a:gd name="T33" fmla="*/ 2147483646 h 61"/>
              <a:gd name="T34" fmla="*/ 2147483646 w 285"/>
              <a:gd name="T35" fmla="*/ 2147483646 h 61"/>
              <a:gd name="T36" fmla="*/ 2147483646 w 285"/>
              <a:gd name="T37" fmla="*/ 2147483646 h 61"/>
              <a:gd name="T38" fmla="*/ 2147483646 w 285"/>
              <a:gd name="T39" fmla="*/ 2147483646 h 61"/>
              <a:gd name="T40" fmla="*/ 2147483646 w 285"/>
              <a:gd name="T41" fmla="*/ 2147483646 h 61"/>
              <a:gd name="T42" fmla="*/ 2147483646 w 285"/>
              <a:gd name="T43" fmla="*/ 2147483646 h 61"/>
              <a:gd name="T44" fmla="*/ 2147483646 w 285"/>
              <a:gd name="T45" fmla="*/ 2147483646 h 61"/>
              <a:gd name="T46" fmla="*/ 2147483646 w 285"/>
              <a:gd name="T47" fmla="*/ 2147483646 h 61"/>
              <a:gd name="T48" fmla="*/ 2147483646 w 285"/>
              <a:gd name="T49" fmla="*/ 2147483646 h 61"/>
              <a:gd name="T50" fmla="*/ 2147483646 w 285"/>
              <a:gd name="T51" fmla="*/ 2147483646 h 61"/>
              <a:gd name="T52" fmla="*/ 2147483646 w 285"/>
              <a:gd name="T53" fmla="*/ 2147483646 h 61"/>
              <a:gd name="T54" fmla="*/ 2147483646 w 285"/>
              <a:gd name="T55" fmla="*/ 2147483646 h 61"/>
              <a:gd name="T56" fmla="*/ 2147483646 w 285"/>
              <a:gd name="T57" fmla="*/ 2147483646 h 61"/>
              <a:gd name="T58" fmla="*/ 2147483646 w 285"/>
              <a:gd name="T59" fmla="*/ 2147483646 h 61"/>
              <a:gd name="T60" fmla="*/ 2147483646 w 285"/>
              <a:gd name="T61" fmla="*/ 2147483646 h 61"/>
              <a:gd name="T62" fmla="*/ 2147483646 w 285"/>
              <a:gd name="T63" fmla="*/ 2147483646 h 61"/>
              <a:gd name="T64" fmla="*/ 2147483646 w 285"/>
              <a:gd name="T65" fmla="*/ 2147483646 h 61"/>
              <a:gd name="T66" fmla="*/ 2147483646 w 285"/>
              <a:gd name="T67" fmla="*/ 2147483646 h 61"/>
              <a:gd name="T68" fmla="*/ 2147483646 w 285"/>
              <a:gd name="T69" fmla="*/ 2147483646 h 61"/>
              <a:gd name="T70" fmla="*/ 2147483646 w 285"/>
              <a:gd name="T71" fmla="*/ 2147483646 h 61"/>
              <a:gd name="T72" fmla="*/ 2147483646 w 285"/>
              <a:gd name="T73" fmla="*/ 2147483646 h 61"/>
              <a:gd name="T74" fmla="*/ 2147483646 w 285"/>
              <a:gd name="T75" fmla="*/ 2147483646 h 61"/>
              <a:gd name="T76" fmla="*/ 2147483646 w 285"/>
              <a:gd name="T77" fmla="*/ 2147483646 h 61"/>
              <a:gd name="T78" fmla="*/ 2147483646 w 285"/>
              <a:gd name="T79" fmla="*/ 2147483646 h 61"/>
              <a:gd name="T80" fmla="*/ 2147483646 w 285"/>
              <a:gd name="T81" fmla="*/ 2147483646 h 61"/>
              <a:gd name="T82" fmla="*/ 2147483646 w 285"/>
              <a:gd name="T83" fmla="*/ 2147483646 h 61"/>
              <a:gd name="T84" fmla="*/ 2147483646 w 285"/>
              <a:gd name="T85" fmla="*/ 2147483646 h 61"/>
              <a:gd name="T86" fmla="*/ 2147483646 w 285"/>
              <a:gd name="T87" fmla="*/ 2147483646 h 61"/>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Lst>
            <a:ahLst/>
            <a:cxnLst>
              <a:cxn ang="T88">
                <a:pos x="T0" y="T1"/>
              </a:cxn>
              <a:cxn ang="T89">
                <a:pos x="T2" y="T3"/>
              </a:cxn>
              <a:cxn ang="T90">
                <a:pos x="T4" y="T5"/>
              </a:cxn>
              <a:cxn ang="T91">
                <a:pos x="T6" y="T7"/>
              </a:cxn>
              <a:cxn ang="T92">
                <a:pos x="T8" y="T9"/>
              </a:cxn>
              <a:cxn ang="T93">
                <a:pos x="T10" y="T11"/>
              </a:cxn>
              <a:cxn ang="T94">
                <a:pos x="T12" y="T13"/>
              </a:cxn>
              <a:cxn ang="T95">
                <a:pos x="T14" y="T15"/>
              </a:cxn>
              <a:cxn ang="T96">
                <a:pos x="T16" y="T17"/>
              </a:cxn>
              <a:cxn ang="T97">
                <a:pos x="T18" y="T19"/>
              </a:cxn>
              <a:cxn ang="T98">
                <a:pos x="T20" y="T21"/>
              </a:cxn>
              <a:cxn ang="T99">
                <a:pos x="T22" y="T23"/>
              </a:cxn>
              <a:cxn ang="T100">
                <a:pos x="T24" y="T25"/>
              </a:cxn>
              <a:cxn ang="T101">
                <a:pos x="T26" y="T27"/>
              </a:cxn>
              <a:cxn ang="T102">
                <a:pos x="T28" y="T29"/>
              </a:cxn>
              <a:cxn ang="T103">
                <a:pos x="T30" y="T31"/>
              </a:cxn>
              <a:cxn ang="T104">
                <a:pos x="T32" y="T33"/>
              </a:cxn>
              <a:cxn ang="T105">
                <a:pos x="T34" y="T35"/>
              </a:cxn>
              <a:cxn ang="T106">
                <a:pos x="T36" y="T37"/>
              </a:cxn>
              <a:cxn ang="T107">
                <a:pos x="T38" y="T39"/>
              </a:cxn>
              <a:cxn ang="T108">
                <a:pos x="T40" y="T41"/>
              </a:cxn>
              <a:cxn ang="T109">
                <a:pos x="T42" y="T43"/>
              </a:cxn>
              <a:cxn ang="T110">
                <a:pos x="T44" y="T45"/>
              </a:cxn>
              <a:cxn ang="T111">
                <a:pos x="T46" y="T47"/>
              </a:cxn>
              <a:cxn ang="T112">
                <a:pos x="T48" y="T49"/>
              </a:cxn>
              <a:cxn ang="T113">
                <a:pos x="T50" y="T51"/>
              </a:cxn>
              <a:cxn ang="T114">
                <a:pos x="T52" y="T53"/>
              </a:cxn>
              <a:cxn ang="T115">
                <a:pos x="T54" y="T55"/>
              </a:cxn>
              <a:cxn ang="T116">
                <a:pos x="T56" y="T57"/>
              </a:cxn>
              <a:cxn ang="T117">
                <a:pos x="T58" y="T59"/>
              </a:cxn>
              <a:cxn ang="T118">
                <a:pos x="T60" y="T61"/>
              </a:cxn>
              <a:cxn ang="T119">
                <a:pos x="T62" y="T63"/>
              </a:cxn>
              <a:cxn ang="T120">
                <a:pos x="T64" y="T65"/>
              </a:cxn>
              <a:cxn ang="T121">
                <a:pos x="T66" y="T67"/>
              </a:cxn>
              <a:cxn ang="T122">
                <a:pos x="T68" y="T69"/>
              </a:cxn>
              <a:cxn ang="T123">
                <a:pos x="T70" y="T71"/>
              </a:cxn>
              <a:cxn ang="T124">
                <a:pos x="T72" y="T73"/>
              </a:cxn>
              <a:cxn ang="T125">
                <a:pos x="T74" y="T75"/>
              </a:cxn>
              <a:cxn ang="T126">
                <a:pos x="T76" y="T77"/>
              </a:cxn>
              <a:cxn ang="T127">
                <a:pos x="T78" y="T79"/>
              </a:cxn>
              <a:cxn ang="T128">
                <a:pos x="T80" y="T81"/>
              </a:cxn>
              <a:cxn ang="T129">
                <a:pos x="T82" y="T83"/>
              </a:cxn>
              <a:cxn ang="T130">
                <a:pos x="T84" y="T85"/>
              </a:cxn>
              <a:cxn ang="T131">
                <a:pos x="T86" y="T87"/>
              </a:cxn>
            </a:cxnLst>
            <a:rect l="0" t="0" r="r" b="b"/>
            <a:pathLst>
              <a:path w="285" h="61">
                <a:moveTo>
                  <a:pt x="2" y="61"/>
                </a:moveTo>
                <a:lnTo>
                  <a:pt x="0" y="59"/>
                </a:lnTo>
                <a:lnTo>
                  <a:pt x="0" y="55"/>
                </a:lnTo>
                <a:lnTo>
                  <a:pt x="2" y="48"/>
                </a:lnTo>
                <a:lnTo>
                  <a:pt x="5" y="40"/>
                </a:lnTo>
                <a:lnTo>
                  <a:pt x="9" y="34"/>
                </a:lnTo>
                <a:lnTo>
                  <a:pt x="13" y="31"/>
                </a:lnTo>
                <a:lnTo>
                  <a:pt x="17" y="25"/>
                </a:lnTo>
                <a:lnTo>
                  <a:pt x="24" y="21"/>
                </a:lnTo>
                <a:lnTo>
                  <a:pt x="30" y="17"/>
                </a:lnTo>
                <a:lnTo>
                  <a:pt x="40" y="13"/>
                </a:lnTo>
                <a:lnTo>
                  <a:pt x="45" y="10"/>
                </a:lnTo>
                <a:lnTo>
                  <a:pt x="51" y="8"/>
                </a:lnTo>
                <a:lnTo>
                  <a:pt x="57" y="6"/>
                </a:lnTo>
                <a:lnTo>
                  <a:pt x="64" y="6"/>
                </a:lnTo>
                <a:lnTo>
                  <a:pt x="70" y="2"/>
                </a:lnTo>
                <a:lnTo>
                  <a:pt x="78" y="2"/>
                </a:lnTo>
                <a:lnTo>
                  <a:pt x="85" y="0"/>
                </a:lnTo>
                <a:lnTo>
                  <a:pt x="93" y="0"/>
                </a:lnTo>
                <a:lnTo>
                  <a:pt x="100" y="0"/>
                </a:lnTo>
                <a:lnTo>
                  <a:pt x="110" y="0"/>
                </a:lnTo>
                <a:lnTo>
                  <a:pt x="118" y="0"/>
                </a:lnTo>
                <a:lnTo>
                  <a:pt x="129" y="0"/>
                </a:lnTo>
                <a:lnTo>
                  <a:pt x="137" y="0"/>
                </a:lnTo>
                <a:lnTo>
                  <a:pt x="146" y="2"/>
                </a:lnTo>
                <a:lnTo>
                  <a:pt x="154" y="2"/>
                </a:lnTo>
                <a:lnTo>
                  <a:pt x="163" y="4"/>
                </a:lnTo>
                <a:lnTo>
                  <a:pt x="173" y="6"/>
                </a:lnTo>
                <a:lnTo>
                  <a:pt x="182" y="8"/>
                </a:lnTo>
                <a:lnTo>
                  <a:pt x="192" y="8"/>
                </a:lnTo>
                <a:lnTo>
                  <a:pt x="201" y="12"/>
                </a:lnTo>
                <a:lnTo>
                  <a:pt x="209" y="12"/>
                </a:lnTo>
                <a:lnTo>
                  <a:pt x="216" y="13"/>
                </a:lnTo>
                <a:lnTo>
                  <a:pt x="224" y="15"/>
                </a:lnTo>
                <a:lnTo>
                  <a:pt x="234" y="17"/>
                </a:lnTo>
                <a:lnTo>
                  <a:pt x="239" y="19"/>
                </a:lnTo>
                <a:lnTo>
                  <a:pt x="247" y="21"/>
                </a:lnTo>
                <a:lnTo>
                  <a:pt x="254" y="23"/>
                </a:lnTo>
                <a:lnTo>
                  <a:pt x="260" y="25"/>
                </a:lnTo>
                <a:lnTo>
                  <a:pt x="266" y="25"/>
                </a:lnTo>
                <a:lnTo>
                  <a:pt x="270" y="27"/>
                </a:lnTo>
                <a:lnTo>
                  <a:pt x="273" y="27"/>
                </a:lnTo>
                <a:lnTo>
                  <a:pt x="279" y="29"/>
                </a:lnTo>
                <a:lnTo>
                  <a:pt x="283" y="31"/>
                </a:lnTo>
                <a:lnTo>
                  <a:pt x="285" y="32"/>
                </a:lnTo>
                <a:lnTo>
                  <a:pt x="279" y="44"/>
                </a:lnTo>
                <a:lnTo>
                  <a:pt x="277" y="44"/>
                </a:lnTo>
                <a:lnTo>
                  <a:pt x="273" y="42"/>
                </a:lnTo>
                <a:lnTo>
                  <a:pt x="268" y="42"/>
                </a:lnTo>
                <a:lnTo>
                  <a:pt x="260" y="40"/>
                </a:lnTo>
                <a:lnTo>
                  <a:pt x="251" y="38"/>
                </a:lnTo>
                <a:lnTo>
                  <a:pt x="241" y="36"/>
                </a:lnTo>
                <a:lnTo>
                  <a:pt x="235" y="34"/>
                </a:lnTo>
                <a:lnTo>
                  <a:pt x="230" y="34"/>
                </a:lnTo>
                <a:lnTo>
                  <a:pt x="224" y="32"/>
                </a:lnTo>
                <a:lnTo>
                  <a:pt x="218" y="32"/>
                </a:lnTo>
                <a:lnTo>
                  <a:pt x="213" y="31"/>
                </a:lnTo>
                <a:lnTo>
                  <a:pt x="207" y="31"/>
                </a:lnTo>
                <a:lnTo>
                  <a:pt x="201" y="29"/>
                </a:lnTo>
                <a:lnTo>
                  <a:pt x="196" y="29"/>
                </a:lnTo>
                <a:lnTo>
                  <a:pt x="190" y="27"/>
                </a:lnTo>
                <a:lnTo>
                  <a:pt x="182" y="27"/>
                </a:lnTo>
                <a:lnTo>
                  <a:pt x="178" y="25"/>
                </a:lnTo>
                <a:lnTo>
                  <a:pt x="173" y="25"/>
                </a:lnTo>
                <a:lnTo>
                  <a:pt x="167" y="23"/>
                </a:lnTo>
                <a:lnTo>
                  <a:pt x="163" y="23"/>
                </a:lnTo>
                <a:lnTo>
                  <a:pt x="158" y="21"/>
                </a:lnTo>
                <a:lnTo>
                  <a:pt x="154" y="21"/>
                </a:lnTo>
                <a:lnTo>
                  <a:pt x="148" y="19"/>
                </a:lnTo>
                <a:lnTo>
                  <a:pt x="142" y="19"/>
                </a:lnTo>
                <a:lnTo>
                  <a:pt x="144" y="48"/>
                </a:lnTo>
                <a:lnTo>
                  <a:pt x="110" y="15"/>
                </a:lnTo>
                <a:lnTo>
                  <a:pt x="118" y="48"/>
                </a:lnTo>
                <a:lnTo>
                  <a:pt x="83" y="21"/>
                </a:lnTo>
                <a:lnTo>
                  <a:pt x="91" y="48"/>
                </a:lnTo>
                <a:lnTo>
                  <a:pt x="59" y="29"/>
                </a:lnTo>
                <a:lnTo>
                  <a:pt x="57" y="29"/>
                </a:lnTo>
                <a:lnTo>
                  <a:pt x="53" y="31"/>
                </a:lnTo>
                <a:lnTo>
                  <a:pt x="49" y="31"/>
                </a:lnTo>
                <a:lnTo>
                  <a:pt x="43" y="34"/>
                </a:lnTo>
                <a:lnTo>
                  <a:pt x="38" y="36"/>
                </a:lnTo>
                <a:lnTo>
                  <a:pt x="32" y="38"/>
                </a:lnTo>
                <a:lnTo>
                  <a:pt x="26" y="42"/>
                </a:lnTo>
                <a:lnTo>
                  <a:pt x="23" y="44"/>
                </a:lnTo>
                <a:lnTo>
                  <a:pt x="15" y="50"/>
                </a:lnTo>
                <a:lnTo>
                  <a:pt x="7" y="55"/>
                </a:lnTo>
                <a:lnTo>
                  <a:pt x="4" y="59"/>
                </a:lnTo>
                <a:lnTo>
                  <a:pt x="2" y="6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pic>
        <p:nvPicPr>
          <p:cNvPr id="1033" name="Picture 8" descr="Cover-6Ed">
            <a:extLst>
              <a:ext uri="{FF2B5EF4-FFF2-40B4-BE49-F238E27FC236}">
                <a16:creationId xmlns:a16="http://schemas.microsoft.com/office/drawing/2014/main" id="{09FE16CA-1C16-4120-A527-DE70F697BD82}"/>
              </a:ext>
            </a:extLst>
          </p:cNvPr>
          <p:cNvPicPr>
            <a:picLocks noChangeAspect="1" noChangeArrowheads="1"/>
          </p:cNvPicPr>
          <p:nvPr userDrawn="1"/>
        </p:nvPicPr>
        <p:blipFill>
          <a:blip r:embed="rId18">
            <a:extLst>
              <a:ext uri="{28A0092B-C50C-407E-A947-70E740481C1C}">
                <a14:useLocalDpi xmlns:a14="http://schemas.microsoft.com/office/drawing/2010/main" val="0"/>
              </a:ext>
            </a:extLst>
          </a:blip>
          <a:srcRect/>
          <a:stretch>
            <a:fillRect/>
          </a:stretch>
        </p:blipFill>
        <p:spPr bwMode="auto">
          <a:xfrm>
            <a:off x="4763" y="0"/>
            <a:ext cx="742950" cy="9477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2804520850"/>
      </p:ext>
    </p:extLst>
  </p:cSld>
  <p:clrMap bg1="lt1" tx1="dk1" bg2="lt2" tx2="dk2" accent1="accent1" accent2="accent2" accent3="accent3" accent4="accent4" accent5="accent5" accent6="accent6" hlink="hlink" folHlink="folHlink"/>
  <p:sldLayoutIdLst>
    <p:sldLayoutId id="2147483763" r:id="rId1"/>
    <p:sldLayoutId id="2147483764" r:id="rId2"/>
    <p:sldLayoutId id="2147483765" r:id="rId3"/>
    <p:sldLayoutId id="2147483766" r:id="rId4"/>
    <p:sldLayoutId id="2147483767" r:id="rId5"/>
    <p:sldLayoutId id="2147483768" r:id="rId6"/>
    <p:sldLayoutId id="2147483769" r:id="rId7"/>
    <p:sldLayoutId id="2147483770" r:id="rId8"/>
    <p:sldLayoutId id="2147483771" r:id="rId9"/>
    <p:sldLayoutId id="2147483772" r:id="rId10"/>
    <p:sldLayoutId id="2147483773" r:id="rId11"/>
    <p:sldLayoutId id="2147483774" r:id="rId12"/>
    <p:sldLayoutId id="2147483775" r:id="rId13"/>
    <p:sldLayoutId id="2147483776" r:id="rId14"/>
    <p:sldLayoutId id="2147483761" r:id="rId15"/>
  </p:sldLayoutIdLst>
  <p:txStyles>
    <p:titleStyle>
      <a:lvl1pPr algn="ctr" rtl="0" eaLnBrk="0" fontAlgn="base" hangingPunct="0">
        <a:spcBef>
          <a:spcPct val="0"/>
        </a:spcBef>
        <a:spcAft>
          <a:spcPct val="0"/>
        </a:spcAft>
        <a:defRPr kumimoji="1" sz="2800" b="1">
          <a:solidFill>
            <a:srgbClr val="002060"/>
          </a:solidFill>
          <a:effectLst>
            <a:outerShdw blurRad="38100" dist="38100" dir="2700000" algn="tl">
              <a:srgbClr val="DDDDDD"/>
            </a:outerShdw>
          </a:effectLst>
          <a:latin typeface="+mj-lt"/>
          <a:ea typeface="ＭＳ Ｐゴシック" panose="020B0600070205080204" pitchFamily="34" charset="-128"/>
          <a:cs typeface="B Nazanin" panose="00000400000000000000" pitchFamily="2" charset="-78"/>
        </a:defRPr>
      </a:lvl1pPr>
      <a:lvl2pPr algn="ctr" rtl="0" eaLnBrk="0" fontAlgn="base" hangingPunct="0">
        <a:spcBef>
          <a:spcPct val="0"/>
        </a:spcBef>
        <a:spcAft>
          <a:spcPct val="0"/>
        </a:spcAft>
        <a:defRPr kumimoji="1" sz="2800" b="1">
          <a:solidFill>
            <a:srgbClr val="002060"/>
          </a:solidFill>
          <a:effectLst>
            <a:outerShdw blurRad="38100" dist="38100" dir="2700000" algn="tl">
              <a:srgbClr val="DDDDDD"/>
            </a:outerShdw>
          </a:effectLst>
          <a:latin typeface="Helvetica" charset="0"/>
          <a:ea typeface="ＭＳ Ｐゴシック" panose="020B0600070205080204" pitchFamily="34" charset="-128"/>
          <a:cs typeface="B Nazanin" panose="00000400000000000000" pitchFamily="2" charset="-78"/>
        </a:defRPr>
      </a:lvl2pPr>
      <a:lvl3pPr algn="ctr" rtl="0" eaLnBrk="0" fontAlgn="base" hangingPunct="0">
        <a:spcBef>
          <a:spcPct val="0"/>
        </a:spcBef>
        <a:spcAft>
          <a:spcPct val="0"/>
        </a:spcAft>
        <a:defRPr kumimoji="1" sz="2800" b="1">
          <a:solidFill>
            <a:srgbClr val="002060"/>
          </a:solidFill>
          <a:effectLst>
            <a:outerShdw blurRad="38100" dist="38100" dir="2700000" algn="tl">
              <a:srgbClr val="DDDDDD"/>
            </a:outerShdw>
          </a:effectLst>
          <a:latin typeface="Helvetica" charset="0"/>
          <a:ea typeface="ＭＳ Ｐゴシック" panose="020B0600070205080204" pitchFamily="34" charset="-128"/>
          <a:cs typeface="B Nazanin" panose="00000400000000000000" pitchFamily="2" charset="-78"/>
        </a:defRPr>
      </a:lvl3pPr>
      <a:lvl4pPr algn="ctr" rtl="0" eaLnBrk="0" fontAlgn="base" hangingPunct="0">
        <a:spcBef>
          <a:spcPct val="0"/>
        </a:spcBef>
        <a:spcAft>
          <a:spcPct val="0"/>
        </a:spcAft>
        <a:defRPr kumimoji="1" sz="2800" b="1">
          <a:solidFill>
            <a:srgbClr val="002060"/>
          </a:solidFill>
          <a:effectLst>
            <a:outerShdw blurRad="38100" dist="38100" dir="2700000" algn="tl">
              <a:srgbClr val="DDDDDD"/>
            </a:outerShdw>
          </a:effectLst>
          <a:latin typeface="Helvetica" charset="0"/>
          <a:ea typeface="ＭＳ Ｐゴシック" panose="020B0600070205080204" pitchFamily="34" charset="-128"/>
          <a:cs typeface="B Nazanin" panose="00000400000000000000" pitchFamily="2" charset="-78"/>
        </a:defRPr>
      </a:lvl4pPr>
      <a:lvl5pPr algn="ctr" rtl="0" eaLnBrk="0" fontAlgn="base" hangingPunct="0">
        <a:spcBef>
          <a:spcPct val="0"/>
        </a:spcBef>
        <a:spcAft>
          <a:spcPct val="0"/>
        </a:spcAft>
        <a:defRPr kumimoji="1" sz="2800" b="1">
          <a:solidFill>
            <a:srgbClr val="002060"/>
          </a:solidFill>
          <a:effectLst>
            <a:outerShdw blurRad="38100" dist="38100" dir="2700000" algn="tl">
              <a:srgbClr val="DDDDDD"/>
            </a:outerShdw>
          </a:effectLst>
          <a:latin typeface="Helvetica" charset="0"/>
          <a:ea typeface="ＭＳ Ｐゴシック" panose="020B0600070205080204" pitchFamily="34" charset="-128"/>
          <a:cs typeface="B Nazanin" panose="00000400000000000000" pitchFamily="2" charset="-78"/>
        </a:defRPr>
      </a:lvl5pPr>
      <a:lvl6pPr marL="457200" algn="ctr" rtl="0" eaLnBrk="0" fontAlgn="base" hangingPunct="0">
        <a:spcBef>
          <a:spcPct val="0"/>
        </a:spcBef>
        <a:spcAft>
          <a:spcPct val="0"/>
        </a:spcAft>
        <a:defRPr kumimoji="1" sz="3200" b="1">
          <a:solidFill>
            <a:schemeClr val="tx2"/>
          </a:solidFill>
          <a:effectLst>
            <a:outerShdw blurRad="38100" dist="38100" dir="2700000" algn="tl">
              <a:srgbClr val="DDDDDD"/>
            </a:outerShdw>
          </a:effectLst>
          <a:latin typeface="Helvetica" charset="0"/>
        </a:defRPr>
      </a:lvl6pPr>
      <a:lvl7pPr marL="914400" algn="ctr" rtl="0" eaLnBrk="0" fontAlgn="base" hangingPunct="0">
        <a:spcBef>
          <a:spcPct val="0"/>
        </a:spcBef>
        <a:spcAft>
          <a:spcPct val="0"/>
        </a:spcAft>
        <a:defRPr kumimoji="1" sz="3200" b="1">
          <a:solidFill>
            <a:schemeClr val="tx2"/>
          </a:solidFill>
          <a:effectLst>
            <a:outerShdw blurRad="38100" dist="38100" dir="2700000" algn="tl">
              <a:srgbClr val="DDDDDD"/>
            </a:outerShdw>
          </a:effectLst>
          <a:latin typeface="Helvetica" charset="0"/>
        </a:defRPr>
      </a:lvl7pPr>
      <a:lvl8pPr marL="1371600" algn="ctr" rtl="0" eaLnBrk="0" fontAlgn="base" hangingPunct="0">
        <a:spcBef>
          <a:spcPct val="0"/>
        </a:spcBef>
        <a:spcAft>
          <a:spcPct val="0"/>
        </a:spcAft>
        <a:defRPr kumimoji="1" sz="3200" b="1">
          <a:solidFill>
            <a:schemeClr val="tx2"/>
          </a:solidFill>
          <a:effectLst>
            <a:outerShdw blurRad="38100" dist="38100" dir="2700000" algn="tl">
              <a:srgbClr val="DDDDDD"/>
            </a:outerShdw>
          </a:effectLst>
          <a:latin typeface="Helvetica" charset="0"/>
        </a:defRPr>
      </a:lvl8pPr>
      <a:lvl9pPr marL="1828800" algn="ctr" rtl="0" eaLnBrk="0" fontAlgn="base" hangingPunct="0">
        <a:spcBef>
          <a:spcPct val="0"/>
        </a:spcBef>
        <a:spcAft>
          <a:spcPct val="0"/>
        </a:spcAft>
        <a:defRPr kumimoji="1" sz="3200" b="1">
          <a:solidFill>
            <a:schemeClr val="tx2"/>
          </a:solidFill>
          <a:effectLst>
            <a:outerShdw blurRad="38100" dist="38100" dir="2700000" algn="tl">
              <a:srgbClr val="DDDDDD"/>
            </a:outerShdw>
          </a:effectLst>
          <a:latin typeface="Helvetica" charset="0"/>
        </a:defRPr>
      </a:lvl9pPr>
    </p:titleStyle>
    <p:bodyStyle>
      <a:lvl1pPr marL="342900" indent="-342900" algn="l" rtl="0" eaLnBrk="0" fontAlgn="base" hangingPunct="0">
        <a:spcBef>
          <a:spcPct val="35000"/>
        </a:spcBef>
        <a:spcAft>
          <a:spcPct val="0"/>
        </a:spcAft>
        <a:buClr>
          <a:srgbClr val="002060"/>
        </a:buClr>
        <a:buSzPct val="100000"/>
        <a:buFont typeface="Monotype Sorts" charset="2"/>
        <a:buChar char="n"/>
        <a:defRPr kumimoji="1" sz="2000">
          <a:solidFill>
            <a:schemeClr val="tx1"/>
          </a:solidFill>
          <a:latin typeface="+mn-lt"/>
          <a:ea typeface="ＭＳ Ｐゴシック" panose="020B0600070205080204" pitchFamily="34" charset="-128"/>
          <a:cs typeface="B Nazanin" panose="00000400000000000000" pitchFamily="2" charset="-78"/>
        </a:defRPr>
      </a:lvl1pPr>
      <a:lvl2pPr marL="742950" indent="-285750" algn="l" rtl="0" eaLnBrk="0" fontAlgn="base" hangingPunct="0">
        <a:spcBef>
          <a:spcPct val="35000"/>
        </a:spcBef>
        <a:spcAft>
          <a:spcPct val="0"/>
        </a:spcAft>
        <a:buClr>
          <a:schemeClr val="folHlink"/>
        </a:buClr>
        <a:buSzPct val="95000"/>
        <a:buFont typeface="Monotype Sorts" charset="2"/>
        <a:buChar char="l"/>
        <a:defRPr kumimoji="1" sz="2000">
          <a:solidFill>
            <a:schemeClr val="tx1"/>
          </a:solidFill>
          <a:latin typeface="+mn-lt"/>
          <a:ea typeface="ＭＳ Ｐゴシック" panose="020B0600070205080204" pitchFamily="34" charset="-128"/>
          <a:cs typeface="B Nazanin" panose="00000400000000000000" pitchFamily="2" charset="-78"/>
        </a:defRPr>
      </a:lvl2pPr>
      <a:lvl3pPr marL="1085850" indent="-228600" algn="l" rtl="0" eaLnBrk="0" fontAlgn="base" hangingPunct="0">
        <a:spcBef>
          <a:spcPct val="35000"/>
        </a:spcBef>
        <a:spcAft>
          <a:spcPct val="0"/>
        </a:spcAft>
        <a:buClr>
          <a:srgbClr val="33CC33"/>
        </a:buClr>
        <a:buSzPct val="85000"/>
        <a:buFont typeface="Webdings" panose="05030102010509060703" pitchFamily="18" charset="2"/>
        <a:buChar char="4"/>
        <a:defRPr kumimoji="1" sz="2000">
          <a:solidFill>
            <a:schemeClr val="tx1"/>
          </a:solidFill>
          <a:latin typeface="+mn-lt"/>
          <a:ea typeface="ＭＳ Ｐゴシック" panose="020B0600070205080204" pitchFamily="34" charset="-128"/>
          <a:cs typeface="B Nazanin" panose="00000400000000000000" pitchFamily="2" charset="-78"/>
        </a:defRPr>
      </a:lvl3pPr>
      <a:lvl4pPr marL="1428750" indent="-228600" algn="l" rtl="0" eaLnBrk="0" fontAlgn="base" hangingPunct="0">
        <a:spcBef>
          <a:spcPct val="35000"/>
        </a:spcBef>
        <a:spcAft>
          <a:spcPct val="0"/>
        </a:spcAft>
        <a:buClr>
          <a:schemeClr val="hlink"/>
        </a:buClr>
        <a:buFont typeface="Times New Roman" panose="02020603050405020304" pitchFamily="18" charset="0"/>
        <a:buChar char="–"/>
        <a:defRPr kumimoji="1" sz="2000">
          <a:solidFill>
            <a:schemeClr val="tx1"/>
          </a:solidFill>
          <a:latin typeface="+mn-lt"/>
          <a:ea typeface="ＭＳ Ｐゴシック" panose="020B0600070205080204" pitchFamily="34" charset="-128"/>
          <a:cs typeface="B Nazanin" panose="00000400000000000000" pitchFamily="2" charset="-78"/>
        </a:defRPr>
      </a:lvl4pPr>
      <a:lvl5pPr marL="1771650" indent="-228600" algn="l" rtl="0" eaLnBrk="0" fontAlgn="base" hangingPunct="0">
        <a:spcBef>
          <a:spcPct val="35000"/>
        </a:spcBef>
        <a:spcAft>
          <a:spcPct val="0"/>
        </a:spcAft>
        <a:buClr>
          <a:schemeClr val="tx2"/>
        </a:buClr>
        <a:buSzPct val="75000"/>
        <a:buChar char="»"/>
        <a:defRPr kumimoji="1" sz="2000">
          <a:solidFill>
            <a:schemeClr val="tx1"/>
          </a:solidFill>
          <a:latin typeface="+mn-lt"/>
          <a:ea typeface="ＭＳ Ｐゴシック" panose="020B0600070205080204" pitchFamily="34" charset="-128"/>
          <a:cs typeface="B Nazanin" panose="00000400000000000000" pitchFamily="2" charset="-78"/>
        </a:defRPr>
      </a:lvl5pPr>
      <a:lvl6pPr marL="2228850" indent="-228600" algn="l" rtl="0" eaLnBrk="0" fontAlgn="base" hangingPunct="0">
        <a:spcBef>
          <a:spcPct val="35000"/>
        </a:spcBef>
        <a:spcAft>
          <a:spcPct val="0"/>
        </a:spcAft>
        <a:buClr>
          <a:schemeClr val="tx2"/>
        </a:buClr>
        <a:buSzPct val="75000"/>
        <a:buChar char="»"/>
        <a:defRPr kumimoji="1">
          <a:solidFill>
            <a:schemeClr val="tx1"/>
          </a:solidFill>
          <a:latin typeface="+mn-lt"/>
          <a:ea typeface="ＭＳ Ｐゴシック" charset="-128"/>
        </a:defRPr>
      </a:lvl6pPr>
      <a:lvl7pPr marL="2686050" indent="-228600" algn="l" rtl="0" eaLnBrk="0" fontAlgn="base" hangingPunct="0">
        <a:spcBef>
          <a:spcPct val="35000"/>
        </a:spcBef>
        <a:spcAft>
          <a:spcPct val="0"/>
        </a:spcAft>
        <a:buClr>
          <a:schemeClr val="tx2"/>
        </a:buClr>
        <a:buSzPct val="75000"/>
        <a:buChar char="»"/>
        <a:defRPr kumimoji="1">
          <a:solidFill>
            <a:schemeClr val="tx1"/>
          </a:solidFill>
          <a:latin typeface="+mn-lt"/>
          <a:ea typeface="ＭＳ Ｐゴシック" charset="-128"/>
        </a:defRPr>
      </a:lvl7pPr>
      <a:lvl8pPr marL="3143250" indent="-228600" algn="l" rtl="0" eaLnBrk="0" fontAlgn="base" hangingPunct="0">
        <a:spcBef>
          <a:spcPct val="35000"/>
        </a:spcBef>
        <a:spcAft>
          <a:spcPct val="0"/>
        </a:spcAft>
        <a:buClr>
          <a:schemeClr val="tx2"/>
        </a:buClr>
        <a:buSzPct val="75000"/>
        <a:buChar char="»"/>
        <a:defRPr kumimoji="1">
          <a:solidFill>
            <a:schemeClr val="tx1"/>
          </a:solidFill>
          <a:latin typeface="+mn-lt"/>
          <a:ea typeface="ＭＳ Ｐゴシック" charset="-128"/>
        </a:defRPr>
      </a:lvl8pPr>
      <a:lvl9pPr marL="3600450" indent="-228600" algn="l" rtl="0" eaLnBrk="0" fontAlgn="base" hangingPunct="0">
        <a:spcBef>
          <a:spcPct val="35000"/>
        </a:spcBef>
        <a:spcAft>
          <a:spcPct val="0"/>
        </a:spcAft>
        <a:buClr>
          <a:schemeClr val="tx2"/>
        </a:buClr>
        <a:buSzPct val="75000"/>
        <a:buChar char="»"/>
        <a:defRPr kumimoji="1">
          <a:solidFill>
            <a:schemeClr val="tx1"/>
          </a:solidFill>
          <a:latin typeface="+mn-lt"/>
          <a:ea typeface="ＭＳ Ｐゴシック" charset="-128"/>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mailto:a0taghinezhad@gmail.com" TargetMode="External"/><Relationship Id="rId2" Type="http://schemas.openxmlformats.org/officeDocument/2006/relationships/notesSlide" Target="../notesSlides/notesSlide1.xml"/><Relationship Id="rId1" Type="http://schemas.openxmlformats.org/officeDocument/2006/relationships/slideLayout" Target="../slideLayouts/slideLayout9.xml"/><Relationship Id="rId4" Type="http://schemas.openxmlformats.org/officeDocument/2006/relationships/image" Target="../media/image5.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6.jpe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4.xml"/><Relationship Id="rId1" Type="http://schemas.openxmlformats.org/officeDocument/2006/relationships/slideLayout" Target="../slideLayouts/slideLayout2.xml"/><Relationship Id="rId4" Type="http://schemas.openxmlformats.org/officeDocument/2006/relationships/image" Target="../media/image7.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3" Type="http://schemas.openxmlformats.org/officeDocument/2006/relationships/image" Target="../media/image7.jpeg"/><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3" Type="http://schemas.openxmlformats.org/officeDocument/2006/relationships/image" Target="../media/image8.jpeg"/><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41.xml"/><Relationship Id="rId1" Type="http://schemas.openxmlformats.org/officeDocument/2006/relationships/slideLayout" Target="../slideLayouts/slideLayout2.xml"/><Relationship Id="rId4" Type="http://schemas.openxmlformats.org/officeDocument/2006/relationships/image" Target="../media/image12.png"/></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3" Type="http://schemas.openxmlformats.org/officeDocument/2006/relationships/image" Target="../media/image14.wmf"/><Relationship Id="rId2" Type="http://schemas.openxmlformats.org/officeDocument/2006/relationships/notesSlide" Target="../notesSlides/notesSlide49.xml"/><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50.xml"/><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51.xm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s>
</file>

<file path=ppt/slides/_rels/slide66.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52.xml"/><Relationship Id="rId1" Type="http://schemas.openxmlformats.org/officeDocument/2006/relationships/slideLayout" Target="../slideLayouts/slideLayout2.xml"/><Relationship Id="rId6" Type="http://schemas.openxmlformats.org/officeDocument/2006/relationships/image" Target="../media/image23.png"/><Relationship Id="rId5" Type="http://schemas.openxmlformats.org/officeDocument/2006/relationships/image" Target="../media/image22.png"/><Relationship Id="rId4" Type="http://schemas.openxmlformats.org/officeDocument/2006/relationships/image" Target="../media/image21.png"/></Relationships>
</file>

<file path=ppt/slides/_rels/slide67.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56.xml"/><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3" Type="http://schemas.openxmlformats.org/officeDocument/2006/relationships/image" Target="../media/image25.jpeg"/><Relationship Id="rId2" Type="http://schemas.openxmlformats.org/officeDocument/2006/relationships/notesSlide" Target="../notesSlides/notesSlide59.xml"/><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3" Type="http://schemas.openxmlformats.org/officeDocument/2006/relationships/image" Target="../media/image26.jpeg"/><Relationship Id="rId2" Type="http://schemas.openxmlformats.org/officeDocument/2006/relationships/notesSlide" Target="../notesSlides/notesSlide61.xml"/><Relationship Id="rId1" Type="http://schemas.openxmlformats.org/officeDocument/2006/relationships/slideLayout" Target="../slideLayouts/slideLayout2.xml"/><Relationship Id="rId4" Type="http://schemas.openxmlformats.org/officeDocument/2006/relationships/image" Target="../media/image27.jpe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2" Type="http://schemas.openxmlformats.org/officeDocument/2006/relationships/notesSlide" Target="../notesSlides/notesSlide64.xml"/><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2" Type="http://schemas.openxmlformats.org/officeDocument/2006/relationships/notesSlide" Target="../notesSlides/notesSlide65.xml"/><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2" Type="http://schemas.openxmlformats.org/officeDocument/2006/relationships/notesSlide" Target="../notesSlides/notesSlide66.xml"/><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2" Type="http://schemas.openxmlformats.org/officeDocument/2006/relationships/notesSlide" Target="../notesSlides/notesSlide67.xml"/><Relationship Id="rId1" Type="http://schemas.openxmlformats.org/officeDocument/2006/relationships/slideLayout" Target="../slideLayouts/slideLayout2.xml"/></Relationships>
</file>

<file path=ppt/slides/_rels/slide85.xml.rels><?xml version="1.0" encoding="UTF-8" standalone="yes"?>
<Relationships xmlns="http://schemas.openxmlformats.org/package/2006/relationships"><Relationship Id="rId2" Type="http://schemas.openxmlformats.org/officeDocument/2006/relationships/notesSlide" Target="../notesSlides/notesSlide68.xml"/><Relationship Id="rId1" Type="http://schemas.openxmlformats.org/officeDocument/2006/relationships/slideLayout" Target="../slideLayouts/slideLayout2.xml"/></Relationships>
</file>

<file path=ppt/slides/_rels/slide86.xml.rels><?xml version="1.0" encoding="UTF-8" standalone="yes"?>
<Relationships xmlns="http://schemas.openxmlformats.org/package/2006/relationships"><Relationship Id="rId2" Type="http://schemas.openxmlformats.org/officeDocument/2006/relationships/notesSlide" Target="../notesSlides/notesSlide69.xml"/><Relationship Id="rId1" Type="http://schemas.openxmlformats.org/officeDocument/2006/relationships/slideLayout" Target="../slideLayouts/slideLayout2.xml"/></Relationships>
</file>

<file path=ppt/slides/_rels/slide87.xml.rels><?xml version="1.0" encoding="UTF-8" standalone="yes"?>
<Relationships xmlns="http://schemas.openxmlformats.org/package/2006/relationships"><Relationship Id="rId2" Type="http://schemas.openxmlformats.org/officeDocument/2006/relationships/notesSlide" Target="../notesSlides/notesSlide70.xml"/><Relationship Id="rId1" Type="http://schemas.openxmlformats.org/officeDocument/2006/relationships/slideLayout" Target="../slideLayouts/slideLayout2.xml"/></Relationships>
</file>

<file path=ppt/slides/_rels/slide88.xml.rels><?xml version="1.0" encoding="UTF-8" standalone="yes"?>
<Relationships xmlns="http://schemas.openxmlformats.org/package/2006/relationships"><Relationship Id="rId2" Type="http://schemas.openxmlformats.org/officeDocument/2006/relationships/notesSlide" Target="../notesSlides/notesSlide71.xml"/><Relationship Id="rId1" Type="http://schemas.openxmlformats.org/officeDocument/2006/relationships/slideLayout" Target="../slideLayouts/slideLayout2.xml"/></Relationships>
</file>

<file path=ppt/slides/_rels/slide89.xml.rels><?xml version="1.0" encoding="UTF-8" standalone="yes"?>
<Relationships xmlns="http://schemas.openxmlformats.org/package/2006/relationships"><Relationship Id="rId2" Type="http://schemas.openxmlformats.org/officeDocument/2006/relationships/notesSlide" Target="../notesSlides/notesSlide72.xml"/><Relationship Id="rId1" Type="http://schemas.openxmlformats.org/officeDocument/2006/relationships/slideLayout" Target="../slideLayouts/slideLayout2.xml"/></Relationships>
</file>

<file path=ppt/slides/_rels/slide90.xml.rels><?xml version="1.0" encoding="UTF-8" standalone="yes"?>
<Relationships xmlns="http://schemas.openxmlformats.org/package/2006/relationships"><Relationship Id="rId2" Type="http://schemas.openxmlformats.org/officeDocument/2006/relationships/notesSlide" Target="../notesSlides/notesSlide73.xml"/><Relationship Id="rId1" Type="http://schemas.openxmlformats.org/officeDocument/2006/relationships/slideLayout" Target="../slideLayouts/slideLayout6.xml"/></Relationships>
</file>

<file path=ppt/slides/_rels/slide91.xml.rels><?xml version="1.0" encoding="UTF-8" standalone="yes"?>
<Relationships xmlns="http://schemas.openxmlformats.org/package/2006/relationships"><Relationship Id="rId2" Type="http://schemas.openxmlformats.org/officeDocument/2006/relationships/notesSlide" Target="../notesSlides/notesSlide74.xml"/><Relationship Id="rId1" Type="http://schemas.openxmlformats.org/officeDocument/2006/relationships/slideLayout" Target="../slideLayouts/slideLayout2.xml"/></Relationships>
</file>

<file path=ppt/slides/_rels/slide92.xml.rels><?xml version="1.0" encoding="UTF-8" standalone="yes"?>
<Relationships xmlns="http://schemas.openxmlformats.org/package/2006/relationships"><Relationship Id="rId2" Type="http://schemas.openxmlformats.org/officeDocument/2006/relationships/notesSlide" Target="../notesSlides/notesSlide75.xml"/><Relationship Id="rId1" Type="http://schemas.openxmlformats.org/officeDocument/2006/relationships/slideLayout" Target="../slideLayouts/slideLayout2.xml"/></Relationships>
</file>

<file path=ppt/slides/_rels/slide93.xml.rels><?xml version="1.0" encoding="UTF-8" standalone="yes"?>
<Relationships xmlns="http://schemas.openxmlformats.org/package/2006/relationships"><Relationship Id="rId2" Type="http://schemas.openxmlformats.org/officeDocument/2006/relationships/notesSlide" Target="../notesSlides/notesSlide76.xml"/><Relationship Id="rId1" Type="http://schemas.openxmlformats.org/officeDocument/2006/relationships/slideLayout" Target="../slideLayouts/slideLayout2.xml"/></Relationships>
</file>

<file path=ppt/slides/_rels/slide94.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77.xml"/><Relationship Id="rId1" Type="http://schemas.openxmlformats.org/officeDocument/2006/relationships/slideLayout" Target="../slideLayouts/slideLayout2.xml"/></Relationships>
</file>

<file path=ppt/slides/_rels/slide95.xml.rels><?xml version="1.0" encoding="UTF-8" standalone="yes"?>
<Relationships xmlns="http://schemas.openxmlformats.org/package/2006/relationships"><Relationship Id="rId3" Type="http://schemas.openxmlformats.org/officeDocument/2006/relationships/image" Target="../media/image150.png"/><Relationship Id="rId2" Type="http://schemas.openxmlformats.org/officeDocument/2006/relationships/notesSlide" Target="../notesSlides/notesSlide78.xml"/><Relationship Id="rId1" Type="http://schemas.openxmlformats.org/officeDocument/2006/relationships/slideLayout" Target="../slideLayouts/slideLayout2.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7.xml.rels><?xml version="1.0" encoding="UTF-8" standalone="yes"?>
<Relationships xmlns="http://schemas.openxmlformats.org/package/2006/relationships"><Relationship Id="rId3" Type="http://schemas.openxmlformats.org/officeDocument/2006/relationships/image" Target="../media/image170.png"/><Relationship Id="rId2" Type="http://schemas.openxmlformats.org/officeDocument/2006/relationships/notesSlide" Target="../notesSlides/notesSlide79.xml"/><Relationship Id="rId1" Type="http://schemas.openxmlformats.org/officeDocument/2006/relationships/slideLayout" Target="../slideLayouts/slideLayout2.xml"/><Relationship Id="rId4" Type="http://schemas.openxmlformats.org/officeDocument/2006/relationships/image" Target="../media/image180.png"/></Relationships>
</file>

<file path=ppt/slides/_rels/slide98.xml.rels><?xml version="1.0" encoding="UTF-8" standalone="yes"?>
<Relationships xmlns="http://schemas.openxmlformats.org/package/2006/relationships"><Relationship Id="rId3" Type="http://schemas.openxmlformats.org/officeDocument/2006/relationships/image" Target="../media/image190.png"/><Relationship Id="rId2" Type="http://schemas.openxmlformats.org/officeDocument/2006/relationships/notesSlide" Target="../notesSlides/notesSlide80.xml"/><Relationship Id="rId1" Type="http://schemas.openxmlformats.org/officeDocument/2006/relationships/slideLayout" Target="../slideLayouts/slideLayout2.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0.xml.rels><?xml version="1.0" encoding="UTF-8" standalone="yes"?>
<Relationships xmlns="http://schemas.openxmlformats.org/package/2006/relationships"><Relationship Id="rId3" Type="http://schemas.openxmlformats.org/officeDocument/2006/relationships/image" Target="../media/image210.png"/><Relationship Id="rId2" Type="http://schemas.openxmlformats.org/officeDocument/2006/relationships/notesSlide" Target="../notesSlides/notesSlide81.xml"/><Relationship Id="rId1" Type="http://schemas.openxmlformats.org/officeDocument/2006/relationships/slideLayout" Target="../slideLayouts/slideLayout2.xml"/></Relationships>
</file>

<file path=ppt/slides/_rels/slide101.xml.rels><?xml version="1.0" encoding="UTF-8" standalone="yes"?>
<Relationships xmlns="http://schemas.openxmlformats.org/package/2006/relationships"><Relationship Id="rId3" Type="http://schemas.openxmlformats.org/officeDocument/2006/relationships/image" Target="../media/image220.png"/><Relationship Id="rId2" Type="http://schemas.openxmlformats.org/officeDocument/2006/relationships/notesSlide" Target="../notesSlides/notesSlide82.xml"/><Relationship Id="rId1" Type="http://schemas.openxmlformats.org/officeDocument/2006/relationships/slideLayout" Target="../slideLayouts/slideLayout2.xml"/></Relationships>
</file>

<file path=ppt/slides/_rels/slide102.xml.rels><?xml version="1.0" encoding="UTF-8" standalone="yes"?>
<Relationships xmlns="http://schemas.openxmlformats.org/package/2006/relationships"><Relationship Id="rId3" Type="http://schemas.openxmlformats.org/officeDocument/2006/relationships/image" Target="../media/image230.png"/><Relationship Id="rId2" Type="http://schemas.openxmlformats.org/officeDocument/2006/relationships/notesSlide" Target="../notesSlides/notesSlide83.xml"/><Relationship Id="rId1" Type="http://schemas.openxmlformats.org/officeDocument/2006/relationships/slideLayout" Target="../slideLayouts/slideLayout6.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4.xml.rels><?xml version="1.0" encoding="UTF-8" standalone="yes"?>
<Relationships xmlns="http://schemas.openxmlformats.org/package/2006/relationships"><Relationship Id="rId2" Type="http://schemas.openxmlformats.org/officeDocument/2006/relationships/notesSlide" Target="../notesSlides/notesSlide84.xml"/><Relationship Id="rId1" Type="http://schemas.openxmlformats.org/officeDocument/2006/relationships/slideLayout" Target="../slideLayouts/slideLayout2.xml"/></Relationships>
</file>

<file path=ppt/slides/_rels/slide105.xml.rels><?xml version="1.0" encoding="UTF-8" standalone="yes"?>
<Relationships xmlns="http://schemas.openxmlformats.org/package/2006/relationships"><Relationship Id="rId2" Type="http://schemas.openxmlformats.org/officeDocument/2006/relationships/notesSlide" Target="../notesSlides/notesSlide85.xml"/><Relationship Id="rId1" Type="http://schemas.openxmlformats.org/officeDocument/2006/relationships/slideLayout" Target="../slideLayouts/slideLayout2.xml"/></Relationships>
</file>

<file path=ppt/slides/_rels/slide106.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86.xml"/><Relationship Id="rId1" Type="http://schemas.openxmlformats.org/officeDocument/2006/relationships/slideLayout" Target="../slideLayouts/slideLayout2.xml"/><Relationship Id="rId4" Type="http://schemas.openxmlformats.org/officeDocument/2006/relationships/image" Target="../media/image26.png"/></Relationships>
</file>

<file path=ppt/slides/_rels/slide107.xml.rels><?xml version="1.0" encoding="UTF-8" standalone="yes"?>
<Relationships xmlns="http://schemas.openxmlformats.org/package/2006/relationships"><Relationship Id="rId2" Type="http://schemas.openxmlformats.org/officeDocument/2006/relationships/notesSlide" Target="../notesSlides/notesSlide87.xml"/><Relationship Id="rId1" Type="http://schemas.openxmlformats.org/officeDocument/2006/relationships/slideLayout" Target="../slideLayouts/slideLayout2.xml"/></Relationships>
</file>

<file path=ppt/slides/_rels/slide108.xml.rels><?xml version="1.0" encoding="UTF-8" standalone="yes"?>
<Relationships xmlns="http://schemas.openxmlformats.org/package/2006/relationships"><Relationship Id="rId2" Type="http://schemas.openxmlformats.org/officeDocument/2006/relationships/notesSlide" Target="../notesSlides/notesSlide88.xml"/><Relationship Id="rId1" Type="http://schemas.openxmlformats.org/officeDocument/2006/relationships/slideLayout" Target="../slideLayouts/slideLayout2.xml"/></Relationships>
</file>

<file path=ppt/slides/_rels/slide109.xml.rels><?xml version="1.0" encoding="UTF-8" standalone="yes"?>
<Relationships xmlns="http://schemas.openxmlformats.org/package/2006/relationships"><Relationship Id="rId2" Type="http://schemas.openxmlformats.org/officeDocument/2006/relationships/notesSlide" Target="../notesSlides/notesSlide89.xml"/><Relationship Id="rId1" Type="http://schemas.openxmlformats.org/officeDocument/2006/relationships/slideLayout" Target="../slideLayouts/slideLayout2.xml"/></Relationships>
</file>

<file path=ppt/slides/_rels/slide110.xml.rels><?xml version="1.0" encoding="UTF-8" standalone="yes"?>
<Relationships xmlns="http://schemas.openxmlformats.org/package/2006/relationships"><Relationship Id="rId2" Type="http://schemas.openxmlformats.org/officeDocument/2006/relationships/notesSlide" Target="../notesSlides/notesSlide90.xml"/><Relationship Id="rId1" Type="http://schemas.openxmlformats.org/officeDocument/2006/relationships/slideLayout" Target="../slideLayouts/slideLayout2.xml"/></Relationships>
</file>

<file path=ppt/slides/_rels/slide111.xml.rels><?xml version="1.0" encoding="UTF-8" standalone="yes"?>
<Relationships xmlns="http://schemas.openxmlformats.org/package/2006/relationships"><Relationship Id="rId2" Type="http://schemas.openxmlformats.org/officeDocument/2006/relationships/notesSlide" Target="../notesSlides/notesSlide91.xml"/><Relationship Id="rId1" Type="http://schemas.openxmlformats.org/officeDocument/2006/relationships/slideLayout" Target="../slideLayouts/slideLayout2.xml"/></Relationships>
</file>

<file path=ppt/slides/_rels/slide112.xml.rels><?xml version="1.0" encoding="UTF-8" standalone="yes"?>
<Relationships xmlns="http://schemas.openxmlformats.org/package/2006/relationships"><Relationship Id="rId2" Type="http://schemas.openxmlformats.org/officeDocument/2006/relationships/notesSlide" Target="../notesSlides/notesSlide92.xml"/><Relationship Id="rId1" Type="http://schemas.openxmlformats.org/officeDocument/2006/relationships/slideLayout" Target="../slideLayouts/slideLayout2.xml"/></Relationships>
</file>

<file path=ppt/slides/_rels/slide113.xml.rels><?xml version="1.0" encoding="UTF-8" standalone="yes"?>
<Relationships xmlns="http://schemas.openxmlformats.org/package/2006/relationships"><Relationship Id="rId2" Type="http://schemas.openxmlformats.org/officeDocument/2006/relationships/notesSlide" Target="../notesSlides/notesSlide93.xml"/><Relationship Id="rId1" Type="http://schemas.openxmlformats.org/officeDocument/2006/relationships/slideLayout" Target="../slideLayouts/slideLayout2.xml"/></Relationships>
</file>

<file path=ppt/slides/_rels/slide114.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94.xml"/><Relationship Id="rId1" Type="http://schemas.openxmlformats.org/officeDocument/2006/relationships/slideLayout" Target="../slideLayouts/slideLayout2.xml"/></Relationships>
</file>

<file path=ppt/slides/_rels/slide115.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95.xml"/><Relationship Id="rId1" Type="http://schemas.openxmlformats.org/officeDocument/2006/relationships/slideLayout" Target="../slideLayouts/slideLayout2.xml"/></Relationships>
</file>

<file path=ppt/slides/_rels/slide116.xml.rels><?xml version="1.0" encoding="UTF-8" standalone="yes"?>
<Relationships xmlns="http://schemas.openxmlformats.org/package/2006/relationships"><Relationship Id="rId2" Type="http://schemas.openxmlformats.org/officeDocument/2006/relationships/notesSlide" Target="../notesSlides/notesSlide96.xml"/><Relationship Id="rId1" Type="http://schemas.openxmlformats.org/officeDocument/2006/relationships/slideLayout" Target="../slideLayouts/slideLayout2.xml"/></Relationships>
</file>

<file path=ppt/slides/_rels/slide117.xml.rels><?xml version="1.0" encoding="UTF-8" standalone="yes"?>
<Relationships xmlns="http://schemas.openxmlformats.org/package/2006/relationships"><Relationship Id="rId2" Type="http://schemas.openxmlformats.org/officeDocument/2006/relationships/notesSlide" Target="../notesSlides/notesSlide97.xml"/><Relationship Id="rId1" Type="http://schemas.openxmlformats.org/officeDocument/2006/relationships/slideLayout" Target="../slideLayouts/slideLayout2.xml"/></Relationships>
</file>

<file path=ppt/slides/_rels/slide118.xml.rels><?xml version="1.0" encoding="UTF-8" standalone="yes"?>
<Relationships xmlns="http://schemas.openxmlformats.org/package/2006/relationships"><Relationship Id="rId2" Type="http://schemas.openxmlformats.org/officeDocument/2006/relationships/notesSlide" Target="../notesSlides/notesSlide98.xml"/><Relationship Id="rId1" Type="http://schemas.openxmlformats.org/officeDocument/2006/relationships/slideLayout" Target="../slideLayouts/slideLayout2.xml"/></Relationships>
</file>

<file path=ppt/slides/_rels/slide119.xml.rels><?xml version="1.0" encoding="UTF-8" standalone="yes"?>
<Relationships xmlns="http://schemas.openxmlformats.org/package/2006/relationships"><Relationship Id="rId2" Type="http://schemas.openxmlformats.org/officeDocument/2006/relationships/notesSlide" Target="../notesSlides/notesSlide99.xml"/><Relationship Id="rId1" Type="http://schemas.openxmlformats.org/officeDocument/2006/relationships/slideLayout" Target="../slideLayouts/slideLayout2.xml"/></Relationships>
</file>

<file path=ppt/slides/_rels/slide120.xml.rels><?xml version="1.0" encoding="UTF-8" standalone="yes"?>
<Relationships xmlns="http://schemas.openxmlformats.org/package/2006/relationships"><Relationship Id="rId2" Type="http://schemas.openxmlformats.org/officeDocument/2006/relationships/notesSlide" Target="../notesSlides/notesSlide100.xml"/><Relationship Id="rId1" Type="http://schemas.openxmlformats.org/officeDocument/2006/relationships/slideLayout" Target="../slideLayouts/slideLayout2.xml"/></Relationships>
</file>

<file path=ppt/slides/_rels/slide121.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101.xml"/><Relationship Id="rId1" Type="http://schemas.openxmlformats.org/officeDocument/2006/relationships/slideLayout" Target="../slideLayouts/slideLayout2.xml"/></Relationships>
</file>

<file path=ppt/slides/_rels/slide122.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102.xml"/><Relationship Id="rId1" Type="http://schemas.openxmlformats.org/officeDocument/2006/relationships/slideLayout" Target="../slideLayouts/slideLayout2.xml"/><Relationship Id="rId4" Type="http://schemas.openxmlformats.org/officeDocument/2006/relationships/image" Target="../media/image28.jpe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4.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103.xml"/><Relationship Id="rId1" Type="http://schemas.openxmlformats.org/officeDocument/2006/relationships/slideLayout" Target="../slideLayouts/slideLayout2.xml"/></Relationships>
</file>

<file path=ppt/slides/_rels/slide125.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104.xml"/><Relationship Id="rId1" Type="http://schemas.openxmlformats.org/officeDocument/2006/relationships/slideLayout" Target="../slideLayouts/slideLayout2.xml"/></Relationships>
</file>

<file path=ppt/slides/_rels/slide126.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105.xml"/><Relationship Id="rId1" Type="http://schemas.openxmlformats.org/officeDocument/2006/relationships/slideLayout" Target="../slideLayouts/slideLayout2.xml"/></Relationships>
</file>

<file path=ppt/slides/_rels/slide127.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106.xml"/><Relationship Id="rId1" Type="http://schemas.openxmlformats.org/officeDocument/2006/relationships/slideLayout" Target="../slideLayouts/slideLayout2.xml"/></Relationships>
</file>

<file path=ppt/slides/_rels/slide128.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107.xml"/><Relationship Id="rId1" Type="http://schemas.openxmlformats.org/officeDocument/2006/relationships/slideLayout" Target="../slideLayouts/slideLayout2.xml"/></Relationships>
</file>

<file path=ppt/slides/_rels/slide129.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108.xml"/><Relationship Id="rId1" Type="http://schemas.openxmlformats.org/officeDocument/2006/relationships/slideLayout" Target="../slideLayouts/slideLayout2.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1.xml.rels><?xml version="1.0" encoding="UTF-8" standalone="yes"?>
<Relationships xmlns="http://schemas.openxmlformats.org/package/2006/relationships"><Relationship Id="rId2" Type="http://schemas.openxmlformats.org/officeDocument/2006/relationships/notesSlide" Target="../notesSlides/notesSlide109.xml"/><Relationship Id="rId1" Type="http://schemas.openxmlformats.org/officeDocument/2006/relationships/slideLayout" Target="../slideLayouts/slideLayout2.xml"/></Relationships>
</file>

<file path=ppt/slides/_rels/slide132.xml.rels><?xml version="1.0" encoding="UTF-8" standalone="yes"?>
<Relationships xmlns="http://schemas.openxmlformats.org/package/2006/relationships"><Relationship Id="rId2" Type="http://schemas.openxmlformats.org/officeDocument/2006/relationships/notesSlide" Target="../notesSlides/notesSlide110.xml"/><Relationship Id="rId1" Type="http://schemas.openxmlformats.org/officeDocument/2006/relationships/slideLayout" Target="../slideLayouts/slideLayout2.xml"/></Relationships>
</file>

<file path=ppt/slides/_rels/slide133.xml.rels><?xml version="1.0" encoding="UTF-8" standalone="yes"?>
<Relationships xmlns="http://schemas.openxmlformats.org/package/2006/relationships"><Relationship Id="rId2" Type="http://schemas.openxmlformats.org/officeDocument/2006/relationships/notesSlide" Target="../notesSlides/notesSlide111.xml"/><Relationship Id="rId1" Type="http://schemas.openxmlformats.org/officeDocument/2006/relationships/slideLayout" Target="../slideLayouts/slideLayout2.xml"/></Relationships>
</file>

<file path=ppt/slides/_rels/slide134.xml.rels><?xml version="1.0" encoding="UTF-8" standalone="yes"?>
<Relationships xmlns="http://schemas.openxmlformats.org/package/2006/relationships"><Relationship Id="rId2" Type="http://schemas.openxmlformats.org/officeDocument/2006/relationships/notesSlide" Target="../notesSlides/notesSlide112.xml"/><Relationship Id="rId1" Type="http://schemas.openxmlformats.org/officeDocument/2006/relationships/slideLayout" Target="../slideLayouts/slideLayout2.xml"/></Relationships>
</file>

<file path=ppt/slides/_rels/slide135.xml.rels><?xml version="1.0" encoding="UTF-8" standalone="yes"?>
<Relationships xmlns="http://schemas.openxmlformats.org/package/2006/relationships"><Relationship Id="rId2" Type="http://schemas.openxmlformats.org/officeDocument/2006/relationships/notesSlide" Target="../notesSlides/notesSlide113.xml"/><Relationship Id="rId1" Type="http://schemas.openxmlformats.org/officeDocument/2006/relationships/slideLayout" Target="../slideLayouts/slideLayout2.xml"/></Relationships>
</file>

<file path=ppt/slides/_rels/slide136.xml.rels><?xml version="1.0" encoding="UTF-8" standalone="yes"?>
<Relationships xmlns="http://schemas.openxmlformats.org/package/2006/relationships"><Relationship Id="rId2" Type="http://schemas.openxmlformats.org/officeDocument/2006/relationships/notesSlide" Target="../notesSlides/notesSlide114.xml"/><Relationship Id="rId1" Type="http://schemas.openxmlformats.org/officeDocument/2006/relationships/slideLayout" Target="../slideLayouts/slideLayout2.xml"/></Relationships>
</file>

<file path=ppt/slides/_rels/slide137.xml.rels><?xml version="1.0" encoding="UTF-8" standalone="yes"?>
<Relationships xmlns="http://schemas.openxmlformats.org/package/2006/relationships"><Relationship Id="rId2" Type="http://schemas.openxmlformats.org/officeDocument/2006/relationships/notesSlide" Target="../notesSlides/notesSlide115.xml"/><Relationship Id="rId1" Type="http://schemas.openxmlformats.org/officeDocument/2006/relationships/slideLayout" Target="../slideLayouts/slideLayout2.xml"/></Relationships>
</file>

<file path=ppt/slides/_rels/slide138.xml.rels><?xml version="1.0" encoding="UTF-8" standalone="yes"?>
<Relationships xmlns="http://schemas.openxmlformats.org/package/2006/relationships"><Relationship Id="rId2" Type="http://schemas.openxmlformats.org/officeDocument/2006/relationships/notesSlide" Target="../notesSlides/notesSlide116.xml"/><Relationship Id="rId1" Type="http://schemas.openxmlformats.org/officeDocument/2006/relationships/slideLayout" Target="../slideLayouts/slideLayout2.xml"/></Relationships>
</file>

<file path=ppt/slides/_rels/slide139.xml.rels><?xml version="1.0" encoding="UTF-8" standalone="yes"?>
<Relationships xmlns="http://schemas.openxmlformats.org/package/2006/relationships"><Relationship Id="rId2" Type="http://schemas.openxmlformats.org/officeDocument/2006/relationships/notesSlide" Target="../notesSlides/notesSlide117.xml"/><Relationship Id="rId1" Type="http://schemas.openxmlformats.org/officeDocument/2006/relationships/slideLayout" Target="../slideLayouts/slideLayout12.xml"/></Relationships>
</file>

<file path=ppt/slides/_rels/slide140.xml.rels><?xml version="1.0" encoding="UTF-8" standalone="yes"?>
<Relationships xmlns="http://schemas.openxmlformats.org/package/2006/relationships"><Relationship Id="rId2" Type="http://schemas.openxmlformats.org/officeDocument/2006/relationships/notesSlide" Target="../notesSlides/notesSlide118.xml"/><Relationship Id="rId1" Type="http://schemas.openxmlformats.org/officeDocument/2006/relationships/slideLayout" Target="../slideLayouts/slideLayout2.xml"/></Relationships>
</file>

<file path=ppt/slides/_rels/slide141.xml.rels><?xml version="1.0" encoding="UTF-8" standalone="yes"?>
<Relationships xmlns="http://schemas.openxmlformats.org/package/2006/relationships"><Relationship Id="rId2" Type="http://schemas.openxmlformats.org/officeDocument/2006/relationships/notesSlide" Target="../notesSlides/notesSlide119.xml"/><Relationship Id="rId1" Type="http://schemas.openxmlformats.org/officeDocument/2006/relationships/slideLayout" Target="../slideLayouts/slideLayout2.xml"/></Relationships>
</file>

<file path=ppt/slides/_rels/slide142.xml.rels><?xml version="1.0" encoding="UTF-8" standalone="yes"?>
<Relationships xmlns="http://schemas.openxmlformats.org/package/2006/relationships"><Relationship Id="rId2" Type="http://schemas.openxmlformats.org/officeDocument/2006/relationships/notesSlide" Target="../notesSlides/notesSlide120.xml"/><Relationship Id="rId1" Type="http://schemas.openxmlformats.org/officeDocument/2006/relationships/slideLayout" Target="../slideLayouts/slideLayout2.xml"/></Relationships>
</file>

<file path=ppt/slides/_rels/slide143.xml.rels><?xml version="1.0" encoding="UTF-8" standalone="yes"?>
<Relationships xmlns="http://schemas.openxmlformats.org/package/2006/relationships"><Relationship Id="rId2" Type="http://schemas.openxmlformats.org/officeDocument/2006/relationships/notesSlide" Target="../notesSlides/notesSlide121.xml"/><Relationship Id="rId1" Type="http://schemas.openxmlformats.org/officeDocument/2006/relationships/slideLayout" Target="../slideLayouts/slideLayout2.xml"/></Relationships>
</file>

<file path=ppt/slides/_rels/slide144.xml.rels><?xml version="1.0" encoding="UTF-8" standalone="yes"?>
<Relationships xmlns="http://schemas.openxmlformats.org/package/2006/relationships"><Relationship Id="rId2" Type="http://schemas.openxmlformats.org/officeDocument/2006/relationships/notesSlide" Target="../notesSlides/notesSlide122.xml"/><Relationship Id="rId1" Type="http://schemas.openxmlformats.org/officeDocument/2006/relationships/slideLayout" Target="../slideLayouts/slideLayout2.xml"/></Relationships>
</file>

<file path=ppt/slides/_rels/slide145.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123.xml"/><Relationship Id="rId1" Type="http://schemas.openxmlformats.org/officeDocument/2006/relationships/slideLayout" Target="../slideLayouts/slideLayout2.xml"/></Relationships>
</file>

<file path=ppt/slides/_rels/slide146.xml.rels><?xml version="1.0" encoding="UTF-8" standalone="yes"?>
<Relationships xmlns="http://schemas.openxmlformats.org/package/2006/relationships"><Relationship Id="rId2" Type="http://schemas.openxmlformats.org/officeDocument/2006/relationships/notesSlide" Target="../notesSlides/notesSlide124.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50" name="Rectangle 2">
            <a:extLst>
              <a:ext uri="{FF2B5EF4-FFF2-40B4-BE49-F238E27FC236}">
                <a16:creationId xmlns:a16="http://schemas.microsoft.com/office/drawing/2014/main" id="{29FA7267-592D-48E8-A65B-FA6DE5F32885}"/>
              </a:ext>
            </a:extLst>
          </p:cNvPr>
          <p:cNvSpPr>
            <a:spLocks noGrp="1" noChangeArrowheads="1"/>
          </p:cNvSpPr>
          <p:nvPr>
            <p:ph type="title"/>
          </p:nvPr>
        </p:nvSpPr>
        <p:spPr>
          <a:xfrm>
            <a:off x="169863" y="817563"/>
            <a:ext cx="3959225" cy="1692275"/>
          </a:xfrm>
        </p:spPr>
        <p:txBody>
          <a:bodyPr/>
          <a:lstStyle/>
          <a:p>
            <a:pPr>
              <a:defRPr/>
            </a:pPr>
            <a:r>
              <a:rPr lang="fa-IR" sz="3200" dirty="0">
                <a:cs typeface="B Nazanin" panose="00000400000000000000" pitchFamily="2" charset="-78"/>
              </a:rPr>
              <a:t>اصول طراحی پایگاه داده</a:t>
            </a:r>
            <a:br>
              <a:rPr lang="en-US" sz="3200" dirty="0">
                <a:cs typeface="B Nazanin" panose="00000400000000000000" pitchFamily="2" charset="-78"/>
              </a:rPr>
            </a:br>
            <a:endParaRPr lang="en-AU" sz="3200" dirty="0">
              <a:cs typeface="B Nazanin" panose="00000400000000000000" pitchFamily="2" charset="-78"/>
            </a:endParaRPr>
          </a:p>
        </p:txBody>
      </p:sp>
      <p:sp>
        <p:nvSpPr>
          <p:cNvPr id="5123" name="Rectangle 3">
            <a:extLst>
              <a:ext uri="{FF2B5EF4-FFF2-40B4-BE49-F238E27FC236}">
                <a16:creationId xmlns:a16="http://schemas.microsoft.com/office/drawing/2014/main" id="{ED51C1D5-14E8-49FC-BE3B-A1533D38312B}"/>
              </a:ext>
            </a:extLst>
          </p:cNvPr>
          <p:cNvSpPr>
            <a:spLocks noGrp="1" noChangeArrowheads="1"/>
          </p:cNvSpPr>
          <p:nvPr>
            <p:ph type="body" sz="half" idx="2"/>
          </p:nvPr>
        </p:nvSpPr>
        <p:spPr>
          <a:xfrm>
            <a:off x="368300" y="2392363"/>
            <a:ext cx="3959225" cy="3200400"/>
          </a:xfrm>
        </p:spPr>
        <p:txBody>
          <a:bodyPr/>
          <a:lstStyle/>
          <a:p>
            <a:endParaRPr lang="en-US" altLang="en-US"/>
          </a:p>
          <a:p>
            <a:endParaRPr lang="en-US" altLang="en-US"/>
          </a:p>
          <a:p>
            <a:endParaRPr lang="en-US" altLang="en-US"/>
          </a:p>
        </p:txBody>
      </p:sp>
      <p:sp>
        <p:nvSpPr>
          <p:cNvPr id="5124" name="TextBox 5">
            <a:extLst>
              <a:ext uri="{FF2B5EF4-FFF2-40B4-BE49-F238E27FC236}">
                <a16:creationId xmlns:a16="http://schemas.microsoft.com/office/drawing/2014/main" id="{4FEE82E7-C616-41E2-B3BD-EE56DD0A5F55}"/>
              </a:ext>
            </a:extLst>
          </p:cNvPr>
          <p:cNvSpPr txBox="1">
            <a:spLocks noChangeArrowheads="1"/>
          </p:cNvSpPr>
          <p:nvPr/>
        </p:nvSpPr>
        <p:spPr bwMode="auto">
          <a:xfrm>
            <a:off x="61913" y="4826000"/>
            <a:ext cx="4572000" cy="708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35000"/>
              </a:spcBef>
              <a:buClr>
                <a:schemeClr val="tx2"/>
              </a:buClr>
              <a:buSzPct val="90000"/>
              <a:buFont typeface="Monotype Sorts" charset="0"/>
              <a:buChar char="n"/>
              <a:defRPr kumimoji="1">
                <a:solidFill>
                  <a:schemeClr val="tx1"/>
                </a:solidFill>
                <a:latin typeface="Helvetica" panose="020B0604020202020204" pitchFamily="34" charset="0"/>
                <a:ea typeface="MS PGothic" panose="020B0600070205080204" pitchFamily="34" charset="-128"/>
              </a:defRPr>
            </a:lvl1pPr>
            <a:lvl2pPr marL="742950" indent="-285750">
              <a:spcBef>
                <a:spcPct val="35000"/>
              </a:spcBef>
              <a:buClr>
                <a:schemeClr val="folHlink"/>
              </a:buClr>
              <a:buSzPct val="80000"/>
              <a:buFont typeface="Monotype Sorts" charset="0"/>
              <a:buChar char="l"/>
              <a:defRPr kumimoji="1">
                <a:solidFill>
                  <a:schemeClr val="tx1"/>
                </a:solidFill>
                <a:latin typeface="Helvetica" panose="020B0604020202020204" pitchFamily="34" charset="0"/>
                <a:ea typeface="MS PGothic" panose="020B0600070205080204" pitchFamily="34" charset="-128"/>
              </a:defRPr>
            </a:lvl2pPr>
            <a:lvl3pPr marL="1143000" indent="-228600">
              <a:spcBef>
                <a:spcPct val="35000"/>
              </a:spcBef>
              <a:buClr>
                <a:srgbClr val="33CC33"/>
              </a:buClr>
              <a:buSzPct val="75000"/>
              <a:buFont typeface="Webdings" panose="05030102010509060703" pitchFamily="18" charset="2"/>
              <a:buChar char="4"/>
              <a:defRPr kumimoji="1">
                <a:solidFill>
                  <a:schemeClr val="tx1"/>
                </a:solidFill>
                <a:latin typeface="Helvetica" panose="020B0604020202020204" pitchFamily="34" charset="0"/>
                <a:ea typeface="MS PGothic" panose="020B0600070205080204" pitchFamily="34" charset="-128"/>
              </a:defRPr>
            </a:lvl3pPr>
            <a:lvl4pPr marL="1600200" indent="-228600">
              <a:spcBef>
                <a:spcPct val="35000"/>
              </a:spcBef>
              <a:buClr>
                <a:schemeClr val="hlink"/>
              </a:buClr>
              <a:buFont typeface="Times New Roman" panose="02020603050405020304" pitchFamily="18" charset="0"/>
              <a:buChar char="–"/>
              <a:defRPr kumimoji="1">
                <a:solidFill>
                  <a:schemeClr val="tx1"/>
                </a:solidFill>
                <a:latin typeface="Helvetica" panose="020B0604020202020204" pitchFamily="34" charset="0"/>
                <a:ea typeface="MS PGothic" panose="020B0600070205080204" pitchFamily="34" charset="-128"/>
              </a:defRPr>
            </a:lvl4pPr>
            <a:lvl5pPr marL="2057400" indent="-228600">
              <a:spcBef>
                <a:spcPct val="35000"/>
              </a:spcBef>
              <a:buClr>
                <a:schemeClr val="tx2"/>
              </a:buClr>
              <a:buSzPct val="75000"/>
              <a:buChar char="»"/>
              <a:defRPr kumimoji="1">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35000"/>
              </a:spcBef>
              <a:spcAft>
                <a:spcPct val="0"/>
              </a:spcAft>
              <a:buClr>
                <a:schemeClr val="tx2"/>
              </a:buClr>
              <a:buSzPct val="75000"/>
              <a:buChar char="»"/>
              <a:defRPr kumimoji="1">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35000"/>
              </a:spcBef>
              <a:spcAft>
                <a:spcPct val="0"/>
              </a:spcAft>
              <a:buClr>
                <a:schemeClr val="tx2"/>
              </a:buClr>
              <a:buSzPct val="75000"/>
              <a:buChar char="»"/>
              <a:defRPr kumimoji="1">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35000"/>
              </a:spcBef>
              <a:spcAft>
                <a:spcPct val="0"/>
              </a:spcAft>
              <a:buClr>
                <a:schemeClr val="tx2"/>
              </a:buClr>
              <a:buSzPct val="75000"/>
              <a:buChar char="»"/>
              <a:defRPr kumimoji="1">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35000"/>
              </a:spcBef>
              <a:spcAft>
                <a:spcPct val="0"/>
              </a:spcAft>
              <a:buClr>
                <a:schemeClr val="tx2"/>
              </a:buClr>
              <a:buSzPct val="75000"/>
              <a:buChar char="»"/>
              <a:defRPr kumimoji="1">
                <a:solidFill>
                  <a:schemeClr val="tx1"/>
                </a:solidFill>
                <a:latin typeface="Helvetica" panose="020B0604020202020204" pitchFamily="34" charset="0"/>
                <a:ea typeface="MS PGothic" panose="020B0600070205080204" pitchFamily="34" charset="-128"/>
              </a:defRPr>
            </a:lvl9pPr>
          </a:lstStyle>
          <a:p>
            <a:pPr>
              <a:lnSpc>
                <a:spcPct val="90000"/>
              </a:lnSpc>
              <a:spcBef>
                <a:spcPct val="20000"/>
              </a:spcBef>
              <a:buClrTx/>
              <a:buSzTx/>
              <a:buFontTx/>
              <a:buNone/>
            </a:pPr>
            <a:r>
              <a:rPr kumimoji="0" lang="en-US" altLang="en-US" sz="2000">
                <a:latin typeface="Consolas" panose="020B0609020204030204" pitchFamily="49" charset="0"/>
                <a:cs typeface="Tahoma" panose="020B0604030504040204" pitchFamily="34" charset="0"/>
              </a:rPr>
              <a:t>Mail:</a:t>
            </a:r>
          </a:p>
          <a:p>
            <a:pPr>
              <a:lnSpc>
                <a:spcPct val="90000"/>
              </a:lnSpc>
              <a:spcBef>
                <a:spcPct val="20000"/>
              </a:spcBef>
              <a:buClrTx/>
              <a:buSzTx/>
              <a:buFontTx/>
              <a:buNone/>
            </a:pPr>
            <a:r>
              <a:rPr kumimoji="0" lang="en-US" altLang="en-US" sz="2000">
                <a:latin typeface="Consolas" panose="020B0609020204030204" pitchFamily="49" charset="0"/>
                <a:cs typeface="Tahoma" panose="020B0604030504040204" pitchFamily="34" charset="0"/>
              </a:rPr>
              <a:t> </a:t>
            </a:r>
            <a:r>
              <a:rPr kumimoji="0" lang="en-US" altLang="en-US" sz="2000">
                <a:latin typeface="Consolas" panose="020B0609020204030204" pitchFamily="49" charset="0"/>
                <a:cs typeface="Tahoma" panose="020B0604030504040204" pitchFamily="34" charset="0"/>
                <a:hlinkClick r:id="rId3"/>
              </a:rPr>
              <a:t>a0taghinezhad@gmail.com</a:t>
            </a:r>
            <a:endParaRPr kumimoji="0" lang="en-US" altLang="en-US" sz="2000">
              <a:latin typeface="Consolas" panose="020B0609020204030204" pitchFamily="49" charset="0"/>
              <a:cs typeface="Tahoma" panose="020B0604030504040204" pitchFamily="34" charset="0"/>
            </a:endParaRPr>
          </a:p>
        </p:txBody>
      </p:sp>
      <p:sp>
        <p:nvSpPr>
          <p:cNvPr id="5125" name="TextBox 7">
            <a:extLst>
              <a:ext uri="{FF2B5EF4-FFF2-40B4-BE49-F238E27FC236}">
                <a16:creationId xmlns:a16="http://schemas.microsoft.com/office/drawing/2014/main" id="{2FF850A1-8C25-4658-AC31-8379F57E63FF}"/>
              </a:ext>
            </a:extLst>
          </p:cNvPr>
          <p:cNvSpPr txBox="1">
            <a:spLocks noChangeArrowheads="1"/>
          </p:cNvSpPr>
          <p:nvPr/>
        </p:nvSpPr>
        <p:spPr bwMode="auto">
          <a:xfrm>
            <a:off x="244475" y="2873375"/>
            <a:ext cx="4572000" cy="4254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35000"/>
              </a:spcBef>
              <a:buClr>
                <a:schemeClr val="tx2"/>
              </a:buClr>
              <a:buSzPct val="90000"/>
              <a:buFont typeface="Monotype Sorts" charset="0"/>
              <a:buChar char="n"/>
              <a:defRPr kumimoji="1">
                <a:solidFill>
                  <a:schemeClr val="tx1"/>
                </a:solidFill>
                <a:latin typeface="Helvetica" panose="020B0604020202020204" pitchFamily="34" charset="0"/>
                <a:ea typeface="MS PGothic" panose="020B0600070205080204" pitchFamily="34" charset="-128"/>
              </a:defRPr>
            </a:lvl1pPr>
            <a:lvl2pPr marL="742950" indent="-285750">
              <a:spcBef>
                <a:spcPct val="35000"/>
              </a:spcBef>
              <a:buClr>
                <a:schemeClr val="folHlink"/>
              </a:buClr>
              <a:buSzPct val="80000"/>
              <a:buFont typeface="Monotype Sorts" charset="0"/>
              <a:buChar char="l"/>
              <a:defRPr kumimoji="1">
                <a:solidFill>
                  <a:schemeClr val="tx1"/>
                </a:solidFill>
                <a:latin typeface="Helvetica" panose="020B0604020202020204" pitchFamily="34" charset="0"/>
                <a:ea typeface="MS PGothic" panose="020B0600070205080204" pitchFamily="34" charset="-128"/>
              </a:defRPr>
            </a:lvl2pPr>
            <a:lvl3pPr marL="1143000" indent="-228600">
              <a:spcBef>
                <a:spcPct val="35000"/>
              </a:spcBef>
              <a:buClr>
                <a:srgbClr val="33CC33"/>
              </a:buClr>
              <a:buSzPct val="75000"/>
              <a:buFont typeface="Webdings" panose="05030102010509060703" pitchFamily="18" charset="2"/>
              <a:buChar char="4"/>
              <a:defRPr kumimoji="1">
                <a:solidFill>
                  <a:schemeClr val="tx1"/>
                </a:solidFill>
                <a:latin typeface="Helvetica" panose="020B0604020202020204" pitchFamily="34" charset="0"/>
                <a:ea typeface="MS PGothic" panose="020B0600070205080204" pitchFamily="34" charset="-128"/>
              </a:defRPr>
            </a:lvl3pPr>
            <a:lvl4pPr marL="1600200" indent="-228600">
              <a:spcBef>
                <a:spcPct val="35000"/>
              </a:spcBef>
              <a:buClr>
                <a:schemeClr val="hlink"/>
              </a:buClr>
              <a:buFont typeface="Times New Roman" panose="02020603050405020304" pitchFamily="18" charset="0"/>
              <a:buChar char="–"/>
              <a:defRPr kumimoji="1">
                <a:solidFill>
                  <a:schemeClr val="tx1"/>
                </a:solidFill>
                <a:latin typeface="Helvetica" panose="020B0604020202020204" pitchFamily="34" charset="0"/>
                <a:ea typeface="MS PGothic" panose="020B0600070205080204" pitchFamily="34" charset="-128"/>
              </a:defRPr>
            </a:lvl4pPr>
            <a:lvl5pPr marL="2057400" indent="-228600">
              <a:spcBef>
                <a:spcPct val="35000"/>
              </a:spcBef>
              <a:buClr>
                <a:schemeClr val="tx2"/>
              </a:buClr>
              <a:buSzPct val="75000"/>
              <a:buChar char="»"/>
              <a:defRPr kumimoji="1">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35000"/>
              </a:spcBef>
              <a:spcAft>
                <a:spcPct val="0"/>
              </a:spcAft>
              <a:buClr>
                <a:schemeClr val="tx2"/>
              </a:buClr>
              <a:buSzPct val="75000"/>
              <a:buChar char="»"/>
              <a:defRPr kumimoji="1">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35000"/>
              </a:spcBef>
              <a:spcAft>
                <a:spcPct val="0"/>
              </a:spcAft>
              <a:buClr>
                <a:schemeClr val="tx2"/>
              </a:buClr>
              <a:buSzPct val="75000"/>
              <a:buChar char="»"/>
              <a:defRPr kumimoji="1">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35000"/>
              </a:spcBef>
              <a:spcAft>
                <a:spcPct val="0"/>
              </a:spcAft>
              <a:buClr>
                <a:schemeClr val="tx2"/>
              </a:buClr>
              <a:buSzPct val="75000"/>
              <a:buChar char="»"/>
              <a:defRPr kumimoji="1">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35000"/>
              </a:spcBef>
              <a:spcAft>
                <a:spcPct val="0"/>
              </a:spcAft>
              <a:buClr>
                <a:schemeClr val="tx2"/>
              </a:buClr>
              <a:buSzPct val="75000"/>
              <a:buChar char="»"/>
              <a:defRPr kumimoji="1">
                <a:solidFill>
                  <a:schemeClr val="tx1"/>
                </a:solidFill>
                <a:latin typeface="Helvetica" panose="020B0604020202020204" pitchFamily="34" charset="0"/>
                <a:ea typeface="MS PGothic" panose="020B0600070205080204" pitchFamily="34" charset="-128"/>
              </a:defRPr>
            </a:lvl9pPr>
          </a:lstStyle>
          <a:p>
            <a:pPr>
              <a:lnSpc>
                <a:spcPct val="90000"/>
              </a:lnSpc>
              <a:spcBef>
                <a:spcPct val="0"/>
              </a:spcBef>
              <a:buClrTx/>
              <a:buSzTx/>
              <a:buFontTx/>
              <a:buNone/>
            </a:pPr>
            <a:r>
              <a:rPr kumimoji="0" lang="en-US" altLang="en-US" sz="2400" dirty="0">
                <a:latin typeface="Comic Sans MS" panose="030F0702030302020204" pitchFamily="66" charset="0"/>
              </a:rPr>
              <a:t>By Dr. Taghinezhad</a:t>
            </a:r>
          </a:p>
        </p:txBody>
      </p:sp>
      <p:pic>
        <p:nvPicPr>
          <p:cNvPr id="5126" name="Picture 2">
            <a:extLst>
              <a:ext uri="{FF2B5EF4-FFF2-40B4-BE49-F238E27FC236}">
                <a16:creationId xmlns:a16="http://schemas.microsoft.com/office/drawing/2014/main" id="{0200785A-BE07-49DD-BF0A-C98081D5EB49}"/>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129088" y="229024"/>
            <a:ext cx="4943475" cy="628198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36D0E67A-7F0B-46D5-BCFA-1287AF4962F3}"/>
              </a:ext>
            </a:extLst>
          </p:cNvPr>
          <p:cNvSpPr>
            <a:spLocks noGrp="1" noChangeArrowheads="1"/>
          </p:cNvSpPr>
          <p:nvPr>
            <p:ph type="ctrTitle"/>
          </p:nvPr>
        </p:nvSpPr>
        <p:spPr>
          <a:extLst>
            <a:ext uri="{909E8E84-426E-40dd-AFC4-6F175D3DCCD1}"/>
            <a:ext uri="{91240B29-F687-4f45-9708-019B960494DF}"/>
            <a:ext uri="{FAA26D3D-D897-4be2-8F04-BA451C77F1D7}"/>
          </a:extLst>
        </p:spPr>
        <p:txBody>
          <a:bodyPr/>
          <a:lstStyle/>
          <a:p>
            <a:pPr>
              <a:defRPr/>
            </a:pPr>
            <a:r>
              <a:rPr lang="fa-IR" dirty="0"/>
              <a:t>فصل ۷: </a:t>
            </a:r>
            <a:r>
              <a:rPr lang="fa-IR" dirty="0" err="1"/>
              <a:t>نرمال‌سازی</a:t>
            </a:r>
            <a:endParaRPr lang="en-US" altLang="en-US" dirty="0">
              <a:effectLst>
                <a:outerShdw blurRad="38100" dist="38100" dir="2700000" algn="tl">
                  <a:srgbClr val="C0C0C0"/>
                </a:outerShdw>
              </a:effectLst>
              <a:ea typeface="ＭＳ Ｐゴシック" pitchFamily="34" charset="-128"/>
            </a:endParaRPr>
          </a:p>
        </p:txBody>
      </p:sp>
    </p:spTree>
    <p:extLst>
      <p:ext uri="{BB962C8B-B14F-4D97-AF65-F5344CB8AC3E}">
        <p14:creationId xmlns:p14="http://schemas.microsoft.com/office/powerpoint/2010/main" val="339923743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48194" name="Rectangle 2"/>
          <p:cNvSpPr>
            <a:spLocks noGrp="1" noChangeArrowheads="1"/>
          </p:cNvSpPr>
          <p:nvPr>
            <p:ph type="title"/>
          </p:nvPr>
        </p:nvSpPr>
        <p:spPr>
          <a:xfrm>
            <a:off x="809625" y="104775"/>
            <a:ext cx="8077200" cy="609600"/>
          </a:xfrm>
        </p:spPr>
        <p:txBody>
          <a:bodyPr/>
          <a:lstStyle/>
          <a:p>
            <a:pPr>
              <a:defRPr/>
            </a:pPr>
            <a:r>
              <a:rPr lang="fa-IR" dirty="0" err="1"/>
              <a:t>سرفصل‌ها</a:t>
            </a:r>
            <a:endParaRPr lang="en-US" altLang="en-US" sz="2800" dirty="0">
              <a:effectLst>
                <a:outerShdw blurRad="38100" dist="38100" dir="2700000" algn="tl">
                  <a:srgbClr val="C0C0C0"/>
                </a:outerShdw>
              </a:effectLst>
              <a:ea typeface="ＭＳ Ｐゴシック" pitchFamily="34" charset="-128"/>
            </a:endParaRPr>
          </a:p>
        </p:txBody>
      </p:sp>
      <p:sp>
        <p:nvSpPr>
          <p:cNvPr id="6147" name="Rectangle 3"/>
          <p:cNvSpPr>
            <a:spLocks noGrp="1" noChangeArrowheads="1"/>
          </p:cNvSpPr>
          <p:nvPr>
            <p:ph idx="1"/>
          </p:nvPr>
        </p:nvSpPr>
        <p:spPr>
          <a:xfrm>
            <a:off x="774113" y="1163637"/>
            <a:ext cx="6920103" cy="4823803"/>
          </a:xfrm>
        </p:spPr>
        <p:txBody>
          <a:bodyPr/>
          <a:lstStyle/>
          <a:p>
            <a:pPr algn="r" rtl="1"/>
            <a:r>
              <a:rPr lang="fa-IR" dirty="0" err="1"/>
              <a:t>ویژگی‌های</a:t>
            </a:r>
            <a:r>
              <a:rPr lang="fa-IR" dirty="0"/>
              <a:t> یک طراحی </a:t>
            </a:r>
            <a:r>
              <a:rPr lang="fa-IR" dirty="0" err="1"/>
              <a:t>رابطه‌ای</a:t>
            </a:r>
            <a:r>
              <a:rPr lang="fa-IR" dirty="0"/>
              <a:t> خوب</a:t>
            </a:r>
          </a:p>
          <a:p>
            <a:pPr algn="r" rtl="1"/>
            <a:r>
              <a:rPr lang="fa-IR" dirty="0" err="1"/>
              <a:t>وابستگی‌های</a:t>
            </a:r>
            <a:r>
              <a:rPr lang="fa-IR" dirty="0"/>
              <a:t> </a:t>
            </a:r>
            <a:r>
              <a:rPr lang="fa-IR" dirty="0" err="1"/>
              <a:t>تابعی</a:t>
            </a:r>
            <a:endParaRPr lang="fa-IR" dirty="0"/>
          </a:p>
          <a:p>
            <a:pPr algn="r" rtl="1"/>
            <a:r>
              <a:rPr lang="fa-IR" dirty="0"/>
              <a:t>تجزیه جدول با استفاده از </a:t>
            </a:r>
            <a:r>
              <a:rPr lang="fa-IR" dirty="0" err="1"/>
              <a:t>وابستگی‌های</a:t>
            </a:r>
            <a:r>
              <a:rPr lang="fa-IR" dirty="0"/>
              <a:t> </a:t>
            </a:r>
            <a:r>
              <a:rPr lang="fa-IR" dirty="0" err="1"/>
              <a:t>تابعی</a:t>
            </a:r>
            <a:endParaRPr lang="fa-IR" dirty="0"/>
          </a:p>
          <a:p>
            <a:pPr algn="r" rtl="1"/>
            <a:r>
              <a:rPr lang="fa-IR" dirty="0"/>
              <a:t>نرمال </a:t>
            </a:r>
            <a:r>
              <a:rPr lang="fa-IR" dirty="0" err="1"/>
              <a:t>فرم‌ها</a:t>
            </a:r>
            <a:endParaRPr lang="fa-IR" dirty="0"/>
          </a:p>
          <a:p>
            <a:pPr algn="r" rtl="1"/>
            <a:r>
              <a:rPr lang="fa-IR" dirty="0"/>
              <a:t>تئوری وابستگی </a:t>
            </a:r>
            <a:r>
              <a:rPr lang="fa-IR" dirty="0" err="1"/>
              <a:t>تابعی</a:t>
            </a:r>
            <a:endParaRPr lang="fa-IR" dirty="0"/>
          </a:p>
          <a:p>
            <a:pPr algn="r" rtl="1"/>
            <a:r>
              <a:rPr lang="fa-IR" dirty="0" err="1"/>
              <a:t>الگوریتم‌های</a:t>
            </a:r>
            <a:r>
              <a:rPr lang="fa-IR" dirty="0"/>
              <a:t> تجزیه جدول با </a:t>
            </a:r>
            <a:r>
              <a:rPr lang="fa-IR" dirty="0" err="1"/>
              <a:t>وابستگی‌های</a:t>
            </a:r>
            <a:r>
              <a:rPr lang="fa-IR" dirty="0"/>
              <a:t> </a:t>
            </a:r>
            <a:r>
              <a:rPr lang="fa-IR" dirty="0" err="1"/>
              <a:t>تابعی</a:t>
            </a:r>
            <a:endParaRPr lang="fa-IR" dirty="0"/>
          </a:p>
          <a:p>
            <a:pPr algn="r" rtl="1"/>
            <a:r>
              <a:rPr lang="fa-IR" dirty="0"/>
              <a:t>تجزیه با </a:t>
            </a:r>
            <a:r>
              <a:rPr lang="fa-IR" dirty="0" err="1"/>
              <a:t>وابستگی‌های</a:t>
            </a:r>
            <a:r>
              <a:rPr lang="fa-IR" dirty="0"/>
              <a:t> </a:t>
            </a:r>
            <a:r>
              <a:rPr lang="fa-IR" dirty="0" err="1"/>
              <a:t>چندمقداری</a:t>
            </a:r>
            <a:endParaRPr lang="fa-IR" dirty="0"/>
          </a:p>
          <a:p>
            <a:pPr algn="r" rtl="1"/>
            <a:r>
              <a:rPr lang="fa-IR" dirty="0" err="1"/>
              <a:t>نرمال‌فرم‌های</a:t>
            </a:r>
            <a:r>
              <a:rPr lang="fa-IR" dirty="0"/>
              <a:t> بیشتر</a:t>
            </a:r>
          </a:p>
          <a:p>
            <a:pPr algn="r" rtl="1"/>
            <a:r>
              <a:rPr lang="fa-IR" dirty="0" err="1"/>
              <a:t>دامنه‌های</a:t>
            </a:r>
            <a:r>
              <a:rPr lang="fa-IR" dirty="0"/>
              <a:t> اتمی و نرمال فرم اول</a:t>
            </a:r>
          </a:p>
          <a:p>
            <a:pPr algn="r" rtl="1"/>
            <a:r>
              <a:rPr lang="fa-IR" dirty="0"/>
              <a:t>فرایند طراحی پایگاه داده</a:t>
            </a:r>
          </a:p>
          <a:p>
            <a:pPr algn="r" rtl="1"/>
            <a:r>
              <a:rPr lang="fa-IR" dirty="0" err="1"/>
              <a:t>مدل‌سازی</a:t>
            </a:r>
            <a:r>
              <a:rPr lang="fa-IR" dirty="0"/>
              <a:t> </a:t>
            </a:r>
            <a:r>
              <a:rPr lang="fa-IR" dirty="0" err="1"/>
              <a:t>داده‌های</a:t>
            </a:r>
            <a:r>
              <a:rPr lang="fa-IR" dirty="0"/>
              <a:t> زمانی</a:t>
            </a:r>
            <a:endParaRPr lang="en-US" altLang="en-US" dirty="0"/>
          </a:p>
        </p:txBody>
      </p:sp>
    </p:spTree>
    <p:extLst>
      <p:ext uri="{BB962C8B-B14F-4D97-AF65-F5344CB8AC3E}">
        <p14:creationId xmlns:p14="http://schemas.microsoft.com/office/powerpoint/2010/main" val="102852075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5" name="Rectangle 3"/>
          <p:cNvSpPr>
            <a:spLocks noGrp="1" noChangeArrowheads="1"/>
          </p:cNvSpPr>
          <p:nvPr>
            <p:ph idx="1"/>
          </p:nvPr>
        </p:nvSpPr>
        <p:spPr>
          <a:xfrm>
            <a:off x="1858963" y="2798064"/>
            <a:ext cx="5589587" cy="866274"/>
          </a:xfrm>
        </p:spPr>
        <p:txBody>
          <a:bodyPr/>
          <a:lstStyle/>
          <a:p>
            <a:pPr algn="ctr">
              <a:buFont typeface="Monotype Sorts" charset="2"/>
              <a:buNone/>
              <a:defRPr/>
            </a:pPr>
            <a:r>
              <a:rPr lang="fa-IR" sz="3200" dirty="0"/>
              <a:t>مروری بر </a:t>
            </a:r>
            <a:r>
              <a:rPr lang="fa-IR" sz="3200" dirty="0" err="1"/>
              <a:t>نرمال‌سازی</a:t>
            </a:r>
            <a:endParaRPr lang="en-US" altLang="en-US" sz="3200" b="1" dirty="0">
              <a:solidFill>
                <a:srgbClr val="002060"/>
              </a:solidFill>
              <a:effectLst>
                <a:outerShdw blurRad="38100" dist="38100" dir="2700000" algn="tl">
                  <a:srgbClr val="C0C0C0"/>
                </a:outerShdw>
              </a:effectLst>
              <a:latin typeface="+mj-lt"/>
              <a:ea typeface="ＭＳ Ｐゴシック" pitchFamily="34" charset="-128"/>
              <a:cs typeface="+mj-cs"/>
            </a:endParaRPr>
          </a:p>
        </p:txBody>
      </p:sp>
    </p:spTree>
    <p:extLst>
      <p:ext uri="{BB962C8B-B14F-4D97-AF65-F5344CB8AC3E}">
        <p14:creationId xmlns:p14="http://schemas.microsoft.com/office/powerpoint/2010/main" val="1312319725"/>
      </p:ext>
    </p:extLst>
  </p:cSld>
  <p:clrMapOvr>
    <a:masterClrMapping/>
  </p:clrMapOvr>
  <p:transition spd="slow"/>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3363" name="Title 1"/>
          <p:cNvSpPr>
            <a:spLocks noGrp="1"/>
          </p:cNvSpPr>
          <p:nvPr>
            <p:ph type="title"/>
          </p:nvPr>
        </p:nvSpPr>
        <p:spPr/>
        <p:txBody>
          <a:bodyPr anchor="ctr"/>
          <a:lstStyle/>
          <a:p>
            <a:pPr algn="ctr" rtl="1"/>
            <a:r>
              <a:rPr lang="fa-IR" altLang="en-US" sz="4400" b="1">
                <a:latin typeface="Titr" pitchFamily="2" charset="-78"/>
                <a:ea typeface="2  Titr"/>
                <a:cs typeface="2  Titr"/>
              </a:rPr>
              <a:t>جداول آنرمال</a:t>
            </a:r>
            <a:endParaRPr lang="en-US" altLang="en-US" sz="4400" b="1">
              <a:latin typeface="Titr" pitchFamily="2" charset="-78"/>
              <a:ea typeface="2  Titr"/>
              <a:cs typeface="2  Titr"/>
            </a:endParaRPr>
          </a:p>
        </p:txBody>
      </p:sp>
      <p:sp>
        <p:nvSpPr>
          <p:cNvPr id="143362" name="Content Placeholder 2"/>
          <p:cNvSpPr>
            <a:spLocks noGrp="1"/>
          </p:cNvSpPr>
          <p:nvPr>
            <p:ph idx="1"/>
          </p:nvPr>
        </p:nvSpPr>
        <p:spPr/>
        <p:txBody>
          <a:bodyPr>
            <a:normAutofit/>
          </a:bodyPr>
          <a:lstStyle/>
          <a:p>
            <a:pPr algn="r" rtl="1"/>
            <a:r>
              <a:rPr lang="fa-IR" sz="2800" dirty="0">
                <a:cs typeface="B Nazanin" panose="00000400000000000000" pitchFamily="2" charset="-78"/>
              </a:rPr>
              <a:t> </a:t>
            </a:r>
            <a:r>
              <a:rPr lang="fa-IR" sz="2800" b="1" dirty="0">
                <a:cs typeface="B Nazanin" panose="00000400000000000000" pitchFamily="2" charset="-78"/>
              </a:rPr>
              <a:t>نرمال سازی</a:t>
            </a:r>
          </a:p>
          <a:p>
            <a:pPr lvl="1" algn="r" rtl="1"/>
            <a:r>
              <a:rPr lang="fa-IR" sz="2400" dirty="0">
                <a:cs typeface="B Nazanin" panose="00000400000000000000" pitchFamily="2" charset="-78"/>
              </a:rPr>
              <a:t> روشی برای </a:t>
            </a:r>
            <a:r>
              <a:rPr lang="fa-IR" sz="2400" b="1" dirty="0">
                <a:cs typeface="B Nazanin" panose="00000400000000000000" pitchFamily="2" charset="-78"/>
              </a:rPr>
              <a:t>طراحی جداول </a:t>
            </a:r>
            <a:r>
              <a:rPr lang="fa-IR" sz="2400" dirty="0" err="1">
                <a:cs typeface="B Nazanin" panose="00000400000000000000" pitchFamily="2" charset="-78"/>
              </a:rPr>
              <a:t>پايگاه</a:t>
            </a:r>
            <a:r>
              <a:rPr lang="fa-IR" sz="2400" dirty="0">
                <a:cs typeface="B Nazanin" panose="00000400000000000000" pitchFamily="2" charset="-78"/>
              </a:rPr>
              <a:t> داده و داده ها </a:t>
            </a:r>
            <a:endParaRPr lang="en-US" sz="2400" dirty="0">
              <a:cs typeface="B Nazanin" panose="00000400000000000000" pitchFamily="2" charset="-78"/>
            </a:endParaRPr>
          </a:p>
          <a:p>
            <a:pPr lvl="1" algn="r" rtl="1"/>
            <a:r>
              <a:rPr lang="fa-IR" sz="2400" dirty="0">
                <a:cs typeface="B Nazanin" panose="00000400000000000000" pitchFamily="2" charset="-78"/>
              </a:rPr>
              <a:t>به </a:t>
            </a:r>
            <a:r>
              <a:rPr lang="fa-IR" sz="2400" dirty="0" err="1">
                <a:cs typeface="B Nazanin" panose="00000400000000000000" pitchFamily="2" charset="-78"/>
              </a:rPr>
              <a:t>طريقی</a:t>
            </a:r>
            <a:r>
              <a:rPr lang="fa-IR" sz="2400" dirty="0">
                <a:cs typeface="B Nazanin" panose="00000400000000000000" pitchFamily="2" charset="-78"/>
              </a:rPr>
              <a:t> که باعث کاهش </a:t>
            </a:r>
            <a:r>
              <a:rPr lang="fa-IR" sz="2400" b="1" dirty="0">
                <a:cs typeface="B Nazanin" panose="00000400000000000000" pitchFamily="2" charset="-78"/>
              </a:rPr>
              <a:t>افزونگی داده</a:t>
            </a:r>
            <a:endParaRPr lang="en-US" sz="2400" b="1" dirty="0">
              <a:cs typeface="B Nazanin" panose="00000400000000000000" pitchFamily="2" charset="-78"/>
            </a:endParaRPr>
          </a:p>
          <a:p>
            <a:pPr lvl="1" algn="r" rtl="1"/>
            <a:r>
              <a:rPr lang="fa-IR" sz="2400" dirty="0">
                <a:cs typeface="B Nazanin" panose="00000400000000000000" pitchFamily="2" charset="-78"/>
              </a:rPr>
              <a:t> رفع مشکلات </a:t>
            </a:r>
            <a:r>
              <a:rPr lang="fa-IR" sz="2400" b="1" dirty="0">
                <a:cs typeface="B Nazanin" panose="00000400000000000000" pitchFamily="2" charset="-78"/>
              </a:rPr>
              <a:t>ساختاری و </a:t>
            </a:r>
            <a:r>
              <a:rPr lang="fa-IR" sz="2400" b="1" dirty="0" err="1">
                <a:cs typeface="B Nazanin" panose="00000400000000000000" pitchFamily="2" charset="-78"/>
              </a:rPr>
              <a:t>آنومالی</a:t>
            </a:r>
            <a:endParaRPr lang="fa-IR" sz="2400" dirty="0">
              <a:cs typeface="B Nazanin" panose="00000400000000000000" pitchFamily="2" charset="-78"/>
            </a:endParaRPr>
          </a:p>
        </p:txBody>
      </p:sp>
      <p:sp>
        <p:nvSpPr>
          <p:cNvPr id="3" name="Slide Number Placeholder 2">
            <a:extLst>
              <a:ext uri="{FF2B5EF4-FFF2-40B4-BE49-F238E27FC236}">
                <a16:creationId xmlns:a16="http://schemas.microsoft.com/office/drawing/2014/main" id="{25D4E3E9-2887-4FCB-A0CF-A9EEB0E98D05}"/>
              </a:ext>
            </a:extLst>
          </p:cNvPr>
          <p:cNvSpPr>
            <a:spLocks noGrp="1"/>
          </p:cNvSpPr>
          <p:nvPr>
            <p:ph type="sldNum" sz="quarter" idx="4294967295"/>
          </p:nvPr>
        </p:nvSpPr>
        <p:spPr>
          <a:xfrm>
            <a:off x="7994650" y="6334125"/>
            <a:ext cx="1149350" cy="365125"/>
          </a:xfrm>
        </p:spPr>
        <p:txBody>
          <a:bodyPr/>
          <a:lstStyle/>
          <a:p>
            <a:fld id="{9B1BEC6B-D08C-4686-9D99-35ADA0E9E6CD}" type="slidenum">
              <a:rPr lang="en-US" smtClean="0"/>
              <a:t>5</a:t>
            </a:fld>
            <a:endParaRPr lang="en-US"/>
          </a:p>
        </p:txBody>
      </p:sp>
    </p:spTree>
    <p:extLst>
      <p:ext uri="{BB962C8B-B14F-4D97-AF65-F5344CB8AC3E}">
        <p14:creationId xmlns:p14="http://schemas.microsoft.com/office/powerpoint/2010/main" val="359373354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3363" name="Title 1"/>
          <p:cNvSpPr>
            <a:spLocks noGrp="1"/>
          </p:cNvSpPr>
          <p:nvPr>
            <p:ph type="title"/>
          </p:nvPr>
        </p:nvSpPr>
        <p:spPr/>
        <p:txBody>
          <a:bodyPr anchor="ctr"/>
          <a:lstStyle/>
          <a:p>
            <a:pPr algn="ctr" rtl="1"/>
            <a:r>
              <a:rPr lang="fa-IR" altLang="en-US" sz="4400" b="1">
                <a:latin typeface="Titr" pitchFamily="2" charset="-78"/>
                <a:ea typeface="2  Titr"/>
                <a:cs typeface="2  Titr"/>
              </a:rPr>
              <a:t>جداول آنرمال</a:t>
            </a:r>
            <a:endParaRPr lang="en-US" altLang="en-US" sz="4400" b="1">
              <a:latin typeface="Titr" pitchFamily="2" charset="-78"/>
              <a:ea typeface="2  Titr"/>
              <a:cs typeface="2  Titr"/>
            </a:endParaRPr>
          </a:p>
        </p:txBody>
      </p:sp>
      <p:sp>
        <p:nvSpPr>
          <p:cNvPr id="143362" name="Content Placeholder 2"/>
          <p:cNvSpPr>
            <a:spLocks noGrp="1"/>
          </p:cNvSpPr>
          <p:nvPr>
            <p:ph idx="1"/>
          </p:nvPr>
        </p:nvSpPr>
        <p:spPr/>
        <p:txBody>
          <a:bodyPr>
            <a:normAutofit/>
          </a:bodyPr>
          <a:lstStyle/>
          <a:p>
            <a:pPr algn="r" rtl="1"/>
            <a:r>
              <a:rPr lang="fa-IR" sz="2400" b="1" dirty="0">
                <a:cs typeface="B Nazanin" panose="00000400000000000000" pitchFamily="2" charset="-78"/>
              </a:rPr>
              <a:t>هدف از نرمال سازی </a:t>
            </a:r>
          </a:p>
          <a:p>
            <a:pPr lvl="1" algn="r" rtl="1"/>
            <a:r>
              <a:rPr lang="fa-IR" sz="3200" dirty="0">
                <a:cs typeface="B Nazanin" panose="00000400000000000000" pitchFamily="2" charset="-78"/>
              </a:rPr>
              <a:t>حذف افزونگی داده </a:t>
            </a:r>
          </a:p>
          <a:p>
            <a:pPr lvl="1" algn="r" rtl="1"/>
            <a:r>
              <a:rPr lang="fa-IR" sz="3200" dirty="0">
                <a:cs typeface="B Nazanin" panose="00000400000000000000" pitchFamily="2" charset="-78"/>
              </a:rPr>
              <a:t>باقی نگاه</a:t>
            </a:r>
            <a:r>
              <a:rPr lang="en-US" sz="3200" dirty="0">
                <a:cs typeface="B Nazanin" panose="00000400000000000000" pitchFamily="2" charset="-78"/>
              </a:rPr>
              <a:t> </a:t>
            </a:r>
            <a:r>
              <a:rPr lang="fa-IR" sz="3200" dirty="0">
                <a:cs typeface="B Nazanin" panose="00000400000000000000" pitchFamily="2" charset="-78"/>
              </a:rPr>
              <a:t>داشتن وابستگی بين داده های مرتبط است.</a:t>
            </a:r>
          </a:p>
          <a:p>
            <a:pPr lvl="1" algn="r" rtl="1"/>
            <a:r>
              <a:rPr lang="fa-IR" sz="3200" dirty="0">
                <a:cs typeface="B Nazanin" panose="00000400000000000000" pitchFamily="2" charset="-78"/>
              </a:rPr>
              <a:t> به </a:t>
            </a:r>
            <a:r>
              <a:rPr lang="fa-IR" sz="3200" dirty="0" err="1">
                <a:cs typeface="B Nazanin" panose="00000400000000000000" pitchFamily="2" charset="-78"/>
              </a:rPr>
              <a:t>اين</a:t>
            </a:r>
            <a:r>
              <a:rPr lang="fa-IR" sz="3200" dirty="0">
                <a:cs typeface="B Nazanin" panose="00000400000000000000" pitchFamily="2" charset="-78"/>
              </a:rPr>
              <a:t> طریق اندازه </a:t>
            </a:r>
            <a:r>
              <a:rPr lang="fa-IR" sz="3200" dirty="0" err="1">
                <a:cs typeface="B Nazanin" panose="00000400000000000000" pitchFamily="2" charset="-78"/>
              </a:rPr>
              <a:t>پايگاه</a:t>
            </a:r>
            <a:r>
              <a:rPr lang="fa-IR" sz="3200" dirty="0">
                <a:cs typeface="B Nazanin" panose="00000400000000000000" pitchFamily="2" charset="-78"/>
              </a:rPr>
              <a:t> داده را کاهش داده و </a:t>
            </a:r>
            <a:r>
              <a:rPr lang="fa-IR" sz="3200" dirty="0" err="1">
                <a:cs typeface="B Nazanin" panose="00000400000000000000" pitchFamily="2" charset="-78"/>
              </a:rPr>
              <a:t>ذخيره</a:t>
            </a:r>
            <a:r>
              <a:rPr lang="fa-IR" sz="3200" dirty="0">
                <a:cs typeface="B Nazanin" panose="00000400000000000000" pitchFamily="2" charset="-78"/>
              </a:rPr>
              <a:t> منطقی داده را </a:t>
            </a:r>
            <a:r>
              <a:rPr lang="fa-IR" sz="3200" dirty="0" err="1">
                <a:cs typeface="B Nazanin" panose="00000400000000000000" pitchFamily="2" charset="-78"/>
              </a:rPr>
              <a:t>تضمين</a:t>
            </a:r>
            <a:r>
              <a:rPr lang="fa-IR" sz="3200" dirty="0">
                <a:cs typeface="B Nazanin" panose="00000400000000000000" pitchFamily="2" charset="-78"/>
              </a:rPr>
              <a:t> می کند.</a:t>
            </a:r>
          </a:p>
        </p:txBody>
      </p:sp>
      <p:sp>
        <p:nvSpPr>
          <p:cNvPr id="3" name="Slide Number Placeholder 2">
            <a:extLst>
              <a:ext uri="{FF2B5EF4-FFF2-40B4-BE49-F238E27FC236}">
                <a16:creationId xmlns:a16="http://schemas.microsoft.com/office/drawing/2014/main" id="{02C3B07C-D2D1-4EFD-B62B-6D2053BAFC5F}"/>
              </a:ext>
            </a:extLst>
          </p:cNvPr>
          <p:cNvSpPr>
            <a:spLocks noGrp="1"/>
          </p:cNvSpPr>
          <p:nvPr>
            <p:ph type="sldNum" sz="quarter" idx="4294967295"/>
          </p:nvPr>
        </p:nvSpPr>
        <p:spPr>
          <a:xfrm>
            <a:off x="7994650" y="6334125"/>
            <a:ext cx="1149350" cy="365125"/>
          </a:xfrm>
        </p:spPr>
        <p:txBody>
          <a:bodyPr/>
          <a:lstStyle/>
          <a:p>
            <a:fld id="{9B1BEC6B-D08C-4686-9D99-35ADA0E9E6CD}" type="slidenum">
              <a:rPr lang="en-US" smtClean="0"/>
              <a:t>6</a:t>
            </a:fld>
            <a:endParaRPr lang="en-US"/>
          </a:p>
        </p:txBody>
      </p:sp>
    </p:spTree>
    <p:extLst>
      <p:ext uri="{BB962C8B-B14F-4D97-AF65-F5344CB8AC3E}">
        <p14:creationId xmlns:p14="http://schemas.microsoft.com/office/powerpoint/2010/main" val="310101590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D033AF14-6EAC-4C24-8AC5-F34CF29D928B}"/>
              </a:ext>
            </a:extLst>
          </p:cNvPr>
          <p:cNvSpPr>
            <a:spLocks noGrp="1"/>
          </p:cNvSpPr>
          <p:nvPr>
            <p:ph type="title"/>
          </p:nvPr>
        </p:nvSpPr>
        <p:spPr>
          <a:xfrm>
            <a:off x="625537" y="124671"/>
            <a:ext cx="8176727" cy="1609344"/>
          </a:xfrm>
        </p:spPr>
        <p:txBody>
          <a:bodyPr>
            <a:noAutofit/>
          </a:bodyPr>
          <a:lstStyle/>
          <a:p>
            <a:pPr algn="r" rtl="1"/>
            <a:r>
              <a:rPr lang="fa-IR" sz="2800" dirty="0">
                <a:solidFill>
                  <a:srgbClr val="000000"/>
                </a:solidFill>
                <a:latin typeface="Tahoma" panose="020B0604030504040204" pitchFamily="34" charset="0"/>
                <a:ea typeface="+mn-ea"/>
                <a:cs typeface="B Nazanin" panose="00000400000000000000" pitchFamily="2" charset="-78"/>
              </a:rPr>
              <a:t>مثال. جدول زير که اطلاعات مربوط به خريد مشتريان را دارد درنظر بگيريد:</a:t>
            </a:r>
            <a:br>
              <a:rPr lang="en-US" altLang="en-US" sz="2800" dirty="0">
                <a:solidFill>
                  <a:srgbClr val="000000"/>
                </a:solidFill>
                <a:latin typeface="Tahoma" panose="020B0604030504040204" pitchFamily="34" charset="0"/>
                <a:ea typeface="+mn-ea"/>
                <a:cs typeface="B Nazanin" panose="00000400000000000000" pitchFamily="2" charset="-78"/>
              </a:rPr>
            </a:br>
            <a:endParaRPr lang="en-US" sz="2800" dirty="0">
              <a:solidFill>
                <a:srgbClr val="000000"/>
              </a:solidFill>
              <a:latin typeface="Tahoma" panose="020B0604030504040204" pitchFamily="34" charset="0"/>
              <a:ea typeface="+mn-ea"/>
              <a:cs typeface="B Nazanin" panose="00000400000000000000" pitchFamily="2" charset="-78"/>
            </a:endParaRPr>
          </a:p>
        </p:txBody>
      </p:sp>
      <p:sp>
        <p:nvSpPr>
          <p:cNvPr id="143362" name="Content Placeholder 2"/>
          <p:cNvSpPr>
            <a:spLocks noGrp="1"/>
          </p:cNvSpPr>
          <p:nvPr>
            <p:ph idx="1"/>
          </p:nvPr>
        </p:nvSpPr>
        <p:spPr>
          <a:xfrm>
            <a:off x="625537" y="1371600"/>
            <a:ext cx="8229600" cy="4694237"/>
          </a:xfrm>
        </p:spPr>
        <p:txBody>
          <a:bodyPr>
            <a:normAutofit/>
          </a:bodyPr>
          <a:lstStyle/>
          <a:p>
            <a:pPr marL="0" lvl="0" indent="0" algn="r" rtl="1" eaLnBrk="0" fontAlgn="base" hangingPunct="0">
              <a:lnSpc>
                <a:spcPct val="100000"/>
              </a:lnSpc>
              <a:spcBef>
                <a:spcPct val="0"/>
              </a:spcBef>
              <a:spcAft>
                <a:spcPct val="0"/>
              </a:spcAft>
              <a:buClrTx/>
              <a:buSzTx/>
              <a:buNone/>
            </a:pPr>
            <a:r>
              <a:rPr lang="ar-SA" altLang="en-US" sz="3200" dirty="0">
                <a:solidFill>
                  <a:srgbClr val="000000"/>
                </a:solidFill>
                <a:latin typeface="Tahoma" panose="020B0604030504040204" pitchFamily="34" charset="0"/>
                <a:cs typeface="B Nazanin" panose="00000400000000000000" pitchFamily="2" charset="-78"/>
              </a:rPr>
              <a:t>همانطور که مشاهده می شود با هر فروش داده ها در جدول تکرار می شوند</a:t>
            </a:r>
            <a:r>
              <a:rPr lang="ar-SA" altLang="en-US" sz="1800" dirty="0">
                <a:solidFill>
                  <a:srgbClr val="000000"/>
                </a:solidFill>
                <a:latin typeface="Tahoma" panose="020B0604030504040204" pitchFamily="34" charset="0"/>
                <a:cs typeface="B Nazanin" panose="00000400000000000000" pitchFamily="2" charset="-78"/>
              </a:rPr>
              <a:t>. </a:t>
            </a:r>
            <a:endParaRPr lang="ar-SA" altLang="en-US" sz="3600" dirty="0">
              <a:latin typeface="Arial" panose="020B0604020202020204" pitchFamily="34" charset="0"/>
              <a:cs typeface="B Nazanin" panose="00000400000000000000" pitchFamily="2" charset="-78"/>
            </a:endParaRPr>
          </a:p>
        </p:txBody>
      </p:sp>
      <p:sp>
        <p:nvSpPr>
          <p:cNvPr id="3" name="Slide Number Placeholder 2">
            <a:extLst>
              <a:ext uri="{FF2B5EF4-FFF2-40B4-BE49-F238E27FC236}">
                <a16:creationId xmlns:a16="http://schemas.microsoft.com/office/drawing/2014/main" id="{F920533E-D739-4EA1-BD67-6314C5ED5554}"/>
              </a:ext>
            </a:extLst>
          </p:cNvPr>
          <p:cNvSpPr>
            <a:spLocks noGrp="1"/>
          </p:cNvSpPr>
          <p:nvPr>
            <p:ph type="sldNum" sz="quarter" idx="4294967295"/>
          </p:nvPr>
        </p:nvSpPr>
        <p:spPr>
          <a:xfrm>
            <a:off x="7994650" y="6334125"/>
            <a:ext cx="1149350" cy="365125"/>
          </a:xfrm>
        </p:spPr>
        <p:txBody>
          <a:bodyPr/>
          <a:lstStyle/>
          <a:p>
            <a:fld id="{9B1BEC6B-D08C-4686-9D99-35ADA0E9E6CD}" type="slidenum">
              <a:rPr lang="en-US" smtClean="0"/>
              <a:t>7</a:t>
            </a:fld>
            <a:endParaRPr lang="en-US"/>
          </a:p>
        </p:txBody>
      </p:sp>
      <p:graphicFrame>
        <p:nvGraphicFramePr>
          <p:cNvPr id="8" name="Table 7">
            <a:extLst>
              <a:ext uri="{FF2B5EF4-FFF2-40B4-BE49-F238E27FC236}">
                <a16:creationId xmlns:a16="http://schemas.microsoft.com/office/drawing/2014/main" id="{D6BF207B-032B-4D46-8744-81983EA40E17}"/>
              </a:ext>
            </a:extLst>
          </p:cNvPr>
          <p:cNvGraphicFramePr>
            <a:graphicFrameLocks noGrp="1"/>
          </p:cNvGraphicFramePr>
          <p:nvPr/>
        </p:nvGraphicFramePr>
        <p:xfrm>
          <a:off x="81497" y="2964319"/>
          <a:ext cx="8981005" cy="2682351"/>
        </p:xfrm>
        <a:graphic>
          <a:graphicData uri="http://schemas.openxmlformats.org/drawingml/2006/table">
            <a:tbl>
              <a:tblPr firstRow="1" firstCol="1" bandRow="1">
                <a:tableStyleId>{616DA210-FB5B-4158-B5E0-FEB733F419BA}</a:tableStyleId>
              </a:tblPr>
              <a:tblGrid>
                <a:gridCol w="586937">
                  <a:extLst>
                    <a:ext uri="{9D8B030D-6E8A-4147-A177-3AD203B41FA5}">
                      <a16:colId xmlns:a16="http://schemas.microsoft.com/office/drawing/2014/main" val="234041042"/>
                    </a:ext>
                  </a:extLst>
                </a:gridCol>
                <a:gridCol w="940021">
                  <a:extLst>
                    <a:ext uri="{9D8B030D-6E8A-4147-A177-3AD203B41FA5}">
                      <a16:colId xmlns:a16="http://schemas.microsoft.com/office/drawing/2014/main" val="3415118693"/>
                    </a:ext>
                  </a:extLst>
                </a:gridCol>
                <a:gridCol w="922588">
                  <a:extLst>
                    <a:ext uri="{9D8B030D-6E8A-4147-A177-3AD203B41FA5}">
                      <a16:colId xmlns:a16="http://schemas.microsoft.com/office/drawing/2014/main" val="3881982512"/>
                    </a:ext>
                  </a:extLst>
                </a:gridCol>
                <a:gridCol w="461294">
                  <a:extLst>
                    <a:ext uri="{9D8B030D-6E8A-4147-A177-3AD203B41FA5}">
                      <a16:colId xmlns:a16="http://schemas.microsoft.com/office/drawing/2014/main" val="2484215510"/>
                    </a:ext>
                  </a:extLst>
                </a:gridCol>
                <a:gridCol w="682078">
                  <a:extLst>
                    <a:ext uri="{9D8B030D-6E8A-4147-A177-3AD203B41FA5}">
                      <a16:colId xmlns:a16="http://schemas.microsoft.com/office/drawing/2014/main" val="1297653461"/>
                    </a:ext>
                  </a:extLst>
                </a:gridCol>
                <a:gridCol w="1156146">
                  <a:extLst>
                    <a:ext uri="{9D8B030D-6E8A-4147-A177-3AD203B41FA5}">
                      <a16:colId xmlns:a16="http://schemas.microsoft.com/office/drawing/2014/main" val="3484224265"/>
                    </a:ext>
                  </a:extLst>
                </a:gridCol>
                <a:gridCol w="847841">
                  <a:extLst>
                    <a:ext uri="{9D8B030D-6E8A-4147-A177-3AD203B41FA5}">
                      <a16:colId xmlns:a16="http://schemas.microsoft.com/office/drawing/2014/main" val="3482110401"/>
                    </a:ext>
                  </a:extLst>
                </a:gridCol>
                <a:gridCol w="770764">
                  <a:extLst>
                    <a:ext uri="{9D8B030D-6E8A-4147-A177-3AD203B41FA5}">
                      <a16:colId xmlns:a16="http://schemas.microsoft.com/office/drawing/2014/main" val="1813858957"/>
                    </a:ext>
                  </a:extLst>
                </a:gridCol>
                <a:gridCol w="770764">
                  <a:extLst>
                    <a:ext uri="{9D8B030D-6E8A-4147-A177-3AD203B41FA5}">
                      <a16:colId xmlns:a16="http://schemas.microsoft.com/office/drawing/2014/main" val="1355875302"/>
                    </a:ext>
                  </a:extLst>
                </a:gridCol>
                <a:gridCol w="1310300">
                  <a:extLst>
                    <a:ext uri="{9D8B030D-6E8A-4147-A177-3AD203B41FA5}">
                      <a16:colId xmlns:a16="http://schemas.microsoft.com/office/drawing/2014/main" val="1675925667"/>
                    </a:ext>
                  </a:extLst>
                </a:gridCol>
                <a:gridCol w="532272">
                  <a:extLst>
                    <a:ext uri="{9D8B030D-6E8A-4147-A177-3AD203B41FA5}">
                      <a16:colId xmlns:a16="http://schemas.microsoft.com/office/drawing/2014/main" val="236614085"/>
                    </a:ext>
                  </a:extLst>
                </a:gridCol>
              </a:tblGrid>
              <a:tr h="531066">
                <a:tc>
                  <a:txBody>
                    <a:bodyPr/>
                    <a:lstStyle/>
                    <a:p>
                      <a:pPr marL="0" marR="0">
                        <a:lnSpc>
                          <a:spcPct val="107000"/>
                        </a:lnSpc>
                        <a:spcBef>
                          <a:spcPts val="0"/>
                        </a:spcBef>
                        <a:spcAft>
                          <a:spcPts val="0"/>
                        </a:spcAft>
                      </a:pPr>
                      <a:r>
                        <a:rPr lang="en-US" sz="1100" dirty="0">
                          <a:solidFill>
                            <a:schemeClr val="tx2">
                              <a:lumMod val="75000"/>
                            </a:schemeClr>
                          </a:solidFill>
                          <a:effectLst/>
                        </a:rPr>
                        <a:t>Sale No</a:t>
                      </a:r>
                      <a:endParaRPr lang="en-US" sz="1100" dirty="0">
                        <a:solidFill>
                          <a:schemeClr val="tx2">
                            <a:lumMod val="75000"/>
                          </a:schemeClr>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100" dirty="0" err="1">
                          <a:solidFill>
                            <a:schemeClr val="tx2">
                              <a:lumMod val="75000"/>
                            </a:schemeClr>
                          </a:solidFill>
                          <a:effectLst/>
                        </a:rPr>
                        <a:t>SaleDate</a:t>
                      </a:r>
                      <a:endParaRPr lang="en-US" sz="1100" dirty="0">
                        <a:solidFill>
                          <a:schemeClr val="tx2">
                            <a:lumMod val="75000"/>
                          </a:schemeClr>
                        </a:solidFill>
                        <a:effectLst/>
                      </a:endParaRPr>
                    </a:p>
                    <a:p>
                      <a:pPr marL="0" marR="0">
                        <a:lnSpc>
                          <a:spcPct val="107000"/>
                        </a:lnSpc>
                        <a:spcBef>
                          <a:spcPts val="0"/>
                        </a:spcBef>
                        <a:spcAft>
                          <a:spcPts val="0"/>
                        </a:spcAft>
                      </a:pPr>
                      <a:r>
                        <a:rPr lang="en-US" sz="1100" dirty="0">
                          <a:solidFill>
                            <a:schemeClr val="tx2">
                              <a:lumMod val="75000"/>
                            </a:schemeClr>
                          </a:solidFill>
                          <a:effectLst/>
                        </a:rPr>
                        <a:t> </a:t>
                      </a:r>
                      <a:endParaRPr lang="en-US" sz="1100" dirty="0">
                        <a:solidFill>
                          <a:schemeClr val="tx2">
                            <a:lumMod val="75000"/>
                          </a:schemeClr>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100" dirty="0" err="1">
                          <a:solidFill>
                            <a:schemeClr val="tx2">
                              <a:lumMod val="75000"/>
                            </a:schemeClr>
                          </a:solidFill>
                          <a:effectLst/>
                        </a:rPr>
                        <a:t>ProductNo</a:t>
                      </a:r>
                      <a:endParaRPr lang="en-US" sz="1100" dirty="0">
                        <a:solidFill>
                          <a:schemeClr val="tx2">
                            <a:lumMod val="75000"/>
                          </a:schemeClr>
                        </a:solidFill>
                        <a:effectLst/>
                      </a:endParaRPr>
                    </a:p>
                    <a:p>
                      <a:pPr marL="0" marR="0">
                        <a:lnSpc>
                          <a:spcPct val="107000"/>
                        </a:lnSpc>
                        <a:spcBef>
                          <a:spcPts val="0"/>
                        </a:spcBef>
                        <a:spcAft>
                          <a:spcPts val="0"/>
                        </a:spcAft>
                      </a:pPr>
                      <a:r>
                        <a:rPr lang="en-US" sz="1100" dirty="0">
                          <a:solidFill>
                            <a:schemeClr val="tx2">
                              <a:lumMod val="75000"/>
                            </a:schemeClr>
                          </a:solidFill>
                          <a:effectLst/>
                        </a:rPr>
                        <a:t> </a:t>
                      </a:r>
                      <a:endParaRPr lang="en-US" sz="1100" dirty="0">
                        <a:solidFill>
                          <a:schemeClr val="tx2">
                            <a:lumMod val="75000"/>
                          </a:schemeClr>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100">
                          <a:solidFill>
                            <a:schemeClr val="tx2">
                              <a:lumMod val="75000"/>
                            </a:schemeClr>
                          </a:solidFill>
                          <a:effectLst/>
                        </a:rPr>
                        <a:t>Qty</a:t>
                      </a:r>
                      <a:endParaRPr lang="en-US" sz="1100">
                        <a:solidFill>
                          <a:schemeClr val="tx2">
                            <a:lumMod val="75000"/>
                          </a:schemeClr>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100" dirty="0">
                          <a:solidFill>
                            <a:schemeClr val="tx2">
                              <a:lumMod val="75000"/>
                            </a:schemeClr>
                          </a:solidFill>
                          <a:effectLst/>
                        </a:rPr>
                        <a:t>Amount</a:t>
                      </a:r>
                      <a:endParaRPr lang="en-US" sz="1100" dirty="0">
                        <a:solidFill>
                          <a:schemeClr val="tx2">
                            <a:lumMod val="75000"/>
                          </a:schemeClr>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100" dirty="0" err="1">
                          <a:solidFill>
                            <a:schemeClr val="tx2">
                              <a:lumMod val="75000"/>
                            </a:schemeClr>
                          </a:solidFill>
                          <a:effectLst/>
                        </a:rPr>
                        <a:t>Salesrep</a:t>
                      </a:r>
                      <a:endParaRPr lang="en-US" sz="1100" dirty="0">
                        <a:solidFill>
                          <a:schemeClr val="tx2">
                            <a:lumMod val="75000"/>
                          </a:schemeClr>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100" dirty="0" err="1">
                          <a:solidFill>
                            <a:schemeClr val="tx2">
                              <a:lumMod val="75000"/>
                            </a:schemeClr>
                          </a:solidFill>
                          <a:effectLst/>
                        </a:rPr>
                        <a:t>CustomerNo</a:t>
                      </a:r>
                      <a:endParaRPr lang="en-US" sz="1100" dirty="0">
                        <a:solidFill>
                          <a:schemeClr val="tx2">
                            <a:lumMod val="75000"/>
                          </a:schemeClr>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100" dirty="0">
                          <a:solidFill>
                            <a:schemeClr val="tx2">
                              <a:lumMod val="75000"/>
                            </a:schemeClr>
                          </a:solidFill>
                          <a:effectLst/>
                        </a:rPr>
                        <a:t>First</a:t>
                      </a:r>
                      <a:endParaRPr lang="en-US" sz="1100" dirty="0">
                        <a:solidFill>
                          <a:schemeClr val="tx2">
                            <a:lumMod val="75000"/>
                          </a:schemeClr>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100">
                          <a:solidFill>
                            <a:schemeClr val="tx2">
                              <a:lumMod val="75000"/>
                            </a:schemeClr>
                          </a:solidFill>
                          <a:effectLst/>
                        </a:rPr>
                        <a:t>Last</a:t>
                      </a:r>
                      <a:endParaRPr lang="en-US" sz="1100">
                        <a:solidFill>
                          <a:schemeClr val="tx2">
                            <a:lumMod val="75000"/>
                          </a:schemeClr>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100">
                          <a:solidFill>
                            <a:schemeClr val="tx2">
                              <a:lumMod val="75000"/>
                            </a:schemeClr>
                          </a:solidFill>
                          <a:effectLst/>
                        </a:rPr>
                        <a:t>Address</a:t>
                      </a:r>
                      <a:endParaRPr lang="en-US" sz="1100">
                        <a:solidFill>
                          <a:schemeClr val="tx2">
                            <a:lumMod val="75000"/>
                          </a:schemeClr>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100" dirty="0" err="1">
                          <a:solidFill>
                            <a:schemeClr val="tx2">
                              <a:lumMod val="75000"/>
                            </a:schemeClr>
                          </a:solidFill>
                          <a:effectLst/>
                        </a:rPr>
                        <a:t>CreditLimit</a:t>
                      </a:r>
                      <a:endParaRPr lang="en-US" sz="1100" dirty="0">
                        <a:solidFill>
                          <a:schemeClr val="tx2">
                            <a:lumMod val="75000"/>
                          </a:schemeClr>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extLst>
                  <a:ext uri="{0D108BD9-81ED-4DB2-BD59-A6C34878D82A}">
                    <a16:rowId xmlns:a16="http://schemas.microsoft.com/office/drawing/2014/main" val="1378874611"/>
                  </a:ext>
                </a:extLst>
              </a:tr>
              <a:tr h="351027">
                <a:tc>
                  <a:txBody>
                    <a:bodyPr/>
                    <a:lstStyle/>
                    <a:p>
                      <a:pPr marL="0" marR="0">
                        <a:lnSpc>
                          <a:spcPct val="107000"/>
                        </a:lnSpc>
                        <a:spcBef>
                          <a:spcPts val="0"/>
                        </a:spcBef>
                        <a:spcAft>
                          <a:spcPts val="0"/>
                        </a:spcAft>
                      </a:pPr>
                      <a:r>
                        <a:rPr lang="en-US" sz="1050" b="1" dirty="0">
                          <a:effectLst/>
                        </a:rPr>
                        <a:t>12345</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Aug 12 2002</a:t>
                      </a:r>
                    </a:p>
                    <a:p>
                      <a:pPr marL="0" marR="0">
                        <a:lnSpc>
                          <a:spcPct val="107000"/>
                        </a:lnSpc>
                        <a:spcBef>
                          <a:spcPts val="0"/>
                        </a:spcBef>
                        <a:spcAft>
                          <a:spcPts val="0"/>
                        </a:spcAft>
                      </a:pPr>
                      <a:r>
                        <a:rPr lang="en-US" sz="1050" b="1" dirty="0">
                          <a:effectLst/>
                        </a:rPr>
                        <a:t> </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AQX88916</a:t>
                      </a:r>
                    </a:p>
                    <a:p>
                      <a:pPr marL="0" marR="0">
                        <a:lnSpc>
                          <a:spcPct val="107000"/>
                        </a:lnSpc>
                        <a:spcBef>
                          <a:spcPts val="0"/>
                        </a:spcBef>
                        <a:spcAft>
                          <a:spcPts val="0"/>
                        </a:spcAft>
                      </a:pPr>
                      <a:r>
                        <a:rPr lang="en-US" sz="1050" b="1">
                          <a:effectLst/>
                        </a:rPr>
                        <a:t> </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1</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23.95</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Dave Williams</a:t>
                      </a:r>
                    </a:p>
                    <a:p>
                      <a:pPr marL="0" marR="0">
                        <a:lnSpc>
                          <a:spcPct val="107000"/>
                        </a:lnSpc>
                        <a:spcBef>
                          <a:spcPts val="0"/>
                        </a:spcBef>
                        <a:spcAft>
                          <a:spcPts val="0"/>
                        </a:spcAft>
                      </a:pPr>
                      <a:r>
                        <a:rPr lang="en-US" sz="1050" b="1">
                          <a:effectLst/>
                        </a:rPr>
                        <a:t> </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4649-4673</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Richard</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Johnston</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14 West Avenue</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1000</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extLst>
                  <a:ext uri="{0D108BD9-81ED-4DB2-BD59-A6C34878D82A}">
                    <a16:rowId xmlns:a16="http://schemas.microsoft.com/office/drawing/2014/main" val="1720734119"/>
                  </a:ext>
                </a:extLst>
              </a:tr>
              <a:tr h="351027">
                <a:tc>
                  <a:txBody>
                    <a:bodyPr/>
                    <a:lstStyle/>
                    <a:p>
                      <a:pPr marL="0" marR="0">
                        <a:lnSpc>
                          <a:spcPct val="107000"/>
                        </a:lnSpc>
                        <a:spcBef>
                          <a:spcPts val="0"/>
                        </a:spcBef>
                        <a:spcAft>
                          <a:spcPts val="0"/>
                        </a:spcAft>
                      </a:pPr>
                      <a:r>
                        <a:rPr lang="en-US" sz="1050" b="1">
                          <a:effectLst/>
                        </a:rPr>
                        <a:t>12346</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Aug 12 2002</a:t>
                      </a:r>
                    </a:p>
                    <a:p>
                      <a:pPr marL="0" marR="0">
                        <a:lnSpc>
                          <a:spcPct val="107000"/>
                        </a:lnSpc>
                        <a:spcBef>
                          <a:spcPts val="0"/>
                        </a:spcBef>
                        <a:spcAft>
                          <a:spcPts val="0"/>
                        </a:spcAft>
                      </a:pPr>
                      <a:r>
                        <a:rPr lang="en-US" sz="1050" b="1">
                          <a:effectLst/>
                        </a:rPr>
                        <a:t> </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AQX88916</a:t>
                      </a:r>
                    </a:p>
                    <a:p>
                      <a:pPr marL="0" marR="0">
                        <a:lnSpc>
                          <a:spcPct val="107000"/>
                        </a:lnSpc>
                        <a:spcBef>
                          <a:spcPts val="0"/>
                        </a:spcBef>
                        <a:spcAft>
                          <a:spcPts val="0"/>
                        </a:spcAft>
                      </a:pPr>
                      <a:r>
                        <a:rPr lang="en-US" sz="1050" b="1" dirty="0">
                          <a:effectLst/>
                        </a:rPr>
                        <a:t> </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7</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167.65</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Sara Thompson</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1113-7741</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Wayne</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Jones</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42 York Street</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kumimoji="0" lang="en-US" sz="900" b="1" i="0" u="none" strike="noStrike" kern="1200" cap="none" spc="0" normalizeH="0" baseline="0" noProof="0">
                          <a:ln>
                            <a:noFill/>
                          </a:ln>
                          <a:solidFill>
                            <a:srgbClr val="000000"/>
                          </a:solidFill>
                          <a:effectLst/>
                          <a:uLnTx/>
                          <a:uFillTx/>
                          <a:latin typeface="Helvetica"/>
                          <a:ea typeface="+mn-ea"/>
                          <a:cs typeface="+mn-cs"/>
                        </a:rPr>
                        <a:t>&lt;</a:t>
                      </a:r>
                      <a:r>
                        <a:rPr kumimoji="0" lang="en-US" sz="900" b="1" i="1" u="none" strike="noStrike" kern="1200" cap="none" spc="0" normalizeH="0" baseline="0" noProof="0">
                          <a:ln>
                            <a:noFill/>
                          </a:ln>
                          <a:solidFill>
                            <a:srgbClr val="000000"/>
                          </a:solidFill>
                          <a:effectLst/>
                          <a:uLnTx/>
                          <a:uFillTx/>
                          <a:latin typeface="Helvetica"/>
                          <a:ea typeface="+mn-ea"/>
                          <a:cs typeface="+mn-cs"/>
                        </a:rPr>
                        <a:t>null&gt;</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extLst>
                  <a:ext uri="{0D108BD9-81ED-4DB2-BD59-A6C34878D82A}">
                    <a16:rowId xmlns:a16="http://schemas.microsoft.com/office/drawing/2014/main" val="1020454084"/>
                  </a:ext>
                </a:extLst>
              </a:tr>
              <a:tr h="351027">
                <a:tc>
                  <a:txBody>
                    <a:bodyPr/>
                    <a:lstStyle/>
                    <a:p>
                      <a:pPr marL="0" marR="0">
                        <a:lnSpc>
                          <a:spcPct val="107000"/>
                        </a:lnSpc>
                        <a:spcBef>
                          <a:spcPts val="0"/>
                        </a:spcBef>
                        <a:spcAft>
                          <a:spcPts val="0"/>
                        </a:spcAft>
                      </a:pPr>
                      <a:r>
                        <a:rPr lang="en-US" sz="1050" b="1">
                          <a:effectLst/>
                        </a:rPr>
                        <a:t>12347</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Aug 13 2002</a:t>
                      </a:r>
                    </a:p>
                    <a:p>
                      <a:pPr marL="0" marR="0">
                        <a:lnSpc>
                          <a:spcPct val="107000"/>
                        </a:lnSpc>
                        <a:spcBef>
                          <a:spcPts val="0"/>
                        </a:spcBef>
                        <a:spcAft>
                          <a:spcPts val="0"/>
                        </a:spcAft>
                      </a:pPr>
                      <a:r>
                        <a:rPr lang="en-US" sz="1050" b="1">
                          <a:effectLst/>
                        </a:rPr>
                        <a:t> </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AHL46785</a:t>
                      </a:r>
                    </a:p>
                    <a:p>
                      <a:pPr marL="0" marR="0">
                        <a:lnSpc>
                          <a:spcPct val="107000"/>
                        </a:lnSpc>
                        <a:spcBef>
                          <a:spcPts val="0"/>
                        </a:spcBef>
                        <a:spcAft>
                          <a:spcPts val="0"/>
                        </a:spcAft>
                      </a:pPr>
                      <a:r>
                        <a:rPr lang="en-US" sz="1050" b="1" dirty="0">
                          <a:effectLst/>
                        </a:rPr>
                        <a:t> </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3705</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5001.75</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Li Qing</a:t>
                      </a:r>
                    </a:p>
                    <a:p>
                      <a:pPr marL="0" marR="0">
                        <a:lnSpc>
                          <a:spcPct val="107000"/>
                        </a:lnSpc>
                        <a:spcBef>
                          <a:spcPts val="0"/>
                        </a:spcBef>
                        <a:spcAft>
                          <a:spcPts val="0"/>
                        </a:spcAft>
                      </a:pPr>
                      <a:r>
                        <a:rPr lang="en-US" sz="1050" b="1" dirty="0">
                          <a:effectLst/>
                        </a:rPr>
                        <a:t> </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1166-3461</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Amelia</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Waverley</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995 Forth Street</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kumimoji="0" lang="en-US" sz="900" b="1" i="0" u="none" strike="noStrike" kern="1200" cap="none" spc="0" normalizeH="0" baseline="0" noProof="0">
                          <a:ln>
                            <a:noFill/>
                          </a:ln>
                          <a:solidFill>
                            <a:srgbClr val="000000"/>
                          </a:solidFill>
                          <a:effectLst/>
                          <a:uLnTx/>
                          <a:uFillTx/>
                          <a:latin typeface="Helvetica"/>
                          <a:ea typeface="+mn-ea"/>
                          <a:cs typeface="+mn-cs"/>
                        </a:rPr>
                        <a:t>&lt;</a:t>
                      </a:r>
                      <a:r>
                        <a:rPr kumimoji="0" lang="en-US" sz="900" b="1" i="1" u="none" strike="noStrike" kern="1200" cap="none" spc="0" normalizeH="0" baseline="0" noProof="0">
                          <a:ln>
                            <a:noFill/>
                          </a:ln>
                          <a:solidFill>
                            <a:srgbClr val="000000"/>
                          </a:solidFill>
                          <a:effectLst/>
                          <a:uLnTx/>
                          <a:uFillTx/>
                          <a:latin typeface="Helvetica"/>
                          <a:ea typeface="+mn-ea"/>
                          <a:cs typeface="+mn-cs"/>
                        </a:rPr>
                        <a:t>null&gt;</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extLst>
                  <a:ext uri="{0D108BD9-81ED-4DB2-BD59-A6C34878D82A}">
                    <a16:rowId xmlns:a16="http://schemas.microsoft.com/office/drawing/2014/main" val="1241532585"/>
                  </a:ext>
                </a:extLst>
              </a:tr>
              <a:tr h="249059">
                <a:tc>
                  <a:txBody>
                    <a:bodyPr/>
                    <a:lstStyle/>
                    <a:p>
                      <a:pPr marL="0" marR="0">
                        <a:lnSpc>
                          <a:spcPct val="107000"/>
                        </a:lnSpc>
                        <a:spcBef>
                          <a:spcPts val="0"/>
                        </a:spcBef>
                        <a:spcAft>
                          <a:spcPts val="0"/>
                        </a:spcAft>
                      </a:pPr>
                      <a:r>
                        <a:rPr lang="en-US" sz="1050" b="1">
                          <a:effectLst/>
                        </a:rPr>
                        <a:t>12348</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Aug 13 2002</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DHU69863</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50</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118.5</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Sara Thompson</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gn="ctr">
                        <a:lnSpc>
                          <a:spcPct val="107000"/>
                        </a:lnSpc>
                        <a:spcBef>
                          <a:spcPts val="0"/>
                        </a:spcBef>
                        <a:spcAft>
                          <a:spcPts val="0"/>
                        </a:spcAft>
                      </a:pPr>
                      <a:r>
                        <a:rPr lang="en-US" sz="1050" b="1" dirty="0">
                          <a:effectLst/>
                        </a:rPr>
                        <a:t> &lt;</a:t>
                      </a:r>
                      <a:r>
                        <a:rPr lang="en-US" sz="1050" b="1" i="1" dirty="0">
                          <a:effectLst/>
                        </a:rPr>
                        <a:t>null&gt;</a:t>
                      </a:r>
                      <a:endParaRPr lang="en-US" sz="1050" b="1" i="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 &lt;</a:t>
                      </a:r>
                      <a:r>
                        <a:rPr lang="en-US" sz="1050" b="1" i="1" dirty="0">
                          <a:effectLst/>
                        </a:rPr>
                        <a:t>null&gt;</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 &lt;</a:t>
                      </a:r>
                      <a:r>
                        <a:rPr lang="en-US" sz="1050" b="1" i="1" dirty="0">
                          <a:effectLst/>
                        </a:rPr>
                        <a:t>null&gt;</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 &lt;</a:t>
                      </a:r>
                      <a:r>
                        <a:rPr lang="en-US" sz="1050" b="1" i="1" dirty="0">
                          <a:effectLst/>
                        </a:rPr>
                        <a:t>null&gt;</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kumimoji="0" lang="en-US" sz="900" b="1" i="0" u="none" strike="noStrike" kern="1200" cap="none" spc="0" normalizeH="0" baseline="0" noProof="0">
                          <a:ln>
                            <a:noFill/>
                          </a:ln>
                          <a:solidFill>
                            <a:srgbClr val="000000"/>
                          </a:solidFill>
                          <a:effectLst/>
                          <a:uLnTx/>
                          <a:uFillTx/>
                          <a:latin typeface="Helvetica"/>
                          <a:ea typeface="+mn-ea"/>
                          <a:cs typeface="+mn-cs"/>
                        </a:rPr>
                        <a:t>&lt;</a:t>
                      </a:r>
                      <a:r>
                        <a:rPr kumimoji="0" lang="en-US" sz="900" b="1" i="1" u="none" strike="noStrike" kern="1200" cap="none" spc="0" normalizeH="0" baseline="0" noProof="0">
                          <a:ln>
                            <a:noFill/>
                          </a:ln>
                          <a:solidFill>
                            <a:srgbClr val="000000"/>
                          </a:solidFill>
                          <a:effectLst/>
                          <a:uLnTx/>
                          <a:uFillTx/>
                          <a:latin typeface="Helvetica"/>
                          <a:ea typeface="+mn-ea"/>
                          <a:cs typeface="+mn-cs"/>
                        </a:rPr>
                        <a:t>null&gt;</a:t>
                      </a:r>
                      <a:endParaRPr lang="en-US" sz="90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extLst>
                  <a:ext uri="{0D108BD9-81ED-4DB2-BD59-A6C34878D82A}">
                    <a16:rowId xmlns:a16="http://schemas.microsoft.com/office/drawing/2014/main" val="897738917"/>
                  </a:ext>
                </a:extLst>
              </a:tr>
              <a:tr h="249059">
                <a:tc>
                  <a:txBody>
                    <a:bodyPr/>
                    <a:lstStyle/>
                    <a:p>
                      <a:pPr marL="0" marR="0">
                        <a:lnSpc>
                          <a:spcPct val="107000"/>
                        </a:lnSpc>
                        <a:spcBef>
                          <a:spcPts val="0"/>
                        </a:spcBef>
                        <a:spcAft>
                          <a:spcPts val="0"/>
                        </a:spcAft>
                      </a:pPr>
                      <a:r>
                        <a:rPr lang="en-US" sz="1050" b="1">
                          <a:effectLst/>
                        </a:rPr>
                        <a:t>12349</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Aug 14 2002</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DHU69863</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940</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2227.8</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Sara Thompson</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1166-3461</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Amelia</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Waverley</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995 Forth Street</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kumimoji="0" lang="en-US" sz="900" b="1" i="0" u="none" strike="noStrike" kern="1200" cap="none" spc="0" normalizeH="0" baseline="0" noProof="0">
                          <a:ln>
                            <a:noFill/>
                          </a:ln>
                          <a:solidFill>
                            <a:srgbClr val="000000"/>
                          </a:solidFill>
                          <a:effectLst/>
                          <a:uLnTx/>
                          <a:uFillTx/>
                          <a:latin typeface="Helvetica"/>
                          <a:ea typeface="+mn-ea"/>
                          <a:cs typeface="+mn-cs"/>
                        </a:rPr>
                        <a:t>&lt;</a:t>
                      </a:r>
                      <a:r>
                        <a:rPr kumimoji="0" lang="en-US" sz="900" b="1" i="1" u="none" strike="noStrike" kern="1200" cap="none" spc="0" normalizeH="0" baseline="0" noProof="0">
                          <a:ln>
                            <a:noFill/>
                          </a:ln>
                          <a:solidFill>
                            <a:srgbClr val="000000"/>
                          </a:solidFill>
                          <a:effectLst/>
                          <a:uLnTx/>
                          <a:uFillTx/>
                          <a:latin typeface="Helvetica"/>
                          <a:ea typeface="+mn-ea"/>
                          <a:cs typeface="+mn-cs"/>
                        </a:rPr>
                        <a:t>null&gt;</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extLst>
                  <a:ext uri="{0D108BD9-81ED-4DB2-BD59-A6C34878D82A}">
                    <a16:rowId xmlns:a16="http://schemas.microsoft.com/office/drawing/2014/main" val="4176984474"/>
                  </a:ext>
                </a:extLst>
              </a:tr>
              <a:tr h="249059">
                <a:tc>
                  <a:txBody>
                    <a:bodyPr/>
                    <a:lstStyle/>
                    <a:p>
                      <a:pPr marL="0" marR="0">
                        <a:lnSpc>
                          <a:spcPct val="107000"/>
                        </a:lnSpc>
                        <a:spcBef>
                          <a:spcPts val="0"/>
                        </a:spcBef>
                        <a:spcAft>
                          <a:spcPts val="0"/>
                        </a:spcAft>
                      </a:pPr>
                      <a:r>
                        <a:rPr lang="en-US" sz="1050" b="1">
                          <a:effectLst/>
                        </a:rPr>
                        <a:t>12350</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Aug 14 2002</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DHU69863</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42</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99.54</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Sara Thompson</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7671-3496</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Antonio</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Gonzales</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55B Granary Lane</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kumimoji="0" lang="en-US" sz="900" b="1" i="0" u="none" strike="noStrike" kern="1200" cap="none" spc="0" normalizeH="0" baseline="0" noProof="0" dirty="0">
                          <a:ln>
                            <a:noFill/>
                          </a:ln>
                          <a:solidFill>
                            <a:srgbClr val="000000"/>
                          </a:solidFill>
                          <a:effectLst/>
                          <a:uLnTx/>
                          <a:uFillTx/>
                          <a:latin typeface="Helvetica"/>
                          <a:ea typeface="+mn-ea"/>
                          <a:cs typeface="+mn-cs"/>
                        </a:rPr>
                        <a:t>&lt;</a:t>
                      </a:r>
                      <a:r>
                        <a:rPr kumimoji="0" lang="en-US" sz="900" b="1" i="1" u="none" strike="noStrike" kern="1200" cap="none" spc="0" normalizeH="0" baseline="0" noProof="0" dirty="0">
                          <a:ln>
                            <a:noFill/>
                          </a:ln>
                          <a:solidFill>
                            <a:srgbClr val="000000"/>
                          </a:solidFill>
                          <a:effectLst/>
                          <a:uLnTx/>
                          <a:uFillTx/>
                          <a:latin typeface="Helvetica"/>
                          <a:ea typeface="+mn-ea"/>
                          <a:cs typeface="+mn-cs"/>
                        </a:rPr>
                        <a:t>null&gt;</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extLst>
                  <a:ext uri="{0D108BD9-81ED-4DB2-BD59-A6C34878D82A}">
                    <a16:rowId xmlns:a16="http://schemas.microsoft.com/office/drawing/2014/main" val="643762065"/>
                  </a:ext>
                </a:extLst>
              </a:tr>
              <a:tr h="351027">
                <a:tc>
                  <a:txBody>
                    <a:bodyPr/>
                    <a:lstStyle/>
                    <a:p>
                      <a:pPr marL="0" marR="0">
                        <a:lnSpc>
                          <a:spcPct val="107000"/>
                        </a:lnSpc>
                        <a:spcBef>
                          <a:spcPts val="0"/>
                        </a:spcBef>
                        <a:spcAft>
                          <a:spcPts val="0"/>
                        </a:spcAft>
                      </a:pPr>
                      <a:r>
                        <a:rPr lang="en-US" sz="1050" b="1" dirty="0">
                          <a:effectLst/>
                        </a:rPr>
                        <a:t>12351</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Aug 14 2002</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AQX88916</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55</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1317.25</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Dave Williams</a:t>
                      </a:r>
                    </a:p>
                    <a:p>
                      <a:pPr marL="0" marR="0">
                        <a:lnSpc>
                          <a:spcPct val="107000"/>
                        </a:lnSpc>
                        <a:spcBef>
                          <a:spcPts val="0"/>
                        </a:spcBef>
                        <a:spcAft>
                          <a:spcPts val="0"/>
                        </a:spcAft>
                      </a:pPr>
                      <a:r>
                        <a:rPr lang="en-US" sz="1050" b="1" dirty="0">
                          <a:effectLst/>
                        </a:rPr>
                        <a:t> </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6794-1674</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Diane</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Adams</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364 East Road</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150</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extLst>
                  <a:ext uri="{0D108BD9-81ED-4DB2-BD59-A6C34878D82A}">
                    <a16:rowId xmlns:a16="http://schemas.microsoft.com/office/drawing/2014/main" val="1134904673"/>
                  </a:ext>
                </a:extLst>
              </a:tr>
            </a:tbl>
          </a:graphicData>
        </a:graphic>
      </p:graphicFrame>
    </p:spTree>
    <p:extLst>
      <p:ext uri="{BB962C8B-B14F-4D97-AF65-F5344CB8AC3E}">
        <p14:creationId xmlns:p14="http://schemas.microsoft.com/office/powerpoint/2010/main" val="406970756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D033AF14-6EAC-4C24-8AC5-F34CF29D928B}"/>
              </a:ext>
            </a:extLst>
          </p:cNvPr>
          <p:cNvSpPr>
            <a:spLocks noGrp="1"/>
          </p:cNvSpPr>
          <p:nvPr>
            <p:ph type="title"/>
          </p:nvPr>
        </p:nvSpPr>
        <p:spPr>
          <a:xfrm>
            <a:off x="685800" y="67056"/>
            <a:ext cx="8176727" cy="1100522"/>
          </a:xfrm>
        </p:spPr>
        <p:txBody>
          <a:bodyPr>
            <a:noAutofit/>
          </a:bodyPr>
          <a:lstStyle/>
          <a:p>
            <a:pPr algn="r" rtl="1"/>
            <a:r>
              <a:rPr lang="fa-IR" sz="2400" dirty="0">
                <a:solidFill>
                  <a:srgbClr val="000000"/>
                </a:solidFill>
                <a:latin typeface="Tahoma" panose="020B0604030504040204" pitchFamily="34" charset="0"/>
                <a:ea typeface="+mn-ea"/>
                <a:cs typeface="B Nazanin" panose="00000400000000000000" pitchFamily="2" charset="-78"/>
              </a:rPr>
              <a:t>مثال. جدول </a:t>
            </a:r>
            <a:r>
              <a:rPr lang="fa-IR" sz="2400" dirty="0" err="1">
                <a:solidFill>
                  <a:srgbClr val="000000"/>
                </a:solidFill>
                <a:latin typeface="Tahoma" panose="020B0604030504040204" pitchFamily="34" charset="0"/>
                <a:ea typeface="+mn-ea"/>
                <a:cs typeface="B Nazanin" panose="00000400000000000000" pitchFamily="2" charset="-78"/>
              </a:rPr>
              <a:t>زير</a:t>
            </a:r>
            <a:r>
              <a:rPr lang="fa-IR" sz="2400" dirty="0">
                <a:solidFill>
                  <a:srgbClr val="000000"/>
                </a:solidFill>
                <a:latin typeface="Tahoma" panose="020B0604030504040204" pitchFamily="34" charset="0"/>
                <a:ea typeface="+mn-ea"/>
                <a:cs typeface="B Nazanin" panose="00000400000000000000" pitchFamily="2" charset="-78"/>
              </a:rPr>
              <a:t> که اطلاعات مربوط به </a:t>
            </a:r>
            <a:r>
              <a:rPr lang="fa-IR" sz="2400" dirty="0" err="1">
                <a:solidFill>
                  <a:srgbClr val="000000"/>
                </a:solidFill>
                <a:latin typeface="Tahoma" panose="020B0604030504040204" pitchFamily="34" charset="0"/>
                <a:ea typeface="+mn-ea"/>
                <a:cs typeface="B Nazanin" panose="00000400000000000000" pitchFamily="2" charset="-78"/>
              </a:rPr>
              <a:t>خريد</a:t>
            </a:r>
            <a:r>
              <a:rPr lang="fa-IR" sz="2400" dirty="0">
                <a:solidFill>
                  <a:srgbClr val="000000"/>
                </a:solidFill>
                <a:latin typeface="Tahoma" panose="020B0604030504040204" pitchFamily="34" charset="0"/>
                <a:ea typeface="+mn-ea"/>
                <a:cs typeface="B Nazanin" panose="00000400000000000000" pitchFamily="2" charset="-78"/>
              </a:rPr>
              <a:t> </a:t>
            </a:r>
            <a:r>
              <a:rPr lang="fa-IR" sz="2400" dirty="0" err="1">
                <a:solidFill>
                  <a:srgbClr val="000000"/>
                </a:solidFill>
                <a:latin typeface="Tahoma" panose="020B0604030504040204" pitchFamily="34" charset="0"/>
                <a:ea typeface="+mn-ea"/>
                <a:cs typeface="B Nazanin" panose="00000400000000000000" pitchFamily="2" charset="-78"/>
              </a:rPr>
              <a:t>مشتريان</a:t>
            </a:r>
            <a:r>
              <a:rPr lang="fa-IR" sz="2400" dirty="0">
                <a:solidFill>
                  <a:srgbClr val="000000"/>
                </a:solidFill>
                <a:latin typeface="Tahoma" panose="020B0604030504040204" pitchFamily="34" charset="0"/>
                <a:ea typeface="+mn-ea"/>
                <a:cs typeface="B Nazanin" panose="00000400000000000000" pitchFamily="2" charset="-78"/>
              </a:rPr>
              <a:t> را دارد </a:t>
            </a:r>
            <a:r>
              <a:rPr lang="fa-IR" sz="2400" dirty="0" err="1">
                <a:solidFill>
                  <a:srgbClr val="000000"/>
                </a:solidFill>
                <a:latin typeface="Tahoma" panose="020B0604030504040204" pitchFamily="34" charset="0"/>
                <a:ea typeface="+mn-ea"/>
                <a:cs typeface="B Nazanin" panose="00000400000000000000" pitchFamily="2" charset="-78"/>
              </a:rPr>
              <a:t>درنظر</a:t>
            </a:r>
            <a:r>
              <a:rPr lang="fa-IR" sz="2400" dirty="0">
                <a:solidFill>
                  <a:srgbClr val="000000"/>
                </a:solidFill>
                <a:latin typeface="Tahoma" panose="020B0604030504040204" pitchFamily="34" charset="0"/>
                <a:ea typeface="+mn-ea"/>
                <a:cs typeface="B Nazanin" panose="00000400000000000000" pitchFamily="2" charset="-78"/>
              </a:rPr>
              <a:t> </a:t>
            </a:r>
            <a:r>
              <a:rPr lang="fa-IR" sz="2400" dirty="0" err="1">
                <a:solidFill>
                  <a:srgbClr val="000000"/>
                </a:solidFill>
                <a:latin typeface="Tahoma" panose="020B0604030504040204" pitchFamily="34" charset="0"/>
                <a:ea typeface="+mn-ea"/>
                <a:cs typeface="B Nazanin" panose="00000400000000000000" pitchFamily="2" charset="-78"/>
              </a:rPr>
              <a:t>بگيريد</a:t>
            </a:r>
            <a:r>
              <a:rPr lang="fa-IR" sz="2400" dirty="0">
                <a:solidFill>
                  <a:srgbClr val="000000"/>
                </a:solidFill>
                <a:latin typeface="Tahoma" panose="020B0604030504040204" pitchFamily="34" charset="0"/>
                <a:ea typeface="+mn-ea"/>
                <a:cs typeface="B Nazanin" panose="00000400000000000000" pitchFamily="2" charset="-78"/>
              </a:rPr>
              <a:t>:</a:t>
            </a:r>
            <a:br>
              <a:rPr lang="en-US" altLang="en-US" sz="2400" dirty="0">
                <a:solidFill>
                  <a:srgbClr val="000000"/>
                </a:solidFill>
                <a:latin typeface="Tahoma" panose="020B0604030504040204" pitchFamily="34" charset="0"/>
                <a:ea typeface="+mn-ea"/>
                <a:cs typeface="B Nazanin" panose="00000400000000000000" pitchFamily="2" charset="-78"/>
              </a:rPr>
            </a:br>
            <a:endParaRPr lang="en-US" sz="2400" dirty="0"/>
          </a:p>
        </p:txBody>
      </p:sp>
      <p:sp>
        <p:nvSpPr>
          <p:cNvPr id="143362" name="Content Placeholder 2"/>
          <p:cNvSpPr>
            <a:spLocks noGrp="1"/>
          </p:cNvSpPr>
          <p:nvPr>
            <p:ph idx="1"/>
          </p:nvPr>
        </p:nvSpPr>
        <p:spPr>
          <a:xfrm>
            <a:off x="378936" y="762000"/>
            <a:ext cx="8487747" cy="3581400"/>
          </a:xfrm>
        </p:spPr>
        <p:txBody>
          <a:bodyPr>
            <a:normAutofit/>
          </a:bodyPr>
          <a:lstStyle/>
          <a:p>
            <a:pPr marL="0" lvl="0" indent="0" algn="r" rtl="1" eaLnBrk="0" fontAlgn="base" hangingPunct="0">
              <a:lnSpc>
                <a:spcPct val="100000"/>
              </a:lnSpc>
              <a:spcBef>
                <a:spcPct val="0"/>
              </a:spcBef>
              <a:spcAft>
                <a:spcPct val="0"/>
              </a:spcAft>
              <a:buClrTx/>
              <a:buSzTx/>
              <a:buNone/>
            </a:pPr>
            <a:r>
              <a:rPr lang="ar-SA" altLang="en-US" dirty="0">
                <a:solidFill>
                  <a:srgbClr val="000000"/>
                </a:solidFill>
                <a:latin typeface="Tahoma" panose="020B0604030504040204" pitchFamily="34" charset="0"/>
                <a:cs typeface="B Nazanin" panose="00000400000000000000" pitchFamily="2" charset="-78"/>
              </a:rPr>
              <a:t>اين افزونگی </a:t>
            </a:r>
            <a:r>
              <a:rPr lang="ar-SA" altLang="en-US" b="1" dirty="0">
                <a:solidFill>
                  <a:srgbClr val="000000"/>
                </a:solidFill>
                <a:latin typeface="Tahoma" panose="020B0604030504040204" pitchFamily="34" charset="0"/>
                <a:cs typeface="B Nazanin" panose="00000400000000000000" pitchFamily="2" charset="-78"/>
              </a:rPr>
              <a:t>مشکلات</a:t>
            </a:r>
            <a:r>
              <a:rPr lang="ar-SA" altLang="en-US" dirty="0">
                <a:solidFill>
                  <a:srgbClr val="000000"/>
                </a:solidFill>
                <a:latin typeface="Tahoma" panose="020B0604030504040204" pitchFamily="34" charset="0"/>
                <a:cs typeface="B Nazanin" panose="00000400000000000000" pitchFamily="2" charset="-78"/>
              </a:rPr>
              <a:t> زير را می تواند ايجاد کند:</a:t>
            </a:r>
            <a:endParaRPr lang="en-US" altLang="en-US" sz="1200" dirty="0">
              <a:cs typeface="B Nazanin" panose="00000400000000000000" pitchFamily="2" charset="-78"/>
            </a:endParaRPr>
          </a:p>
          <a:p>
            <a:pPr algn="r" rtl="1" eaLnBrk="0" fontAlgn="base" hangingPunct="0">
              <a:lnSpc>
                <a:spcPct val="100000"/>
              </a:lnSpc>
              <a:spcBef>
                <a:spcPct val="0"/>
              </a:spcBef>
              <a:spcAft>
                <a:spcPct val="0"/>
              </a:spcAft>
              <a:buClrTx/>
            </a:pPr>
            <a:r>
              <a:rPr lang="fa-IR" altLang="en-US" dirty="0">
                <a:solidFill>
                  <a:srgbClr val="000000"/>
                </a:solidFill>
                <a:latin typeface="Arial" panose="020B0604020202020204" pitchFamily="34" charset="0"/>
                <a:cs typeface="B Nazanin" panose="00000400000000000000" pitchFamily="2" charset="-78"/>
              </a:rPr>
              <a:t> </a:t>
            </a:r>
            <a:r>
              <a:rPr lang="ar-SA" altLang="en-US" b="1" dirty="0">
                <a:solidFill>
                  <a:srgbClr val="000000"/>
                </a:solidFill>
                <a:latin typeface="Arial" panose="020B0604020202020204" pitchFamily="34" charset="0"/>
                <a:cs typeface="B Nazanin" panose="00000400000000000000" pitchFamily="2" charset="-78"/>
              </a:rPr>
              <a:t>هدر رفتن فضای ذخيره سازی.</a:t>
            </a:r>
            <a:endParaRPr lang="fa-IR" altLang="en-US" b="1" dirty="0">
              <a:solidFill>
                <a:srgbClr val="000000"/>
              </a:solidFill>
              <a:latin typeface="Arial" panose="020B0604020202020204" pitchFamily="34" charset="0"/>
              <a:cs typeface="B Nazanin" panose="00000400000000000000" pitchFamily="2" charset="-78"/>
            </a:endParaRPr>
          </a:p>
          <a:p>
            <a:pPr lvl="1" algn="r" rtl="1" eaLnBrk="0" fontAlgn="base" hangingPunct="0">
              <a:lnSpc>
                <a:spcPct val="100000"/>
              </a:lnSpc>
              <a:spcBef>
                <a:spcPct val="0"/>
              </a:spcBef>
              <a:spcAft>
                <a:spcPct val="0"/>
              </a:spcAft>
              <a:buClrTx/>
            </a:pPr>
            <a:r>
              <a:rPr lang="ar-SA" altLang="en-US" sz="1800" dirty="0">
                <a:solidFill>
                  <a:srgbClr val="000000"/>
                </a:solidFill>
                <a:latin typeface="Arial" panose="020B0604020202020204" pitchFamily="34" charset="0"/>
                <a:cs typeface="B Nazanin" panose="00000400000000000000" pitchFamily="2" charset="-78"/>
              </a:rPr>
              <a:t> با وجوديکه امروزه ديسک های چندصد گيگا بايتی وجود دارد چندين بار ذخيره يک داده غير ضروری است.</a:t>
            </a:r>
            <a:endParaRPr lang="fa-IR" altLang="en-US" sz="1800" dirty="0">
              <a:solidFill>
                <a:srgbClr val="000000"/>
              </a:solidFill>
              <a:latin typeface="Arial" panose="020B0604020202020204" pitchFamily="34" charset="0"/>
              <a:cs typeface="B Nazanin" panose="00000400000000000000" pitchFamily="2" charset="-78"/>
            </a:endParaRPr>
          </a:p>
          <a:p>
            <a:pPr algn="r" rtl="1" eaLnBrk="0" fontAlgn="base" hangingPunct="0">
              <a:lnSpc>
                <a:spcPct val="100000"/>
              </a:lnSpc>
              <a:spcBef>
                <a:spcPct val="0"/>
              </a:spcBef>
              <a:spcAft>
                <a:spcPct val="0"/>
              </a:spcAft>
              <a:buClrTx/>
            </a:pPr>
            <a:r>
              <a:rPr lang="ar-SA" altLang="en-US" b="1" dirty="0">
                <a:solidFill>
                  <a:srgbClr val="000000"/>
                </a:solidFill>
                <a:latin typeface="Arial" panose="020B0604020202020204" pitchFamily="34" charset="0"/>
                <a:cs typeface="B Nazanin" panose="00000400000000000000" pitchFamily="2" charset="-78"/>
              </a:rPr>
              <a:t>آنومالی در بهنگام سازی</a:t>
            </a:r>
            <a:endParaRPr lang="fa-IR" altLang="en-US" b="1" dirty="0">
              <a:solidFill>
                <a:srgbClr val="000000"/>
              </a:solidFill>
              <a:latin typeface="Arial" panose="020B0604020202020204" pitchFamily="34" charset="0"/>
              <a:cs typeface="B Nazanin" panose="00000400000000000000" pitchFamily="2" charset="-78"/>
            </a:endParaRPr>
          </a:p>
          <a:p>
            <a:pPr lvl="1" algn="r" rtl="1" eaLnBrk="0" fontAlgn="base" hangingPunct="0">
              <a:lnSpc>
                <a:spcPct val="100000"/>
              </a:lnSpc>
              <a:spcBef>
                <a:spcPct val="0"/>
              </a:spcBef>
              <a:spcAft>
                <a:spcPct val="0"/>
              </a:spcAft>
              <a:buClrTx/>
            </a:pPr>
            <a:r>
              <a:rPr lang="ar-SA" altLang="en-US" sz="1800" dirty="0">
                <a:solidFill>
                  <a:srgbClr val="000000"/>
                </a:solidFill>
                <a:latin typeface="Arial" panose="020B0604020202020204" pitchFamily="34" charset="0"/>
                <a:cs typeface="B Nazanin" panose="00000400000000000000" pitchFamily="2" charset="-78"/>
              </a:rPr>
              <a:t> اگر داده يک مشتری، مثلا آدرس، تغيير کند بايد در همه جاهائی که ذخيره شده است اين تغيير اعمال شود درغيراينصورت جامعيت نقص می شود.</a:t>
            </a:r>
            <a:endParaRPr lang="fa-IR" altLang="en-US" sz="1800" dirty="0">
              <a:solidFill>
                <a:srgbClr val="000000"/>
              </a:solidFill>
              <a:latin typeface="Arial" panose="020B0604020202020204" pitchFamily="34" charset="0"/>
              <a:cs typeface="B Nazanin" panose="00000400000000000000" pitchFamily="2" charset="-78"/>
            </a:endParaRPr>
          </a:p>
          <a:p>
            <a:pPr algn="r" rtl="1" eaLnBrk="0" fontAlgn="base" hangingPunct="0">
              <a:lnSpc>
                <a:spcPct val="100000"/>
              </a:lnSpc>
              <a:spcBef>
                <a:spcPct val="0"/>
              </a:spcBef>
              <a:spcAft>
                <a:spcPct val="0"/>
              </a:spcAft>
              <a:buClrTx/>
            </a:pPr>
            <a:r>
              <a:rPr lang="ar-SA" altLang="en-US" b="1" dirty="0">
                <a:solidFill>
                  <a:srgbClr val="000000"/>
                </a:solidFill>
                <a:latin typeface="Arial" panose="020B0604020202020204" pitchFamily="34" charset="0"/>
                <a:cs typeface="B Nazanin" panose="00000400000000000000" pitchFamily="2" charset="-78"/>
              </a:rPr>
              <a:t> آنومالی در حذف.</a:t>
            </a:r>
            <a:endParaRPr lang="fa-IR" altLang="en-US" b="1" dirty="0">
              <a:solidFill>
                <a:srgbClr val="000000"/>
              </a:solidFill>
              <a:latin typeface="Arial" panose="020B0604020202020204" pitchFamily="34" charset="0"/>
              <a:cs typeface="B Nazanin" panose="00000400000000000000" pitchFamily="2" charset="-78"/>
            </a:endParaRPr>
          </a:p>
          <a:p>
            <a:pPr lvl="1" algn="r" rtl="1" eaLnBrk="0" fontAlgn="base" hangingPunct="0">
              <a:lnSpc>
                <a:spcPct val="100000"/>
              </a:lnSpc>
              <a:spcBef>
                <a:spcPct val="0"/>
              </a:spcBef>
              <a:spcAft>
                <a:spcPct val="0"/>
              </a:spcAft>
              <a:buClrTx/>
            </a:pPr>
            <a:r>
              <a:rPr lang="ar-SA" altLang="en-US" sz="1800" dirty="0">
                <a:solidFill>
                  <a:srgbClr val="000000"/>
                </a:solidFill>
                <a:latin typeface="Arial" panose="020B0604020202020204" pitchFamily="34" charset="0"/>
                <a:cs typeface="B Nazanin" panose="00000400000000000000" pitchFamily="2" charset="-78"/>
              </a:rPr>
              <a:t> اگر اين جدول به منظور نگهداری مشخصات مشتريان باشد، اگر مشتری خريدش را پس بدهد و سطر مربوط به آن حذف شود کليه اطلاعات مشتری هم حذف می شود.</a:t>
            </a:r>
            <a:endParaRPr lang="fa-IR" altLang="en-US" sz="1800" dirty="0">
              <a:solidFill>
                <a:srgbClr val="000000"/>
              </a:solidFill>
              <a:latin typeface="Arial" panose="020B0604020202020204" pitchFamily="34" charset="0"/>
              <a:cs typeface="B Nazanin" panose="00000400000000000000" pitchFamily="2" charset="-78"/>
            </a:endParaRPr>
          </a:p>
          <a:p>
            <a:pPr algn="r" rtl="1" eaLnBrk="0" fontAlgn="base" hangingPunct="0">
              <a:lnSpc>
                <a:spcPct val="100000"/>
              </a:lnSpc>
              <a:spcBef>
                <a:spcPct val="0"/>
              </a:spcBef>
              <a:spcAft>
                <a:spcPct val="0"/>
              </a:spcAft>
              <a:buClrTx/>
            </a:pPr>
            <a:r>
              <a:rPr lang="ar-SA" altLang="en-US" b="1" dirty="0">
                <a:solidFill>
                  <a:srgbClr val="000000"/>
                </a:solidFill>
                <a:latin typeface="Arial" panose="020B0604020202020204" pitchFamily="34" charset="0"/>
                <a:cs typeface="B Nazanin" panose="00000400000000000000" pitchFamily="2" charset="-78"/>
              </a:rPr>
              <a:t> آنومالی در درج.</a:t>
            </a:r>
            <a:endParaRPr lang="fa-IR" altLang="en-US" b="1" dirty="0">
              <a:solidFill>
                <a:srgbClr val="000000"/>
              </a:solidFill>
              <a:latin typeface="Arial" panose="020B0604020202020204" pitchFamily="34" charset="0"/>
              <a:cs typeface="B Nazanin" panose="00000400000000000000" pitchFamily="2" charset="-78"/>
            </a:endParaRPr>
          </a:p>
          <a:p>
            <a:pPr lvl="1" algn="r" rtl="1" eaLnBrk="0" fontAlgn="base" hangingPunct="0">
              <a:lnSpc>
                <a:spcPct val="100000"/>
              </a:lnSpc>
              <a:spcBef>
                <a:spcPct val="0"/>
              </a:spcBef>
              <a:spcAft>
                <a:spcPct val="0"/>
              </a:spcAft>
              <a:buClrTx/>
            </a:pPr>
            <a:r>
              <a:rPr lang="ar-SA" altLang="en-US" sz="1800" dirty="0">
                <a:solidFill>
                  <a:srgbClr val="000000"/>
                </a:solidFill>
                <a:latin typeface="Arial" panose="020B0604020202020204" pitchFamily="34" charset="0"/>
                <a:cs typeface="B Nazanin" panose="00000400000000000000" pitchFamily="2" charset="-78"/>
              </a:rPr>
              <a:t> به همين صورت نمی توانيم مشخصات مشتری جديد را درج کنيم مگر اينکه کالائی خريده باشد.</a:t>
            </a:r>
          </a:p>
        </p:txBody>
      </p:sp>
      <p:sp>
        <p:nvSpPr>
          <p:cNvPr id="3" name="Slide Number Placeholder 2">
            <a:extLst>
              <a:ext uri="{FF2B5EF4-FFF2-40B4-BE49-F238E27FC236}">
                <a16:creationId xmlns:a16="http://schemas.microsoft.com/office/drawing/2014/main" id="{521053D8-F3C9-46BD-B3CC-6786F7F221B5}"/>
              </a:ext>
            </a:extLst>
          </p:cNvPr>
          <p:cNvSpPr>
            <a:spLocks noGrp="1"/>
          </p:cNvSpPr>
          <p:nvPr>
            <p:ph type="sldNum" sz="quarter" idx="4294967295"/>
          </p:nvPr>
        </p:nvSpPr>
        <p:spPr>
          <a:xfrm>
            <a:off x="7994650" y="6334125"/>
            <a:ext cx="1149350" cy="365125"/>
          </a:xfrm>
        </p:spPr>
        <p:txBody>
          <a:bodyPr/>
          <a:lstStyle/>
          <a:p>
            <a:fld id="{9B1BEC6B-D08C-4686-9D99-35ADA0E9E6CD}" type="slidenum">
              <a:rPr lang="en-US" smtClean="0"/>
              <a:t>8</a:t>
            </a:fld>
            <a:endParaRPr lang="en-US"/>
          </a:p>
        </p:txBody>
      </p:sp>
      <p:graphicFrame>
        <p:nvGraphicFramePr>
          <p:cNvPr id="7" name="Table 6">
            <a:extLst>
              <a:ext uri="{FF2B5EF4-FFF2-40B4-BE49-F238E27FC236}">
                <a16:creationId xmlns:a16="http://schemas.microsoft.com/office/drawing/2014/main" id="{CF282F64-D4DA-4DCA-85C8-5AC415413ED5}"/>
              </a:ext>
            </a:extLst>
          </p:cNvPr>
          <p:cNvGraphicFramePr>
            <a:graphicFrameLocks noGrp="1"/>
          </p:cNvGraphicFramePr>
          <p:nvPr/>
        </p:nvGraphicFramePr>
        <p:xfrm>
          <a:off x="81497" y="3997587"/>
          <a:ext cx="8981005" cy="2682351"/>
        </p:xfrm>
        <a:graphic>
          <a:graphicData uri="http://schemas.openxmlformats.org/drawingml/2006/table">
            <a:tbl>
              <a:tblPr firstRow="1" firstCol="1" bandRow="1">
                <a:tableStyleId>{616DA210-FB5B-4158-B5E0-FEB733F419BA}</a:tableStyleId>
              </a:tblPr>
              <a:tblGrid>
                <a:gridCol w="586937">
                  <a:extLst>
                    <a:ext uri="{9D8B030D-6E8A-4147-A177-3AD203B41FA5}">
                      <a16:colId xmlns:a16="http://schemas.microsoft.com/office/drawing/2014/main" val="234041042"/>
                    </a:ext>
                  </a:extLst>
                </a:gridCol>
                <a:gridCol w="940021">
                  <a:extLst>
                    <a:ext uri="{9D8B030D-6E8A-4147-A177-3AD203B41FA5}">
                      <a16:colId xmlns:a16="http://schemas.microsoft.com/office/drawing/2014/main" val="3415118693"/>
                    </a:ext>
                  </a:extLst>
                </a:gridCol>
                <a:gridCol w="922588">
                  <a:extLst>
                    <a:ext uri="{9D8B030D-6E8A-4147-A177-3AD203B41FA5}">
                      <a16:colId xmlns:a16="http://schemas.microsoft.com/office/drawing/2014/main" val="3881982512"/>
                    </a:ext>
                  </a:extLst>
                </a:gridCol>
                <a:gridCol w="461294">
                  <a:extLst>
                    <a:ext uri="{9D8B030D-6E8A-4147-A177-3AD203B41FA5}">
                      <a16:colId xmlns:a16="http://schemas.microsoft.com/office/drawing/2014/main" val="2484215510"/>
                    </a:ext>
                  </a:extLst>
                </a:gridCol>
                <a:gridCol w="682078">
                  <a:extLst>
                    <a:ext uri="{9D8B030D-6E8A-4147-A177-3AD203B41FA5}">
                      <a16:colId xmlns:a16="http://schemas.microsoft.com/office/drawing/2014/main" val="1297653461"/>
                    </a:ext>
                  </a:extLst>
                </a:gridCol>
                <a:gridCol w="1156146">
                  <a:extLst>
                    <a:ext uri="{9D8B030D-6E8A-4147-A177-3AD203B41FA5}">
                      <a16:colId xmlns:a16="http://schemas.microsoft.com/office/drawing/2014/main" val="3484224265"/>
                    </a:ext>
                  </a:extLst>
                </a:gridCol>
                <a:gridCol w="847841">
                  <a:extLst>
                    <a:ext uri="{9D8B030D-6E8A-4147-A177-3AD203B41FA5}">
                      <a16:colId xmlns:a16="http://schemas.microsoft.com/office/drawing/2014/main" val="3482110401"/>
                    </a:ext>
                  </a:extLst>
                </a:gridCol>
                <a:gridCol w="770764">
                  <a:extLst>
                    <a:ext uri="{9D8B030D-6E8A-4147-A177-3AD203B41FA5}">
                      <a16:colId xmlns:a16="http://schemas.microsoft.com/office/drawing/2014/main" val="1813858957"/>
                    </a:ext>
                  </a:extLst>
                </a:gridCol>
                <a:gridCol w="770764">
                  <a:extLst>
                    <a:ext uri="{9D8B030D-6E8A-4147-A177-3AD203B41FA5}">
                      <a16:colId xmlns:a16="http://schemas.microsoft.com/office/drawing/2014/main" val="1355875302"/>
                    </a:ext>
                  </a:extLst>
                </a:gridCol>
                <a:gridCol w="1310300">
                  <a:extLst>
                    <a:ext uri="{9D8B030D-6E8A-4147-A177-3AD203B41FA5}">
                      <a16:colId xmlns:a16="http://schemas.microsoft.com/office/drawing/2014/main" val="1675925667"/>
                    </a:ext>
                  </a:extLst>
                </a:gridCol>
                <a:gridCol w="532272">
                  <a:extLst>
                    <a:ext uri="{9D8B030D-6E8A-4147-A177-3AD203B41FA5}">
                      <a16:colId xmlns:a16="http://schemas.microsoft.com/office/drawing/2014/main" val="236614085"/>
                    </a:ext>
                  </a:extLst>
                </a:gridCol>
              </a:tblGrid>
              <a:tr h="531066">
                <a:tc>
                  <a:txBody>
                    <a:bodyPr/>
                    <a:lstStyle/>
                    <a:p>
                      <a:pPr marL="0" marR="0">
                        <a:lnSpc>
                          <a:spcPct val="107000"/>
                        </a:lnSpc>
                        <a:spcBef>
                          <a:spcPts val="0"/>
                        </a:spcBef>
                        <a:spcAft>
                          <a:spcPts val="0"/>
                        </a:spcAft>
                      </a:pPr>
                      <a:r>
                        <a:rPr lang="en-US" sz="1100" dirty="0">
                          <a:solidFill>
                            <a:schemeClr val="tx2">
                              <a:lumMod val="75000"/>
                            </a:schemeClr>
                          </a:solidFill>
                          <a:effectLst/>
                        </a:rPr>
                        <a:t>Sale No</a:t>
                      </a:r>
                      <a:endParaRPr lang="en-US" sz="1100" dirty="0">
                        <a:solidFill>
                          <a:schemeClr val="tx2">
                            <a:lumMod val="75000"/>
                          </a:schemeClr>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100" dirty="0" err="1">
                          <a:solidFill>
                            <a:schemeClr val="tx2">
                              <a:lumMod val="75000"/>
                            </a:schemeClr>
                          </a:solidFill>
                          <a:effectLst/>
                        </a:rPr>
                        <a:t>SaleDate</a:t>
                      </a:r>
                      <a:endParaRPr lang="en-US" sz="1100" dirty="0">
                        <a:solidFill>
                          <a:schemeClr val="tx2">
                            <a:lumMod val="75000"/>
                          </a:schemeClr>
                        </a:solidFill>
                        <a:effectLst/>
                      </a:endParaRPr>
                    </a:p>
                    <a:p>
                      <a:pPr marL="0" marR="0">
                        <a:lnSpc>
                          <a:spcPct val="107000"/>
                        </a:lnSpc>
                        <a:spcBef>
                          <a:spcPts val="0"/>
                        </a:spcBef>
                        <a:spcAft>
                          <a:spcPts val="0"/>
                        </a:spcAft>
                      </a:pPr>
                      <a:r>
                        <a:rPr lang="en-US" sz="1100" dirty="0">
                          <a:solidFill>
                            <a:schemeClr val="tx2">
                              <a:lumMod val="75000"/>
                            </a:schemeClr>
                          </a:solidFill>
                          <a:effectLst/>
                        </a:rPr>
                        <a:t> </a:t>
                      </a:r>
                      <a:endParaRPr lang="en-US" sz="1100" dirty="0">
                        <a:solidFill>
                          <a:schemeClr val="tx2">
                            <a:lumMod val="75000"/>
                          </a:schemeClr>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100" dirty="0" err="1">
                          <a:solidFill>
                            <a:schemeClr val="tx2">
                              <a:lumMod val="75000"/>
                            </a:schemeClr>
                          </a:solidFill>
                          <a:effectLst/>
                        </a:rPr>
                        <a:t>ProductNo</a:t>
                      </a:r>
                      <a:endParaRPr lang="en-US" sz="1100" dirty="0">
                        <a:solidFill>
                          <a:schemeClr val="tx2">
                            <a:lumMod val="75000"/>
                          </a:schemeClr>
                        </a:solidFill>
                        <a:effectLst/>
                      </a:endParaRPr>
                    </a:p>
                    <a:p>
                      <a:pPr marL="0" marR="0">
                        <a:lnSpc>
                          <a:spcPct val="107000"/>
                        </a:lnSpc>
                        <a:spcBef>
                          <a:spcPts val="0"/>
                        </a:spcBef>
                        <a:spcAft>
                          <a:spcPts val="0"/>
                        </a:spcAft>
                      </a:pPr>
                      <a:r>
                        <a:rPr lang="en-US" sz="1100" dirty="0">
                          <a:solidFill>
                            <a:schemeClr val="tx2">
                              <a:lumMod val="75000"/>
                            </a:schemeClr>
                          </a:solidFill>
                          <a:effectLst/>
                        </a:rPr>
                        <a:t> </a:t>
                      </a:r>
                      <a:endParaRPr lang="en-US" sz="1100" dirty="0">
                        <a:solidFill>
                          <a:schemeClr val="tx2">
                            <a:lumMod val="75000"/>
                          </a:schemeClr>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100">
                          <a:solidFill>
                            <a:schemeClr val="tx2">
                              <a:lumMod val="75000"/>
                            </a:schemeClr>
                          </a:solidFill>
                          <a:effectLst/>
                        </a:rPr>
                        <a:t>Qty</a:t>
                      </a:r>
                      <a:endParaRPr lang="en-US" sz="1100">
                        <a:solidFill>
                          <a:schemeClr val="tx2">
                            <a:lumMod val="75000"/>
                          </a:schemeClr>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100" dirty="0">
                          <a:solidFill>
                            <a:schemeClr val="tx2">
                              <a:lumMod val="75000"/>
                            </a:schemeClr>
                          </a:solidFill>
                          <a:effectLst/>
                        </a:rPr>
                        <a:t>Amount</a:t>
                      </a:r>
                      <a:endParaRPr lang="en-US" sz="1100" dirty="0">
                        <a:solidFill>
                          <a:schemeClr val="tx2">
                            <a:lumMod val="75000"/>
                          </a:schemeClr>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100" dirty="0" err="1">
                          <a:solidFill>
                            <a:schemeClr val="tx2">
                              <a:lumMod val="75000"/>
                            </a:schemeClr>
                          </a:solidFill>
                          <a:effectLst/>
                        </a:rPr>
                        <a:t>Salesrep</a:t>
                      </a:r>
                      <a:endParaRPr lang="en-US" sz="1100" dirty="0">
                        <a:solidFill>
                          <a:schemeClr val="tx2">
                            <a:lumMod val="75000"/>
                          </a:schemeClr>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100" dirty="0" err="1">
                          <a:solidFill>
                            <a:schemeClr val="tx2">
                              <a:lumMod val="75000"/>
                            </a:schemeClr>
                          </a:solidFill>
                          <a:effectLst/>
                        </a:rPr>
                        <a:t>CustomerNo</a:t>
                      </a:r>
                      <a:endParaRPr lang="en-US" sz="1100" dirty="0">
                        <a:solidFill>
                          <a:schemeClr val="tx2">
                            <a:lumMod val="75000"/>
                          </a:schemeClr>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100" dirty="0">
                          <a:solidFill>
                            <a:schemeClr val="tx2">
                              <a:lumMod val="75000"/>
                            </a:schemeClr>
                          </a:solidFill>
                          <a:effectLst/>
                        </a:rPr>
                        <a:t>First</a:t>
                      </a:r>
                      <a:endParaRPr lang="en-US" sz="1100" dirty="0">
                        <a:solidFill>
                          <a:schemeClr val="tx2">
                            <a:lumMod val="75000"/>
                          </a:schemeClr>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100">
                          <a:solidFill>
                            <a:schemeClr val="tx2">
                              <a:lumMod val="75000"/>
                            </a:schemeClr>
                          </a:solidFill>
                          <a:effectLst/>
                        </a:rPr>
                        <a:t>Last</a:t>
                      </a:r>
                      <a:endParaRPr lang="en-US" sz="1100">
                        <a:solidFill>
                          <a:schemeClr val="tx2">
                            <a:lumMod val="75000"/>
                          </a:schemeClr>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100">
                          <a:solidFill>
                            <a:schemeClr val="tx2">
                              <a:lumMod val="75000"/>
                            </a:schemeClr>
                          </a:solidFill>
                          <a:effectLst/>
                        </a:rPr>
                        <a:t>Address</a:t>
                      </a:r>
                      <a:endParaRPr lang="en-US" sz="1100">
                        <a:solidFill>
                          <a:schemeClr val="tx2">
                            <a:lumMod val="75000"/>
                          </a:schemeClr>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100" dirty="0" err="1">
                          <a:solidFill>
                            <a:schemeClr val="tx2">
                              <a:lumMod val="75000"/>
                            </a:schemeClr>
                          </a:solidFill>
                          <a:effectLst/>
                        </a:rPr>
                        <a:t>CreditLimit</a:t>
                      </a:r>
                      <a:endParaRPr lang="en-US" sz="1100" dirty="0">
                        <a:solidFill>
                          <a:schemeClr val="tx2">
                            <a:lumMod val="75000"/>
                          </a:schemeClr>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extLst>
                  <a:ext uri="{0D108BD9-81ED-4DB2-BD59-A6C34878D82A}">
                    <a16:rowId xmlns:a16="http://schemas.microsoft.com/office/drawing/2014/main" val="1378874611"/>
                  </a:ext>
                </a:extLst>
              </a:tr>
              <a:tr h="351027">
                <a:tc>
                  <a:txBody>
                    <a:bodyPr/>
                    <a:lstStyle/>
                    <a:p>
                      <a:pPr marL="0" marR="0">
                        <a:lnSpc>
                          <a:spcPct val="107000"/>
                        </a:lnSpc>
                        <a:spcBef>
                          <a:spcPts val="0"/>
                        </a:spcBef>
                        <a:spcAft>
                          <a:spcPts val="0"/>
                        </a:spcAft>
                      </a:pPr>
                      <a:r>
                        <a:rPr lang="en-US" sz="1050" b="1" dirty="0">
                          <a:effectLst/>
                        </a:rPr>
                        <a:t>12345</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Aug 12 2002</a:t>
                      </a:r>
                    </a:p>
                    <a:p>
                      <a:pPr marL="0" marR="0">
                        <a:lnSpc>
                          <a:spcPct val="107000"/>
                        </a:lnSpc>
                        <a:spcBef>
                          <a:spcPts val="0"/>
                        </a:spcBef>
                        <a:spcAft>
                          <a:spcPts val="0"/>
                        </a:spcAft>
                      </a:pPr>
                      <a:r>
                        <a:rPr lang="en-US" sz="1050" b="1" dirty="0">
                          <a:effectLst/>
                        </a:rPr>
                        <a:t> </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AQX88916</a:t>
                      </a:r>
                    </a:p>
                    <a:p>
                      <a:pPr marL="0" marR="0">
                        <a:lnSpc>
                          <a:spcPct val="107000"/>
                        </a:lnSpc>
                        <a:spcBef>
                          <a:spcPts val="0"/>
                        </a:spcBef>
                        <a:spcAft>
                          <a:spcPts val="0"/>
                        </a:spcAft>
                      </a:pPr>
                      <a:r>
                        <a:rPr lang="en-US" sz="1050" b="1">
                          <a:effectLst/>
                        </a:rPr>
                        <a:t> </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1</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23.95</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Dave Williams</a:t>
                      </a:r>
                    </a:p>
                    <a:p>
                      <a:pPr marL="0" marR="0">
                        <a:lnSpc>
                          <a:spcPct val="107000"/>
                        </a:lnSpc>
                        <a:spcBef>
                          <a:spcPts val="0"/>
                        </a:spcBef>
                        <a:spcAft>
                          <a:spcPts val="0"/>
                        </a:spcAft>
                      </a:pPr>
                      <a:r>
                        <a:rPr lang="en-US" sz="1050" b="1">
                          <a:effectLst/>
                        </a:rPr>
                        <a:t> </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4649-4673</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Richard</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Johnston</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14 West Avenue</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1000</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extLst>
                  <a:ext uri="{0D108BD9-81ED-4DB2-BD59-A6C34878D82A}">
                    <a16:rowId xmlns:a16="http://schemas.microsoft.com/office/drawing/2014/main" val="1720734119"/>
                  </a:ext>
                </a:extLst>
              </a:tr>
              <a:tr h="351027">
                <a:tc>
                  <a:txBody>
                    <a:bodyPr/>
                    <a:lstStyle/>
                    <a:p>
                      <a:pPr marL="0" marR="0">
                        <a:lnSpc>
                          <a:spcPct val="107000"/>
                        </a:lnSpc>
                        <a:spcBef>
                          <a:spcPts val="0"/>
                        </a:spcBef>
                        <a:spcAft>
                          <a:spcPts val="0"/>
                        </a:spcAft>
                      </a:pPr>
                      <a:r>
                        <a:rPr lang="en-US" sz="1050" b="1">
                          <a:effectLst/>
                        </a:rPr>
                        <a:t>12346</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Aug 12 2002</a:t>
                      </a:r>
                    </a:p>
                    <a:p>
                      <a:pPr marL="0" marR="0">
                        <a:lnSpc>
                          <a:spcPct val="107000"/>
                        </a:lnSpc>
                        <a:spcBef>
                          <a:spcPts val="0"/>
                        </a:spcBef>
                        <a:spcAft>
                          <a:spcPts val="0"/>
                        </a:spcAft>
                      </a:pPr>
                      <a:r>
                        <a:rPr lang="en-US" sz="1050" b="1">
                          <a:effectLst/>
                        </a:rPr>
                        <a:t> </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AQX88916</a:t>
                      </a:r>
                    </a:p>
                    <a:p>
                      <a:pPr marL="0" marR="0">
                        <a:lnSpc>
                          <a:spcPct val="107000"/>
                        </a:lnSpc>
                        <a:spcBef>
                          <a:spcPts val="0"/>
                        </a:spcBef>
                        <a:spcAft>
                          <a:spcPts val="0"/>
                        </a:spcAft>
                      </a:pPr>
                      <a:r>
                        <a:rPr lang="en-US" sz="1050" b="1" dirty="0">
                          <a:effectLst/>
                        </a:rPr>
                        <a:t> </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7</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167.65</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Sara Thompson</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1113-7741</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Wayne</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Jones</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42 York Street</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kumimoji="0" lang="en-US" sz="900" b="1" i="0" u="none" strike="noStrike" kern="1200" cap="none" spc="0" normalizeH="0" baseline="0" noProof="0">
                          <a:ln>
                            <a:noFill/>
                          </a:ln>
                          <a:solidFill>
                            <a:srgbClr val="000000"/>
                          </a:solidFill>
                          <a:effectLst/>
                          <a:uLnTx/>
                          <a:uFillTx/>
                          <a:latin typeface="Helvetica"/>
                          <a:ea typeface="+mn-ea"/>
                          <a:cs typeface="+mn-cs"/>
                        </a:rPr>
                        <a:t>&lt;</a:t>
                      </a:r>
                      <a:r>
                        <a:rPr kumimoji="0" lang="en-US" sz="900" b="1" i="1" u="none" strike="noStrike" kern="1200" cap="none" spc="0" normalizeH="0" baseline="0" noProof="0">
                          <a:ln>
                            <a:noFill/>
                          </a:ln>
                          <a:solidFill>
                            <a:srgbClr val="000000"/>
                          </a:solidFill>
                          <a:effectLst/>
                          <a:uLnTx/>
                          <a:uFillTx/>
                          <a:latin typeface="Helvetica"/>
                          <a:ea typeface="+mn-ea"/>
                          <a:cs typeface="+mn-cs"/>
                        </a:rPr>
                        <a:t>null&gt;</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extLst>
                  <a:ext uri="{0D108BD9-81ED-4DB2-BD59-A6C34878D82A}">
                    <a16:rowId xmlns:a16="http://schemas.microsoft.com/office/drawing/2014/main" val="1020454084"/>
                  </a:ext>
                </a:extLst>
              </a:tr>
              <a:tr h="351027">
                <a:tc>
                  <a:txBody>
                    <a:bodyPr/>
                    <a:lstStyle/>
                    <a:p>
                      <a:pPr marL="0" marR="0">
                        <a:lnSpc>
                          <a:spcPct val="107000"/>
                        </a:lnSpc>
                        <a:spcBef>
                          <a:spcPts val="0"/>
                        </a:spcBef>
                        <a:spcAft>
                          <a:spcPts val="0"/>
                        </a:spcAft>
                      </a:pPr>
                      <a:r>
                        <a:rPr lang="en-US" sz="1050" b="1">
                          <a:effectLst/>
                        </a:rPr>
                        <a:t>12347</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Aug 13 2002</a:t>
                      </a:r>
                    </a:p>
                    <a:p>
                      <a:pPr marL="0" marR="0">
                        <a:lnSpc>
                          <a:spcPct val="107000"/>
                        </a:lnSpc>
                        <a:spcBef>
                          <a:spcPts val="0"/>
                        </a:spcBef>
                        <a:spcAft>
                          <a:spcPts val="0"/>
                        </a:spcAft>
                      </a:pPr>
                      <a:r>
                        <a:rPr lang="en-US" sz="1050" b="1">
                          <a:effectLst/>
                        </a:rPr>
                        <a:t> </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AHL46785</a:t>
                      </a:r>
                    </a:p>
                    <a:p>
                      <a:pPr marL="0" marR="0">
                        <a:lnSpc>
                          <a:spcPct val="107000"/>
                        </a:lnSpc>
                        <a:spcBef>
                          <a:spcPts val="0"/>
                        </a:spcBef>
                        <a:spcAft>
                          <a:spcPts val="0"/>
                        </a:spcAft>
                      </a:pPr>
                      <a:r>
                        <a:rPr lang="en-US" sz="1050" b="1">
                          <a:effectLst/>
                        </a:rPr>
                        <a:t> </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3705</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5001.75</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Li Qing</a:t>
                      </a:r>
                    </a:p>
                    <a:p>
                      <a:pPr marL="0" marR="0">
                        <a:lnSpc>
                          <a:spcPct val="107000"/>
                        </a:lnSpc>
                        <a:spcBef>
                          <a:spcPts val="0"/>
                        </a:spcBef>
                        <a:spcAft>
                          <a:spcPts val="0"/>
                        </a:spcAft>
                      </a:pPr>
                      <a:r>
                        <a:rPr lang="en-US" sz="1050" b="1" dirty="0">
                          <a:effectLst/>
                        </a:rPr>
                        <a:t> </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1166-3461</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Amelia</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Waverley</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995 Forth Street</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kumimoji="0" lang="en-US" sz="900" b="1" i="0" u="none" strike="noStrike" kern="1200" cap="none" spc="0" normalizeH="0" baseline="0" noProof="0">
                          <a:ln>
                            <a:noFill/>
                          </a:ln>
                          <a:solidFill>
                            <a:srgbClr val="000000"/>
                          </a:solidFill>
                          <a:effectLst/>
                          <a:uLnTx/>
                          <a:uFillTx/>
                          <a:latin typeface="Helvetica"/>
                          <a:ea typeface="+mn-ea"/>
                          <a:cs typeface="+mn-cs"/>
                        </a:rPr>
                        <a:t>&lt;</a:t>
                      </a:r>
                      <a:r>
                        <a:rPr kumimoji="0" lang="en-US" sz="900" b="1" i="1" u="none" strike="noStrike" kern="1200" cap="none" spc="0" normalizeH="0" baseline="0" noProof="0">
                          <a:ln>
                            <a:noFill/>
                          </a:ln>
                          <a:solidFill>
                            <a:srgbClr val="000000"/>
                          </a:solidFill>
                          <a:effectLst/>
                          <a:uLnTx/>
                          <a:uFillTx/>
                          <a:latin typeface="Helvetica"/>
                          <a:ea typeface="+mn-ea"/>
                          <a:cs typeface="+mn-cs"/>
                        </a:rPr>
                        <a:t>null&gt;</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extLst>
                  <a:ext uri="{0D108BD9-81ED-4DB2-BD59-A6C34878D82A}">
                    <a16:rowId xmlns:a16="http://schemas.microsoft.com/office/drawing/2014/main" val="1241532585"/>
                  </a:ext>
                </a:extLst>
              </a:tr>
              <a:tr h="249059">
                <a:tc>
                  <a:txBody>
                    <a:bodyPr/>
                    <a:lstStyle/>
                    <a:p>
                      <a:pPr marL="0" marR="0">
                        <a:lnSpc>
                          <a:spcPct val="107000"/>
                        </a:lnSpc>
                        <a:spcBef>
                          <a:spcPts val="0"/>
                        </a:spcBef>
                        <a:spcAft>
                          <a:spcPts val="0"/>
                        </a:spcAft>
                      </a:pPr>
                      <a:r>
                        <a:rPr lang="en-US" sz="1050" b="1">
                          <a:effectLst/>
                        </a:rPr>
                        <a:t>12348</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Aug 13 2002</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DHU69863</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50</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118.5</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Sara Thompson</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gn="ctr">
                        <a:lnSpc>
                          <a:spcPct val="107000"/>
                        </a:lnSpc>
                        <a:spcBef>
                          <a:spcPts val="0"/>
                        </a:spcBef>
                        <a:spcAft>
                          <a:spcPts val="0"/>
                        </a:spcAft>
                      </a:pPr>
                      <a:r>
                        <a:rPr lang="en-US" sz="1050" b="1" dirty="0">
                          <a:effectLst/>
                        </a:rPr>
                        <a:t> &lt;</a:t>
                      </a:r>
                      <a:r>
                        <a:rPr lang="en-US" sz="1050" b="1" i="1" dirty="0">
                          <a:effectLst/>
                        </a:rPr>
                        <a:t>null&gt;</a:t>
                      </a:r>
                      <a:endParaRPr lang="en-US" sz="1050" b="1" i="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 &lt;</a:t>
                      </a:r>
                      <a:r>
                        <a:rPr lang="en-US" sz="1050" b="1" i="1" dirty="0">
                          <a:effectLst/>
                        </a:rPr>
                        <a:t>null&gt;</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 &lt;</a:t>
                      </a:r>
                      <a:r>
                        <a:rPr lang="en-US" sz="1050" b="1" i="1" dirty="0">
                          <a:effectLst/>
                        </a:rPr>
                        <a:t>null&gt;</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 &lt;</a:t>
                      </a:r>
                      <a:r>
                        <a:rPr lang="en-US" sz="1050" b="1" i="1" dirty="0">
                          <a:effectLst/>
                        </a:rPr>
                        <a:t>null&gt;</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kumimoji="0" lang="en-US" sz="900" b="1" i="0" u="none" strike="noStrike" kern="1200" cap="none" spc="0" normalizeH="0" baseline="0" noProof="0">
                          <a:ln>
                            <a:noFill/>
                          </a:ln>
                          <a:solidFill>
                            <a:srgbClr val="000000"/>
                          </a:solidFill>
                          <a:effectLst/>
                          <a:uLnTx/>
                          <a:uFillTx/>
                          <a:latin typeface="Helvetica"/>
                          <a:ea typeface="+mn-ea"/>
                          <a:cs typeface="+mn-cs"/>
                        </a:rPr>
                        <a:t>&lt;</a:t>
                      </a:r>
                      <a:r>
                        <a:rPr kumimoji="0" lang="en-US" sz="900" b="1" i="1" u="none" strike="noStrike" kern="1200" cap="none" spc="0" normalizeH="0" baseline="0" noProof="0">
                          <a:ln>
                            <a:noFill/>
                          </a:ln>
                          <a:solidFill>
                            <a:srgbClr val="000000"/>
                          </a:solidFill>
                          <a:effectLst/>
                          <a:uLnTx/>
                          <a:uFillTx/>
                          <a:latin typeface="Helvetica"/>
                          <a:ea typeface="+mn-ea"/>
                          <a:cs typeface="+mn-cs"/>
                        </a:rPr>
                        <a:t>null&gt;</a:t>
                      </a:r>
                      <a:endParaRPr lang="en-US" sz="90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extLst>
                  <a:ext uri="{0D108BD9-81ED-4DB2-BD59-A6C34878D82A}">
                    <a16:rowId xmlns:a16="http://schemas.microsoft.com/office/drawing/2014/main" val="897738917"/>
                  </a:ext>
                </a:extLst>
              </a:tr>
              <a:tr h="249059">
                <a:tc>
                  <a:txBody>
                    <a:bodyPr/>
                    <a:lstStyle/>
                    <a:p>
                      <a:pPr marL="0" marR="0">
                        <a:lnSpc>
                          <a:spcPct val="107000"/>
                        </a:lnSpc>
                        <a:spcBef>
                          <a:spcPts val="0"/>
                        </a:spcBef>
                        <a:spcAft>
                          <a:spcPts val="0"/>
                        </a:spcAft>
                      </a:pPr>
                      <a:r>
                        <a:rPr lang="en-US" sz="1050" b="1">
                          <a:effectLst/>
                        </a:rPr>
                        <a:t>12349</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Aug 14 2002</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DHU69863</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940</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2227.8</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Sara Thompson</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1166-3461</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Amelia</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Waverley</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995 Forth Street</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kumimoji="0" lang="en-US" sz="900" b="1" i="0" u="none" strike="noStrike" kern="1200" cap="none" spc="0" normalizeH="0" baseline="0" noProof="0">
                          <a:ln>
                            <a:noFill/>
                          </a:ln>
                          <a:solidFill>
                            <a:srgbClr val="000000"/>
                          </a:solidFill>
                          <a:effectLst/>
                          <a:uLnTx/>
                          <a:uFillTx/>
                          <a:latin typeface="Helvetica"/>
                          <a:ea typeface="+mn-ea"/>
                          <a:cs typeface="+mn-cs"/>
                        </a:rPr>
                        <a:t>&lt;</a:t>
                      </a:r>
                      <a:r>
                        <a:rPr kumimoji="0" lang="en-US" sz="900" b="1" i="1" u="none" strike="noStrike" kern="1200" cap="none" spc="0" normalizeH="0" baseline="0" noProof="0">
                          <a:ln>
                            <a:noFill/>
                          </a:ln>
                          <a:solidFill>
                            <a:srgbClr val="000000"/>
                          </a:solidFill>
                          <a:effectLst/>
                          <a:uLnTx/>
                          <a:uFillTx/>
                          <a:latin typeface="Helvetica"/>
                          <a:ea typeface="+mn-ea"/>
                          <a:cs typeface="+mn-cs"/>
                        </a:rPr>
                        <a:t>null&gt;</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extLst>
                  <a:ext uri="{0D108BD9-81ED-4DB2-BD59-A6C34878D82A}">
                    <a16:rowId xmlns:a16="http://schemas.microsoft.com/office/drawing/2014/main" val="4176984474"/>
                  </a:ext>
                </a:extLst>
              </a:tr>
              <a:tr h="249059">
                <a:tc>
                  <a:txBody>
                    <a:bodyPr/>
                    <a:lstStyle/>
                    <a:p>
                      <a:pPr marL="0" marR="0">
                        <a:lnSpc>
                          <a:spcPct val="107000"/>
                        </a:lnSpc>
                        <a:spcBef>
                          <a:spcPts val="0"/>
                        </a:spcBef>
                        <a:spcAft>
                          <a:spcPts val="0"/>
                        </a:spcAft>
                      </a:pPr>
                      <a:r>
                        <a:rPr lang="en-US" sz="1050" b="1">
                          <a:effectLst/>
                        </a:rPr>
                        <a:t>12350</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Aug 14 2002</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DHU69863</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42</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99.54</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Sara Thompson</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7671-3496</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Antonio</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Gonzales</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55B Granary Lane</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kumimoji="0" lang="en-US" sz="900" b="1" i="0" u="none" strike="noStrike" kern="1200" cap="none" spc="0" normalizeH="0" baseline="0" noProof="0" dirty="0">
                          <a:ln>
                            <a:noFill/>
                          </a:ln>
                          <a:solidFill>
                            <a:srgbClr val="000000"/>
                          </a:solidFill>
                          <a:effectLst/>
                          <a:uLnTx/>
                          <a:uFillTx/>
                          <a:latin typeface="Helvetica"/>
                          <a:ea typeface="+mn-ea"/>
                          <a:cs typeface="+mn-cs"/>
                        </a:rPr>
                        <a:t>&lt;</a:t>
                      </a:r>
                      <a:r>
                        <a:rPr kumimoji="0" lang="en-US" sz="900" b="1" i="1" u="none" strike="noStrike" kern="1200" cap="none" spc="0" normalizeH="0" baseline="0" noProof="0" dirty="0">
                          <a:ln>
                            <a:noFill/>
                          </a:ln>
                          <a:solidFill>
                            <a:srgbClr val="000000"/>
                          </a:solidFill>
                          <a:effectLst/>
                          <a:uLnTx/>
                          <a:uFillTx/>
                          <a:latin typeface="Helvetica"/>
                          <a:ea typeface="+mn-ea"/>
                          <a:cs typeface="+mn-cs"/>
                        </a:rPr>
                        <a:t>null&gt;</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extLst>
                  <a:ext uri="{0D108BD9-81ED-4DB2-BD59-A6C34878D82A}">
                    <a16:rowId xmlns:a16="http://schemas.microsoft.com/office/drawing/2014/main" val="643762065"/>
                  </a:ext>
                </a:extLst>
              </a:tr>
              <a:tr h="351027">
                <a:tc>
                  <a:txBody>
                    <a:bodyPr/>
                    <a:lstStyle/>
                    <a:p>
                      <a:pPr marL="0" marR="0">
                        <a:lnSpc>
                          <a:spcPct val="107000"/>
                        </a:lnSpc>
                        <a:spcBef>
                          <a:spcPts val="0"/>
                        </a:spcBef>
                        <a:spcAft>
                          <a:spcPts val="0"/>
                        </a:spcAft>
                      </a:pPr>
                      <a:r>
                        <a:rPr lang="en-US" sz="1050" b="1" dirty="0">
                          <a:effectLst/>
                        </a:rPr>
                        <a:t>12351</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Aug 14 2002</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AQX88916</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55</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1317.25</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Dave Williams</a:t>
                      </a:r>
                    </a:p>
                    <a:p>
                      <a:pPr marL="0" marR="0">
                        <a:lnSpc>
                          <a:spcPct val="107000"/>
                        </a:lnSpc>
                        <a:spcBef>
                          <a:spcPts val="0"/>
                        </a:spcBef>
                        <a:spcAft>
                          <a:spcPts val="0"/>
                        </a:spcAft>
                      </a:pPr>
                      <a:r>
                        <a:rPr lang="en-US" sz="1050" b="1" dirty="0">
                          <a:effectLst/>
                        </a:rPr>
                        <a:t> </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6794-1674</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Diane</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Adams</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364 East Road</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150</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extLst>
                  <a:ext uri="{0D108BD9-81ED-4DB2-BD59-A6C34878D82A}">
                    <a16:rowId xmlns:a16="http://schemas.microsoft.com/office/drawing/2014/main" val="1134904673"/>
                  </a:ext>
                </a:extLst>
              </a:tr>
            </a:tbl>
          </a:graphicData>
        </a:graphic>
      </p:graphicFrame>
    </p:spTree>
    <p:extLst>
      <p:ext uri="{BB962C8B-B14F-4D97-AF65-F5344CB8AC3E}">
        <p14:creationId xmlns:p14="http://schemas.microsoft.com/office/powerpoint/2010/main" val="209909576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D033AF14-6EAC-4C24-8AC5-F34CF29D928B}"/>
              </a:ext>
            </a:extLst>
          </p:cNvPr>
          <p:cNvSpPr>
            <a:spLocks noGrp="1"/>
          </p:cNvSpPr>
          <p:nvPr>
            <p:ph type="title"/>
          </p:nvPr>
        </p:nvSpPr>
        <p:spPr>
          <a:xfrm>
            <a:off x="592623" y="2624328"/>
            <a:ext cx="8176727" cy="1609344"/>
          </a:xfrm>
        </p:spPr>
        <p:txBody>
          <a:bodyPr>
            <a:noAutofit/>
          </a:bodyPr>
          <a:lstStyle/>
          <a:p>
            <a:pPr algn="r" rtl="1"/>
            <a:r>
              <a:rPr lang="fa-IR" sz="2400" dirty="0">
                <a:solidFill>
                  <a:srgbClr val="000000"/>
                </a:solidFill>
                <a:latin typeface="Tahoma" panose="020B0604030504040204" pitchFamily="34" charset="0"/>
                <a:ea typeface="+mn-ea"/>
                <a:cs typeface="B Nazanin" panose="00000400000000000000" pitchFamily="2" charset="-78"/>
              </a:rPr>
              <a:t>مثال. جدول </a:t>
            </a:r>
            <a:r>
              <a:rPr lang="fa-IR" sz="2400" dirty="0" err="1">
                <a:solidFill>
                  <a:srgbClr val="000000"/>
                </a:solidFill>
                <a:latin typeface="Tahoma" panose="020B0604030504040204" pitchFamily="34" charset="0"/>
                <a:ea typeface="+mn-ea"/>
                <a:cs typeface="B Nazanin" panose="00000400000000000000" pitchFamily="2" charset="-78"/>
              </a:rPr>
              <a:t>زير</a:t>
            </a:r>
            <a:r>
              <a:rPr lang="fa-IR" sz="2400" dirty="0">
                <a:solidFill>
                  <a:srgbClr val="000000"/>
                </a:solidFill>
                <a:latin typeface="Tahoma" panose="020B0604030504040204" pitchFamily="34" charset="0"/>
                <a:ea typeface="+mn-ea"/>
                <a:cs typeface="B Nazanin" panose="00000400000000000000" pitchFamily="2" charset="-78"/>
              </a:rPr>
              <a:t> که اطلاعات مربوط به </a:t>
            </a:r>
            <a:r>
              <a:rPr lang="fa-IR" sz="2400" dirty="0" err="1">
                <a:solidFill>
                  <a:srgbClr val="000000"/>
                </a:solidFill>
                <a:latin typeface="Tahoma" panose="020B0604030504040204" pitchFamily="34" charset="0"/>
                <a:ea typeface="+mn-ea"/>
                <a:cs typeface="B Nazanin" panose="00000400000000000000" pitchFamily="2" charset="-78"/>
              </a:rPr>
              <a:t>خريد</a:t>
            </a:r>
            <a:r>
              <a:rPr lang="fa-IR" sz="2400" dirty="0">
                <a:solidFill>
                  <a:srgbClr val="000000"/>
                </a:solidFill>
                <a:latin typeface="Tahoma" panose="020B0604030504040204" pitchFamily="34" charset="0"/>
                <a:ea typeface="+mn-ea"/>
                <a:cs typeface="B Nazanin" panose="00000400000000000000" pitchFamily="2" charset="-78"/>
              </a:rPr>
              <a:t> </a:t>
            </a:r>
            <a:r>
              <a:rPr lang="fa-IR" sz="2400" dirty="0" err="1">
                <a:solidFill>
                  <a:srgbClr val="000000"/>
                </a:solidFill>
                <a:latin typeface="Tahoma" panose="020B0604030504040204" pitchFamily="34" charset="0"/>
                <a:ea typeface="+mn-ea"/>
                <a:cs typeface="B Nazanin" panose="00000400000000000000" pitchFamily="2" charset="-78"/>
              </a:rPr>
              <a:t>مشتريان</a:t>
            </a:r>
            <a:r>
              <a:rPr lang="fa-IR" sz="2400" dirty="0">
                <a:solidFill>
                  <a:srgbClr val="000000"/>
                </a:solidFill>
                <a:latin typeface="Tahoma" panose="020B0604030504040204" pitchFamily="34" charset="0"/>
                <a:ea typeface="+mn-ea"/>
                <a:cs typeface="B Nazanin" panose="00000400000000000000" pitchFamily="2" charset="-78"/>
              </a:rPr>
              <a:t> را دارد </a:t>
            </a:r>
            <a:r>
              <a:rPr lang="fa-IR" sz="2400" dirty="0" err="1">
                <a:solidFill>
                  <a:srgbClr val="000000"/>
                </a:solidFill>
                <a:latin typeface="Tahoma" panose="020B0604030504040204" pitchFamily="34" charset="0"/>
                <a:ea typeface="+mn-ea"/>
                <a:cs typeface="B Nazanin" panose="00000400000000000000" pitchFamily="2" charset="-78"/>
              </a:rPr>
              <a:t>درنظر</a:t>
            </a:r>
            <a:r>
              <a:rPr lang="fa-IR" sz="2400" dirty="0">
                <a:solidFill>
                  <a:srgbClr val="000000"/>
                </a:solidFill>
                <a:latin typeface="Tahoma" panose="020B0604030504040204" pitchFamily="34" charset="0"/>
                <a:ea typeface="+mn-ea"/>
                <a:cs typeface="B Nazanin" panose="00000400000000000000" pitchFamily="2" charset="-78"/>
              </a:rPr>
              <a:t> </a:t>
            </a:r>
            <a:r>
              <a:rPr lang="fa-IR" sz="2400" dirty="0" err="1">
                <a:solidFill>
                  <a:srgbClr val="000000"/>
                </a:solidFill>
                <a:latin typeface="Tahoma" panose="020B0604030504040204" pitchFamily="34" charset="0"/>
                <a:ea typeface="+mn-ea"/>
                <a:cs typeface="B Nazanin" panose="00000400000000000000" pitchFamily="2" charset="-78"/>
              </a:rPr>
              <a:t>بگيريد</a:t>
            </a:r>
            <a:r>
              <a:rPr lang="fa-IR" sz="2400" dirty="0">
                <a:solidFill>
                  <a:srgbClr val="000000"/>
                </a:solidFill>
                <a:latin typeface="Tahoma" panose="020B0604030504040204" pitchFamily="34" charset="0"/>
                <a:ea typeface="+mn-ea"/>
                <a:cs typeface="B Nazanin" panose="00000400000000000000" pitchFamily="2" charset="-78"/>
              </a:rPr>
              <a:t>:</a:t>
            </a:r>
            <a:br>
              <a:rPr lang="en-US" altLang="en-US" sz="2400" dirty="0">
                <a:solidFill>
                  <a:srgbClr val="000000"/>
                </a:solidFill>
                <a:latin typeface="Tahoma" panose="020B0604030504040204" pitchFamily="34" charset="0"/>
                <a:ea typeface="+mn-ea"/>
                <a:cs typeface="B Nazanin" panose="00000400000000000000" pitchFamily="2" charset="-78"/>
              </a:rPr>
            </a:br>
            <a:endParaRPr lang="en-US" sz="2400" dirty="0"/>
          </a:p>
        </p:txBody>
      </p:sp>
      <p:sp>
        <p:nvSpPr>
          <p:cNvPr id="143362" name="Content Placeholder 2"/>
          <p:cNvSpPr>
            <a:spLocks noGrp="1"/>
          </p:cNvSpPr>
          <p:nvPr>
            <p:ph idx="1"/>
          </p:nvPr>
        </p:nvSpPr>
        <p:spPr>
          <a:xfrm>
            <a:off x="299471" y="381000"/>
            <a:ext cx="8295081" cy="4999037"/>
          </a:xfrm>
        </p:spPr>
        <p:txBody>
          <a:bodyPr>
            <a:normAutofit/>
          </a:bodyPr>
          <a:lstStyle/>
          <a:p>
            <a:pPr algn="r" rtl="1" eaLnBrk="0" fontAlgn="base" hangingPunct="0">
              <a:lnSpc>
                <a:spcPct val="100000"/>
              </a:lnSpc>
              <a:spcBef>
                <a:spcPct val="0"/>
              </a:spcBef>
              <a:spcAft>
                <a:spcPct val="0"/>
              </a:spcAft>
              <a:buClrTx/>
            </a:pPr>
            <a:r>
              <a:rPr lang="fa-IR" altLang="en-US" sz="2800" dirty="0">
                <a:latin typeface="Arial" panose="020B0604020202020204" pitchFamily="34" charset="0"/>
                <a:cs typeface="B Nazanin" panose="00000400000000000000" pitchFamily="2" charset="-78"/>
              </a:rPr>
              <a:t>راهکار:</a:t>
            </a:r>
          </a:p>
          <a:p>
            <a:pPr algn="r" rtl="1" eaLnBrk="0" fontAlgn="base" hangingPunct="0">
              <a:lnSpc>
                <a:spcPct val="100000"/>
              </a:lnSpc>
              <a:spcBef>
                <a:spcPct val="0"/>
              </a:spcBef>
              <a:spcAft>
                <a:spcPct val="0"/>
              </a:spcAft>
              <a:buClrTx/>
            </a:pPr>
            <a:r>
              <a:rPr lang="ar-SA" altLang="en-US" sz="2800" b="1" dirty="0">
                <a:solidFill>
                  <a:srgbClr val="000000"/>
                </a:solidFill>
                <a:latin typeface="Tahoma" panose="020B0604030504040204" pitchFamily="34" charset="0"/>
                <a:cs typeface="B Nazanin" panose="00000400000000000000" pitchFamily="2" charset="-78"/>
              </a:rPr>
              <a:t>جدا کردن داده های جدول </a:t>
            </a:r>
            <a:r>
              <a:rPr lang="fa-IR" altLang="en-US" sz="2800" dirty="0">
                <a:solidFill>
                  <a:srgbClr val="000000"/>
                </a:solidFill>
                <a:latin typeface="Tahoma" panose="020B0604030504040204" pitchFamily="34" charset="0"/>
                <a:cs typeface="B Nazanin" panose="00000400000000000000" pitchFamily="2" charset="-78"/>
              </a:rPr>
              <a:t>زیر</a:t>
            </a:r>
            <a:r>
              <a:rPr lang="ar-SA" altLang="en-US" sz="2800" dirty="0">
                <a:solidFill>
                  <a:srgbClr val="000000"/>
                </a:solidFill>
                <a:latin typeface="Tahoma" panose="020B0604030504040204" pitchFamily="34" charset="0"/>
                <a:cs typeface="B Nazanin" panose="00000400000000000000" pitchFamily="2" charset="-78"/>
              </a:rPr>
              <a:t> به جداول جداگانه افزونگی را کاهش می دهد</a:t>
            </a:r>
            <a:endParaRPr lang="fa-IR" altLang="en-US" sz="2800" dirty="0">
              <a:solidFill>
                <a:srgbClr val="000000"/>
              </a:solidFill>
              <a:latin typeface="Tahoma" panose="020B0604030504040204" pitchFamily="34" charset="0"/>
              <a:cs typeface="B Nazanin" panose="00000400000000000000" pitchFamily="2" charset="-78"/>
            </a:endParaRPr>
          </a:p>
          <a:p>
            <a:pPr algn="r" rtl="1" eaLnBrk="0" fontAlgn="base" hangingPunct="0">
              <a:lnSpc>
                <a:spcPct val="100000"/>
              </a:lnSpc>
              <a:spcBef>
                <a:spcPct val="0"/>
              </a:spcBef>
              <a:spcAft>
                <a:spcPct val="0"/>
              </a:spcAft>
              <a:buClrTx/>
            </a:pPr>
            <a:r>
              <a:rPr lang="ar-SA" altLang="en-US" sz="2800" dirty="0">
                <a:solidFill>
                  <a:srgbClr val="000000"/>
                </a:solidFill>
                <a:latin typeface="Tahoma" panose="020B0604030504040204" pitchFamily="34" charset="0"/>
                <a:cs typeface="B Nazanin" panose="00000400000000000000" pitchFamily="2" charset="-78"/>
              </a:rPr>
              <a:t>مواجهه با </a:t>
            </a:r>
            <a:r>
              <a:rPr lang="ar-SA" altLang="en-US" sz="2800" b="1" dirty="0">
                <a:solidFill>
                  <a:srgbClr val="000000"/>
                </a:solidFill>
                <a:latin typeface="Tahoma" panose="020B0604030504040204" pitchFamily="34" charset="0"/>
                <a:cs typeface="B Nazanin" panose="00000400000000000000" pitchFamily="2" charset="-78"/>
              </a:rPr>
              <a:t>آنومالی های فوق </a:t>
            </a:r>
            <a:r>
              <a:rPr lang="ar-SA" altLang="en-US" sz="2800" dirty="0">
                <a:solidFill>
                  <a:srgbClr val="000000"/>
                </a:solidFill>
                <a:latin typeface="Tahoma" panose="020B0604030504040204" pitchFamily="34" charset="0"/>
                <a:cs typeface="B Nazanin" panose="00000400000000000000" pitchFamily="2" charset="-78"/>
              </a:rPr>
              <a:t>را ساده تر می کند.</a:t>
            </a:r>
            <a:endParaRPr lang="fa-IR" altLang="en-US" sz="2800" dirty="0">
              <a:solidFill>
                <a:srgbClr val="000000"/>
              </a:solidFill>
              <a:latin typeface="Tahoma" panose="020B0604030504040204" pitchFamily="34" charset="0"/>
              <a:cs typeface="B Nazanin" panose="00000400000000000000" pitchFamily="2" charset="-78"/>
            </a:endParaRPr>
          </a:p>
          <a:p>
            <a:pPr algn="r" rtl="1" eaLnBrk="0" fontAlgn="base" hangingPunct="0">
              <a:lnSpc>
                <a:spcPct val="100000"/>
              </a:lnSpc>
              <a:spcBef>
                <a:spcPct val="0"/>
              </a:spcBef>
              <a:spcAft>
                <a:spcPct val="0"/>
              </a:spcAft>
              <a:buClrTx/>
            </a:pPr>
            <a:r>
              <a:rPr lang="ar-SA" altLang="en-US" sz="2800" dirty="0">
                <a:solidFill>
                  <a:srgbClr val="000000"/>
                </a:solidFill>
                <a:latin typeface="Tahoma" panose="020B0604030504040204" pitchFamily="34" charset="0"/>
                <a:cs typeface="B Nazanin" panose="00000400000000000000" pitchFamily="2" charset="-78"/>
              </a:rPr>
              <a:t> اين فرآيند را </a:t>
            </a:r>
            <a:r>
              <a:rPr lang="ar-SA" altLang="en-US" sz="2800" b="1" dirty="0">
                <a:solidFill>
                  <a:srgbClr val="000000"/>
                </a:solidFill>
                <a:latin typeface="Tahoma" panose="020B0604030504040204" pitchFamily="34" charset="0"/>
                <a:cs typeface="B Nazanin" panose="00000400000000000000" pitchFamily="2" charset="-78"/>
              </a:rPr>
              <a:t>نرمالسازی</a:t>
            </a:r>
            <a:r>
              <a:rPr lang="ar-SA" altLang="en-US" sz="2800" dirty="0">
                <a:solidFill>
                  <a:srgbClr val="000000"/>
                </a:solidFill>
                <a:latin typeface="Tahoma" panose="020B0604030504040204" pitchFamily="34" charset="0"/>
                <a:cs typeface="B Nazanin" panose="00000400000000000000" pitchFamily="2" charset="-78"/>
              </a:rPr>
              <a:t> می نامند.</a:t>
            </a:r>
            <a:endParaRPr lang="ar-SA" altLang="en-US" sz="4800" dirty="0">
              <a:latin typeface="Arial" panose="020B0604020202020204" pitchFamily="34" charset="0"/>
              <a:cs typeface="B Nazanin" panose="00000400000000000000" pitchFamily="2" charset="-78"/>
            </a:endParaRPr>
          </a:p>
          <a:p>
            <a:pPr algn="r" rtl="1" eaLnBrk="0" fontAlgn="base" hangingPunct="0">
              <a:lnSpc>
                <a:spcPct val="100000"/>
              </a:lnSpc>
              <a:spcBef>
                <a:spcPct val="0"/>
              </a:spcBef>
              <a:spcAft>
                <a:spcPct val="0"/>
              </a:spcAft>
              <a:buClrTx/>
            </a:pPr>
            <a:endParaRPr lang="ar-SA" altLang="en-US" sz="2800" dirty="0">
              <a:latin typeface="Arial" panose="020B0604020202020204" pitchFamily="34" charset="0"/>
              <a:cs typeface="B Nazanin" panose="00000400000000000000" pitchFamily="2" charset="-78"/>
            </a:endParaRPr>
          </a:p>
        </p:txBody>
      </p:sp>
      <p:sp>
        <p:nvSpPr>
          <p:cNvPr id="3" name="Slide Number Placeholder 2">
            <a:extLst>
              <a:ext uri="{FF2B5EF4-FFF2-40B4-BE49-F238E27FC236}">
                <a16:creationId xmlns:a16="http://schemas.microsoft.com/office/drawing/2014/main" id="{82B0C9E7-7385-46E1-8F44-40A33D4AB2EF}"/>
              </a:ext>
            </a:extLst>
          </p:cNvPr>
          <p:cNvSpPr>
            <a:spLocks noGrp="1"/>
          </p:cNvSpPr>
          <p:nvPr>
            <p:ph type="sldNum" sz="quarter" idx="4294967295"/>
          </p:nvPr>
        </p:nvSpPr>
        <p:spPr>
          <a:xfrm>
            <a:off x="7994650" y="6334125"/>
            <a:ext cx="1149350" cy="365125"/>
          </a:xfrm>
        </p:spPr>
        <p:txBody>
          <a:bodyPr/>
          <a:lstStyle/>
          <a:p>
            <a:fld id="{9B1BEC6B-D08C-4686-9D99-35ADA0E9E6CD}" type="slidenum">
              <a:rPr lang="en-US" smtClean="0"/>
              <a:t>9</a:t>
            </a:fld>
            <a:endParaRPr lang="en-US"/>
          </a:p>
        </p:txBody>
      </p:sp>
      <p:graphicFrame>
        <p:nvGraphicFramePr>
          <p:cNvPr id="7" name="Table 6">
            <a:extLst>
              <a:ext uri="{FF2B5EF4-FFF2-40B4-BE49-F238E27FC236}">
                <a16:creationId xmlns:a16="http://schemas.microsoft.com/office/drawing/2014/main" id="{AA623E29-4F96-482A-AFB2-FECF5EB93828}"/>
              </a:ext>
            </a:extLst>
          </p:cNvPr>
          <p:cNvGraphicFramePr>
            <a:graphicFrameLocks noGrp="1"/>
          </p:cNvGraphicFramePr>
          <p:nvPr/>
        </p:nvGraphicFramePr>
        <p:xfrm>
          <a:off x="81497" y="3962400"/>
          <a:ext cx="8981005" cy="2682351"/>
        </p:xfrm>
        <a:graphic>
          <a:graphicData uri="http://schemas.openxmlformats.org/drawingml/2006/table">
            <a:tbl>
              <a:tblPr firstRow="1" firstCol="1" bandRow="1">
                <a:tableStyleId>{616DA210-FB5B-4158-B5E0-FEB733F419BA}</a:tableStyleId>
              </a:tblPr>
              <a:tblGrid>
                <a:gridCol w="586937">
                  <a:extLst>
                    <a:ext uri="{9D8B030D-6E8A-4147-A177-3AD203B41FA5}">
                      <a16:colId xmlns:a16="http://schemas.microsoft.com/office/drawing/2014/main" val="234041042"/>
                    </a:ext>
                  </a:extLst>
                </a:gridCol>
                <a:gridCol w="940021">
                  <a:extLst>
                    <a:ext uri="{9D8B030D-6E8A-4147-A177-3AD203B41FA5}">
                      <a16:colId xmlns:a16="http://schemas.microsoft.com/office/drawing/2014/main" val="3415118693"/>
                    </a:ext>
                  </a:extLst>
                </a:gridCol>
                <a:gridCol w="922588">
                  <a:extLst>
                    <a:ext uri="{9D8B030D-6E8A-4147-A177-3AD203B41FA5}">
                      <a16:colId xmlns:a16="http://schemas.microsoft.com/office/drawing/2014/main" val="3881982512"/>
                    </a:ext>
                  </a:extLst>
                </a:gridCol>
                <a:gridCol w="461294">
                  <a:extLst>
                    <a:ext uri="{9D8B030D-6E8A-4147-A177-3AD203B41FA5}">
                      <a16:colId xmlns:a16="http://schemas.microsoft.com/office/drawing/2014/main" val="2484215510"/>
                    </a:ext>
                  </a:extLst>
                </a:gridCol>
                <a:gridCol w="682078">
                  <a:extLst>
                    <a:ext uri="{9D8B030D-6E8A-4147-A177-3AD203B41FA5}">
                      <a16:colId xmlns:a16="http://schemas.microsoft.com/office/drawing/2014/main" val="1297653461"/>
                    </a:ext>
                  </a:extLst>
                </a:gridCol>
                <a:gridCol w="1156146">
                  <a:extLst>
                    <a:ext uri="{9D8B030D-6E8A-4147-A177-3AD203B41FA5}">
                      <a16:colId xmlns:a16="http://schemas.microsoft.com/office/drawing/2014/main" val="3484224265"/>
                    </a:ext>
                  </a:extLst>
                </a:gridCol>
                <a:gridCol w="847841">
                  <a:extLst>
                    <a:ext uri="{9D8B030D-6E8A-4147-A177-3AD203B41FA5}">
                      <a16:colId xmlns:a16="http://schemas.microsoft.com/office/drawing/2014/main" val="3482110401"/>
                    </a:ext>
                  </a:extLst>
                </a:gridCol>
                <a:gridCol w="770764">
                  <a:extLst>
                    <a:ext uri="{9D8B030D-6E8A-4147-A177-3AD203B41FA5}">
                      <a16:colId xmlns:a16="http://schemas.microsoft.com/office/drawing/2014/main" val="1813858957"/>
                    </a:ext>
                  </a:extLst>
                </a:gridCol>
                <a:gridCol w="770764">
                  <a:extLst>
                    <a:ext uri="{9D8B030D-6E8A-4147-A177-3AD203B41FA5}">
                      <a16:colId xmlns:a16="http://schemas.microsoft.com/office/drawing/2014/main" val="1355875302"/>
                    </a:ext>
                  </a:extLst>
                </a:gridCol>
                <a:gridCol w="1310300">
                  <a:extLst>
                    <a:ext uri="{9D8B030D-6E8A-4147-A177-3AD203B41FA5}">
                      <a16:colId xmlns:a16="http://schemas.microsoft.com/office/drawing/2014/main" val="1675925667"/>
                    </a:ext>
                  </a:extLst>
                </a:gridCol>
                <a:gridCol w="532272">
                  <a:extLst>
                    <a:ext uri="{9D8B030D-6E8A-4147-A177-3AD203B41FA5}">
                      <a16:colId xmlns:a16="http://schemas.microsoft.com/office/drawing/2014/main" val="236614085"/>
                    </a:ext>
                  </a:extLst>
                </a:gridCol>
              </a:tblGrid>
              <a:tr h="531066">
                <a:tc>
                  <a:txBody>
                    <a:bodyPr/>
                    <a:lstStyle/>
                    <a:p>
                      <a:pPr marL="0" marR="0">
                        <a:lnSpc>
                          <a:spcPct val="107000"/>
                        </a:lnSpc>
                        <a:spcBef>
                          <a:spcPts val="0"/>
                        </a:spcBef>
                        <a:spcAft>
                          <a:spcPts val="0"/>
                        </a:spcAft>
                      </a:pPr>
                      <a:r>
                        <a:rPr lang="en-US" sz="1100" dirty="0">
                          <a:solidFill>
                            <a:schemeClr val="tx2">
                              <a:lumMod val="75000"/>
                            </a:schemeClr>
                          </a:solidFill>
                          <a:effectLst/>
                        </a:rPr>
                        <a:t>Sale No</a:t>
                      </a:r>
                      <a:endParaRPr lang="en-US" sz="1100" dirty="0">
                        <a:solidFill>
                          <a:schemeClr val="tx2">
                            <a:lumMod val="75000"/>
                          </a:schemeClr>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100" dirty="0" err="1">
                          <a:solidFill>
                            <a:schemeClr val="tx2">
                              <a:lumMod val="75000"/>
                            </a:schemeClr>
                          </a:solidFill>
                          <a:effectLst/>
                        </a:rPr>
                        <a:t>SaleDate</a:t>
                      </a:r>
                      <a:endParaRPr lang="en-US" sz="1100" dirty="0">
                        <a:solidFill>
                          <a:schemeClr val="tx2">
                            <a:lumMod val="75000"/>
                          </a:schemeClr>
                        </a:solidFill>
                        <a:effectLst/>
                      </a:endParaRPr>
                    </a:p>
                    <a:p>
                      <a:pPr marL="0" marR="0">
                        <a:lnSpc>
                          <a:spcPct val="107000"/>
                        </a:lnSpc>
                        <a:spcBef>
                          <a:spcPts val="0"/>
                        </a:spcBef>
                        <a:spcAft>
                          <a:spcPts val="0"/>
                        </a:spcAft>
                      </a:pPr>
                      <a:r>
                        <a:rPr lang="en-US" sz="1100" dirty="0">
                          <a:solidFill>
                            <a:schemeClr val="tx2">
                              <a:lumMod val="75000"/>
                            </a:schemeClr>
                          </a:solidFill>
                          <a:effectLst/>
                        </a:rPr>
                        <a:t> </a:t>
                      </a:r>
                      <a:endParaRPr lang="en-US" sz="1100" dirty="0">
                        <a:solidFill>
                          <a:schemeClr val="tx2">
                            <a:lumMod val="75000"/>
                          </a:schemeClr>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100" dirty="0" err="1">
                          <a:solidFill>
                            <a:schemeClr val="tx2">
                              <a:lumMod val="75000"/>
                            </a:schemeClr>
                          </a:solidFill>
                          <a:effectLst/>
                        </a:rPr>
                        <a:t>ProductNo</a:t>
                      </a:r>
                      <a:endParaRPr lang="en-US" sz="1100" dirty="0">
                        <a:solidFill>
                          <a:schemeClr val="tx2">
                            <a:lumMod val="75000"/>
                          </a:schemeClr>
                        </a:solidFill>
                        <a:effectLst/>
                      </a:endParaRPr>
                    </a:p>
                    <a:p>
                      <a:pPr marL="0" marR="0">
                        <a:lnSpc>
                          <a:spcPct val="107000"/>
                        </a:lnSpc>
                        <a:spcBef>
                          <a:spcPts val="0"/>
                        </a:spcBef>
                        <a:spcAft>
                          <a:spcPts val="0"/>
                        </a:spcAft>
                      </a:pPr>
                      <a:r>
                        <a:rPr lang="en-US" sz="1100" dirty="0">
                          <a:solidFill>
                            <a:schemeClr val="tx2">
                              <a:lumMod val="75000"/>
                            </a:schemeClr>
                          </a:solidFill>
                          <a:effectLst/>
                        </a:rPr>
                        <a:t> </a:t>
                      </a:r>
                      <a:endParaRPr lang="en-US" sz="1100" dirty="0">
                        <a:solidFill>
                          <a:schemeClr val="tx2">
                            <a:lumMod val="75000"/>
                          </a:schemeClr>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100">
                          <a:solidFill>
                            <a:schemeClr val="tx2">
                              <a:lumMod val="75000"/>
                            </a:schemeClr>
                          </a:solidFill>
                          <a:effectLst/>
                        </a:rPr>
                        <a:t>Qty</a:t>
                      </a:r>
                      <a:endParaRPr lang="en-US" sz="1100">
                        <a:solidFill>
                          <a:schemeClr val="tx2">
                            <a:lumMod val="75000"/>
                          </a:schemeClr>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100" dirty="0">
                          <a:solidFill>
                            <a:schemeClr val="tx2">
                              <a:lumMod val="75000"/>
                            </a:schemeClr>
                          </a:solidFill>
                          <a:effectLst/>
                        </a:rPr>
                        <a:t>Amount</a:t>
                      </a:r>
                      <a:endParaRPr lang="en-US" sz="1100" dirty="0">
                        <a:solidFill>
                          <a:schemeClr val="tx2">
                            <a:lumMod val="75000"/>
                          </a:schemeClr>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100" dirty="0" err="1">
                          <a:solidFill>
                            <a:schemeClr val="tx2">
                              <a:lumMod val="75000"/>
                            </a:schemeClr>
                          </a:solidFill>
                          <a:effectLst/>
                        </a:rPr>
                        <a:t>Salesrep</a:t>
                      </a:r>
                      <a:endParaRPr lang="en-US" sz="1100" dirty="0">
                        <a:solidFill>
                          <a:schemeClr val="tx2">
                            <a:lumMod val="75000"/>
                          </a:schemeClr>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100" dirty="0" err="1">
                          <a:solidFill>
                            <a:schemeClr val="tx2">
                              <a:lumMod val="75000"/>
                            </a:schemeClr>
                          </a:solidFill>
                          <a:effectLst/>
                        </a:rPr>
                        <a:t>CustomerNo</a:t>
                      </a:r>
                      <a:endParaRPr lang="en-US" sz="1100" dirty="0">
                        <a:solidFill>
                          <a:schemeClr val="tx2">
                            <a:lumMod val="75000"/>
                          </a:schemeClr>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100" dirty="0">
                          <a:solidFill>
                            <a:schemeClr val="tx2">
                              <a:lumMod val="75000"/>
                            </a:schemeClr>
                          </a:solidFill>
                          <a:effectLst/>
                        </a:rPr>
                        <a:t>First</a:t>
                      </a:r>
                      <a:endParaRPr lang="en-US" sz="1100" dirty="0">
                        <a:solidFill>
                          <a:schemeClr val="tx2">
                            <a:lumMod val="75000"/>
                          </a:schemeClr>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100">
                          <a:solidFill>
                            <a:schemeClr val="tx2">
                              <a:lumMod val="75000"/>
                            </a:schemeClr>
                          </a:solidFill>
                          <a:effectLst/>
                        </a:rPr>
                        <a:t>Last</a:t>
                      </a:r>
                      <a:endParaRPr lang="en-US" sz="1100">
                        <a:solidFill>
                          <a:schemeClr val="tx2">
                            <a:lumMod val="75000"/>
                          </a:schemeClr>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100">
                          <a:solidFill>
                            <a:schemeClr val="tx2">
                              <a:lumMod val="75000"/>
                            </a:schemeClr>
                          </a:solidFill>
                          <a:effectLst/>
                        </a:rPr>
                        <a:t>Address</a:t>
                      </a:r>
                      <a:endParaRPr lang="en-US" sz="1100">
                        <a:solidFill>
                          <a:schemeClr val="tx2">
                            <a:lumMod val="75000"/>
                          </a:schemeClr>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100" dirty="0" err="1">
                          <a:solidFill>
                            <a:schemeClr val="tx2">
                              <a:lumMod val="75000"/>
                            </a:schemeClr>
                          </a:solidFill>
                          <a:effectLst/>
                        </a:rPr>
                        <a:t>CreditLimit</a:t>
                      </a:r>
                      <a:endParaRPr lang="en-US" sz="1100" dirty="0">
                        <a:solidFill>
                          <a:schemeClr val="tx2">
                            <a:lumMod val="75000"/>
                          </a:schemeClr>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extLst>
                  <a:ext uri="{0D108BD9-81ED-4DB2-BD59-A6C34878D82A}">
                    <a16:rowId xmlns:a16="http://schemas.microsoft.com/office/drawing/2014/main" val="1378874611"/>
                  </a:ext>
                </a:extLst>
              </a:tr>
              <a:tr h="351027">
                <a:tc>
                  <a:txBody>
                    <a:bodyPr/>
                    <a:lstStyle/>
                    <a:p>
                      <a:pPr marL="0" marR="0">
                        <a:lnSpc>
                          <a:spcPct val="107000"/>
                        </a:lnSpc>
                        <a:spcBef>
                          <a:spcPts val="0"/>
                        </a:spcBef>
                        <a:spcAft>
                          <a:spcPts val="0"/>
                        </a:spcAft>
                      </a:pPr>
                      <a:r>
                        <a:rPr lang="en-US" sz="1050" b="1" dirty="0">
                          <a:effectLst/>
                        </a:rPr>
                        <a:t>12345</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Aug 12 2002</a:t>
                      </a:r>
                    </a:p>
                    <a:p>
                      <a:pPr marL="0" marR="0">
                        <a:lnSpc>
                          <a:spcPct val="107000"/>
                        </a:lnSpc>
                        <a:spcBef>
                          <a:spcPts val="0"/>
                        </a:spcBef>
                        <a:spcAft>
                          <a:spcPts val="0"/>
                        </a:spcAft>
                      </a:pPr>
                      <a:r>
                        <a:rPr lang="en-US" sz="1050" b="1" dirty="0">
                          <a:effectLst/>
                        </a:rPr>
                        <a:t> </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AQX88916</a:t>
                      </a:r>
                    </a:p>
                    <a:p>
                      <a:pPr marL="0" marR="0">
                        <a:lnSpc>
                          <a:spcPct val="107000"/>
                        </a:lnSpc>
                        <a:spcBef>
                          <a:spcPts val="0"/>
                        </a:spcBef>
                        <a:spcAft>
                          <a:spcPts val="0"/>
                        </a:spcAft>
                      </a:pPr>
                      <a:r>
                        <a:rPr lang="en-US" sz="1050" b="1">
                          <a:effectLst/>
                        </a:rPr>
                        <a:t> </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1</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23.95</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Dave Williams</a:t>
                      </a:r>
                    </a:p>
                    <a:p>
                      <a:pPr marL="0" marR="0">
                        <a:lnSpc>
                          <a:spcPct val="107000"/>
                        </a:lnSpc>
                        <a:spcBef>
                          <a:spcPts val="0"/>
                        </a:spcBef>
                        <a:spcAft>
                          <a:spcPts val="0"/>
                        </a:spcAft>
                      </a:pPr>
                      <a:r>
                        <a:rPr lang="en-US" sz="1050" b="1">
                          <a:effectLst/>
                        </a:rPr>
                        <a:t> </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4649-4673</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Richard</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Johnston</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14 West Avenue</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1000</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extLst>
                  <a:ext uri="{0D108BD9-81ED-4DB2-BD59-A6C34878D82A}">
                    <a16:rowId xmlns:a16="http://schemas.microsoft.com/office/drawing/2014/main" val="1720734119"/>
                  </a:ext>
                </a:extLst>
              </a:tr>
              <a:tr h="351027">
                <a:tc>
                  <a:txBody>
                    <a:bodyPr/>
                    <a:lstStyle/>
                    <a:p>
                      <a:pPr marL="0" marR="0">
                        <a:lnSpc>
                          <a:spcPct val="107000"/>
                        </a:lnSpc>
                        <a:spcBef>
                          <a:spcPts val="0"/>
                        </a:spcBef>
                        <a:spcAft>
                          <a:spcPts val="0"/>
                        </a:spcAft>
                      </a:pPr>
                      <a:r>
                        <a:rPr lang="en-US" sz="1050" b="1">
                          <a:effectLst/>
                        </a:rPr>
                        <a:t>12346</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Aug 12 2002</a:t>
                      </a:r>
                    </a:p>
                    <a:p>
                      <a:pPr marL="0" marR="0">
                        <a:lnSpc>
                          <a:spcPct val="107000"/>
                        </a:lnSpc>
                        <a:spcBef>
                          <a:spcPts val="0"/>
                        </a:spcBef>
                        <a:spcAft>
                          <a:spcPts val="0"/>
                        </a:spcAft>
                      </a:pPr>
                      <a:r>
                        <a:rPr lang="en-US" sz="1050" b="1">
                          <a:effectLst/>
                        </a:rPr>
                        <a:t> </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AQX88916</a:t>
                      </a:r>
                    </a:p>
                    <a:p>
                      <a:pPr marL="0" marR="0">
                        <a:lnSpc>
                          <a:spcPct val="107000"/>
                        </a:lnSpc>
                        <a:spcBef>
                          <a:spcPts val="0"/>
                        </a:spcBef>
                        <a:spcAft>
                          <a:spcPts val="0"/>
                        </a:spcAft>
                      </a:pPr>
                      <a:r>
                        <a:rPr lang="en-US" sz="1050" b="1" dirty="0">
                          <a:effectLst/>
                        </a:rPr>
                        <a:t> </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7</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167.65</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Sara Thompson</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1113-7741</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Wayne</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Jones</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42 York Street</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kumimoji="0" lang="en-US" sz="900" b="1" i="0" u="none" strike="noStrike" kern="1200" cap="none" spc="0" normalizeH="0" baseline="0" noProof="0">
                          <a:ln>
                            <a:noFill/>
                          </a:ln>
                          <a:solidFill>
                            <a:srgbClr val="000000"/>
                          </a:solidFill>
                          <a:effectLst/>
                          <a:uLnTx/>
                          <a:uFillTx/>
                          <a:latin typeface="Helvetica"/>
                          <a:ea typeface="+mn-ea"/>
                          <a:cs typeface="+mn-cs"/>
                        </a:rPr>
                        <a:t>&lt;</a:t>
                      </a:r>
                      <a:r>
                        <a:rPr kumimoji="0" lang="en-US" sz="900" b="1" i="1" u="none" strike="noStrike" kern="1200" cap="none" spc="0" normalizeH="0" baseline="0" noProof="0">
                          <a:ln>
                            <a:noFill/>
                          </a:ln>
                          <a:solidFill>
                            <a:srgbClr val="000000"/>
                          </a:solidFill>
                          <a:effectLst/>
                          <a:uLnTx/>
                          <a:uFillTx/>
                          <a:latin typeface="Helvetica"/>
                          <a:ea typeface="+mn-ea"/>
                          <a:cs typeface="+mn-cs"/>
                        </a:rPr>
                        <a:t>null&gt;</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extLst>
                  <a:ext uri="{0D108BD9-81ED-4DB2-BD59-A6C34878D82A}">
                    <a16:rowId xmlns:a16="http://schemas.microsoft.com/office/drawing/2014/main" val="1020454084"/>
                  </a:ext>
                </a:extLst>
              </a:tr>
              <a:tr h="351027">
                <a:tc>
                  <a:txBody>
                    <a:bodyPr/>
                    <a:lstStyle/>
                    <a:p>
                      <a:pPr marL="0" marR="0">
                        <a:lnSpc>
                          <a:spcPct val="107000"/>
                        </a:lnSpc>
                        <a:spcBef>
                          <a:spcPts val="0"/>
                        </a:spcBef>
                        <a:spcAft>
                          <a:spcPts val="0"/>
                        </a:spcAft>
                      </a:pPr>
                      <a:r>
                        <a:rPr lang="en-US" sz="1050" b="1">
                          <a:effectLst/>
                        </a:rPr>
                        <a:t>12347</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Aug 13 2002</a:t>
                      </a:r>
                    </a:p>
                    <a:p>
                      <a:pPr marL="0" marR="0">
                        <a:lnSpc>
                          <a:spcPct val="107000"/>
                        </a:lnSpc>
                        <a:spcBef>
                          <a:spcPts val="0"/>
                        </a:spcBef>
                        <a:spcAft>
                          <a:spcPts val="0"/>
                        </a:spcAft>
                      </a:pPr>
                      <a:r>
                        <a:rPr lang="en-US" sz="1050" b="1">
                          <a:effectLst/>
                        </a:rPr>
                        <a:t> </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AHL46785</a:t>
                      </a:r>
                    </a:p>
                    <a:p>
                      <a:pPr marL="0" marR="0">
                        <a:lnSpc>
                          <a:spcPct val="107000"/>
                        </a:lnSpc>
                        <a:spcBef>
                          <a:spcPts val="0"/>
                        </a:spcBef>
                        <a:spcAft>
                          <a:spcPts val="0"/>
                        </a:spcAft>
                      </a:pPr>
                      <a:r>
                        <a:rPr lang="en-US" sz="1050" b="1">
                          <a:effectLst/>
                        </a:rPr>
                        <a:t> </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3705</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5001.75</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Li Qing</a:t>
                      </a:r>
                    </a:p>
                    <a:p>
                      <a:pPr marL="0" marR="0">
                        <a:lnSpc>
                          <a:spcPct val="107000"/>
                        </a:lnSpc>
                        <a:spcBef>
                          <a:spcPts val="0"/>
                        </a:spcBef>
                        <a:spcAft>
                          <a:spcPts val="0"/>
                        </a:spcAft>
                      </a:pPr>
                      <a:r>
                        <a:rPr lang="en-US" sz="1050" b="1" dirty="0">
                          <a:effectLst/>
                        </a:rPr>
                        <a:t> </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1166-3461</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Amelia</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Waverley</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995 Forth Street</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kumimoji="0" lang="en-US" sz="900" b="1" i="0" u="none" strike="noStrike" kern="1200" cap="none" spc="0" normalizeH="0" baseline="0" noProof="0">
                          <a:ln>
                            <a:noFill/>
                          </a:ln>
                          <a:solidFill>
                            <a:srgbClr val="000000"/>
                          </a:solidFill>
                          <a:effectLst/>
                          <a:uLnTx/>
                          <a:uFillTx/>
                          <a:latin typeface="Helvetica"/>
                          <a:ea typeface="+mn-ea"/>
                          <a:cs typeface="+mn-cs"/>
                        </a:rPr>
                        <a:t>&lt;</a:t>
                      </a:r>
                      <a:r>
                        <a:rPr kumimoji="0" lang="en-US" sz="900" b="1" i="1" u="none" strike="noStrike" kern="1200" cap="none" spc="0" normalizeH="0" baseline="0" noProof="0">
                          <a:ln>
                            <a:noFill/>
                          </a:ln>
                          <a:solidFill>
                            <a:srgbClr val="000000"/>
                          </a:solidFill>
                          <a:effectLst/>
                          <a:uLnTx/>
                          <a:uFillTx/>
                          <a:latin typeface="Helvetica"/>
                          <a:ea typeface="+mn-ea"/>
                          <a:cs typeface="+mn-cs"/>
                        </a:rPr>
                        <a:t>null&gt;</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extLst>
                  <a:ext uri="{0D108BD9-81ED-4DB2-BD59-A6C34878D82A}">
                    <a16:rowId xmlns:a16="http://schemas.microsoft.com/office/drawing/2014/main" val="1241532585"/>
                  </a:ext>
                </a:extLst>
              </a:tr>
              <a:tr h="249059">
                <a:tc>
                  <a:txBody>
                    <a:bodyPr/>
                    <a:lstStyle/>
                    <a:p>
                      <a:pPr marL="0" marR="0">
                        <a:lnSpc>
                          <a:spcPct val="107000"/>
                        </a:lnSpc>
                        <a:spcBef>
                          <a:spcPts val="0"/>
                        </a:spcBef>
                        <a:spcAft>
                          <a:spcPts val="0"/>
                        </a:spcAft>
                      </a:pPr>
                      <a:r>
                        <a:rPr lang="en-US" sz="1050" b="1">
                          <a:effectLst/>
                        </a:rPr>
                        <a:t>12348</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Aug 13 2002</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DHU69863</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50</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118.5</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Sara Thompson</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gn="ctr">
                        <a:lnSpc>
                          <a:spcPct val="107000"/>
                        </a:lnSpc>
                        <a:spcBef>
                          <a:spcPts val="0"/>
                        </a:spcBef>
                        <a:spcAft>
                          <a:spcPts val="0"/>
                        </a:spcAft>
                      </a:pPr>
                      <a:r>
                        <a:rPr lang="en-US" sz="1050" b="1" dirty="0">
                          <a:effectLst/>
                        </a:rPr>
                        <a:t> &lt;</a:t>
                      </a:r>
                      <a:r>
                        <a:rPr lang="en-US" sz="1050" b="1" i="1" dirty="0">
                          <a:effectLst/>
                        </a:rPr>
                        <a:t>null&gt;</a:t>
                      </a:r>
                      <a:endParaRPr lang="en-US" sz="1050" b="1" i="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 &lt;</a:t>
                      </a:r>
                      <a:r>
                        <a:rPr lang="en-US" sz="1050" b="1" i="1" dirty="0">
                          <a:effectLst/>
                        </a:rPr>
                        <a:t>null&gt;</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 &lt;</a:t>
                      </a:r>
                      <a:r>
                        <a:rPr lang="en-US" sz="1050" b="1" i="1" dirty="0">
                          <a:effectLst/>
                        </a:rPr>
                        <a:t>null&gt;</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 &lt;</a:t>
                      </a:r>
                      <a:r>
                        <a:rPr lang="en-US" sz="1050" b="1" i="1" dirty="0">
                          <a:effectLst/>
                        </a:rPr>
                        <a:t>null&gt;</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kumimoji="0" lang="en-US" sz="900" b="1" i="0" u="none" strike="noStrike" kern="1200" cap="none" spc="0" normalizeH="0" baseline="0" noProof="0">
                          <a:ln>
                            <a:noFill/>
                          </a:ln>
                          <a:solidFill>
                            <a:srgbClr val="000000"/>
                          </a:solidFill>
                          <a:effectLst/>
                          <a:uLnTx/>
                          <a:uFillTx/>
                          <a:latin typeface="Helvetica"/>
                          <a:ea typeface="+mn-ea"/>
                          <a:cs typeface="+mn-cs"/>
                        </a:rPr>
                        <a:t>&lt;</a:t>
                      </a:r>
                      <a:r>
                        <a:rPr kumimoji="0" lang="en-US" sz="900" b="1" i="1" u="none" strike="noStrike" kern="1200" cap="none" spc="0" normalizeH="0" baseline="0" noProof="0">
                          <a:ln>
                            <a:noFill/>
                          </a:ln>
                          <a:solidFill>
                            <a:srgbClr val="000000"/>
                          </a:solidFill>
                          <a:effectLst/>
                          <a:uLnTx/>
                          <a:uFillTx/>
                          <a:latin typeface="Helvetica"/>
                          <a:ea typeface="+mn-ea"/>
                          <a:cs typeface="+mn-cs"/>
                        </a:rPr>
                        <a:t>null&gt;</a:t>
                      </a:r>
                      <a:endParaRPr lang="en-US" sz="90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extLst>
                  <a:ext uri="{0D108BD9-81ED-4DB2-BD59-A6C34878D82A}">
                    <a16:rowId xmlns:a16="http://schemas.microsoft.com/office/drawing/2014/main" val="897738917"/>
                  </a:ext>
                </a:extLst>
              </a:tr>
              <a:tr h="249059">
                <a:tc>
                  <a:txBody>
                    <a:bodyPr/>
                    <a:lstStyle/>
                    <a:p>
                      <a:pPr marL="0" marR="0">
                        <a:lnSpc>
                          <a:spcPct val="107000"/>
                        </a:lnSpc>
                        <a:spcBef>
                          <a:spcPts val="0"/>
                        </a:spcBef>
                        <a:spcAft>
                          <a:spcPts val="0"/>
                        </a:spcAft>
                      </a:pPr>
                      <a:r>
                        <a:rPr lang="en-US" sz="1050" b="1">
                          <a:effectLst/>
                        </a:rPr>
                        <a:t>12349</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Aug 14 2002</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DHU69863</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940</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2227.8</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Sara Thompson</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1166-3461</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Amelia</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Waverley</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995 Forth Street</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kumimoji="0" lang="en-US" sz="900" b="1" i="0" u="none" strike="noStrike" kern="1200" cap="none" spc="0" normalizeH="0" baseline="0" noProof="0">
                          <a:ln>
                            <a:noFill/>
                          </a:ln>
                          <a:solidFill>
                            <a:srgbClr val="000000"/>
                          </a:solidFill>
                          <a:effectLst/>
                          <a:uLnTx/>
                          <a:uFillTx/>
                          <a:latin typeface="Helvetica"/>
                          <a:ea typeface="+mn-ea"/>
                          <a:cs typeface="+mn-cs"/>
                        </a:rPr>
                        <a:t>&lt;</a:t>
                      </a:r>
                      <a:r>
                        <a:rPr kumimoji="0" lang="en-US" sz="900" b="1" i="1" u="none" strike="noStrike" kern="1200" cap="none" spc="0" normalizeH="0" baseline="0" noProof="0">
                          <a:ln>
                            <a:noFill/>
                          </a:ln>
                          <a:solidFill>
                            <a:srgbClr val="000000"/>
                          </a:solidFill>
                          <a:effectLst/>
                          <a:uLnTx/>
                          <a:uFillTx/>
                          <a:latin typeface="Helvetica"/>
                          <a:ea typeface="+mn-ea"/>
                          <a:cs typeface="+mn-cs"/>
                        </a:rPr>
                        <a:t>null&gt;</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extLst>
                  <a:ext uri="{0D108BD9-81ED-4DB2-BD59-A6C34878D82A}">
                    <a16:rowId xmlns:a16="http://schemas.microsoft.com/office/drawing/2014/main" val="4176984474"/>
                  </a:ext>
                </a:extLst>
              </a:tr>
              <a:tr h="249059">
                <a:tc>
                  <a:txBody>
                    <a:bodyPr/>
                    <a:lstStyle/>
                    <a:p>
                      <a:pPr marL="0" marR="0">
                        <a:lnSpc>
                          <a:spcPct val="107000"/>
                        </a:lnSpc>
                        <a:spcBef>
                          <a:spcPts val="0"/>
                        </a:spcBef>
                        <a:spcAft>
                          <a:spcPts val="0"/>
                        </a:spcAft>
                      </a:pPr>
                      <a:r>
                        <a:rPr lang="en-US" sz="1050" b="1">
                          <a:effectLst/>
                        </a:rPr>
                        <a:t>12350</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Aug 14 2002</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DHU69863</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42</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99.54</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Sara Thompson</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7671-3496</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Antonio</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Gonzales</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55B Granary Lane</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kumimoji="0" lang="en-US" sz="900" b="1" i="0" u="none" strike="noStrike" kern="1200" cap="none" spc="0" normalizeH="0" baseline="0" noProof="0" dirty="0">
                          <a:ln>
                            <a:noFill/>
                          </a:ln>
                          <a:solidFill>
                            <a:srgbClr val="000000"/>
                          </a:solidFill>
                          <a:effectLst/>
                          <a:uLnTx/>
                          <a:uFillTx/>
                          <a:latin typeface="Helvetica"/>
                          <a:ea typeface="+mn-ea"/>
                          <a:cs typeface="+mn-cs"/>
                        </a:rPr>
                        <a:t>&lt;</a:t>
                      </a:r>
                      <a:r>
                        <a:rPr kumimoji="0" lang="en-US" sz="900" b="1" i="1" u="none" strike="noStrike" kern="1200" cap="none" spc="0" normalizeH="0" baseline="0" noProof="0" dirty="0">
                          <a:ln>
                            <a:noFill/>
                          </a:ln>
                          <a:solidFill>
                            <a:srgbClr val="000000"/>
                          </a:solidFill>
                          <a:effectLst/>
                          <a:uLnTx/>
                          <a:uFillTx/>
                          <a:latin typeface="Helvetica"/>
                          <a:ea typeface="+mn-ea"/>
                          <a:cs typeface="+mn-cs"/>
                        </a:rPr>
                        <a:t>null&gt;</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extLst>
                  <a:ext uri="{0D108BD9-81ED-4DB2-BD59-A6C34878D82A}">
                    <a16:rowId xmlns:a16="http://schemas.microsoft.com/office/drawing/2014/main" val="643762065"/>
                  </a:ext>
                </a:extLst>
              </a:tr>
              <a:tr h="351027">
                <a:tc>
                  <a:txBody>
                    <a:bodyPr/>
                    <a:lstStyle/>
                    <a:p>
                      <a:pPr marL="0" marR="0">
                        <a:lnSpc>
                          <a:spcPct val="107000"/>
                        </a:lnSpc>
                        <a:spcBef>
                          <a:spcPts val="0"/>
                        </a:spcBef>
                        <a:spcAft>
                          <a:spcPts val="0"/>
                        </a:spcAft>
                      </a:pPr>
                      <a:r>
                        <a:rPr lang="en-US" sz="1050" b="1" dirty="0">
                          <a:effectLst/>
                        </a:rPr>
                        <a:t>12351</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Aug 14 2002</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AQX88916</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55</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1317.25</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Dave Williams</a:t>
                      </a:r>
                    </a:p>
                    <a:p>
                      <a:pPr marL="0" marR="0">
                        <a:lnSpc>
                          <a:spcPct val="107000"/>
                        </a:lnSpc>
                        <a:spcBef>
                          <a:spcPts val="0"/>
                        </a:spcBef>
                        <a:spcAft>
                          <a:spcPts val="0"/>
                        </a:spcAft>
                      </a:pPr>
                      <a:r>
                        <a:rPr lang="en-US" sz="1050" b="1" dirty="0">
                          <a:effectLst/>
                        </a:rPr>
                        <a:t> </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6794-1674</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Diane</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Adams</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364 East Road</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150</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extLst>
                  <a:ext uri="{0D108BD9-81ED-4DB2-BD59-A6C34878D82A}">
                    <a16:rowId xmlns:a16="http://schemas.microsoft.com/office/drawing/2014/main" val="1134904673"/>
                  </a:ext>
                </a:extLst>
              </a:tr>
            </a:tbl>
          </a:graphicData>
        </a:graphic>
      </p:graphicFrame>
    </p:spTree>
    <p:extLst>
      <p:ext uri="{BB962C8B-B14F-4D97-AF65-F5344CB8AC3E}">
        <p14:creationId xmlns:p14="http://schemas.microsoft.com/office/powerpoint/2010/main" val="101179653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Rectangle 2">
            <a:extLst>
              <a:ext uri="{FF2B5EF4-FFF2-40B4-BE49-F238E27FC236}">
                <a16:creationId xmlns:a16="http://schemas.microsoft.com/office/drawing/2014/main" id="{1DB579C8-752D-4166-967D-B79B656305A8}"/>
              </a:ext>
            </a:extLst>
          </p:cNvPr>
          <p:cNvSpPr>
            <a:spLocks noGrp="1" noChangeArrowheads="1"/>
          </p:cNvSpPr>
          <p:nvPr>
            <p:ph idx="1"/>
          </p:nvPr>
        </p:nvSpPr>
        <p:spPr bwMode="auto">
          <a:xfrm>
            <a:off x="552645" y="1247335"/>
            <a:ext cx="8153400" cy="489364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algn="r" rtl="1">
              <a:lnSpc>
                <a:spcPct val="100000"/>
              </a:lnSpc>
              <a:buClrTx/>
            </a:pPr>
            <a:r>
              <a:rPr kumimoji="0" lang="ar-SA" altLang="en-US" sz="2400" b="0" i="0" u="none" strike="noStrike" cap="none" normalizeH="0" baseline="0" dirty="0">
                <a:ln>
                  <a:noFill/>
                </a:ln>
                <a:solidFill>
                  <a:srgbClr val="000000"/>
                </a:solidFill>
                <a:effectLst/>
                <a:latin typeface="Tahoma" panose="020B0604030504040204" pitchFamily="34" charset="0"/>
                <a:cs typeface="B Nazanin" panose="00000400000000000000" pitchFamily="2" charset="-78"/>
              </a:rPr>
              <a:t>تئوری پايگاه داده درجه نرمالسازی جدول را با اصطلاح فرم های نرمال(</a:t>
            </a:r>
            <a:r>
              <a:rPr kumimoji="0" lang="en-US" altLang="en-US" sz="2400" b="0" i="0" u="none" strike="noStrike" cap="none" normalizeH="0" baseline="0" dirty="0">
                <a:ln>
                  <a:noFill/>
                </a:ln>
                <a:solidFill>
                  <a:srgbClr val="000000"/>
                </a:solidFill>
                <a:effectLst/>
                <a:latin typeface="Tahoma" panose="020B0604030504040204" pitchFamily="34" charset="0"/>
                <a:cs typeface="B Nazanin" panose="00000400000000000000" pitchFamily="2" charset="-78"/>
              </a:rPr>
              <a:t>normal form</a:t>
            </a:r>
            <a:r>
              <a:rPr kumimoji="0" lang="fa-IR" altLang="en-US" sz="2400" b="0" i="0" u="none" strike="noStrike" cap="none" normalizeH="0" baseline="0" dirty="0">
                <a:ln>
                  <a:noFill/>
                </a:ln>
                <a:solidFill>
                  <a:srgbClr val="000000"/>
                </a:solidFill>
                <a:effectLst/>
                <a:latin typeface="Tahoma" panose="020B0604030504040204" pitchFamily="34" charset="0"/>
                <a:cs typeface="B Nazanin" panose="00000400000000000000" pitchFamily="2" charset="-78"/>
              </a:rPr>
              <a:t>) </a:t>
            </a:r>
            <a:r>
              <a:rPr kumimoji="0" lang="ar-SA" altLang="en-US" sz="2400" b="0" i="0" u="none" strike="noStrike" cap="none" normalizeH="0" baseline="0" dirty="0">
                <a:ln>
                  <a:noFill/>
                </a:ln>
                <a:solidFill>
                  <a:srgbClr val="000000"/>
                </a:solidFill>
                <a:effectLst/>
                <a:latin typeface="Tahoma" panose="020B0604030504040204" pitchFamily="34" charset="0"/>
                <a:cs typeface="B Nazanin" panose="00000400000000000000" pitchFamily="2" charset="-78"/>
              </a:rPr>
              <a:t>شرح می دهد. فرم های نرمال (يا بطور خلاصه </a:t>
            </a:r>
            <a:r>
              <a:rPr kumimoji="0" lang="en-US" altLang="en-US" sz="2400" b="0" i="0" u="none" strike="noStrike" cap="none" normalizeH="0" baseline="0" dirty="0">
                <a:ln>
                  <a:noFill/>
                </a:ln>
                <a:solidFill>
                  <a:srgbClr val="000000"/>
                </a:solidFill>
                <a:effectLst/>
                <a:latin typeface="Tahoma" panose="020B0604030504040204" pitchFamily="34" charset="0"/>
                <a:cs typeface="B Nazanin" panose="00000400000000000000" pitchFamily="2" charset="-78"/>
              </a:rPr>
              <a:t>NF</a:t>
            </a:r>
            <a:r>
              <a:rPr kumimoji="0" lang="fa-IR" altLang="en-US" sz="2400" b="0" i="0" u="none" strike="noStrike" cap="none" normalizeH="0" baseline="0" dirty="0">
                <a:ln>
                  <a:noFill/>
                </a:ln>
                <a:solidFill>
                  <a:srgbClr val="000000"/>
                </a:solidFill>
                <a:effectLst/>
                <a:latin typeface="Tahoma" panose="020B0604030504040204" pitchFamily="34" charset="0"/>
                <a:cs typeface="B Nazanin" panose="00000400000000000000" pitchFamily="2" charset="-78"/>
              </a:rPr>
              <a:t>) </a:t>
            </a:r>
            <a:r>
              <a:rPr kumimoji="0" lang="ar-SA" altLang="en-US" sz="2400" b="0" i="0" u="none" strike="noStrike" cap="none" normalizeH="0" baseline="0" dirty="0">
                <a:ln>
                  <a:noFill/>
                </a:ln>
                <a:solidFill>
                  <a:srgbClr val="000000"/>
                </a:solidFill>
                <a:effectLst/>
                <a:latin typeface="Tahoma" panose="020B0604030504040204" pitchFamily="34" charset="0"/>
                <a:cs typeface="B Nazanin" panose="00000400000000000000" pitchFamily="2" charset="-78"/>
              </a:rPr>
              <a:t>معياری برای تعيين درجه نرمال جدول دراختيار می گذارد.</a:t>
            </a:r>
            <a:endParaRPr kumimoji="0" lang="en-US" altLang="en-US" sz="1600" b="0" i="0" u="none" strike="noStrike" cap="none" normalizeH="0" baseline="0" dirty="0">
              <a:ln>
                <a:noFill/>
              </a:ln>
              <a:solidFill>
                <a:schemeClr val="tx1"/>
              </a:solidFill>
              <a:effectLst/>
              <a:cs typeface="B Nazanin" panose="00000400000000000000" pitchFamily="2" charset="-78"/>
            </a:endParaRPr>
          </a:p>
          <a:p>
            <a:pPr algn="r" rtl="1">
              <a:lnSpc>
                <a:spcPct val="100000"/>
              </a:lnSpc>
              <a:buClrTx/>
            </a:pPr>
            <a:r>
              <a:rPr kumimoji="0" lang="ar-SA" altLang="en-US" sz="2400" b="0" i="0" u="none" strike="noStrike" cap="none" normalizeH="0" baseline="0" dirty="0">
                <a:ln>
                  <a:noFill/>
                </a:ln>
                <a:solidFill>
                  <a:srgbClr val="000000"/>
                </a:solidFill>
                <a:effectLst/>
                <a:latin typeface="Tahoma" panose="020B0604030504040204" pitchFamily="34" charset="0"/>
                <a:cs typeface="B Nazanin" panose="00000400000000000000" pitchFamily="2" charset="-78"/>
              </a:rPr>
              <a:t>فرم های نرمال جداگانه روی هر جدول می توانند بکار بروند. پايگاه داده زمانی در فرم نرمال </a:t>
            </a:r>
            <a:r>
              <a:rPr kumimoji="0" lang="en-US" altLang="en-US" sz="2400" b="0" i="0" u="none" strike="noStrike" cap="none" normalizeH="0" baseline="0" dirty="0">
                <a:ln>
                  <a:noFill/>
                </a:ln>
                <a:solidFill>
                  <a:srgbClr val="000000"/>
                </a:solidFill>
                <a:effectLst/>
                <a:latin typeface="Tahoma" panose="020B0604030504040204" pitchFamily="34" charset="0"/>
                <a:cs typeface="B Nazanin" panose="00000400000000000000" pitchFamily="2" charset="-78"/>
              </a:rPr>
              <a:t>n</a:t>
            </a:r>
            <a:r>
              <a:rPr kumimoji="0" lang="ar-SA" altLang="en-US" sz="2400" b="0" i="0" u="none" strike="noStrike" cap="none" normalizeH="0" baseline="0" dirty="0">
                <a:ln>
                  <a:noFill/>
                </a:ln>
                <a:solidFill>
                  <a:srgbClr val="000000"/>
                </a:solidFill>
                <a:effectLst/>
                <a:latin typeface="Tahoma" panose="020B0604030504040204" pitchFamily="34" charset="0"/>
                <a:cs typeface="B Nazanin" panose="00000400000000000000" pitchFamily="2" charset="-78"/>
              </a:rPr>
              <a:t> خواهد بود که کل جداول آن در فرم نرمال </a:t>
            </a:r>
            <a:r>
              <a:rPr kumimoji="0" lang="en-US" altLang="en-US" sz="2400" b="0" i="0" u="none" strike="noStrike" cap="none" normalizeH="0" baseline="0" dirty="0">
                <a:ln>
                  <a:noFill/>
                </a:ln>
                <a:solidFill>
                  <a:srgbClr val="000000"/>
                </a:solidFill>
                <a:effectLst/>
                <a:latin typeface="Tahoma" panose="020B0604030504040204" pitchFamily="34" charset="0"/>
                <a:cs typeface="B Nazanin" panose="00000400000000000000" pitchFamily="2" charset="-78"/>
              </a:rPr>
              <a:t>n</a:t>
            </a:r>
            <a:r>
              <a:rPr kumimoji="0" lang="ar-SA" altLang="en-US" sz="2400" b="0" i="0" u="none" strike="noStrike" cap="none" normalizeH="0" baseline="0" dirty="0">
                <a:ln>
                  <a:noFill/>
                </a:ln>
                <a:solidFill>
                  <a:srgbClr val="000000"/>
                </a:solidFill>
                <a:effectLst/>
                <a:latin typeface="Tahoma" panose="020B0604030504040204" pitchFamily="34" charset="0"/>
                <a:cs typeface="B Nazanin" panose="00000400000000000000" pitchFamily="2" charset="-78"/>
              </a:rPr>
              <a:t> باشند.</a:t>
            </a:r>
            <a:endParaRPr kumimoji="0" lang="en-US" altLang="en-US" sz="1600" b="0" i="0" u="none" strike="noStrike" cap="none" normalizeH="0" baseline="0" dirty="0">
              <a:ln>
                <a:noFill/>
              </a:ln>
              <a:solidFill>
                <a:schemeClr val="tx1"/>
              </a:solidFill>
              <a:effectLst/>
              <a:cs typeface="B Nazanin" panose="00000400000000000000" pitchFamily="2" charset="-78"/>
            </a:endParaRPr>
          </a:p>
          <a:p>
            <a:pPr algn="r" rtl="1">
              <a:lnSpc>
                <a:spcPct val="100000"/>
              </a:lnSpc>
              <a:buClrTx/>
            </a:pPr>
            <a:r>
              <a:rPr kumimoji="0" lang="ar-SA" altLang="en-US" sz="2400" b="0" i="0" u="none" strike="noStrike" cap="none" normalizeH="0" baseline="0" dirty="0">
                <a:ln>
                  <a:noFill/>
                </a:ln>
                <a:solidFill>
                  <a:srgbClr val="000000"/>
                </a:solidFill>
                <a:effectLst/>
                <a:latin typeface="Tahoma" panose="020B0604030504040204" pitchFamily="34" charset="0"/>
                <a:cs typeface="B Nazanin" panose="00000400000000000000" pitchFamily="2" charset="-78"/>
              </a:rPr>
              <a:t>فرم های نرمال عبارتند از:</a:t>
            </a:r>
            <a:endParaRPr kumimoji="0" lang="fa-IR" altLang="en-US" sz="2400" b="0" i="0" u="none" strike="noStrike" cap="none" normalizeH="0" baseline="0" dirty="0">
              <a:ln>
                <a:noFill/>
              </a:ln>
              <a:solidFill>
                <a:srgbClr val="000000"/>
              </a:solidFill>
              <a:effectLst/>
              <a:latin typeface="Tahoma" panose="020B0604030504040204" pitchFamily="34" charset="0"/>
              <a:cs typeface="B Nazanin" panose="00000400000000000000" pitchFamily="2" charset="-78"/>
            </a:endParaRPr>
          </a:p>
          <a:p>
            <a:pPr algn="l">
              <a:lnSpc>
                <a:spcPct val="100000"/>
              </a:lnSpc>
              <a:buClrTx/>
            </a:pPr>
            <a:r>
              <a:rPr kumimoji="0" lang="en-US" altLang="en-US" sz="2400" b="0" i="0" u="none" strike="noStrike" cap="none" normalizeH="0" baseline="0" dirty="0">
                <a:ln>
                  <a:noFill/>
                </a:ln>
                <a:solidFill>
                  <a:srgbClr val="000000"/>
                </a:solidFill>
                <a:effectLst/>
                <a:cs typeface="B Nazanin" panose="00000400000000000000" pitchFamily="2" charset="-78"/>
              </a:rPr>
              <a:t>• First Normal Form (1NF)</a:t>
            </a:r>
            <a:br>
              <a:rPr kumimoji="0" lang="en-US" altLang="en-US" sz="2400" b="0" i="0" u="none" strike="noStrike" cap="none" normalizeH="0" baseline="0" dirty="0">
                <a:ln>
                  <a:noFill/>
                </a:ln>
                <a:solidFill>
                  <a:srgbClr val="000000"/>
                </a:solidFill>
                <a:effectLst/>
                <a:cs typeface="B Nazanin" panose="00000400000000000000" pitchFamily="2" charset="-78"/>
              </a:rPr>
            </a:br>
            <a:r>
              <a:rPr kumimoji="0" lang="en-US" altLang="en-US" sz="2400" b="0" i="0" u="none" strike="noStrike" cap="none" normalizeH="0" baseline="0" dirty="0">
                <a:ln>
                  <a:noFill/>
                </a:ln>
                <a:solidFill>
                  <a:srgbClr val="000000"/>
                </a:solidFill>
                <a:effectLst/>
                <a:cs typeface="B Nazanin" panose="00000400000000000000" pitchFamily="2" charset="-78"/>
              </a:rPr>
              <a:t>• Second Normal Form (2NF)</a:t>
            </a:r>
            <a:br>
              <a:rPr kumimoji="0" lang="en-US" altLang="en-US" sz="2400" b="0" i="0" u="none" strike="noStrike" cap="none" normalizeH="0" baseline="0" dirty="0">
                <a:ln>
                  <a:noFill/>
                </a:ln>
                <a:solidFill>
                  <a:srgbClr val="000000"/>
                </a:solidFill>
                <a:effectLst/>
                <a:cs typeface="B Nazanin" panose="00000400000000000000" pitchFamily="2" charset="-78"/>
              </a:rPr>
            </a:br>
            <a:r>
              <a:rPr kumimoji="0" lang="en-US" altLang="en-US" sz="2400" b="0" i="0" u="none" strike="noStrike" cap="none" normalizeH="0" baseline="0" dirty="0">
                <a:ln>
                  <a:noFill/>
                </a:ln>
                <a:solidFill>
                  <a:srgbClr val="000000"/>
                </a:solidFill>
                <a:effectLst/>
                <a:cs typeface="B Nazanin" panose="00000400000000000000" pitchFamily="2" charset="-78"/>
              </a:rPr>
              <a:t>• Third Normal Form (3NF)</a:t>
            </a:r>
            <a:br>
              <a:rPr kumimoji="0" lang="en-US" altLang="en-US" sz="2400" b="0" i="0" u="none" strike="noStrike" cap="none" normalizeH="0" baseline="0" dirty="0">
                <a:ln>
                  <a:noFill/>
                </a:ln>
                <a:solidFill>
                  <a:srgbClr val="000000"/>
                </a:solidFill>
                <a:effectLst/>
                <a:cs typeface="B Nazanin" panose="00000400000000000000" pitchFamily="2" charset="-78"/>
              </a:rPr>
            </a:br>
            <a:r>
              <a:rPr kumimoji="0" lang="en-US" altLang="en-US" sz="2400" b="0" i="0" u="none" strike="noStrike" cap="none" normalizeH="0" baseline="0" dirty="0">
                <a:ln>
                  <a:noFill/>
                </a:ln>
                <a:solidFill>
                  <a:srgbClr val="000000"/>
                </a:solidFill>
                <a:effectLst/>
                <a:cs typeface="B Nazanin" panose="00000400000000000000" pitchFamily="2" charset="-78"/>
              </a:rPr>
              <a:t>• Forth Normal Form (4NF)</a:t>
            </a:r>
            <a:br>
              <a:rPr kumimoji="0" lang="en-US" altLang="en-US" sz="2400" b="0" i="0" u="none" strike="noStrike" cap="none" normalizeH="0" baseline="0" dirty="0">
                <a:ln>
                  <a:noFill/>
                </a:ln>
                <a:solidFill>
                  <a:srgbClr val="000000"/>
                </a:solidFill>
                <a:effectLst/>
                <a:cs typeface="B Nazanin" panose="00000400000000000000" pitchFamily="2" charset="-78"/>
              </a:rPr>
            </a:br>
            <a:r>
              <a:rPr kumimoji="0" lang="en-US" altLang="en-US" sz="2400" b="0" i="0" u="none" strike="noStrike" cap="none" normalizeH="0" baseline="0" dirty="0">
                <a:ln>
                  <a:noFill/>
                </a:ln>
                <a:solidFill>
                  <a:srgbClr val="000000"/>
                </a:solidFill>
                <a:effectLst/>
                <a:cs typeface="B Nazanin" panose="00000400000000000000" pitchFamily="2" charset="-78"/>
              </a:rPr>
              <a:t>• Boyce/Codd Normal Form (BCNF)</a:t>
            </a:r>
            <a:br>
              <a:rPr kumimoji="0" lang="en-US" altLang="en-US" sz="2400" b="0" i="0" u="none" strike="noStrike" cap="none" normalizeH="0" baseline="0" dirty="0">
                <a:ln>
                  <a:noFill/>
                </a:ln>
                <a:solidFill>
                  <a:srgbClr val="000000"/>
                </a:solidFill>
                <a:effectLst/>
                <a:cs typeface="B Nazanin" panose="00000400000000000000" pitchFamily="2" charset="-78"/>
              </a:rPr>
            </a:br>
            <a:r>
              <a:rPr kumimoji="0" lang="en-US" altLang="en-US" sz="2400" b="0" i="0" u="none" strike="noStrike" cap="none" normalizeH="0" baseline="0" dirty="0">
                <a:ln>
                  <a:noFill/>
                </a:ln>
                <a:solidFill>
                  <a:srgbClr val="000000"/>
                </a:solidFill>
                <a:effectLst/>
                <a:cs typeface="B Nazanin" panose="00000400000000000000" pitchFamily="2" charset="-78"/>
              </a:rPr>
              <a:t>• Fifth Normal Form (5NF)</a:t>
            </a:r>
            <a:br>
              <a:rPr kumimoji="0" lang="en-US" altLang="en-US" sz="2400" b="0" i="0" u="none" strike="noStrike" cap="none" normalizeH="0" baseline="0" dirty="0">
                <a:ln>
                  <a:noFill/>
                </a:ln>
                <a:solidFill>
                  <a:srgbClr val="000000"/>
                </a:solidFill>
                <a:effectLst/>
                <a:cs typeface="B Nazanin" panose="00000400000000000000" pitchFamily="2" charset="-78"/>
              </a:rPr>
            </a:br>
            <a:r>
              <a:rPr kumimoji="0" lang="en-US" altLang="en-US" sz="2400" b="0" i="0" u="none" strike="noStrike" cap="none" normalizeH="0" baseline="0" dirty="0">
                <a:ln>
                  <a:noFill/>
                </a:ln>
                <a:solidFill>
                  <a:srgbClr val="000000"/>
                </a:solidFill>
                <a:effectLst/>
                <a:cs typeface="B Nazanin" panose="00000400000000000000" pitchFamily="2" charset="-78"/>
              </a:rPr>
              <a:t>• Domain/Key Normal Form (DKNF)</a:t>
            </a:r>
            <a:endParaRPr kumimoji="0" lang="en-US" altLang="en-US" sz="5400" b="0" i="0" u="none" strike="noStrike" cap="none" normalizeH="0" baseline="0" dirty="0">
              <a:ln>
                <a:noFill/>
              </a:ln>
              <a:solidFill>
                <a:schemeClr val="tx1"/>
              </a:solidFill>
              <a:effectLst/>
              <a:cs typeface="B Nazanin" panose="00000400000000000000" pitchFamily="2" charset="-78"/>
            </a:endParaRPr>
          </a:p>
        </p:txBody>
      </p:sp>
      <p:sp>
        <p:nvSpPr>
          <p:cNvPr id="3" name="Slide Number Placeholder 2">
            <a:extLst>
              <a:ext uri="{FF2B5EF4-FFF2-40B4-BE49-F238E27FC236}">
                <a16:creationId xmlns:a16="http://schemas.microsoft.com/office/drawing/2014/main" id="{DFA7004B-8356-4F80-AE20-CB37A3D0AAD7}"/>
              </a:ext>
            </a:extLst>
          </p:cNvPr>
          <p:cNvSpPr>
            <a:spLocks noGrp="1"/>
          </p:cNvSpPr>
          <p:nvPr>
            <p:ph type="sldNum" sz="quarter" idx="4294967295"/>
          </p:nvPr>
        </p:nvSpPr>
        <p:spPr>
          <a:xfrm>
            <a:off x="7994650" y="6334125"/>
            <a:ext cx="1149350" cy="365125"/>
          </a:xfrm>
        </p:spPr>
        <p:txBody>
          <a:bodyPr/>
          <a:lstStyle/>
          <a:p>
            <a:fld id="{9B1BEC6B-D08C-4686-9D99-35ADA0E9E6CD}" type="slidenum">
              <a:rPr lang="en-US" smtClean="0"/>
              <a:t>10</a:t>
            </a:fld>
            <a:endParaRPr lang="en-US"/>
          </a:p>
        </p:txBody>
      </p:sp>
    </p:spTree>
    <p:extLst>
      <p:ext uri="{BB962C8B-B14F-4D97-AF65-F5344CB8AC3E}">
        <p14:creationId xmlns:p14="http://schemas.microsoft.com/office/powerpoint/2010/main" val="134162458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3363" name="Title 1"/>
          <p:cNvSpPr>
            <a:spLocks noGrp="1"/>
          </p:cNvSpPr>
          <p:nvPr>
            <p:ph type="title"/>
          </p:nvPr>
        </p:nvSpPr>
        <p:spPr/>
        <p:txBody>
          <a:bodyPr anchor="ctr"/>
          <a:lstStyle/>
          <a:p>
            <a:pPr algn="ctr" rtl="1"/>
            <a:r>
              <a:rPr lang="fa-IR" altLang="en-US" sz="4400" b="1" dirty="0">
                <a:latin typeface="Titr" pitchFamily="2" charset="-78"/>
                <a:ea typeface="2  Titr"/>
                <a:cs typeface="2  Titr"/>
              </a:rPr>
              <a:t>جداول آنرمال</a:t>
            </a:r>
            <a:endParaRPr lang="en-US" altLang="en-US" sz="4400" b="1" dirty="0">
              <a:latin typeface="Titr" pitchFamily="2" charset="-78"/>
              <a:ea typeface="2  Titr"/>
              <a:cs typeface="2  Titr"/>
            </a:endParaRPr>
          </a:p>
        </p:txBody>
      </p:sp>
      <p:sp>
        <p:nvSpPr>
          <p:cNvPr id="143362" name="Content Placeholder 2"/>
          <p:cNvSpPr>
            <a:spLocks noGrp="1"/>
          </p:cNvSpPr>
          <p:nvPr>
            <p:ph idx="1"/>
          </p:nvPr>
        </p:nvSpPr>
        <p:spPr/>
        <p:txBody>
          <a:bodyPr>
            <a:normAutofit/>
          </a:bodyPr>
          <a:lstStyle/>
          <a:p>
            <a:pPr algn="just" rtl="1"/>
            <a:r>
              <a:rPr lang="fa-IR" altLang="en-US" sz="2800" dirty="0">
                <a:ea typeface="Majalla UI"/>
                <a:cs typeface="B Nazanin" panose="00000400000000000000" pitchFamily="2" charset="-78"/>
              </a:rPr>
              <a:t>جداول آنرمال به جداولی اطلاق میشود که در برخورد هر سطر با هر ستون آن به جای یک مقدار </a:t>
            </a:r>
            <a:r>
              <a:rPr lang="fa-IR" altLang="en-US" sz="2800" b="1" dirty="0">
                <a:ea typeface="Majalla UI"/>
                <a:cs typeface="B Nazanin" panose="00000400000000000000" pitchFamily="2" charset="-78"/>
              </a:rPr>
              <a:t>اتمی</a:t>
            </a:r>
            <a:r>
              <a:rPr lang="fa-IR" altLang="en-US" sz="2800" dirty="0">
                <a:ea typeface="Majalla UI"/>
                <a:cs typeface="B Nazanin" panose="00000400000000000000" pitchFamily="2" charset="-78"/>
              </a:rPr>
              <a:t> و </a:t>
            </a:r>
            <a:r>
              <a:rPr lang="fa-IR" altLang="en-US" sz="2800" b="1" dirty="0">
                <a:ea typeface="Majalla UI"/>
                <a:cs typeface="B Nazanin" panose="00000400000000000000" pitchFamily="2" charset="-78"/>
              </a:rPr>
              <a:t>تجزیه ناپذیر</a:t>
            </a:r>
            <a:r>
              <a:rPr lang="fa-IR" altLang="en-US" sz="2800" dirty="0">
                <a:ea typeface="Majalla UI"/>
                <a:cs typeface="B Nazanin" panose="00000400000000000000" pitchFamily="2" charset="-78"/>
              </a:rPr>
              <a:t>، مجموعه ای از مقادیر وجود دارد (مانند </a:t>
            </a:r>
            <a:r>
              <a:rPr lang="en-US" altLang="en-US" sz="2800" dirty="0">
                <a:cs typeface="B Nazanin" panose="00000400000000000000" pitchFamily="2" charset="-78"/>
              </a:rPr>
              <a:t>Telephones</a:t>
            </a:r>
            <a:r>
              <a:rPr lang="fa-IR" altLang="en-US" sz="2800" dirty="0">
                <a:ea typeface="Majalla UI"/>
                <a:cs typeface="B Nazanin" panose="00000400000000000000" pitchFamily="2" charset="-78"/>
              </a:rPr>
              <a:t>)  </a:t>
            </a:r>
          </a:p>
          <a:p>
            <a:pPr algn="just" rtl="1"/>
            <a:endParaRPr lang="en-US" altLang="en-US" sz="2800" dirty="0">
              <a:cs typeface="B Nazanin" panose="00000400000000000000" pitchFamily="2" charset="-78"/>
            </a:endParaRPr>
          </a:p>
        </p:txBody>
      </p:sp>
      <p:sp>
        <p:nvSpPr>
          <p:cNvPr id="3" name="Slide Number Placeholder 2">
            <a:extLst>
              <a:ext uri="{FF2B5EF4-FFF2-40B4-BE49-F238E27FC236}">
                <a16:creationId xmlns:a16="http://schemas.microsoft.com/office/drawing/2014/main" id="{54B9C733-4B65-4CCD-A7C6-9A18DA315220}"/>
              </a:ext>
            </a:extLst>
          </p:cNvPr>
          <p:cNvSpPr>
            <a:spLocks noGrp="1"/>
          </p:cNvSpPr>
          <p:nvPr>
            <p:ph type="sldNum" sz="quarter" idx="4294967295"/>
          </p:nvPr>
        </p:nvSpPr>
        <p:spPr>
          <a:xfrm>
            <a:off x="7994650" y="6334125"/>
            <a:ext cx="1149350" cy="365125"/>
          </a:xfrm>
        </p:spPr>
        <p:txBody>
          <a:bodyPr/>
          <a:lstStyle/>
          <a:p>
            <a:fld id="{9B1BEC6B-D08C-4686-9D99-35ADA0E9E6CD}" type="slidenum">
              <a:rPr lang="en-US" smtClean="0"/>
              <a:t>11</a:t>
            </a:fld>
            <a:endParaRPr lang="en-US"/>
          </a:p>
        </p:txBody>
      </p:sp>
      <p:graphicFrame>
        <p:nvGraphicFramePr>
          <p:cNvPr id="7" name="Table 6">
            <a:extLst>
              <a:ext uri="{FF2B5EF4-FFF2-40B4-BE49-F238E27FC236}">
                <a16:creationId xmlns:a16="http://schemas.microsoft.com/office/drawing/2014/main" id="{44DB1F9E-A88B-47DD-8831-6B37FCED7634}"/>
              </a:ext>
            </a:extLst>
          </p:cNvPr>
          <p:cNvGraphicFramePr>
            <a:graphicFrameLocks noGrp="1"/>
          </p:cNvGraphicFramePr>
          <p:nvPr/>
        </p:nvGraphicFramePr>
        <p:xfrm>
          <a:off x="901700" y="4645025"/>
          <a:ext cx="4953000" cy="1651000"/>
        </p:xfrm>
        <a:graphic>
          <a:graphicData uri="http://schemas.openxmlformats.org/drawingml/2006/table">
            <a:tbl>
              <a:tblPr firstRow="1" bandRow="1">
                <a:tableStyleId>{616DA210-FB5B-4158-B5E0-FEB733F419BA}</a:tableStyleId>
              </a:tblPr>
              <a:tblGrid>
                <a:gridCol w="1807176">
                  <a:extLst>
                    <a:ext uri="{9D8B030D-6E8A-4147-A177-3AD203B41FA5}">
                      <a16:colId xmlns:a16="http://schemas.microsoft.com/office/drawing/2014/main" val="20000"/>
                    </a:ext>
                  </a:extLst>
                </a:gridCol>
                <a:gridCol w="1360959">
                  <a:extLst>
                    <a:ext uri="{9D8B030D-6E8A-4147-A177-3AD203B41FA5}">
                      <a16:colId xmlns:a16="http://schemas.microsoft.com/office/drawing/2014/main" val="20001"/>
                    </a:ext>
                  </a:extLst>
                </a:gridCol>
                <a:gridCol w="1784865">
                  <a:extLst>
                    <a:ext uri="{9D8B030D-6E8A-4147-A177-3AD203B41FA5}">
                      <a16:colId xmlns:a16="http://schemas.microsoft.com/office/drawing/2014/main" val="20002"/>
                    </a:ext>
                  </a:extLst>
                </a:gridCol>
              </a:tblGrid>
              <a:tr h="370840">
                <a:tc>
                  <a:txBody>
                    <a:bodyPr/>
                    <a:lstStyle/>
                    <a:p>
                      <a:pPr algn="ctr"/>
                      <a:r>
                        <a:rPr lang="en-US" dirty="0"/>
                        <a:t>S#</a:t>
                      </a:r>
                    </a:p>
                  </a:txBody>
                  <a:tcPr anchor="ctr"/>
                </a:tc>
                <a:tc>
                  <a:txBody>
                    <a:bodyPr/>
                    <a:lstStyle/>
                    <a:p>
                      <a:pPr algn="ctr"/>
                      <a:r>
                        <a:rPr lang="en-US" dirty="0"/>
                        <a:t>Name</a:t>
                      </a:r>
                    </a:p>
                  </a:txBody>
                  <a:tcPr anchor="ctr"/>
                </a:tc>
                <a:tc>
                  <a:txBody>
                    <a:bodyPr/>
                    <a:lstStyle/>
                    <a:p>
                      <a:pPr algn="ctr"/>
                      <a:r>
                        <a:rPr lang="en-US" dirty="0"/>
                        <a:t>Telephones</a:t>
                      </a:r>
                    </a:p>
                  </a:txBody>
                  <a:tcPr anchor="ctr"/>
                </a:tc>
                <a:extLst>
                  <a:ext uri="{0D108BD9-81ED-4DB2-BD59-A6C34878D82A}">
                    <a16:rowId xmlns:a16="http://schemas.microsoft.com/office/drawing/2014/main" val="10000"/>
                  </a:ext>
                </a:extLst>
              </a:tr>
              <a:tr h="370840">
                <a:tc>
                  <a:txBody>
                    <a:bodyPr/>
                    <a:lstStyle/>
                    <a:p>
                      <a:pPr algn="ctr"/>
                      <a:r>
                        <a:rPr lang="fa-IR" dirty="0"/>
                        <a:t>7801</a:t>
                      </a:r>
                      <a:endParaRPr lang="en-US" dirty="0"/>
                    </a:p>
                  </a:txBody>
                  <a:tcPr/>
                </a:tc>
                <a:tc>
                  <a:txBody>
                    <a:bodyPr/>
                    <a:lstStyle/>
                    <a:p>
                      <a:pPr algn="ctr"/>
                      <a:r>
                        <a:rPr lang="fa-IR" dirty="0"/>
                        <a:t>آرش</a:t>
                      </a:r>
                      <a:endParaRPr lang="en-US" dirty="0"/>
                    </a:p>
                  </a:txBody>
                  <a:tcPr/>
                </a:tc>
                <a:tc>
                  <a:txBody>
                    <a:bodyPr/>
                    <a:lstStyle/>
                    <a:p>
                      <a:pPr algn="ctr" rtl="1"/>
                      <a:r>
                        <a:rPr lang="fa-IR" dirty="0"/>
                        <a:t>6262778-0311</a:t>
                      </a:r>
                    </a:p>
                    <a:p>
                      <a:pPr algn="ctr" rtl="1"/>
                      <a:r>
                        <a:rPr lang="fa-IR" dirty="0"/>
                        <a:t>5234-311-0913</a:t>
                      </a:r>
                      <a:endParaRPr lang="en-US" dirty="0"/>
                    </a:p>
                  </a:txBody>
                  <a:tcPr/>
                </a:tc>
                <a:extLst>
                  <a:ext uri="{0D108BD9-81ED-4DB2-BD59-A6C34878D82A}">
                    <a16:rowId xmlns:a16="http://schemas.microsoft.com/office/drawing/2014/main" val="10001"/>
                  </a:ext>
                </a:extLst>
              </a:tr>
              <a:tr h="370840">
                <a:tc>
                  <a:txBody>
                    <a:bodyPr/>
                    <a:lstStyle/>
                    <a:p>
                      <a:pPr algn="ctr"/>
                      <a:r>
                        <a:rPr lang="fa-IR" dirty="0"/>
                        <a:t>7902</a:t>
                      </a:r>
                      <a:endParaRPr lang="en-US" dirty="0"/>
                    </a:p>
                  </a:txBody>
                  <a:tcPr/>
                </a:tc>
                <a:tc>
                  <a:txBody>
                    <a:bodyPr/>
                    <a:lstStyle/>
                    <a:p>
                      <a:pPr algn="ctr"/>
                      <a:r>
                        <a:rPr lang="fa-IR" dirty="0"/>
                        <a:t>عسل</a:t>
                      </a:r>
                      <a:endParaRPr lang="en-US" dirty="0"/>
                    </a:p>
                  </a:txBody>
                  <a:tcPr/>
                </a:tc>
                <a:tc>
                  <a:txBody>
                    <a:bodyPr/>
                    <a:lstStyle/>
                    <a:p>
                      <a:pPr algn="ctr"/>
                      <a:r>
                        <a:rPr lang="fa-IR" dirty="0"/>
                        <a:t>2956677-021</a:t>
                      </a:r>
                    </a:p>
                    <a:p>
                      <a:pPr algn="ctr"/>
                      <a:r>
                        <a:rPr lang="fa-IR" dirty="0"/>
                        <a:t>4532-314-0912</a:t>
                      </a:r>
                      <a:endParaRPr lang="en-US" dirty="0"/>
                    </a:p>
                  </a:txBody>
                  <a:tcPr/>
                </a:tc>
                <a:extLst>
                  <a:ext uri="{0D108BD9-81ED-4DB2-BD59-A6C34878D82A}">
                    <a16:rowId xmlns:a16="http://schemas.microsoft.com/office/drawing/2014/main" val="10002"/>
                  </a:ext>
                </a:extLst>
              </a:tr>
            </a:tbl>
          </a:graphicData>
        </a:graphic>
      </p:graphicFrame>
    </p:spTree>
    <p:extLst>
      <p:ext uri="{BB962C8B-B14F-4D97-AF65-F5344CB8AC3E}">
        <p14:creationId xmlns:p14="http://schemas.microsoft.com/office/powerpoint/2010/main" val="185266744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3363" name="Title 1"/>
          <p:cNvSpPr>
            <a:spLocks noGrp="1"/>
          </p:cNvSpPr>
          <p:nvPr>
            <p:ph type="title"/>
          </p:nvPr>
        </p:nvSpPr>
        <p:spPr/>
        <p:txBody>
          <a:bodyPr anchor="ctr"/>
          <a:lstStyle/>
          <a:p>
            <a:pPr algn="ctr" rtl="1"/>
            <a:r>
              <a:rPr lang="fa-IR" altLang="en-US" sz="4400" b="1" dirty="0">
                <a:latin typeface="Titr" pitchFamily="2" charset="-78"/>
                <a:ea typeface="2  Titr"/>
                <a:cs typeface="2  Titr"/>
              </a:rPr>
              <a:t>جداول آنرمال</a:t>
            </a:r>
            <a:endParaRPr lang="en-US" altLang="en-US" sz="4400" b="1" dirty="0">
              <a:latin typeface="Titr" pitchFamily="2" charset="-78"/>
              <a:ea typeface="2  Titr"/>
              <a:cs typeface="2  Titr"/>
            </a:endParaRPr>
          </a:p>
        </p:txBody>
      </p:sp>
      <p:sp>
        <p:nvSpPr>
          <p:cNvPr id="143362" name="Content Placeholder 2"/>
          <p:cNvSpPr>
            <a:spLocks noGrp="1"/>
          </p:cNvSpPr>
          <p:nvPr>
            <p:ph idx="1"/>
          </p:nvPr>
        </p:nvSpPr>
        <p:spPr/>
        <p:txBody>
          <a:bodyPr>
            <a:normAutofit/>
          </a:bodyPr>
          <a:lstStyle/>
          <a:p>
            <a:pPr algn="just" rtl="1"/>
            <a:r>
              <a:rPr lang="fa-IR" altLang="en-US" sz="2400" dirty="0">
                <a:ea typeface="Majalla UI"/>
                <a:cs typeface="B Nazanin" panose="00000400000000000000" pitchFamily="2" charset="-78"/>
              </a:rPr>
              <a:t>مهمترین عیب یک جدول آنرمال این است که برای هر یک از عملیات درج، حذف و اضافه به دو دسته عملیات درج تاپل و درج گروه اطلاعات مجموعه (</a:t>
            </a:r>
            <a:r>
              <a:rPr lang="en-US" altLang="en-US" sz="2400" dirty="0">
                <a:cs typeface="B Nazanin" panose="00000400000000000000" pitchFamily="2" charset="-78"/>
              </a:rPr>
              <a:t>Telephones</a:t>
            </a:r>
            <a:r>
              <a:rPr lang="fa-IR" altLang="en-US" sz="2400" dirty="0">
                <a:ea typeface="Majalla UI"/>
                <a:cs typeface="B Nazanin" panose="00000400000000000000" pitchFamily="2" charset="-78"/>
              </a:rPr>
              <a:t>) احتیاج است.</a:t>
            </a:r>
          </a:p>
          <a:p>
            <a:pPr algn="just" rtl="1"/>
            <a:endParaRPr lang="en-US" altLang="en-US" sz="2000" dirty="0">
              <a:cs typeface="B Nazanin" panose="00000400000000000000" pitchFamily="2" charset="-78"/>
            </a:endParaRPr>
          </a:p>
        </p:txBody>
      </p:sp>
      <p:sp>
        <p:nvSpPr>
          <p:cNvPr id="3" name="Slide Number Placeholder 2">
            <a:extLst>
              <a:ext uri="{FF2B5EF4-FFF2-40B4-BE49-F238E27FC236}">
                <a16:creationId xmlns:a16="http://schemas.microsoft.com/office/drawing/2014/main" id="{95F6FB10-596A-4193-B740-43B5D6B77228}"/>
              </a:ext>
            </a:extLst>
          </p:cNvPr>
          <p:cNvSpPr>
            <a:spLocks noGrp="1"/>
          </p:cNvSpPr>
          <p:nvPr>
            <p:ph type="sldNum" sz="quarter" idx="4294967295"/>
          </p:nvPr>
        </p:nvSpPr>
        <p:spPr>
          <a:xfrm>
            <a:off x="7994650" y="6334125"/>
            <a:ext cx="1149350" cy="365125"/>
          </a:xfrm>
        </p:spPr>
        <p:txBody>
          <a:bodyPr/>
          <a:lstStyle/>
          <a:p>
            <a:fld id="{9B1BEC6B-D08C-4686-9D99-35ADA0E9E6CD}" type="slidenum">
              <a:rPr lang="en-US" smtClean="0"/>
              <a:t>12</a:t>
            </a:fld>
            <a:endParaRPr lang="en-US"/>
          </a:p>
        </p:txBody>
      </p:sp>
      <p:graphicFrame>
        <p:nvGraphicFramePr>
          <p:cNvPr id="5" name="Table 4"/>
          <p:cNvGraphicFramePr>
            <a:graphicFrameLocks noGrp="1"/>
          </p:cNvGraphicFramePr>
          <p:nvPr/>
        </p:nvGraphicFramePr>
        <p:xfrm>
          <a:off x="838200" y="3378201"/>
          <a:ext cx="4953000" cy="1651000"/>
        </p:xfrm>
        <a:graphic>
          <a:graphicData uri="http://schemas.openxmlformats.org/drawingml/2006/table">
            <a:tbl>
              <a:tblPr firstRow="1" bandRow="1">
                <a:tableStyleId>{616DA210-FB5B-4158-B5E0-FEB733F419BA}</a:tableStyleId>
              </a:tblPr>
              <a:tblGrid>
                <a:gridCol w="1807176">
                  <a:extLst>
                    <a:ext uri="{9D8B030D-6E8A-4147-A177-3AD203B41FA5}">
                      <a16:colId xmlns:a16="http://schemas.microsoft.com/office/drawing/2014/main" val="20000"/>
                    </a:ext>
                  </a:extLst>
                </a:gridCol>
                <a:gridCol w="1360959">
                  <a:extLst>
                    <a:ext uri="{9D8B030D-6E8A-4147-A177-3AD203B41FA5}">
                      <a16:colId xmlns:a16="http://schemas.microsoft.com/office/drawing/2014/main" val="20001"/>
                    </a:ext>
                  </a:extLst>
                </a:gridCol>
                <a:gridCol w="1784865">
                  <a:extLst>
                    <a:ext uri="{9D8B030D-6E8A-4147-A177-3AD203B41FA5}">
                      <a16:colId xmlns:a16="http://schemas.microsoft.com/office/drawing/2014/main" val="20002"/>
                    </a:ext>
                  </a:extLst>
                </a:gridCol>
              </a:tblGrid>
              <a:tr h="370840">
                <a:tc>
                  <a:txBody>
                    <a:bodyPr/>
                    <a:lstStyle/>
                    <a:p>
                      <a:pPr algn="ctr"/>
                      <a:r>
                        <a:rPr lang="en-US" dirty="0"/>
                        <a:t>S#</a:t>
                      </a:r>
                    </a:p>
                  </a:txBody>
                  <a:tcPr anchor="ctr"/>
                </a:tc>
                <a:tc>
                  <a:txBody>
                    <a:bodyPr/>
                    <a:lstStyle/>
                    <a:p>
                      <a:pPr algn="ctr"/>
                      <a:r>
                        <a:rPr lang="en-US" dirty="0"/>
                        <a:t>Name</a:t>
                      </a:r>
                    </a:p>
                  </a:txBody>
                  <a:tcPr anchor="ctr"/>
                </a:tc>
                <a:tc>
                  <a:txBody>
                    <a:bodyPr/>
                    <a:lstStyle/>
                    <a:p>
                      <a:pPr algn="ctr"/>
                      <a:r>
                        <a:rPr lang="en-US" dirty="0"/>
                        <a:t>Telephones</a:t>
                      </a:r>
                    </a:p>
                  </a:txBody>
                  <a:tcPr anchor="ctr"/>
                </a:tc>
                <a:extLst>
                  <a:ext uri="{0D108BD9-81ED-4DB2-BD59-A6C34878D82A}">
                    <a16:rowId xmlns:a16="http://schemas.microsoft.com/office/drawing/2014/main" val="10000"/>
                  </a:ext>
                </a:extLst>
              </a:tr>
              <a:tr h="370840">
                <a:tc>
                  <a:txBody>
                    <a:bodyPr/>
                    <a:lstStyle/>
                    <a:p>
                      <a:pPr algn="ctr"/>
                      <a:r>
                        <a:rPr lang="fa-IR" dirty="0"/>
                        <a:t>7801</a:t>
                      </a:r>
                      <a:endParaRPr lang="en-US" dirty="0"/>
                    </a:p>
                  </a:txBody>
                  <a:tcPr/>
                </a:tc>
                <a:tc>
                  <a:txBody>
                    <a:bodyPr/>
                    <a:lstStyle/>
                    <a:p>
                      <a:pPr algn="ctr"/>
                      <a:r>
                        <a:rPr lang="fa-IR" dirty="0"/>
                        <a:t>آرش</a:t>
                      </a:r>
                      <a:endParaRPr lang="en-US" dirty="0"/>
                    </a:p>
                  </a:txBody>
                  <a:tcPr/>
                </a:tc>
                <a:tc>
                  <a:txBody>
                    <a:bodyPr/>
                    <a:lstStyle/>
                    <a:p>
                      <a:pPr algn="ctr" rtl="1"/>
                      <a:r>
                        <a:rPr lang="fa-IR" dirty="0"/>
                        <a:t>6262778-0311</a:t>
                      </a:r>
                    </a:p>
                    <a:p>
                      <a:pPr algn="ctr" rtl="1"/>
                      <a:r>
                        <a:rPr lang="fa-IR" dirty="0"/>
                        <a:t>5234-311-0913</a:t>
                      </a:r>
                      <a:endParaRPr lang="en-US" dirty="0"/>
                    </a:p>
                  </a:txBody>
                  <a:tcPr/>
                </a:tc>
                <a:extLst>
                  <a:ext uri="{0D108BD9-81ED-4DB2-BD59-A6C34878D82A}">
                    <a16:rowId xmlns:a16="http://schemas.microsoft.com/office/drawing/2014/main" val="10001"/>
                  </a:ext>
                </a:extLst>
              </a:tr>
              <a:tr h="370840">
                <a:tc>
                  <a:txBody>
                    <a:bodyPr/>
                    <a:lstStyle/>
                    <a:p>
                      <a:pPr algn="ctr"/>
                      <a:r>
                        <a:rPr lang="fa-IR" dirty="0"/>
                        <a:t>7902</a:t>
                      </a:r>
                      <a:endParaRPr lang="en-US" dirty="0"/>
                    </a:p>
                  </a:txBody>
                  <a:tcPr/>
                </a:tc>
                <a:tc>
                  <a:txBody>
                    <a:bodyPr/>
                    <a:lstStyle/>
                    <a:p>
                      <a:pPr algn="ctr"/>
                      <a:r>
                        <a:rPr lang="fa-IR" dirty="0"/>
                        <a:t>عسل</a:t>
                      </a:r>
                      <a:endParaRPr lang="en-US" dirty="0"/>
                    </a:p>
                  </a:txBody>
                  <a:tcPr/>
                </a:tc>
                <a:tc>
                  <a:txBody>
                    <a:bodyPr/>
                    <a:lstStyle/>
                    <a:p>
                      <a:pPr algn="ctr"/>
                      <a:r>
                        <a:rPr lang="fa-IR" dirty="0"/>
                        <a:t>2956677-021</a:t>
                      </a:r>
                    </a:p>
                    <a:p>
                      <a:pPr algn="ctr"/>
                      <a:r>
                        <a:rPr lang="fa-IR" dirty="0"/>
                        <a:t>4532-314-0912</a:t>
                      </a:r>
                      <a:endParaRPr lang="en-US" dirty="0"/>
                    </a:p>
                  </a:txBody>
                  <a:tcPr/>
                </a:tc>
                <a:extLst>
                  <a:ext uri="{0D108BD9-81ED-4DB2-BD59-A6C34878D82A}">
                    <a16:rowId xmlns:a16="http://schemas.microsoft.com/office/drawing/2014/main" val="10002"/>
                  </a:ext>
                </a:extLst>
              </a:tr>
            </a:tbl>
          </a:graphicData>
        </a:graphic>
      </p:graphicFrame>
    </p:spTree>
    <p:extLst>
      <p:ext uri="{BB962C8B-B14F-4D97-AF65-F5344CB8AC3E}">
        <p14:creationId xmlns:p14="http://schemas.microsoft.com/office/powerpoint/2010/main" val="377898569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4387" name="Title 1"/>
          <p:cNvSpPr>
            <a:spLocks noGrp="1"/>
          </p:cNvSpPr>
          <p:nvPr>
            <p:ph type="title"/>
          </p:nvPr>
        </p:nvSpPr>
        <p:spPr>
          <a:xfrm>
            <a:off x="304800" y="38099"/>
            <a:ext cx="8229600" cy="1143000"/>
          </a:xfrm>
        </p:spPr>
        <p:txBody>
          <a:bodyPr anchor="ctr"/>
          <a:lstStyle/>
          <a:p>
            <a:pPr algn="ctr" rtl="1"/>
            <a:r>
              <a:rPr lang="fa-IR" altLang="en-US" sz="4400" dirty="0">
                <a:latin typeface="Titr" pitchFamily="2" charset="-78"/>
                <a:ea typeface="2  Titr"/>
                <a:cs typeface="2  Titr"/>
              </a:rPr>
              <a:t>جدول نرمال ۱</a:t>
            </a:r>
            <a:endParaRPr lang="en-US" altLang="en-US" sz="4400" b="1" dirty="0">
              <a:latin typeface="Titr" pitchFamily="2" charset="-78"/>
              <a:ea typeface="2  Titr"/>
              <a:cs typeface="2  Titr"/>
            </a:endParaRPr>
          </a:p>
        </p:txBody>
      </p:sp>
      <p:sp>
        <p:nvSpPr>
          <p:cNvPr id="144386" name="Content Placeholder 2"/>
          <p:cNvSpPr>
            <a:spLocks noGrp="1"/>
          </p:cNvSpPr>
          <p:nvPr>
            <p:ph idx="1"/>
          </p:nvPr>
        </p:nvSpPr>
        <p:spPr>
          <a:xfrm>
            <a:off x="657514" y="1123950"/>
            <a:ext cx="8077200" cy="2971799"/>
          </a:xfrm>
        </p:spPr>
        <p:txBody>
          <a:bodyPr>
            <a:normAutofit/>
          </a:bodyPr>
          <a:lstStyle/>
          <a:p>
            <a:pPr algn="just" rtl="1"/>
            <a:r>
              <a:rPr lang="fa-IR" altLang="en-US" sz="2400" dirty="0">
                <a:ea typeface="Majalla UI"/>
                <a:cs typeface="B Nazanin" panose="00000400000000000000" pitchFamily="2" charset="-78"/>
              </a:rPr>
              <a:t>یک جدول نرمال1 است اگر در برخورد هر سطر با هر ستون به یک مقدار تجزیه ناپذیر برسیم</a:t>
            </a:r>
          </a:p>
          <a:p>
            <a:pPr algn="just" rtl="1"/>
            <a:r>
              <a:rPr lang="fa-IR" altLang="en-US" sz="2400" dirty="0">
                <a:ea typeface="Majalla UI"/>
                <a:cs typeface="B Nazanin" panose="00000400000000000000" pitchFamily="2" charset="-78"/>
              </a:rPr>
              <a:t>برای آنکه جدول آنرمال </a:t>
            </a:r>
            <a:r>
              <a:rPr lang="en-US" altLang="en-US" sz="2400" dirty="0">
                <a:cs typeface="B Nazanin" panose="00000400000000000000" pitchFamily="2" charset="-78"/>
              </a:rPr>
              <a:t>Student</a:t>
            </a:r>
            <a:r>
              <a:rPr lang="fa-IR" altLang="en-US" sz="2400" dirty="0">
                <a:ea typeface="Majalla UI"/>
                <a:cs typeface="B Nazanin" panose="00000400000000000000" pitchFamily="2" charset="-78"/>
              </a:rPr>
              <a:t> را به نرمال 1</a:t>
            </a:r>
            <a:r>
              <a:rPr lang="en-US" altLang="en-US" sz="2400" dirty="0">
                <a:cs typeface="B Nazanin" panose="00000400000000000000" pitchFamily="2" charset="-78"/>
              </a:rPr>
              <a:t> </a:t>
            </a:r>
            <a:r>
              <a:rPr lang="fa-IR" altLang="en-US" sz="2400" dirty="0">
                <a:ea typeface="Majalla UI"/>
                <a:cs typeface="B Nazanin" panose="00000400000000000000" pitchFamily="2" charset="-78"/>
              </a:rPr>
              <a:t>تبدیل کنیم، لازم است مقادیر ویژگیهای </a:t>
            </a:r>
            <a:r>
              <a:rPr lang="en-US" altLang="en-US" sz="2400" dirty="0">
                <a:cs typeface="B Nazanin" panose="00000400000000000000" pitchFamily="2" charset="-78"/>
              </a:rPr>
              <a:t>St#</a:t>
            </a:r>
            <a:r>
              <a:rPr lang="fa-IR" altLang="en-US" sz="2400" dirty="0">
                <a:ea typeface="Majalla UI"/>
                <a:cs typeface="B Nazanin" panose="00000400000000000000" pitchFamily="2" charset="-78"/>
              </a:rPr>
              <a:t> و </a:t>
            </a:r>
            <a:r>
              <a:rPr lang="en-US" altLang="en-US" sz="2400" dirty="0">
                <a:cs typeface="B Nazanin" panose="00000400000000000000" pitchFamily="2" charset="-78"/>
              </a:rPr>
              <a:t>Name</a:t>
            </a:r>
            <a:r>
              <a:rPr lang="fa-IR" altLang="en-US" sz="2400" dirty="0">
                <a:ea typeface="Majalla UI"/>
                <a:cs typeface="B Nazanin" panose="00000400000000000000" pitchFamily="2" charset="-78"/>
              </a:rPr>
              <a:t> را به ازاء هر شماره تلفن تکرار کنیم</a:t>
            </a:r>
          </a:p>
        </p:txBody>
      </p:sp>
      <p:sp>
        <p:nvSpPr>
          <p:cNvPr id="3" name="Slide Number Placeholder 2">
            <a:extLst>
              <a:ext uri="{FF2B5EF4-FFF2-40B4-BE49-F238E27FC236}">
                <a16:creationId xmlns:a16="http://schemas.microsoft.com/office/drawing/2014/main" id="{EBC4EB06-5C46-42D1-ABCD-EA1205A911A9}"/>
              </a:ext>
            </a:extLst>
          </p:cNvPr>
          <p:cNvSpPr>
            <a:spLocks noGrp="1"/>
          </p:cNvSpPr>
          <p:nvPr>
            <p:ph type="sldNum" sz="quarter" idx="4294967295"/>
          </p:nvPr>
        </p:nvSpPr>
        <p:spPr>
          <a:xfrm>
            <a:off x="7994650" y="6334125"/>
            <a:ext cx="1149350" cy="365125"/>
          </a:xfrm>
        </p:spPr>
        <p:txBody>
          <a:bodyPr/>
          <a:lstStyle/>
          <a:p>
            <a:fld id="{9B1BEC6B-D08C-4686-9D99-35ADA0E9E6CD}" type="slidenum">
              <a:rPr lang="en-US" smtClean="0"/>
              <a:t>13</a:t>
            </a:fld>
            <a:endParaRPr lang="en-US"/>
          </a:p>
        </p:txBody>
      </p:sp>
      <p:graphicFrame>
        <p:nvGraphicFramePr>
          <p:cNvPr id="5" name="Table 4"/>
          <p:cNvGraphicFramePr>
            <a:graphicFrameLocks noGrp="1"/>
          </p:cNvGraphicFramePr>
          <p:nvPr/>
        </p:nvGraphicFramePr>
        <p:xfrm>
          <a:off x="838200" y="4038600"/>
          <a:ext cx="4953000" cy="1854200"/>
        </p:xfrm>
        <a:graphic>
          <a:graphicData uri="http://schemas.openxmlformats.org/drawingml/2006/table">
            <a:tbl>
              <a:tblPr firstRow="1" bandRow="1">
                <a:tableStyleId>{616DA210-FB5B-4158-B5E0-FEB733F419BA}</a:tableStyleId>
              </a:tblPr>
              <a:tblGrid>
                <a:gridCol w="1807176">
                  <a:extLst>
                    <a:ext uri="{9D8B030D-6E8A-4147-A177-3AD203B41FA5}">
                      <a16:colId xmlns:a16="http://schemas.microsoft.com/office/drawing/2014/main" val="20000"/>
                    </a:ext>
                  </a:extLst>
                </a:gridCol>
                <a:gridCol w="1360959">
                  <a:extLst>
                    <a:ext uri="{9D8B030D-6E8A-4147-A177-3AD203B41FA5}">
                      <a16:colId xmlns:a16="http://schemas.microsoft.com/office/drawing/2014/main" val="20001"/>
                    </a:ext>
                  </a:extLst>
                </a:gridCol>
                <a:gridCol w="1784865">
                  <a:extLst>
                    <a:ext uri="{9D8B030D-6E8A-4147-A177-3AD203B41FA5}">
                      <a16:colId xmlns:a16="http://schemas.microsoft.com/office/drawing/2014/main" val="20002"/>
                    </a:ext>
                  </a:extLst>
                </a:gridCol>
              </a:tblGrid>
              <a:tr h="370840">
                <a:tc>
                  <a:txBody>
                    <a:bodyPr/>
                    <a:lstStyle/>
                    <a:p>
                      <a:pPr algn="ctr"/>
                      <a:r>
                        <a:rPr lang="en-US" dirty="0"/>
                        <a:t>S#</a:t>
                      </a:r>
                    </a:p>
                  </a:txBody>
                  <a:tcPr anchor="ctr"/>
                </a:tc>
                <a:tc>
                  <a:txBody>
                    <a:bodyPr/>
                    <a:lstStyle/>
                    <a:p>
                      <a:pPr algn="ctr"/>
                      <a:r>
                        <a:rPr lang="en-US" dirty="0"/>
                        <a:t>Name</a:t>
                      </a:r>
                    </a:p>
                  </a:txBody>
                  <a:tcPr anchor="ctr"/>
                </a:tc>
                <a:tc>
                  <a:txBody>
                    <a:bodyPr/>
                    <a:lstStyle/>
                    <a:p>
                      <a:pPr algn="ctr"/>
                      <a:r>
                        <a:rPr lang="en-US" dirty="0"/>
                        <a:t>Telephones</a:t>
                      </a:r>
                    </a:p>
                  </a:txBody>
                  <a:tcPr anchor="ctr"/>
                </a:tc>
                <a:extLst>
                  <a:ext uri="{0D108BD9-81ED-4DB2-BD59-A6C34878D82A}">
                    <a16:rowId xmlns:a16="http://schemas.microsoft.com/office/drawing/2014/main" val="10000"/>
                  </a:ext>
                </a:extLst>
              </a:tr>
              <a:tr h="370840">
                <a:tc>
                  <a:txBody>
                    <a:bodyPr/>
                    <a:lstStyle/>
                    <a:p>
                      <a:pPr algn="ctr"/>
                      <a:r>
                        <a:rPr lang="fa-IR" dirty="0"/>
                        <a:t>7801</a:t>
                      </a:r>
                      <a:endParaRPr lang="en-US" dirty="0"/>
                    </a:p>
                  </a:txBody>
                  <a:tcPr/>
                </a:tc>
                <a:tc>
                  <a:txBody>
                    <a:bodyPr/>
                    <a:lstStyle/>
                    <a:p>
                      <a:pPr algn="ctr"/>
                      <a:r>
                        <a:rPr lang="fa-IR" dirty="0"/>
                        <a:t>آرش</a:t>
                      </a:r>
                      <a:endParaRPr lang="en-US" dirty="0"/>
                    </a:p>
                  </a:txBody>
                  <a:tcPr/>
                </a:tc>
                <a:tc>
                  <a:txBody>
                    <a:bodyPr/>
                    <a:lstStyle/>
                    <a:p>
                      <a:pPr algn="ctr" rtl="1"/>
                      <a:r>
                        <a:rPr lang="fa-IR" dirty="0"/>
                        <a:t>6262778-0311</a:t>
                      </a:r>
                    </a:p>
                  </a:txBody>
                  <a:tcPr/>
                </a:tc>
                <a:extLst>
                  <a:ext uri="{0D108BD9-81ED-4DB2-BD59-A6C34878D82A}">
                    <a16:rowId xmlns:a16="http://schemas.microsoft.com/office/drawing/2014/main" val="10001"/>
                  </a:ext>
                </a:extLst>
              </a:tr>
              <a:tr h="370840">
                <a:tc>
                  <a:txBody>
                    <a:bodyPr/>
                    <a:lstStyle/>
                    <a:p>
                      <a:pPr algn="ctr"/>
                      <a:r>
                        <a:rPr lang="fa-IR" dirty="0"/>
                        <a:t>7801</a:t>
                      </a:r>
                      <a:endParaRPr lang="en-US" dirty="0"/>
                    </a:p>
                  </a:txBody>
                  <a:tcPr/>
                </a:tc>
                <a:tc>
                  <a:txBody>
                    <a:bodyPr/>
                    <a:lstStyle/>
                    <a:p>
                      <a:pPr algn="ctr"/>
                      <a:r>
                        <a:rPr lang="fa-IR" dirty="0"/>
                        <a:t>آرش</a:t>
                      </a:r>
                      <a:endParaRPr lang="en-US" dirty="0"/>
                    </a:p>
                  </a:txBody>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fa-IR" dirty="0"/>
                        <a:t>5234-311-0913</a:t>
                      </a:r>
                      <a:endParaRPr lang="en-US" dirty="0"/>
                    </a:p>
                  </a:txBody>
                  <a:tcPr/>
                </a:tc>
                <a:extLst>
                  <a:ext uri="{0D108BD9-81ED-4DB2-BD59-A6C34878D82A}">
                    <a16:rowId xmlns:a16="http://schemas.microsoft.com/office/drawing/2014/main" val="10002"/>
                  </a:ext>
                </a:extLst>
              </a:tr>
              <a:tr h="370840">
                <a:tc>
                  <a:txBody>
                    <a:bodyPr/>
                    <a:lstStyle/>
                    <a:p>
                      <a:pPr algn="ctr"/>
                      <a:r>
                        <a:rPr lang="fa-IR" dirty="0"/>
                        <a:t>7902</a:t>
                      </a:r>
                      <a:endParaRPr lang="en-US" dirty="0"/>
                    </a:p>
                  </a:txBody>
                  <a:tcPr/>
                </a:tc>
                <a:tc>
                  <a:txBody>
                    <a:bodyPr/>
                    <a:lstStyle/>
                    <a:p>
                      <a:pPr algn="ctr"/>
                      <a:r>
                        <a:rPr lang="fa-IR" dirty="0"/>
                        <a:t>عسل</a:t>
                      </a:r>
                      <a:endParaRPr lang="en-US" dirty="0"/>
                    </a:p>
                  </a:txBody>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fa-IR" dirty="0"/>
                        <a:t>2956677-021</a:t>
                      </a:r>
                    </a:p>
                  </a:txBody>
                  <a:tcPr/>
                </a:tc>
                <a:extLst>
                  <a:ext uri="{0D108BD9-81ED-4DB2-BD59-A6C34878D82A}">
                    <a16:rowId xmlns:a16="http://schemas.microsoft.com/office/drawing/2014/main" val="10003"/>
                  </a:ext>
                </a:extLst>
              </a:tr>
              <a:tr h="370840">
                <a:tc>
                  <a:txBody>
                    <a:bodyPr/>
                    <a:lstStyle/>
                    <a:p>
                      <a:pPr algn="ctr"/>
                      <a:r>
                        <a:rPr lang="fa-IR" dirty="0"/>
                        <a:t>7902</a:t>
                      </a:r>
                      <a:endParaRPr lang="en-US" dirty="0"/>
                    </a:p>
                  </a:txBody>
                  <a:tcPr/>
                </a:tc>
                <a:tc>
                  <a:txBody>
                    <a:bodyPr/>
                    <a:lstStyle/>
                    <a:p>
                      <a:pPr algn="ctr"/>
                      <a:r>
                        <a:rPr lang="fa-IR" dirty="0"/>
                        <a:t>عسل</a:t>
                      </a:r>
                      <a:endParaRPr lang="en-US" dirty="0"/>
                    </a:p>
                  </a:txBody>
                  <a:tcPr/>
                </a:tc>
                <a:tc>
                  <a:txBody>
                    <a:bodyPr/>
                    <a:lstStyle/>
                    <a:p>
                      <a:pPr algn="ctr"/>
                      <a:r>
                        <a:rPr lang="fa-IR" dirty="0"/>
                        <a:t>4532-314-0912</a:t>
                      </a:r>
                      <a:endParaRPr lang="en-US" dirty="0"/>
                    </a:p>
                  </a:txBody>
                  <a:tcPr/>
                </a:tc>
                <a:extLst>
                  <a:ext uri="{0D108BD9-81ED-4DB2-BD59-A6C34878D82A}">
                    <a16:rowId xmlns:a16="http://schemas.microsoft.com/office/drawing/2014/main" val="10004"/>
                  </a:ext>
                </a:extLst>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0813B907-48AA-4289-A3C6-4D79FD134728}"/>
              </a:ext>
            </a:extLst>
          </p:cNvPr>
          <p:cNvSpPr>
            <a:spLocks noGrp="1"/>
          </p:cNvSpPr>
          <p:nvPr>
            <p:ph type="title"/>
          </p:nvPr>
        </p:nvSpPr>
        <p:spPr/>
        <p:txBody>
          <a:bodyPr>
            <a:noAutofit/>
          </a:bodyPr>
          <a:lstStyle/>
          <a:p>
            <a:pPr rtl="1"/>
            <a:r>
              <a:rPr lang="fa-IR" altLang="en-US" sz="2800" dirty="0">
                <a:latin typeface="Titr" pitchFamily="2" charset="-78"/>
                <a:ea typeface="2  Titr"/>
                <a:cs typeface="2  Titr"/>
              </a:rPr>
              <a:t>جدول نرمال ۱</a:t>
            </a:r>
            <a:endParaRPr lang="en-US" sz="2800" dirty="0">
              <a:solidFill>
                <a:schemeClr val="tx1"/>
              </a:solidFill>
              <a:cs typeface="B Nazanin" panose="00000400000000000000" pitchFamily="2" charset="-78"/>
            </a:endParaRPr>
          </a:p>
        </p:txBody>
      </p:sp>
      <p:sp>
        <p:nvSpPr>
          <p:cNvPr id="2" name="Content Placeholder 1">
            <a:extLst>
              <a:ext uri="{FF2B5EF4-FFF2-40B4-BE49-F238E27FC236}">
                <a16:creationId xmlns:a16="http://schemas.microsoft.com/office/drawing/2014/main" id="{383B8EF2-6006-486D-98B3-19EF5B698698}"/>
              </a:ext>
            </a:extLst>
          </p:cNvPr>
          <p:cNvSpPr>
            <a:spLocks noGrp="1"/>
          </p:cNvSpPr>
          <p:nvPr>
            <p:ph idx="1"/>
          </p:nvPr>
        </p:nvSpPr>
        <p:spPr/>
        <p:txBody>
          <a:bodyPr/>
          <a:lstStyle/>
          <a:p>
            <a:pPr algn="r" rtl="1"/>
            <a:r>
              <a:rPr lang="fa-IR" sz="3200" b="0" dirty="0">
                <a:solidFill>
                  <a:schemeClr val="tx1"/>
                </a:solidFill>
                <a:cs typeface="B Nazanin" panose="00000400000000000000" pitchFamily="2" charset="-78"/>
              </a:rPr>
              <a:t>مثال. جدول </a:t>
            </a:r>
            <a:r>
              <a:rPr lang="en-US" sz="3200" b="0" dirty="0">
                <a:solidFill>
                  <a:schemeClr val="tx1"/>
                </a:solidFill>
                <a:cs typeface="B Nazanin" panose="00000400000000000000" pitchFamily="2" charset="-78"/>
              </a:rPr>
              <a:t>ALL_SALES </a:t>
            </a:r>
            <a:r>
              <a:rPr lang="fa-IR" sz="3200" b="0" dirty="0">
                <a:solidFill>
                  <a:schemeClr val="tx1"/>
                </a:solidFill>
                <a:cs typeface="B Nazanin" panose="00000400000000000000" pitchFamily="2" charset="-78"/>
              </a:rPr>
              <a:t>که اطلاعات فروش را نگهداری می کند درنظر بگيريد. ایا در فرم نرمال اول هست ؟</a:t>
            </a:r>
            <a:endParaRPr lang="en-US" sz="3200" dirty="0"/>
          </a:p>
        </p:txBody>
      </p:sp>
      <p:sp>
        <p:nvSpPr>
          <p:cNvPr id="3" name="Slide Number Placeholder 2">
            <a:extLst>
              <a:ext uri="{FF2B5EF4-FFF2-40B4-BE49-F238E27FC236}">
                <a16:creationId xmlns:a16="http://schemas.microsoft.com/office/drawing/2014/main" id="{E7F38CCD-35B9-4443-9F8D-958C58E80E37}"/>
              </a:ext>
            </a:extLst>
          </p:cNvPr>
          <p:cNvSpPr>
            <a:spLocks noGrp="1"/>
          </p:cNvSpPr>
          <p:nvPr>
            <p:ph type="sldNum" sz="quarter" idx="4294967295"/>
          </p:nvPr>
        </p:nvSpPr>
        <p:spPr>
          <a:xfrm>
            <a:off x="7994650" y="6334125"/>
            <a:ext cx="1149350" cy="365125"/>
          </a:xfrm>
        </p:spPr>
        <p:txBody>
          <a:bodyPr/>
          <a:lstStyle/>
          <a:p>
            <a:fld id="{9B1BEC6B-D08C-4686-9D99-35ADA0E9E6CD}" type="slidenum">
              <a:rPr lang="en-US" smtClean="0"/>
              <a:t>14</a:t>
            </a:fld>
            <a:endParaRPr lang="en-US"/>
          </a:p>
        </p:txBody>
      </p:sp>
      <p:graphicFrame>
        <p:nvGraphicFramePr>
          <p:cNvPr id="6" name="Table 5">
            <a:extLst>
              <a:ext uri="{FF2B5EF4-FFF2-40B4-BE49-F238E27FC236}">
                <a16:creationId xmlns:a16="http://schemas.microsoft.com/office/drawing/2014/main" id="{182B29F0-C134-4007-9D00-90827D3CC162}"/>
              </a:ext>
            </a:extLst>
          </p:cNvPr>
          <p:cNvGraphicFramePr>
            <a:graphicFrameLocks noGrp="1"/>
          </p:cNvGraphicFramePr>
          <p:nvPr/>
        </p:nvGraphicFramePr>
        <p:xfrm>
          <a:off x="81497" y="2894578"/>
          <a:ext cx="8981005" cy="2682351"/>
        </p:xfrm>
        <a:graphic>
          <a:graphicData uri="http://schemas.openxmlformats.org/drawingml/2006/table">
            <a:tbl>
              <a:tblPr firstRow="1" firstCol="1" bandRow="1">
                <a:tableStyleId>{616DA210-FB5B-4158-B5E0-FEB733F419BA}</a:tableStyleId>
              </a:tblPr>
              <a:tblGrid>
                <a:gridCol w="586937">
                  <a:extLst>
                    <a:ext uri="{9D8B030D-6E8A-4147-A177-3AD203B41FA5}">
                      <a16:colId xmlns:a16="http://schemas.microsoft.com/office/drawing/2014/main" val="234041042"/>
                    </a:ext>
                  </a:extLst>
                </a:gridCol>
                <a:gridCol w="940021">
                  <a:extLst>
                    <a:ext uri="{9D8B030D-6E8A-4147-A177-3AD203B41FA5}">
                      <a16:colId xmlns:a16="http://schemas.microsoft.com/office/drawing/2014/main" val="3415118693"/>
                    </a:ext>
                  </a:extLst>
                </a:gridCol>
                <a:gridCol w="922588">
                  <a:extLst>
                    <a:ext uri="{9D8B030D-6E8A-4147-A177-3AD203B41FA5}">
                      <a16:colId xmlns:a16="http://schemas.microsoft.com/office/drawing/2014/main" val="3881982512"/>
                    </a:ext>
                  </a:extLst>
                </a:gridCol>
                <a:gridCol w="461294">
                  <a:extLst>
                    <a:ext uri="{9D8B030D-6E8A-4147-A177-3AD203B41FA5}">
                      <a16:colId xmlns:a16="http://schemas.microsoft.com/office/drawing/2014/main" val="2484215510"/>
                    </a:ext>
                  </a:extLst>
                </a:gridCol>
                <a:gridCol w="682078">
                  <a:extLst>
                    <a:ext uri="{9D8B030D-6E8A-4147-A177-3AD203B41FA5}">
                      <a16:colId xmlns:a16="http://schemas.microsoft.com/office/drawing/2014/main" val="1297653461"/>
                    </a:ext>
                  </a:extLst>
                </a:gridCol>
                <a:gridCol w="1156146">
                  <a:extLst>
                    <a:ext uri="{9D8B030D-6E8A-4147-A177-3AD203B41FA5}">
                      <a16:colId xmlns:a16="http://schemas.microsoft.com/office/drawing/2014/main" val="3484224265"/>
                    </a:ext>
                  </a:extLst>
                </a:gridCol>
                <a:gridCol w="847841">
                  <a:extLst>
                    <a:ext uri="{9D8B030D-6E8A-4147-A177-3AD203B41FA5}">
                      <a16:colId xmlns:a16="http://schemas.microsoft.com/office/drawing/2014/main" val="3482110401"/>
                    </a:ext>
                  </a:extLst>
                </a:gridCol>
                <a:gridCol w="770764">
                  <a:extLst>
                    <a:ext uri="{9D8B030D-6E8A-4147-A177-3AD203B41FA5}">
                      <a16:colId xmlns:a16="http://schemas.microsoft.com/office/drawing/2014/main" val="1813858957"/>
                    </a:ext>
                  </a:extLst>
                </a:gridCol>
                <a:gridCol w="770764">
                  <a:extLst>
                    <a:ext uri="{9D8B030D-6E8A-4147-A177-3AD203B41FA5}">
                      <a16:colId xmlns:a16="http://schemas.microsoft.com/office/drawing/2014/main" val="1355875302"/>
                    </a:ext>
                  </a:extLst>
                </a:gridCol>
                <a:gridCol w="1310300">
                  <a:extLst>
                    <a:ext uri="{9D8B030D-6E8A-4147-A177-3AD203B41FA5}">
                      <a16:colId xmlns:a16="http://schemas.microsoft.com/office/drawing/2014/main" val="1675925667"/>
                    </a:ext>
                  </a:extLst>
                </a:gridCol>
                <a:gridCol w="532272">
                  <a:extLst>
                    <a:ext uri="{9D8B030D-6E8A-4147-A177-3AD203B41FA5}">
                      <a16:colId xmlns:a16="http://schemas.microsoft.com/office/drawing/2014/main" val="236614085"/>
                    </a:ext>
                  </a:extLst>
                </a:gridCol>
              </a:tblGrid>
              <a:tr h="531066">
                <a:tc>
                  <a:txBody>
                    <a:bodyPr/>
                    <a:lstStyle/>
                    <a:p>
                      <a:pPr marL="0" marR="0">
                        <a:lnSpc>
                          <a:spcPct val="107000"/>
                        </a:lnSpc>
                        <a:spcBef>
                          <a:spcPts val="0"/>
                        </a:spcBef>
                        <a:spcAft>
                          <a:spcPts val="0"/>
                        </a:spcAft>
                      </a:pPr>
                      <a:r>
                        <a:rPr lang="en-US" sz="1100" dirty="0">
                          <a:solidFill>
                            <a:schemeClr val="tx2">
                              <a:lumMod val="75000"/>
                            </a:schemeClr>
                          </a:solidFill>
                          <a:effectLst/>
                        </a:rPr>
                        <a:t>Sale No</a:t>
                      </a:r>
                      <a:endParaRPr lang="en-US" sz="1100" dirty="0">
                        <a:solidFill>
                          <a:schemeClr val="tx2">
                            <a:lumMod val="75000"/>
                          </a:schemeClr>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100" dirty="0" err="1">
                          <a:solidFill>
                            <a:schemeClr val="tx2">
                              <a:lumMod val="75000"/>
                            </a:schemeClr>
                          </a:solidFill>
                          <a:effectLst/>
                        </a:rPr>
                        <a:t>SaleDate</a:t>
                      </a:r>
                      <a:endParaRPr lang="en-US" sz="1100" dirty="0">
                        <a:solidFill>
                          <a:schemeClr val="tx2">
                            <a:lumMod val="75000"/>
                          </a:schemeClr>
                        </a:solidFill>
                        <a:effectLst/>
                      </a:endParaRPr>
                    </a:p>
                    <a:p>
                      <a:pPr marL="0" marR="0">
                        <a:lnSpc>
                          <a:spcPct val="107000"/>
                        </a:lnSpc>
                        <a:spcBef>
                          <a:spcPts val="0"/>
                        </a:spcBef>
                        <a:spcAft>
                          <a:spcPts val="0"/>
                        </a:spcAft>
                      </a:pPr>
                      <a:r>
                        <a:rPr lang="en-US" sz="1100" dirty="0">
                          <a:solidFill>
                            <a:schemeClr val="tx2">
                              <a:lumMod val="75000"/>
                            </a:schemeClr>
                          </a:solidFill>
                          <a:effectLst/>
                        </a:rPr>
                        <a:t> </a:t>
                      </a:r>
                      <a:endParaRPr lang="en-US" sz="1100" dirty="0">
                        <a:solidFill>
                          <a:schemeClr val="tx2">
                            <a:lumMod val="75000"/>
                          </a:schemeClr>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100" dirty="0" err="1">
                          <a:solidFill>
                            <a:schemeClr val="tx2">
                              <a:lumMod val="75000"/>
                            </a:schemeClr>
                          </a:solidFill>
                          <a:effectLst/>
                        </a:rPr>
                        <a:t>ProductNo</a:t>
                      </a:r>
                      <a:endParaRPr lang="en-US" sz="1100" dirty="0">
                        <a:solidFill>
                          <a:schemeClr val="tx2">
                            <a:lumMod val="75000"/>
                          </a:schemeClr>
                        </a:solidFill>
                        <a:effectLst/>
                      </a:endParaRPr>
                    </a:p>
                    <a:p>
                      <a:pPr marL="0" marR="0">
                        <a:lnSpc>
                          <a:spcPct val="107000"/>
                        </a:lnSpc>
                        <a:spcBef>
                          <a:spcPts val="0"/>
                        </a:spcBef>
                        <a:spcAft>
                          <a:spcPts val="0"/>
                        </a:spcAft>
                      </a:pPr>
                      <a:r>
                        <a:rPr lang="en-US" sz="1100" dirty="0">
                          <a:solidFill>
                            <a:schemeClr val="tx2">
                              <a:lumMod val="75000"/>
                            </a:schemeClr>
                          </a:solidFill>
                          <a:effectLst/>
                        </a:rPr>
                        <a:t> </a:t>
                      </a:r>
                      <a:endParaRPr lang="en-US" sz="1100" dirty="0">
                        <a:solidFill>
                          <a:schemeClr val="tx2">
                            <a:lumMod val="75000"/>
                          </a:schemeClr>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100">
                          <a:solidFill>
                            <a:schemeClr val="tx2">
                              <a:lumMod val="75000"/>
                            </a:schemeClr>
                          </a:solidFill>
                          <a:effectLst/>
                        </a:rPr>
                        <a:t>Qty</a:t>
                      </a:r>
                      <a:endParaRPr lang="en-US" sz="1100">
                        <a:solidFill>
                          <a:schemeClr val="tx2">
                            <a:lumMod val="75000"/>
                          </a:schemeClr>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100" dirty="0">
                          <a:solidFill>
                            <a:schemeClr val="tx2">
                              <a:lumMod val="75000"/>
                            </a:schemeClr>
                          </a:solidFill>
                          <a:effectLst/>
                        </a:rPr>
                        <a:t>Amount</a:t>
                      </a:r>
                      <a:endParaRPr lang="en-US" sz="1100" dirty="0">
                        <a:solidFill>
                          <a:schemeClr val="tx2">
                            <a:lumMod val="75000"/>
                          </a:schemeClr>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100" dirty="0" err="1">
                          <a:solidFill>
                            <a:schemeClr val="tx2">
                              <a:lumMod val="75000"/>
                            </a:schemeClr>
                          </a:solidFill>
                          <a:effectLst/>
                        </a:rPr>
                        <a:t>Salesrep</a:t>
                      </a:r>
                      <a:endParaRPr lang="en-US" sz="1100" dirty="0">
                        <a:solidFill>
                          <a:schemeClr val="tx2">
                            <a:lumMod val="75000"/>
                          </a:schemeClr>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100" dirty="0" err="1">
                          <a:solidFill>
                            <a:schemeClr val="tx2">
                              <a:lumMod val="75000"/>
                            </a:schemeClr>
                          </a:solidFill>
                          <a:effectLst/>
                        </a:rPr>
                        <a:t>CustomerNo</a:t>
                      </a:r>
                      <a:endParaRPr lang="en-US" sz="1100" dirty="0">
                        <a:solidFill>
                          <a:schemeClr val="tx2">
                            <a:lumMod val="75000"/>
                          </a:schemeClr>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100" dirty="0">
                          <a:solidFill>
                            <a:schemeClr val="tx2">
                              <a:lumMod val="75000"/>
                            </a:schemeClr>
                          </a:solidFill>
                          <a:effectLst/>
                        </a:rPr>
                        <a:t>First</a:t>
                      </a:r>
                      <a:endParaRPr lang="en-US" sz="1100" dirty="0">
                        <a:solidFill>
                          <a:schemeClr val="tx2">
                            <a:lumMod val="75000"/>
                          </a:schemeClr>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100">
                          <a:solidFill>
                            <a:schemeClr val="tx2">
                              <a:lumMod val="75000"/>
                            </a:schemeClr>
                          </a:solidFill>
                          <a:effectLst/>
                        </a:rPr>
                        <a:t>Last</a:t>
                      </a:r>
                      <a:endParaRPr lang="en-US" sz="1100">
                        <a:solidFill>
                          <a:schemeClr val="tx2">
                            <a:lumMod val="75000"/>
                          </a:schemeClr>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100">
                          <a:solidFill>
                            <a:schemeClr val="tx2">
                              <a:lumMod val="75000"/>
                            </a:schemeClr>
                          </a:solidFill>
                          <a:effectLst/>
                        </a:rPr>
                        <a:t>Address</a:t>
                      </a:r>
                      <a:endParaRPr lang="en-US" sz="1100">
                        <a:solidFill>
                          <a:schemeClr val="tx2">
                            <a:lumMod val="75000"/>
                          </a:schemeClr>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100" dirty="0" err="1">
                          <a:solidFill>
                            <a:schemeClr val="tx2">
                              <a:lumMod val="75000"/>
                            </a:schemeClr>
                          </a:solidFill>
                          <a:effectLst/>
                        </a:rPr>
                        <a:t>CreditLimit</a:t>
                      </a:r>
                      <a:endParaRPr lang="en-US" sz="1100" dirty="0">
                        <a:solidFill>
                          <a:schemeClr val="tx2">
                            <a:lumMod val="75000"/>
                          </a:schemeClr>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extLst>
                  <a:ext uri="{0D108BD9-81ED-4DB2-BD59-A6C34878D82A}">
                    <a16:rowId xmlns:a16="http://schemas.microsoft.com/office/drawing/2014/main" val="1378874611"/>
                  </a:ext>
                </a:extLst>
              </a:tr>
              <a:tr h="351027">
                <a:tc>
                  <a:txBody>
                    <a:bodyPr/>
                    <a:lstStyle/>
                    <a:p>
                      <a:pPr marL="0" marR="0">
                        <a:lnSpc>
                          <a:spcPct val="107000"/>
                        </a:lnSpc>
                        <a:spcBef>
                          <a:spcPts val="0"/>
                        </a:spcBef>
                        <a:spcAft>
                          <a:spcPts val="0"/>
                        </a:spcAft>
                      </a:pPr>
                      <a:r>
                        <a:rPr lang="en-US" sz="1050" b="1" dirty="0">
                          <a:effectLst/>
                        </a:rPr>
                        <a:t>12345</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Aug 12 2002</a:t>
                      </a:r>
                    </a:p>
                    <a:p>
                      <a:pPr marL="0" marR="0">
                        <a:lnSpc>
                          <a:spcPct val="107000"/>
                        </a:lnSpc>
                        <a:spcBef>
                          <a:spcPts val="0"/>
                        </a:spcBef>
                        <a:spcAft>
                          <a:spcPts val="0"/>
                        </a:spcAft>
                      </a:pPr>
                      <a:r>
                        <a:rPr lang="en-US" sz="1050" b="1" dirty="0">
                          <a:effectLst/>
                        </a:rPr>
                        <a:t> </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AQX88916</a:t>
                      </a:r>
                    </a:p>
                    <a:p>
                      <a:pPr marL="0" marR="0">
                        <a:lnSpc>
                          <a:spcPct val="107000"/>
                        </a:lnSpc>
                        <a:spcBef>
                          <a:spcPts val="0"/>
                        </a:spcBef>
                        <a:spcAft>
                          <a:spcPts val="0"/>
                        </a:spcAft>
                      </a:pPr>
                      <a:r>
                        <a:rPr lang="en-US" sz="1050" b="1">
                          <a:effectLst/>
                        </a:rPr>
                        <a:t> </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1</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23.95</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Dave Williams</a:t>
                      </a:r>
                    </a:p>
                    <a:p>
                      <a:pPr marL="0" marR="0">
                        <a:lnSpc>
                          <a:spcPct val="107000"/>
                        </a:lnSpc>
                        <a:spcBef>
                          <a:spcPts val="0"/>
                        </a:spcBef>
                        <a:spcAft>
                          <a:spcPts val="0"/>
                        </a:spcAft>
                      </a:pPr>
                      <a:r>
                        <a:rPr lang="en-US" sz="1050" b="1">
                          <a:effectLst/>
                        </a:rPr>
                        <a:t> </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4649-4673</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Richard</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Johnston</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14 West Avenue</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1000</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extLst>
                  <a:ext uri="{0D108BD9-81ED-4DB2-BD59-A6C34878D82A}">
                    <a16:rowId xmlns:a16="http://schemas.microsoft.com/office/drawing/2014/main" val="1720734119"/>
                  </a:ext>
                </a:extLst>
              </a:tr>
              <a:tr h="351027">
                <a:tc>
                  <a:txBody>
                    <a:bodyPr/>
                    <a:lstStyle/>
                    <a:p>
                      <a:pPr marL="0" marR="0">
                        <a:lnSpc>
                          <a:spcPct val="107000"/>
                        </a:lnSpc>
                        <a:spcBef>
                          <a:spcPts val="0"/>
                        </a:spcBef>
                        <a:spcAft>
                          <a:spcPts val="0"/>
                        </a:spcAft>
                      </a:pPr>
                      <a:r>
                        <a:rPr lang="en-US" sz="1050" b="1">
                          <a:effectLst/>
                        </a:rPr>
                        <a:t>12346</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Aug 12 2002</a:t>
                      </a:r>
                    </a:p>
                    <a:p>
                      <a:pPr marL="0" marR="0">
                        <a:lnSpc>
                          <a:spcPct val="107000"/>
                        </a:lnSpc>
                        <a:spcBef>
                          <a:spcPts val="0"/>
                        </a:spcBef>
                        <a:spcAft>
                          <a:spcPts val="0"/>
                        </a:spcAft>
                      </a:pPr>
                      <a:r>
                        <a:rPr lang="en-US" sz="1050" b="1">
                          <a:effectLst/>
                        </a:rPr>
                        <a:t> </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AQX88916</a:t>
                      </a:r>
                    </a:p>
                    <a:p>
                      <a:pPr marL="0" marR="0">
                        <a:lnSpc>
                          <a:spcPct val="107000"/>
                        </a:lnSpc>
                        <a:spcBef>
                          <a:spcPts val="0"/>
                        </a:spcBef>
                        <a:spcAft>
                          <a:spcPts val="0"/>
                        </a:spcAft>
                      </a:pPr>
                      <a:r>
                        <a:rPr lang="en-US" sz="1050" b="1" dirty="0">
                          <a:effectLst/>
                        </a:rPr>
                        <a:t> </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7</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167.65</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Sara Thompson</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1113-7741</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Wayne</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Jones</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42 York Street</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kumimoji="0" lang="en-US" sz="900" b="1" i="0" u="none" strike="noStrike" kern="1200" cap="none" spc="0" normalizeH="0" baseline="0" noProof="0">
                          <a:ln>
                            <a:noFill/>
                          </a:ln>
                          <a:solidFill>
                            <a:srgbClr val="000000"/>
                          </a:solidFill>
                          <a:effectLst/>
                          <a:uLnTx/>
                          <a:uFillTx/>
                          <a:latin typeface="Helvetica"/>
                          <a:ea typeface="+mn-ea"/>
                          <a:cs typeface="+mn-cs"/>
                        </a:rPr>
                        <a:t>&lt;</a:t>
                      </a:r>
                      <a:r>
                        <a:rPr kumimoji="0" lang="en-US" sz="900" b="1" i="1" u="none" strike="noStrike" kern="1200" cap="none" spc="0" normalizeH="0" baseline="0" noProof="0">
                          <a:ln>
                            <a:noFill/>
                          </a:ln>
                          <a:solidFill>
                            <a:srgbClr val="000000"/>
                          </a:solidFill>
                          <a:effectLst/>
                          <a:uLnTx/>
                          <a:uFillTx/>
                          <a:latin typeface="Helvetica"/>
                          <a:ea typeface="+mn-ea"/>
                          <a:cs typeface="+mn-cs"/>
                        </a:rPr>
                        <a:t>null&gt;</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extLst>
                  <a:ext uri="{0D108BD9-81ED-4DB2-BD59-A6C34878D82A}">
                    <a16:rowId xmlns:a16="http://schemas.microsoft.com/office/drawing/2014/main" val="1020454084"/>
                  </a:ext>
                </a:extLst>
              </a:tr>
              <a:tr h="351027">
                <a:tc>
                  <a:txBody>
                    <a:bodyPr/>
                    <a:lstStyle/>
                    <a:p>
                      <a:pPr marL="0" marR="0">
                        <a:lnSpc>
                          <a:spcPct val="107000"/>
                        </a:lnSpc>
                        <a:spcBef>
                          <a:spcPts val="0"/>
                        </a:spcBef>
                        <a:spcAft>
                          <a:spcPts val="0"/>
                        </a:spcAft>
                      </a:pPr>
                      <a:r>
                        <a:rPr lang="en-US" sz="1050" b="1">
                          <a:effectLst/>
                        </a:rPr>
                        <a:t>12347</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Aug 13 2002</a:t>
                      </a:r>
                    </a:p>
                    <a:p>
                      <a:pPr marL="0" marR="0">
                        <a:lnSpc>
                          <a:spcPct val="107000"/>
                        </a:lnSpc>
                        <a:spcBef>
                          <a:spcPts val="0"/>
                        </a:spcBef>
                        <a:spcAft>
                          <a:spcPts val="0"/>
                        </a:spcAft>
                      </a:pPr>
                      <a:r>
                        <a:rPr lang="en-US" sz="1050" b="1">
                          <a:effectLst/>
                        </a:rPr>
                        <a:t> </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AHL46785</a:t>
                      </a:r>
                    </a:p>
                    <a:p>
                      <a:pPr marL="0" marR="0">
                        <a:lnSpc>
                          <a:spcPct val="107000"/>
                        </a:lnSpc>
                        <a:spcBef>
                          <a:spcPts val="0"/>
                        </a:spcBef>
                        <a:spcAft>
                          <a:spcPts val="0"/>
                        </a:spcAft>
                      </a:pPr>
                      <a:r>
                        <a:rPr lang="en-US" sz="1050" b="1">
                          <a:effectLst/>
                        </a:rPr>
                        <a:t> </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3705</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5001.75</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Li Qing</a:t>
                      </a:r>
                    </a:p>
                    <a:p>
                      <a:pPr marL="0" marR="0">
                        <a:lnSpc>
                          <a:spcPct val="107000"/>
                        </a:lnSpc>
                        <a:spcBef>
                          <a:spcPts val="0"/>
                        </a:spcBef>
                        <a:spcAft>
                          <a:spcPts val="0"/>
                        </a:spcAft>
                      </a:pPr>
                      <a:r>
                        <a:rPr lang="en-US" sz="1050" b="1" dirty="0">
                          <a:effectLst/>
                        </a:rPr>
                        <a:t> </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1166-3461</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Amelia</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Waverley</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995 Forth Street</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kumimoji="0" lang="en-US" sz="900" b="1" i="0" u="none" strike="noStrike" kern="1200" cap="none" spc="0" normalizeH="0" baseline="0" noProof="0">
                          <a:ln>
                            <a:noFill/>
                          </a:ln>
                          <a:solidFill>
                            <a:srgbClr val="000000"/>
                          </a:solidFill>
                          <a:effectLst/>
                          <a:uLnTx/>
                          <a:uFillTx/>
                          <a:latin typeface="Helvetica"/>
                          <a:ea typeface="+mn-ea"/>
                          <a:cs typeface="+mn-cs"/>
                        </a:rPr>
                        <a:t>&lt;</a:t>
                      </a:r>
                      <a:r>
                        <a:rPr kumimoji="0" lang="en-US" sz="900" b="1" i="1" u="none" strike="noStrike" kern="1200" cap="none" spc="0" normalizeH="0" baseline="0" noProof="0">
                          <a:ln>
                            <a:noFill/>
                          </a:ln>
                          <a:solidFill>
                            <a:srgbClr val="000000"/>
                          </a:solidFill>
                          <a:effectLst/>
                          <a:uLnTx/>
                          <a:uFillTx/>
                          <a:latin typeface="Helvetica"/>
                          <a:ea typeface="+mn-ea"/>
                          <a:cs typeface="+mn-cs"/>
                        </a:rPr>
                        <a:t>null&gt;</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extLst>
                  <a:ext uri="{0D108BD9-81ED-4DB2-BD59-A6C34878D82A}">
                    <a16:rowId xmlns:a16="http://schemas.microsoft.com/office/drawing/2014/main" val="1241532585"/>
                  </a:ext>
                </a:extLst>
              </a:tr>
              <a:tr h="249059">
                <a:tc>
                  <a:txBody>
                    <a:bodyPr/>
                    <a:lstStyle/>
                    <a:p>
                      <a:pPr marL="0" marR="0">
                        <a:lnSpc>
                          <a:spcPct val="107000"/>
                        </a:lnSpc>
                        <a:spcBef>
                          <a:spcPts val="0"/>
                        </a:spcBef>
                        <a:spcAft>
                          <a:spcPts val="0"/>
                        </a:spcAft>
                      </a:pPr>
                      <a:r>
                        <a:rPr lang="en-US" sz="1050" b="1">
                          <a:effectLst/>
                        </a:rPr>
                        <a:t>12348</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Aug 13 2002</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DHU69863</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50</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118.5</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Sara Thompson</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gn="ctr">
                        <a:lnSpc>
                          <a:spcPct val="107000"/>
                        </a:lnSpc>
                        <a:spcBef>
                          <a:spcPts val="0"/>
                        </a:spcBef>
                        <a:spcAft>
                          <a:spcPts val="0"/>
                        </a:spcAft>
                      </a:pPr>
                      <a:r>
                        <a:rPr lang="en-US" sz="1050" b="1" dirty="0">
                          <a:effectLst/>
                        </a:rPr>
                        <a:t> &lt;</a:t>
                      </a:r>
                      <a:r>
                        <a:rPr lang="en-US" sz="1050" b="1" i="1" dirty="0">
                          <a:effectLst/>
                        </a:rPr>
                        <a:t>null&gt;</a:t>
                      </a:r>
                      <a:endParaRPr lang="en-US" sz="1050" b="1" i="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 &lt;</a:t>
                      </a:r>
                      <a:r>
                        <a:rPr lang="en-US" sz="1050" b="1" i="1" dirty="0">
                          <a:effectLst/>
                        </a:rPr>
                        <a:t>null&gt;</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 &lt;</a:t>
                      </a:r>
                      <a:r>
                        <a:rPr lang="en-US" sz="1050" b="1" i="1" dirty="0">
                          <a:effectLst/>
                        </a:rPr>
                        <a:t>null&gt;</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 &lt;</a:t>
                      </a:r>
                      <a:r>
                        <a:rPr lang="en-US" sz="1050" b="1" i="1" dirty="0">
                          <a:effectLst/>
                        </a:rPr>
                        <a:t>null&gt;</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kumimoji="0" lang="en-US" sz="900" b="1" i="0" u="none" strike="noStrike" kern="1200" cap="none" spc="0" normalizeH="0" baseline="0" noProof="0">
                          <a:ln>
                            <a:noFill/>
                          </a:ln>
                          <a:solidFill>
                            <a:srgbClr val="000000"/>
                          </a:solidFill>
                          <a:effectLst/>
                          <a:uLnTx/>
                          <a:uFillTx/>
                          <a:latin typeface="Helvetica"/>
                          <a:ea typeface="+mn-ea"/>
                          <a:cs typeface="+mn-cs"/>
                        </a:rPr>
                        <a:t>&lt;</a:t>
                      </a:r>
                      <a:r>
                        <a:rPr kumimoji="0" lang="en-US" sz="900" b="1" i="1" u="none" strike="noStrike" kern="1200" cap="none" spc="0" normalizeH="0" baseline="0" noProof="0">
                          <a:ln>
                            <a:noFill/>
                          </a:ln>
                          <a:solidFill>
                            <a:srgbClr val="000000"/>
                          </a:solidFill>
                          <a:effectLst/>
                          <a:uLnTx/>
                          <a:uFillTx/>
                          <a:latin typeface="Helvetica"/>
                          <a:ea typeface="+mn-ea"/>
                          <a:cs typeface="+mn-cs"/>
                        </a:rPr>
                        <a:t>null&gt;</a:t>
                      </a:r>
                      <a:endParaRPr lang="en-US" sz="90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extLst>
                  <a:ext uri="{0D108BD9-81ED-4DB2-BD59-A6C34878D82A}">
                    <a16:rowId xmlns:a16="http://schemas.microsoft.com/office/drawing/2014/main" val="897738917"/>
                  </a:ext>
                </a:extLst>
              </a:tr>
              <a:tr h="249059">
                <a:tc>
                  <a:txBody>
                    <a:bodyPr/>
                    <a:lstStyle/>
                    <a:p>
                      <a:pPr marL="0" marR="0">
                        <a:lnSpc>
                          <a:spcPct val="107000"/>
                        </a:lnSpc>
                        <a:spcBef>
                          <a:spcPts val="0"/>
                        </a:spcBef>
                        <a:spcAft>
                          <a:spcPts val="0"/>
                        </a:spcAft>
                      </a:pPr>
                      <a:r>
                        <a:rPr lang="en-US" sz="1050" b="1">
                          <a:effectLst/>
                        </a:rPr>
                        <a:t>12349</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Aug 14 2002</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DHU69863</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940</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2227.8</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Sara Thompson</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1166-3461</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Amelia</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Waverley</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995 Forth Street</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kumimoji="0" lang="en-US" sz="900" b="1" i="0" u="none" strike="noStrike" kern="1200" cap="none" spc="0" normalizeH="0" baseline="0" noProof="0">
                          <a:ln>
                            <a:noFill/>
                          </a:ln>
                          <a:solidFill>
                            <a:srgbClr val="000000"/>
                          </a:solidFill>
                          <a:effectLst/>
                          <a:uLnTx/>
                          <a:uFillTx/>
                          <a:latin typeface="Helvetica"/>
                          <a:ea typeface="+mn-ea"/>
                          <a:cs typeface="+mn-cs"/>
                        </a:rPr>
                        <a:t>&lt;</a:t>
                      </a:r>
                      <a:r>
                        <a:rPr kumimoji="0" lang="en-US" sz="900" b="1" i="1" u="none" strike="noStrike" kern="1200" cap="none" spc="0" normalizeH="0" baseline="0" noProof="0">
                          <a:ln>
                            <a:noFill/>
                          </a:ln>
                          <a:solidFill>
                            <a:srgbClr val="000000"/>
                          </a:solidFill>
                          <a:effectLst/>
                          <a:uLnTx/>
                          <a:uFillTx/>
                          <a:latin typeface="Helvetica"/>
                          <a:ea typeface="+mn-ea"/>
                          <a:cs typeface="+mn-cs"/>
                        </a:rPr>
                        <a:t>null&gt;</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extLst>
                  <a:ext uri="{0D108BD9-81ED-4DB2-BD59-A6C34878D82A}">
                    <a16:rowId xmlns:a16="http://schemas.microsoft.com/office/drawing/2014/main" val="4176984474"/>
                  </a:ext>
                </a:extLst>
              </a:tr>
              <a:tr h="249059">
                <a:tc>
                  <a:txBody>
                    <a:bodyPr/>
                    <a:lstStyle/>
                    <a:p>
                      <a:pPr marL="0" marR="0">
                        <a:lnSpc>
                          <a:spcPct val="107000"/>
                        </a:lnSpc>
                        <a:spcBef>
                          <a:spcPts val="0"/>
                        </a:spcBef>
                        <a:spcAft>
                          <a:spcPts val="0"/>
                        </a:spcAft>
                      </a:pPr>
                      <a:r>
                        <a:rPr lang="en-US" sz="1050" b="1">
                          <a:effectLst/>
                        </a:rPr>
                        <a:t>12350</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Aug 14 2002</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DHU69863</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42</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99.54</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Sara Thompson</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7671-3496</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Antonio</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Gonzales</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55B Granary Lane</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kumimoji="0" lang="en-US" sz="900" b="1" i="0" u="none" strike="noStrike" kern="1200" cap="none" spc="0" normalizeH="0" baseline="0" noProof="0" dirty="0">
                          <a:ln>
                            <a:noFill/>
                          </a:ln>
                          <a:solidFill>
                            <a:srgbClr val="000000"/>
                          </a:solidFill>
                          <a:effectLst/>
                          <a:uLnTx/>
                          <a:uFillTx/>
                          <a:latin typeface="Helvetica"/>
                          <a:ea typeface="+mn-ea"/>
                          <a:cs typeface="+mn-cs"/>
                        </a:rPr>
                        <a:t>&lt;</a:t>
                      </a:r>
                      <a:r>
                        <a:rPr kumimoji="0" lang="en-US" sz="900" b="1" i="1" u="none" strike="noStrike" kern="1200" cap="none" spc="0" normalizeH="0" baseline="0" noProof="0" dirty="0">
                          <a:ln>
                            <a:noFill/>
                          </a:ln>
                          <a:solidFill>
                            <a:srgbClr val="000000"/>
                          </a:solidFill>
                          <a:effectLst/>
                          <a:uLnTx/>
                          <a:uFillTx/>
                          <a:latin typeface="Helvetica"/>
                          <a:ea typeface="+mn-ea"/>
                          <a:cs typeface="+mn-cs"/>
                        </a:rPr>
                        <a:t>null&gt;</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extLst>
                  <a:ext uri="{0D108BD9-81ED-4DB2-BD59-A6C34878D82A}">
                    <a16:rowId xmlns:a16="http://schemas.microsoft.com/office/drawing/2014/main" val="643762065"/>
                  </a:ext>
                </a:extLst>
              </a:tr>
              <a:tr h="351027">
                <a:tc>
                  <a:txBody>
                    <a:bodyPr/>
                    <a:lstStyle/>
                    <a:p>
                      <a:pPr marL="0" marR="0">
                        <a:lnSpc>
                          <a:spcPct val="107000"/>
                        </a:lnSpc>
                        <a:spcBef>
                          <a:spcPts val="0"/>
                        </a:spcBef>
                        <a:spcAft>
                          <a:spcPts val="0"/>
                        </a:spcAft>
                      </a:pPr>
                      <a:r>
                        <a:rPr lang="en-US" sz="1050" b="1" dirty="0">
                          <a:effectLst/>
                        </a:rPr>
                        <a:t>12351</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Aug 14 2002</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AQX88916</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55</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1317.25</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Dave Williams</a:t>
                      </a:r>
                    </a:p>
                    <a:p>
                      <a:pPr marL="0" marR="0">
                        <a:lnSpc>
                          <a:spcPct val="107000"/>
                        </a:lnSpc>
                        <a:spcBef>
                          <a:spcPts val="0"/>
                        </a:spcBef>
                        <a:spcAft>
                          <a:spcPts val="0"/>
                        </a:spcAft>
                      </a:pPr>
                      <a:r>
                        <a:rPr lang="en-US" sz="1050" b="1" dirty="0">
                          <a:effectLst/>
                        </a:rPr>
                        <a:t> </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6794-1674</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Diane</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Adams</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364 East Road</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150</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extLst>
                  <a:ext uri="{0D108BD9-81ED-4DB2-BD59-A6C34878D82A}">
                    <a16:rowId xmlns:a16="http://schemas.microsoft.com/office/drawing/2014/main" val="1134904673"/>
                  </a:ext>
                </a:extLst>
              </a:tr>
            </a:tbl>
          </a:graphicData>
        </a:graphic>
      </p:graphicFrame>
    </p:spTree>
    <p:extLst>
      <p:ext uri="{BB962C8B-B14F-4D97-AF65-F5344CB8AC3E}">
        <p14:creationId xmlns:p14="http://schemas.microsoft.com/office/powerpoint/2010/main" val="267359840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7C9A42-0A3A-4B99-9DFA-3E10B1AB94F2}"/>
              </a:ext>
            </a:extLst>
          </p:cNvPr>
          <p:cNvSpPr>
            <a:spLocks noGrp="1"/>
          </p:cNvSpPr>
          <p:nvPr>
            <p:ph type="title"/>
          </p:nvPr>
        </p:nvSpPr>
        <p:spPr>
          <a:xfrm>
            <a:off x="768350" y="76200"/>
            <a:ext cx="8077200" cy="609600"/>
          </a:xfrm>
        </p:spPr>
        <p:txBody>
          <a:bodyPr/>
          <a:lstStyle/>
          <a:p>
            <a:r>
              <a:rPr lang="fa-IR" altLang="en-US" sz="2800" dirty="0">
                <a:latin typeface="Titr" pitchFamily="2" charset="-78"/>
                <a:ea typeface="2  Titr"/>
                <a:cs typeface="2  Titr"/>
              </a:rPr>
              <a:t>جدول نرمال ۱</a:t>
            </a:r>
            <a:endParaRPr lang="en-US" dirty="0"/>
          </a:p>
        </p:txBody>
      </p:sp>
      <p:sp>
        <p:nvSpPr>
          <p:cNvPr id="4" name="Content Placeholder 3">
            <a:extLst>
              <a:ext uri="{FF2B5EF4-FFF2-40B4-BE49-F238E27FC236}">
                <a16:creationId xmlns:a16="http://schemas.microsoft.com/office/drawing/2014/main" id="{8A8FC6A3-822A-4FF1-ADC2-33DF68E00865}"/>
              </a:ext>
            </a:extLst>
          </p:cNvPr>
          <p:cNvSpPr>
            <a:spLocks noGrp="1"/>
          </p:cNvSpPr>
          <p:nvPr>
            <p:ph idx="1"/>
          </p:nvPr>
        </p:nvSpPr>
        <p:spPr/>
        <p:txBody>
          <a:bodyPr/>
          <a:lstStyle/>
          <a:p>
            <a:pPr algn="r" rtl="1"/>
            <a:r>
              <a:rPr lang="fa-IR" sz="2800" b="0" dirty="0">
                <a:solidFill>
                  <a:schemeClr val="tx1"/>
                </a:solidFill>
                <a:cs typeface="B Nazanin" panose="00000400000000000000" pitchFamily="2" charset="-78"/>
              </a:rPr>
              <a:t>اين جدول در فرم اول نرمال هست چون هيچ کدام از ستون ها چندمقداری نيستند بنابراين نيازی نيست روی جدول کاری انجام دهيم بجز اينکه يک کليد انتخاب نمائيم.</a:t>
            </a:r>
            <a:endParaRPr lang="en-US" sz="2800" dirty="0"/>
          </a:p>
        </p:txBody>
      </p:sp>
      <p:sp>
        <p:nvSpPr>
          <p:cNvPr id="3" name="Slide Number Placeholder 2">
            <a:extLst>
              <a:ext uri="{FF2B5EF4-FFF2-40B4-BE49-F238E27FC236}">
                <a16:creationId xmlns:a16="http://schemas.microsoft.com/office/drawing/2014/main" id="{DEF78960-A74A-4BED-A793-691601E0C974}"/>
              </a:ext>
            </a:extLst>
          </p:cNvPr>
          <p:cNvSpPr>
            <a:spLocks noGrp="1"/>
          </p:cNvSpPr>
          <p:nvPr>
            <p:ph type="sldNum" sz="quarter" idx="4294967295"/>
          </p:nvPr>
        </p:nvSpPr>
        <p:spPr>
          <a:xfrm>
            <a:off x="7994650" y="6334125"/>
            <a:ext cx="1149350" cy="365125"/>
          </a:xfrm>
        </p:spPr>
        <p:txBody>
          <a:bodyPr/>
          <a:lstStyle/>
          <a:p>
            <a:fld id="{9B1BEC6B-D08C-4686-9D99-35ADA0E9E6CD}" type="slidenum">
              <a:rPr lang="en-US" smtClean="0"/>
              <a:t>15</a:t>
            </a:fld>
            <a:endParaRPr lang="en-US"/>
          </a:p>
        </p:txBody>
      </p:sp>
      <p:graphicFrame>
        <p:nvGraphicFramePr>
          <p:cNvPr id="8" name="Table 7">
            <a:extLst>
              <a:ext uri="{FF2B5EF4-FFF2-40B4-BE49-F238E27FC236}">
                <a16:creationId xmlns:a16="http://schemas.microsoft.com/office/drawing/2014/main" id="{21CC956A-C55C-4659-A136-B873CF4218F0}"/>
              </a:ext>
            </a:extLst>
          </p:cNvPr>
          <p:cNvGraphicFramePr>
            <a:graphicFrameLocks noGrp="1"/>
          </p:cNvGraphicFramePr>
          <p:nvPr/>
        </p:nvGraphicFramePr>
        <p:xfrm>
          <a:off x="81497" y="2894578"/>
          <a:ext cx="8981005" cy="2682351"/>
        </p:xfrm>
        <a:graphic>
          <a:graphicData uri="http://schemas.openxmlformats.org/drawingml/2006/table">
            <a:tbl>
              <a:tblPr firstRow="1" firstCol="1" bandRow="1">
                <a:tableStyleId>{616DA210-FB5B-4158-B5E0-FEB733F419BA}</a:tableStyleId>
              </a:tblPr>
              <a:tblGrid>
                <a:gridCol w="586937">
                  <a:extLst>
                    <a:ext uri="{9D8B030D-6E8A-4147-A177-3AD203B41FA5}">
                      <a16:colId xmlns:a16="http://schemas.microsoft.com/office/drawing/2014/main" val="234041042"/>
                    </a:ext>
                  </a:extLst>
                </a:gridCol>
                <a:gridCol w="940021">
                  <a:extLst>
                    <a:ext uri="{9D8B030D-6E8A-4147-A177-3AD203B41FA5}">
                      <a16:colId xmlns:a16="http://schemas.microsoft.com/office/drawing/2014/main" val="3415118693"/>
                    </a:ext>
                  </a:extLst>
                </a:gridCol>
                <a:gridCol w="922588">
                  <a:extLst>
                    <a:ext uri="{9D8B030D-6E8A-4147-A177-3AD203B41FA5}">
                      <a16:colId xmlns:a16="http://schemas.microsoft.com/office/drawing/2014/main" val="3881982512"/>
                    </a:ext>
                  </a:extLst>
                </a:gridCol>
                <a:gridCol w="461294">
                  <a:extLst>
                    <a:ext uri="{9D8B030D-6E8A-4147-A177-3AD203B41FA5}">
                      <a16:colId xmlns:a16="http://schemas.microsoft.com/office/drawing/2014/main" val="2484215510"/>
                    </a:ext>
                  </a:extLst>
                </a:gridCol>
                <a:gridCol w="682078">
                  <a:extLst>
                    <a:ext uri="{9D8B030D-6E8A-4147-A177-3AD203B41FA5}">
                      <a16:colId xmlns:a16="http://schemas.microsoft.com/office/drawing/2014/main" val="1297653461"/>
                    </a:ext>
                  </a:extLst>
                </a:gridCol>
                <a:gridCol w="1156146">
                  <a:extLst>
                    <a:ext uri="{9D8B030D-6E8A-4147-A177-3AD203B41FA5}">
                      <a16:colId xmlns:a16="http://schemas.microsoft.com/office/drawing/2014/main" val="3484224265"/>
                    </a:ext>
                  </a:extLst>
                </a:gridCol>
                <a:gridCol w="847841">
                  <a:extLst>
                    <a:ext uri="{9D8B030D-6E8A-4147-A177-3AD203B41FA5}">
                      <a16:colId xmlns:a16="http://schemas.microsoft.com/office/drawing/2014/main" val="3482110401"/>
                    </a:ext>
                  </a:extLst>
                </a:gridCol>
                <a:gridCol w="770764">
                  <a:extLst>
                    <a:ext uri="{9D8B030D-6E8A-4147-A177-3AD203B41FA5}">
                      <a16:colId xmlns:a16="http://schemas.microsoft.com/office/drawing/2014/main" val="1813858957"/>
                    </a:ext>
                  </a:extLst>
                </a:gridCol>
                <a:gridCol w="770764">
                  <a:extLst>
                    <a:ext uri="{9D8B030D-6E8A-4147-A177-3AD203B41FA5}">
                      <a16:colId xmlns:a16="http://schemas.microsoft.com/office/drawing/2014/main" val="1355875302"/>
                    </a:ext>
                  </a:extLst>
                </a:gridCol>
                <a:gridCol w="1310300">
                  <a:extLst>
                    <a:ext uri="{9D8B030D-6E8A-4147-A177-3AD203B41FA5}">
                      <a16:colId xmlns:a16="http://schemas.microsoft.com/office/drawing/2014/main" val="1675925667"/>
                    </a:ext>
                  </a:extLst>
                </a:gridCol>
                <a:gridCol w="532272">
                  <a:extLst>
                    <a:ext uri="{9D8B030D-6E8A-4147-A177-3AD203B41FA5}">
                      <a16:colId xmlns:a16="http://schemas.microsoft.com/office/drawing/2014/main" val="236614085"/>
                    </a:ext>
                  </a:extLst>
                </a:gridCol>
              </a:tblGrid>
              <a:tr h="531066">
                <a:tc>
                  <a:txBody>
                    <a:bodyPr/>
                    <a:lstStyle/>
                    <a:p>
                      <a:pPr marL="0" marR="0">
                        <a:lnSpc>
                          <a:spcPct val="107000"/>
                        </a:lnSpc>
                        <a:spcBef>
                          <a:spcPts val="0"/>
                        </a:spcBef>
                        <a:spcAft>
                          <a:spcPts val="0"/>
                        </a:spcAft>
                      </a:pPr>
                      <a:r>
                        <a:rPr lang="en-US" sz="1100" dirty="0">
                          <a:solidFill>
                            <a:schemeClr val="tx2">
                              <a:lumMod val="75000"/>
                            </a:schemeClr>
                          </a:solidFill>
                          <a:effectLst/>
                        </a:rPr>
                        <a:t>Sale No</a:t>
                      </a:r>
                      <a:endParaRPr lang="en-US" sz="1100" dirty="0">
                        <a:solidFill>
                          <a:schemeClr val="tx2">
                            <a:lumMod val="75000"/>
                          </a:schemeClr>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100" dirty="0" err="1">
                          <a:solidFill>
                            <a:schemeClr val="tx2">
                              <a:lumMod val="75000"/>
                            </a:schemeClr>
                          </a:solidFill>
                          <a:effectLst/>
                        </a:rPr>
                        <a:t>SaleDate</a:t>
                      </a:r>
                      <a:endParaRPr lang="en-US" sz="1100" dirty="0">
                        <a:solidFill>
                          <a:schemeClr val="tx2">
                            <a:lumMod val="75000"/>
                          </a:schemeClr>
                        </a:solidFill>
                        <a:effectLst/>
                      </a:endParaRPr>
                    </a:p>
                    <a:p>
                      <a:pPr marL="0" marR="0">
                        <a:lnSpc>
                          <a:spcPct val="107000"/>
                        </a:lnSpc>
                        <a:spcBef>
                          <a:spcPts val="0"/>
                        </a:spcBef>
                        <a:spcAft>
                          <a:spcPts val="0"/>
                        </a:spcAft>
                      </a:pPr>
                      <a:r>
                        <a:rPr lang="en-US" sz="1100" dirty="0">
                          <a:solidFill>
                            <a:schemeClr val="tx2">
                              <a:lumMod val="75000"/>
                            </a:schemeClr>
                          </a:solidFill>
                          <a:effectLst/>
                        </a:rPr>
                        <a:t> </a:t>
                      </a:r>
                      <a:endParaRPr lang="en-US" sz="1100" dirty="0">
                        <a:solidFill>
                          <a:schemeClr val="tx2">
                            <a:lumMod val="75000"/>
                          </a:schemeClr>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100" dirty="0" err="1">
                          <a:solidFill>
                            <a:schemeClr val="tx2">
                              <a:lumMod val="75000"/>
                            </a:schemeClr>
                          </a:solidFill>
                          <a:effectLst/>
                        </a:rPr>
                        <a:t>ProductNo</a:t>
                      </a:r>
                      <a:endParaRPr lang="en-US" sz="1100" dirty="0">
                        <a:solidFill>
                          <a:schemeClr val="tx2">
                            <a:lumMod val="75000"/>
                          </a:schemeClr>
                        </a:solidFill>
                        <a:effectLst/>
                      </a:endParaRPr>
                    </a:p>
                    <a:p>
                      <a:pPr marL="0" marR="0">
                        <a:lnSpc>
                          <a:spcPct val="107000"/>
                        </a:lnSpc>
                        <a:spcBef>
                          <a:spcPts val="0"/>
                        </a:spcBef>
                        <a:spcAft>
                          <a:spcPts val="0"/>
                        </a:spcAft>
                      </a:pPr>
                      <a:r>
                        <a:rPr lang="en-US" sz="1100" dirty="0">
                          <a:solidFill>
                            <a:schemeClr val="tx2">
                              <a:lumMod val="75000"/>
                            </a:schemeClr>
                          </a:solidFill>
                          <a:effectLst/>
                        </a:rPr>
                        <a:t> </a:t>
                      </a:r>
                      <a:endParaRPr lang="en-US" sz="1100" dirty="0">
                        <a:solidFill>
                          <a:schemeClr val="tx2">
                            <a:lumMod val="75000"/>
                          </a:schemeClr>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100">
                          <a:solidFill>
                            <a:schemeClr val="tx2">
                              <a:lumMod val="75000"/>
                            </a:schemeClr>
                          </a:solidFill>
                          <a:effectLst/>
                        </a:rPr>
                        <a:t>Qty</a:t>
                      </a:r>
                      <a:endParaRPr lang="en-US" sz="1100">
                        <a:solidFill>
                          <a:schemeClr val="tx2">
                            <a:lumMod val="75000"/>
                          </a:schemeClr>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100" dirty="0">
                          <a:solidFill>
                            <a:schemeClr val="tx2">
                              <a:lumMod val="75000"/>
                            </a:schemeClr>
                          </a:solidFill>
                          <a:effectLst/>
                        </a:rPr>
                        <a:t>Amount</a:t>
                      </a:r>
                      <a:endParaRPr lang="en-US" sz="1100" dirty="0">
                        <a:solidFill>
                          <a:schemeClr val="tx2">
                            <a:lumMod val="75000"/>
                          </a:schemeClr>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100" dirty="0" err="1">
                          <a:solidFill>
                            <a:schemeClr val="tx2">
                              <a:lumMod val="75000"/>
                            </a:schemeClr>
                          </a:solidFill>
                          <a:effectLst/>
                        </a:rPr>
                        <a:t>Salesrep</a:t>
                      </a:r>
                      <a:endParaRPr lang="en-US" sz="1100" dirty="0">
                        <a:solidFill>
                          <a:schemeClr val="tx2">
                            <a:lumMod val="75000"/>
                          </a:schemeClr>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100" dirty="0" err="1">
                          <a:solidFill>
                            <a:schemeClr val="tx2">
                              <a:lumMod val="75000"/>
                            </a:schemeClr>
                          </a:solidFill>
                          <a:effectLst/>
                        </a:rPr>
                        <a:t>CustomerNo</a:t>
                      </a:r>
                      <a:endParaRPr lang="en-US" sz="1100" dirty="0">
                        <a:solidFill>
                          <a:schemeClr val="tx2">
                            <a:lumMod val="75000"/>
                          </a:schemeClr>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100" dirty="0">
                          <a:solidFill>
                            <a:schemeClr val="tx2">
                              <a:lumMod val="75000"/>
                            </a:schemeClr>
                          </a:solidFill>
                          <a:effectLst/>
                        </a:rPr>
                        <a:t>First</a:t>
                      </a:r>
                      <a:endParaRPr lang="en-US" sz="1100" dirty="0">
                        <a:solidFill>
                          <a:schemeClr val="tx2">
                            <a:lumMod val="75000"/>
                          </a:schemeClr>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100">
                          <a:solidFill>
                            <a:schemeClr val="tx2">
                              <a:lumMod val="75000"/>
                            </a:schemeClr>
                          </a:solidFill>
                          <a:effectLst/>
                        </a:rPr>
                        <a:t>Last</a:t>
                      </a:r>
                      <a:endParaRPr lang="en-US" sz="1100">
                        <a:solidFill>
                          <a:schemeClr val="tx2">
                            <a:lumMod val="75000"/>
                          </a:schemeClr>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100">
                          <a:solidFill>
                            <a:schemeClr val="tx2">
                              <a:lumMod val="75000"/>
                            </a:schemeClr>
                          </a:solidFill>
                          <a:effectLst/>
                        </a:rPr>
                        <a:t>Address</a:t>
                      </a:r>
                      <a:endParaRPr lang="en-US" sz="1100">
                        <a:solidFill>
                          <a:schemeClr val="tx2">
                            <a:lumMod val="75000"/>
                          </a:schemeClr>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100" dirty="0" err="1">
                          <a:solidFill>
                            <a:schemeClr val="tx2">
                              <a:lumMod val="75000"/>
                            </a:schemeClr>
                          </a:solidFill>
                          <a:effectLst/>
                        </a:rPr>
                        <a:t>CreditLimit</a:t>
                      </a:r>
                      <a:endParaRPr lang="en-US" sz="1100" dirty="0">
                        <a:solidFill>
                          <a:schemeClr val="tx2">
                            <a:lumMod val="75000"/>
                          </a:schemeClr>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extLst>
                  <a:ext uri="{0D108BD9-81ED-4DB2-BD59-A6C34878D82A}">
                    <a16:rowId xmlns:a16="http://schemas.microsoft.com/office/drawing/2014/main" val="1378874611"/>
                  </a:ext>
                </a:extLst>
              </a:tr>
              <a:tr h="351027">
                <a:tc>
                  <a:txBody>
                    <a:bodyPr/>
                    <a:lstStyle/>
                    <a:p>
                      <a:pPr marL="0" marR="0">
                        <a:lnSpc>
                          <a:spcPct val="107000"/>
                        </a:lnSpc>
                        <a:spcBef>
                          <a:spcPts val="0"/>
                        </a:spcBef>
                        <a:spcAft>
                          <a:spcPts val="0"/>
                        </a:spcAft>
                      </a:pPr>
                      <a:r>
                        <a:rPr lang="en-US" sz="1050" b="1" dirty="0">
                          <a:effectLst/>
                        </a:rPr>
                        <a:t>12345</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Aug 12 2002</a:t>
                      </a:r>
                    </a:p>
                    <a:p>
                      <a:pPr marL="0" marR="0">
                        <a:lnSpc>
                          <a:spcPct val="107000"/>
                        </a:lnSpc>
                        <a:spcBef>
                          <a:spcPts val="0"/>
                        </a:spcBef>
                        <a:spcAft>
                          <a:spcPts val="0"/>
                        </a:spcAft>
                      </a:pPr>
                      <a:r>
                        <a:rPr lang="en-US" sz="1050" b="1" dirty="0">
                          <a:effectLst/>
                        </a:rPr>
                        <a:t> </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AQX88916</a:t>
                      </a:r>
                    </a:p>
                    <a:p>
                      <a:pPr marL="0" marR="0">
                        <a:lnSpc>
                          <a:spcPct val="107000"/>
                        </a:lnSpc>
                        <a:spcBef>
                          <a:spcPts val="0"/>
                        </a:spcBef>
                        <a:spcAft>
                          <a:spcPts val="0"/>
                        </a:spcAft>
                      </a:pPr>
                      <a:r>
                        <a:rPr lang="en-US" sz="1050" b="1">
                          <a:effectLst/>
                        </a:rPr>
                        <a:t> </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1</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23.95</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Dave Williams</a:t>
                      </a:r>
                    </a:p>
                    <a:p>
                      <a:pPr marL="0" marR="0">
                        <a:lnSpc>
                          <a:spcPct val="107000"/>
                        </a:lnSpc>
                        <a:spcBef>
                          <a:spcPts val="0"/>
                        </a:spcBef>
                        <a:spcAft>
                          <a:spcPts val="0"/>
                        </a:spcAft>
                      </a:pPr>
                      <a:r>
                        <a:rPr lang="en-US" sz="1050" b="1">
                          <a:effectLst/>
                        </a:rPr>
                        <a:t> </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4649-4673</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Richard</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Johnston</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14 West Avenue</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1000</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extLst>
                  <a:ext uri="{0D108BD9-81ED-4DB2-BD59-A6C34878D82A}">
                    <a16:rowId xmlns:a16="http://schemas.microsoft.com/office/drawing/2014/main" val="1720734119"/>
                  </a:ext>
                </a:extLst>
              </a:tr>
              <a:tr h="351027">
                <a:tc>
                  <a:txBody>
                    <a:bodyPr/>
                    <a:lstStyle/>
                    <a:p>
                      <a:pPr marL="0" marR="0">
                        <a:lnSpc>
                          <a:spcPct val="107000"/>
                        </a:lnSpc>
                        <a:spcBef>
                          <a:spcPts val="0"/>
                        </a:spcBef>
                        <a:spcAft>
                          <a:spcPts val="0"/>
                        </a:spcAft>
                      </a:pPr>
                      <a:r>
                        <a:rPr lang="en-US" sz="1050" b="1">
                          <a:effectLst/>
                        </a:rPr>
                        <a:t>12346</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Aug 12 2002</a:t>
                      </a:r>
                    </a:p>
                    <a:p>
                      <a:pPr marL="0" marR="0">
                        <a:lnSpc>
                          <a:spcPct val="107000"/>
                        </a:lnSpc>
                        <a:spcBef>
                          <a:spcPts val="0"/>
                        </a:spcBef>
                        <a:spcAft>
                          <a:spcPts val="0"/>
                        </a:spcAft>
                      </a:pPr>
                      <a:r>
                        <a:rPr lang="en-US" sz="1050" b="1">
                          <a:effectLst/>
                        </a:rPr>
                        <a:t> </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AQX88916</a:t>
                      </a:r>
                    </a:p>
                    <a:p>
                      <a:pPr marL="0" marR="0">
                        <a:lnSpc>
                          <a:spcPct val="107000"/>
                        </a:lnSpc>
                        <a:spcBef>
                          <a:spcPts val="0"/>
                        </a:spcBef>
                        <a:spcAft>
                          <a:spcPts val="0"/>
                        </a:spcAft>
                      </a:pPr>
                      <a:r>
                        <a:rPr lang="en-US" sz="1050" b="1" dirty="0">
                          <a:effectLst/>
                        </a:rPr>
                        <a:t> </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7</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167.65</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Sara Thompson</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1113-7741</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Wayne</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Jones</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42 York Street</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kumimoji="0" lang="en-US" sz="900" b="1" i="0" u="none" strike="noStrike" kern="1200" cap="none" spc="0" normalizeH="0" baseline="0" noProof="0">
                          <a:ln>
                            <a:noFill/>
                          </a:ln>
                          <a:solidFill>
                            <a:srgbClr val="000000"/>
                          </a:solidFill>
                          <a:effectLst/>
                          <a:uLnTx/>
                          <a:uFillTx/>
                          <a:latin typeface="Helvetica"/>
                          <a:ea typeface="+mn-ea"/>
                          <a:cs typeface="+mn-cs"/>
                        </a:rPr>
                        <a:t>&lt;</a:t>
                      </a:r>
                      <a:r>
                        <a:rPr kumimoji="0" lang="en-US" sz="900" b="1" i="1" u="none" strike="noStrike" kern="1200" cap="none" spc="0" normalizeH="0" baseline="0" noProof="0">
                          <a:ln>
                            <a:noFill/>
                          </a:ln>
                          <a:solidFill>
                            <a:srgbClr val="000000"/>
                          </a:solidFill>
                          <a:effectLst/>
                          <a:uLnTx/>
                          <a:uFillTx/>
                          <a:latin typeface="Helvetica"/>
                          <a:ea typeface="+mn-ea"/>
                          <a:cs typeface="+mn-cs"/>
                        </a:rPr>
                        <a:t>null&gt;</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extLst>
                  <a:ext uri="{0D108BD9-81ED-4DB2-BD59-A6C34878D82A}">
                    <a16:rowId xmlns:a16="http://schemas.microsoft.com/office/drawing/2014/main" val="1020454084"/>
                  </a:ext>
                </a:extLst>
              </a:tr>
              <a:tr h="351027">
                <a:tc>
                  <a:txBody>
                    <a:bodyPr/>
                    <a:lstStyle/>
                    <a:p>
                      <a:pPr marL="0" marR="0">
                        <a:lnSpc>
                          <a:spcPct val="107000"/>
                        </a:lnSpc>
                        <a:spcBef>
                          <a:spcPts val="0"/>
                        </a:spcBef>
                        <a:spcAft>
                          <a:spcPts val="0"/>
                        </a:spcAft>
                      </a:pPr>
                      <a:r>
                        <a:rPr lang="en-US" sz="1050" b="1">
                          <a:effectLst/>
                        </a:rPr>
                        <a:t>12347</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Aug 13 2002</a:t>
                      </a:r>
                    </a:p>
                    <a:p>
                      <a:pPr marL="0" marR="0">
                        <a:lnSpc>
                          <a:spcPct val="107000"/>
                        </a:lnSpc>
                        <a:spcBef>
                          <a:spcPts val="0"/>
                        </a:spcBef>
                        <a:spcAft>
                          <a:spcPts val="0"/>
                        </a:spcAft>
                      </a:pPr>
                      <a:r>
                        <a:rPr lang="en-US" sz="1050" b="1">
                          <a:effectLst/>
                        </a:rPr>
                        <a:t> </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AHL46785</a:t>
                      </a:r>
                    </a:p>
                    <a:p>
                      <a:pPr marL="0" marR="0">
                        <a:lnSpc>
                          <a:spcPct val="107000"/>
                        </a:lnSpc>
                        <a:spcBef>
                          <a:spcPts val="0"/>
                        </a:spcBef>
                        <a:spcAft>
                          <a:spcPts val="0"/>
                        </a:spcAft>
                      </a:pPr>
                      <a:r>
                        <a:rPr lang="en-US" sz="1050" b="1">
                          <a:effectLst/>
                        </a:rPr>
                        <a:t> </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3705</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5001.75</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Li Qing</a:t>
                      </a:r>
                    </a:p>
                    <a:p>
                      <a:pPr marL="0" marR="0">
                        <a:lnSpc>
                          <a:spcPct val="107000"/>
                        </a:lnSpc>
                        <a:spcBef>
                          <a:spcPts val="0"/>
                        </a:spcBef>
                        <a:spcAft>
                          <a:spcPts val="0"/>
                        </a:spcAft>
                      </a:pPr>
                      <a:r>
                        <a:rPr lang="en-US" sz="1050" b="1" dirty="0">
                          <a:effectLst/>
                        </a:rPr>
                        <a:t> </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1166-3461</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Amelia</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Waverley</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995 Forth Street</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kumimoji="0" lang="en-US" sz="900" b="1" i="0" u="none" strike="noStrike" kern="1200" cap="none" spc="0" normalizeH="0" baseline="0" noProof="0">
                          <a:ln>
                            <a:noFill/>
                          </a:ln>
                          <a:solidFill>
                            <a:srgbClr val="000000"/>
                          </a:solidFill>
                          <a:effectLst/>
                          <a:uLnTx/>
                          <a:uFillTx/>
                          <a:latin typeface="Helvetica"/>
                          <a:ea typeface="+mn-ea"/>
                          <a:cs typeface="+mn-cs"/>
                        </a:rPr>
                        <a:t>&lt;</a:t>
                      </a:r>
                      <a:r>
                        <a:rPr kumimoji="0" lang="en-US" sz="900" b="1" i="1" u="none" strike="noStrike" kern="1200" cap="none" spc="0" normalizeH="0" baseline="0" noProof="0">
                          <a:ln>
                            <a:noFill/>
                          </a:ln>
                          <a:solidFill>
                            <a:srgbClr val="000000"/>
                          </a:solidFill>
                          <a:effectLst/>
                          <a:uLnTx/>
                          <a:uFillTx/>
                          <a:latin typeface="Helvetica"/>
                          <a:ea typeface="+mn-ea"/>
                          <a:cs typeface="+mn-cs"/>
                        </a:rPr>
                        <a:t>null&gt;</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extLst>
                  <a:ext uri="{0D108BD9-81ED-4DB2-BD59-A6C34878D82A}">
                    <a16:rowId xmlns:a16="http://schemas.microsoft.com/office/drawing/2014/main" val="1241532585"/>
                  </a:ext>
                </a:extLst>
              </a:tr>
              <a:tr h="249059">
                <a:tc>
                  <a:txBody>
                    <a:bodyPr/>
                    <a:lstStyle/>
                    <a:p>
                      <a:pPr marL="0" marR="0">
                        <a:lnSpc>
                          <a:spcPct val="107000"/>
                        </a:lnSpc>
                        <a:spcBef>
                          <a:spcPts val="0"/>
                        </a:spcBef>
                        <a:spcAft>
                          <a:spcPts val="0"/>
                        </a:spcAft>
                      </a:pPr>
                      <a:r>
                        <a:rPr lang="en-US" sz="1050" b="1">
                          <a:effectLst/>
                        </a:rPr>
                        <a:t>12348</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Aug 13 2002</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DHU69863</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50</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118.5</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Sara Thompson</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gn="ctr">
                        <a:lnSpc>
                          <a:spcPct val="107000"/>
                        </a:lnSpc>
                        <a:spcBef>
                          <a:spcPts val="0"/>
                        </a:spcBef>
                        <a:spcAft>
                          <a:spcPts val="0"/>
                        </a:spcAft>
                      </a:pPr>
                      <a:r>
                        <a:rPr lang="en-US" sz="1050" b="1" dirty="0">
                          <a:effectLst/>
                        </a:rPr>
                        <a:t> &lt;</a:t>
                      </a:r>
                      <a:r>
                        <a:rPr lang="en-US" sz="1050" b="1" i="1" dirty="0">
                          <a:effectLst/>
                        </a:rPr>
                        <a:t>null&gt;</a:t>
                      </a:r>
                      <a:endParaRPr lang="en-US" sz="1050" b="1" i="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 &lt;</a:t>
                      </a:r>
                      <a:r>
                        <a:rPr lang="en-US" sz="1050" b="1" i="1" dirty="0">
                          <a:effectLst/>
                        </a:rPr>
                        <a:t>null&gt;</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 &lt;</a:t>
                      </a:r>
                      <a:r>
                        <a:rPr lang="en-US" sz="1050" b="1" i="1" dirty="0">
                          <a:effectLst/>
                        </a:rPr>
                        <a:t>null&gt;</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 &lt;</a:t>
                      </a:r>
                      <a:r>
                        <a:rPr lang="en-US" sz="1050" b="1" i="1" dirty="0">
                          <a:effectLst/>
                        </a:rPr>
                        <a:t>null&gt;</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kumimoji="0" lang="en-US" sz="900" b="1" i="0" u="none" strike="noStrike" kern="1200" cap="none" spc="0" normalizeH="0" baseline="0" noProof="0">
                          <a:ln>
                            <a:noFill/>
                          </a:ln>
                          <a:solidFill>
                            <a:srgbClr val="000000"/>
                          </a:solidFill>
                          <a:effectLst/>
                          <a:uLnTx/>
                          <a:uFillTx/>
                          <a:latin typeface="Helvetica"/>
                          <a:ea typeface="+mn-ea"/>
                          <a:cs typeface="+mn-cs"/>
                        </a:rPr>
                        <a:t>&lt;</a:t>
                      </a:r>
                      <a:r>
                        <a:rPr kumimoji="0" lang="en-US" sz="900" b="1" i="1" u="none" strike="noStrike" kern="1200" cap="none" spc="0" normalizeH="0" baseline="0" noProof="0">
                          <a:ln>
                            <a:noFill/>
                          </a:ln>
                          <a:solidFill>
                            <a:srgbClr val="000000"/>
                          </a:solidFill>
                          <a:effectLst/>
                          <a:uLnTx/>
                          <a:uFillTx/>
                          <a:latin typeface="Helvetica"/>
                          <a:ea typeface="+mn-ea"/>
                          <a:cs typeface="+mn-cs"/>
                        </a:rPr>
                        <a:t>null&gt;</a:t>
                      </a:r>
                      <a:endParaRPr lang="en-US" sz="90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extLst>
                  <a:ext uri="{0D108BD9-81ED-4DB2-BD59-A6C34878D82A}">
                    <a16:rowId xmlns:a16="http://schemas.microsoft.com/office/drawing/2014/main" val="897738917"/>
                  </a:ext>
                </a:extLst>
              </a:tr>
              <a:tr h="249059">
                <a:tc>
                  <a:txBody>
                    <a:bodyPr/>
                    <a:lstStyle/>
                    <a:p>
                      <a:pPr marL="0" marR="0">
                        <a:lnSpc>
                          <a:spcPct val="107000"/>
                        </a:lnSpc>
                        <a:spcBef>
                          <a:spcPts val="0"/>
                        </a:spcBef>
                        <a:spcAft>
                          <a:spcPts val="0"/>
                        </a:spcAft>
                      </a:pPr>
                      <a:r>
                        <a:rPr lang="en-US" sz="1050" b="1">
                          <a:effectLst/>
                        </a:rPr>
                        <a:t>12349</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Aug 14 2002</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DHU69863</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940</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2227.8</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Sara Thompson</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1166-3461</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Amelia</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Waverley</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995 Forth Street</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kumimoji="0" lang="en-US" sz="900" b="1" i="0" u="none" strike="noStrike" kern="1200" cap="none" spc="0" normalizeH="0" baseline="0" noProof="0">
                          <a:ln>
                            <a:noFill/>
                          </a:ln>
                          <a:solidFill>
                            <a:srgbClr val="000000"/>
                          </a:solidFill>
                          <a:effectLst/>
                          <a:uLnTx/>
                          <a:uFillTx/>
                          <a:latin typeface="Helvetica"/>
                          <a:ea typeface="+mn-ea"/>
                          <a:cs typeface="+mn-cs"/>
                        </a:rPr>
                        <a:t>&lt;</a:t>
                      </a:r>
                      <a:r>
                        <a:rPr kumimoji="0" lang="en-US" sz="900" b="1" i="1" u="none" strike="noStrike" kern="1200" cap="none" spc="0" normalizeH="0" baseline="0" noProof="0">
                          <a:ln>
                            <a:noFill/>
                          </a:ln>
                          <a:solidFill>
                            <a:srgbClr val="000000"/>
                          </a:solidFill>
                          <a:effectLst/>
                          <a:uLnTx/>
                          <a:uFillTx/>
                          <a:latin typeface="Helvetica"/>
                          <a:ea typeface="+mn-ea"/>
                          <a:cs typeface="+mn-cs"/>
                        </a:rPr>
                        <a:t>null&gt;</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extLst>
                  <a:ext uri="{0D108BD9-81ED-4DB2-BD59-A6C34878D82A}">
                    <a16:rowId xmlns:a16="http://schemas.microsoft.com/office/drawing/2014/main" val="4176984474"/>
                  </a:ext>
                </a:extLst>
              </a:tr>
              <a:tr h="249059">
                <a:tc>
                  <a:txBody>
                    <a:bodyPr/>
                    <a:lstStyle/>
                    <a:p>
                      <a:pPr marL="0" marR="0">
                        <a:lnSpc>
                          <a:spcPct val="107000"/>
                        </a:lnSpc>
                        <a:spcBef>
                          <a:spcPts val="0"/>
                        </a:spcBef>
                        <a:spcAft>
                          <a:spcPts val="0"/>
                        </a:spcAft>
                      </a:pPr>
                      <a:r>
                        <a:rPr lang="en-US" sz="1050" b="1">
                          <a:effectLst/>
                        </a:rPr>
                        <a:t>12350</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Aug 14 2002</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DHU69863</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42</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99.54</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Sara Thompson</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7671-3496</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Antonio</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Gonzales</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55B Granary Lane</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kumimoji="0" lang="en-US" sz="900" b="1" i="0" u="none" strike="noStrike" kern="1200" cap="none" spc="0" normalizeH="0" baseline="0" noProof="0" dirty="0">
                          <a:ln>
                            <a:noFill/>
                          </a:ln>
                          <a:solidFill>
                            <a:srgbClr val="000000"/>
                          </a:solidFill>
                          <a:effectLst/>
                          <a:uLnTx/>
                          <a:uFillTx/>
                          <a:latin typeface="Helvetica"/>
                          <a:ea typeface="+mn-ea"/>
                          <a:cs typeface="+mn-cs"/>
                        </a:rPr>
                        <a:t>&lt;</a:t>
                      </a:r>
                      <a:r>
                        <a:rPr kumimoji="0" lang="en-US" sz="900" b="1" i="1" u="none" strike="noStrike" kern="1200" cap="none" spc="0" normalizeH="0" baseline="0" noProof="0" dirty="0">
                          <a:ln>
                            <a:noFill/>
                          </a:ln>
                          <a:solidFill>
                            <a:srgbClr val="000000"/>
                          </a:solidFill>
                          <a:effectLst/>
                          <a:uLnTx/>
                          <a:uFillTx/>
                          <a:latin typeface="Helvetica"/>
                          <a:ea typeface="+mn-ea"/>
                          <a:cs typeface="+mn-cs"/>
                        </a:rPr>
                        <a:t>null&gt;</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extLst>
                  <a:ext uri="{0D108BD9-81ED-4DB2-BD59-A6C34878D82A}">
                    <a16:rowId xmlns:a16="http://schemas.microsoft.com/office/drawing/2014/main" val="643762065"/>
                  </a:ext>
                </a:extLst>
              </a:tr>
              <a:tr h="351027">
                <a:tc>
                  <a:txBody>
                    <a:bodyPr/>
                    <a:lstStyle/>
                    <a:p>
                      <a:pPr marL="0" marR="0">
                        <a:lnSpc>
                          <a:spcPct val="107000"/>
                        </a:lnSpc>
                        <a:spcBef>
                          <a:spcPts val="0"/>
                        </a:spcBef>
                        <a:spcAft>
                          <a:spcPts val="0"/>
                        </a:spcAft>
                      </a:pPr>
                      <a:r>
                        <a:rPr lang="en-US" sz="1050" b="1" dirty="0">
                          <a:effectLst/>
                        </a:rPr>
                        <a:t>12351</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Aug 14 2002</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AQX88916</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55</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1317.25</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Dave Williams</a:t>
                      </a:r>
                    </a:p>
                    <a:p>
                      <a:pPr marL="0" marR="0">
                        <a:lnSpc>
                          <a:spcPct val="107000"/>
                        </a:lnSpc>
                        <a:spcBef>
                          <a:spcPts val="0"/>
                        </a:spcBef>
                        <a:spcAft>
                          <a:spcPts val="0"/>
                        </a:spcAft>
                      </a:pPr>
                      <a:r>
                        <a:rPr lang="en-US" sz="1050" b="1" dirty="0">
                          <a:effectLst/>
                        </a:rPr>
                        <a:t> </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6794-1674</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Diane</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Adams</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364 East Road</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150</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extLst>
                  <a:ext uri="{0D108BD9-81ED-4DB2-BD59-A6C34878D82A}">
                    <a16:rowId xmlns:a16="http://schemas.microsoft.com/office/drawing/2014/main" val="1134904673"/>
                  </a:ext>
                </a:extLst>
              </a:tr>
            </a:tbl>
          </a:graphicData>
        </a:graphic>
      </p:graphicFrame>
    </p:spTree>
    <p:extLst>
      <p:ext uri="{BB962C8B-B14F-4D97-AF65-F5344CB8AC3E}">
        <p14:creationId xmlns:p14="http://schemas.microsoft.com/office/powerpoint/2010/main" val="382271889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B99B505-7B22-4D04-AFB6-0BBD2C26C34C}"/>
              </a:ext>
            </a:extLst>
          </p:cNvPr>
          <p:cNvSpPr>
            <a:spLocks noGrp="1"/>
          </p:cNvSpPr>
          <p:nvPr>
            <p:ph type="title"/>
          </p:nvPr>
        </p:nvSpPr>
        <p:spPr/>
        <p:txBody>
          <a:bodyPr/>
          <a:lstStyle/>
          <a:p>
            <a:r>
              <a:rPr lang="ar-SA" sz="2800" b="1" dirty="0">
                <a:effectLst/>
                <a:latin typeface="Times New Roman" panose="02020603050405020304" pitchFamily="18" charset="0"/>
                <a:ea typeface="Times New Roman" panose="02020603050405020304" pitchFamily="18" charset="0"/>
                <a:cs typeface="B Nazanin" panose="00000400000000000000" pitchFamily="2" charset="-78"/>
              </a:rPr>
              <a:t>وابستگی تابعی</a:t>
            </a:r>
            <a:r>
              <a:rPr lang="en-US" sz="2800" b="1" dirty="0">
                <a:effectLst/>
                <a:latin typeface="Times New Roman" panose="02020603050405020304" pitchFamily="18" charset="0"/>
                <a:ea typeface="Times New Roman" panose="02020603050405020304" pitchFamily="18" charset="0"/>
                <a:cs typeface="B Nazanin" panose="00000400000000000000" pitchFamily="2" charset="-78"/>
              </a:rPr>
              <a:t> (Functional Dependency) </a:t>
            </a:r>
            <a:r>
              <a:rPr lang="ar-SA" sz="2800" b="1" dirty="0">
                <a:effectLst/>
                <a:latin typeface="Times New Roman" panose="02020603050405020304" pitchFamily="18" charset="0"/>
                <a:ea typeface="Times New Roman" panose="02020603050405020304" pitchFamily="18" charset="0"/>
                <a:cs typeface="B Nazanin" panose="00000400000000000000" pitchFamily="2" charset="-78"/>
              </a:rPr>
              <a:t>در پایگاه داده</a:t>
            </a:r>
            <a:endParaRPr lang="en-US" dirty="0"/>
          </a:p>
        </p:txBody>
      </p:sp>
      <p:sp>
        <p:nvSpPr>
          <p:cNvPr id="3" name="Content Placeholder 2">
            <a:extLst>
              <a:ext uri="{FF2B5EF4-FFF2-40B4-BE49-F238E27FC236}">
                <a16:creationId xmlns:a16="http://schemas.microsoft.com/office/drawing/2014/main" id="{1BC9B834-96AB-4CB7-BAA8-A5220B848B9C}"/>
              </a:ext>
            </a:extLst>
          </p:cNvPr>
          <p:cNvSpPr>
            <a:spLocks noGrp="1"/>
          </p:cNvSpPr>
          <p:nvPr>
            <p:ph idx="1"/>
          </p:nvPr>
        </p:nvSpPr>
        <p:spPr>
          <a:xfrm>
            <a:off x="304800" y="838200"/>
            <a:ext cx="8540749" cy="5544493"/>
          </a:xfrm>
        </p:spPr>
        <p:txBody>
          <a:bodyPr/>
          <a:lstStyle/>
          <a:p>
            <a:pPr marL="0" marR="0" algn="r" rtl="1">
              <a:lnSpc>
                <a:spcPct val="107000"/>
              </a:lnSpc>
              <a:spcBef>
                <a:spcPts val="0"/>
              </a:spcBef>
              <a:spcAft>
                <a:spcPts val="800"/>
              </a:spcAft>
            </a:pPr>
            <a:r>
              <a:rPr lang="ar-SA" sz="2400" b="1" dirty="0">
                <a:effectLst/>
                <a:latin typeface="Times New Roman" panose="02020603050405020304" pitchFamily="18" charset="0"/>
                <a:ea typeface="Times New Roman" panose="02020603050405020304" pitchFamily="18" charset="0"/>
                <a:cs typeface="B Nazanin" panose="00000400000000000000" pitchFamily="2" charset="-78"/>
              </a:rPr>
              <a:t>وابستگی تابعی</a:t>
            </a:r>
            <a:r>
              <a:rPr lang="ar-SA" sz="2400" dirty="0">
                <a:effectLst/>
                <a:latin typeface="Times New Roman" panose="02020603050405020304" pitchFamily="18" charset="0"/>
                <a:ea typeface="Times New Roman" panose="02020603050405020304" pitchFamily="18" charset="0"/>
                <a:cs typeface="B Nazanin" panose="00000400000000000000" pitchFamily="2" charset="-78"/>
              </a:rPr>
              <a:t> </a:t>
            </a:r>
            <a:r>
              <a:rPr lang="en-US" sz="2400" dirty="0">
                <a:effectLst/>
                <a:latin typeface="Times New Roman" panose="02020603050405020304" pitchFamily="18" charset="0"/>
                <a:ea typeface="Times New Roman" panose="02020603050405020304" pitchFamily="18" charset="0"/>
                <a:cs typeface="B Nazanin" panose="00000400000000000000" pitchFamily="2" charset="-78"/>
              </a:rPr>
              <a:t>(FD)</a:t>
            </a:r>
            <a:r>
              <a:rPr lang="fa-IR" sz="2400" dirty="0">
                <a:effectLst/>
                <a:latin typeface="Times New Roman" panose="02020603050405020304" pitchFamily="18" charset="0"/>
                <a:ea typeface="Times New Roman" panose="02020603050405020304" pitchFamily="18" charset="0"/>
                <a:cs typeface="B Nazanin" panose="00000400000000000000" pitchFamily="2" charset="-78"/>
              </a:rPr>
              <a:t> صفت </a:t>
            </a:r>
            <a:r>
              <a:rPr lang="en-US" sz="2400" dirty="0">
                <a:effectLst/>
                <a:latin typeface="Times New Roman" panose="02020603050405020304" pitchFamily="18" charset="0"/>
                <a:ea typeface="Times New Roman" panose="02020603050405020304" pitchFamily="18" charset="0"/>
                <a:cs typeface="B Nazanin" panose="00000400000000000000" pitchFamily="2" charset="-78"/>
              </a:rPr>
              <a:t>Y</a:t>
            </a:r>
            <a:r>
              <a:rPr lang="fa-IR" sz="2400" dirty="0">
                <a:effectLst/>
                <a:latin typeface="Times New Roman" panose="02020603050405020304" pitchFamily="18" charset="0"/>
                <a:ea typeface="Times New Roman" panose="02020603050405020304" pitchFamily="18" charset="0"/>
                <a:cs typeface="B Nazanin" panose="00000400000000000000" pitchFamily="2" charset="-78"/>
              </a:rPr>
              <a:t> با صفت </a:t>
            </a:r>
            <a:r>
              <a:rPr lang="en-US" sz="2400" dirty="0">
                <a:effectLst/>
                <a:latin typeface="Times New Roman" panose="02020603050405020304" pitchFamily="18" charset="0"/>
                <a:ea typeface="Times New Roman" panose="02020603050405020304" pitchFamily="18" charset="0"/>
                <a:cs typeface="B Nazanin" panose="00000400000000000000" pitchFamily="2" charset="-78"/>
              </a:rPr>
              <a:t>X</a:t>
            </a:r>
            <a:r>
              <a:rPr lang="fa-IR" sz="2400" dirty="0">
                <a:effectLst/>
                <a:latin typeface="Times New Roman" panose="02020603050405020304" pitchFamily="18" charset="0"/>
                <a:ea typeface="Times New Roman" panose="02020603050405020304" pitchFamily="18" charset="0"/>
                <a:cs typeface="B Nazanin" panose="00000400000000000000" pitchFamily="2" charset="-78"/>
              </a:rPr>
              <a:t> وابستگی تابعی دارد  اگر و فقط اگر در طول حیاط رابطه به هر مقدار </a:t>
            </a:r>
            <a:r>
              <a:rPr lang="en-US" sz="2400" dirty="0">
                <a:effectLst/>
                <a:latin typeface="Times New Roman" panose="02020603050405020304" pitchFamily="18" charset="0"/>
                <a:ea typeface="Times New Roman" panose="02020603050405020304" pitchFamily="18" charset="0"/>
                <a:cs typeface="B Nazanin" panose="00000400000000000000" pitchFamily="2" charset="-78"/>
              </a:rPr>
              <a:t>X</a:t>
            </a:r>
            <a:r>
              <a:rPr lang="fa-IR" sz="2400" dirty="0">
                <a:effectLst/>
                <a:latin typeface="Times New Roman" panose="02020603050405020304" pitchFamily="18" charset="0"/>
                <a:ea typeface="Times New Roman" panose="02020603050405020304" pitchFamily="18" charset="0"/>
                <a:cs typeface="B Nazanin" panose="00000400000000000000" pitchFamily="2" charset="-78"/>
              </a:rPr>
              <a:t> دقیقا یک مقدار از </a:t>
            </a:r>
            <a:r>
              <a:rPr lang="en-US" sz="2400" dirty="0">
                <a:effectLst/>
                <a:latin typeface="Times New Roman" panose="02020603050405020304" pitchFamily="18" charset="0"/>
                <a:ea typeface="Times New Roman" panose="02020603050405020304" pitchFamily="18" charset="0"/>
                <a:cs typeface="B Nazanin" panose="00000400000000000000" pitchFamily="2" charset="-78"/>
              </a:rPr>
              <a:t>Y</a:t>
            </a:r>
            <a:r>
              <a:rPr lang="fa-IR" sz="2400" dirty="0">
                <a:effectLst/>
                <a:latin typeface="Times New Roman" panose="02020603050405020304" pitchFamily="18" charset="0"/>
                <a:ea typeface="Times New Roman" panose="02020603050405020304" pitchFamily="18" charset="0"/>
                <a:cs typeface="B Nazanin" panose="00000400000000000000" pitchFamily="2" charset="-78"/>
              </a:rPr>
              <a:t> متناظر باشد که میگوییم صفت </a:t>
            </a:r>
            <a:r>
              <a:rPr lang="en-US" sz="2400" dirty="0">
                <a:effectLst/>
                <a:latin typeface="Times New Roman" panose="02020603050405020304" pitchFamily="18" charset="0"/>
                <a:ea typeface="Times New Roman" panose="02020603050405020304" pitchFamily="18" charset="0"/>
                <a:cs typeface="B Nazanin" panose="00000400000000000000" pitchFamily="2" charset="-78"/>
              </a:rPr>
              <a:t>X</a:t>
            </a:r>
            <a:r>
              <a:rPr lang="fa-IR" sz="2400" dirty="0">
                <a:effectLst/>
                <a:latin typeface="Times New Roman" panose="02020603050405020304" pitchFamily="18" charset="0"/>
                <a:ea typeface="Times New Roman" panose="02020603050405020304" pitchFamily="18" charset="0"/>
                <a:cs typeface="B Nazanin" panose="00000400000000000000" pitchFamily="2" charset="-78"/>
              </a:rPr>
              <a:t> صفت </a:t>
            </a:r>
            <a:r>
              <a:rPr lang="en-US" sz="2400" dirty="0">
                <a:effectLst/>
                <a:latin typeface="Times New Roman" panose="02020603050405020304" pitchFamily="18" charset="0"/>
                <a:ea typeface="Times New Roman" panose="02020603050405020304" pitchFamily="18" charset="0"/>
                <a:cs typeface="B Nazanin" panose="00000400000000000000" pitchFamily="2" charset="-78"/>
              </a:rPr>
              <a:t>Y</a:t>
            </a:r>
            <a:r>
              <a:rPr lang="fa-IR" sz="2400" dirty="0">
                <a:effectLst/>
                <a:latin typeface="Times New Roman" panose="02020603050405020304" pitchFamily="18" charset="0"/>
                <a:ea typeface="Times New Roman" panose="02020603050405020304" pitchFamily="18" charset="0"/>
                <a:cs typeface="B Nazanin" panose="00000400000000000000" pitchFamily="2" charset="-78"/>
              </a:rPr>
              <a:t> را تعیین می کند. </a:t>
            </a:r>
            <a:endParaRPr lang="en-US" sz="2400" dirty="0">
              <a:effectLst/>
              <a:latin typeface="Calibri" panose="020F0502020204030204" pitchFamily="34" charset="0"/>
              <a:ea typeface="Calibri" panose="020F0502020204030204" pitchFamily="34" charset="0"/>
              <a:cs typeface="Arial" panose="020B0604020202020204" pitchFamily="34" charset="0"/>
            </a:endParaRPr>
          </a:p>
          <a:p>
            <a:pPr marL="0" marR="0" algn="r" rtl="1">
              <a:lnSpc>
                <a:spcPct val="107000"/>
              </a:lnSpc>
              <a:spcBef>
                <a:spcPts val="0"/>
              </a:spcBef>
              <a:spcAft>
                <a:spcPts val="800"/>
              </a:spcAft>
            </a:pPr>
            <a:r>
              <a:rPr lang="ar-SA" sz="2400" b="1" dirty="0">
                <a:effectLst/>
                <a:latin typeface="Times New Roman" panose="02020603050405020304" pitchFamily="18" charset="0"/>
                <a:ea typeface="Times New Roman" panose="02020603050405020304" pitchFamily="18" charset="0"/>
                <a:cs typeface="B Nazanin" panose="00000400000000000000" pitchFamily="2" charset="-78"/>
              </a:rPr>
              <a:t>تعریف</a:t>
            </a:r>
            <a:r>
              <a:rPr lang="en-US" sz="2400" b="1" dirty="0">
                <a:effectLst/>
                <a:latin typeface="Times New Roman" panose="02020603050405020304" pitchFamily="18" charset="0"/>
                <a:ea typeface="Times New Roman" panose="02020603050405020304" pitchFamily="18" charset="0"/>
                <a:cs typeface="B Nazanin" panose="00000400000000000000" pitchFamily="2" charset="-78"/>
              </a:rPr>
              <a:t>:</a:t>
            </a:r>
            <a:r>
              <a:rPr lang="ar-SA" sz="2400" dirty="0">
                <a:effectLst/>
                <a:latin typeface="Times New Roman" panose="02020603050405020304" pitchFamily="18" charset="0"/>
                <a:ea typeface="Times New Roman" panose="02020603050405020304" pitchFamily="18" charset="0"/>
                <a:cs typeface="B Nazanin" panose="00000400000000000000" pitchFamily="2" charset="-78"/>
              </a:rPr>
              <a:t>اگر صفت </a:t>
            </a:r>
            <a:r>
              <a:rPr lang="en-US" sz="2400" dirty="0">
                <a:effectLst/>
                <a:latin typeface="Times New Roman" panose="02020603050405020304" pitchFamily="18" charset="0"/>
                <a:ea typeface="Times New Roman" panose="02020603050405020304" pitchFamily="18" charset="0"/>
                <a:cs typeface="B Nazanin" panose="00000400000000000000" pitchFamily="2" charset="-78"/>
              </a:rPr>
              <a:t>X </a:t>
            </a:r>
            <a:r>
              <a:rPr lang="ar-SA" sz="2400" dirty="0">
                <a:effectLst/>
                <a:latin typeface="Times New Roman" panose="02020603050405020304" pitchFamily="18" charset="0"/>
                <a:ea typeface="Times New Roman" panose="02020603050405020304" pitchFamily="18" charset="0"/>
                <a:cs typeface="B Nazanin" panose="00000400000000000000" pitchFamily="2" charset="-78"/>
              </a:rPr>
              <a:t>صفت </a:t>
            </a:r>
            <a:r>
              <a:rPr lang="en-US" sz="2400" dirty="0">
                <a:effectLst/>
                <a:latin typeface="Times New Roman" panose="02020603050405020304" pitchFamily="18" charset="0"/>
                <a:ea typeface="Times New Roman" panose="02020603050405020304" pitchFamily="18" charset="0"/>
                <a:cs typeface="B Nazanin" panose="00000400000000000000" pitchFamily="2" charset="-78"/>
              </a:rPr>
              <a:t>Y </a:t>
            </a:r>
            <a:r>
              <a:rPr lang="ar-SA" sz="2400" dirty="0">
                <a:effectLst/>
                <a:latin typeface="Times New Roman" panose="02020603050405020304" pitchFamily="18" charset="0"/>
                <a:ea typeface="Times New Roman" panose="02020603050405020304" pitchFamily="18" charset="0"/>
                <a:cs typeface="B Nazanin" panose="00000400000000000000" pitchFamily="2" charset="-78"/>
              </a:rPr>
              <a:t>را تعیین کند، گفته می‌شود </a:t>
            </a:r>
            <a:r>
              <a:rPr lang="en-US" sz="2400" dirty="0">
                <a:effectLst/>
                <a:latin typeface="Times New Roman" panose="02020603050405020304" pitchFamily="18" charset="0"/>
                <a:ea typeface="Times New Roman" panose="02020603050405020304" pitchFamily="18" charset="0"/>
                <a:cs typeface="B Nazanin" panose="00000400000000000000" pitchFamily="2" charset="-78"/>
              </a:rPr>
              <a:t>Y </a:t>
            </a:r>
            <a:r>
              <a:rPr lang="ar-SA" sz="2400" dirty="0">
                <a:effectLst/>
                <a:latin typeface="Times New Roman" panose="02020603050405020304" pitchFamily="18" charset="0"/>
                <a:ea typeface="Times New Roman" panose="02020603050405020304" pitchFamily="18" charset="0"/>
                <a:cs typeface="B Nazanin" panose="00000400000000000000" pitchFamily="2" charset="-78"/>
              </a:rPr>
              <a:t>به صورت </a:t>
            </a:r>
            <a:r>
              <a:rPr lang="ar-SA" sz="2400" b="1" dirty="0">
                <a:effectLst/>
                <a:latin typeface="Times New Roman" panose="02020603050405020304" pitchFamily="18" charset="0"/>
                <a:ea typeface="Times New Roman" panose="02020603050405020304" pitchFamily="18" charset="0"/>
                <a:cs typeface="B Nazanin" panose="00000400000000000000" pitchFamily="2" charset="-78"/>
              </a:rPr>
              <a:t>تابعی وابسته</a:t>
            </a:r>
            <a:r>
              <a:rPr lang="ar-SA" sz="2400" dirty="0">
                <a:effectLst/>
                <a:latin typeface="Times New Roman" panose="02020603050405020304" pitchFamily="18" charset="0"/>
                <a:ea typeface="Times New Roman" panose="02020603050405020304" pitchFamily="18" charset="0"/>
                <a:cs typeface="B Nazanin" panose="00000400000000000000" pitchFamily="2" charset="-78"/>
              </a:rPr>
              <a:t> به </a:t>
            </a:r>
            <a:r>
              <a:rPr lang="en-US" sz="2400" dirty="0">
                <a:effectLst/>
                <a:latin typeface="Times New Roman" panose="02020603050405020304" pitchFamily="18" charset="0"/>
                <a:ea typeface="Times New Roman" panose="02020603050405020304" pitchFamily="18" charset="0"/>
                <a:cs typeface="B Nazanin" panose="00000400000000000000" pitchFamily="2" charset="-78"/>
              </a:rPr>
              <a:t>X </a:t>
            </a:r>
            <a:r>
              <a:rPr lang="ar-SA" sz="2400" dirty="0">
                <a:effectLst/>
                <a:latin typeface="Times New Roman" panose="02020603050405020304" pitchFamily="18" charset="0"/>
                <a:ea typeface="Times New Roman" panose="02020603050405020304" pitchFamily="18" charset="0"/>
                <a:cs typeface="B Nazanin" panose="00000400000000000000" pitchFamily="2" charset="-78"/>
              </a:rPr>
              <a:t>است و به صورت زیر نمایش داده می‌شود</a:t>
            </a:r>
            <a:r>
              <a:rPr lang="en-US" sz="2400" dirty="0">
                <a:effectLst/>
                <a:latin typeface="Times New Roman" panose="02020603050405020304" pitchFamily="18" charset="0"/>
                <a:ea typeface="Times New Roman" panose="02020603050405020304" pitchFamily="18" charset="0"/>
                <a:cs typeface="B Nazanin" panose="00000400000000000000" pitchFamily="2" charset="-78"/>
              </a:rPr>
              <a:t>:</a:t>
            </a:r>
            <a:endParaRPr lang="en-US" sz="2400" dirty="0">
              <a:effectLst/>
              <a:latin typeface="Calibri" panose="020F0502020204030204" pitchFamily="34" charset="0"/>
              <a:ea typeface="Calibri" panose="020F0502020204030204" pitchFamily="34" charset="0"/>
              <a:cs typeface="Arial" panose="020B0604020202020204" pitchFamily="34" charset="0"/>
            </a:endParaRPr>
          </a:p>
          <a:p>
            <a:pPr marL="0" marR="0" algn="r" rtl="1">
              <a:lnSpc>
                <a:spcPct val="107000"/>
              </a:lnSpc>
              <a:spcBef>
                <a:spcPts val="0"/>
              </a:spcBef>
              <a:spcAft>
                <a:spcPts val="0"/>
              </a:spcAft>
            </a:pPr>
            <a:r>
              <a:rPr lang="en-US" sz="2400" dirty="0">
                <a:effectLst/>
                <a:latin typeface="Times New Roman" panose="02020603050405020304" pitchFamily="18" charset="0"/>
                <a:ea typeface="Times New Roman" panose="02020603050405020304" pitchFamily="18" charset="0"/>
                <a:cs typeface="B Nazanin" panose="00000400000000000000" pitchFamily="2" charset="-78"/>
              </a:rPr>
              <a:t>X →Y</a:t>
            </a:r>
            <a:endParaRPr lang="en-US" sz="2400" dirty="0">
              <a:effectLst/>
              <a:latin typeface="Calibri" panose="020F0502020204030204" pitchFamily="34" charset="0"/>
              <a:ea typeface="Calibri" panose="020F0502020204030204" pitchFamily="34" charset="0"/>
              <a:cs typeface="Arial" panose="020B0604020202020204" pitchFamily="34" charset="0"/>
            </a:endParaRPr>
          </a:p>
          <a:p>
            <a:pPr marL="0" marR="0" algn="r" rtl="1">
              <a:lnSpc>
                <a:spcPct val="107000"/>
              </a:lnSpc>
              <a:spcBef>
                <a:spcPts val="0"/>
              </a:spcBef>
              <a:spcAft>
                <a:spcPts val="800"/>
              </a:spcAft>
            </a:pPr>
            <a:r>
              <a:rPr lang="ar-SA" sz="2400" dirty="0">
                <a:effectLst/>
                <a:latin typeface="Times New Roman" panose="02020603050405020304" pitchFamily="18" charset="0"/>
                <a:ea typeface="Times New Roman" panose="02020603050405020304" pitchFamily="18" charset="0"/>
                <a:cs typeface="B Nazanin" panose="00000400000000000000" pitchFamily="2" charset="-78"/>
              </a:rPr>
              <a:t>در اینجا</a:t>
            </a:r>
            <a:r>
              <a:rPr lang="en-US" sz="2400" dirty="0">
                <a:effectLst/>
                <a:latin typeface="Times New Roman" panose="02020603050405020304" pitchFamily="18" charset="0"/>
                <a:ea typeface="Times New Roman" panose="02020603050405020304" pitchFamily="18" charset="0"/>
                <a:cs typeface="B Nazanin" panose="00000400000000000000" pitchFamily="2" charset="-78"/>
              </a:rPr>
              <a:t>:</a:t>
            </a:r>
            <a:endParaRPr lang="en-US" sz="2400" dirty="0">
              <a:effectLst/>
              <a:latin typeface="Calibri" panose="020F0502020204030204" pitchFamily="34" charset="0"/>
              <a:ea typeface="Calibri" panose="020F0502020204030204" pitchFamily="34" charset="0"/>
              <a:cs typeface="Arial" panose="020B0604020202020204" pitchFamily="34" charset="0"/>
            </a:endParaRPr>
          </a:p>
          <a:p>
            <a:pPr marL="342900" marR="0" lvl="0" indent="-342900" algn="r" rtl="1">
              <a:lnSpc>
                <a:spcPct val="107000"/>
              </a:lnSpc>
              <a:spcBef>
                <a:spcPts val="0"/>
              </a:spcBef>
              <a:spcAft>
                <a:spcPts val="800"/>
              </a:spcAft>
              <a:buSzPts val="1000"/>
              <a:buFont typeface="Symbol" panose="05050102010706020507" pitchFamily="18" charset="2"/>
              <a:buChar char=""/>
              <a:tabLst>
                <a:tab pos="457200" algn="l"/>
              </a:tabLst>
            </a:pPr>
            <a:r>
              <a:rPr lang="en-US" sz="2400" dirty="0">
                <a:effectLst/>
                <a:latin typeface="Times New Roman" panose="02020603050405020304" pitchFamily="18" charset="0"/>
                <a:ea typeface="Times New Roman" panose="02020603050405020304" pitchFamily="18" charset="0"/>
                <a:cs typeface="B Nazanin" panose="00000400000000000000" pitchFamily="2" charset="-78"/>
              </a:rPr>
              <a:t>X </a:t>
            </a:r>
            <a:r>
              <a:rPr lang="ar-SA" sz="2400" b="1" dirty="0">
                <a:effectLst/>
                <a:latin typeface="Times New Roman" panose="02020603050405020304" pitchFamily="18" charset="0"/>
                <a:ea typeface="Times New Roman" panose="02020603050405020304" pitchFamily="18" charset="0"/>
                <a:cs typeface="B Nazanin" panose="00000400000000000000" pitchFamily="2" charset="-78"/>
              </a:rPr>
              <a:t>تعیین‌کننده</a:t>
            </a:r>
            <a:r>
              <a:rPr lang="ar-SA" sz="2400" dirty="0">
                <a:effectLst/>
                <a:latin typeface="Times New Roman" panose="02020603050405020304" pitchFamily="18" charset="0"/>
                <a:ea typeface="Times New Roman" panose="02020603050405020304" pitchFamily="18" charset="0"/>
                <a:cs typeface="B Nazanin" panose="00000400000000000000" pitchFamily="2" charset="-78"/>
              </a:rPr>
              <a:t> </a:t>
            </a:r>
            <a:r>
              <a:rPr lang="en-US" sz="2400" dirty="0">
                <a:effectLst/>
                <a:latin typeface="Times New Roman" panose="02020603050405020304" pitchFamily="18" charset="0"/>
                <a:ea typeface="Times New Roman" panose="02020603050405020304" pitchFamily="18" charset="0"/>
                <a:cs typeface="B Nazanin" panose="00000400000000000000" pitchFamily="2" charset="-78"/>
              </a:rPr>
              <a:t>(Determinant) </a:t>
            </a:r>
            <a:r>
              <a:rPr lang="ar-SA" sz="2400" dirty="0">
                <a:effectLst/>
                <a:latin typeface="Times New Roman" panose="02020603050405020304" pitchFamily="18" charset="0"/>
                <a:ea typeface="Times New Roman" panose="02020603050405020304" pitchFamily="18" charset="0"/>
                <a:cs typeface="B Nazanin" panose="00000400000000000000" pitchFamily="2" charset="-78"/>
              </a:rPr>
              <a:t>نام دارد</a:t>
            </a:r>
            <a:r>
              <a:rPr lang="en-US" sz="2400" dirty="0">
                <a:effectLst/>
                <a:latin typeface="Times New Roman" panose="02020603050405020304" pitchFamily="18" charset="0"/>
                <a:ea typeface="Times New Roman" panose="02020603050405020304" pitchFamily="18" charset="0"/>
                <a:cs typeface="B Nazanin" panose="00000400000000000000" pitchFamily="2" charset="-78"/>
              </a:rPr>
              <a:t>.</a:t>
            </a:r>
            <a:endParaRPr lang="en-US" sz="2400" dirty="0">
              <a:effectLst/>
              <a:latin typeface="Calibri" panose="020F0502020204030204" pitchFamily="34" charset="0"/>
              <a:ea typeface="Calibri" panose="020F0502020204030204" pitchFamily="34" charset="0"/>
              <a:cs typeface="Arial" panose="020B0604020202020204" pitchFamily="34" charset="0"/>
            </a:endParaRPr>
          </a:p>
          <a:p>
            <a:pPr marL="342900" marR="0" lvl="0" indent="-342900" algn="r" rtl="1">
              <a:lnSpc>
                <a:spcPct val="107000"/>
              </a:lnSpc>
              <a:spcBef>
                <a:spcPts val="0"/>
              </a:spcBef>
              <a:spcAft>
                <a:spcPts val="800"/>
              </a:spcAft>
              <a:buSzPts val="1000"/>
              <a:buFont typeface="Symbol" panose="05050102010706020507" pitchFamily="18" charset="2"/>
              <a:buChar char=""/>
              <a:tabLst>
                <a:tab pos="457200" algn="l"/>
              </a:tabLst>
            </a:pPr>
            <a:r>
              <a:rPr lang="en-US" sz="2400" dirty="0">
                <a:effectLst/>
                <a:latin typeface="Times New Roman" panose="02020603050405020304" pitchFamily="18" charset="0"/>
                <a:ea typeface="Times New Roman" panose="02020603050405020304" pitchFamily="18" charset="0"/>
                <a:cs typeface="B Nazanin" panose="00000400000000000000" pitchFamily="2" charset="-78"/>
              </a:rPr>
              <a:t>Y </a:t>
            </a:r>
            <a:r>
              <a:rPr lang="ar-SA" sz="2400" b="1" dirty="0">
                <a:effectLst/>
                <a:latin typeface="Times New Roman" panose="02020603050405020304" pitchFamily="18" charset="0"/>
                <a:ea typeface="Times New Roman" panose="02020603050405020304" pitchFamily="18" charset="0"/>
                <a:cs typeface="B Nazanin" panose="00000400000000000000" pitchFamily="2" charset="-78"/>
              </a:rPr>
              <a:t>وابسته</a:t>
            </a:r>
            <a:r>
              <a:rPr lang="ar-SA" sz="2400" dirty="0">
                <a:effectLst/>
                <a:latin typeface="Times New Roman" panose="02020603050405020304" pitchFamily="18" charset="0"/>
                <a:ea typeface="Times New Roman" panose="02020603050405020304" pitchFamily="18" charset="0"/>
                <a:cs typeface="B Nazanin" panose="00000400000000000000" pitchFamily="2" charset="-78"/>
              </a:rPr>
              <a:t> </a:t>
            </a:r>
            <a:r>
              <a:rPr lang="en-US" sz="2400" dirty="0">
                <a:effectLst/>
                <a:latin typeface="Times New Roman" panose="02020603050405020304" pitchFamily="18" charset="0"/>
                <a:ea typeface="Times New Roman" panose="02020603050405020304" pitchFamily="18" charset="0"/>
                <a:cs typeface="B Nazanin" panose="00000400000000000000" pitchFamily="2" charset="-78"/>
              </a:rPr>
              <a:t>(Dependent) </a:t>
            </a:r>
            <a:r>
              <a:rPr lang="ar-SA" sz="2400" dirty="0">
                <a:effectLst/>
                <a:latin typeface="Times New Roman" panose="02020603050405020304" pitchFamily="18" charset="0"/>
                <a:ea typeface="Times New Roman" panose="02020603050405020304" pitchFamily="18" charset="0"/>
                <a:cs typeface="B Nazanin" panose="00000400000000000000" pitchFamily="2" charset="-78"/>
              </a:rPr>
              <a:t>نام دارد</a:t>
            </a:r>
            <a:r>
              <a:rPr lang="en-US" sz="2400" dirty="0">
                <a:effectLst/>
                <a:latin typeface="Times New Roman" panose="02020603050405020304" pitchFamily="18" charset="0"/>
                <a:ea typeface="Times New Roman" panose="02020603050405020304" pitchFamily="18" charset="0"/>
                <a:cs typeface="B Nazanin" panose="00000400000000000000" pitchFamily="2" charset="-78"/>
              </a:rPr>
              <a:t>.</a:t>
            </a:r>
            <a:endParaRPr lang="en-US" sz="2400" dirty="0">
              <a:effectLst/>
              <a:latin typeface="Calibri" panose="020F0502020204030204" pitchFamily="34" charset="0"/>
              <a:ea typeface="Calibri" panose="020F0502020204030204" pitchFamily="34" charset="0"/>
              <a:cs typeface="Arial" panose="020B0604020202020204" pitchFamily="34" charset="0"/>
            </a:endParaRPr>
          </a:p>
          <a:p>
            <a:endParaRPr lang="en-US" sz="2800" dirty="0"/>
          </a:p>
        </p:txBody>
      </p:sp>
      <p:graphicFrame>
        <p:nvGraphicFramePr>
          <p:cNvPr id="4" name="Table 4">
            <a:extLst>
              <a:ext uri="{FF2B5EF4-FFF2-40B4-BE49-F238E27FC236}">
                <a16:creationId xmlns:a16="http://schemas.microsoft.com/office/drawing/2014/main" id="{453D0BFA-E719-45CD-9155-FC706FFA9B52}"/>
              </a:ext>
            </a:extLst>
          </p:cNvPr>
          <p:cNvGraphicFramePr>
            <a:graphicFrameLocks noGrp="1"/>
          </p:cNvGraphicFramePr>
          <p:nvPr/>
        </p:nvGraphicFramePr>
        <p:xfrm>
          <a:off x="267075" y="4953000"/>
          <a:ext cx="3200400" cy="1097280"/>
        </p:xfrm>
        <a:graphic>
          <a:graphicData uri="http://schemas.openxmlformats.org/drawingml/2006/table">
            <a:tbl>
              <a:tblPr firstRow="1" bandRow="1">
                <a:tableStyleId>{616DA210-FB5B-4158-B5E0-FEB733F419BA}</a:tableStyleId>
              </a:tblPr>
              <a:tblGrid>
                <a:gridCol w="1066800">
                  <a:extLst>
                    <a:ext uri="{9D8B030D-6E8A-4147-A177-3AD203B41FA5}">
                      <a16:colId xmlns:a16="http://schemas.microsoft.com/office/drawing/2014/main" val="2053521913"/>
                    </a:ext>
                  </a:extLst>
                </a:gridCol>
                <a:gridCol w="1066800">
                  <a:extLst>
                    <a:ext uri="{9D8B030D-6E8A-4147-A177-3AD203B41FA5}">
                      <a16:colId xmlns:a16="http://schemas.microsoft.com/office/drawing/2014/main" val="1634407040"/>
                    </a:ext>
                  </a:extLst>
                </a:gridCol>
                <a:gridCol w="1066800">
                  <a:extLst>
                    <a:ext uri="{9D8B030D-6E8A-4147-A177-3AD203B41FA5}">
                      <a16:colId xmlns:a16="http://schemas.microsoft.com/office/drawing/2014/main" val="3912256160"/>
                    </a:ext>
                  </a:extLst>
                </a:gridCol>
              </a:tblGrid>
              <a:tr h="355600">
                <a:tc>
                  <a:txBody>
                    <a:bodyPr/>
                    <a:lstStyle/>
                    <a:p>
                      <a:r>
                        <a:rPr lang="fa-IR" dirty="0"/>
                        <a:t>شماره</a:t>
                      </a:r>
                      <a:endParaRPr lang="en-US" dirty="0"/>
                    </a:p>
                  </a:txBody>
                  <a:tcPr/>
                </a:tc>
                <a:tc>
                  <a:txBody>
                    <a:bodyPr/>
                    <a:lstStyle/>
                    <a:p>
                      <a:r>
                        <a:rPr lang="fa-IR" dirty="0"/>
                        <a:t>نام</a:t>
                      </a:r>
                      <a:endParaRPr lang="en-US" dirty="0"/>
                    </a:p>
                  </a:txBody>
                  <a:tcPr/>
                </a:tc>
                <a:tc>
                  <a:txBody>
                    <a:bodyPr/>
                    <a:lstStyle/>
                    <a:p>
                      <a:r>
                        <a:rPr lang="fa-IR" dirty="0"/>
                        <a:t>فامیل</a:t>
                      </a:r>
                      <a:endParaRPr lang="en-US" dirty="0"/>
                    </a:p>
                  </a:txBody>
                  <a:tcPr/>
                </a:tc>
                <a:extLst>
                  <a:ext uri="{0D108BD9-81ED-4DB2-BD59-A6C34878D82A}">
                    <a16:rowId xmlns:a16="http://schemas.microsoft.com/office/drawing/2014/main" val="2854973544"/>
                  </a:ext>
                </a:extLst>
              </a:tr>
              <a:tr h="355600">
                <a:tc>
                  <a:txBody>
                    <a:bodyPr/>
                    <a:lstStyle/>
                    <a:p>
                      <a:r>
                        <a:rPr lang="fa-IR" dirty="0"/>
                        <a:t>۱۱</a:t>
                      </a:r>
                      <a:endParaRPr lang="en-US" dirty="0"/>
                    </a:p>
                  </a:txBody>
                  <a:tcPr/>
                </a:tc>
                <a:tc>
                  <a:txBody>
                    <a:bodyPr/>
                    <a:lstStyle/>
                    <a:p>
                      <a:r>
                        <a:rPr lang="fa-IR" dirty="0"/>
                        <a:t>اکبر</a:t>
                      </a:r>
                      <a:endParaRPr lang="en-US" dirty="0"/>
                    </a:p>
                  </a:txBody>
                  <a:tcPr/>
                </a:tc>
                <a:tc>
                  <a:txBody>
                    <a:bodyPr/>
                    <a:lstStyle/>
                    <a:p>
                      <a:r>
                        <a:rPr lang="fa-IR" dirty="0"/>
                        <a:t>حسینی</a:t>
                      </a:r>
                      <a:endParaRPr lang="en-US" dirty="0"/>
                    </a:p>
                  </a:txBody>
                  <a:tcPr/>
                </a:tc>
                <a:extLst>
                  <a:ext uri="{0D108BD9-81ED-4DB2-BD59-A6C34878D82A}">
                    <a16:rowId xmlns:a16="http://schemas.microsoft.com/office/drawing/2014/main" val="1039871227"/>
                  </a:ext>
                </a:extLst>
              </a:tr>
              <a:tr h="355600">
                <a:tc>
                  <a:txBody>
                    <a:bodyPr/>
                    <a:lstStyle/>
                    <a:p>
                      <a:r>
                        <a:rPr lang="fa-IR" dirty="0"/>
                        <a:t>۲۲</a:t>
                      </a:r>
                      <a:endParaRPr lang="en-US" dirty="0"/>
                    </a:p>
                  </a:txBody>
                  <a:tcPr/>
                </a:tc>
                <a:tc>
                  <a:txBody>
                    <a:bodyPr/>
                    <a:lstStyle/>
                    <a:p>
                      <a:r>
                        <a:rPr lang="fa-IR" dirty="0"/>
                        <a:t>اکبر</a:t>
                      </a:r>
                      <a:endParaRPr lang="en-US" dirty="0"/>
                    </a:p>
                  </a:txBody>
                  <a:tcPr/>
                </a:tc>
                <a:tc>
                  <a:txBody>
                    <a:bodyPr/>
                    <a:lstStyle/>
                    <a:p>
                      <a:r>
                        <a:rPr lang="fa-IR" dirty="0"/>
                        <a:t>کریمی</a:t>
                      </a:r>
                      <a:endParaRPr lang="en-US" dirty="0"/>
                    </a:p>
                  </a:txBody>
                  <a:tcPr/>
                </a:tc>
                <a:extLst>
                  <a:ext uri="{0D108BD9-81ED-4DB2-BD59-A6C34878D82A}">
                    <a16:rowId xmlns:a16="http://schemas.microsoft.com/office/drawing/2014/main" val="3483005539"/>
                  </a:ext>
                </a:extLst>
              </a:tr>
            </a:tbl>
          </a:graphicData>
        </a:graphic>
      </p:graphicFrame>
    </p:spTree>
    <p:extLst>
      <p:ext uri="{BB962C8B-B14F-4D97-AF65-F5344CB8AC3E}">
        <p14:creationId xmlns:p14="http://schemas.microsoft.com/office/powerpoint/2010/main" val="402080022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B99B505-7B22-4D04-AFB6-0BBD2C26C34C}"/>
              </a:ext>
            </a:extLst>
          </p:cNvPr>
          <p:cNvSpPr>
            <a:spLocks noGrp="1"/>
          </p:cNvSpPr>
          <p:nvPr>
            <p:ph type="title"/>
          </p:nvPr>
        </p:nvSpPr>
        <p:spPr/>
        <p:txBody>
          <a:bodyPr/>
          <a:lstStyle/>
          <a:p>
            <a:r>
              <a:rPr lang="ar-SA" sz="2800" b="1" dirty="0">
                <a:effectLst/>
                <a:latin typeface="Times New Roman" panose="02020603050405020304" pitchFamily="18" charset="0"/>
                <a:ea typeface="Times New Roman" panose="02020603050405020304" pitchFamily="18" charset="0"/>
                <a:cs typeface="B Nazanin" panose="00000400000000000000" pitchFamily="2" charset="-78"/>
              </a:rPr>
              <a:t>وابستگی تابعی</a:t>
            </a:r>
            <a:r>
              <a:rPr lang="en-US" sz="2800" b="1" dirty="0">
                <a:effectLst/>
                <a:latin typeface="Times New Roman" panose="02020603050405020304" pitchFamily="18" charset="0"/>
                <a:ea typeface="Times New Roman" panose="02020603050405020304" pitchFamily="18" charset="0"/>
                <a:cs typeface="B Nazanin" panose="00000400000000000000" pitchFamily="2" charset="-78"/>
              </a:rPr>
              <a:t> (Functional Dependency) </a:t>
            </a:r>
            <a:r>
              <a:rPr lang="ar-SA" sz="2800" b="1" dirty="0">
                <a:effectLst/>
                <a:latin typeface="Times New Roman" panose="02020603050405020304" pitchFamily="18" charset="0"/>
                <a:ea typeface="Times New Roman" panose="02020603050405020304" pitchFamily="18" charset="0"/>
                <a:cs typeface="B Nazanin" panose="00000400000000000000" pitchFamily="2" charset="-78"/>
              </a:rPr>
              <a:t>در پایگاه داده</a:t>
            </a:r>
            <a:endParaRPr lang="en-US" dirty="0"/>
          </a:p>
        </p:txBody>
      </p:sp>
      <p:sp>
        <p:nvSpPr>
          <p:cNvPr id="3" name="Content Placeholder 2">
            <a:extLst>
              <a:ext uri="{FF2B5EF4-FFF2-40B4-BE49-F238E27FC236}">
                <a16:creationId xmlns:a16="http://schemas.microsoft.com/office/drawing/2014/main" id="{1BC9B834-96AB-4CB7-BAA8-A5220B848B9C}"/>
              </a:ext>
            </a:extLst>
          </p:cNvPr>
          <p:cNvSpPr>
            <a:spLocks noGrp="1"/>
          </p:cNvSpPr>
          <p:nvPr>
            <p:ph idx="1"/>
          </p:nvPr>
        </p:nvSpPr>
        <p:spPr>
          <a:xfrm>
            <a:off x="304800" y="838200"/>
            <a:ext cx="8540749" cy="5544493"/>
          </a:xfrm>
        </p:spPr>
        <p:txBody>
          <a:bodyPr/>
          <a:lstStyle/>
          <a:p>
            <a:pPr marL="0" marR="0" algn="r" rtl="1"/>
            <a:r>
              <a:rPr lang="en-US" sz="2400" dirty="0">
                <a:effectLst/>
                <a:latin typeface="Times New Roman" panose="02020603050405020304" pitchFamily="18" charset="0"/>
                <a:ea typeface="Times New Roman" panose="02020603050405020304" pitchFamily="18" charset="0"/>
              </a:rPr>
              <a:t>FD1: </a:t>
            </a:r>
            <a:r>
              <a:rPr lang="en-US" sz="2400" dirty="0" err="1">
                <a:effectLst/>
                <a:latin typeface="Times New Roman" panose="02020603050405020304" pitchFamily="18" charset="0"/>
                <a:ea typeface="Times New Roman" panose="02020603050405020304" pitchFamily="18" charset="0"/>
              </a:rPr>
              <a:t>StudentID</a:t>
            </a:r>
            <a:r>
              <a:rPr lang="en-US" sz="2400" dirty="0">
                <a:effectLst/>
                <a:latin typeface="Times New Roman" panose="02020603050405020304" pitchFamily="18" charset="0"/>
                <a:ea typeface="Times New Roman" panose="02020603050405020304" pitchFamily="18" charset="0"/>
              </a:rPr>
              <a:t> → </a:t>
            </a:r>
            <a:r>
              <a:rPr lang="en-US" sz="2400" dirty="0" err="1">
                <a:effectLst/>
                <a:latin typeface="Times New Roman" panose="02020603050405020304" pitchFamily="18" charset="0"/>
                <a:ea typeface="Times New Roman" panose="02020603050405020304" pitchFamily="18" charset="0"/>
              </a:rPr>
              <a:t>StudentName</a:t>
            </a:r>
            <a:br>
              <a:rPr lang="en-US" sz="2400" dirty="0">
                <a:effectLst/>
                <a:latin typeface="Times New Roman" panose="02020603050405020304" pitchFamily="18" charset="0"/>
                <a:ea typeface="Times New Roman" panose="02020603050405020304" pitchFamily="18" charset="0"/>
              </a:rPr>
            </a:br>
            <a:r>
              <a:rPr lang="ar-SA" sz="2400" dirty="0">
                <a:effectLst/>
                <a:latin typeface="Times New Roman" panose="02020603050405020304" pitchFamily="18" charset="0"/>
                <a:ea typeface="Times New Roman" panose="02020603050405020304" pitchFamily="18" charset="0"/>
              </a:rPr>
              <a:t>با دانستن</a:t>
            </a:r>
            <a:r>
              <a:rPr lang="en-US" sz="2400" dirty="0">
                <a:effectLst/>
                <a:latin typeface="Times New Roman" panose="02020603050405020304" pitchFamily="18" charset="0"/>
                <a:ea typeface="Times New Roman" panose="02020603050405020304" pitchFamily="18" charset="0"/>
              </a:rPr>
              <a:t> </a:t>
            </a:r>
            <a:r>
              <a:rPr lang="en-US" sz="2400" dirty="0" err="1">
                <a:effectLst/>
                <a:latin typeface="Times New Roman" panose="02020603050405020304" pitchFamily="18" charset="0"/>
                <a:ea typeface="Times New Roman" panose="02020603050405020304" pitchFamily="18" charset="0"/>
              </a:rPr>
              <a:t>StudentID</a:t>
            </a:r>
            <a:r>
              <a:rPr lang="ar-SA" sz="2400" dirty="0">
                <a:effectLst/>
                <a:latin typeface="Times New Roman" panose="02020603050405020304" pitchFamily="18" charset="0"/>
                <a:ea typeface="Times New Roman" panose="02020603050405020304" pitchFamily="18" charset="0"/>
              </a:rPr>
              <a:t>، می‌توانیم به‌طور منحصربه‌فرد</a:t>
            </a:r>
            <a:r>
              <a:rPr lang="en-US" sz="2400" dirty="0">
                <a:effectLst/>
                <a:latin typeface="Times New Roman" panose="02020603050405020304" pitchFamily="18" charset="0"/>
                <a:ea typeface="Times New Roman" panose="02020603050405020304" pitchFamily="18" charset="0"/>
              </a:rPr>
              <a:t> </a:t>
            </a:r>
            <a:r>
              <a:rPr lang="en-US" sz="2400" dirty="0" err="1">
                <a:effectLst/>
                <a:latin typeface="Times New Roman" panose="02020603050405020304" pitchFamily="18" charset="0"/>
                <a:ea typeface="Times New Roman" panose="02020603050405020304" pitchFamily="18" charset="0"/>
              </a:rPr>
              <a:t>StudentName</a:t>
            </a:r>
            <a:r>
              <a:rPr lang="en-US" sz="2400" dirty="0">
                <a:effectLst/>
                <a:latin typeface="Times New Roman" panose="02020603050405020304" pitchFamily="18" charset="0"/>
                <a:ea typeface="Times New Roman" panose="02020603050405020304" pitchFamily="18" charset="0"/>
              </a:rPr>
              <a:t> </a:t>
            </a:r>
            <a:r>
              <a:rPr lang="ar-SA" sz="2400" dirty="0">
                <a:effectLst/>
                <a:latin typeface="Times New Roman" panose="02020603050405020304" pitchFamily="18" charset="0"/>
                <a:ea typeface="Times New Roman" panose="02020603050405020304" pitchFamily="18" charset="0"/>
              </a:rPr>
              <a:t>را تعیین کنیم</a:t>
            </a:r>
            <a:r>
              <a:rPr lang="en-US" sz="2400" dirty="0">
                <a:effectLst/>
                <a:latin typeface="Times New Roman" panose="02020603050405020304" pitchFamily="18" charset="0"/>
                <a:ea typeface="Times New Roman" panose="02020603050405020304" pitchFamily="18" charset="0"/>
              </a:rPr>
              <a:t>.</a:t>
            </a:r>
          </a:p>
          <a:p>
            <a:pPr marL="0" marR="0" algn="r" rtl="1"/>
            <a:r>
              <a:rPr lang="en-US" sz="2400" dirty="0">
                <a:effectLst/>
                <a:latin typeface="Times New Roman" panose="02020603050405020304" pitchFamily="18" charset="0"/>
                <a:ea typeface="Times New Roman" panose="02020603050405020304" pitchFamily="18" charset="0"/>
              </a:rPr>
              <a:t>FD2: </a:t>
            </a:r>
            <a:r>
              <a:rPr lang="en-US" sz="2400" dirty="0" err="1">
                <a:effectLst/>
                <a:latin typeface="Times New Roman" panose="02020603050405020304" pitchFamily="18" charset="0"/>
                <a:ea typeface="Times New Roman" panose="02020603050405020304" pitchFamily="18" charset="0"/>
              </a:rPr>
              <a:t>StudentID</a:t>
            </a:r>
            <a:r>
              <a:rPr lang="en-US" sz="2400" dirty="0">
                <a:effectLst/>
                <a:latin typeface="Times New Roman" panose="02020603050405020304" pitchFamily="18" charset="0"/>
                <a:ea typeface="Times New Roman" panose="02020603050405020304" pitchFamily="18" charset="0"/>
              </a:rPr>
              <a:t> → Course</a:t>
            </a:r>
            <a:br>
              <a:rPr lang="en-US" sz="2400" dirty="0">
                <a:effectLst/>
                <a:latin typeface="Times New Roman" panose="02020603050405020304" pitchFamily="18" charset="0"/>
                <a:ea typeface="Times New Roman" panose="02020603050405020304" pitchFamily="18" charset="0"/>
              </a:rPr>
            </a:br>
            <a:r>
              <a:rPr lang="ar-SA" sz="2400" dirty="0">
                <a:effectLst/>
                <a:latin typeface="Times New Roman" panose="02020603050405020304" pitchFamily="18" charset="0"/>
                <a:ea typeface="Times New Roman" panose="02020603050405020304" pitchFamily="18" charset="0"/>
              </a:rPr>
              <a:t>با دانستن</a:t>
            </a:r>
            <a:r>
              <a:rPr lang="en-US" sz="2400" dirty="0">
                <a:effectLst/>
                <a:latin typeface="Times New Roman" panose="02020603050405020304" pitchFamily="18" charset="0"/>
                <a:ea typeface="Times New Roman" panose="02020603050405020304" pitchFamily="18" charset="0"/>
              </a:rPr>
              <a:t> </a:t>
            </a:r>
            <a:r>
              <a:rPr lang="en-US" sz="2400" dirty="0" err="1">
                <a:effectLst/>
                <a:latin typeface="Times New Roman" panose="02020603050405020304" pitchFamily="18" charset="0"/>
                <a:ea typeface="Times New Roman" panose="02020603050405020304" pitchFamily="18" charset="0"/>
              </a:rPr>
              <a:t>StudentID</a:t>
            </a:r>
            <a:r>
              <a:rPr lang="ar-SA" sz="2400" dirty="0">
                <a:effectLst/>
                <a:latin typeface="Times New Roman" panose="02020603050405020304" pitchFamily="18" charset="0"/>
                <a:ea typeface="Times New Roman" panose="02020603050405020304" pitchFamily="18" charset="0"/>
              </a:rPr>
              <a:t>، می‌توانیم</a:t>
            </a:r>
            <a:r>
              <a:rPr lang="en-US" sz="2400" dirty="0">
                <a:effectLst/>
                <a:latin typeface="Times New Roman" panose="02020603050405020304" pitchFamily="18" charset="0"/>
                <a:ea typeface="Times New Roman" panose="02020603050405020304" pitchFamily="18" charset="0"/>
              </a:rPr>
              <a:t> Course </a:t>
            </a:r>
            <a:r>
              <a:rPr lang="ar-SA" sz="2400" dirty="0">
                <a:effectLst/>
                <a:latin typeface="Times New Roman" panose="02020603050405020304" pitchFamily="18" charset="0"/>
                <a:ea typeface="Times New Roman" panose="02020603050405020304" pitchFamily="18" charset="0"/>
              </a:rPr>
              <a:t>را تعیین کنیم</a:t>
            </a:r>
            <a:r>
              <a:rPr lang="en-US" sz="2400" dirty="0">
                <a:effectLst/>
                <a:latin typeface="Times New Roman" panose="02020603050405020304" pitchFamily="18" charset="0"/>
                <a:ea typeface="Times New Roman" panose="02020603050405020304" pitchFamily="18" charset="0"/>
              </a:rPr>
              <a:t>.</a:t>
            </a:r>
          </a:p>
          <a:p>
            <a:pPr marL="0" marR="0" algn="r" rtl="1">
              <a:lnSpc>
                <a:spcPct val="107000"/>
              </a:lnSpc>
              <a:spcBef>
                <a:spcPts val="0"/>
              </a:spcBef>
              <a:spcAft>
                <a:spcPts val="800"/>
              </a:spcAft>
            </a:pPr>
            <a:r>
              <a:rPr lang="en-US" sz="1800" dirty="0">
                <a:effectLst/>
                <a:latin typeface="Calibri" panose="020F0502020204030204" pitchFamily="34" charset="0"/>
                <a:ea typeface="Calibri" panose="020F0502020204030204" pitchFamily="34" charset="0"/>
                <a:cs typeface="Arial" panose="020B0604020202020204" pitchFamily="34" charset="0"/>
              </a:rPr>
              <a:t> </a:t>
            </a:r>
          </a:p>
          <a:p>
            <a:endParaRPr lang="en-US" sz="3600" dirty="0"/>
          </a:p>
        </p:txBody>
      </p:sp>
      <p:graphicFrame>
        <p:nvGraphicFramePr>
          <p:cNvPr id="4" name="Table 3">
            <a:extLst>
              <a:ext uri="{FF2B5EF4-FFF2-40B4-BE49-F238E27FC236}">
                <a16:creationId xmlns:a16="http://schemas.microsoft.com/office/drawing/2014/main" id="{60E03FE7-2BCE-43FC-B32E-2FAD0B479C85}"/>
              </a:ext>
            </a:extLst>
          </p:cNvPr>
          <p:cNvGraphicFramePr>
            <a:graphicFrameLocks noGrp="1"/>
          </p:cNvGraphicFramePr>
          <p:nvPr/>
        </p:nvGraphicFramePr>
        <p:xfrm>
          <a:off x="1828800" y="2958174"/>
          <a:ext cx="5257800" cy="1288415"/>
        </p:xfrm>
        <a:graphic>
          <a:graphicData uri="http://schemas.openxmlformats.org/drawingml/2006/table">
            <a:tbl>
              <a:tblPr firstRow="1" firstCol="1" bandRow="1">
                <a:tableStyleId>{616DA210-FB5B-4158-B5E0-FEB733F419BA}</a:tableStyleId>
              </a:tblPr>
              <a:tblGrid>
                <a:gridCol w="1752600">
                  <a:extLst>
                    <a:ext uri="{9D8B030D-6E8A-4147-A177-3AD203B41FA5}">
                      <a16:colId xmlns:a16="http://schemas.microsoft.com/office/drawing/2014/main" val="1657430916"/>
                    </a:ext>
                  </a:extLst>
                </a:gridCol>
                <a:gridCol w="1752600">
                  <a:extLst>
                    <a:ext uri="{9D8B030D-6E8A-4147-A177-3AD203B41FA5}">
                      <a16:colId xmlns:a16="http://schemas.microsoft.com/office/drawing/2014/main" val="1333989764"/>
                    </a:ext>
                  </a:extLst>
                </a:gridCol>
                <a:gridCol w="1752600">
                  <a:extLst>
                    <a:ext uri="{9D8B030D-6E8A-4147-A177-3AD203B41FA5}">
                      <a16:colId xmlns:a16="http://schemas.microsoft.com/office/drawing/2014/main" val="4212799806"/>
                    </a:ext>
                  </a:extLst>
                </a:gridCol>
              </a:tblGrid>
              <a:tr h="266700">
                <a:tc>
                  <a:txBody>
                    <a:bodyPr/>
                    <a:lstStyle/>
                    <a:p>
                      <a:pPr marL="0" marR="0" algn="ctr" rtl="1">
                        <a:lnSpc>
                          <a:spcPct val="107000"/>
                        </a:lnSpc>
                        <a:spcBef>
                          <a:spcPts val="0"/>
                        </a:spcBef>
                        <a:spcAft>
                          <a:spcPts val="0"/>
                        </a:spcAft>
                      </a:pPr>
                      <a:r>
                        <a:rPr lang="en-US" sz="2000" dirty="0" err="1">
                          <a:effectLst/>
                          <a:latin typeface="Times New Roman" panose="02020603050405020304" pitchFamily="18" charset="0"/>
                          <a:ea typeface="Times New Roman" panose="02020603050405020304" pitchFamily="18" charset="0"/>
                          <a:cs typeface="B Nazanin" panose="00000400000000000000" pitchFamily="2" charset="-78"/>
                        </a:rPr>
                        <a:t>StudentID</a:t>
                      </a:r>
                      <a:endParaRPr lang="en-US" sz="1800" dirty="0">
                        <a:effectLst/>
                        <a:latin typeface="Calibri" panose="020F0502020204030204" pitchFamily="34" charset="0"/>
                        <a:ea typeface="Calibri" panose="020F0502020204030204" pitchFamily="34" charset="0"/>
                        <a:cs typeface="B Nazanin" panose="00000400000000000000" pitchFamily="2" charset="-78"/>
                      </a:endParaRPr>
                    </a:p>
                  </a:txBody>
                  <a:tcPr marL="68580" marR="68580" marT="0" marB="0"/>
                </a:tc>
                <a:tc>
                  <a:txBody>
                    <a:bodyPr/>
                    <a:lstStyle/>
                    <a:p>
                      <a:pPr marL="0" marR="0" algn="ctr" rtl="1">
                        <a:lnSpc>
                          <a:spcPct val="107000"/>
                        </a:lnSpc>
                        <a:spcBef>
                          <a:spcPts val="0"/>
                        </a:spcBef>
                        <a:spcAft>
                          <a:spcPts val="0"/>
                        </a:spcAft>
                      </a:pPr>
                      <a:r>
                        <a:rPr lang="en-US" sz="2000" dirty="0" err="1">
                          <a:effectLst/>
                          <a:latin typeface="Times New Roman" panose="02020603050405020304" pitchFamily="18" charset="0"/>
                          <a:ea typeface="Times New Roman" panose="02020603050405020304" pitchFamily="18" charset="0"/>
                          <a:cs typeface="B Nazanin" panose="00000400000000000000" pitchFamily="2" charset="-78"/>
                        </a:rPr>
                        <a:t>StudentName</a:t>
                      </a:r>
                      <a:endParaRPr lang="en-US" sz="1800" dirty="0">
                        <a:effectLst/>
                        <a:latin typeface="Calibri" panose="020F0502020204030204" pitchFamily="34" charset="0"/>
                        <a:ea typeface="Calibri" panose="020F0502020204030204" pitchFamily="34" charset="0"/>
                        <a:cs typeface="B Nazanin" panose="00000400000000000000" pitchFamily="2" charset="-78"/>
                      </a:endParaRPr>
                    </a:p>
                  </a:txBody>
                  <a:tcPr marL="68580" marR="68580" marT="0" marB="0"/>
                </a:tc>
                <a:tc>
                  <a:txBody>
                    <a:bodyPr/>
                    <a:lstStyle/>
                    <a:p>
                      <a:pPr marL="0" marR="0" algn="ctr" rtl="1">
                        <a:lnSpc>
                          <a:spcPct val="107000"/>
                        </a:lnSpc>
                        <a:spcBef>
                          <a:spcPts val="0"/>
                        </a:spcBef>
                        <a:spcAft>
                          <a:spcPts val="0"/>
                        </a:spcAft>
                      </a:pPr>
                      <a:r>
                        <a:rPr lang="en-US" sz="2000" dirty="0">
                          <a:effectLst/>
                          <a:latin typeface="Times New Roman" panose="02020603050405020304" pitchFamily="18" charset="0"/>
                          <a:ea typeface="Times New Roman" panose="02020603050405020304" pitchFamily="18" charset="0"/>
                          <a:cs typeface="B Nazanin" panose="00000400000000000000" pitchFamily="2" charset="-78"/>
                        </a:rPr>
                        <a:t>Course</a:t>
                      </a:r>
                      <a:endParaRPr lang="en-US" sz="1800" dirty="0">
                        <a:effectLst/>
                        <a:latin typeface="Calibri" panose="020F0502020204030204" pitchFamily="34" charset="0"/>
                        <a:ea typeface="Calibri" panose="020F0502020204030204" pitchFamily="34" charset="0"/>
                        <a:cs typeface="B Nazanin" panose="00000400000000000000" pitchFamily="2" charset="-78"/>
                      </a:endParaRPr>
                    </a:p>
                  </a:txBody>
                  <a:tcPr marL="68580" marR="68580" marT="0" marB="0"/>
                </a:tc>
                <a:extLst>
                  <a:ext uri="{0D108BD9-81ED-4DB2-BD59-A6C34878D82A}">
                    <a16:rowId xmlns:a16="http://schemas.microsoft.com/office/drawing/2014/main" val="1240795872"/>
                  </a:ext>
                </a:extLst>
              </a:tr>
              <a:tr h="266700">
                <a:tc>
                  <a:txBody>
                    <a:bodyPr/>
                    <a:lstStyle/>
                    <a:p>
                      <a:pPr marL="0" marR="0" algn="ctr" rtl="1">
                        <a:lnSpc>
                          <a:spcPct val="107000"/>
                        </a:lnSpc>
                        <a:spcBef>
                          <a:spcPts val="0"/>
                        </a:spcBef>
                        <a:spcAft>
                          <a:spcPts val="0"/>
                        </a:spcAft>
                      </a:pPr>
                      <a:r>
                        <a:rPr lang="en-US" sz="2000" dirty="0">
                          <a:effectLst/>
                          <a:cs typeface="B Nazanin" panose="00000400000000000000" pitchFamily="2" charset="-78"/>
                        </a:rPr>
                        <a:t>101</a:t>
                      </a:r>
                      <a:endParaRPr lang="en-US" sz="1800" dirty="0">
                        <a:effectLst/>
                        <a:latin typeface="Calibri" panose="020F0502020204030204" pitchFamily="34" charset="0"/>
                        <a:ea typeface="Calibri" panose="020F0502020204030204" pitchFamily="34" charset="0"/>
                        <a:cs typeface="B Nazanin" panose="00000400000000000000" pitchFamily="2" charset="-78"/>
                      </a:endParaRPr>
                    </a:p>
                  </a:txBody>
                  <a:tcPr marL="68580" marR="68580" marT="0" marB="0"/>
                </a:tc>
                <a:tc>
                  <a:txBody>
                    <a:bodyPr/>
                    <a:lstStyle/>
                    <a:p>
                      <a:pPr marL="0" marR="0" algn="r" rtl="1">
                        <a:lnSpc>
                          <a:spcPct val="107000"/>
                        </a:lnSpc>
                        <a:spcBef>
                          <a:spcPts val="0"/>
                        </a:spcBef>
                        <a:spcAft>
                          <a:spcPts val="0"/>
                        </a:spcAft>
                      </a:pPr>
                      <a:r>
                        <a:rPr lang="ar-SA" sz="2000">
                          <a:effectLst/>
                          <a:cs typeface="B Nazanin" panose="00000400000000000000" pitchFamily="2" charset="-78"/>
                        </a:rPr>
                        <a:t>آلیس</a:t>
                      </a:r>
                      <a:endParaRPr lang="en-US" sz="1800">
                        <a:effectLst/>
                        <a:latin typeface="Calibri" panose="020F0502020204030204" pitchFamily="34" charset="0"/>
                        <a:ea typeface="Calibri" panose="020F0502020204030204" pitchFamily="34" charset="0"/>
                        <a:cs typeface="B Nazanin" panose="00000400000000000000" pitchFamily="2" charset="-78"/>
                      </a:endParaRPr>
                    </a:p>
                  </a:txBody>
                  <a:tcPr marL="68580" marR="68580" marT="0" marB="0"/>
                </a:tc>
                <a:tc>
                  <a:txBody>
                    <a:bodyPr/>
                    <a:lstStyle/>
                    <a:p>
                      <a:pPr marL="0" marR="0" algn="r" rtl="1">
                        <a:lnSpc>
                          <a:spcPct val="107000"/>
                        </a:lnSpc>
                        <a:spcBef>
                          <a:spcPts val="0"/>
                        </a:spcBef>
                        <a:spcAft>
                          <a:spcPts val="0"/>
                        </a:spcAft>
                      </a:pPr>
                      <a:r>
                        <a:rPr lang="ar-SA" sz="2000" dirty="0">
                          <a:effectLst/>
                          <a:cs typeface="B Nazanin" panose="00000400000000000000" pitchFamily="2" charset="-78"/>
                        </a:rPr>
                        <a:t>ریاضی</a:t>
                      </a:r>
                      <a:endParaRPr lang="en-US" sz="1800" dirty="0">
                        <a:effectLst/>
                        <a:latin typeface="Calibri" panose="020F0502020204030204" pitchFamily="34" charset="0"/>
                        <a:ea typeface="Calibri" panose="020F0502020204030204" pitchFamily="34" charset="0"/>
                        <a:cs typeface="B Nazanin" panose="00000400000000000000" pitchFamily="2" charset="-78"/>
                      </a:endParaRPr>
                    </a:p>
                  </a:txBody>
                  <a:tcPr marL="68580" marR="68580" marT="0" marB="0"/>
                </a:tc>
                <a:extLst>
                  <a:ext uri="{0D108BD9-81ED-4DB2-BD59-A6C34878D82A}">
                    <a16:rowId xmlns:a16="http://schemas.microsoft.com/office/drawing/2014/main" val="3165658722"/>
                  </a:ext>
                </a:extLst>
              </a:tr>
              <a:tr h="266700">
                <a:tc>
                  <a:txBody>
                    <a:bodyPr/>
                    <a:lstStyle/>
                    <a:p>
                      <a:pPr marL="0" marR="0" algn="ctr" rtl="1">
                        <a:lnSpc>
                          <a:spcPct val="107000"/>
                        </a:lnSpc>
                        <a:spcBef>
                          <a:spcPts val="0"/>
                        </a:spcBef>
                        <a:spcAft>
                          <a:spcPts val="0"/>
                        </a:spcAft>
                      </a:pPr>
                      <a:r>
                        <a:rPr lang="en-US" sz="2000" dirty="0">
                          <a:effectLst/>
                          <a:cs typeface="B Nazanin" panose="00000400000000000000" pitchFamily="2" charset="-78"/>
                        </a:rPr>
                        <a:t>102</a:t>
                      </a:r>
                      <a:endParaRPr lang="en-US" sz="1800" dirty="0">
                        <a:effectLst/>
                        <a:latin typeface="Calibri" panose="020F0502020204030204" pitchFamily="34" charset="0"/>
                        <a:ea typeface="Calibri" panose="020F0502020204030204" pitchFamily="34" charset="0"/>
                        <a:cs typeface="B Nazanin" panose="00000400000000000000" pitchFamily="2" charset="-78"/>
                      </a:endParaRPr>
                    </a:p>
                  </a:txBody>
                  <a:tcPr marL="68580" marR="68580" marT="0" marB="0"/>
                </a:tc>
                <a:tc>
                  <a:txBody>
                    <a:bodyPr/>
                    <a:lstStyle/>
                    <a:p>
                      <a:pPr marL="0" marR="0" algn="r" rtl="1">
                        <a:lnSpc>
                          <a:spcPct val="107000"/>
                        </a:lnSpc>
                        <a:spcBef>
                          <a:spcPts val="0"/>
                        </a:spcBef>
                        <a:spcAft>
                          <a:spcPts val="0"/>
                        </a:spcAft>
                      </a:pPr>
                      <a:r>
                        <a:rPr lang="ar-SA" sz="2000" dirty="0">
                          <a:effectLst/>
                          <a:cs typeface="B Nazanin" panose="00000400000000000000" pitchFamily="2" charset="-78"/>
                        </a:rPr>
                        <a:t>باب</a:t>
                      </a:r>
                      <a:endParaRPr lang="en-US" sz="1800" dirty="0">
                        <a:effectLst/>
                        <a:latin typeface="Calibri" panose="020F0502020204030204" pitchFamily="34" charset="0"/>
                        <a:ea typeface="Calibri" panose="020F0502020204030204" pitchFamily="34" charset="0"/>
                        <a:cs typeface="B Nazanin" panose="00000400000000000000" pitchFamily="2" charset="-78"/>
                      </a:endParaRPr>
                    </a:p>
                  </a:txBody>
                  <a:tcPr marL="68580" marR="68580" marT="0" marB="0"/>
                </a:tc>
                <a:tc>
                  <a:txBody>
                    <a:bodyPr/>
                    <a:lstStyle/>
                    <a:p>
                      <a:pPr marL="0" marR="0" algn="r" rtl="1">
                        <a:lnSpc>
                          <a:spcPct val="107000"/>
                        </a:lnSpc>
                        <a:spcBef>
                          <a:spcPts val="0"/>
                        </a:spcBef>
                        <a:spcAft>
                          <a:spcPts val="0"/>
                        </a:spcAft>
                      </a:pPr>
                      <a:r>
                        <a:rPr lang="ar-SA" sz="2000">
                          <a:effectLst/>
                          <a:cs typeface="B Nazanin" panose="00000400000000000000" pitchFamily="2" charset="-78"/>
                        </a:rPr>
                        <a:t>فیزیک</a:t>
                      </a:r>
                      <a:endParaRPr lang="en-US" sz="1800">
                        <a:effectLst/>
                        <a:latin typeface="Calibri" panose="020F0502020204030204" pitchFamily="34" charset="0"/>
                        <a:ea typeface="Calibri" panose="020F0502020204030204" pitchFamily="34" charset="0"/>
                        <a:cs typeface="B Nazanin" panose="00000400000000000000" pitchFamily="2" charset="-78"/>
                      </a:endParaRPr>
                    </a:p>
                  </a:txBody>
                  <a:tcPr marL="68580" marR="68580" marT="0" marB="0"/>
                </a:tc>
                <a:extLst>
                  <a:ext uri="{0D108BD9-81ED-4DB2-BD59-A6C34878D82A}">
                    <a16:rowId xmlns:a16="http://schemas.microsoft.com/office/drawing/2014/main" val="863158277"/>
                  </a:ext>
                </a:extLst>
              </a:tr>
              <a:tr h="266700">
                <a:tc>
                  <a:txBody>
                    <a:bodyPr/>
                    <a:lstStyle/>
                    <a:p>
                      <a:pPr marL="0" marR="0" algn="ctr" rtl="1">
                        <a:lnSpc>
                          <a:spcPct val="107000"/>
                        </a:lnSpc>
                        <a:spcBef>
                          <a:spcPts val="0"/>
                        </a:spcBef>
                        <a:spcAft>
                          <a:spcPts val="0"/>
                        </a:spcAft>
                      </a:pPr>
                      <a:r>
                        <a:rPr lang="en-US" sz="2000" dirty="0">
                          <a:effectLst/>
                          <a:cs typeface="B Nazanin" panose="00000400000000000000" pitchFamily="2" charset="-78"/>
                        </a:rPr>
                        <a:t>103</a:t>
                      </a:r>
                      <a:endParaRPr lang="en-US" sz="1800" dirty="0">
                        <a:effectLst/>
                        <a:latin typeface="Calibri" panose="020F0502020204030204" pitchFamily="34" charset="0"/>
                        <a:ea typeface="Calibri" panose="020F0502020204030204" pitchFamily="34" charset="0"/>
                        <a:cs typeface="B Nazanin" panose="00000400000000000000" pitchFamily="2" charset="-78"/>
                      </a:endParaRPr>
                    </a:p>
                  </a:txBody>
                  <a:tcPr marL="68580" marR="68580" marT="0" marB="0"/>
                </a:tc>
                <a:tc>
                  <a:txBody>
                    <a:bodyPr/>
                    <a:lstStyle/>
                    <a:p>
                      <a:pPr marL="0" marR="0" algn="r" rtl="1">
                        <a:lnSpc>
                          <a:spcPct val="107000"/>
                        </a:lnSpc>
                        <a:spcBef>
                          <a:spcPts val="0"/>
                        </a:spcBef>
                        <a:spcAft>
                          <a:spcPts val="0"/>
                        </a:spcAft>
                      </a:pPr>
                      <a:r>
                        <a:rPr lang="ar-SA" sz="2000" dirty="0">
                          <a:effectLst/>
                          <a:cs typeface="B Nazanin" panose="00000400000000000000" pitchFamily="2" charset="-78"/>
                        </a:rPr>
                        <a:t>چارلی</a:t>
                      </a:r>
                      <a:endParaRPr lang="en-US" sz="1800" dirty="0">
                        <a:effectLst/>
                        <a:latin typeface="Calibri" panose="020F0502020204030204" pitchFamily="34" charset="0"/>
                        <a:ea typeface="Calibri" panose="020F0502020204030204" pitchFamily="34" charset="0"/>
                        <a:cs typeface="B Nazanin" panose="00000400000000000000" pitchFamily="2" charset="-78"/>
                      </a:endParaRPr>
                    </a:p>
                  </a:txBody>
                  <a:tcPr marL="68580" marR="68580" marT="0" marB="0"/>
                </a:tc>
                <a:tc>
                  <a:txBody>
                    <a:bodyPr/>
                    <a:lstStyle/>
                    <a:p>
                      <a:pPr marL="0" marR="0" algn="r" rtl="1">
                        <a:lnSpc>
                          <a:spcPct val="107000"/>
                        </a:lnSpc>
                        <a:spcBef>
                          <a:spcPts val="0"/>
                        </a:spcBef>
                        <a:spcAft>
                          <a:spcPts val="0"/>
                        </a:spcAft>
                      </a:pPr>
                      <a:r>
                        <a:rPr lang="ar-SA" sz="2000" dirty="0">
                          <a:effectLst/>
                          <a:cs typeface="B Nazanin" panose="00000400000000000000" pitchFamily="2" charset="-78"/>
                        </a:rPr>
                        <a:t>شیمی</a:t>
                      </a:r>
                      <a:endParaRPr lang="en-US" sz="1800" dirty="0">
                        <a:effectLst/>
                        <a:latin typeface="Calibri" panose="020F0502020204030204" pitchFamily="34" charset="0"/>
                        <a:ea typeface="Calibri" panose="020F0502020204030204" pitchFamily="34" charset="0"/>
                        <a:cs typeface="B Nazanin" panose="00000400000000000000" pitchFamily="2" charset="-78"/>
                      </a:endParaRPr>
                    </a:p>
                  </a:txBody>
                  <a:tcPr marL="68580" marR="68580" marT="0" marB="0"/>
                </a:tc>
                <a:extLst>
                  <a:ext uri="{0D108BD9-81ED-4DB2-BD59-A6C34878D82A}">
                    <a16:rowId xmlns:a16="http://schemas.microsoft.com/office/drawing/2014/main" val="3877869186"/>
                  </a:ext>
                </a:extLst>
              </a:tr>
            </a:tbl>
          </a:graphicData>
        </a:graphic>
      </p:graphicFrame>
      <p:sp>
        <p:nvSpPr>
          <p:cNvPr id="6" name="TextBox 5">
            <a:extLst>
              <a:ext uri="{FF2B5EF4-FFF2-40B4-BE49-F238E27FC236}">
                <a16:creationId xmlns:a16="http://schemas.microsoft.com/office/drawing/2014/main" id="{05E8647D-DC26-4EDD-86BB-E98AC4AC94BF}"/>
              </a:ext>
            </a:extLst>
          </p:cNvPr>
          <p:cNvSpPr txBox="1"/>
          <p:nvPr/>
        </p:nvSpPr>
        <p:spPr>
          <a:xfrm>
            <a:off x="381000" y="4495800"/>
            <a:ext cx="8458200" cy="1660134"/>
          </a:xfrm>
          <a:prstGeom prst="rect">
            <a:avLst/>
          </a:prstGeom>
          <a:noFill/>
        </p:spPr>
        <p:txBody>
          <a:bodyPr wrap="square">
            <a:spAutoFit/>
          </a:bodyPr>
          <a:lstStyle/>
          <a:p>
            <a:pPr marL="0" marR="0" algn="r" rtl="1">
              <a:lnSpc>
                <a:spcPct val="107000"/>
              </a:lnSpc>
              <a:spcBef>
                <a:spcPts val="0"/>
              </a:spcBef>
              <a:spcAft>
                <a:spcPts val="800"/>
              </a:spcAft>
            </a:pPr>
            <a:r>
              <a:rPr lang="ar-SA" sz="2800" dirty="0">
                <a:effectLst/>
                <a:latin typeface="Calibri" panose="020F0502020204030204" pitchFamily="34" charset="0"/>
                <a:ea typeface="Calibri" panose="020F0502020204030204" pitchFamily="34" charset="0"/>
                <a:cs typeface="B Nazanin" panose="00000400000000000000" pitchFamily="2" charset="-78"/>
              </a:rPr>
              <a:t>اگر</a:t>
            </a:r>
            <a:r>
              <a:rPr lang="en-US" sz="2800" dirty="0">
                <a:effectLst/>
                <a:latin typeface="Calibri" panose="020F0502020204030204" pitchFamily="34" charset="0"/>
                <a:ea typeface="Calibri" panose="020F0502020204030204" pitchFamily="34" charset="0"/>
                <a:cs typeface="B Nazanin" panose="00000400000000000000" pitchFamily="2" charset="-78"/>
              </a:rPr>
              <a:t> B </a:t>
            </a:r>
            <a:r>
              <a:rPr lang="ar-SA" sz="2800" dirty="0">
                <a:effectLst/>
                <a:latin typeface="Calibri" panose="020F0502020204030204" pitchFamily="34" charset="0"/>
                <a:ea typeface="Calibri" panose="020F0502020204030204" pitchFamily="34" charset="0"/>
                <a:cs typeface="B Nazanin" panose="00000400000000000000" pitchFamily="2" charset="-78"/>
              </a:rPr>
              <a:t>زیرمجموعه</a:t>
            </a:r>
            <a:r>
              <a:rPr lang="en-US" sz="2800" dirty="0">
                <a:effectLst/>
                <a:latin typeface="Calibri" panose="020F0502020204030204" pitchFamily="34" charset="0"/>
                <a:ea typeface="Calibri" panose="020F0502020204030204" pitchFamily="34" charset="0"/>
                <a:cs typeface="B Nazanin" panose="00000400000000000000" pitchFamily="2" charset="-78"/>
              </a:rPr>
              <a:t> A </a:t>
            </a:r>
            <a:r>
              <a:rPr lang="ar-SA" sz="2800" dirty="0">
                <a:effectLst/>
                <a:latin typeface="Calibri" panose="020F0502020204030204" pitchFamily="34" charset="0"/>
                <a:ea typeface="Calibri" panose="020F0502020204030204" pitchFamily="34" charset="0"/>
                <a:cs typeface="B Nazanin" panose="00000400000000000000" pitchFamily="2" charset="-78"/>
              </a:rPr>
              <a:t>باشد، </a:t>
            </a:r>
            <a:r>
              <a:rPr lang="en-US" sz="2800" dirty="0">
                <a:effectLst/>
                <a:latin typeface="Calibri" panose="020F0502020204030204" pitchFamily="34" charset="0"/>
                <a:ea typeface="Calibri" panose="020F0502020204030204" pitchFamily="34" charset="0"/>
                <a:cs typeface="B Nazanin" panose="00000400000000000000" pitchFamily="2" charset="-78"/>
              </a:rPr>
              <a:t>A-&gt;B</a:t>
            </a:r>
            <a:r>
              <a:rPr lang="en-US" sz="2800" dirty="0">
                <a:effectLst/>
                <a:latin typeface="Arial" panose="020B0604020202020204" pitchFamily="34" charset="0"/>
                <a:ea typeface="Calibri" panose="020F0502020204030204" pitchFamily="34" charset="0"/>
                <a:cs typeface="B Nazanin" panose="00000400000000000000" pitchFamily="2" charset="-78"/>
              </a:rPr>
              <a:t> </a:t>
            </a:r>
            <a:r>
              <a:rPr lang="ar-SA" sz="2800" dirty="0">
                <a:effectLst/>
                <a:latin typeface="Calibri" panose="020F0502020204030204" pitchFamily="34" charset="0"/>
                <a:ea typeface="Calibri" panose="020F0502020204030204" pitchFamily="34" charset="0"/>
                <a:cs typeface="B Nazanin" panose="00000400000000000000" pitchFamily="2" charset="-78"/>
              </a:rPr>
              <a:t>را وابستگي تابعي بدیهي مي نامیم</a:t>
            </a:r>
            <a:r>
              <a:rPr lang="en-US" sz="2800" dirty="0">
                <a:effectLst/>
                <a:latin typeface="Calibri" panose="020F0502020204030204" pitchFamily="34" charset="0"/>
                <a:ea typeface="Calibri" panose="020F0502020204030204" pitchFamily="34" charset="0"/>
                <a:cs typeface="B Nazanin" panose="00000400000000000000" pitchFamily="2" charset="-78"/>
              </a:rPr>
              <a:t>. </a:t>
            </a:r>
          </a:p>
          <a:p>
            <a:pPr marL="0" marR="0" algn="r" rtl="1">
              <a:lnSpc>
                <a:spcPct val="107000"/>
              </a:lnSpc>
              <a:spcBef>
                <a:spcPts val="0"/>
              </a:spcBef>
              <a:spcAft>
                <a:spcPts val="800"/>
              </a:spcAft>
            </a:pPr>
            <a:r>
              <a:rPr lang="ar-SA" sz="2800" dirty="0">
                <a:effectLst/>
                <a:latin typeface="Calibri" panose="020F0502020204030204" pitchFamily="34" charset="0"/>
                <a:ea typeface="Calibri" panose="020F0502020204030204" pitchFamily="34" charset="0"/>
                <a:cs typeface="B Nazanin" panose="00000400000000000000" pitchFamily="2" charset="-78"/>
              </a:rPr>
              <a:t> مثال</a:t>
            </a:r>
            <a:r>
              <a:rPr lang="en-US" sz="2800" dirty="0">
                <a:effectLst/>
                <a:latin typeface="Calibri" panose="020F0502020204030204" pitchFamily="34" charset="0"/>
                <a:ea typeface="Calibri" panose="020F0502020204030204" pitchFamily="34" charset="0"/>
                <a:cs typeface="B Nazanin" panose="00000400000000000000" pitchFamily="2" charset="-78"/>
              </a:rPr>
              <a:t>:</a:t>
            </a:r>
          </a:p>
          <a:p>
            <a:pPr marL="0" marR="0" algn="r" rtl="1">
              <a:lnSpc>
                <a:spcPct val="107000"/>
              </a:lnSpc>
              <a:spcBef>
                <a:spcPts val="0"/>
              </a:spcBef>
              <a:spcAft>
                <a:spcPts val="800"/>
              </a:spcAft>
            </a:pPr>
            <a:r>
              <a:rPr lang="en-US" sz="2800" dirty="0">
                <a:effectLst/>
                <a:latin typeface="Calibri" panose="020F0502020204030204" pitchFamily="34" charset="0"/>
                <a:ea typeface="Calibri" panose="020F0502020204030204" pitchFamily="34" charset="0"/>
                <a:cs typeface="B Nazanin" panose="00000400000000000000" pitchFamily="2" charset="-78"/>
              </a:rPr>
              <a:t>(</a:t>
            </a:r>
            <a:r>
              <a:rPr lang="en-US" sz="2800" dirty="0" err="1">
                <a:effectLst/>
                <a:latin typeface="Calibri" panose="020F0502020204030204" pitchFamily="34" charset="0"/>
                <a:ea typeface="Calibri" panose="020F0502020204030204" pitchFamily="34" charset="0"/>
                <a:cs typeface="B Nazanin" panose="00000400000000000000" pitchFamily="2" charset="-78"/>
              </a:rPr>
              <a:t>Sname,avg</a:t>
            </a:r>
            <a:r>
              <a:rPr lang="en-US" sz="2800" dirty="0">
                <a:effectLst/>
                <a:latin typeface="Calibri" panose="020F0502020204030204" pitchFamily="34" charset="0"/>
                <a:ea typeface="Calibri" panose="020F0502020204030204" pitchFamily="34" charset="0"/>
                <a:cs typeface="B Nazanin" panose="00000400000000000000" pitchFamily="2" charset="-78"/>
              </a:rPr>
              <a:t>)-&gt;avg</a:t>
            </a:r>
          </a:p>
        </p:txBody>
      </p:sp>
    </p:spTree>
    <p:extLst>
      <p:ext uri="{BB962C8B-B14F-4D97-AF65-F5344CB8AC3E}">
        <p14:creationId xmlns:p14="http://schemas.microsoft.com/office/powerpoint/2010/main" val="59675581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2290" name="Rectangle 2"/>
          <p:cNvSpPr>
            <a:spLocks noGrp="1" noChangeArrowheads="1"/>
          </p:cNvSpPr>
          <p:nvPr>
            <p:ph type="title"/>
          </p:nvPr>
        </p:nvSpPr>
        <p:spPr/>
        <p:txBody>
          <a:bodyPr/>
          <a:lstStyle/>
          <a:p>
            <a:pPr>
              <a:defRPr/>
            </a:pPr>
            <a:r>
              <a:rPr lang="fa-IR" dirty="0" err="1"/>
              <a:t>ویژگی‌های</a:t>
            </a:r>
            <a:r>
              <a:rPr lang="fa-IR" dirty="0"/>
              <a:t> یک طراحی </a:t>
            </a:r>
            <a:r>
              <a:rPr lang="fa-IR" dirty="0" err="1"/>
              <a:t>رابطه‌ای</a:t>
            </a:r>
            <a:r>
              <a:rPr lang="fa-IR" dirty="0"/>
              <a:t> خوب</a:t>
            </a:r>
            <a:endParaRPr lang="en-US" altLang="en-US" sz="2800" dirty="0">
              <a:effectLst>
                <a:outerShdw blurRad="38100" dist="38100" dir="2700000" algn="tl">
                  <a:srgbClr val="C0C0C0"/>
                </a:outerShdw>
              </a:effectLst>
              <a:ea typeface="ＭＳ Ｐゴシック" pitchFamily="34" charset="-128"/>
            </a:endParaRPr>
          </a:p>
        </p:txBody>
      </p:sp>
      <p:sp>
        <p:nvSpPr>
          <p:cNvPr id="8195" name="Rectangle 3"/>
          <p:cNvSpPr>
            <a:spLocks noGrp="1" noChangeArrowheads="1"/>
          </p:cNvSpPr>
          <p:nvPr>
            <p:ph idx="1"/>
          </p:nvPr>
        </p:nvSpPr>
        <p:spPr>
          <a:xfrm>
            <a:off x="752020" y="1111060"/>
            <a:ext cx="7661585" cy="5020788"/>
          </a:xfrm>
        </p:spPr>
        <p:txBody>
          <a:bodyPr/>
          <a:lstStyle/>
          <a:p>
            <a:pPr algn="r" rtl="1"/>
            <a:r>
              <a:rPr lang="fa-IR" sz="1800" dirty="0"/>
              <a:t>فرض کنید جدول </a:t>
            </a:r>
            <a:r>
              <a:rPr lang="en-US" sz="1800" dirty="0"/>
              <a:t>instructor </a:t>
            </a:r>
            <a:r>
              <a:rPr lang="fa-IR" sz="1800" dirty="0"/>
              <a:t>و </a:t>
            </a:r>
            <a:r>
              <a:rPr lang="en-US" sz="1800" dirty="0"/>
              <a:t>department </a:t>
            </a:r>
            <a:r>
              <a:rPr lang="fa-IR" sz="1800" dirty="0"/>
              <a:t>را یکی کنیم و جدولی به نام </a:t>
            </a:r>
            <a:r>
              <a:rPr lang="en-US" sz="1800" dirty="0" err="1"/>
              <a:t>in_dep</a:t>
            </a:r>
            <a:r>
              <a:rPr lang="en-US" sz="1800" dirty="0"/>
              <a:t> </a:t>
            </a:r>
            <a:r>
              <a:rPr lang="fa-IR" sz="1800" dirty="0"/>
              <a:t>بسازیم. </a:t>
            </a:r>
          </a:p>
          <a:p>
            <a:pPr algn="r" rtl="1"/>
            <a:endParaRPr lang="fa-IR" altLang="en-US" sz="1800" i="1" dirty="0"/>
          </a:p>
          <a:p>
            <a:pPr algn="r" rtl="1"/>
            <a:endParaRPr lang="fa-IR" altLang="en-US" sz="1800" i="1" dirty="0"/>
          </a:p>
          <a:p>
            <a:pPr algn="r" rtl="1"/>
            <a:endParaRPr lang="en-US" altLang="en-US" sz="1700" i="1" dirty="0"/>
          </a:p>
          <a:p>
            <a:endParaRPr lang="en-US" altLang="en-US" sz="1700" i="1" dirty="0"/>
          </a:p>
          <a:p>
            <a:endParaRPr lang="en-US" altLang="en-US" sz="1700" i="1" dirty="0"/>
          </a:p>
          <a:p>
            <a:endParaRPr lang="en-US" altLang="en-US" sz="1700" i="1" dirty="0"/>
          </a:p>
          <a:p>
            <a:endParaRPr lang="en-US" altLang="en-US" sz="1700" i="1" dirty="0"/>
          </a:p>
          <a:p>
            <a:endParaRPr lang="en-US" altLang="en-US" sz="1700" i="1" dirty="0"/>
          </a:p>
          <a:p>
            <a:endParaRPr lang="en-US" altLang="en-US" sz="1700" i="1" dirty="0"/>
          </a:p>
          <a:p>
            <a:endParaRPr lang="en-US" altLang="en-US" sz="1700" i="1" dirty="0"/>
          </a:p>
          <a:p>
            <a:pPr algn="r" rtl="1"/>
            <a:endParaRPr lang="en-US" altLang="en-US" sz="2000" dirty="0"/>
          </a:p>
          <a:p>
            <a:endParaRPr lang="fa-IR" altLang="en-US" sz="2000" i="1" dirty="0"/>
          </a:p>
          <a:p>
            <a:endParaRPr lang="en-US" altLang="en-US" sz="2000" i="1" dirty="0"/>
          </a:p>
        </p:txBody>
      </p:sp>
      <p:pic>
        <p:nvPicPr>
          <p:cNvPr id="8196" name="Picture 5" descr="8"/>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295009" y="1938289"/>
            <a:ext cx="4553982" cy="27326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 name="TextBox 2"/>
          <p:cNvSpPr txBox="1">
            <a:spLocks noChangeArrowheads="1"/>
          </p:cNvSpPr>
          <p:nvPr/>
        </p:nvSpPr>
        <p:spPr bwMode="auto">
          <a:xfrm>
            <a:off x="887104" y="5882184"/>
            <a:ext cx="7661585" cy="4001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marL="285750" indent="-285750">
              <a:defRPr sz="1600">
                <a:solidFill>
                  <a:schemeClr val="tx1"/>
                </a:solidFill>
                <a:latin typeface="Helvetica" panose="020B0604020202020204" pitchFamily="34" charset="0"/>
                <a:ea typeface="MS PGothic" panose="020B0600070205080204" pitchFamily="34" charset="-128"/>
              </a:defRPr>
            </a:lvl1pPr>
            <a:lvl2pPr marL="742950" indent="-285750">
              <a:defRPr sz="1600">
                <a:solidFill>
                  <a:schemeClr val="tx1"/>
                </a:solidFill>
                <a:latin typeface="Helvetica" panose="020B0604020202020204" pitchFamily="34" charset="0"/>
                <a:ea typeface="MS PGothic" panose="020B0600070205080204" pitchFamily="34" charset="-128"/>
              </a:defRPr>
            </a:lvl2pPr>
            <a:lvl3pPr marL="1143000" indent="-228600">
              <a:defRPr sz="1600">
                <a:solidFill>
                  <a:schemeClr val="tx1"/>
                </a:solidFill>
                <a:latin typeface="Helvetica" panose="020B0604020202020204" pitchFamily="34" charset="0"/>
                <a:ea typeface="MS PGothic" panose="020B0600070205080204" pitchFamily="34" charset="-128"/>
              </a:defRPr>
            </a:lvl3pPr>
            <a:lvl4pPr marL="1600200" indent="-228600">
              <a:defRPr sz="1600">
                <a:solidFill>
                  <a:schemeClr val="tx1"/>
                </a:solidFill>
                <a:latin typeface="Helvetica" panose="020B0604020202020204" pitchFamily="34" charset="0"/>
                <a:ea typeface="MS PGothic" panose="020B0600070205080204" pitchFamily="34" charset="-128"/>
              </a:defRPr>
            </a:lvl4pPr>
            <a:lvl5pPr marL="2057400" indent="-228600">
              <a:defRPr sz="16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pPr>
              <a:buClr>
                <a:srgbClr val="002060"/>
              </a:buClr>
              <a:buSzPct val="100000"/>
            </a:pPr>
            <a:endParaRPr lang="en-US" altLang="en-US" sz="2000" dirty="0"/>
          </a:p>
        </p:txBody>
      </p:sp>
      <p:sp>
        <p:nvSpPr>
          <p:cNvPr id="4" name="TextBox 3">
            <a:extLst>
              <a:ext uri="{FF2B5EF4-FFF2-40B4-BE49-F238E27FC236}">
                <a16:creationId xmlns:a16="http://schemas.microsoft.com/office/drawing/2014/main" id="{D87D01CA-2722-50AB-32B0-B0EFC718DBC1}"/>
              </a:ext>
            </a:extLst>
          </p:cNvPr>
          <p:cNvSpPr txBox="1"/>
          <p:nvPr/>
        </p:nvSpPr>
        <p:spPr>
          <a:xfrm>
            <a:off x="234950" y="5190979"/>
            <a:ext cx="8374478" cy="338554"/>
          </a:xfrm>
          <a:prstGeom prst="rect">
            <a:avLst/>
          </a:prstGeom>
          <a:noFill/>
        </p:spPr>
        <p:txBody>
          <a:bodyPr wrap="square">
            <a:spAutoFit/>
          </a:bodyPr>
          <a:lstStyle/>
          <a:p>
            <a:pPr algn="r" rtl="1"/>
            <a:r>
              <a:rPr lang="fa-IR" dirty="0">
                <a:cs typeface="B Nazanin" panose="00000400000000000000" pitchFamily="2" charset="-78"/>
              </a:rPr>
              <a:t>این کار باعث تکرار اطلاعات می‌شود و در مواردی مجبور می‌شویم </a:t>
            </a:r>
            <a:r>
              <a:rPr lang="en-US" dirty="0">
                <a:cs typeface="B Nazanin" panose="00000400000000000000" pitchFamily="2" charset="-78"/>
              </a:rPr>
              <a:t>NULL </a:t>
            </a:r>
            <a:r>
              <a:rPr lang="fa-IR" dirty="0">
                <a:cs typeface="B Nazanin" panose="00000400000000000000" pitchFamily="2" charset="-78"/>
              </a:rPr>
              <a:t>وارد کنیم (مثلاً وقتی دپارتمانی استاد ندارد).</a:t>
            </a:r>
            <a:endParaRPr lang="en-US" altLang="en-US" i="1" dirty="0">
              <a:cs typeface="B Nazanin" panose="00000400000000000000" pitchFamily="2" charset="-78"/>
            </a:endParaRPr>
          </a:p>
        </p:txBody>
      </p:sp>
    </p:spTree>
    <p:extLst>
      <p:ext uri="{BB962C8B-B14F-4D97-AF65-F5344CB8AC3E}">
        <p14:creationId xmlns:p14="http://schemas.microsoft.com/office/powerpoint/2010/main" val="4224244378"/>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cond evt="onBegin" delay="0">
                          <p:tn val="2"/>
                        </p:cond>
                      </p:stCondLst>
                      <p:childTnLst>
                        <p:par>
                          <p:cTn id="4" fill="hold" nodeType="withGroup">
                            <p:stCondLst>
                              <p:cond delay="0"/>
                            </p:stCondLst>
                            <p:childTnLst>
                              <p:par>
                                <p:cTn id="5" presetID="1" presetClass="entr" presetSubtype="0" fill="hold" nodeType="withEffect">
                                  <p:stCondLst>
                                    <p:cond delay="0"/>
                                  </p:stCondLst>
                                  <p:childTnLst>
                                    <p:set>
                                      <p:cBhvr>
                                        <p:cTn id="6" dur="1" fill="hold">
                                          <p:stCondLst>
                                            <p:cond delay="0"/>
                                          </p:stCondLst>
                                        </p:cTn>
                                        <p:tgtEl>
                                          <p:spTgt spid="8196"/>
                                        </p:tgtEl>
                                        <p:attrNameLst>
                                          <p:attrName>style.visibility</p:attrName>
                                        </p:attrNameLst>
                                      </p:cBhvr>
                                      <p:to>
                                        <p:strVal val="visible"/>
                                      </p:to>
                                    </p:set>
                                  </p:childTnLst>
                                </p:cTn>
                              </p:par>
                            </p:childTnLst>
                          </p:cTn>
                        </p:par>
                      </p:childTnLst>
                    </p:cTn>
                  </p:par>
                  <p:par>
                    <p:cTn id="7" fill="hold" nodeType="clickPar">
                      <p:stCondLst>
                        <p:cond delay="indefinite"/>
                      </p:stCondLst>
                      <p:childTnLst>
                        <p:par>
                          <p:cTn id="8" fill="hold" nodeType="withGroup">
                            <p:stCondLst>
                              <p:cond delay="0"/>
                            </p:stCondLst>
                            <p:childTnLst>
                              <p:par>
                                <p:cTn id="9" presetID="1" presetClass="entr" presetSubtype="0" fill="hold" grpId="0" nodeType="clickEffect" nodePh="1">
                                  <p:stCondLst>
                                    <p:cond delay="0"/>
                                  </p:stCondLst>
                                  <p:endCondLst>
                                    <p:cond evt="begin" delay="0">
                                      <p:tn val="9"/>
                                    </p:cond>
                                  </p:endCondLst>
                                  <p:childTnLst>
                                    <p:set>
                                      <p:cBhvr>
                                        <p:cTn id="10" dur="1" fill="hold">
                                          <p:stCondLst>
                                            <p:cond delay="0"/>
                                          </p:stCondLst>
                                        </p:cTn>
                                        <p:tgtEl>
                                          <p:spTgt spid="3"/>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4" grpId="0"/>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B99B505-7B22-4D04-AFB6-0BBD2C26C34C}"/>
              </a:ext>
            </a:extLst>
          </p:cNvPr>
          <p:cNvSpPr>
            <a:spLocks noGrp="1"/>
          </p:cNvSpPr>
          <p:nvPr>
            <p:ph type="title"/>
          </p:nvPr>
        </p:nvSpPr>
        <p:spPr/>
        <p:txBody>
          <a:bodyPr/>
          <a:lstStyle/>
          <a:p>
            <a:r>
              <a:rPr lang="ar-SA" sz="2800" b="1" dirty="0">
                <a:effectLst/>
                <a:latin typeface="Times New Roman" panose="02020603050405020304" pitchFamily="18" charset="0"/>
                <a:ea typeface="Times New Roman" panose="02020603050405020304" pitchFamily="18" charset="0"/>
                <a:cs typeface="B Nazanin" panose="00000400000000000000" pitchFamily="2" charset="-78"/>
              </a:rPr>
              <a:t>وابستگی تابعی</a:t>
            </a:r>
            <a:r>
              <a:rPr lang="en-US" sz="2800" b="1" dirty="0">
                <a:effectLst/>
                <a:latin typeface="Times New Roman" panose="02020603050405020304" pitchFamily="18" charset="0"/>
                <a:ea typeface="Times New Roman" panose="02020603050405020304" pitchFamily="18" charset="0"/>
                <a:cs typeface="B Nazanin" panose="00000400000000000000" pitchFamily="2" charset="-78"/>
              </a:rPr>
              <a:t> (Functional Dependency) </a:t>
            </a:r>
            <a:r>
              <a:rPr lang="ar-SA" sz="2800" b="1" dirty="0">
                <a:effectLst/>
                <a:latin typeface="Times New Roman" panose="02020603050405020304" pitchFamily="18" charset="0"/>
                <a:ea typeface="Times New Roman" panose="02020603050405020304" pitchFamily="18" charset="0"/>
                <a:cs typeface="B Nazanin" panose="00000400000000000000" pitchFamily="2" charset="-78"/>
              </a:rPr>
              <a:t>در پایگاه داده</a:t>
            </a:r>
            <a:endParaRPr lang="en-US" dirty="0"/>
          </a:p>
        </p:txBody>
      </p:sp>
      <p:sp>
        <p:nvSpPr>
          <p:cNvPr id="3" name="Content Placeholder 2">
            <a:extLst>
              <a:ext uri="{FF2B5EF4-FFF2-40B4-BE49-F238E27FC236}">
                <a16:creationId xmlns:a16="http://schemas.microsoft.com/office/drawing/2014/main" id="{1BC9B834-96AB-4CB7-BAA8-A5220B848B9C}"/>
              </a:ext>
            </a:extLst>
          </p:cNvPr>
          <p:cNvSpPr>
            <a:spLocks noGrp="1"/>
          </p:cNvSpPr>
          <p:nvPr>
            <p:ph idx="1"/>
          </p:nvPr>
        </p:nvSpPr>
        <p:spPr>
          <a:xfrm>
            <a:off x="304800" y="838200"/>
            <a:ext cx="8540749" cy="5544493"/>
          </a:xfrm>
        </p:spPr>
        <p:txBody>
          <a:bodyPr/>
          <a:lstStyle/>
          <a:p>
            <a:pPr algn="r" rtl="1"/>
            <a:r>
              <a:rPr lang="fa-IR" sz="2400" dirty="0"/>
              <a:t>وابستگی تابعی کامل </a:t>
            </a:r>
            <a:r>
              <a:rPr lang="en-US" sz="2400" dirty="0"/>
              <a:t>FFD</a:t>
            </a:r>
          </a:p>
          <a:p>
            <a:pPr algn="r" rtl="1"/>
            <a:r>
              <a:rPr lang="fa-IR" sz="2400" dirty="0"/>
              <a:t>صفت خاصه </a:t>
            </a:r>
            <a:r>
              <a:rPr lang="en-US" sz="2400" dirty="0"/>
              <a:t>y </a:t>
            </a:r>
            <a:r>
              <a:rPr lang="fa-IR" sz="2400" dirty="0"/>
              <a:t> به صفت خاصه </a:t>
            </a:r>
            <a:r>
              <a:rPr lang="en-US" sz="2400" dirty="0"/>
              <a:t>x </a:t>
            </a:r>
            <a:r>
              <a:rPr lang="fa-IR" sz="2400" dirty="0"/>
              <a:t> وابستگی تابعی کامل دارد اگر </a:t>
            </a:r>
            <a:r>
              <a:rPr lang="en-US" sz="2400" dirty="0"/>
              <a:t>y</a:t>
            </a:r>
            <a:r>
              <a:rPr lang="fa-IR" sz="2400" dirty="0"/>
              <a:t> به </a:t>
            </a:r>
            <a:r>
              <a:rPr lang="en-US" sz="2400" dirty="0"/>
              <a:t>x </a:t>
            </a:r>
            <a:r>
              <a:rPr lang="fa-IR" sz="2400" dirty="0"/>
              <a:t> وابسته باشد ولی با هیچ یک از زیرمجموعه‌های </a:t>
            </a:r>
            <a:r>
              <a:rPr lang="en-US" sz="2400" dirty="0"/>
              <a:t>x</a:t>
            </a:r>
            <a:r>
              <a:rPr lang="fa-IR" sz="2400" dirty="0"/>
              <a:t> وابستگی تابعی نداشته باشد. </a:t>
            </a:r>
            <a:endParaRPr lang="en-US" sz="2400" dirty="0"/>
          </a:p>
          <a:p>
            <a:pPr algn="r" rtl="1"/>
            <a:r>
              <a:rPr lang="fa-IR" sz="2400" dirty="0"/>
              <a:t>رابطه دانشجوی زیر را درنظر بگیرید</a:t>
            </a:r>
          </a:p>
          <a:p>
            <a:pPr algn="r" rtl="1"/>
            <a:r>
              <a:rPr lang="en-US" sz="2400" dirty="0"/>
              <a:t>S#,SNAME, City, AVG, Department</a:t>
            </a:r>
            <a:endParaRPr lang="fa-IR" sz="2400" dirty="0"/>
          </a:p>
          <a:p>
            <a:pPr algn="r" rtl="1"/>
            <a:r>
              <a:rPr lang="fa-IR" sz="2400" dirty="0"/>
              <a:t>وابستگی تابعی زیر وجود دارد</a:t>
            </a:r>
          </a:p>
          <a:p>
            <a:pPr algn="ctr" rtl="1"/>
            <a:r>
              <a:rPr lang="en-US" sz="2400" dirty="0"/>
              <a:t>(S#,SNAME)-&gt;City</a:t>
            </a:r>
            <a:endParaRPr lang="fa-IR" sz="2400" dirty="0"/>
          </a:p>
          <a:p>
            <a:pPr algn="r" rtl="1"/>
            <a:r>
              <a:rPr lang="fa-IR" sz="2400" dirty="0"/>
              <a:t>آیا وابستگی تابعی کامل هست؟</a:t>
            </a:r>
          </a:p>
          <a:p>
            <a:pPr algn="r" rtl="1"/>
            <a:r>
              <a:rPr lang="fa-IR" sz="2400" dirty="0"/>
              <a:t>اگر برای تمامی صفت‌های </a:t>
            </a:r>
            <a:r>
              <a:rPr lang="en-US" sz="2400" dirty="0"/>
              <a:t>B</a:t>
            </a:r>
            <a:r>
              <a:rPr lang="fa-IR" sz="2400" dirty="0"/>
              <a:t> داشته باشیم </a:t>
            </a:r>
            <a:r>
              <a:rPr lang="en-US" sz="2400" dirty="0"/>
              <a:t>A-&gt;B</a:t>
            </a:r>
            <a:r>
              <a:rPr lang="fa-IR" sz="2400" dirty="0"/>
              <a:t> انگاه </a:t>
            </a:r>
            <a:r>
              <a:rPr lang="en-US" sz="2400" dirty="0"/>
              <a:t>A</a:t>
            </a:r>
            <a:r>
              <a:rPr lang="fa-IR" sz="2400" dirty="0"/>
              <a:t> ابر کلید هست. </a:t>
            </a:r>
            <a:endParaRPr lang="en-US" sz="2400" dirty="0"/>
          </a:p>
        </p:txBody>
      </p:sp>
    </p:spTree>
    <p:extLst>
      <p:ext uri="{BB962C8B-B14F-4D97-AF65-F5344CB8AC3E}">
        <p14:creationId xmlns:p14="http://schemas.microsoft.com/office/powerpoint/2010/main" val="328515147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B99B505-7B22-4D04-AFB6-0BBD2C26C34C}"/>
              </a:ext>
            </a:extLst>
          </p:cNvPr>
          <p:cNvSpPr>
            <a:spLocks noGrp="1"/>
          </p:cNvSpPr>
          <p:nvPr>
            <p:ph type="title"/>
          </p:nvPr>
        </p:nvSpPr>
        <p:spPr/>
        <p:txBody>
          <a:bodyPr/>
          <a:lstStyle/>
          <a:p>
            <a:r>
              <a:rPr lang="ar-SA" sz="2800" b="1" dirty="0">
                <a:effectLst/>
                <a:latin typeface="Times New Roman" panose="02020603050405020304" pitchFamily="18" charset="0"/>
                <a:ea typeface="Times New Roman" panose="02020603050405020304" pitchFamily="18" charset="0"/>
                <a:cs typeface="B Nazanin" panose="00000400000000000000" pitchFamily="2" charset="-78"/>
              </a:rPr>
              <a:t>وابستگی تابعی</a:t>
            </a:r>
            <a:r>
              <a:rPr lang="en-US" sz="2800" b="1" dirty="0">
                <a:effectLst/>
                <a:latin typeface="Times New Roman" panose="02020603050405020304" pitchFamily="18" charset="0"/>
                <a:ea typeface="Times New Roman" panose="02020603050405020304" pitchFamily="18" charset="0"/>
                <a:cs typeface="B Nazanin" panose="00000400000000000000" pitchFamily="2" charset="-78"/>
              </a:rPr>
              <a:t> (Functional Dependency) </a:t>
            </a:r>
            <a:r>
              <a:rPr lang="ar-SA" sz="2800" b="1" dirty="0">
                <a:effectLst/>
                <a:latin typeface="Times New Roman" panose="02020603050405020304" pitchFamily="18" charset="0"/>
                <a:ea typeface="Times New Roman" panose="02020603050405020304" pitchFamily="18" charset="0"/>
                <a:cs typeface="B Nazanin" panose="00000400000000000000" pitchFamily="2" charset="-78"/>
              </a:rPr>
              <a:t>در پایگاه داده</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1BC9B834-96AB-4CB7-BAA8-A5220B848B9C}"/>
                  </a:ext>
                </a:extLst>
              </p:cNvPr>
              <p:cNvSpPr>
                <a:spLocks noGrp="1"/>
              </p:cNvSpPr>
              <p:nvPr>
                <p:ph idx="1"/>
              </p:nvPr>
            </p:nvSpPr>
            <p:spPr>
              <a:xfrm>
                <a:off x="304800" y="838200"/>
                <a:ext cx="8540749" cy="5544493"/>
              </a:xfrm>
            </p:spPr>
            <p:txBody>
              <a:bodyPr/>
              <a:lstStyle/>
              <a:p>
                <a:pPr marL="0" marR="0" algn="r" rtl="1">
                  <a:lnSpc>
                    <a:spcPct val="107000"/>
                  </a:lnSpc>
                  <a:spcBef>
                    <a:spcPts val="0"/>
                  </a:spcBef>
                  <a:spcAft>
                    <a:spcPts val="800"/>
                  </a:spcAft>
                </a:pPr>
                <a:r>
                  <a:rPr lang="ar-SA" sz="3200" dirty="0">
                    <a:effectLst/>
                    <a:latin typeface="Calibri" panose="020F0502020204030204" pitchFamily="34" charset="0"/>
                    <a:ea typeface="Calibri" panose="020F0502020204030204" pitchFamily="34" charset="0"/>
                  </a:rPr>
                  <a:t>اگر</a:t>
                </a:r>
                <a:r>
                  <a:rPr lang="en-US" sz="3200" dirty="0">
                    <a:effectLst/>
                    <a:latin typeface="Calibri" panose="020F0502020204030204" pitchFamily="34" charset="0"/>
                    <a:ea typeface="Calibri" panose="020F0502020204030204" pitchFamily="34" charset="0"/>
                  </a:rPr>
                  <a:t> F </a:t>
                </a:r>
                <a:r>
                  <a:rPr lang="ar-SA" sz="3200" dirty="0">
                    <a:effectLst/>
                    <a:latin typeface="Calibri" panose="020F0502020204030204" pitchFamily="34" charset="0"/>
                    <a:ea typeface="Calibri" panose="020F0502020204030204" pitchFamily="34" charset="0"/>
                  </a:rPr>
                  <a:t>یک مجموعه از وابستگي هاي تابعي باشد آنگاه مجموعه تمام وابستگي هاي تابعي که از آن منتج مي شود را</a:t>
                </a:r>
                <a:r>
                  <a:rPr lang="fa-IR" sz="3200" dirty="0">
                    <a:effectLst/>
                    <a:latin typeface="Calibri" panose="020F0502020204030204" pitchFamily="34" charset="0"/>
                    <a:ea typeface="Calibri" panose="020F0502020204030204" pitchFamily="34" charset="0"/>
                  </a:rPr>
                  <a:t> مجموعه پوششی </a:t>
                </a:r>
                <a:r>
                  <a:rPr lang="en-US" sz="3200" dirty="0">
                    <a:effectLst/>
                    <a:latin typeface="Calibri" panose="020F0502020204030204" pitchFamily="34" charset="0"/>
                    <a:ea typeface="Calibri" panose="020F0502020204030204" pitchFamily="34" charset="0"/>
                  </a:rPr>
                  <a:t>f</a:t>
                </a:r>
                <a:r>
                  <a:rPr lang="fa-IR" sz="3200" dirty="0">
                    <a:effectLst/>
                    <a:latin typeface="Calibri" panose="020F0502020204030204" pitchFamily="34" charset="0"/>
                    <a:ea typeface="Calibri" panose="020F0502020204030204" pitchFamily="34" charset="0"/>
                  </a:rPr>
                  <a:t> می‌نامیم و با </a:t>
                </a:r>
                <a14:m>
                  <m:oMath xmlns:m="http://schemas.openxmlformats.org/officeDocument/2006/math">
                    <m:sSup>
                      <m:sSupPr>
                        <m:ctrlPr>
                          <a:rPr lang="en-US" sz="3200" i="1">
                            <a:effectLst/>
                            <a:latin typeface="Cambria Math" panose="02040503050406030204" pitchFamily="18" charset="0"/>
                            <a:ea typeface="Calibri" panose="020F0502020204030204" pitchFamily="34" charset="0"/>
                            <a:cs typeface="Arial" panose="020B0604020202020204" pitchFamily="34" charset="0"/>
                          </a:rPr>
                        </m:ctrlPr>
                      </m:sSupPr>
                      <m:e>
                        <m:r>
                          <a:rPr lang="en-US" sz="3200" i="1">
                            <a:effectLst/>
                            <a:latin typeface="Cambria Math" panose="02040503050406030204" pitchFamily="18" charset="0"/>
                            <a:ea typeface="Calibri" panose="020F0502020204030204" pitchFamily="34" charset="0"/>
                            <a:cs typeface="Arial" panose="020B0604020202020204" pitchFamily="34" charset="0"/>
                          </a:rPr>
                          <m:t>𝑓</m:t>
                        </m:r>
                      </m:e>
                      <m:sup>
                        <m:r>
                          <a:rPr lang="en-US" sz="3200" i="1">
                            <a:effectLst/>
                            <a:latin typeface="Cambria Math" panose="02040503050406030204" pitchFamily="18" charset="0"/>
                            <a:ea typeface="Calibri" panose="020F0502020204030204" pitchFamily="34" charset="0"/>
                            <a:cs typeface="Arial" panose="020B0604020202020204" pitchFamily="34" charset="0"/>
                          </a:rPr>
                          <m:t>+</m:t>
                        </m:r>
                      </m:sup>
                    </m:sSup>
                  </m:oMath>
                </a14:m>
                <a:r>
                  <a:rPr lang="en-US" sz="3200" dirty="0">
                    <a:effectLst/>
                    <a:latin typeface="Arial" panose="020B0604020202020204" pitchFamily="34" charset="0"/>
                    <a:ea typeface="Calibri" panose="020F0502020204030204" pitchFamily="34" charset="0"/>
                  </a:rPr>
                  <a:t> </a:t>
                </a:r>
                <a:r>
                  <a:rPr lang="ar-SA" sz="3200" dirty="0">
                    <a:effectLst/>
                    <a:latin typeface="Arial" panose="020B0604020202020204" pitchFamily="34" charset="0"/>
                    <a:ea typeface="Calibri" panose="020F0502020204030204" pitchFamily="34" charset="0"/>
                  </a:rPr>
                  <a:t>نمایش مي دهیم</a:t>
                </a:r>
                <a:r>
                  <a:rPr lang="en-US" sz="3200" dirty="0">
                    <a:effectLst/>
                    <a:latin typeface="Calibri" panose="020F0502020204030204" pitchFamily="34" charset="0"/>
                    <a:ea typeface="Calibri" panose="020F0502020204030204" pitchFamily="34" charset="0"/>
                  </a:rPr>
                  <a:t>. </a:t>
                </a:r>
              </a:p>
            </p:txBody>
          </p:sp>
        </mc:Choice>
        <mc:Fallback xmlns="">
          <p:sp>
            <p:nvSpPr>
              <p:cNvPr id="3" name="Content Placeholder 2">
                <a:extLst>
                  <a:ext uri="{FF2B5EF4-FFF2-40B4-BE49-F238E27FC236}">
                    <a16:creationId xmlns:a16="http://schemas.microsoft.com/office/drawing/2014/main" id="{1BC9B834-96AB-4CB7-BAA8-A5220B848B9C}"/>
                  </a:ext>
                </a:extLst>
              </p:cNvPr>
              <p:cNvSpPr>
                <a:spLocks noGrp="1" noRot="1" noChangeAspect="1" noMove="1" noResize="1" noEditPoints="1" noAdjustHandles="1" noChangeArrowheads="1" noChangeShapeType="1" noTextEdit="1"/>
              </p:cNvSpPr>
              <p:nvPr>
                <p:ph idx="1"/>
              </p:nvPr>
            </p:nvSpPr>
            <p:spPr>
              <a:xfrm>
                <a:off x="304800" y="838200"/>
                <a:ext cx="8540749" cy="5544493"/>
              </a:xfrm>
              <a:blipFill>
                <a:blip r:embed="rId3"/>
                <a:stretch>
                  <a:fillRect t="-2090" r="-1927"/>
                </a:stretch>
              </a:blipFill>
            </p:spPr>
            <p:txBody>
              <a:bodyPr/>
              <a:lstStyle/>
              <a:p>
                <a:r>
                  <a:rPr lang="en-US">
                    <a:noFill/>
                  </a:rPr>
                  <a:t> </a:t>
                </a:r>
              </a:p>
            </p:txBody>
          </p:sp>
        </mc:Fallback>
      </mc:AlternateContent>
    </p:spTree>
    <p:extLst>
      <p:ext uri="{BB962C8B-B14F-4D97-AF65-F5344CB8AC3E}">
        <p14:creationId xmlns:p14="http://schemas.microsoft.com/office/powerpoint/2010/main" val="3460288688"/>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72BB516-14A3-4CD5-8A39-7DB80DEF1FFB}"/>
              </a:ext>
            </a:extLst>
          </p:cNvPr>
          <p:cNvSpPr>
            <a:spLocks noGrp="1"/>
          </p:cNvSpPr>
          <p:nvPr>
            <p:ph type="title"/>
          </p:nvPr>
        </p:nvSpPr>
        <p:spPr/>
        <p:txBody>
          <a:bodyPr/>
          <a:lstStyle/>
          <a:p>
            <a:pPr marL="0" marR="0" rtl="1">
              <a:lnSpc>
                <a:spcPct val="107000"/>
              </a:lnSpc>
              <a:spcBef>
                <a:spcPts val="0"/>
              </a:spcBef>
              <a:spcAft>
                <a:spcPts val="800"/>
              </a:spcAft>
            </a:pPr>
            <a:r>
              <a:rPr lang="ar-SA" sz="2800" dirty="0">
                <a:effectLst/>
                <a:latin typeface="Calibri" panose="020F0502020204030204" pitchFamily="34" charset="0"/>
                <a:ea typeface="Calibri" panose="020F0502020204030204" pitchFamily="34" charset="0"/>
                <a:cs typeface="B Nazanin" panose="00000400000000000000" pitchFamily="2" charset="-78"/>
              </a:rPr>
              <a:t>قواعد استنتاج آرمسترانگ </a:t>
            </a:r>
            <a:endParaRPr lang="en-US" sz="2800" dirty="0">
              <a:effectLst/>
              <a:latin typeface="Calibri" panose="020F0502020204030204" pitchFamily="34" charset="0"/>
              <a:ea typeface="Calibri" panose="020F0502020204030204" pitchFamily="34" charset="0"/>
              <a:cs typeface="Arial" panose="020B0604020202020204" pitchFamily="34" charset="0"/>
            </a:endParaRPr>
          </a:p>
        </p:txBody>
      </p:sp>
      <p:sp>
        <p:nvSpPr>
          <p:cNvPr id="3" name="Content Placeholder 2">
            <a:extLst>
              <a:ext uri="{FF2B5EF4-FFF2-40B4-BE49-F238E27FC236}">
                <a16:creationId xmlns:a16="http://schemas.microsoft.com/office/drawing/2014/main" id="{95691051-C460-4EFA-87A0-0E24828FB890}"/>
              </a:ext>
            </a:extLst>
          </p:cNvPr>
          <p:cNvSpPr>
            <a:spLocks noGrp="1"/>
          </p:cNvSpPr>
          <p:nvPr>
            <p:ph idx="1"/>
          </p:nvPr>
        </p:nvSpPr>
        <p:spPr>
          <a:xfrm>
            <a:off x="76200" y="1169988"/>
            <a:ext cx="8769349" cy="5383212"/>
          </a:xfrm>
        </p:spPr>
        <p:txBody>
          <a:bodyPr/>
          <a:lstStyle/>
          <a:p>
            <a:pPr marL="342900" marR="0" lvl="0" indent="-342900" algn="r" rtl="1">
              <a:lnSpc>
                <a:spcPct val="107000"/>
              </a:lnSpc>
              <a:spcBef>
                <a:spcPts val="0"/>
              </a:spcBef>
              <a:spcAft>
                <a:spcPts val="800"/>
              </a:spcAft>
              <a:buFont typeface="+mj-lt"/>
              <a:buAutoNum type="arabicPeriod"/>
            </a:pPr>
            <a:r>
              <a:rPr lang="en-US" sz="3200" dirty="0">
                <a:effectLst/>
                <a:latin typeface="Calibri" panose="020F0502020204030204" pitchFamily="34" charset="0"/>
                <a:ea typeface="Calibri" panose="020F0502020204030204" pitchFamily="34" charset="0"/>
                <a:cs typeface="B Nazanin" panose="00000400000000000000" pitchFamily="2" charset="-78"/>
              </a:rPr>
              <a:t>if B</a:t>
            </a:r>
            <a:r>
              <a:rPr lang="en-US" sz="3200" dirty="0">
                <a:effectLst/>
                <a:latin typeface="Cambria Math" panose="02040503050406030204" pitchFamily="18" charset="0"/>
                <a:ea typeface="Calibri" panose="020F0502020204030204" pitchFamily="34" charset="0"/>
                <a:cs typeface="B Nazanin" panose="00000400000000000000" pitchFamily="2" charset="-78"/>
              </a:rPr>
              <a:t>⊆</a:t>
            </a:r>
            <a:r>
              <a:rPr lang="en-US" sz="3200" dirty="0">
                <a:effectLst/>
                <a:latin typeface="Calibri" panose="020F0502020204030204" pitchFamily="34" charset="0"/>
                <a:ea typeface="Calibri" panose="020F0502020204030204" pitchFamily="34" charset="0"/>
                <a:cs typeface="B Nazanin" panose="00000400000000000000" pitchFamily="2" charset="-78"/>
              </a:rPr>
              <a:t>A then A→B </a:t>
            </a:r>
            <a:r>
              <a:rPr lang="en-US" sz="3200" dirty="0">
                <a:effectLst/>
                <a:latin typeface="Cambria Math" panose="02040503050406030204" pitchFamily="18" charset="0"/>
                <a:ea typeface="Calibri" panose="020F0502020204030204" pitchFamily="34" charset="0"/>
                <a:cs typeface="B Nazanin" panose="00000400000000000000" pitchFamily="2" charset="-78"/>
              </a:rPr>
              <a:t>⇒</a:t>
            </a:r>
            <a:r>
              <a:rPr lang="en-US" sz="3200" dirty="0">
                <a:effectLst/>
                <a:latin typeface="Calibri" panose="020F0502020204030204" pitchFamily="34" charset="0"/>
                <a:ea typeface="Calibri" panose="020F0502020204030204" pitchFamily="34" charset="0"/>
                <a:cs typeface="B Nazanin" panose="00000400000000000000" pitchFamily="2" charset="-78"/>
              </a:rPr>
              <a:t> A→A </a:t>
            </a:r>
            <a:r>
              <a:rPr lang="fa-IR" sz="3200" dirty="0">
                <a:effectLst/>
                <a:latin typeface="Calibri" panose="020F0502020204030204" pitchFamily="34" charset="0"/>
                <a:ea typeface="Calibri" panose="020F0502020204030204" pitchFamily="34" charset="0"/>
                <a:cs typeface="B Nazanin" panose="00000400000000000000" pitchFamily="2" charset="-78"/>
              </a:rPr>
              <a:t>     </a:t>
            </a:r>
            <a:r>
              <a:rPr lang="ar-SA" sz="3200" dirty="0">
                <a:solidFill>
                  <a:srgbClr val="FF0000"/>
                </a:solidFill>
                <a:effectLst/>
                <a:latin typeface="Calibri" panose="020F0502020204030204" pitchFamily="34" charset="0"/>
                <a:ea typeface="Calibri" panose="020F0502020204030204" pitchFamily="34" charset="0"/>
                <a:cs typeface="B Nazanin" panose="00000400000000000000" pitchFamily="2" charset="-78"/>
              </a:rPr>
              <a:t> قاعده</a:t>
            </a:r>
            <a:r>
              <a:rPr lang="fa-IR" sz="3200" dirty="0">
                <a:solidFill>
                  <a:srgbClr val="FF0000"/>
                </a:solidFill>
                <a:latin typeface="Calibri" panose="020F0502020204030204" pitchFamily="34" charset="0"/>
                <a:ea typeface="Calibri" panose="020F0502020204030204" pitchFamily="34" charset="0"/>
              </a:rPr>
              <a:t> </a:t>
            </a:r>
            <a:r>
              <a:rPr lang="ar-SA" sz="3200" dirty="0">
                <a:solidFill>
                  <a:srgbClr val="FF0000"/>
                </a:solidFill>
                <a:effectLst/>
                <a:latin typeface="Calibri" panose="020F0502020204030204" pitchFamily="34" charset="0"/>
                <a:ea typeface="Calibri" panose="020F0502020204030204" pitchFamily="34" charset="0"/>
                <a:cs typeface="B Nazanin" panose="00000400000000000000" pitchFamily="2" charset="-78"/>
              </a:rPr>
              <a:t>انعکاسی</a:t>
            </a:r>
            <a:endParaRPr lang="en-US" sz="3200" dirty="0">
              <a:solidFill>
                <a:srgbClr val="FF0000"/>
              </a:solidFill>
              <a:effectLst/>
              <a:latin typeface="Calibri" panose="020F0502020204030204" pitchFamily="34" charset="0"/>
              <a:ea typeface="Calibri" panose="020F0502020204030204" pitchFamily="34" charset="0"/>
              <a:cs typeface="Arial" panose="020B0604020202020204" pitchFamily="34" charset="0"/>
            </a:endParaRPr>
          </a:p>
          <a:p>
            <a:pPr lvl="0" algn="r" rtl="1">
              <a:lnSpc>
                <a:spcPct val="107000"/>
              </a:lnSpc>
              <a:spcBef>
                <a:spcPts val="0"/>
              </a:spcBef>
              <a:spcAft>
                <a:spcPts val="800"/>
              </a:spcAft>
              <a:buFont typeface="+mj-lt"/>
              <a:buAutoNum type="arabicPeriod"/>
            </a:pPr>
            <a:r>
              <a:rPr lang="en-US" sz="3200" dirty="0">
                <a:effectLst/>
                <a:latin typeface="Calibri" panose="020F0502020204030204" pitchFamily="34" charset="0"/>
                <a:ea typeface="Calibri" panose="020F0502020204030204" pitchFamily="34" charset="0"/>
                <a:cs typeface="B Nazanin" panose="00000400000000000000" pitchFamily="2" charset="-78"/>
              </a:rPr>
              <a:t>   if A→B and B→C then A→C </a:t>
            </a:r>
            <a:r>
              <a:rPr lang="ar-SA" sz="3200" dirty="0">
                <a:solidFill>
                  <a:srgbClr val="FF0000"/>
                </a:solidFill>
                <a:effectLst/>
                <a:latin typeface="Calibri" panose="020F0502020204030204" pitchFamily="34" charset="0"/>
                <a:ea typeface="Calibri" panose="020F0502020204030204" pitchFamily="34" charset="0"/>
                <a:cs typeface="B Nazanin" panose="00000400000000000000" pitchFamily="2" charset="-78"/>
              </a:rPr>
              <a:t>تراگذاري یا </a:t>
            </a:r>
            <a:r>
              <a:rPr lang="ar-SA" sz="3200" dirty="0">
                <a:solidFill>
                  <a:srgbClr val="FF0000"/>
                </a:solidFill>
                <a:latin typeface="Calibri" panose="020F0502020204030204" pitchFamily="34" charset="0"/>
                <a:ea typeface="Calibri" panose="020F0502020204030204" pitchFamily="34" charset="0"/>
              </a:rPr>
              <a:t>قاعده</a:t>
            </a:r>
            <a:r>
              <a:rPr lang="fa-IR" sz="3200" dirty="0">
                <a:solidFill>
                  <a:srgbClr val="FF0000"/>
                </a:solidFill>
                <a:latin typeface="Calibri" panose="020F0502020204030204" pitchFamily="34" charset="0"/>
                <a:ea typeface="Calibri" panose="020F0502020204030204" pitchFamily="34" charset="0"/>
              </a:rPr>
              <a:t> </a:t>
            </a:r>
            <a:r>
              <a:rPr lang="ar-SA" sz="3200" dirty="0">
                <a:solidFill>
                  <a:srgbClr val="FF0000"/>
                </a:solidFill>
                <a:latin typeface="Calibri" panose="020F0502020204030204" pitchFamily="34" charset="0"/>
                <a:ea typeface="Calibri" panose="020F0502020204030204" pitchFamily="34" charset="0"/>
              </a:rPr>
              <a:t>تعدي</a:t>
            </a:r>
            <a:endParaRPr lang="en-US" sz="3200" dirty="0">
              <a:solidFill>
                <a:srgbClr val="FF0000"/>
              </a:solidFill>
              <a:effectLst/>
              <a:latin typeface="Calibri" panose="020F0502020204030204" pitchFamily="34" charset="0"/>
              <a:ea typeface="Calibri" panose="020F0502020204030204" pitchFamily="34" charset="0"/>
              <a:cs typeface="Arial" panose="020B0604020202020204" pitchFamily="34" charset="0"/>
            </a:endParaRPr>
          </a:p>
          <a:p>
            <a:pPr lvl="0" algn="r" rtl="1">
              <a:lnSpc>
                <a:spcPct val="107000"/>
              </a:lnSpc>
              <a:spcBef>
                <a:spcPts val="0"/>
              </a:spcBef>
              <a:spcAft>
                <a:spcPts val="800"/>
              </a:spcAft>
              <a:buFont typeface="+mj-lt"/>
              <a:buAutoNum type="arabicPeriod"/>
            </a:pPr>
            <a:r>
              <a:rPr lang="en-US" sz="3200" dirty="0">
                <a:effectLst/>
                <a:latin typeface="Calibri" panose="020F0502020204030204" pitchFamily="34" charset="0"/>
                <a:ea typeface="Calibri" panose="020F0502020204030204" pitchFamily="34" charset="0"/>
                <a:cs typeface="B Nazanin" panose="00000400000000000000" pitchFamily="2" charset="-78"/>
              </a:rPr>
              <a:t> if A→B then (A,C)→(B,C) </a:t>
            </a:r>
            <a:r>
              <a:rPr lang="fa-IR" sz="3200" dirty="0">
                <a:effectLst/>
                <a:latin typeface="Calibri" panose="020F0502020204030204" pitchFamily="34" charset="0"/>
                <a:ea typeface="Calibri" panose="020F0502020204030204" pitchFamily="34" charset="0"/>
                <a:cs typeface="B Nazanin" panose="00000400000000000000" pitchFamily="2" charset="-78"/>
              </a:rPr>
              <a:t>             </a:t>
            </a:r>
            <a:r>
              <a:rPr lang="ar-SA" sz="3200" dirty="0">
                <a:solidFill>
                  <a:srgbClr val="FF0000"/>
                </a:solidFill>
                <a:latin typeface="Calibri" panose="020F0502020204030204" pitchFamily="34" charset="0"/>
                <a:ea typeface="Calibri" panose="020F0502020204030204" pitchFamily="34" charset="0"/>
              </a:rPr>
              <a:t>قاعده</a:t>
            </a:r>
            <a:r>
              <a:rPr lang="fa-IR" sz="3200" dirty="0">
                <a:solidFill>
                  <a:srgbClr val="FF0000"/>
                </a:solidFill>
                <a:latin typeface="Calibri" panose="020F0502020204030204" pitchFamily="34" charset="0"/>
                <a:ea typeface="Calibri" panose="020F0502020204030204" pitchFamily="34" charset="0"/>
              </a:rPr>
              <a:t> </a:t>
            </a:r>
            <a:r>
              <a:rPr lang="ar-SA" sz="3200" dirty="0">
                <a:solidFill>
                  <a:srgbClr val="FF0000"/>
                </a:solidFill>
                <a:latin typeface="Calibri" panose="020F0502020204030204" pitchFamily="34" charset="0"/>
                <a:ea typeface="Calibri" panose="020F0502020204030204" pitchFamily="34" charset="0"/>
              </a:rPr>
              <a:t>افزایش</a:t>
            </a:r>
            <a:endParaRPr lang="en-US" sz="3200" dirty="0">
              <a:solidFill>
                <a:srgbClr val="FF0000"/>
              </a:solidFill>
              <a:effectLst/>
              <a:latin typeface="Calibri" panose="020F0502020204030204" pitchFamily="34" charset="0"/>
              <a:ea typeface="Calibri" panose="020F0502020204030204" pitchFamily="34" charset="0"/>
              <a:cs typeface="Arial" panose="020B0604020202020204" pitchFamily="34" charset="0"/>
            </a:endParaRPr>
          </a:p>
          <a:p>
            <a:pPr marL="342900" marR="0" lvl="0" indent="-342900" algn="r" rtl="1">
              <a:lnSpc>
                <a:spcPct val="107000"/>
              </a:lnSpc>
              <a:spcBef>
                <a:spcPts val="0"/>
              </a:spcBef>
              <a:spcAft>
                <a:spcPts val="800"/>
              </a:spcAft>
              <a:buFont typeface="+mj-lt"/>
              <a:buAutoNum type="arabicPeriod"/>
            </a:pPr>
            <a:r>
              <a:rPr lang="en-US" sz="3200" dirty="0">
                <a:effectLst/>
                <a:latin typeface="Calibri" panose="020F0502020204030204" pitchFamily="34" charset="0"/>
                <a:ea typeface="Calibri" panose="020F0502020204030204" pitchFamily="34" charset="0"/>
                <a:cs typeface="B Nazanin" panose="00000400000000000000" pitchFamily="2" charset="-78"/>
              </a:rPr>
              <a:t> if A→(B,C) then A→B and A→C </a:t>
            </a:r>
            <a:r>
              <a:rPr lang="fa-IR" sz="3200" dirty="0">
                <a:effectLst/>
                <a:latin typeface="Calibri" panose="020F0502020204030204" pitchFamily="34" charset="0"/>
                <a:ea typeface="Calibri" panose="020F0502020204030204" pitchFamily="34" charset="0"/>
                <a:cs typeface="B Nazanin" panose="00000400000000000000" pitchFamily="2" charset="-78"/>
              </a:rPr>
              <a:t> </a:t>
            </a:r>
            <a:r>
              <a:rPr lang="ar-SA" sz="3200" dirty="0">
                <a:solidFill>
                  <a:srgbClr val="FF0000"/>
                </a:solidFill>
                <a:effectLst/>
                <a:latin typeface="Calibri" panose="020F0502020204030204" pitchFamily="34" charset="0"/>
                <a:ea typeface="Calibri" panose="020F0502020204030204" pitchFamily="34" charset="0"/>
                <a:cs typeface="B Nazanin" panose="00000400000000000000" pitchFamily="2" charset="-78"/>
              </a:rPr>
              <a:t>قاعده</a:t>
            </a:r>
            <a:r>
              <a:rPr lang="fa-IR" sz="3200" dirty="0">
                <a:solidFill>
                  <a:srgbClr val="FF0000"/>
                </a:solidFill>
                <a:effectLst/>
                <a:latin typeface="Calibri" panose="020F0502020204030204" pitchFamily="34" charset="0"/>
                <a:ea typeface="Calibri" panose="020F0502020204030204" pitchFamily="34" charset="0"/>
                <a:cs typeface="B Nazanin" panose="00000400000000000000" pitchFamily="2" charset="-78"/>
              </a:rPr>
              <a:t> </a:t>
            </a:r>
            <a:r>
              <a:rPr lang="ar-SA" sz="3200" dirty="0">
                <a:solidFill>
                  <a:srgbClr val="FF0000"/>
                </a:solidFill>
                <a:effectLst/>
                <a:latin typeface="Calibri" panose="020F0502020204030204" pitchFamily="34" charset="0"/>
                <a:ea typeface="Calibri" panose="020F0502020204030204" pitchFamily="34" charset="0"/>
                <a:cs typeface="B Nazanin" panose="00000400000000000000" pitchFamily="2" charset="-78"/>
              </a:rPr>
              <a:t>تجزیه </a:t>
            </a:r>
            <a:endParaRPr lang="en-US" sz="3200" dirty="0">
              <a:solidFill>
                <a:srgbClr val="FF0000"/>
              </a:solidFill>
              <a:effectLst/>
              <a:latin typeface="Calibri" panose="020F0502020204030204" pitchFamily="34" charset="0"/>
              <a:ea typeface="Calibri" panose="020F0502020204030204" pitchFamily="34" charset="0"/>
              <a:cs typeface="Arial" panose="020B0604020202020204" pitchFamily="34" charset="0"/>
            </a:endParaRPr>
          </a:p>
          <a:p>
            <a:pPr marL="342900" marR="0" lvl="0" indent="-342900" algn="r" rtl="1">
              <a:lnSpc>
                <a:spcPct val="107000"/>
              </a:lnSpc>
              <a:spcBef>
                <a:spcPts val="0"/>
              </a:spcBef>
              <a:spcAft>
                <a:spcPts val="800"/>
              </a:spcAft>
              <a:buFont typeface="+mj-lt"/>
              <a:buAutoNum type="arabicPeriod"/>
            </a:pPr>
            <a:r>
              <a:rPr lang="en-US" sz="3200" dirty="0">
                <a:effectLst/>
                <a:latin typeface="Calibri" panose="020F0502020204030204" pitchFamily="34" charset="0"/>
                <a:ea typeface="Calibri" panose="020F0502020204030204" pitchFamily="34" charset="0"/>
                <a:cs typeface="B Nazanin" panose="00000400000000000000" pitchFamily="2" charset="-78"/>
              </a:rPr>
              <a:t> if A→B and C→D then (A,C)→(B,D) </a:t>
            </a:r>
            <a:r>
              <a:rPr lang="ar-SA" sz="3200" dirty="0">
                <a:solidFill>
                  <a:srgbClr val="FF0000"/>
                </a:solidFill>
                <a:effectLst/>
                <a:latin typeface="Calibri" panose="020F0502020204030204" pitchFamily="34" charset="0"/>
                <a:ea typeface="Calibri" panose="020F0502020204030204" pitchFamily="34" charset="0"/>
                <a:cs typeface="B Nazanin" panose="00000400000000000000" pitchFamily="2" charset="-78"/>
              </a:rPr>
              <a:t>قاعده</a:t>
            </a:r>
            <a:r>
              <a:rPr lang="fa-IR" sz="3200" dirty="0">
                <a:solidFill>
                  <a:srgbClr val="FF0000"/>
                </a:solidFill>
                <a:effectLst/>
                <a:latin typeface="Calibri" panose="020F0502020204030204" pitchFamily="34" charset="0"/>
                <a:ea typeface="Calibri" panose="020F0502020204030204" pitchFamily="34" charset="0"/>
                <a:cs typeface="B Nazanin" panose="00000400000000000000" pitchFamily="2" charset="-78"/>
              </a:rPr>
              <a:t> </a:t>
            </a:r>
            <a:r>
              <a:rPr lang="ar-SA" sz="3200" dirty="0">
                <a:solidFill>
                  <a:srgbClr val="FF0000"/>
                </a:solidFill>
                <a:effectLst/>
                <a:latin typeface="Calibri" panose="020F0502020204030204" pitchFamily="34" charset="0"/>
                <a:ea typeface="Calibri" panose="020F0502020204030204" pitchFamily="34" charset="0"/>
                <a:cs typeface="B Nazanin" panose="00000400000000000000" pitchFamily="2" charset="-78"/>
              </a:rPr>
              <a:t>ترکیب</a:t>
            </a:r>
            <a:endParaRPr lang="en-US" sz="3200" dirty="0">
              <a:solidFill>
                <a:srgbClr val="FF0000"/>
              </a:solidFill>
              <a:effectLst/>
              <a:latin typeface="Calibri" panose="020F0502020204030204" pitchFamily="34" charset="0"/>
              <a:ea typeface="Calibri" panose="020F0502020204030204" pitchFamily="34" charset="0"/>
              <a:cs typeface="Arial" panose="020B0604020202020204" pitchFamily="34" charset="0"/>
            </a:endParaRPr>
          </a:p>
          <a:p>
            <a:pPr marL="342900" marR="0" lvl="0" indent="-342900" algn="r" rtl="1">
              <a:lnSpc>
                <a:spcPct val="107000"/>
              </a:lnSpc>
              <a:spcBef>
                <a:spcPts val="0"/>
              </a:spcBef>
              <a:spcAft>
                <a:spcPts val="800"/>
              </a:spcAft>
              <a:buFont typeface="+mj-lt"/>
              <a:buAutoNum type="arabicPeriod"/>
            </a:pPr>
            <a:r>
              <a:rPr lang="en-US" sz="3200" dirty="0">
                <a:effectLst/>
                <a:latin typeface="Calibri" panose="020F0502020204030204" pitchFamily="34" charset="0"/>
                <a:ea typeface="Calibri" panose="020F0502020204030204" pitchFamily="34" charset="0"/>
                <a:cs typeface="B Nazanin" panose="00000400000000000000" pitchFamily="2" charset="-78"/>
              </a:rPr>
              <a:t>if A→B and A→C then A→(B,C) </a:t>
            </a:r>
            <a:r>
              <a:rPr lang="fa-IR" sz="3200" dirty="0">
                <a:effectLst/>
                <a:latin typeface="Calibri" panose="020F0502020204030204" pitchFamily="34" charset="0"/>
                <a:ea typeface="Calibri" panose="020F0502020204030204" pitchFamily="34" charset="0"/>
                <a:cs typeface="B Nazanin" panose="00000400000000000000" pitchFamily="2" charset="-78"/>
              </a:rPr>
              <a:t>            </a:t>
            </a:r>
            <a:r>
              <a:rPr lang="ar-SA" sz="3200" dirty="0">
                <a:solidFill>
                  <a:srgbClr val="FF0000"/>
                </a:solidFill>
                <a:effectLst/>
                <a:latin typeface="Calibri" panose="020F0502020204030204" pitchFamily="34" charset="0"/>
                <a:ea typeface="Calibri" panose="020F0502020204030204" pitchFamily="34" charset="0"/>
                <a:cs typeface="B Nazanin" panose="00000400000000000000" pitchFamily="2" charset="-78"/>
              </a:rPr>
              <a:t>قاعده</a:t>
            </a:r>
            <a:r>
              <a:rPr lang="fa-IR" sz="3200" dirty="0">
                <a:solidFill>
                  <a:srgbClr val="FF0000"/>
                </a:solidFill>
                <a:effectLst/>
                <a:latin typeface="Calibri" panose="020F0502020204030204" pitchFamily="34" charset="0"/>
                <a:ea typeface="Calibri" panose="020F0502020204030204" pitchFamily="34" charset="0"/>
                <a:cs typeface="B Nazanin" panose="00000400000000000000" pitchFamily="2" charset="-78"/>
              </a:rPr>
              <a:t> </a:t>
            </a:r>
            <a:r>
              <a:rPr lang="ar-SA" sz="3200" dirty="0">
                <a:solidFill>
                  <a:srgbClr val="FF0000"/>
                </a:solidFill>
                <a:effectLst/>
                <a:latin typeface="Calibri" panose="020F0502020204030204" pitchFamily="34" charset="0"/>
                <a:ea typeface="Calibri" panose="020F0502020204030204" pitchFamily="34" charset="0"/>
                <a:cs typeface="B Nazanin" panose="00000400000000000000" pitchFamily="2" charset="-78"/>
              </a:rPr>
              <a:t>اجتماع</a:t>
            </a:r>
            <a:endParaRPr lang="en-US" sz="3200" dirty="0">
              <a:solidFill>
                <a:srgbClr val="FF0000"/>
              </a:solidFill>
              <a:effectLst/>
              <a:latin typeface="Calibri" panose="020F0502020204030204" pitchFamily="34" charset="0"/>
              <a:ea typeface="Calibri" panose="020F0502020204030204" pitchFamily="34" charset="0"/>
              <a:cs typeface="Arial" panose="020B0604020202020204" pitchFamily="34" charset="0"/>
            </a:endParaRPr>
          </a:p>
          <a:p>
            <a:pPr lvl="0" algn="r" rtl="1">
              <a:lnSpc>
                <a:spcPct val="107000"/>
              </a:lnSpc>
              <a:spcBef>
                <a:spcPts val="0"/>
              </a:spcBef>
              <a:spcAft>
                <a:spcPts val="800"/>
              </a:spcAft>
              <a:buFont typeface="+mj-lt"/>
              <a:buAutoNum type="arabicPeriod"/>
            </a:pPr>
            <a:r>
              <a:rPr lang="en-US" sz="3200" dirty="0">
                <a:effectLst/>
                <a:latin typeface="B Nazanin" panose="00000400000000000000" pitchFamily="2" charset="-78"/>
                <a:ea typeface="Calibri" panose="020F0502020204030204" pitchFamily="34" charset="0"/>
                <a:cs typeface="Arial" panose="020B0604020202020204" pitchFamily="34" charset="0"/>
              </a:rPr>
              <a:t> </a:t>
            </a:r>
            <a:r>
              <a:rPr lang="en-US" sz="3200" dirty="0">
                <a:effectLst/>
                <a:latin typeface="Calibri" panose="020F0502020204030204" pitchFamily="34" charset="0"/>
                <a:ea typeface="Calibri" panose="020F0502020204030204" pitchFamily="34" charset="0"/>
                <a:cs typeface="B Nazanin" panose="00000400000000000000" pitchFamily="2" charset="-78"/>
              </a:rPr>
              <a:t> if A→B and (B,C)→D then (A,C)→D </a:t>
            </a:r>
            <a:r>
              <a:rPr lang="ar-SA" sz="3200" dirty="0">
                <a:solidFill>
                  <a:srgbClr val="FF0000"/>
                </a:solidFill>
                <a:effectLst/>
                <a:latin typeface="Calibri" panose="020F0502020204030204" pitchFamily="34" charset="0"/>
                <a:ea typeface="Calibri" panose="020F0502020204030204" pitchFamily="34" charset="0"/>
                <a:cs typeface="B Nazanin" panose="00000400000000000000" pitchFamily="2" charset="-78"/>
              </a:rPr>
              <a:t>قاعده</a:t>
            </a:r>
            <a:r>
              <a:rPr lang="fa-IR" sz="3200" dirty="0">
                <a:solidFill>
                  <a:srgbClr val="FF0000"/>
                </a:solidFill>
                <a:latin typeface="Calibri" panose="020F0502020204030204" pitchFamily="34" charset="0"/>
                <a:ea typeface="Calibri" panose="020F0502020204030204" pitchFamily="34" charset="0"/>
              </a:rPr>
              <a:t> </a:t>
            </a:r>
            <a:r>
              <a:rPr lang="ar-SA" sz="3200" dirty="0">
                <a:solidFill>
                  <a:srgbClr val="FF0000"/>
                </a:solidFill>
                <a:latin typeface="Calibri" panose="020F0502020204030204" pitchFamily="34" charset="0"/>
                <a:ea typeface="Calibri" panose="020F0502020204030204" pitchFamily="34" charset="0"/>
              </a:rPr>
              <a:t>شبه</a:t>
            </a:r>
            <a:r>
              <a:rPr lang="fa-IR" sz="3200" dirty="0">
                <a:solidFill>
                  <a:srgbClr val="FF0000"/>
                </a:solidFill>
                <a:effectLst/>
                <a:latin typeface="Calibri" panose="020F0502020204030204" pitchFamily="34" charset="0"/>
                <a:ea typeface="Calibri" panose="020F0502020204030204" pitchFamily="34" charset="0"/>
                <a:cs typeface="B Nazanin" panose="00000400000000000000" pitchFamily="2" charset="-78"/>
              </a:rPr>
              <a:t> </a:t>
            </a:r>
            <a:r>
              <a:rPr lang="ar-SA" sz="3200" dirty="0">
                <a:solidFill>
                  <a:srgbClr val="FF0000"/>
                </a:solidFill>
                <a:latin typeface="Calibri" panose="020F0502020204030204" pitchFamily="34" charset="0"/>
                <a:ea typeface="Calibri" panose="020F0502020204030204" pitchFamily="34" charset="0"/>
              </a:rPr>
              <a:t>تعدي</a:t>
            </a:r>
            <a:endParaRPr lang="en-US" sz="3200" dirty="0">
              <a:solidFill>
                <a:srgbClr val="FF0000"/>
              </a:solidFill>
              <a:effectLst/>
              <a:latin typeface="Calibri" panose="020F0502020204030204" pitchFamily="34" charset="0"/>
              <a:ea typeface="Calibri" panose="020F0502020204030204" pitchFamily="34" charset="0"/>
              <a:cs typeface="Arial" panose="020B0604020202020204" pitchFamily="34" charset="0"/>
            </a:endParaRPr>
          </a:p>
        </p:txBody>
      </p:sp>
    </p:spTree>
    <p:extLst>
      <p:ext uri="{BB962C8B-B14F-4D97-AF65-F5344CB8AC3E}">
        <p14:creationId xmlns:p14="http://schemas.microsoft.com/office/powerpoint/2010/main" val="414727669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3B64CB-E89F-4E8D-8216-A7FFEE5ED315}"/>
              </a:ext>
            </a:extLst>
          </p:cNvPr>
          <p:cNvSpPr>
            <a:spLocks noGrp="1"/>
          </p:cNvSpPr>
          <p:nvPr>
            <p:ph type="title"/>
          </p:nvPr>
        </p:nvSpPr>
        <p:spPr/>
        <p:txBody>
          <a:bodyPr/>
          <a:lstStyle/>
          <a:p>
            <a:r>
              <a:rPr lang="ar-SA" sz="2800" dirty="0">
                <a:effectLst/>
                <a:latin typeface="Calibri" panose="020F0502020204030204" pitchFamily="34" charset="0"/>
                <a:ea typeface="Calibri" panose="020F0502020204030204" pitchFamily="34" charset="0"/>
                <a:cs typeface="B Nazanin" panose="00000400000000000000" pitchFamily="2" charset="-78"/>
              </a:rPr>
              <a:t>کاربردهاي قواعد آرمسترانگ </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5C86202B-345E-4733-82F6-2F3CEFAC242A}"/>
                  </a:ext>
                </a:extLst>
              </p:cNvPr>
              <p:cNvSpPr>
                <a:spLocks noGrp="1"/>
              </p:cNvSpPr>
              <p:nvPr>
                <p:ph idx="1"/>
              </p:nvPr>
            </p:nvSpPr>
            <p:spPr/>
            <p:txBody>
              <a:bodyPr/>
              <a:lstStyle/>
              <a:p>
                <a:pPr marL="0" marR="0" algn="r" rtl="1">
                  <a:lnSpc>
                    <a:spcPct val="107000"/>
                  </a:lnSpc>
                  <a:spcBef>
                    <a:spcPts val="0"/>
                  </a:spcBef>
                  <a:spcAft>
                    <a:spcPts val="800"/>
                  </a:spcAft>
                </a:pPr>
                <a:r>
                  <a:rPr lang="fa-IR" sz="2800" dirty="0">
                    <a:effectLst/>
                    <a:latin typeface="Calibri" panose="020F0502020204030204" pitchFamily="34" charset="0"/>
                    <a:ea typeface="Calibri" panose="020F0502020204030204" pitchFamily="34" charset="0"/>
                  </a:rPr>
                  <a:t>۱) </a:t>
                </a:r>
                <a:r>
                  <a:rPr lang="ar-SA" sz="2800" dirty="0">
                    <a:effectLst/>
                    <a:latin typeface="Calibri" panose="020F0502020204030204" pitchFamily="34" charset="0"/>
                    <a:ea typeface="Calibri" panose="020F0502020204030204" pitchFamily="34" charset="0"/>
                  </a:rPr>
                  <a:t>محاسبه بستار صفت </a:t>
                </a:r>
                <a:r>
                  <a:rPr lang="en-US" sz="2800" dirty="0">
                    <a:effectLst/>
                    <a:latin typeface="Calibri" panose="020F0502020204030204" pitchFamily="34" charset="0"/>
                    <a:ea typeface="Calibri" panose="020F0502020204030204" pitchFamily="34" charset="0"/>
                  </a:rPr>
                  <a:t> A</a:t>
                </a:r>
                <a:r>
                  <a:rPr lang="fa-IR" sz="2800" dirty="0">
                    <a:effectLst/>
                    <a:latin typeface="Calibri" panose="020F0502020204030204" pitchFamily="34" charset="0"/>
                    <a:ea typeface="Calibri" panose="020F0502020204030204" pitchFamily="34" charset="0"/>
                  </a:rPr>
                  <a:t> : </a:t>
                </a:r>
                <a14:m>
                  <m:oMath xmlns:m="http://schemas.openxmlformats.org/officeDocument/2006/math">
                    <m:sSup>
                      <m:sSupPr>
                        <m:ctrlPr>
                          <a:rPr lang="en-US" sz="2800" i="1">
                            <a:effectLst/>
                            <a:latin typeface="Cambria Math" panose="02040503050406030204" pitchFamily="18" charset="0"/>
                            <a:ea typeface="Calibri" panose="020F0502020204030204" pitchFamily="34" charset="0"/>
                          </a:rPr>
                        </m:ctrlPr>
                      </m:sSupPr>
                      <m:e>
                        <m:r>
                          <a:rPr lang="en-US" sz="2800" i="1">
                            <a:effectLst/>
                            <a:latin typeface="Cambria Math" panose="02040503050406030204" pitchFamily="18" charset="0"/>
                            <a:ea typeface="Calibri" panose="020F0502020204030204" pitchFamily="34" charset="0"/>
                          </a:rPr>
                          <m:t>𝐴</m:t>
                        </m:r>
                      </m:e>
                      <m:sup>
                        <m:r>
                          <a:rPr lang="en-US" sz="2800" i="1">
                            <a:effectLst/>
                            <a:latin typeface="Cambria Math" panose="02040503050406030204" pitchFamily="18" charset="0"/>
                            <a:ea typeface="Calibri" panose="020F0502020204030204" pitchFamily="34" charset="0"/>
                          </a:rPr>
                          <m:t>+</m:t>
                        </m:r>
                      </m:sup>
                    </m:sSup>
                  </m:oMath>
                </a14:m>
                <a:endParaRPr lang="en-US" sz="2800" dirty="0">
                  <a:effectLst/>
                  <a:latin typeface="Calibri" panose="020F0502020204030204" pitchFamily="34" charset="0"/>
                  <a:ea typeface="Calibri" panose="020F0502020204030204" pitchFamily="34" charset="0"/>
                </a:endParaRPr>
              </a:p>
              <a:p>
                <a:pPr marL="400050" lvl="1" algn="r" rtl="1">
                  <a:lnSpc>
                    <a:spcPct val="107000"/>
                  </a:lnSpc>
                  <a:spcBef>
                    <a:spcPts val="0"/>
                  </a:spcBef>
                  <a:spcAft>
                    <a:spcPts val="800"/>
                  </a:spcAft>
                </a:pPr>
                <a:r>
                  <a:rPr lang="ar-SA" sz="2800" dirty="0">
                    <a:effectLst/>
                    <a:latin typeface="Calibri" panose="020F0502020204030204" pitchFamily="34" charset="0"/>
                    <a:ea typeface="Calibri" panose="020F0502020204030204" pitchFamily="34" charset="0"/>
                  </a:rPr>
                  <a:t>مجموعه تمام صفاتی که با</a:t>
                </a:r>
                <a:r>
                  <a:rPr lang="en-US" sz="2800" dirty="0">
                    <a:effectLst/>
                    <a:latin typeface="Calibri" panose="020F0502020204030204" pitchFamily="34" charset="0"/>
                    <a:ea typeface="Calibri" panose="020F0502020204030204" pitchFamily="34" charset="0"/>
                  </a:rPr>
                  <a:t> A</a:t>
                </a:r>
                <a:r>
                  <a:rPr lang="ar-SA" sz="2800" dirty="0">
                    <a:effectLst/>
                    <a:latin typeface="Calibri" panose="020F0502020204030204" pitchFamily="34" charset="0"/>
                    <a:ea typeface="Calibri" panose="020F0502020204030204" pitchFamily="34" charset="0"/>
                  </a:rPr>
                  <a:t>، وابستگی تابعی دارند</a:t>
                </a:r>
                <a:endParaRPr lang="en-US" sz="2800" dirty="0">
                  <a:effectLst/>
                  <a:latin typeface="Calibri" panose="020F0502020204030204" pitchFamily="34" charset="0"/>
                  <a:ea typeface="Calibri" panose="020F0502020204030204" pitchFamily="34" charset="0"/>
                </a:endParaRPr>
              </a:p>
              <a:p>
                <a:pPr marL="400050" lvl="1" algn="r" rtl="1">
                  <a:lnSpc>
                    <a:spcPct val="107000"/>
                  </a:lnSpc>
                  <a:spcBef>
                    <a:spcPts val="0"/>
                  </a:spcBef>
                  <a:spcAft>
                    <a:spcPts val="800"/>
                  </a:spcAft>
                </a:pPr>
                <a:r>
                  <a:rPr lang="fa-IR" sz="2800" dirty="0">
                    <a:effectLst/>
                    <a:latin typeface="Calibri" panose="020F0502020204030204" pitchFamily="34" charset="0"/>
                    <a:ea typeface="Calibri" panose="020F0502020204030204" pitchFamily="34" charset="0"/>
                  </a:rPr>
                  <a:t>نکته: اگر </a:t>
                </a:r>
                <a14:m>
                  <m:oMath xmlns:m="http://schemas.openxmlformats.org/officeDocument/2006/math">
                    <m:sSup>
                      <m:sSupPr>
                        <m:ctrlPr>
                          <a:rPr lang="en-US" sz="2800" i="1">
                            <a:effectLst/>
                            <a:latin typeface="Cambria Math" panose="02040503050406030204" pitchFamily="18" charset="0"/>
                            <a:ea typeface="Calibri" panose="020F0502020204030204" pitchFamily="34" charset="0"/>
                          </a:rPr>
                        </m:ctrlPr>
                      </m:sSupPr>
                      <m:e>
                        <m:r>
                          <a:rPr lang="en-US" sz="2800" i="1">
                            <a:effectLst/>
                            <a:latin typeface="Cambria Math" panose="02040503050406030204" pitchFamily="18" charset="0"/>
                            <a:ea typeface="Calibri" panose="020F0502020204030204" pitchFamily="34" charset="0"/>
                          </a:rPr>
                          <m:t>𝐴</m:t>
                        </m:r>
                      </m:e>
                      <m:sup>
                        <m:r>
                          <a:rPr lang="fa-IR" sz="2800" b="0" i="1" smtClean="0">
                            <a:effectLst/>
                            <a:latin typeface="Cambria Math" panose="02040503050406030204" pitchFamily="18" charset="0"/>
                            <a:ea typeface="Calibri" panose="020F0502020204030204" pitchFamily="34" charset="0"/>
                          </a:rPr>
                          <m:t>+</m:t>
                        </m:r>
                      </m:sup>
                    </m:sSup>
                    <m:r>
                      <a:rPr lang="en-US" sz="2800" i="1">
                        <a:effectLst/>
                        <a:latin typeface="Cambria Math" panose="02040503050406030204" pitchFamily="18" charset="0"/>
                        <a:ea typeface="Calibri" panose="020F0502020204030204" pitchFamily="34" charset="0"/>
                      </a:rPr>
                      <m:t>=</m:t>
                    </m:r>
                    <m:sSub>
                      <m:sSubPr>
                        <m:ctrlPr>
                          <a:rPr lang="en-US" sz="2800" i="1">
                            <a:effectLst/>
                            <a:latin typeface="Cambria Math" panose="02040503050406030204" pitchFamily="18" charset="0"/>
                            <a:ea typeface="Calibri" panose="020F0502020204030204" pitchFamily="34" charset="0"/>
                          </a:rPr>
                        </m:ctrlPr>
                      </m:sSubPr>
                      <m:e>
                        <m:r>
                          <a:rPr lang="en-US" sz="2800" i="1">
                            <a:effectLst/>
                            <a:latin typeface="Cambria Math" panose="02040503050406030204" pitchFamily="18" charset="0"/>
                            <a:ea typeface="Calibri" panose="020F0502020204030204" pitchFamily="34" charset="0"/>
                          </a:rPr>
                          <m:t>𝐻</m:t>
                        </m:r>
                      </m:e>
                      <m:sub>
                        <m:r>
                          <a:rPr lang="en-US" sz="2800" i="1">
                            <a:effectLst/>
                            <a:latin typeface="Cambria Math" panose="02040503050406030204" pitchFamily="18" charset="0"/>
                            <a:ea typeface="Calibri" panose="020F0502020204030204" pitchFamily="34" charset="0"/>
                          </a:rPr>
                          <m:t>𝑅</m:t>
                        </m:r>
                      </m:sub>
                    </m:sSub>
                  </m:oMath>
                </a14:m>
                <a:r>
                  <a:rPr lang="en-US" sz="2800" dirty="0">
                    <a:effectLst/>
                    <a:latin typeface="Calibri" panose="020F0502020204030204" pitchFamily="34" charset="0"/>
                    <a:ea typeface="Times New Roman" panose="02020603050405020304" pitchFamily="18" charset="0"/>
                  </a:rPr>
                  <a:t> </a:t>
                </a:r>
                <a:r>
                  <a:rPr lang="en-US" sz="2800" dirty="0">
                    <a:effectLst/>
                    <a:latin typeface="B Nazanin" panose="00000400000000000000" pitchFamily="2" charset="-78"/>
                    <a:ea typeface="Times New Roman" panose="02020603050405020304" pitchFamily="18" charset="0"/>
                  </a:rPr>
                  <a:t> </a:t>
                </a:r>
                <a:r>
                  <a:rPr lang="fa-IR" sz="2800" dirty="0">
                    <a:latin typeface="B Nazanin" panose="00000400000000000000" pitchFamily="2" charset="-78"/>
                    <a:ea typeface="Times New Roman" panose="02020603050405020304" pitchFamily="18" charset="0"/>
                  </a:rPr>
                  <a:t>در این صورت</a:t>
                </a:r>
                <a:r>
                  <a:rPr lang="fa-IR" sz="2800" dirty="0">
                    <a:effectLst/>
                    <a:latin typeface="Calibri" panose="020F0502020204030204" pitchFamily="34" charset="0"/>
                    <a:ea typeface="Times New Roman" panose="02020603050405020304" pitchFamily="18" charset="0"/>
                  </a:rPr>
                  <a:t> </a:t>
                </a:r>
                <a:r>
                  <a:rPr lang="en-US" sz="2800" dirty="0">
                    <a:effectLst/>
                    <a:latin typeface="Calibri" panose="020F0502020204030204" pitchFamily="34" charset="0"/>
                    <a:ea typeface="Times New Roman" panose="02020603050405020304" pitchFamily="18" charset="0"/>
                  </a:rPr>
                  <a:t>A</a:t>
                </a:r>
                <a:r>
                  <a:rPr lang="fa-IR" sz="2800" dirty="0">
                    <a:effectLst/>
                    <a:latin typeface="Calibri" panose="020F0502020204030204" pitchFamily="34" charset="0"/>
                    <a:ea typeface="Times New Roman" panose="02020603050405020304" pitchFamily="18" charset="0"/>
                  </a:rPr>
                  <a:t> سوپر کلید (الگوریتم تشخیص سوپر کلید)</a:t>
                </a:r>
                <a:endParaRPr lang="en-US" sz="2800" dirty="0">
                  <a:effectLst/>
                  <a:latin typeface="Calibri" panose="020F0502020204030204" pitchFamily="34" charset="0"/>
                  <a:ea typeface="Calibri" panose="020F0502020204030204" pitchFamily="34" charset="0"/>
                </a:endParaRPr>
              </a:p>
              <a:p>
                <a:pPr marL="0" marR="0" algn="r" rtl="1">
                  <a:lnSpc>
                    <a:spcPct val="107000"/>
                  </a:lnSpc>
                  <a:spcBef>
                    <a:spcPts val="0"/>
                  </a:spcBef>
                  <a:spcAft>
                    <a:spcPts val="800"/>
                  </a:spcAft>
                </a:pPr>
                <a:r>
                  <a:rPr lang="fa-IR" sz="2800" dirty="0">
                    <a:effectLst/>
                    <a:latin typeface="Calibri" panose="020F0502020204030204" pitchFamily="34" charset="0"/>
                    <a:ea typeface="Times New Roman" panose="02020603050405020304" pitchFamily="18" charset="0"/>
                  </a:rPr>
                  <a:t>۲) محاسبه بستار مجوعه وابستگی‌های تابعی یک رابطه : </a:t>
                </a:r>
                <a14:m>
                  <m:oMath xmlns:m="http://schemas.openxmlformats.org/officeDocument/2006/math">
                    <m:sSup>
                      <m:sSupPr>
                        <m:ctrlPr>
                          <a:rPr lang="en-US" sz="2800" i="1">
                            <a:effectLst/>
                            <a:latin typeface="Cambria Math" panose="02040503050406030204" pitchFamily="18" charset="0"/>
                            <a:ea typeface="Times New Roman" panose="02020603050405020304" pitchFamily="18" charset="0"/>
                            <a:cs typeface="Calibri" panose="020F0502020204030204" pitchFamily="34" charset="0"/>
                          </a:rPr>
                        </m:ctrlPr>
                      </m:sSupPr>
                      <m:e>
                        <m:r>
                          <a:rPr lang="en-US" sz="2800" i="1">
                            <a:effectLst/>
                            <a:latin typeface="Cambria Math" panose="02040503050406030204" pitchFamily="18" charset="0"/>
                            <a:ea typeface="Times New Roman" panose="02020603050405020304" pitchFamily="18" charset="0"/>
                            <a:cs typeface="Calibri" panose="020F0502020204030204" pitchFamily="34" charset="0"/>
                          </a:rPr>
                          <m:t>𝐹</m:t>
                        </m:r>
                      </m:e>
                      <m:sup>
                        <m:r>
                          <a:rPr lang="en-US" sz="2800" i="1">
                            <a:effectLst/>
                            <a:latin typeface="Cambria Math" panose="02040503050406030204" pitchFamily="18" charset="0"/>
                            <a:ea typeface="Times New Roman" panose="02020603050405020304" pitchFamily="18" charset="0"/>
                            <a:cs typeface="Calibri" panose="020F0502020204030204" pitchFamily="34" charset="0"/>
                          </a:rPr>
                          <m:t>+</m:t>
                        </m:r>
                      </m:sup>
                    </m:sSup>
                  </m:oMath>
                </a14:m>
                <a:endParaRPr lang="en-US" sz="2800" dirty="0">
                  <a:effectLst/>
                  <a:latin typeface="Calibri" panose="020F0502020204030204" pitchFamily="34" charset="0"/>
                  <a:ea typeface="Calibri" panose="020F0502020204030204" pitchFamily="34" charset="0"/>
                </a:endParaRPr>
              </a:p>
              <a:p>
                <a:pPr marL="0" marR="0" algn="r" rtl="1">
                  <a:lnSpc>
                    <a:spcPct val="107000"/>
                  </a:lnSpc>
                  <a:spcBef>
                    <a:spcPts val="0"/>
                  </a:spcBef>
                  <a:spcAft>
                    <a:spcPts val="800"/>
                  </a:spcAft>
                </a:pPr>
                <a:r>
                  <a:rPr lang="ar-SA" sz="2800" dirty="0">
                    <a:effectLst/>
                    <a:latin typeface="Calibri" panose="020F0502020204030204" pitchFamily="34" charset="0"/>
                    <a:ea typeface="Calibri" panose="020F0502020204030204" pitchFamily="34" charset="0"/>
                  </a:rPr>
                  <a:t>مجموعه تمام</a:t>
                </a:r>
                <a:r>
                  <a:rPr lang="en-US" sz="2800" dirty="0">
                    <a:effectLst/>
                    <a:latin typeface="Calibri" panose="020F0502020204030204" pitchFamily="34" charset="0"/>
                    <a:ea typeface="Calibri" panose="020F0502020204030204" pitchFamily="34" charset="0"/>
                  </a:rPr>
                  <a:t> FD</a:t>
                </a:r>
                <a:r>
                  <a:rPr lang="ar-SA" sz="2800" dirty="0">
                    <a:effectLst/>
                    <a:latin typeface="Calibri" panose="020F0502020204030204" pitchFamily="34" charset="0"/>
                    <a:ea typeface="Calibri" panose="020F0502020204030204" pitchFamily="34" charset="0"/>
                  </a:rPr>
                  <a:t>هایی که از</a:t>
                </a:r>
                <a:r>
                  <a:rPr lang="en-US" sz="2800" dirty="0">
                    <a:effectLst/>
                    <a:latin typeface="Calibri" panose="020F0502020204030204" pitchFamily="34" charset="0"/>
                    <a:ea typeface="Calibri" panose="020F0502020204030204" pitchFamily="34" charset="0"/>
                  </a:rPr>
                  <a:t> F </a:t>
                </a:r>
                <a:r>
                  <a:rPr lang="ar-SA" sz="2800" dirty="0">
                    <a:effectLst/>
                    <a:latin typeface="Calibri" panose="020F0502020204030204" pitchFamily="34" charset="0"/>
                    <a:ea typeface="Calibri" panose="020F0502020204030204" pitchFamily="34" charset="0"/>
                  </a:rPr>
                  <a:t>منطقاً استنتاج میشوند</a:t>
                </a:r>
                <a:endParaRPr lang="en-US" sz="2800" dirty="0">
                  <a:effectLst/>
                  <a:latin typeface="Calibri" panose="020F0502020204030204" pitchFamily="34" charset="0"/>
                  <a:ea typeface="Calibri" panose="020F0502020204030204" pitchFamily="34" charset="0"/>
                </a:endParaRPr>
              </a:p>
              <a:p>
                <a:pPr marL="0" marR="0" algn="r" rtl="1">
                  <a:lnSpc>
                    <a:spcPct val="107000"/>
                  </a:lnSpc>
                  <a:spcBef>
                    <a:spcPts val="0"/>
                  </a:spcBef>
                  <a:spcAft>
                    <a:spcPts val="800"/>
                  </a:spcAft>
                </a:pPr>
                <a:r>
                  <a:rPr lang="en-US" sz="2800" dirty="0">
                    <a:effectLst/>
                    <a:latin typeface="Calibri" panose="020F0502020204030204" pitchFamily="34" charset="0"/>
                    <a:ea typeface="Calibri" panose="020F0502020204030204" pitchFamily="34" charset="0"/>
                  </a:rPr>
                  <a:t>: F={A→B, B→C} </a:t>
                </a:r>
                <a:r>
                  <a:rPr lang="en-US" sz="2800" dirty="0">
                    <a:effectLst/>
                    <a:latin typeface="Cambria Math" panose="02040503050406030204" pitchFamily="18" charset="0"/>
                    <a:ea typeface="Calibri" panose="020F0502020204030204" pitchFamily="34" charset="0"/>
                  </a:rPr>
                  <a:t>⇒</a:t>
                </a:r>
                <a:r>
                  <a:rPr lang="en-US" sz="2800" dirty="0">
                    <a:effectLst/>
                    <a:latin typeface="Calibri" panose="020F0502020204030204" pitchFamily="34" charset="0"/>
                    <a:ea typeface="Calibri" panose="020F0502020204030204" pitchFamily="34" charset="0"/>
                  </a:rPr>
                  <a:t> </a:t>
                </a:r>
                <a14:m>
                  <m:oMath xmlns:m="http://schemas.openxmlformats.org/officeDocument/2006/math">
                    <m:sSup>
                      <m:sSupPr>
                        <m:ctrlPr>
                          <a:rPr lang="en-US" sz="2800" i="1">
                            <a:effectLst/>
                            <a:latin typeface="Cambria Math" panose="02040503050406030204" pitchFamily="18" charset="0"/>
                            <a:ea typeface="Calibri" panose="020F0502020204030204" pitchFamily="34" charset="0"/>
                          </a:rPr>
                        </m:ctrlPr>
                      </m:sSupPr>
                      <m:e>
                        <m:r>
                          <a:rPr lang="en-US" sz="2800" i="1">
                            <a:effectLst/>
                            <a:latin typeface="Cambria Math" panose="02040503050406030204" pitchFamily="18" charset="0"/>
                            <a:ea typeface="Calibri" panose="020F0502020204030204" pitchFamily="34" charset="0"/>
                          </a:rPr>
                          <m:t>𝐹</m:t>
                        </m:r>
                      </m:e>
                      <m:sup>
                        <m:r>
                          <a:rPr lang="en-US" sz="2800" i="1">
                            <a:effectLst/>
                            <a:latin typeface="Cambria Math" panose="02040503050406030204" pitchFamily="18" charset="0"/>
                            <a:ea typeface="Calibri" panose="020F0502020204030204" pitchFamily="34" charset="0"/>
                          </a:rPr>
                          <m:t>+</m:t>
                        </m:r>
                      </m:sup>
                    </m:sSup>
                  </m:oMath>
                </a14:m>
                <a:r>
                  <a:rPr lang="en-US" sz="2800" dirty="0">
                    <a:effectLst/>
                    <a:latin typeface="Calibri" panose="020F0502020204030204" pitchFamily="34" charset="0"/>
                    <a:ea typeface="Calibri" panose="020F0502020204030204" pitchFamily="34" charset="0"/>
                  </a:rPr>
                  <a:t>={A→B, B→C, A→C, (A,C)→(B,C), …}</a:t>
                </a:r>
              </a:p>
              <a:p>
                <a:pPr marL="0" marR="0" algn="r" rtl="1">
                  <a:lnSpc>
                    <a:spcPct val="107000"/>
                  </a:lnSpc>
                  <a:spcBef>
                    <a:spcPts val="0"/>
                  </a:spcBef>
                  <a:spcAft>
                    <a:spcPts val="800"/>
                  </a:spcAft>
                </a:pPr>
                <a:r>
                  <a:rPr lang="en-US" sz="2800" dirty="0">
                    <a:effectLst/>
                    <a:latin typeface="Calibri" panose="020F0502020204030204" pitchFamily="34" charset="0"/>
                    <a:ea typeface="Calibri" panose="020F0502020204030204" pitchFamily="34" charset="0"/>
                  </a:rPr>
                  <a:t> </a:t>
                </a:r>
              </a:p>
              <a:p>
                <a:endParaRPr lang="en-US" sz="3200" dirty="0"/>
              </a:p>
            </p:txBody>
          </p:sp>
        </mc:Choice>
        <mc:Fallback xmlns="">
          <p:sp>
            <p:nvSpPr>
              <p:cNvPr id="3" name="Content Placeholder 2">
                <a:extLst>
                  <a:ext uri="{FF2B5EF4-FFF2-40B4-BE49-F238E27FC236}">
                    <a16:creationId xmlns:a16="http://schemas.microsoft.com/office/drawing/2014/main" id="{5C86202B-345E-4733-82F6-2F3CEFAC242A}"/>
                  </a:ext>
                </a:extLst>
              </p:cNvPr>
              <p:cNvSpPr>
                <a:spLocks noGrp="1" noRot="1" noChangeAspect="1" noMove="1" noResize="1" noEditPoints="1" noAdjustHandles="1" noChangeArrowheads="1" noChangeShapeType="1" noTextEdit="1"/>
              </p:cNvSpPr>
              <p:nvPr>
                <p:ph idx="1"/>
              </p:nvPr>
            </p:nvSpPr>
            <p:spPr>
              <a:blipFill>
                <a:blip r:embed="rId3"/>
                <a:stretch>
                  <a:fillRect l="-1426" t="-1728" r="-1568"/>
                </a:stretch>
              </a:blipFill>
            </p:spPr>
            <p:txBody>
              <a:bodyPr/>
              <a:lstStyle/>
              <a:p>
                <a:r>
                  <a:rPr lang="en-US">
                    <a:noFill/>
                  </a:rPr>
                  <a:t> </a:t>
                </a:r>
              </a:p>
            </p:txBody>
          </p:sp>
        </mc:Fallback>
      </mc:AlternateContent>
    </p:spTree>
    <p:extLst>
      <p:ext uri="{BB962C8B-B14F-4D97-AF65-F5344CB8AC3E}">
        <p14:creationId xmlns:p14="http://schemas.microsoft.com/office/powerpoint/2010/main" val="930746483"/>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itle 1">
                <a:extLst>
                  <a:ext uri="{FF2B5EF4-FFF2-40B4-BE49-F238E27FC236}">
                    <a16:creationId xmlns:a16="http://schemas.microsoft.com/office/drawing/2014/main" id="{66032AA4-40D5-4AC1-91F9-0EBA4EE097F2}"/>
                  </a:ext>
                </a:extLst>
              </p:cNvPr>
              <p:cNvSpPr>
                <a:spLocks noGrp="1"/>
              </p:cNvSpPr>
              <p:nvPr>
                <p:ph type="title"/>
              </p:nvPr>
            </p:nvSpPr>
            <p:spPr/>
            <p:txBody>
              <a:bodyPr/>
              <a:lstStyle/>
              <a:p>
                <a:r>
                  <a:rPr lang="en-US" dirty="0"/>
                  <a:t>Finding </a:t>
                </a:r>
                <a14:m>
                  <m:oMath xmlns:m="http://schemas.openxmlformats.org/officeDocument/2006/math">
                    <m:sSup>
                      <m:sSupPr>
                        <m:ctrlPr>
                          <a:rPr lang="en-US" b="1" i="1" dirty="0" smtClean="0">
                            <a:latin typeface="Cambria Math" panose="02040503050406030204" pitchFamily="18" charset="0"/>
                          </a:rPr>
                        </m:ctrlPr>
                      </m:sSupPr>
                      <m:e>
                        <m:r>
                          <a:rPr lang="en-US" i="1" dirty="0" smtClean="0">
                            <a:latin typeface="Cambria Math" panose="02040503050406030204" pitchFamily="18" charset="0"/>
                          </a:rPr>
                          <m:t>𝐹</m:t>
                        </m:r>
                      </m:e>
                      <m:sup>
                        <m:r>
                          <a:rPr lang="en-US" b="1" i="1" dirty="0" smtClean="0">
                            <a:latin typeface="Cambria Math" panose="02040503050406030204" pitchFamily="18" charset="0"/>
                          </a:rPr>
                          <m:t>+</m:t>
                        </m:r>
                      </m:sup>
                    </m:sSup>
                  </m:oMath>
                </a14:m>
                <a:endParaRPr lang="en-US" dirty="0"/>
              </a:p>
            </p:txBody>
          </p:sp>
        </mc:Choice>
        <mc:Fallback xmlns="">
          <p:sp>
            <p:nvSpPr>
              <p:cNvPr id="2" name="Title 1">
                <a:extLst>
                  <a:ext uri="{FF2B5EF4-FFF2-40B4-BE49-F238E27FC236}">
                    <a16:creationId xmlns:a16="http://schemas.microsoft.com/office/drawing/2014/main" id="{66032AA4-40D5-4AC1-91F9-0EBA4EE097F2}"/>
                  </a:ext>
                </a:extLst>
              </p:cNvPr>
              <p:cNvSpPr>
                <a:spLocks noGrp="1" noRot="1" noChangeAspect="1" noMove="1" noResize="1" noEditPoints="1" noAdjustHandles="1" noChangeArrowheads="1" noChangeShapeType="1" noTextEdit="1"/>
              </p:cNvSpPr>
              <p:nvPr>
                <p:ph type="title"/>
              </p:nvPr>
            </p:nvSpPr>
            <p:spPr>
              <a:blipFill>
                <a:blip r:embed="rId3"/>
                <a:stretch>
                  <a:fillRect b="-340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960C413B-6DB0-4CE5-8701-74432755B856}"/>
                  </a:ext>
                </a:extLst>
              </p:cNvPr>
              <p:cNvSpPr>
                <a:spLocks noGrp="1"/>
              </p:cNvSpPr>
              <p:nvPr>
                <p:ph idx="1"/>
              </p:nvPr>
            </p:nvSpPr>
            <p:spPr>
              <a:xfrm>
                <a:off x="228600" y="609600"/>
                <a:ext cx="8616949" cy="5773093"/>
              </a:xfrm>
            </p:spPr>
            <p:txBody>
              <a:bodyPr/>
              <a:lstStyle/>
              <a:p>
                <a:pPr algn="r" rtl="1"/>
                <a:endParaRPr lang="fa-IR" sz="2400" b="1" dirty="0"/>
              </a:p>
              <a:p>
                <a:pPr algn="r" rtl="1"/>
                <a:r>
                  <a:rPr lang="fa-IR" sz="2400" b="1" dirty="0"/>
                  <a:t>اگر رابطه ی</a:t>
                </a:r>
                <a:r>
                  <a:rPr lang="en-US" sz="2400" dirty="0"/>
                  <a:t> R(A,B,C,D)</a:t>
                </a:r>
                <a:r>
                  <a:rPr lang="fa-IR" sz="2400" dirty="0"/>
                  <a:t> با وابستگی های تابعی </a:t>
                </a:r>
                <a:r>
                  <a:rPr lang="en-US" sz="2400" dirty="0"/>
                  <a:t>F</a:t>
                </a:r>
                <a:r>
                  <a:rPr lang="fa-IR" sz="2400" dirty="0"/>
                  <a:t> را داشته باشیم. </a:t>
                </a:r>
                <a:r>
                  <a:rPr lang="fa-IR" sz="2400" b="1" dirty="0"/>
                  <a:t> </a:t>
                </a:r>
                <a:endParaRPr lang="en-US" sz="2400" b="1" dirty="0"/>
              </a:p>
              <a:p>
                <a:pPr>
                  <a:buFont typeface="+mj-lt"/>
                  <a:buAutoNum type="arabicPeriod"/>
                </a:pPr>
                <a:r>
                  <a:rPr lang="en-US" sz="2400" dirty="0"/>
                  <a:t>A→B</a:t>
                </a:r>
              </a:p>
              <a:p>
                <a:pPr>
                  <a:buFont typeface="+mj-lt"/>
                  <a:buAutoNum type="arabicPeriod"/>
                </a:pPr>
                <a:r>
                  <a:rPr lang="en-US" sz="2400" dirty="0"/>
                  <a:t>B→C</a:t>
                </a:r>
              </a:p>
              <a:p>
                <a:pPr>
                  <a:buFont typeface="+mj-lt"/>
                  <a:buAutoNum type="arabicPeriod"/>
                </a:pPr>
                <a:r>
                  <a:rPr lang="en-US" sz="2400" dirty="0"/>
                  <a:t>A→D</a:t>
                </a:r>
              </a:p>
              <a:p>
                <a:pPr marL="0" marR="0" algn="r" rtl="1">
                  <a:lnSpc>
                    <a:spcPct val="107000"/>
                  </a:lnSpc>
                  <a:spcBef>
                    <a:spcPts val="0"/>
                  </a:spcBef>
                  <a:spcAft>
                    <a:spcPts val="800"/>
                  </a:spcAft>
                </a:pPr>
                <a:r>
                  <a:rPr lang="fa-IR" dirty="0">
                    <a:latin typeface="Times New Roman" panose="02020603050405020304" pitchFamily="18" charset="0"/>
                  </a:rPr>
                  <a:t>پیدا کردن </a:t>
                </a:r>
                <a14:m>
                  <m:oMath xmlns:m="http://schemas.openxmlformats.org/officeDocument/2006/math">
                    <m:sSup>
                      <m:sSupPr>
                        <m:ctrlPr>
                          <a:rPr lang="en-US" b="0" i="1" smtClean="0">
                            <a:latin typeface="Cambria Math" panose="02040503050406030204" pitchFamily="18" charset="0"/>
                            <a:cs typeface="Arial" panose="020B0604020202020204" pitchFamily="34" charset="0"/>
                          </a:rPr>
                        </m:ctrlPr>
                      </m:sSupPr>
                      <m:e>
                        <m:r>
                          <a:rPr lang="en-US" b="0" i="1" smtClean="0">
                            <a:latin typeface="Cambria Math" panose="02040503050406030204" pitchFamily="18" charset="0"/>
                            <a:cs typeface="Arial" panose="020B0604020202020204" pitchFamily="34" charset="0"/>
                          </a:rPr>
                          <m:t>𝐹</m:t>
                        </m:r>
                      </m:e>
                      <m:sup>
                        <m:r>
                          <a:rPr lang="en-US" b="0" i="1" smtClean="0">
                            <a:latin typeface="Cambria Math" panose="02040503050406030204" pitchFamily="18" charset="0"/>
                            <a:cs typeface="Arial" panose="020B0604020202020204" pitchFamily="34" charset="0"/>
                          </a:rPr>
                          <m:t>+</m:t>
                        </m:r>
                      </m:sup>
                    </m:sSup>
                    <m:r>
                      <a:rPr lang="en-US" b="0" i="1" smtClean="0">
                        <a:latin typeface="Cambria Math" panose="02040503050406030204" pitchFamily="18" charset="0"/>
                        <a:cs typeface="Arial" panose="020B0604020202020204" pitchFamily="34" charset="0"/>
                      </a:rPr>
                      <m:t> </m:t>
                    </m:r>
                  </m:oMath>
                </a14:m>
                <a:r>
                  <a:rPr lang="fa-IR" dirty="0">
                    <a:latin typeface="Times New Roman" panose="02020603050405020304" pitchFamily="18" charset="0"/>
                  </a:rPr>
                  <a:t>- بستار مجموعه شامل تمام وابستگی‌های تابعی مشتق شده است. </a:t>
                </a:r>
              </a:p>
              <a:p>
                <a:pPr lvl="1" indent="-342900">
                  <a:lnSpc>
                    <a:spcPct val="107000"/>
                  </a:lnSpc>
                  <a:spcBef>
                    <a:spcPts val="0"/>
                  </a:spcBef>
                  <a:spcAft>
                    <a:spcPts val="800"/>
                  </a:spcAft>
                  <a:buFont typeface="+mj-lt"/>
                  <a:buAutoNum type="arabicPeriod"/>
                  <a:tabLst>
                    <a:tab pos="457200" algn="l"/>
                  </a:tabLst>
                </a:pPr>
                <a:r>
                  <a:rPr lang="en-US" dirty="0">
                    <a:effectLst/>
                    <a:latin typeface="Times New Roman" panose="02020603050405020304" pitchFamily="18" charset="0"/>
                    <a:ea typeface="Times New Roman" panose="02020603050405020304" pitchFamily="18" charset="0"/>
                  </a:rPr>
                  <a:t>A→B</a:t>
                </a:r>
                <a:endParaRPr lang="en-US" dirty="0">
                  <a:effectLst/>
                  <a:latin typeface="Calibri" panose="020F0502020204030204" pitchFamily="34" charset="0"/>
                  <a:ea typeface="Calibri" panose="020F0502020204030204" pitchFamily="34" charset="0"/>
                </a:endParaRPr>
              </a:p>
              <a:p>
                <a:pPr lvl="1" indent="-342900">
                  <a:lnSpc>
                    <a:spcPct val="107000"/>
                  </a:lnSpc>
                  <a:spcBef>
                    <a:spcPts val="0"/>
                  </a:spcBef>
                  <a:spcAft>
                    <a:spcPts val="800"/>
                  </a:spcAft>
                  <a:buFont typeface="+mj-lt"/>
                  <a:buAutoNum type="arabicPeriod"/>
                  <a:tabLst>
                    <a:tab pos="457200" algn="l"/>
                  </a:tabLst>
                </a:pPr>
                <a:r>
                  <a:rPr lang="en-US" dirty="0">
                    <a:effectLst/>
                    <a:latin typeface="Times New Roman" panose="02020603050405020304" pitchFamily="18" charset="0"/>
                    <a:ea typeface="Times New Roman" panose="02020603050405020304" pitchFamily="18" charset="0"/>
                  </a:rPr>
                  <a:t>B→C</a:t>
                </a:r>
                <a:endParaRPr lang="en-US" dirty="0">
                  <a:effectLst/>
                  <a:latin typeface="Calibri" panose="020F0502020204030204" pitchFamily="34" charset="0"/>
                  <a:ea typeface="Calibri" panose="020F0502020204030204" pitchFamily="34" charset="0"/>
                </a:endParaRPr>
              </a:p>
              <a:p>
                <a:pPr lvl="1" indent="-342900">
                  <a:lnSpc>
                    <a:spcPct val="107000"/>
                  </a:lnSpc>
                  <a:spcBef>
                    <a:spcPts val="0"/>
                  </a:spcBef>
                  <a:spcAft>
                    <a:spcPts val="800"/>
                  </a:spcAft>
                  <a:buFont typeface="+mj-lt"/>
                  <a:buAutoNum type="arabicPeriod"/>
                  <a:tabLst>
                    <a:tab pos="457200" algn="l"/>
                  </a:tabLst>
                </a:pPr>
                <a:r>
                  <a:rPr lang="en-US" dirty="0">
                    <a:effectLst/>
                    <a:latin typeface="Times New Roman" panose="02020603050405020304" pitchFamily="18" charset="0"/>
                    <a:ea typeface="Times New Roman" panose="02020603050405020304" pitchFamily="18" charset="0"/>
                  </a:rPr>
                  <a:t>A→D</a:t>
                </a:r>
                <a:endParaRPr lang="en-US" dirty="0">
                  <a:effectLst/>
                  <a:latin typeface="Calibri" panose="020F0502020204030204" pitchFamily="34" charset="0"/>
                  <a:ea typeface="Calibri" panose="020F0502020204030204" pitchFamily="34" charset="0"/>
                </a:endParaRPr>
              </a:p>
              <a:p>
                <a:pPr lvl="1" indent="-342900">
                  <a:lnSpc>
                    <a:spcPct val="107000"/>
                  </a:lnSpc>
                  <a:spcBef>
                    <a:spcPts val="0"/>
                  </a:spcBef>
                  <a:spcAft>
                    <a:spcPts val="800"/>
                  </a:spcAft>
                  <a:buFont typeface="+mj-lt"/>
                  <a:buAutoNum type="arabicPeriod"/>
                  <a:tabLst>
                    <a:tab pos="457200" algn="l"/>
                  </a:tabLst>
                </a:pPr>
                <a:r>
                  <a:rPr lang="en-US" dirty="0">
                    <a:effectLst/>
                    <a:latin typeface="Times New Roman" panose="02020603050405020304" pitchFamily="18" charset="0"/>
                    <a:ea typeface="Times New Roman" panose="02020603050405020304" pitchFamily="18" charset="0"/>
                  </a:rPr>
                  <a:t>A→CA (</a:t>
                </a:r>
                <a:r>
                  <a:rPr lang="fa-IR" dirty="0"/>
                  <a:t>تعدی</a:t>
                </a:r>
                <a:r>
                  <a:rPr lang="en-US" dirty="0">
                    <a:effectLst/>
                    <a:latin typeface="Times New Roman" panose="02020603050405020304" pitchFamily="18" charset="0"/>
                    <a:ea typeface="Times New Roman" panose="02020603050405020304" pitchFamily="18" charset="0"/>
                  </a:rPr>
                  <a:t>)</a:t>
                </a:r>
                <a:endParaRPr lang="en-US" dirty="0">
                  <a:effectLst/>
                  <a:latin typeface="Calibri" panose="020F0502020204030204" pitchFamily="34" charset="0"/>
                  <a:ea typeface="Calibri" panose="020F0502020204030204" pitchFamily="34" charset="0"/>
                </a:endParaRPr>
              </a:p>
              <a:p>
                <a:pPr lvl="1" indent="-342900">
                  <a:lnSpc>
                    <a:spcPct val="107000"/>
                  </a:lnSpc>
                  <a:spcBef>
                    <a:spcPts val="0"/>
                  </a:spcBef>
                  <a:spcAft>
                    <a:spcPts val="800"/>
                  </a:spcAft>
                  <a:buFont typeface="+mj-lt"/>
                  <a:buAutoNum type="arabicPeriod"/>
                  <a:tabLst>
                    <a:tab pos="457200" algn="l"/>
                  </a:tabLst>
                </a:pPr>
                <a:r>
                  <a:rPr lang="en-US" dirty="0">
                    <a:effectLst/>
                    <a:latin typeface="Times New Roman" panose="02020603050405020304" pitchFamily="18" charset="0"/>
                    <a:ea typeface="Times New Roman" panose="02020603050405020304" pitchFamily="18" charset="0"/>
                  </a:rPr>
                  <a:t>A→BCA (</a:t>
                </a:r>
                <a:r>
                  <a:rPr lang="fa-IR" dirty="0"/>
                  <a:t>افزایش</a:t>
                </a:r>
                <a:r>
                  <a:rPr lang="en-US" dirty="0">
                    <a:effectLst/>
                    <a:latin typeface="Times New Roman" panose="02020603050405020304" pitchFamily="18" charset="0"/>
                    <a:ea typeface="Times New Roman" panose="02020603050405020304" pitchFamily="18" charset="0"/>
                  </a:rPr>
                  <a:t>)</a:t>
                </a:r>
                <a:endParaRPr lang="en-US" dirty="0">
                  <a:effectLst/>
                  <a:latin typeface="Calibri" panose="020F0502020204030204" pitchFamily="34" charset="0"/>
                  <a:ea typeface="Calibri" panose="020F0502020204030204" pitchFamily="34" charset="0"/>
                </a:endParaRPr>
              </a:p>
              <a:p>
                <a:pPr lvl="1" indent="-342900">
                  <a:lnSpc>
                    <a:spcPct val="107000"/>
                  </a:lnSpc>
                  <a:spcBef>
                    <a:spcPts val="0"/>
                  </a:spcBef>
                  <a:spcAft>
                    <a:spcPts val="800"/>
                  </a:spcAft>
                  <a:buFont typeface="+mj-lt"/>
                  <a:buAutoNum type="arabicPeriod"/>
                  <a:tabLst>
                    <a:tab pos="457200" algn="l"/>
                  </a:tabLst>
                </a:pPr>
                <a:r>
                  <a:rPr lang="en-US" dirty="0">
                    <a:effectLst/>
                    <a:latin typeface="Times New Roman" panose="02020603050405020304" pitchFamily="18" charset="0"/>
                    <a:ea typeface="Times New Roman" panose="02020603050405020304" pitchFamily="18" charset="0"/>
                  </a:rPr>
                  <a:t>A→BCDA (</a:t>
                </a:r>
                <a:r>
                  <a:rPr lang="fa-IR" dirty="0"/>
                  <a:t>ترکیب وابستگی‌</a:t>
                </a:r>
                <a:r>
                  <a:rPr lang="en-US" dirty="0">
                    <a:effectLst/>
                    <a:latin typeface="Times New Roman" panose="02020603050405020304" pitchFamily="18" charset="0"/>
                    <a:ea typeface="Times New Roman" panose="02020603050405020304" pitchFamily="18" charset="0"/>
                  </a:rPr>
                  <a:t>)</a:t>
                </a:r>
                <a:endParaRPr lang="en-US" dirty="0">
                  <a:effectLst/>
                  <a:latin typeface="Calibri" panose="020F0502020204030204" pitchFamily="34" charset="0"/>
                  <a:ea typeface="Calibri" panose="020F0502020204030204" pitchFamily="34" charset="0"/>
                </a:endParaRPr>
              </a:p>
              <a:p>
                <a:endParaRPr lang="en-US" sz="2400" dirty="0"/>
              </a:p>
            </p:txBody>
          </p:sp>
        </mc:Choice>
        <mc:Fallback xmlns="">
          <p:sp>
            <p:nvSpPr>
              <p:cNvPr id="3" name="Content Placeholder 2">
                <a:extLst>
                  <a:ext uri="{FF2B5EF4-FFF2-40B4-BE49-F238E27FC236}">
                    <a16:creationId xmlns:a16="http://schemas.microsoft.com/office/drawing/2014/main" id="{960C413B-6DB0-4CE5-8701-74432755B856}"/>
                  </a:ext>
                </a:extLst>
              </p:cNvPr>
              <p:cNvSpPr>
                <a:spLocks noGrp="1" noRot="1" noChangeAspect="1" noMove="1" noResize="1" noEditPoints="1" noAdjustHandles="1" noChangeArrowheads="1" noChangeShapeType="1" noTextEdit="1"/>
              </p:cNvSpPr>
              <p:nvPr>
                <p:ph idx="1"/>
              </p:nvPr>
            </p:nvSpPr>
            <p:spPr>
              <a:xfrm>
                <a:off x="228600" y="609600"/>
                <a:ext cx="8616949" cy="5773093"/>
              </a:xfrm>
              <a:blipFill>
                <a:blip r:embed="rId4"/>
                <a:stretch>
                  <a:fillRect l="-1203" r="-1132"/>
                </a:stretch>
              </a:blipFill>
            </p:spPr>
            <p:txBody>
              <a:bodyPr/>
              <a:lstStyle/>
              <a:p>
                <a:r>
                  <a:rPr lang="en-US">
                    <a:noFill/>
                  </a:rPr>
                  <a:t> </a:t>
                </a:r>
              </a:p>
            </p:txBody>
          </p:sp>
        </mc:Fallback>
      </mc:AlternateContent>
    </p:spTree>
    <p:extLst>
      <p:ext uri="{BB962C8B-B14F-4D97-AF65-F5344CB8AC3E}">
        <p14:creationId xmlns:p14="http://schemas.microsoft.com/office/powerpoint/2010/main" val="3479383280"/>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F0817F6-793F-4DBF-8583-A356EE99B788}"/>
              </a:ext>
            </a:extLst>
          </p:cNvPr>
          <p:cNvSpPr>
            <a:spLocks noGrp="1"/>
          </p:cNvSpPr>
          <p:nvPr>
            <p:ph type="title"/>
          </p:nvPr>
        </p:nvSpPr>
        <p:spPr/>
        <p:txBody>
          <a:bodyPr/>
          <a:lstStyle/>
          <a:p>
            <a:r>
              <a:rPr lang="en-US" dirty="0"/>
              <a:t> </a:t>
            </a:r>
            <a:r>
              <a:rPr lang="en-US" altLang="en-US" dirty="0"/>
              <a:t>(</a:t>
            </a:r>
            <a:r>
              <a:rPr lang="en-US" altLang="en-US" dirty="0" bmk=""/>
              <a:t>2NF) Second Normal Form</a:t>
            </a:r>
            <a:endParaRPr lang="en-US" dirty="0"/>
          </a:p>
        </p:txBody>
      </p:sp>
      <p:sp>
        <p:nvSpPr>
          <p:cNvPr id="3" name="Content Placeholder 2">
            <a:extLst>
              <a:ext uri="{FF2B5EF4-FFF2-40B4-BE49-F238E27FC236}">
                <a16:creationId xmlns:a16="http://schemas.microsoft.com/office/drawing/2014/main" id="{099CCA28-973E-4EC0-8175-1F2DB5D43125}"/>
              </a:ext>
            </a:extLst>
          </p:cNvPr>
          <p:cNvSpPr>
            <a:spLocks noGrp="1"/>
          </p:cNvSpPr>
          <p:nvPr>
            <p:ph idx="1"/>
          </p:nvPr>
        </p:nvSpPr>
        <p:spPr/>
        <p:txBody>
          <a:bodyPr/>
          <a:lstStyle/>
          <a:p>
            <a:pPr marL="0" marR="0" algn="r" rtl="1">
              <a:lnSpc>
                <a:spcPct val="107000"/>
              </a:lnSpc>
              <a:spcBef>
                <a:spcPts val="0"/>
              </a:spcBef>
              <a:spcAft>
                <a:spcPts val="800"/>
              </a:spcAft>
            </a:pPr>
            <a:r>
              <a:rPr lang="ar-SA" sz="2800" b="1" dirty="0">
                <a:effectLst/>
                <a:latin typeface="Calibri" panose="020F0502020204030204" pitchFamily="34" charset="0"/>
                <a:ea typeface="Times New Roman" panose="02020603050405020304" pitchFamily="18" charset="0"/>
              </a:rPr>
              <a:t>تعریف </a:t>
            </a:r>
            <a:r>
              <a:rPr lang="en-US" sz="2800" b="1" dirty="0">
                <a:effectLst/>
                <a:latin typeface="Times New Roman" panose="02020603050405020304" pitchFamily="18" charset="0"/>
                <a:ea typeface="Times New Roman" panose="02020603050405020304" pitchFamily="18" charset="0"/>
              </a:rPr>
              <a:t>NF</a:t>
            </a:r>
            <a:r>
              <a:rPr lang="ar-SA" sz="2800" b="1" dirty="0">
                <a:latin typeface="Calibri" panose="020F0502020204030204" pitchFamily="34" charset="0"/>
                <a:ea typeface="Times New Roman" panose="02020603050405020304" pitchFamily="18" charset="0"/>
              </a:rPr>
              <a:t>2</a:t>
            </a:r>
            <a:endParaRPr lang="en-US" sz="2800" dirty="0">
              <a:effectLst/>
              <a:latin typeface="Calibri" panose="020F0502020204030204" pitchFamily="34" charset="0"/>
              <a:ea typeface="Calibri" panose="020F0502020204030204" pitchFamily="34" charset="0"/>
            </a:endParaRPr>
          </a:p>
          <a:p>
            <a:pPr marL="342900" marR="0" lvl="0" indent="-342900" algn="r" rtl="1">
              <a:lnSpc>
                <a:spcPct val="107000"/>
              </a:lnSpc>
              <a:spcBef>
                <a:spcPts val="0"/>
              </a:spcBef>
              <a:spcAft>
                <a:spcPts val="800"/>
              </a:spcAft>
              <a:buFont typeface="+mj-lt"/>
              <a:buAutoNum type="arabicPeriod"/>
              <a:tabLst>
                <a:tab pos="457200" algn="l"/>
              </a:tabLst>
            </a:pPr>
            <a:r>
              <a:rPr lang="ar-SA" sz="2800" dirty="0">
                <a:effectLst/>
                <a:latin typeface="Calibri" panose="020F0502020204030204" pitchFamily="34" charset="0"/>
                <a:ea typeface="Times New Roman" panose="02020603050405020304" pitchFamily="18" charset="0"/>
              </a:rPr>
              <a:t>جدول باید ابتدا در </a:t>
            </a:r>
            <a:r>
              <a:rPr lang="en-US" sz="2800" b="1" dirty="0">
                <a:effectLst/>
                <a:latin typeface="Times New Roman" panose="02020603050405020304" pitchFamily="18" charset="0"/>
                <a:ea typeface="Times New Roman" panose="02020603050405020304" pitchFamily="18" charset="0"/>
              </a:rPr>
              <a:t>1NF</a:t>
            </a:r>
            <a:r>
              <a:rPr lang="en-US" sz="2800" dirty="0">
                <a:effectLst/>
                <a:latin typeface="Times New Roman" panose="02020603050405020304" pitchFamily="18" charset="0"/>
                <a:ea typeface="Times New Roman" panose="02020603050405020304" pitchFamily="18" charset="0"/>
              </a:rPr>
              <a:t> </a:t>
            </a:r>
            <a:r>
              <a:rPr lang="ar-SA" sz="2800" dirty="0">
                <a:effectLst/>
                <a:latin typeface="Calibri" panose="020F0502020204030204" pitchFamily="34" charset="0"/>
                <a:ea typeface="Times New Roman" panose="02020603050405020304" pitchFamily="18" charset="0"/>
              </a:rPr>
              <a:t>باشد </a:t>
            </a:r>
            <a:endParaRPr lang="en-US" sz="2800" dirty="0">
              <a:effectLst/>
              <a:latin typeface="Calibri" panose="020F0502020204030204" pitchFamily="34" charset="0"/>
              <a:ea typeface="Times New Roman" panose="02020603050405020304" pitchFamily="18" charset="0"/>
            </a:endParaRPr>
          </a:p>
          <a:p>
            <a:pPr marL="342900" marR="0" lvl="0" indent="-342900" algn="r" rtl="1">
              <a:lnSpc>
                <a:spcPct val="107000"/>
              </a:lnSpc>
              <a:spcBef>
                <a:spcPts val="0"/>
              </a:spcBef>
              <a:spcAft>
                <a:spcPts val="800"/>
              </a:spcAft>
              <a:buFont typeface="+mj-lt"/>
              <a:buAutoNum type="arabicPeriod"/>
              <a:tabLst>
                <a:tab pos="457200" algn="l"/>
              </a:tabLst>
            </a:pPr>
            <a:r>
              <a:rPr lang="ar-SA" sz="2800" b="1" dirty="0">
                <a:effectLst/>
                <a:latin typeface="Calibri" panose="020F0502020204030204" pitchFamily="34" charset="0"/>
                <a:ea typeface="Times New Roman" panose="02020603050405020304" pitchFamily="18" charset="0"/>
              </a:rPr>
              <a:t>تمام صفات غیر کلیدی</a:t>
            </a:r>
            <a:r>
              <a:rPr lang="ar-SA" sz="2800" dirty="0">
                <a:effectLst/>
                <a:latin typeface="Calibri" panose="020F0502020204030204" pitchFamily="34" charset="0"/>
                <a:ea typeface="Times New Roman" panose="02020603050405020304" pitchFamily="18" charset="0"/>
              </a:rPr>
              <a:t> باید به طور کامل به کل کلید اصلی وابسته باشند (نه فقط بخشی از کلید اصلی). اگر وابستگی جزئی وجود داشته باشد، جدول به 2</a:t>
            </a:r>
            <a:r>
              <a:rPr lang="en-US" sz="2800" dirty="0">
                <a:effectLst/>
                <a:latin typeface="Times New Roman" panose="02020603050405020304" pitchFamily="18" charset="0"/>
                <a:ea typeface="Times New Roman" panose="02020603050405020304" pitchFamily="18" charset="0"/>
              </a:rPr>
              <a:t>NF </a:t>
            </a:r>
            <a:r>
              <a:rPr lang="ar-SA" sz="2800" dirty="0">
                <a:effectLst/>
                <a:latin typeface="Calibri" panose="020F0502020204030204" pitchFamily="34" charset="0"/>
                <a:ea typeface="Times New Roman" panose="02020603050405020304" pitchFamily="18" charset="0"/>
              </a:rPr>
              <a:t>نمی‌رسد</a:t>
            </a:r>
            <a:r>
              <a:rPr lang="en-US" sz="2800" dirty="0">
                <a:effectLst/>
                <a:latin typeface="Times New Roman" panose="02020603050405020304" pitchFamily="18" charset="0"/>
                <a:ea typeface="Times New Roman" panose="02020603050405020304" pitchFamily="18" charset="0"/>
              </a:rPr>
              <a:t>.</a:t>
            </a:r>
            <a:endParaRPr lang="en-US" sz="2800" dirty="0">
              <a:effectLst/>
              <a:latin typeface="Calibri" panose="020F0502020204030204" pitchFamily="34" charset="0"/>
              <a:ea typeface="Calibri" panose="020F0502020204030204" pitchFamily="34" charset="0"/>
            </a:endParaRPr>
          </a:p>
          <a:p>
            <a:pPr marL="0" marR="0" indent="0" algn="r" rtl="1">
              <a:lnSpc>
                <a:spcPct val="107000"/>
              </a:lnSpc>
              <a:spcBef>
                <a:spcPts val="0"/>
              </a:spcBef>
              <a:spcAft>
                <a:spcPts val="800"/>
              </a:spcAft>
              <a:buNone/>
            </a:pPr>
            <a:br>
              <a:rPr lang="en-US" altLang="en-US" sz="2800" b="0" dirty="0">
                <a:solidFill>
                  <a:schemeClr val="tx1"/>
                </a:solidFill>
              </a:rPr>
            </a:br>
            <a:r>
              <a:rPr lang="ar-SA" altLang="en-US" sz="2800" b="0" dirty="0">
                <a:solidFill>
                  <a:srgbClr val="000000"/>
                </a:solidFill>
                <a:latin typeface="Tahoma" panose="020B0604030504040204" pitchFamily="34" charset="0"/>
              </a:rPr>
              <a:t>ستون </a:t>
            </a:r>
            <a:r>
              <a:rPr lang="en-US" altLang="en-US" sz="2800" b="0" dirty="0">
                <a:solidFill>
                  <a:srgbClr val="000000"/>
                </a:solidFill>
                <a:latin typeface="Tahoma" panose="020B0604030504040204" pitchFamily="34" charset="0"/>
              </a:rPr>
              <a:t>Y</a:t>
            </a:r>
            <a:r>
              <a:rPr lang="ar-SA" altLang="en-US" sz="2800" b="0" dirty="0">
                <a:solidFill>
                  <a:srgbClr val="000000"/>
                </a:solidFill>
                <a:latin typeface="Tahoma" panose="020B0604030504040204" pitchFamily="34" charset="0"/>
              </a:rPr>
              <a:t> با ستون </a:t>
            </a:r>
            <a:r>
              <a:rPr lang="en-US" altLang="en-US" sz="2800" b="0" dirty="0">
                <a:solidFill>
                  <a:srgbClr val="000000"/>
                </a:solidFill>
                <a:latin typeface="Tahoma" panose="020B0604030504040204" pitchFamily="34" charset="0"/>
              </a:rPr>
              <a:t>X</a:t>
            </a:r>
            <a:r>
              <a:rPr lang="ar-SA" altLang="en-US" sz="2800" b="0" dirty="0">
                <a:solidFill>
                  <a:srgbClr val="000000"/>
                </a:solidFill>
                <a:latin typeface="Tahoma" panose="020B0604030504040204" pitchFamily="34" charset="0"/>
              </a:rPr>
              <a:t> در يک رابطه وابستگی تا</a:t>
            </a:r>
            <a:r>
              <a:rPr lang="fa-IR" altLang="en-US" sz="2800" b="0" dirty="0">
                <a:solidFill>
                  <a:srgbClr val="000000"/>
                </a:solidFill>
                <a:latin typeface="Tahoma" panose="020B0604030504040204" pitchFamily="34" charset="0"/>
              </a:rPr>
              <a:t>ب</a:t>
            </a:r>
            <a:r>
              <a:rPr lang="ar-SA" altLang="en-US" sz="2800" b="0" dirty="0">
                <a:solidFill>
                  <a:srgbClr val="000000"/>
                </a:solidFill>
                <a:latin typeface="Tahoma" panose="020B0604030504040204" pitchFamily="34" charset="0"/>
              </a:rPr>
              <a:t>عی (</a:t>
            </a:r>
            <a:r>
              <a:rPr lang="en-US" altLang="en-US" sz="2800" b="0" dirty="0">
                <a:solidFill>
                  <a:srgbClr val="000000"/>
                </a:solidFill>
                <a:latin typeface="Tahoma" panose="020B0604030504040204" pitchFamily="34" charset="0"/>
              </a:rPr>
              <a:t>functional dependency</a:t>
            </a:r>
            <a:r>
              <a:rPr lang="ar-SA" altLang="en-US" sz="2800" b="0" dirty="0">
                <a:solidFill>
                  <a:srgbClr val="000000"/>
                </a:solidFill>
                <a:latin typeface="Tahoma" panose="020B0604030504040204" pitchFamily="34" charset="0"/>
              </a:rPr>
              <a:t>) دارد اگروفقط اگر به ازای هر مقدار در </a:t>
            </a:r>
            <a:r>
              <a:rPr lang="en-US" altLang="en-US" sz="2800" b="0" dirty="0">
                <a:solidFill>
                  <a:srgbClr val="000000"/>
                </a:solidFill>
                <a:latin typeface="Tahoma" panose="020B0604030504040204" pitchFamily="34" charset="0"/>
              </a:rPr>
              <a:t>X</a:t>
            </a:r>
            <a:r>
              <a:rPr lang="ar-SA" altLang="en-US" sz="2800" b="0" dirty="0">
                <a:solidFill>
                  <a:srgbClr val="000000"/>
                </a:solidFill>
                <a:latin typeface="Tahoma" panose="020B0604030504040204" pitchFamily="34" charset="0"/>
              </a:rPr>
              <a:t> دقيقا يک مقدار در </a:t>
            </a:r>
            <a:r>
              <a:rPr lang="en-US" altLang="en-US" sz="2800" b="0" dirty="0">
                <a:solidFill>
                  <a:srgbClr val="000000"/>
                </a:solidFill>
                <a:latin typeface="Tahoma" panose="020B0604030504040204" pitchFamily="34" charset="0"/>
              </a:rPr>
              <a:t>Y</a:t>
            </a:r>
            <a:r>
              <a:rPr lang="ar-SA" altLang="en-US" sz="2800" b="0" dirty="0">
                <a:solidFill>
                  <a:srgbClr val="000000"/>
                </a:solidFill>
                <a:latin typeface="Tahoma" panose="020B0604030504040204" pitchFamily="34" charset="0"/>
              </a:rPr>
              <a:t> متناظر با آن وجود داشته باشد. که به صورت </a:t>
            </a:r>
            <a:r>
              <a:rPr lang="en-US" altLang="en-US" sz="2800" b="0" dirty="0">
                <a:solidFill>
                  <a:srgbClr val="000000"/>
                </a:solidFill>
                <a:latin typeface="Tahoma" panose="020B0604030504040204" pitchFamily="34" charset="0"/>
              </a:rPr>
              <a:t>X→Y</a:t>
            </a:r>
            <a:r>
              <a:rPr lang="ar-SA" altLang="en-US" sz="2800" b="0" dirty="0">
                <a:solidFill>
                  <a:srgbClr val="000000"/>
                </a:solidFill>
                <a:latin typeface="Tahoma" panose="020B0604030504040204" pitchFamily="34" charset="0"/>
              </a:rPr>
              <a:t> نشان داده می شود.</a:t>
            </a:r>
            <a:br>
              <a:rPr lang="en-US" altLang="en-US" sz="2800" b="0" dirty="0">
                <a:solidFill>
                  <a:schemeClr val="tx1"/>
                </a:solidFill>
              </a:rPr>
            </a:br>
            <a:br>
              <a:rPr lang="en-US" altLang="en-US" sz="2800" b="0" dirty="0">
                <a:solidFill>
                  <a:schemeClr val="tx1"/>
                </a:solidFill>
              </a:rPr>
            </a:br>
            <a:br>
              <a:rPr lang="en-US" altLang="en-US" sz="2800" b="0" dirty="0">
                <a:solidFill>
                  <a:schemeClr val="tx1"/>
                </a:solidFill>
                <a:latin typeface="Arial" panose="020B0604020202020204" pitchFamily="34" charset="0"/>
              </a:rPr>
            </a:br>
            <a:br>
              <a:rPr lang="en-US" altLang="en-US" sz="2800" b="0" dirty="0">
                <a:solidFill>
                  <a:schemeClr val="tx1"/>
                </a:solidFill>
                <a:latin typeface="Arial" panose="020B0604020202020204" pitchFamily="34" charset="0"/>
              </a:rPr>
            </a:br>
            <a:endParaRPr lang="en-US" sz="2800" dirty="0"/>
          </a:p>
        </p:txBody>
      </p:sp>
    </p:spTree>
    <p:extLst>
      <p:ext uri="{BB962C8B-B14F-4D97-AF65-F5344CB8AC3E}">
        <p14:creationId xmlns:p14="http://schemas.microsoft.com/office/powerpoint/2010/main" val="1663122851"/>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9DFE179B-AD57-478B-A5E9-7B94415F2252}"/>
              </a:ext>
            </a:extLst>
          </p:cNvPr>
          <p:cNvSpPr>
            <a:spLocks noGrp="1"/>
          </p:cNvSpPr>
          <p:nvPr>
            <p:ph idx="1"/>
          </p:nvPr>
        </p:nvSpPr>
        <p:spPr>
          <a:xfrm>
            <a:off x="289711" y="784547"/>
            <a:ext cx="8555839" cy="5288905"/>
          </a:xfrm>
        </p:spPr>
        <p:txBody>
          <a:bodyPr/>
          <a:lstStyle/>
          <a:p>
            <a:pPr marL="0" indent="0" algn="r" rtl="1">
              <a:buNone/>
            </a:pPr>
            <a:r>
              <a:rPr lang="fa-IR" altLang="en-US" sz="2000" b="0" dirty="0">
                <a:solidFill>
                  <a:schemeClr val="tx1"/>
                </a:solidFill>
                <a:cs typeface="B Nazanin" panose="00000400000000000000" pitchFamily="2" charset="-78"/>
              </a:rPr>
              <a:t>آیا جدول زیر</a:t>
            </a:r>
            <a:r>
              <a:rPr lang="fa-IR" altLang="en-US" dirty="0"/>
              <a:t> </a:t>
            </a:r>
            <a:r>
              <a:rPr lang="en-US" altLang="en-US" dirty="0"/>
              <a:t>2NF</a:t>
            </a:r>
            <a:r>
              <a:rPr lang="fa-IR" altLang="en-US" dirty="0"/>
              <a:t> هست ؟</a:t>
            </a:r>
            <a:endParaRPr lang="en-US" altLang="en-US" dirty="0"/>
          </a:p>
          <a:p>
            <a:pPr marL="0" indent="0" algn="r" rtl="1">
              <a:buNone/>
            </a:pPr>
            <a:br>
              <a:rPr lang="en-US" altLang="en-US" sz="2000" b="0" dirty="0">
                <a:solidFill>
                  <a:schemeClr val="tx1"/>
                </a:solidFill>
                <a:latin typeface="Arial" panose="020B0604020202020204" pitchFamily="34" charset="0"/>
                <a:cs typeface="B Nazanin" panose="00000400000000000000" pitchFamily="2" charset="-78"/>
              </a:rPr>
            </a:br>
            <a:br>
              <a:rPr lang="en-US" altLang="en-US" sz="2000" b="0" dirty="0">
                <a:solidFill>
                  <a:schemeClr val="tx1"/>
                </a:solidFill>
                <a:latin typeface="Arial" panose="020B0604020202020204" pitchFamily="34" charset="0"/>
                <a:cs typeface="B Nazanin" panose="00000400000000000000" pitchFamily="2" charset="-78"/>
              </a:rPr>
            </a:br>
            <a:endParaRPr lang="en-US" dirty="0"/>
          </a:p>
        </p:txBody>
      </p:sp>
      <p:sp>
        <p:nvSpPr>
          <p:cNvPr id="4" name="Title 1">
            <a:extLst>
              <a:ext uri="{FF2B5EF4-FFF2-40B4-BE49-F238E27FC236}">
                <a16:creationId xmlns:a16="http://schemas.microsoft.com/office/drawing/2014/main" id="{659B7AB1-AE20-4768-8313-47668E2CF93F}"/>
              </a:ext>
            </a:extLst>
          </p:cNvPr>
          <p:cNvSpPr>
            <a:spLocks noGrp="1"/>
          </p:cNvSpPr>
          <p:nvPr>
            <p:ph type="title"/>
          </p:nvPr>
        </p:nvSpPr>
        <p:spPr>
          <a:xfrm>
            <a:off x="768350" y="117475"/>
            <a:ext cx="8077200" cy="609600"/>
          </a:xfrm>
        </p:spPr>
        <p:txBody>
          <a:bodyPr/>
          <a:lstStyle/>
          <a:p>
            <a:r>
              <a:rPr lang="fa-IR" altLang="en-US" sz="2800" dirty="0">
                <a:latin typeface="Titr" pitchFamily="2" charset="-78"/>
                <a:ea typeface="2  Titr"/>
                <a:cs typeface="2  Titr"/>
              </a:rPr>
              <a:t>جدول نرمال ۲</a:t>
            </a:r>
            <a:endParaRPr lang="en-US" dirty="0"/>
          </a:p>
        </p:txBody>
      </p:sp>
      <p:graphicFrame>
        <p:nvGraphicFramePr>
          <p:cNvPr id="5" name="Table 4">
            <a:extLst>
              <a:ext uri="{FF2B5EF4-FFF2-40B4-BE49-F238E27FC236}">
                <a16:creationId xmlns:a16="http://schemas.microsoft.com/office/drawing/2014/main" id="{D021EF03-A87F-40B5-A3E5-F77913EFB47E}"/>
              </a:ext>
            </a:extLst>
          </p:cNvPr>
          <p:cNvGraphicFramePr>
            <a:graphicFrameLocks noGrp="1"/>
          </p:cNvGraphicFramePr>
          <p:nvPr/>
        </p:nvGraphicFramePr>
        <p:xfrm>
          <a:off x="228600" y="3200400"/>
          <a:ext cx="8886825" cy="2758550"/>
        </p:xfrm>
        <a:graphic>
          <a:graphicData uri="http://schemas.openxmlformats.org/drawingml/2006/table">
            <a:tbl>
              <a:tblPr firstRow="1" firstCol="1" bandRow="1">
                <a:tableStyleId>{616DA210-FB5B-4158-B5E0-FEB733F419BA}</a:tableStyleId>
              </a:tblPr>
              <a:tblGrid>
                <a:gridCol w="580782">
                  <a:extLst>
                    <a:ext uri="{9D8B030D-6E8A-4147-A177-3AD203B41FA5}">
                      <a16:colId xmlns:a16="http://schemas.microsoft.com/office/drawing/2014/main" val="234041042"/>
                    </a:ext>
                  </a:extLst>
                </a:gridCol>
                <a:gridCol w="930163">
                  <a:extLst>
                    <a:ext uri="{9D8B030D-6E8A-4147-A177-3AD203B41FA5}">
                      <a16:colId xmlns:a16="http://schemas.microsoft.com/office/drawing/2014/main" val="3415118693"/>
                    </a:ext>
                  </a:extLst>
                </a:gridCol>
                <a:gridCol w="912914">
                  <a:extLst>
                    <a:ext uri="{9D8B030D-6E8A-4147-A177-3AD203B41FA5}">
                      <a16:colId xmlns:a16="http://schemas.microsoft.com/office/drawing/2014/main" val="3881982512"/>
                    </a:ext>
                  </a:extLst>
                </a:gridCol>
                <a:gridCol w="456456">
                  <a:extLst>
                    <a:ext uri="{9D8B030D-6E8A-4147-A177-3AD203B41FA5}">
                      <a16:colId xmlns:a16="http://schemas.microsoft.com/office/drawing/2014/main" val="2484215510"/>
                    </a:ext>
                  </a:extLst>
                </a:gridCol>
                <a:gridCol w="674926">
                  <a:extLst>
                    <a:ext uri="{9D8B030D-6E8A-4147-A177-3AD203B41FA5}">
                      <a16:colId xmlns:a16="http://schemas.microsoft.com/office/drawing/2014/main" val="1297653461"/>
                    </a:ext>
                  </a:extLst>
                </a:gridCol>
                <a:gridCol w="1144022">
                  <a:extLst>
                    <a:ext uri="{9D8B030D-6E8A-4147-A177-3AD203B41FA5}">
                      <a16:colId xmlns:a16="http://schemas.microsoft.com/office/drawing/2014/main" val="3484224265"/>
                    </a:ext>
                  </a:extLst>
                </a:gridCol>
                <a:gridCol w="838950">
                  <a:extLst>
                    <a:ext uri="{9D8B030D-6E8A-4147-A177-3AD203B41FA5}">
                      <a16:colId xmlns:a16="http://schemas.microsoft.com/office/drawing/2014/main" val="3482110401"/>
                    </a:ext>
                  </a:extLst>
                </a:gridCol>
                <a:gridCol w="762681">
                  <a:extLst>
                    <a:ext uri="{9D8B030D-6E8A-4147-A177-3AD203B41FA5}">
                      <a16:colId xmlns:a16="http://schemas.microsoft.com/office/drawing/2014/main" val="1813858957"/>
                    </a:ext>
                  </a:extLst>
                </a:gridCol>
                <a:gridCol w="762681">
                  <a:extLst>
                    <a:ext uri="{9D8B030D-6E8A-4147-A177-3AD203B41FA5}">
                      <a16:colId xmlns:a16="http://schemas.microsoft.com/office/drawing/2014/main" val="1355875302"/>
                    </a:ext>
                  </a:extLst>
                </a:gridCol>
                <a:gridCol w="1296559">
                  <a:extLst>
                    <a:ext uri="{9D8B030D-6E8A-4147-A177-3AD203B41FA5}">
                      <a16:colId xmlns:a16="http://schemas.microsoft.com/office/drawing/2014/main" val="1675925667"/>
                    </a:ext>
                  </a:extLst>
                </a:gridCol>
                <a:gridCol w="526691">
                  <a:extLst>
                    <a:ext uri="{9D8B030D-6E8A-4147-A177-3AD203B41FA5}">
                      <a16:colId xmlns:a16="http://schemas.microsoft.com/office/drawing/2014/main" val="236614085"/>
                    </a:ext>
                  </a:extLst>
                </a:gridCol>
              </a:tblGrid>
              <a:tr h="546152">
                <a:tc>
                  <a:txBody>
                    <a:bodyPr/>
                    <a:lstStyle/>
                    <a:p>
                      <a:pPr marL="0" marR="0">
                        <a:lnSpc>
                          <a:spcPct val="107000"/>
                        </a:lnSpc>
                        <a:spcBef>
                          <a:spcPts val="0"/>
                        </a:spcBef>
                        <a:spcAft>
                          <a:spcPts val="0"/>
                        </a:spcAft>
                      </a:pPr>
                      <a:r>
                        <a:rPr lang="en-US" sz="1100" dirty="0">
                          <a:solidFill>
                            <a:schemeClr val="tx2">
                              <a:lumMod val="75000"/>
                            </a:schemeClr>
                          </a:solidFill>
                          <a:effectLst/>
                        </a:rPr>
                        <a:t>Sale No</a:t>
                      </a:r>
                      <a:endParaRPr lang="en-US" sz="1100" dirty="0">
                        <a:solidFill>
                          <a:schemeClr val="tx2">
                            <a:lumMod val="75000"/>
                          </a:schemeClr>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100" dirty="0" err="1">
                          <a:solidFill>
                            <a:schemeClr val="tx2">
                              <a:lumMod val="75000"/>
                            </a:schemeClr>
                          </a:solidFill>
                          <a:effectLst/>
                        </a:rPr>
                        <a:t>SaleDate</a:t>
                      </a:r>
                      <a:endParaRPr lang="en-US" sz="1100" dirty="0">
                        <a:solidFill>
                          <a:schemeClr val="tx2">
                            <a:lumMod val="75000"/>
                          </a:schemeClr>
                        </a:solidFill>
                        <a:effectLst/>
                      </a:endParaRPr>
                    </a:p>
                    <a:p>
                      <a:pPr marL="0" marR="0">
                        <a:lnSpc>
                          <a:spcPct val="107000"/>
                        </a:lnSpc>
                        <a:spcBef>
                          <a:spcPts val="0"/>
                        </a:spcBef>
                        <a:spcAft>
                          <a:spcPts val="0"/>
                        </a:spcAft>
                      </a:pPr>
                      <a:r>
                        <a:rPr lang="en-US" sz="1100" dirty="0">
                          <a:solidFill>
                            <a:schemeClr val="tx2">
                              <a:lumMod val="75000"/>
                            </a:schemeClr>
                          </a:solidFill>
                          <a:effectLst/>
                        </a:rPr>
                        <a:t> </a:t>
                      </a:r>
                      <a:endParaRPr lang="en-US" sz="1100" dirty="0">
                        <a:solidFill>
                          <a:schemeClr val="tx2">
                            <a:lumMod val="75000"/>
                          </a:schemeClr>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100" dirty="0" err="1">
                          <a:solidFill>
                            <a:schemeClr val="tx2">
                              <a:lumMod val="75000"/>
                            </a:schemeClr>
                          </a:solidFill>
                          <a:effectLst/>
                        </a:rPr>
                        <a:t>ProductNo</a:t>
                      </a:r>
                      <a:endParaRPr lang="en-US" sz="1100" dirty="0">
                        <a:solidFill>
                          <a:schemeClr val="tx2">
                            <a:lumMod val="75000"/>
                          </a:schemeClr>
                        </a:solidFill>
                        <a:effectLst/>
                      </a:endParaRPr>
                    </a:p>
                    <a:p>
                      <a:pPr marL="0" marR="0">
                        <a:lnSpc>
                          <a:spcPct val="107000"/>
                        </a:lnSpc>
                        <a:spcBef>
                          <a:spcPts val="0"/>
                        </a:spcBef>
                        <a:spcAft>
                          <a:spcPts val="0"/>
                        </a:spcAft>
                      </a:pPr>
                      <a:r>
                        <a:rPr lang="en-US" sz="1100" dirty="0">
                          <a:solidFill>
                            <a:schemeClr val="tx2">
                              <a:lumMod val="75000"/>
                            </a:schemeClr>
                          </a:solidFill>
                          <a:effectLst/>
                        </a:rPr>
                        <a:t> </a:t>
                      </a:r>
                      <a:endParaRPr lang="en-US" sz="1100" dirty="0">
                        <a:solidFill>
                          <a:schemeClr val="tx2">
                            <a:lumMod val="75000"/>
                          </a:schemeClr>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100">
                          <a:solidFill>
                            <a:schemeClr val="tx2">
                              <a:lumMod val="75000"/>
                            </a:schemeClr>
                          </a:solidFill>
                          <a:effectLst/>
                        </a:rPr>
                        <a:t>Qty</a:t>
                      </a:r>
                      <a:endParaRPr lang="en-US" sz="1100">
                        <a:solidFill>
                          <a:schemeClr val="tx2">
                            <a:lumMod val="75000"/>
                          </a:schemeClr>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100" dirty="0">
                          <a:solidFill>
                            <a:schemeClr val="tx2">
                              <a:lumMod val="75000"/>
                            </a:schemeClr>
                          </a:solidFill>
                          <a:effectLst/>
                        </a:rPr>
                        <a:t>Amount</a:t>
                      </a:r>
                      <a:endParaRPr lang="en-US" sz="1100" dirty="0">
                        <a:solidFill>
                          <a:schemeClr val="tx2">
                            <a:lumMod val="75000"/>
                          </a:schemeClr>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100" dirty="0" err="1">
                          <a:solidFill>
                            <a:schemeClr val="tx2">
                              <a:lumMod val="75000"/>
                            </a:schemeClr>
                          </a:solidFill>
                          <a:effectLst/>
                        </a:rPr>
                        <a:t>Salesrep</a:t>
                      </a:r>
                      <a:endParaRPr lang="en-US" sz="1100" dirty="0">
                        <a:solidFill>
                          <a:schemeClr val="tx2">
                            <a:lumMod val="75000"/>
                          </a:schemeClr>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100" dirty="0" err="1">
                          <a:solidFill>
                            <a:schemeClr val="tx2">
                              <a:lumMod val="75000"/>
                            </a:schemeClr>
                          </a:solidFill>
                          <a:effectLst/>
                        </a:rPr>
                        <a:t>CustomerNo</a:t>
                      </a:r>
                      <a:endParaRPr lang="en-US" sz="1100" dirty="0">
                        <a:solidFill>
                          <a:schemeClr val="tx2">
                            <a:lumMod val="75000"/>
                          </a:schemeClr>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100" dirty="0">
                          <a:solidFill>
                            <a:schemeClr val="tx2">
                              <a:lumMod val="75000"/>
                            </a:schemeClr>
                          </a:solidFill>
                          <a:effectLst/>
                        </a:rPr>
                        <a:t>First</a:t>
                      </a:r>
                      <a:endParaRPr lang="en-US" sz="1100" dirty="0">
                        <a:solidFill>
                          <a:schemeClr val="tx2">
                            <a:lumMod val="75000"/>
                          </a:schemeClr>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100">
                          <a:solidFill>
                            <a:schemeClr val="tx2">
                              <a:lumMod val="75000"/>
                            </a:schemeClr>
                          </a:solidFill>
                          <a:effectLst/>
                        </a:rPr>
                        <a:t>Last</a:t>
                      </a:r>
                      <a:endParaRPr lang="en-US" sz="1100">
                        <a:solidFill>
                          <a:schemeClr val="tx2">
                            <a:lumMod val="75000"/>
                          </a:schemeClr>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100" dirty="0">
                          <a:solidFill>
                            <a:schemeClr val="tx2">
                              <a:lumMod val="75000"/>
                            </a:schemeClr>
                          </a:solidFill>
                          <a:effectLst/>
                        </a:rPr>
                        <a:t>Address</a:t>
                      </a:r>
                      <a:endParaRPr lang="en-US" sz="1100" dirty="0">
                        <a:solidFill>
                          <a:schemeClr val="tx2">
                            <a:lumMod val="75000"/>
                          </a:schemeClr>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100" dirty="0" err="1">
                          <a:solidFill>
                            <a:schemeClr val="tx2">
                              <a:lumMod val="75000"/>
                            </a:schemeClr>
                          </a:solidFill>
                          <a:effectLst/>
                        </a:rPr>
                        <a:t>CreditLimit</a:t>
                      </a:r>
                      <a:endParaRPr lang="en-US" sz="1100" dirty="0">
                        <a:solidFill>
                          <a:schemeClr val="tx2">
                            <a:lumMod val="75000"/>
                          </a:schemeClr>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extLst>
                  <a:ext uri="{0D108BD9-81ED-4DB2-BD59-A6C34878D82A}">
                    <a16:rowId xmlns:a16="http://schemas.microsoft.com/office/drawing/2014/main" val="1378874611"/>
                  </a:ext>
                </a:extLst>
              </a:tr>
              <a:tr h="360999">
                <a:tc>
                  <a:txBody>
                    <a:bodyPr/>
                    <a:lstStyle/>
                    <a:p>
                      <a:pPr marL="0" marR="0">
                        <a:lnSpc>
                          <a:spcPct val="107000"/>
                        </a:lnSpc>
                        <a:spcBef>
                          <a:spcPts val="0"/>
                        </a:spcBef>
                        <a:spcAft>
                          <a:spcPts val="0"/>
                        </a:spcAft>
                      </a:pPr>
                      <a:r>
                        <a:rPr lang="en-US" sz="1050" b="1" dirty="0">
                          <a:effectLst/>
                        </a:rPr>
                        <a:t>12345</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Aug 12 2002</a:t>
                      </a:r>
                    </a:p>
                    <a:p>
                      <a:pPr marL="0" marR="0">
                        <a:lnSpc>
                          <a:spcPct val="107000"/>
                        </a:lnSpc>
                        <a:spcBef>
                          <a:spcPts val="0"/>
                        </a:spcBef>
                        <a:spcAft>
                          <a:spcPts val="0"/>
                        </a:spcAft>
                      </a:pPr>
                      <a:r>
                        <a:rPr lang="en-US" sz="1050" b="1" dirty="0">
                          <a:effectLst/>
                        </a:rPr>
                        <a:t> </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AQX88916</a:t>
                      </a:r>
                    </a:p>
                    <a:p>
                      <a:pPr marL="0" marR="0">
                        <a:lnSpc>
                          <a:spcPct val="107000"/>
                        </a:lnSpc>
                        <a:spcBef>
                          <a:spcPts val="0"/>
                        </a:spcBef>
                        <a:spcAft>
                          <a:spcPts val="0"/>
                        </a:spcAft>
                      </a:pPr>
                      <a:r>
                        <a:rPr lang="en-US" sz="1050" b="1">
                          <a:effectLst/>
                        </a:rPr>
                        <a:t> </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1</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23.95</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Dave Williams</a:t>
                      </a:r>
                    </a:p>
                    <a:p>
                      <a:pPr marL="0" marR="0">
                        <a:lnSpc>
                          <a:spcPct val="107000"/>
                        </a:lnSpc>
                        <a:spcBef>
                          <a:spcPts val="0"/>
                        </a:spcBef>
                        <a:spcAft>
                          <a:spcPts val="0"/>
                        </a:spcAft>
                      </a:pPr>
                      <a:r>
                        <a:rPr lang="en-US" sz="1050" b="1">
                          <a:effectLst/>
                        </a:rPr>
                        <a:t> </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4649-4673</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Richard</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Johnston</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14 West Avenue</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1000</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extLst>
                  <a:ext uri="{0D108BD9-81ED-4DB2-BD59-A6C34878D82A}">
                    <a16:rowId xmlns:a16="http://schemas.microsoft.com/office/drawing/2014/main" val="1720734119"/>
                  </a:ext>
                </a:extLst>
              </a:tr>
              <a:tr h="360999">
                <a:tc>
                  <a:txBody>
                    <a:bodyPr/>
                    <a:lstStyle/>
                    <a:p>
                      <a:pPr marL="0" marR="0">
                        <a:lnSpc>
                          <a:spcPct val="107000"/>
                        </a:lnSpc>
                        <a:spcBef>
                          <a:spcPts val="0"/>
                        </a:spcBef>
                        <a:spcAft>
                          <a:spcPts val="0"/>
                        </a:spcAft>
                      </a:pPr>
                      <a:r>
                        <a:rPr lang="en-US" sz="1050" b="1">
                          <a:effectLst/>
                        </a:rPr>
                        <a:t>12346</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Aug 12 2002</a:t>
                      </a:r>
                    </a:p>
                    <a:p>
                      <a:pPr marL="0" marR="0">
                        <a:lnSpc>
                          <a:spcPct val="107000"/>
                        </a:lnSpc>
                        <a:spcBef>
                          <a:spcPts val="0"/>
                        </a:spcBef>
                        <a:spcAft>
                          <a:spcPts val="0"/>
                        </a:spcAft>
                      </a:pPr>
                      <a:r>
                        <a:rPr lang="en-US" sz="1050" b="1">
                          <a:effectLst/>
                        </a:rPr>
                        <a:t> </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AQX88916</a:t>
                      </a:r>
                    </a:p>
                    <a:p>
                      <a:pPr marL="0" marR="0">
                        <a:lnSpc>
                          <a:spcPct val="107000"/>
                        </a:lnSpc>
                        <a:spcBef>
                          <a:spcPts val="0"/>
                        </a:spcBef>
                        <a:spcAft>
                          <a:spcPts val="0"/>
                        </a:spcAft>
                      </a:pPr>
                      <a:r>
                        <a:rPr lang="en-US" sz="1050" b="1" dirty="0">
                          <a:effectLst/>
                        </a:rPr>
                        <a:t> </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7</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167.65</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Sara Thompson</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1113-7741</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Wayne</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Jones</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42 York Street</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kumimoji="0" lang="en-US" sz="900" b="1" i="0" u="none" strike="noStrike" kern="1200" cap="none" spc="0" normalizeH="0" baseline="0" noProof="0">
                          <a:ln>
                            <a:noFill/>
                          </a:ln>
                          <a:solidFill>
                            <a:srgbClr val="000000"/>
                          </a:solidFill>
                          <a:effectLst/>
                          <a:uLnTx/>
                          <a:uFillTx/>
                          <a:latin typeface="Helvetica"/>
                          <a:ea typeface="+mn-ea"/>
                          <a:cs typeface="+mn-cs"/>
                        </a:rPr>
                        <a:t>&lt;</a:t>
                      </a:r>
                      <a:r>
                        <a:rPr kumimoji="0" lang="en-US" sz="900" b="1" i="1" u="none" strike="noStrike" kern="1200" cap="none" spc="0" normalizeH="0" baseline="0" noProof="0">
                          <a:ln>
                            <a:noFill/>
                          </a:ln>
                          <a:solidFill>
                            <a:srgbClr val="000000"/>
                          </a:solidFill>
                          <a:effectLst/>
                          <a:uLnTx/>
                          <a:uFillTx/>
                          <a:latin typeface="Helvetica"/>
                          <a:ea typeface="+mn-ea"/>
                          <a:cs typeface="+mn-cs"/>
                        </a:rPr>
                        <a:t>null&gt;</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extLst>
                  <a:ext uri="{0D108BD9-81ED-4DB2-BD59-A6C34878D82A}">
                    <a16:rowId xmlns:a16="http://schemas.microsoft.com/office/drawing/2014/main" val="1020454084"/>
                  </a:ext>
                </a:extLst>
              </a:tr>
              <a:tr h="360999">
                <a:tc>
                  <a:txBody>
                    <a:bodyPr/>
                    <a:lstStyle/>
                    <a:p>
                      <a:pPr marL="0" marR="0">
                        <a:lnSpc>
                          <a:spcPct val="107000"/>
                        </a:lnSpc>
                        <a:spcBef>
                          <a:spcPts val="0"/>
                        </a:spcBef>
                        <a:spcAft>
                          <a:spcPts val="0"/>
                        </a:spcAft>
                      </a:pPr>
                      <a:r>
                        <a:rPr lang="en-US" sz="1050" b="1">
                          <a:effectLst/>
                        </a:rPr>
                        <a:t>12347</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Aug 13 2002</a:t>
                      </a:r>
                    </a:p>
                    <a:p>
                      <a:pPr marL="0" marR="0">
                        <a:lnSpc>
                          <a:spcPct val="107000"/>
                        </a:lnSpc>
                        <a:spcBef>
                          <a:spcPts val="0"/>
                        </a:spcBef>
                        <a:spcAft>
                          <a:spcPts val="0"/>
                        </a:spcAft>
                      </a:pPr>
                      <a:r>
                        <a:rPr lang="en-US" sz="1050" b="1">
                          <a:effectLst/>
                        </a:rPr>
                        <a:t> </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AHL46785</a:t>
                      </a:r>
                    </a:p>
                    <a:p>
                      <a:pPr marL="0" marR="0">
                        <a:lnSpc>
                          <a:spcPct val="107000"/>
                        </a:lnSpc>
                        <a:spcBef>
                          <a:spcPts val="0"/>
                        </a:spcBef>
                        <a:spcAft>
                          <a:spcPts val="0"/>
                        </a:spcAft>
                      </a:pPr>
                      <a:r>
                        <a:rPr lang="en-US" sz="1050" b="1">
                          <a:effectLst/>
                        </a:rPr>
                        <a:t> </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3705</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5001.75</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Li Qing</a:t>
                      </a:r>
                    </a:p>
                    <a:p>
                      <a:pPr marL="0" marR="0">
                        <a:lnSpc>
                          <a:spcPct val="107000"/>
                        </a:lnSpc>
                        <a:spcBef>
                          <a:spcPts val="0"/>
                        </a:spcBef>
                        <a:spcAft>
                          <a:spcPts val="0"/>
                        </a:spcAft>
                      </a:pPr>
                      <a:r>
                        <a:rPr lang="en-US" sz="1050" b="1" dirty="0">
                          <a:effectLst/>
                        </a:rPr>
                        <a:t> </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1166-3461</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Amelia</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Waverley</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995 Forth Street</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kumimoji="0" lang="en-US" sz="900" b="1" i="0" u="none" strike="noStrike" kern="1200" cap="none" spc="0" normalizeH="0" baseline="0" noProof="0">
                          <a:ln>
                            <a:noFill/>
                          </a:ln>
                          <a:solidFill>
                            <a:srgbClr val="000000"/>
                          </a:solidFill>
                          <a:effectLst/>
                          <a:uLnTx/>
                          <a:uFillTx/>
                          <a:latin typeface="Helvetica"/>
                          <a:ea typeface="+mn-ea"/>
                          <a:cs typeface="+mn-cs"/>
                        </a:rPr>
                        <a:t>&lt;</a:t>
                      </a:r>
                      <a:r>
                        <a:rPr kumimoji="0" lang="en-US" sz="900" b="1" i="1" u="none" strike="noStrike" kern="1200" cap="none" spc="0" normalizeH="0" baseline="0" noProof="0">
                          <a:ln>
                            <a:noFill/>
                          </a:ln>
                          <a:solidFill>
                            <a:srgbClr val="000000"/>
                          </a:solidFill>
                          <a:effectLst/>
                          <a:uLnTx/>
                          <a:uFillTx/>
                          <a:latin typeface="Helvetica"/>
                          <a:ea typeface="+mn-ea"/>
                          <a:cs typeface="+mn-cs"/>
                        </a:rPr>
                        <a:t>null&gt;</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extLst>
                  <a:ext uri="{0D108BD9-81ED-4DB2-BD59-A6C34878D82A}">
                    <a16:rowId xmlns:a16="http://schemas.microsoft.com/office/drawing/2014/main" val="1241532585"/>
                  </a:ext>
                </a:extLst>
              </a:tr>
              <a:tr h="256134">
                <a:tc>
                  <a:txBody>
                    <a:bodyPr/>
                    <a:lstStyle/>
                    <a:p>
                      <a:pPr marL="0" marR="0">
                        <a:lnSpc>
                          <a:spcPct val="107000"/>
                        </a:lnSpc>
                        <a:spcBef>
                          <a:spcPts val="0"/>
                        </a:spcBef>
                        <a:spcAft>
                          <a:spcPts val="0"/>
                        </a:spcAft>
                      </a:pPr>
                      <a:r>
                        <a:rPr lang="en-US" sz="1050" b="1">
                          <a:effectLst/>
                        </a:rPr>
                        <a:t>12348</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Aug 13 2002</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DHU69863</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50</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118.5</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Sara Thompson</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gn="ctr">
                        <a:lnSpc>
                          <a:spcPct val="107000"/>
                        </a:lnSpc>
                        <a:spcBef>
                          <a:spcPts val="0"/>
                        </a:spcBef>
                        <a:spcAft>
                          <a:spcPts val="0"/>
                        </a:spcAft>
                      </a:pPr>
                      <a:r>
                        <a:rPr lang="en-US" sz="1050" b="1" dirty="0">
                          <a:effectLst/>
                        </a:rPr>
                        <a:t> &lt;</a:t>
                      </a:r>
                      <a:r>
                        <a:rPr lang="en-US" sz="1050" b="1" i="1" dirty="0">
                          <a:effectLst/>
                        </a:rPr>
                        <a:t>null&gt;</a:t>
                      </a:r>
                      <a:endParaRPr lang="en-US" sz="1050" b="1" i="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 &lt;</a:t>
                      </a:r>
                      <a:r>
                        <a:rPr lang="en-US" sz="1050" b="1" i="1" dirty="0">
                          <a:effectLst/>
                        </a:rPr>
                        <a:t>null&gt;</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 &lt;</a:t>
                      </a:r>
                      <a:r>
                        <a:rPr lang="en-US" sz="1050" b="1" i="1" dirty="0">
                          <a:effectLst/>
                        </a:rPr>
                        <a:t>null&gt;</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 &lt;</a:t>
                      </a:r>
                      <a:r>
                        <a:rPr lang="en-US" sz="1050" b="1" i="1" dirty="0">
                          <a:effectLst/>
                        </a:rPr>
                        <a:t>null&gt;</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kumimoji="0" lang="en-US" sz="900" b="1" i="0" u="none" strike="noStrike" kern="1200" cap="none" spc="0" normalizeH="0" baseline="0" noProof="0">
                          <a:ln>
                            <a:noFill/>
                          </a:ln>
                          <a:solidFill>
                            <a:srgbClr val="000000"/>
                          </a:solidFill>
                          <a:effectLst/>
                          <a:uLnTx/>
                          <a:uFillTx/>
                          <a:latin typeface="Helvetica"/>
                          <a:ea typeface="+mn-ea"/>
                          <a:cs typeface="+mn-cs"/>
                        </a:rPr>
                        <a:t>&lt;</a:t>
                      </a:r>
                      <a:r>
                        <a:rPr kumimoji="0" lang="en-US" sz="900" b="1" i="1" u="none" strike="noStrike" kern="1200" cap="none" spc="0" normalizeH="0" baseline="0" noProof="0">
                          <a:ln>
                            <a:noFill/>
                          </a:ln>
                          <a:solidFill>
                            <a:srgbClr val="000000"/>
                          </a:solidFill>
                          <a:effectLst/>
                          <a:uLnTx/>
                          <a:uFillTx/>
                          <a:latin typeface="Helvetica"/>
                          <a:ea typeface="+mn-ea"/>
                          <a:cs typeface="+mn-cs"/>
                        </a:rPr>
                        <a:t>null&gt;</a:t>
                      </a:r>
                      <a:endParaRPr lang="en-US" sz="90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extLst>
                  <a:ext uri="{0D108BD9-81ED-4DB2-BD59-A6C34878D82A}">
                    <a16:rowId xmlns:a16="http://schemas.microsoft.com/office/drawing/2014/main" val="897738917"/>
                  </a:ext>
                </a:extLst>
              </a:tr>
              <a:tr h="256134">
                <a:tc>
                  <a:txBody>
                    <a:bodyPr/>
                    <a:lstStyle/>
                    <a:p>
                      <a:pPr marL="0" marR="0">
                        <a:lnSpc>
                          <a:spcPct val="107000"/>
                        </a:lnSpc>
                        <a:spcBef>
                          <a:spcPts val="0"/>
                        </a:spcBef>
                        <a:spcAft>
                          <a:spcPts val="0"/>
                        </a:spcAft>
                      </a:pPr>
                      <a:r>
                        <a:rPr lang="en-US" sz="1050" b="1">
                          <a:effectLst/>
                        </a:rPr>
                        <a:t>12349</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Aug 14 2002</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DHU69863</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940</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2227.8</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Sara Thompson</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1166-3461</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Amelia</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Waverley</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995 Forth Street</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kumimoji="0" lang="en-US" sz="900" b="1" i="0" u="none" strike="noStrike" kern="1200" cap="none" spc="0" normalizeH="0" baseline="0" noProof="0">
                          <a:ln>
                            <a:noFill/>
                          </a:ln>
                          <a:solidFill>
                            <a:srgbClr val="000000"/>
                          </a:solidFill>
                          <a:effectLst/>
                          <a:uLnTx/>
                          <a:uFillTx/>
                          <a:latin typeface="Helvetica"/>
                          <a:ea typeface="+mn-ea"/>
                          <a:cs typeface="+mn-cs"/>
                        </a:rPr>
                        <a:t>&lt;</a:t>
                      </a:r>
                      <a:r>
                        <a:rPr kumimoji="0" lang="en-US" sz="900" b="1" i="1" u="none" strike="noStrike" kern="1200" cap="none" spc="0" normalizeH="0" baseline="0" noProof="0">
                          <a:ln>
                            <a:noFill/>
                          </a:ln>
                          <a:solidFill>
                            <a:srgbClr val="000000"/>
                          </a:solidFill>
                          <a:effectLst/>
                          <a:uLnTx/>
                          <a:uFillTx/>
                          <a:latin typeface="Helvetica"/>
                          <a:ea typeface="+mn-ea"/>
                          <a:cs typeface="+mn-cs"/>
                        </a:rPr>
                        <a:t>null&gt;</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extLst>
                  <a:ext uri="{0D108BD9-81ED-4DB2-BD59-A6C34878D82A}">
                    <a16:rowId xmlns:a16="http://schemas.microsoft.com/office/drawing/2014/main" val="4176984474"/>
                  </a:ext>
                </a:extLst>
              </a:tr>
              <a:tr h="256134">
                <a:tc>
                  <a:txBody>
                    <a:bodyPr/>
                    <a:lstStyle/>
                    <a:p>
                      <a:pPr marL="0" marR="0">
                        <a:lnSpc>
                          <a:spcPct val="107000"/>
                        </a:lnSpc>
                        <a:spcBef>
                          <a:spcPts val="0"/>
                        </a:spcBef>
                        <a:spcAft>
                          <a:spcPts val="0"/>
                        </a:spcAft>
                      </a:pPr>
                      <a:r>
                        <a:rPr lang="en-US" sz="1050" b="1">
                          <a:effectLst/>
                        </a:rPr>
                        <a:t>12350</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Aug 14 2002</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DHU69863</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42</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99.54</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Sara Thompson</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7671-3496</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Antonio</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Gonzales</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55B Granary Lane</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kumimoji="0" lang="en-US" sz="900" b="1" i="0" u="none" strike="noStrike" kern="1200" cap="none" spc="0" normalizeH="0" baseline="0" noProof="0" dirty="0">
                          <a:ln>
                            <a:noFill/>
                          </a:ln>
                          <a:solidFill>
                            <a:srgbClr val="000000"/>
                          </a:solidFill>
                          <a:effectLst/>
                          <a:uLnTx/>
                          <a:uFillTx/>
                          <a:latin typeface="Helvetica"/>
                          <a:ea typeface="+mn-ea"/>
                          <a:cs typeface="+mn-cs"/>
                        </a:rPr>
                        <a:t>&lt;</a:t>
                      </a:r>
                      <a:r>
                        <a:rPr kumimoji="0" lang="en-US" sz="900" b="1" i="1" u="none" strike="noStrike" kern="1200" cap="none" spc="0" normalizeH="0" baseline="0" noProof="0" dirty="0">
                          <a:ln>
                            <a:noFill/>
                          </a:ln>
                          <a:solidFill>
                            <a:srgbClr val="000000"/>
                          </a:solidFill>
                          <a:effectLst/>
                          <a:uLnTx/>
                          <a:uFillTx/>
                          <a:latin typeface="Helvetica"/>
                          <a:ea typeface="+mn-ea"/>
                          <a:cs typeface="+mn-cs"/>
                        </a:rPr>
                        <a:t>null&gt;</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extLst>
                  <a:ext uri="{0D108BD9-81ED-4DB2-BD59-A6C34878D82A}">
                    <a16:rowId xmlns:a16="http://schemas.microsoft.com/office/drawing/2014/main" val="643762065"/>
                  </a:ext>
                </a:extLst>
              </a:tr>
              <a:tr h="360999">
                <a:tc>
                  <a:txBody>
                    <a:bodyPr/>
                    <a:lstStyle/>
                    <a:p>
                      <a:pPr marL="0" marR="0">
                        <a:lnSpc>
                          <a:spcPct val="107000"/>
                        </a:lnSpc>
                        <a:spcBef>
                          <a:spcPts val="0"/>
                        </a:spcBef>
                        <a:spcAft>
                          <a:spcPts val="0"/>
                        </a:spcAft>
                      </a:pPr>
                      <a:r>
                        <a:rPr lang="en-US" sz="1050" b="1" dirty="0">
                          <a:effectLst/>
                        </a:rPr>
                        <a:t>12351</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Aug 14 2002</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AQX88916</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55</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1317.25</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Dave Williams</a:t>
                      </a:r>
                    </a:p>
                    <a:p>
                      <a:pPr marL="0" marR="0">
                        <a:lnSpc>
                          <a:spcPct val="107000"/>
                        </a:lnSpc>
                        <a:spcBef>
                          <a:spcPts val="0"/>
                        </a:spcBef>
                        <a:spcAft>
                          <a:spcPts val="0"/>
                        </a:spcAft>
                      </a:pPr>
                      <a:r>
                        <a:rPr lang="en-US" sz="1050" b="1" dirty="0">
                          <a:effectLst/>
                        </a:rPr>
                        <a:t> </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6794-1674</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Diane</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Adams</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364 East Road</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150</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extLst>
                  <a:ext uri="{0D108BD9-81ED-4DB2-BD59-A6C34878D82A}">
                    <a16:rowId xmlns:a16="http://schemas.microsoft.com/office/drawing/2014/main" val="1134904673"/>
                  </a:ext>
                </a:extLst>
              </a:tr>
            </a:tbl>
          </a:graphicData>
        </a:graphic>
      </p:graphicFrame>
    </p:spTree>
    <p:extLst>
      <p:ext uri="{BB962C8B-B14F-4D97-AF65-F5344CB8AC3E}">
        <p14:creationId xmlns:p14="http://schemas.microsoft.com/office/powerpoint/2010/main" val="64694187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4338" name="Rectangle 2"/>
          <p:cNvSpPr>
            <a:spLocks noGrp="1" noChangeArrowheads="1"/>
          </p:cNvSpPr>
          <p:nvPr>
            <p:ph type="title"/>
          </p:nvPr>
        </p:nvSpPr>
        <p:spPr>
          <a:xfrm>
            <a:off x="878078" y="117475"/>
            <a:ext cx="8077200" cy="609600"/>
          </a:xfrm>
        </p:spPr>
        <p:txBody>
          <a:bodyPr/>
          <a:lstStyle/>
          <a:p>
            <a:pPr>
              <a:defRPr/>
            </a:pPr>
            <a:r>
              <a:rPr lang="fa-IR" dirty="0"/>
              <a:t>یک </a:t>
            </a:r>
            <a:r>
              <a:rPr lang="fa-IR" dirty="0" err="1"/>
              <a:t>شِمای</a:t>
            </a:r>
            <a:r>
              <a:rPr lang="fa-IR" dirty="0"/>
              <a:t> ترکیبی بدون تکرار</a:t>
            </a:r>
            <a:endParaRPr lang="en-US" altLang="en-US" sz="2800" dirty="0">
              <a:effectLst>
                <a:outerShdw blurRad="38100" dist="38100" dir="2700000" algn="tl">
                  <a:srgbClr val="C0C0C0"/>
                </a:outerShdw>
              </a:effectLst>
              <a:ea typeface="ＭＳ Ｐゴシック" pitchFamily="34" charset="-128"/>
            </a:endParaRPr>
          </a:p>
        </p:txBody>
      </p:sp>
      <p:sp>
        <p:nvSpPr>
          <p:cNvPr id="9219" name="Rectangle 3"/>
          <p:cNvSpPr>
            <a:spLocks noGrp="1" noChangeArrowheads="1"/>
          </p:cNvSpPr>
          <p:nvPr>
            <p:ph idx="1"/>
          </p:nvPr>
        </p:nvSpPr>
        <p:spPr>
          <a:xfrm>
            <a:off x="152400" y="1705471"/>
            <a:ext cx="8802878" cy="4390529"/>
          </a:xfrm>
        </p:spPr>
        <p:txBody>
          <a:bodyPr/>
          <a:lstStyle/>
          <a:p>
            <a:pPr algn="r" rtl="1"/>
            <a:r>
              <a:rPr lang="fa-IR" sz="3200" dirty="0"/>
              <a:t>در نظر بگیرید جدول </a:t>
            </a:r>
            <a:r>
              <a:rPr lang="en-US" sz="3200" dirty="0" err="1"/>
              <a:t>sec_class</a:t>
            </a:r>
            <a:r>
              <a:rPr lang="en-US" sz="3200" dirty="0"/>
              <a:t> </a:t>
            </a:r>
            <a:r>
              <a:rPr lang="fa-IR" sz="3200" dirty="0"/>
              <a:t>و </a:t>
            </a:r>
            <a:r>
              <a:rPr lang="en-US" sz="3200" dirty="0"/>
              <a:t>section </a:t>
            </a:r>
            <a:r>
              <a:rPr lang="fa-IR" sz="3200" dirty="0"/>
              <a:t>را ترکیب کنیم</a:t>
            </a:r>
            <a:endParaRPr lang="en-US" altLang="en-US" sz="3200" dirty="0"/>
          </a:p>
          <a:p>
            <a:pPr lvl="1"/>
            <a:r>
              <a:rPr lang="en-US" altLang="en-US" sz="2800" i="1" dirty="0" err="1"/>
              <a:t>sec_class</a:t>
            </a:r>
            <a:r>
              <a:rPr lang="en-US" altLang="en-US" sz="2800" i="1" dirty="0"/>
              <a:t>(</a:t>
            </a:r>
            <a:r>
              <a:rPr lang="en-US" altLang="en-US" sz="2800" i="1" dirty="0" err="1"/>
              <a:t>sec_id</a:t>
            </a:r>
            <a:r>
              <a:rPr lang="en-US" altLang="en-US" sz="2800" i="1" dirty="0"/>
              <a:t>, building, </a:t>
            </a:r>
            <a:r>
              <a:rPr lang="en-US" altLang="en-US" sz="2800" i="1" dirty="0" err="1"/>
              <a:t>room_number</a:t>
            </a:r>
            <a:r>
              <a:rPr lang="en-US" altLang="en-US" sz="2800" i="1" dirty="0"/>
              <a:t>)</a:t>
            </a:r>
            <a:r>
              <a:rPr lang="en-US" altLang="en-US" sz="2800" dirty="0"/>
              <a:t> and </a:t>
            </a:r>
          </a:p>
          <a:p>
            <a:pPr lvl="1"/>
            <a:r>
              <a:rPr lang="en-US" altLang="en-US" sz="2800" i="1" dirty="0"/>
              <a:t>section(</a:t>
            </a:r>
            <a:r>
              <a:rPr lang="en-US" altLang="en-US" sz="2800" i="1" dirty="0" err="1"/>
              <a:t>course_id</a:t>
            </a:r>
            <a:r>
              <a:rPr lang="en-US" altLang="en-US" sz="2800" i="1" dirty="0"/>
              <a:t>, </a:t>
            </a:r>
            <a:r>
              <a:rPr lang="en-US" altLang="en-US" sz="2800" i="1" dirty="0" err="1"/>
              <a:t>sec_id</a:t>
            </a:r>
            <a:r>
              <a:rPr lang="en-US" altLang="en-US" sz="2800" i="1" dirty="0"/>
              <a:t>, semester, year) </a:t>
            </a:r>
          </a:p>
          <a:p>
            <a:pPr lvl="1">
              <a:buFont typeface="Monotype Sorts" pitchFamily="-84" charset="2"/>
              <a:buNone/>
            </a:pPr>
            <a:r>
              <a:rPr lang="en-US" altLang="en-US" sz="2800" dirty="0"/>
              <a:t>into one relation</a:t>
            </a:r>
          </a:p>
          <a:p>
            <a:pPr lvl="1"/>
            <a:r>
              <a:rPr lang="en-US" altLang="en-US" sz="2800" i="1" dirty="0"/>
              <a:t>section(</a:t>
            </a:r>
            <a:r>
              <a:rPr lang="en-US" altLang="en-US" sz="2800" i="1" dirty="0" err="1"/>
              <a:t>course_id</a:t>
            </a:r>
            <a:r>
              <a:rPr lang="en-US" altLang="en-US" sz="2800" i="1" dirty="0"/>
              <a:t>, </a:t>
            </a:r>
            <a:r>
              <a:rPr lang="en-US" altLang="en-US" sz="2800" i="1" dirty="0" err="1"/>
              <a:t>sec_id</a:t>
            </a:r>
            <a:r>
              <a:rPr lang="en-US" altLang="en-US" sz="2800" i="1" dirty="0"/>
              <a:t>, semester, year, </a:t>
            </a:r>
            <a:br>
              <a:rPr lang="en-US" altLang="en-US" sz="2800" i="1" dirty="0"/>
            </a:br>
            <a:r>
              <a:rPr lang="en-US" altLang="en-US" sz="2800" i="1" dirty="0"/>
              <a:t>               building, </a:t>
            </a:r>
            <a:r>
              <a:rPr lang="en-US" altLang="en-US" sz="2800" i="1" dirty="0" err="1"/>
              <a:t>room_number</a:t>
            </a:r>
            <a:r>
              <a:rPr lang="en-US" altLang="en-US" sz="2800" i="1" dirty="0"/>
              <a:t>)</a:t>
            </a:r>
          </a:p>
          <a:p>
            <a:pPr algn="r" rtl="1"/>
            <a:r>
              <a:rPr lang="fa-IR" sz="3200" dirty="0"/>
              <a:t>در این حالت تکراری رخ </a:t>
            </a:r>
            <a:r>
              <a:rPr lang="fa-IR" sz="3200" dirty="0" err="1"/>
              <a:t>نمی‌دهد</a:t>
            </a:r>
            <a:endParaRPr lang="en-US" altLang="en-US" sz="3200" dirty="0"/>
          </a:p>
        </p:txBody>
      </p:sp>
      <p:sp>
        <p:nvSpPr>
          <p:cNvPr id="2" name="TextBox 1"/>
          <p:cNvSpPr txBox="1"/>
          <p:nvPr/>
        </p:nvSpPr>
        <p:spPr>
          <a:xfrm>
            <a:off x="152400" y="1128045"/>
            <a:ext cx="8839200" cy="461665"/>
          </a:xfrm>
          <a:prstGeom prst="rect">
            <a:avLst/>
          </a:prstGeom>
          <a:noFill/>
        </p:spPr>
        <p:txBody>
          <a:bodyPr wrap="square" rtlCol="0">
            <a:spAutoFit/>
          </a:bodyPr>
          <a:lstStyle/>
          <a:p>
            <a:pPr algn="r" rtl="1"/>
            <a:r>
              <a:rPr lang="fa-IR" sz="2400" dirty="0" err="1">
                <a:cs typeface="B Nazanin" panose="00000400000000000000" pitchFamily="2" charset="-78"/>
              </a:rPr>
              <a:t>همهٔ</a:t>
            </a:r>
            <a:r>
              <a:rPr lang="fa-IR" sz="2400" dirty="0">
                <a:cs typeface="B Nazanin" panose="00000400000000000000" pitchFamily="2" charset="-78"/>
              </a:rPr>
              <a:t> </a:t>
            </a:r>
            <a:r>
              <a:rPr lang="fa-IR" sz="2400" dirty="0" err="1">
                <a:cs typeface="B Nazanin" panose="00000400000000000000" pitchFamily="2" charset="-78"/>
              </a:rPr>
              <a:t>ترکیب‌ها</a:t>
            </a:r>
            <a:r>
              <a:rPr lang="fa-IR" sz="2400" dirty="0">
                <a:cs typeface="B Nazanin" panose="00000400000000000000" pitchFamily="2" charset="-78"/>
              </a:rPr>
              <a:t> </a:t>
            </a:r>
            <a:r>
              <a:rPr lang="fa-IR" sz="2400" dirty="0" err="1">
                <a:cs typeface="B Nazanin" panose="00000400000000000000" pitchFamily="2" charset="-78"/>
              </a:rPr>
              <a:t>الزاماً</a:t>
            </a:r>
            <a:r>
              <a:rPr lang="fa-IR" sz="2400" dirty="0">
                <a:cs typeface="B Nazanin" panose="00000400000000000000" pitchFamily="2" charset="-78"/>
              </a:rPr>
              <a:t> باعث تکرار اطلاعات </a:t>
            </a:r>
            <a:r>
              <a:rPr lang="fa-IR" sz="2400" dirty="0" err="1">
                <a:cs typeface="B Nazanin" panose="00000400000000000000" pitchFamily="2" charset="-78"/>
              </a:rPr>
              <a:t>نمی‌شوند</a:t>
            </a:r>
            <a:r>
              <a:rPr lang="fa-IR" sz="2400" dirty="0">
                <a:cs typeface="B Nazanin" panose="00000400000000000000" pitchFamily="2" charset="-78"/>
              </a:rPr>
              <a:t>.</a:t>
            </a:r>
            <a:endParaRPr lang="en-US" sz="2400" dirty="0">
              <a:cs typeface="B Nazanin" panose="00000400000000000000" pitchFamily="2" charset="-78"/>
            </a:endParaRPr>
          </a:p>
        </p:txBody>
      </p:sp>
    </p:spTree>
    <p:extLst>
      <p:ext uri="{BB962C8B-B14F-4D97-AF65-F5344CB8AC3E}">
        <p14:creationId xmlns:p14="http://schemas.microsoft.com/office/powerpoint/2010/main" val="3098888607"/>
      </p:ext>
    </p:extLst>
  </p:cSld>
  <p:clrMapOvr>
    <a:masterClrMapping/>
  </p:clrMapOvr>
  <p:transition spd="slow"/>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9DFE179B-AD57-478B-A5E9-7B94415F2252}"/>
              </a:ext>
            </a:extLst>
          </p:cNvPr>
          <p:cNvSpPr>
            <a:spLocks noGrp="1"/>
          </p:cNvSpPr>
          <p:nvPr>
            <p:ph idx="1"/>
          </p:nvPr>
        </p:nvSpPr>
        <p:spPr>
          <a:xfrm>
            <a:off x="588161" y="597049"/>
            <a:ext cx="8555839" cy="5288905"/>
          </a:xfrm>
        </p:spPr>
        <p:txBody>
          <a:bodyPr/>
          <a:lstStyle/>
          <a:p>
            <a:pPr marL="0" marR="0" algn="r" rtl="1">
              <a:lnSpc>
                <a:spcPct val="107000"/>
              </a:lnSpc>
              <a:spcBef>
                <a:spcPts val="0"/>
              </a:spcBef>
              <a:spcAft>
                <a:spcPts val="800"/>
              </a:spcAft>
            </a:pPr>
            <a:r>
              <a:rPr lang="ar-SA" sz="1600" dirty="0">
                <a:solidFill>
                  <a:srgbClr val="000000"/>
                </a:solidFill>
                <a:latin typeface="Tahoma" panose="020B0604030504040204" pitchFamily="34" charset="0"/>
              </a:rPr>
              <a:t>با کلید اصلی ترکیبی </a:t>
            </a:r>
            <a:r>
              <a:rPr lang="en-US" sz="1600" dirty="0">
                <a:solidFill>
                  <a:srgbClr val="000000"/>
                </a:solidFill>
                <a:latin typeface="Tahoma" panose="020B0604030504040204" pitchFamily="34" charset="0"/>
              </a:rPr>
              <a:t>(</a:t>
            </a:r>
            <a:r>
              <a:rPr lang="en-US" sz="1600" dirty="0" err="1">
                <a:solidFill>
                  <a:srgbClr val="000000"/>
                </a:solidFill>
                <a:latin typeface="Tahoma" panose="020B0604030504040204" pitchFamily="34" charset="0"/>
              </a:rPr>
              <a:t>SaleNo</a:t>
            </a:r>
            <a:r>
              <a:rPr lang="en-US" sz="1600" dirty="0">
                <a:solidFill>
                  <a:srgbClr val="000000"/>
                </a:solidFill>
                <a:latin typeface="Tahoma" panose="020B0604030504040204" pitchFamily="34" charset="0"/>
              </a:rPr>
              <a:t>, </a:t>
            </a:r>
            <a:r>
              <a:rPr lang="en-US" sz="1600" dirty="0" err="1">
                <a:solidFill>
                  <a:srgbClr val="000000"/>
                </a:solidFill>
                <a:latin typeface="Tahoma" panose="020B0604030504040204" pitchFamily="34" charset="0"/>
              </a:rPr>
              <a:t>ProductNo</a:t>
            </a:r>
            <a:r>
              <a:rPr lang="en-US" sz="1600" dirty="0">
                <a:solidFill>
                  <a:srgbClr val="000000"/>
                </a:solidFill>
                <a:latin typeface="Tahoma" panose="020B0604030504040204" pitchFamily="34" charset="0"/>
              </a:rPr>
              <a:t>, </a:t>
            </a:r>
            <a:r>
              <a:rPr lang="en-US" sz="1600" dirty="0" err="1">
                <a:solidFill>
                  <a:srgbClr val="000000"/>
                </a:solidFill>
                <a:latin typeface="Tahoma" panose="020B0604030504040204" pitchFamily="34" charset="0"/>
              </a:rPr>
              <a:t>CustomerNo</a:t>
            </a:r>
            <a:r>
              <a:rPr lang="en-US" sz="1600" dirty="0">
                <a:solidFill>
                  <a:srgbClr val="000000"/>
                </a:solidFill>
                <a:latin typeface="Tahoma" panose="020B0604030504040204" pitchFamily="34" charset="0"/>
              </a:rPr>
              <a:t>)</a:t>
            </a:r>
            <a:r>
              <a:rPr lang="ar-SA" sz="1600" dirty="0">
                <a:solidFill>
                  <a:srgbClr val="000000"/>
                </a:solidFill>
                <a:latin typeface="Tahoma" panose="020B0604030504040204" pitchFamily="34" charset="0"/>
              </a:rPr>
              <a:t>، وابستگی صفات غیر کلیدی را بررسی می‌کنیم</a:t>
            </a:r>
            <a:r>
              <a:rPr lang="en-US" sz="1600" dirty="0">
                <a:solidFill>
                  <a:srgbClr val="000000"/>
                </a:solidFill>
                <a:latin typeface="Tahoma" panose="020B0604030504040204" pitchFamily="34" charset="0"/>
              </a:rPr>
              <a:t>:</a:t>
            </a:r>
          </a:p>
          <a:p>
            <a:pPr marL="342900" marR="0" lvl="0" indent="-342900" algn="r" rtl="1">
              <a:lnSpc>
                <a:spcPct val="107000"/>
              </a:lnSpc>
              <a:spcBef>
                <a:spcPts val="0"/>
              </a:spcBef>
              <a:spcAft>
                <a:spcPts val="800"/>
              </a:spcAft>
              <a:buFont typeface="+mj-lt"/>
              <a:buAutoNum type="arabicPeriod"/>
              <a:tabLst>
                <a:tab pos="457200" algn="l"/>
              </a:tabLst>
            </a:pPr>
            <a:r>
              <a:rPr lang="en-US" sz="1600" dirty="0">
                <a:solidFill>
                  <a:srgbClr val="000000"/>
                </a:solidFill>
                <a:latin typeface="Tahoma" panose="020B0604030504040204" pitchFamily="34" charset="0"/>
              </a:rPr>
              <a:t>First</a:t>
            </a:r>
            <a:r>
              <a:rPr lang="ar-SA" sz="1600" dirty="0">
                <a:solidFill>
                  <a:srgbClr val="000000"/>
                </a:solidFill>
                <a:latin typeface="Tahoma" panose="020B0604030504040204" pitchFamily="34" charset="0"/>
              </a:rPr>
              <a:t>، </a:t>
            </a:r>
            <a:r>
              <a:rPr lang="en-US" sz="1600" dirty="0">
                <a:solidFill>
                  <a:srgbClr val="000000"/>
                </a:solidFill>
                <a:latin typeface="Tahoma" panose="020B0604030504040204" pitchFamily="34" charset="0"/>
              </a:rPr>
              <a:t>Last</a:t>
            </a:r>
            <a:r>
              <a:rPr lang="ar-SA" sz="1600" dirty="0">
                <a:solidFill>
                  <a:srgbClr val="000000"/>
                </a:solidFill>
                <a:latin typeface="Tahoma" panose="020B0604030504040204" pitchFamily="34" charset="0"/>
              </a:rPr>
              <a:t>، </a:t>
            </a:r>
            <a:r>
              <a:rPr lang="en-US" sz="1600" dirty="0">
                <a:solidFill>
                  <a:srgbClr val="000000"/>
                </a:solidFill>
                <a:latin typeface="Tahoma" panose="020B0604030504040204" pitchFamily="34" charset="0"/>
              </a:rPr>
              <a:t>Address</a:t>
            </a:r>
            <a:r>
              <a:rPr lang="ar-SA" sz="1600" dirty="0">
                <a:solidFill>
                  <a:srgbClr val="000000"/>
                </a:solidFill>
                <a:latin typeface="Tahoma" panose="020B0604030504040204" pitchFamily="34" charset="0"/>
              </a:rPr>
              <a:t>، </a:t>
            </a:r>
            <a:r>
              <a:rPr lang="en-US" sz="1600" dirty="0">
                <a:solidFill>
                  <a:srgbClr val="000000"/>
                </a:solidFill>
                <a:latin typeface="Tahoma" panose="020B0604030504040204" pitchFamily="34" charset="0"/>
              </a:rPr>
              <a:t>Credit Limit:</a:t>
            </a:r>
          </a:p>
          <a:p>
            <a:pPr marL="742950" marR="0" lvl="1" indent="-285750" algn="r" rtl="1">
              <a:lnSpc>
                <a:spcPct val="107000"/>
              </a:lnSpc>
              <a:spcBef>
                <a:spcPts val="0"/>
              </a:spcBef>
              <a:spcAft>
                <a:spcPts val="800"/>
              </a:spcAft>
              <a:buSzPts val="1000"/>
              <a:buFont typeface="Courier New" panose="02070309020205020404" pitchFamily="49" charset="0"/>
              <a:buChar char="o"/>
              <a:tabLst>
                <a:tab pos="914400" algn="l"/>
              </a:tabLst>
            </a:pPr>
            <a:r>
              <a:rPr lang="ar-SA" sz="1600" dirty="0">
                <a:solidFill>
                  <a:srgbClr val="000000"/>
                </a:solidFill>
                <a:latin typeface="Tahoma" panose="020B0604030504040204" pitchFamily="34" charset="0"/>
              </a:rPr>
              <a:t>این صفات فقط به </a:t>
            </a:r>
            <a:r>
              <a:rPr lang="en-US" sz="1600" dirty="0" err="1">
                <a:solidFill>
                  <a:srgbClr val="000000"/>
                </a:solidFill>
                <a:latin typeface="Tahoma" panose="020B0604030504040204" pitchFamily="34" charset="0"/>
              </a:rPr>
              <a:t>CustomerNo</a:t>
            </a:r>
            <a:r>
              <a:rPr lang="en-US" sz="1600" dirty="0">
                <a:solidFill>
                  <a:srgbClr val="000000"/>
                </a:solidFill>
                <a:latin typeface="Tahoma" panose="020B0604030504040204" pitchFamily="34" charset="0"/>
              </a:rPr>
              <a:t> </a:t>
            </a:r>
            <a:r>
              <a:rPr lang="ar-SA" sz="1600" dirty="0">
                <a:solidFill>
                  <a:srgbClr val="000000"/>
                </a:solidFill>
                <a:latin typeface="Tahoma" panose="020B0604030504040204" pitchFamily="34" charset="0"/>
              </a:rPr>
              <a:t>وابسته هستند و به کل کلید ترکیبی </a:t>
            </a:r>
            <a:r>
              <a:rPr lang="en-US" sz="1600" dirty="0">
                <a:solidFill>
                  <a:srgbClr val="000000"/>
                </a:solidFill>
                <a:latin typeface="Tahoma" panose="020B0604030504040204" pitchFamily="34" charset="0"/>
              </a:rPr>
              <a:t>(</a:t>
            </a:r>
            <a:r>
              <a:rPr lang="en-US" sz="1600" dirty="0" err="1">
                <a:solidFill>
                  <a:srgbClr val="000000"/>
                </a:solidFill>
                <a:latin typeface="Tahoma" panose="020B0604030504040204" pitchFamily="34" charset="0"/>
              </a:rPr>
              <a:t>SaleNo</a:t>
            </a:r>
            <a:r>
              <a:rPr lang="en-US" sz="1600" dirty="0">
                <a:solidFill>
                  <a:srgbClr val="000000"/>
                </a:solidFill>
                <a:latin typeface="Tahoma" panose="020B0604030504040204" pitchFamily="34" charset="0"/>
              </a:rPr>
              <a:t>, </a:t>
            </a:r>
            <a:r>
              <a:rPr lang="en-US" sz="1600" dirty="0" err="1">
                <a:solidFill>
                  <a:srgbClr val="000000"/>
                </a:solidFill>
                <a:latin typeface="Tahoma" panose="020B0604030504040204" pitchFamily="34" charset="0"/>
              </a:rPr>
              <a:t>ProductNo</a:t>
            </a:r>
            <a:r>
              <a:rPr lang="en-US" sz="1600" dirty="0">
                <a:solidFill>
                  <a:srgbClr val="000000"/>
                </a:solidFill>
                <a:latin typeface="Tahoma" panose="020B0604030504040204" pitchFamily="34" charset="0"/>
              </a:rPr>
              <a:t>, </a:t>
            </a:r>
            <a:r>
              <a:rPr lang="en-US" sz="1600" dirty="0" err="1">
                <a:solidFill>
                  <a:srgbClr val="000000"/>
                </a:solidFill>
                <a:latin typeface="Tahoma" panose="020B0604030504040204" pitchFamily="34" charset="0"/>
              </a:rPr>
              <a:t>CustomerNo</a:t>
            </a:r>
            <a:r>
              <a:rPr lang="en-US" sz="1600" dirty="0">
                <a:solidFill>
                  <a:srgbClr val="000000"/>
                </a:solidFill>
                <a:latin typeface="Tahoma" panose="020B0604030504040204" pitchFamily="34" charset="0"/>
              </a:rPr>
              <a:t>) </a:t>
            </a:r>
            <a:r>
              <a:rPr lang="ar-SA" sz="1600" dirty="0">
                <a:solidFill>
                  <a:srgbClr val="000000"/>
                </a:solidFill>
                <a:latin typeface="Tahoma" panose="020B0604030504040204" pitchFamily="34" charset="0"/>
              </a:rPr>
              <a:t>وابسته نیستند</a:t>
            </a:r>
            <a:r>
              <a:rPr lang="en-US" sz="1600" dirty="0">
                <a:solidFill>
                  <a:srgbClr val="000000"/>
                </a:solidFill>
                <a:latin typeface="Tahoma" panose="020B0604030504040204" pitchFamily="34" charset="0"/>
              </a:rPr>
              <a:t>.</a:t>
            </a:r>
          </a:p>
          <a:p>
            <a:pPr marL="742950" marR="0" lvl="1" indent="-285750" algn="r" rtl="1">
              <a:lnSpc>
                <a:spcPct val="107000"/>
              </a:lnSpc>
              <a:spcBef>
                <a:spcPts val="0"/>
              </a:spcBef>
              <a:spcAft>
                <a:spcPts val="800"/>
              </a:spcAft>
              <a:buSzPts val="1000"/>
              <a:buFont typeface="Courier New" panose="02070309020205020404" pitchFamily="49" charset="0"/>
              <a:buChar char="o"/>
              <a:tabLst>
                <a:tab pos="914400" algn="l"/>
              </a:tabLst>
            </a:pPr>
            <a:r>
              <a:rPr lang="ar-SA" sz="1600" dirty="0">
                <a:solidFill>
                  <a:srgbClr val="000000"/>
                </a:solidFill>
                <a:latin typeface="Tahoma" panose="020B0604030504040204" pitchFamily="34" charset="0"/>
              </a:rPr>
              <a:t>این موضوع باعث ایجاد وابستگی جزئی می‌شود و فرم 2</a:t>
            </a:r>
            <a:r>
              <a:rPr lang="en-US" sz="1600" dirty="0">
                <a:solidFill>
                  <a:srgbClr val="000000"/>
                </a:solidFill>
                <a:latin typeface="Tahoma" panose="020B0604030504040204" pitchFamily="34" charset="0"/>
              </a:rPr>
              <a:t>NF </a:t>
            </a:r>
            <a:r>
              <a:rPr lang="ar-SA" sz="1600" dirty="0">
                <a:solidFill>
                  <a:srgbClr val="000000"/>
                </a:solidFill>
                <a:latin typeface="Tahoma" panose="020B0604030504040204" pitchFamily="34" charset="0"/>
              </a:rPr>
              <a:t>را نقض می‌کند</a:t>
            </a:r>
            <a:r>
              <a:rPr lang="en-US" sz="1100" dirty="0">
                <a:effectLst/>
                <a:latin typeface="Times New Roman" panose="02020603050405020304" pitchFamily="18" charset="0"/>
                <a:ea typeface="Times New Roman" panose="02020603050405020304" pitchFamily="18" charset="0"/>
                <a:cs typeface="B Nazanin" panose="00000400000000000000" pitchFamily="2" charset="-78"/>
              </a:rPr>
              <a:t>.</a:t>
            </a:r>
            <a:endParaRPr lang="en-US" sz="1050" dirty="0">
              <a:effectLst/>
              <a:latin typeface="Calibri" panose="020F0502020204030204" pitchFamily="34" charset="0"/>
              <a:ea typeface="Calibri" panose="020F0502020204030204" pitchFamily="34" charset="0"/>
              <a:cs typeface="Times New Roman" panose="02020603050405020304" pitchFamily="18" charset="0"/>
            </a:endParaRPr>
          </a:p>
          <a:p>
            <a:pPr marL="342900" marR="0" lvl="0" indent="-342900" algn="r" rtl="1">
              <a:lnSpc>
                <a:spcPct val="107000"/>
              </a:lnSpc>
              <a:spcBef>
                <a:spcPts val="0"/>
              </a:spcBef>
              <a:spcAft>
                <a:spcPts val="800"/>
              </a:spcAft>
              <a:buFont typeface="+mj-lt"/>
              <a:buAutoNum type="arabicPeriod"/>
              <a:tabLst>
                <a:tab pos="457200" algn="l"/>
              </a:tabLst>
            </a:pPr>
            <a:r>
              <a:rPr lang="en-US" sz="1600" dirty="0" err="1">
                <a:solidFill>
                  <a:srgbClr val="000000"/>
                </a:solidFill>
                <a:latin typeface="Tahoma" panose="020B0604030504040204" pitchFamily="34" charset="0"/>
              </a:rPr>
              <a:t>Salesrep</a:t>
            </a:r>
            <a:r>
              <a:rPr lang="en-US" sz="1100" dirty="0">
                <a:effectLst/>
                <a:latin typeface="Times New Roman" panose="02020603050405020304" pitchFamily="18" charset="0"/>
                <a:ea typeface="Times New Roman" panose="02020603050405020304" pitchFamily="18" charset="0"/>
                <a:cs typeface="B Nazanin" panose="00000400000000000000" pitchFamily="2" charset="-78"/>
              </a:rPr>
              <a:t>:</a:t>
            </a:r>
            <a:r>
              <a:rPr lang="ar-SA" sz="1600" dirty="0">
                <a:solidFill>
                  <a:srgbClr val="000000"/>
                </a:solidFill>
                <a:latin typeface="Tahoma" panose="020B0604030504040204" pitchFamily="34" charset="0"/>
              </a:rPr>
              <a:t>فقط به </a:t>
            </a:r>
            <a:r>
              <a:rPr lang="en-US" sz="1600" dirty="0">
                <a:solidFill>
                  <a:srgbClr val="000000"/>
                </a:solidFill>
                <a:latin typeface="Tahoma" panose="020B0604030504040204" pitchFamily="34" charset="0"/>
              </a:rPr>
              <a:t> </a:t>
            </a:r>
            <a:r>
              <a:rPr lang="en-US" sz="1600" dirty="0" err="1">
                <a:solidFill>
                  <a:srgbClr val="000000"/>
                </a:solidFill>
                <a:latin typeface="Tahoma" panose="020B0604030504040204" pitchFamily="34" charset="0"/>
              </a:rPr>
              <a:t>SaleNo</a:t>
            </a:r>
            <a:r>
              <a:rPr lang="en-US" sz="1600" dirty="0">
                <a:solidFill>
                  <a:srgbClr val="000000"/>
                </a:solidFill>
                <a:latin typeface="Tahoma" panose="020B0604030504040204" pitchFamily="34" charset="0"/>
              </a:rPr>
              <a:t> </a:t>
            </a:r>
            <a:r>
              <a:rPr lang="ar-SA" sz="1600" dirty="0">
                <a:solidFill>
                  <a:srgbClr val="000000"/>
                </a:solidFill>
                <a:latin typeface="Tahoma" panose="020B0604030504040204" pitchFamily="34" charset="0"/>
              </a:rPr>
              <a:t>وابسته است (با فرض اینکه هر فروش نماینده فروش خاصی دارد) و به کل کلید ترکیبی </a:t>
            </a:r>
            <a:r>
              <a:rPr lang="en-US" sz="1600" dirty="0">
                <a:solidFill>
                  <a:srgbClr val="000000"/>
                </a:solidFill>
                <a:latin typeface="Tahoma" panose="020B0604030504040204" pitchFamily="34" charset="0"/>
              </a:rPr>
              <a:t>(</a:t>
            </a:r>
            <a:r>
              <a:rPr lang="en-US" sz="1600" dirty="0" err="1">
                <a:solidFill>
                  <a:srgbClr val="000000"/>
                </a:solidFill>
                <a:latin typeface="Tahoma" panose="020B0604030504040204" pitchFamily="34" charset="0"/>
              </a:rPr>
              <a:t>SaleNo</a:t>
            </a:r>
            <a:r>
              <a:rPr lang="en-US" sz="1600" dirty="0">
                <a:solidFill>
                  <a:srgbClr val="000000"/>
                </a:solidFill>
                <a:latin typeface="Tahoma" panose="020B0604030504040204" pitchFamily="34" charset="0"/>
              </a:rPr>
              <a:t>, </a:t>
            </a:r>
            <a:r>
              <a:rPr lang="en-US" sz="1600" dirty="0" err="1">
                <a:solidFill>
                  <a:srgbClr val="000000"/>
                </a:solidFill>
                <a:latin typeface="Tahoma" panose="020B0604030504040204" pitchFamily="34" charset="0"/>
              </a:rPr>
              <a:t>ProductNo</a:t>
            </a:r>
            <a:r>
              <a:rPr lang="en-US" sz="1600" dirty="0">
                <a:solidFill>
                  <a:srgbClr val="000000"/>
                </a:solidFill>
                <a:latin typeface="Tahoma" panose="020B0604030504040204" pitchFamily="34" charset="0"/>
              </a:rPr>
              <a:t>, </a:t>
            </a:r>
            <a:r>
              <a:rPr lang="en-US" sz="1600" dirty="0" err="1">
                <a:solidFill>
                  <a:srgbClr val="000000"/>
                </a:solidFill>
                <a:latin typeface="Tahoma" panose="020B0604030504040204" pitchFamily="34" charset="0"/>
              </a:rPr>
              <a:t>CustomerNo</a:t>
            </a:r>
            <a:r>
              <a:rPr lang="en-US" sz="1600" dirty="0">
                <a:solidFill>
                  <a:srgbClr val="000000"/>
                </a:solidFill>
                <a:latin typeface="Tahoma" panose="020B0604030504040204" pitchFamily="34" charset="0"/>
              </a:rPr>
              <a:t>) </a:t>
            </a:r>
            <a:r>
              <a:rPr lang="ar-SA" sz="1600" dirty="0">
                <a:solidFill>
                  <a:srgbClr val="000000"/>
                </a:solidFill>
                <a:latin typeface="Tahoma" panose="020B0604030504040204" pitchFamily="34" charset="0"/>
              </a:rPr>
              <a:t>وابسته نیست</a:t>
            </a:r>
            <a:r>
              <a:rPr lang="en-US" sz="1600" dirty="0">
                <a:solidFill>
                  <a:srgbClr val="000000"/>
                </a:solidFill>
                <a:latin typeface="Tahoma" panose="020B0604030504040204" pitchFamily="34" charset="0"/>
              </a:rPr>
              <a:t>.</a:t>
            </a:r>
          </a:p>
          <a:p>
            <a:pPr marL="742950" marR="0" lvl="1" indent="-285750" algn="r" rtl="1">
              <a:lnSpc>
                <a:spcPct val="107000"/>
              </a:lnSpc>
              <a:spcBef>
                <a:spcPts val="0"/>
              </a:spcBef>
              <a:spcAft>
                <a:spcPts val="800"/>
              </a:spcAft>
              <a:buSzPts val="1000"/>
              <a:buFont typeface="Courier New" panose="02070309020205020404" pitchFamily="49" charset="0"/>
              <a:buChar char="o"/>
              <a:tabLst>
                <a:tab pos="914400" algn="l"/>
              </a:tabLst>
            </a:pPr>
            <a:r>
              <a:rPr lang="ar-SA" sz="1600" dirty="0">
                <a:solidFill>
                  <a:srgbClr val="000000"/>
                </a:solidFill>
                <a:latin typeface="Tahoma" panose="020B0604030504040204" pitchFamily="34" charset="0"/>
              </a:rPr>
              <a:t>این نیز یک وابستگی جزئی است که فرم 2</a:t>
            </a:r>
            <a:r>
              <a:rPr lang="en-US" sz="1600" dirty="0">
                <a:solidFill>
                  <a:srgbClr val="000000"/>
                </a:solidFill>
                <a:latin typeface="Tahoma" panose="020B0604030504040204" pitchFamily="34" charset="0"/>
              </a:rPr>
              <a:t>NF </a:t>
            </a:r>
            <a:r>
              <a:rPr lang="ar-SA" sz="1600" dirty="0">
                <a:solidFill>
                  <a:srgbClr val="000000"/>
                </a:solidFill>
                <a:latin typeface="Tahoma" panose="020B0604030504040204" pitchFamily="34" charset="0"/>
              </a:rPr>
              <a:t>را نقض می‌کند</a:t>
            </a:r>
            <a:r>
              <a:rPr lang="en-US" sz="1600" dirty="0">
                <a:solidFill>
                  <a:srgbClr val="000000"/>
                </a:solidFill>
                <a:latin typeface="Tahoma" panose="020B0604030504040204" pitchFamily="34" charset="0"/>
              </a:rPr>
              <a:t>.</a:t>
            </a:r>
          </a:p>
          <a:p>
            <a:pPr marL="342900" marR="0" lvl="0" indent="-342900" algn="r" rtl="1">
              <a:lnSpc>
                <a:spcPct val="107000"/>
              </a:lnSpc>
              <a:spcBef>
                <a:spcPts val="0"/>
              </a:spcBef>
              <a:spcAft>
                <a:spcPts val="800"/>
              </a:spcAft>
              <a:buFont typeface="+mj-lt"/>
              <a:buAutoNum type="arabicPeriod"/>
              <a:tabLst>
                <a:tab pos="457200" algn="l"/>
              </a:tabLst>
            </a:pPr>
            <a:r>
              <a:rPr lang="en-US" sz="1100" dirty="0">
                <a:effectLst/>
                <a:latin typeface="Times New Roman" panose="02020603050405020304" pitchFamily="18" charset="0"/>
                <a:ea typeface="Times New Roman" panose="02020603050405020304" pitchFamily="18" charset="0"/>
                <a:cs typeface="B Nazanin" panose="00000400000000000000" pitchFamily="2" charset="-78"/>
              </a:rPr>
              <a:t>:</a:t>
            </a:r>
            <a:r>
              <a:rPr lang="en-US" sz="1600" dirty="0">
                <a:solidFill>
                  <a:srgbClr val="000000"/>
                </a:solidFill>
                <a:latin typeface="Tahoma" panose="020B0604030504040204" pitchFamily="34" charset="0"/>
              </a:rPr>
              <a:t>Amount </a:t>
            </a:r>
            <a:r>
              <a:rPr lang="ar-SA" sz="1600" dirty="0">
                <a:solidFill>
                  <a:srgbClr val="000000"/>
                </a:solidFill>
                <a:latin typeface="Tahoma" panose="020B0604030504040204" pitchFamily="34" charset="0"/>
              </a:rPr>
              <a:t>به </a:t>
            </a:r>
            <a:r>
              <a:rPr lang="en-US" sz="1600" dirty="0" err="1">
                <a:solidFill>
                  <a:srgbClr val="000000"/>
                </a:solidFill>
                <a:latin typeface="Tahoma" panose="020B0604030504040204" pitchFamily="34" charset="0"/>
              </a:rPr>
              <a:t>ProductNo</a:t>
            </a:r>
            <a:r>
              <a:rPr lang="en-US" sz="1600" dirty="0">
                <a:solidFill>
                  <a:srgbClr val="000000"/>
                </a:solidFill>
                <a:latin typeface="Tahoma" panose="020B0604030504040204" pitchFamily="34" charset="0"/>
              </a:rPr>
              <a:t> </a:t>
            </a:r>
            <a:r>
              <a:rPr lang="ar-SA" sz="1600" dirty="0">
                <a:solidFill>
                  <a:srgbClr val="000000"/>
                </a:solidFill>
                <a:latin typeface="Tahoma" panose="020B0604030504040204" pitchFamily="34" charset="0"/>
              </a:rPr>
              <a:t>و به </a:t>
            </a:r>
            <a:r>
              <a:rPr lang="en-US" sz="1600" dirty="0">
                <a:solidFill>
                  <a:srgbClr val="000000"/>
                </a:solidFill>
                <a:latin typeface="Tahoma" panose="020B0604030504040204" pitchFamily="34" charset="0"/>
              </a:rPr>
              <a:t>Qty </a:t>
            </a:r>
            <a:r>
              <a:rPr lang="ar-SA" sz="1600" dirty="0">
                <a:solidFill>
                  <a:srgbClr val="000000"/>
                </a:solidFill>
                <a:latin typeface="Tahoma" panose="020B0604030504040204" pitchFamily="34" charset="0"/>
              </a:rPr>
              <a:t>وابسته است، بنابراین به درستی به بخشی از کلید وابسته است. این مورد فرم 2</a:t>
            </a:r>
            <a:r>
              <a:rPr lang="en-US" sz="1600" dirty="0">
                <a:solidFill>
                  <a:srgbClr val="000000"/>
                </a:solidFill>
                <a:latin typeface="Tahoma" panose="020B0604030504040204" pitchFamily="34" charset="0"/>
              </a:rPr>
              <a:t>NF </a:t>
            </a:r>
            <a:r>
              <a:rPr lang="ar-SA" sz="1600" dirty="0">
                <a:solidFill>
                  <a:srgbClr val="000000"/>
                </a:solidFill>
                <a:latin typeface="Tahoma" panose="020B0604030504040204" pitchFamily="34" charset="0"/>
              </a:rPr>
              <a:t>را نقض نمی‌کند</a:t>
            </a:r>
            <a:r>
              <a:rPr lang="en-US" sz="1600" dirty="0">
                <a:solidFill>
                  <a:srgbClr val="000000"/>
                </a:solidFill>
                <a:latin typeface="Tahoma" panose="020B0604030504040204" pitchFamily="34" charset="0"/>
              </a:rPr>
              <a:t>.</a:t>
            </a:r>
          </a:p>
          <a:p>
            <a:pPr marL="0" marR="0" algn="r" rtl="1">
              <a:lnSpc>
                <a:spcPct val="107000"/>
              </a:lnSpc>
              <a:spcBef>
                <a:spcPts val="0"/>
              </a:spcBef>
              <a:spcAft>
                <a:spcPts val="800"/>
              </a:spcAft>
            </a:pPr>
            <a:r>
              <a:rPr lang="en-US" sz="1050" dirty="0">
                <a:effectLst/>
                <a:latin typeface="Calibri" panose="020F0502020204030204" pitchFamily="34" charset="0"/>
                <a:ea typeface="Calibri" panose="020F0502020204030204" pitchFamily="34" charset="0"/>
                <a:cs typeface="B Nazanin" panose="00000400000000000000" pitchFamily="2" charset="-78"/>
              </a:rPr>
              <a:t> </a:t>
            </a:r>
            <a:r>
              <a:rPr lang="ar-SA" altLang="en-US" sz="1600" dirty="0">
                <a:solidFill>
                  <a:srgbClr val="000000"/>
                </a:solidFill>
                <a:latin typeface="Tahoma" panose="020B0604030504040204" pitchFamily="34" charset="0"/>
                <a:cs typeface="B Nazanin" panose="00000400000000000000" pitchFamily="2" charset="-78"/>
              </a:rPr>
              <a:t>توجه کنيد اگر کليدهای کانديد در جدول</a:t>
            </a:r>
            <a:r>
              <a:rPr lang="fa-IR" altLang="en-US" sz="1600" dirty="0">
                <a:solidFill>
                  <a:srgbClr val="000000"/>
                </a:solidFill>
                <a:latin typeface="Tahoma" panose="020B0604030504040204" pitchFamily="34" charset="0"/>
                <a:cs typeface="B Nazanin" panose="00000400000000000000" pitchFamily="2" charset="-78"/>
              </a:rPr>
              <a:t>،</a:t>
            </a:r>
            <a:r>
              <a:rPr lang="ar-SA" altLang="en-US" sz="1600" dirty="0">
                <a:solidFill>
                  <a:srgbClr val="000000"/>
                </a:solidFill>
                <a:latin typeface="Tahoma" panose="020B0604030504040204" pitchFamily="34" charset="0"/>
                <a:cs typeface="B Nazanin" panose="00000400000000000000" pitchFamily="2" charset="-78"/>
              </a:rPr>
              <a:t> ترکيبی نباشند يعنی تنها شامل يک ستون باشند بلافاصله می گوئيم جدول 2</a:t>
            </a:r>
            <a:r>
              <a:rPr lang="en-US" altLang="en-US" sz="1600" dirty="0">
                <a:solidFill>
                  <a:srgbClr val="000000"/>
                </a:solidFill>
                <a:latin typeface="Tahoma" panose="020B0604030504040204" pitchFamily="34" charset="0"/>
                <a:cs typeface="B Nazanin" panose="00000400000000000000" pitchFamily="2" charset="-78"/>
              </a:rPr>
              <a:t>NF</a:t>
            </a:r>
            <a:r>
              <a:rPr lang="ar-SA" altLang="en-US" sz="1600" dirty="0">
                <a:solidFill>
                  <a:srgbClr val="000000"/>
                </a:solidFill>
                <a:latin typeface="Tahoma" panose="020B0604030504040204" pitchFamily="34" charset="0"/>
                <a:cs typeface="B Nazanin" panose="00000400000000000000" pitchFamily="2" charset="-78"/>
              </a:rPr>
              <a:t> است.</a:t>
            </a:r>
            <a:br>
              <a:rPr lang="en-US" altLang="en-US" sz="1600" dirty="0">
                <a:solidFill>
                  <a:schemeClr val="tx1"/>
                </a:solidFill>
                <a:cs typeface="B Nazanin" panose="00000400000000000000" pitchFamily="2" charset="-78"/>
              </a:rPr>
            </a:br>
            <a:br>
              <a:rPr lang="en-US" altLang="en-US" sz="1600" dirty="0">
                <a:solidFill>
                  <a:schemeClr val="tx1"/>
                </a:solidFill>
                <a:latin typeface="Arial" panose="020B0604020202020204" pitchFamily="34" charset="0"/>
                <a:cs typeface="B Nazanin" panose="00000400000000000000" pitchFamily="2" charset="-78"/>
              </a:rPr>
            </a:br>
            <a:br>
              <a:rPr lang="en-US" altLang="en-US" sz="1600" dirty="0">
                <a:solidFill>
                  <a:schemeClr val="tx1"/>
                </a:solidFill>
                <a:latin typeface="Arial" panose="020B0604020202020204" pitchFamily="34" charset="0"/>
                <a:cs typeface="B Nazanin" panose="00000400000000000000" pitchFamily="2" charset="-78"/>
              </a:rPr>
            </a:br>
            <a:endParaRPr lang="en-US" sz="1600" dirty="0"/>
          </a:p>
        </p:txBody>
      </p:sp>
      <p:sp>
        <p:nvSpPr>
          <p:cNvPr id="4" name="Title 1">
            <a:extLst>
              <a:ext uri="{FF2B5EF4-FFF2-40B4-BE49-F238E27FC236}">
                <a16:creationId xmlns:a16="http://schemas.microsoft.com/office/drawing/2014/main" id="{659B7AB1-AE20-4768-8313-47668E2CF93F}"/>
              </a:ext>
            </a:extLst>
          </p:cNvPr>
          <p:cNvSpPr>
            <a:spLocks noGrp="1"/>
          </p:cNvSpPr>
          <p:nvPr>
            <p:ph type="title"/>
          </p:nvPr>
        </p:nvSpPr>
        <p:spPr>
          <a:xfrm>
            <a:off x="606126" y="-152400"/>
            <a:ext cx="8077200" cy="609600"/>
          </a:xfrm>
        </p:spPr>
        <p:txBody>
          <a:bodyPr/>
          <a:lstStyle/>
          <a:p>
            <a:r>
              <a:rPr lang="fa-IR" altLang="en-US" sz="2800" dirty="0">
                <a:latin typeface="Titr" pitchFamily="2" charset="-78"/>
                <a:ea typeface="2  Titr"/>
                <a:cs typeface="2  Titr"/>
              </a:rPr>
              <a:t>جدول نرمال ۲</a:t>
            </a:r>
            <a:endParaRPr lang="en-US" dirty="0"/>
          </a:p>
        </p:txBody>
      </p:sp>
      <p:graphicFrame>
        <p:nvGraphicFramePr>
          <p:cNvPr id="5" name="Table 4">
            <a:extLst>
              <a:ext uri="{FF2B5EF4-FFF2-40B4-BE49-F238E27FC236}">
                <a16:creationId xmlns:a16="http://schemas.microsoft.com/office/drawing/2014/main" id="{D021EF03-A87F-40B5-A3E5-F77913EFB47E}"/>
              </a:ext>
            </a:extLst>
          </p:cNvPr>
          <p:cNvGraphicFramePr>
            <a:graphicFrameLocks noGrp="1"/>
          </p:cNvGraphicFramePr>
          <p:nvPr/>
        </p:nvGraphicFramePr>
        <p:xfrm>
          <a:off x="127488" y="4336290"/>
          <a:ext cx="8864112" cy="2725878"/>
        </p:xfrm>
        <a:graphic>
          <a:graphicData uri="http://schemas.openxmlformats.org/drawingml/2006/table">
            <a:tbl>
              <a:tblPr firstRow="1" firstCol="1" bandRow="1">
                <a:tableStyleId>{616DA210-FB5B-4158-B5E0-FEB733F419BA}</a:tableStyleId>
              </a:tblPr>
              <a:tblGrid>
                <a:gridCol w="579298">
                  <a:extLst>
                    <a:ext uri="{9D8B030D-6E8A-4147-A177-3AD203B41FA5}">
                      <a16:colId xmlns:a16="http://schemas.microsoft.com/office/drawing/2014/main" val="234041042"/>
                    </a:ext>
                  </a:extLst>
                </a:gridCol>
                <a:gridCol w="927786">
                  <a:extLst>
                    <a:ext uri="{9D8B030D-6E8A-4147-A177-3AD203B41FA5}">
                      <a16:colId xmlns:a16="http://schemas.microsoft.com/office/drawing/2014/main" val="3415118693"/>
                    </a:ext>
                  </a:extLst>
                </a:gridCol>
                <a:gridCol w="910580">
                  <a:extLst>
                    <a:ext uri="{9D8B030D-6E8A-4147-A177-3AD203B41FA5}">
                      <a16:colId xmlns:a16="http://schemas.microsoft.com/office/drawing/2014/main" val="3881982512"/>
                    </a:ext>
                  </a:extLst>
                </a:gridCol>
                <a:gridCol w="455290">
                  <a:extLst>
                    <a:ext uri="{9D8B030D-6E8A-4147-A177-3AD203B41FA5}">
                      <a16:colId xmlns:a16="http://schemas.microsoft.com/office/drawing/2014/main" val="2484215510"/>
                    </a:ext>
                  </a:extLst>
                </a:gridCol>
                <a:gridCol w="673200">
                  <a:extLst>
                    <a:ext uri="{9D8B030D-6E8A-4147-A177-3AD203B41FA5}">
                      <a16:colId xmlns:a16="http://schemas.microsoft.com/office/drawing/2014/main" val="1297653461"/>
                    </a:ext>
                  </a:extLst>
                </a:gridCol>
                <a:gridCol w="1141099">
                  <a:extLst>
                    <a:ext uri="{9D8B030D-6E8A-4147-A177-3AD203B41FA5}">
                      <a16:colId xmlns:a16="http://schemas.microsoft.com/office/drawing/2014/main" val="3484224265"/>
                    </a:ext>
                  </a:extLst>
                </a:gridCol>
                <a:gridCol w="836806">
                  <a:extLst>
                    <a:ext uri="{9D8B030D-6E8A-4147-A177-3AD203B41FA5}">
                      <a16:colId xmlns:a16="http://schemas.microsoft.com/office/drawing/2014/main" val="3482110401"/>
                    </a:ext>
                  </a:extLst>
                </a:gridCol>
                <a:gridCol w="760732">
                  <a:extLst>
                    <a:ext uri="{9D8B030D-6E8A-4147-A177-3AD203B41FA5}">
                      <a16:colId xmlns:a16="http://schemas.microsoft.com/office/drawing/2014/main" val="1813858957"/>
                    </a:ext>
                  </a:extLst>
                </a:gridCol>
                <a:gridCol w="760732">
                  <a:extLst>
                    <a:ext uri="{9D8B030D-6E8A-4147-A177-3AD203B41FA5}">
                      <a16:colId xmlns:a16="http://schemas.microsoft.com/office/drawing/2014/main" val="1355875302"/>
                    </a:ext>
                  </a:extLst>
                </a:gridCol>
                <a:gridCol w="1293245">
                  <a:extLst>
                    <a:ext uri="{9D8B030D-6E8A-4147-A177-3AD203B41FA5}">
                      <a16:colId xmlns:a16="http://schemas.microsoft.com/office/drawing/2014/main" val="1675925667"/>
                    </a:ext>
                  </a:extLst>
                </a:gridCol>
                <a:gridCol w="525344">
                  <a:extLst>
                    <a:ext uri="{9D8B030D-6E8A-4147-A177-3AD203B41FA5}">
                      <a16:colId xmlns:a16="http://schemas.microsoft.com/office/drawing/2014/main" val="236614085"/>
                    </a:ext>
                  </a:extLst>
                </a:gridCol>
              </a:tblGrid>
              <a:tr h="389586">
                <a:tc>
                  <a:txBody>
                    <a:bodyPr/>
                    <a:lstStyle/>
                    <a:p>
                      <a:pPr marL="0" marR="0">
                        <a:lnSpc>
                          <a:spcPct val="107000"/>
                        </a:lnSpc>
                        <a:spcBef>
                          <a:spcPts val="0"/>
                        </a:spcBef>
                        <a:spcAft>
                          <a:spcPts val="0"/>
                        </a:spcAft>
                      </a:pPr>
                      <a:r>
                        <a:rPr lang="en-US" sz="1100" dirty="0">
                          <a:solidFill>
                            <a:schemeClr val="tx2">
                              <a:lumMod val="75000"/>
                            </a:schemeClr>
                          </a:solidFill>
                          <a:effectLst/>
                        </a:rPr>
                        <a:t>Sale No</a:t>
                      </a:r>
                      <a:endParaRPr lang="en-US" sz="1100" dirty="0">
                        <a:solidFill>
                          <a:schemeClr val="tx2">
                            <a:lumMod val="75000"/>
                          </a:schemeClr>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100" dirty="0" err="1">
                          <a:solidFill>
                            <a:schemeClr val="tx2">
                              <a:lumMod val="75000"/>
                            </a:schemeClr>
                          </a:solidFill>
                          <a:effectLst/>
                        </a:rPr>
                        <a:t>SaleDate</a:t>
                      </a:r>
                      <a:endParaRPr lang="en-US" sz="1100" dirty="0">
                        <a:solidFill>
                          <a:schemeClr val="tx2">
                            <a:lumMod val="75000"/>
                          </a:schemeClr>
                        </a:solidFill>
                        <a:effectLst/>
                      </a:endParaRPr>
                    </a:p>
                    <a:p>
                      <a:pPr marL="0" marR="0">
                        <a:lnSpc>
                          <a:spcPct val="107000"/>
                        </a:lnSpc>
                        <a:spcBef>
                          <a:spcPts val="0"/>
                        </a:spcBef>
                        <a:spcAft>
                          <a:spcPts val="0"/>
                        </a:spcAft>
                      </a:pPr>
                      <a:r>
                        <a:rPr lang="en-US" sz="1100" dirty="0">
                          <a:solidFill>
                            <a:schemeClr val="tx2">
                              <a:lumMod val="75000"/>
                            </a:schemeClr>
                          </a:solidFill>
                          <a:effectLst/>
                        </a:rPr>
                        <a:t> </a:t>
                      </a:r>
                      <a:endParaRPr lang="en-US" sz="1100" dirty="0">
                        <a:solidFill>
                          <a:schemeClr val="tx2">
                            <a:lumMod val="75000"/>
                          </a:schemeClr>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100" dirty="0" err="1">
                          <a:solidFill>
                            <a:schemeClr val="tx2">
                              <a:lumMod val="75000"/>
                            </a:schemeClr>
                          </a:solidFill>
                          <a:effectLst/>
                        </a:rPr>
                        <a:t>ProductNo</a:t>
                      </a:r>
                      <a:endParaRPr lang="en-US" sz="1100" dirty="0">
                        <a:solidFill>
                          <a:schemeClr val="tx2">
                            <a:lumMod val="75000"/>
                          </a:schemeClr>
                        </a:solidFill>
                        <a:effectLst/>
                      </a:endParaRPr>
                    </a:p>
                    <a:p>
                      <a:pPr marL="0" marR="0">
                        <a:lnSpc>
                          <a:spcPct val="107000"/>
                        </a:lnSpc>
                        <a:spcBef>
                          <a:spcPts val="0"/>
                        </a:spcBef>
                        <a:spcAft>
                          <a:spcPts val="0"/>
                        </a:spcAft>
                      </a:pPr>
                      <a:r>
                        <a:rPr lang="en-US" sz="1100" dirty="0">
                          <a:solidFill>
                            <a:schemeClr val="tx2">
                              <a:lumMod val="75000"/>
                            </a:schemeClr>
                          </a:solidFill>
                          <a:effectLst/>
                        </a:rPr>
                        <a:t> </a:t>
                      </a:r>
                      <a:endParaRPr lang="en-US" sz="1100" dirty="0">
                        <a:solidFill>
                          <a:schemeClr val="tx2">
                            <a:lumMod val="75000"/>
                          </a:schemeClr>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100">
                          <a:solidFill>
                            <a:schemeClr val="tx2">
                              <a:lumMod val="75000"/>
                            </a:schemeClr>
                          </a:solidFill>
                          <a:effectLst/>
                        </a:rPr>
                        <a:t>Qty</a:t>
                      </a:r>
                      <a:endParaRPr lang="en-US" sz="1100">
                        <a:solidFill>
                          <a:schemeClr val="tx2">
                            <a:lumMod val="75000"/>
                          </a:schemeClr>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100" dirty="0">
                          <a:solidFill>
                            <a:schemeClr val="tx2">
                              <a:lumMod val="75000"/>
                            </a:schemeClr>
                          </a:solidFill>
                          <a:effectLst/>
                        </a:rPr>
                        <a:t>Amount</a:t>
                      </a:r>
                      <a:endParaRPr lang="en-US" sz="1100" dirty="0">
                        <a:solidFill>
                          <a:schemeClr val="tx2">
                            <a:lumMod val="75000"/>
                          </a:schemeClr>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100" dirty="0" err="1">
                          <a:solidFill>
                            <a:schemeClr val="tx2">
                              <a:lumMod val="75000"/>
                            </a:schemeClr>
                          </a:solidFill>
                          <a:effectLst/>
                        </a:rPr>
                        <a:t>Salesrep</a:t>
                      </a:r>
                      <a:endParaRPr lang="en-US" sz="1100" dirty="0">
                        <a:solidFill>
                          <a:schemeClr val="tx2">
                            <a:lumMod val="75000"/>
                          </a:schemeClr>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100" dirty="0" err="1">
                          <a:solidFill>
                            <a:schemeClr val="tx2">
                              <a:lumMod val="75000"/>
                            </a:schemeClr>
                          </a:solidFill>
                          <a:effectLst/>
                        </a:rPr>
                        <a:t>CustomerNo</a:t>
                      </a:r>
                      <a:endParaRPr lang="en-US" sz="1100" dirty="0">
                        <a:solidFill>
                          <a:schemeClr val="tx2">
                            <a:lumMod val="75000"/>
                          </a:schemeClr>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100" dirty="0">
                          <a:solidFill>
                            <a:schemeClr val="tx2">
                              <a:lumMod val="75000"/>
                            </a:schemeClr>
                          </a:solidFill>
                          <a:effectLst/>
                        </a:rPr>
                        <a:t>First</a:t>
                      </a:r>
                      <a:endParaRPr lang="en-US" sz="1100" dirty="0">
                        <a:solidFill>
                          <a:schemeClr val="tx2">
                            <a:lumMod val="75000"/>
                          </a:schemeClr>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100">
                          <a:solidFill>
                            <a:schemeClr val="tx2">
                              <a:lumMod val="75000"/>
                            </a:schemeClr>
                          </a:solidFill>
                          <a:effectLst/>
                        </a:rPr>
                        <a:t>Last</a:t>
                      </a:r>
                      <a:endParaRPr lang="en-US" sz="1100">
                        <a:solidFill>
                          <a:schemeClr val="tx2">
                            <a:lumMod val="75000"/>
                          </a:schemeClr>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100" dirty="0">
                          <a:solidFill>
                            <a:schemeClr val="tx2">
                              <a:lumMod val="75000"/>
                            </a:schemeClr>
                          </a:solidFill>
                          <a:effectLst/>
                        </a:rPr>
                        <a:t>Address</a:t>
                      </a:r>
                      <a:endParaRPr lang="en-US" sz="1100" dirty="0">
                        <a:solidFill>
                          <a:schemeClr val="tx2">
                            <a:lumMod val="75000"/>
                          </a:schemeClr>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100" dirty="0" err="1">
                          <a:solidFill>
                            <a:schemeClr val="tx2">
                              <a:lumMod val="75000"/>
                            </a:schemeClr>
                          </a:solidFill>
                          <a:effectLst/>
                        </a:rPr>
                        <a:t>CreditLimit</a:t>
                      </a:r>
                      <a:endParaRPr lang="en-US" sz="1100" dirty="0">
                        <a:solidFill>
                          <a:schemeClr val="tx2">
                            <a:lumMod val="75000"/>
                          </a:schemeClr>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extLst>
                  <a:ext uri="{0D108BD9-81ED-4DB2-BD59-A6C34878D82A}">
                    <a16:rowId xmlns:a16="http://schemas.microsoft.com/office/drawing/2014/main" val="1378874611"/>
                  </a:ext>
                </a:extLst>
              </a:tr>
              <a:tr h="257511">
                <a:tc>
                  <a:txBody>
                    <a:bodyPr/>
                    <a:lstStyle/>
                    <a:p>
                      <a:pPr marL="0" marR="0">
                        <a:lnSpc>
                          <a:spcPct val="107000"/>
                        </a:lnSpc>
                        <a:spcBef>
                          <a:spcPts val="0"/>
                        </a:spcBef>
                        <a:spcAft>
                          <a:spcPts val="0"/>
                        </a:spcAft>
                      </a:pPr>
                      <a:r>
                        <a:rPr lang="en-US" sz="1050" b="1" dirty="0">
                          <a:effectLst/>
                        </a:rPr>
                        <a:t>12345</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Aug 12 2002</a:t>
                      </a:r>
                    </a:p>
                    <a:p>
                      <a:pPr marL="0" marR="0">
                        <a:lnSpc>
                          <a:spcPct val="107000"/>
                        </a:lnSpc>
                        <a:spcBef>
                          <a:spcPts val="0"/>
                        </a:spcBef>
                        <a:spcAft>
                          <a:spcPts val="0"/>
                        </a:spcAft>
                      </a:pPr>
                      <a:r>
                        <a:rPr lang="en-US" sz="1050" b="1" dirty="0">
                          <a:effectLst/>
                        </a:rPr>
                        <a:t> </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AQX88916</a:t>
                      </a:r>
                    </a:p>
                    <a:p>
                      <a:pPr marL="0" marR="0">
                        <a:lnSpc>
                          <a:spcPct val="107000"/>
                        </a:lnSpc>
                        <a:spcBef>
                          <a:spcPts val="0"/>
                        </a:spcBef>
                        <a:spcAft>
                          <a:spcPts val="0"/>
                        </a:spcAft>
                      </a:pPr>
                      <a:r>
                        <a:rPr lang="en-US" sz="1050" b="1">
                          <a:effectLst/>
                        </a:rPr>
                        <a:t> </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1</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23.95</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Dave Williams</a:t>
                      </a:r>
                    </a:p>
                    <a:p>
                      <a:pPr marL="0" marR="0">
                        <a:lnSpc>
                          <a:spcPct val="107000"/>
                        </a:lnSpc>
                        <a:spcBef>
                          <a:spcPts val="0"/>
                        </a:spcBef>
                        <a:spcAft>
                          <a:spcPts val="0"/>
                        </a:spcAft>
                      </a:pPr>
                      <a:r>
                        <a:rPr lang="en-US" sz="1050" b="1">
                          <a:effectLst/>
                        </a:rPr>
                        <a:t> </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4649-4673</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Richard</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Johnston</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14 West Avenue</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1000</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extLst>
                  <a:ext uri="{0D108BD9-81ED-4DB2-BD59-A6C34878D82A}">
                    <a16:rowId xmlns:a16="http://schemas.microsoft.com/office/drawing/2014/main" val="1720734119"/>
                  </a:ext>
                </a:extLst>
              </a:tr>
              <a:tr h="257511">
                <a:tc>
                  <a:txBody>
                    <a:bodyPr/>
                    <a:lstStyle/>
                    <a:p>
                      <a:pPr marL="0" marR="0">
                        <a:lnSpc>
                          <a:spcPct val="107000"/>
                        </a:lnSpc>
                        <a:spcBef>
                          <a:spcPts val="0"/>
                        </a:spcBef>
                        <a:spcAft>
                          <a:spcPts val="0"/>
                        </a:spcAft>
                      </a:pPr>
                      <a:r>
                        <a:rPr lang="en-US" sz="1050" b="1">
                          <a:effectLst/>
                        </a:rPr>
                        <a:t>12346</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Aug 12 2002</a:t>
                      </a:r>
                    </a:p>
                    <a:p>
                      <a:pPr marL="0" marR="0">
                        <a:lnSpc>
                          <a:spcPct val="107000"/>
                        </a:lnSpc>
                        <a:spcBef>
                          <a:spcPts val="0"/>
                        </a:spcBef>
                        <a:spcAft>
                          <a:spcPts val="0"/>
                        </a:spcAft>
                      </a:pPr>
                      <a:r>
                        <a:rPr lang="en-US" sz="1050" b="1">
                          <a:effectLst/>
                        </a:rPr>
                        <a:t> </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AQX88916</a:t>
                      </a:r>
                    </a:p>
                    <a:p>
                      <a:pPr marL="0" marR="0">
                        <a:lnSpc>
                          <a:spcPct val="107000"/>
                        </a:lnSpc>
                        <a:spcBef>
                          <a:spcPts val="0"/>
                        </a:spcBef>
                        <a:spcAft>
                          <a:spcPts val="0"/>
                        </a:spcAft>
                      </a:pPr>
                      <a:r>
                        <a:rPr lang="en-US" sz="1050" b="1" dirty="0">
                          <a:effectLst/>
                        </a:rPr>
                        <a:t> </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7</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167.65</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Sara Thompson</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1113-7741</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Wayne</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Jones</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42 York Street</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kumimoji="0" lang="en-US" sz="900" b="1" i="0" u="none" strike="noStrike" kern="1200" cap="none" spc="0" normalizeH="0" baseline="0" noProof="0">
                          <a:ln>
                            <a:noFill/>
                          </a:ln>
                          <a:solidFill>
                            <a:srgbClr val="000000"/>
                          </a:solidFill>
                          <a:effectLst/>
                          <a:uLnTx/>
                          <a:uFillTx/>
                          <a:latin typeface="Helvetica"/>
                          <a:ea typeface="+mn-ea"/>
                          <a:cs typeface="+mn-cs"/>
                        </a:rPr>
                        <a:t>&lt;</a:t>
                      </a:r>
                      <a:r>
                        <a:rPr kumimoji="0" lang="en-US" sz="900" b="1" i="1" u="none" strike="noStrike" kern="1200" cap="none" spc="0" normalizeH="0" baseline="0" noProof="0">
                          <a:ln>
                            <a:noFill/>
                          </a:ln>
                          <a:solidFill>
                            <a:srgbClr val="000000"/>
                          </a:solidFill>
                          <a:effectLst/>
                          <a:uLnTx/>
                          <a:uFillTx/>
                          <a:latin typeface="Helvetica"/>
                          <a:ea typeface="+mn-ea"/>
                          <a:cs typeface="+mn-cs"/>
                        </a:rPr>
                        <a:t>null&gt;</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extLst>
                  <a:ext uri="{0D108BD9-81ED-4DB2-BD59-A6C34878D82A}">
                    <a16:rowId xmlns:a16="http://schemas.microsoft.com/office/drawing/2014/main" val="1020454084"/>
                  </a:ext>
                </a:extLst>
              </a:tr>
              <a:tr h="257511">
                <a:tc>
                  <a:txBody>
                    <a:bodyPr/>
                    <a:lstStyle/>
                    <a:p>
                      <a:pPr marL="0" marR="0">
                        <a:lnSpc>
                          <a:spcPct val="107000"/>
                        </a:lnSpc>
                        <a:spcBef>
                          <a:spcPts val="0"/>
                        </a:spcBef>
                        <a:spcAft>
                          <a:spcPts val="0"/>
                        </a:spcAft>
                      </a:pPr>
                      <a:r>
                        <a:rPr lang="en-US" sz="1050" b="1">
                          <a:effectLst/>
                        </a:rPr>
                        <a:t>12347</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Aug 13 2002</a:t>
                      </a:r>
                    </a:p>
                    <a:p>
                      <a:pPr marL="0" marR="0">
                        <a:lnSpc>
                          <a:spcPct val="107000"/>
                        </a:lnSpc>
                        <a:spcBef>
                          <a:spcPts val="0"/>
                        </a:spcBef>
                        <a:spcAft>
                          <a:spcPts val="0"/>
                        </a:spcAft>
                      </a:pPr>
                      <a:r>
                        <a:rPr lang="en-US" sz="1050" b="1">
                          <a:effectLst/>
                        </a:rPr>
                        <a:t> </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AHL46785</a:t>
                      </a:r>
                    </a:p>
                    <a:p>
                      <a:pPr marL="0" marR="0">
                        <a:lnSpc>
                          <a:spcPct val="107000"/>
                        </a:lnSpc>
                        <a:spcBef>
                          <a:spcPts val="0"/>
                        </a:spcBef>
                        <a:spcAft>
                          <a:spcPts val="0"/>
                        </a:spcAft>
                      </a:pPr>
                      <a:r>
                        <a:rPr lang="en-US" sz="1050" b="1">
                          <a:effectLst/>
                        </a:rPr>
                        <a:t> </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3705</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5001.75</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Li Qing</a:t>
                      </a:r>
                    </a:p>
                    <a:p>
                      <a:pPr marL="0" marR="0">
                        <a:lnSpc>
                          <a:spcPct val="107000"/>
                        </a:lnSpc>
                        <a:spcBef>
                          <a:spcPts val="0"/>
                        </a:spcBef>
                        <a:spcAft>
                          <a:spcPts val="0"/>
                        </a:spcAft>
                      </a:pPr>
                      <a:r>
                        <a:rPr lang="en-US" sz="1050" b="1" dirty="0">
                          <a:effectLst/>
                        </a:rPr>
                        <a:t> </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1166-3461</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Amelia</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Waverley</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995 Forth Street</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kumimoji="0" lang="en-US" sz="900" b="1" i="0" u="none" strike="noStrike" kern="1200" cap="none" spc="0" normalizeH="0" baseline="0" noProof="0">
                          <a:ln>
                            <a:noFill/>
                          </a:ln>
                          <a:solidFill>
                            <a:srgbClr val="000000"/>
                          </a:solidFill>
                          <a:effectLst/>
                          <a:uLnTx/>
                          <a:uFillTx/>
                          <a:latin typeface="Helvetica"/>
                          <a:ea typeface="+mn-ea"/>
                          <a:cs typeface="+mn-cs"/>
                        </a:rPr>
                        <a:t>&lt;</a:t>
                      </a:r>
                      <a:r>
                        <a:rPr kumimoji="0" lang="en-US" sz="900" b="1" i="1" u="none" strike="noStrike" kern="1200" cap="none" spc="0" normalizeH="0" baseline="0" noProof="0">
                          <a:ln>
                            <a:noFill/>
                          </a:ln>
                          <a:solidFill>
                            <a:srgbClr val="000000"/>
                          </a:solidFill>
                          <a:effectLst/>
                          <a:uLnTx/>
                          <a:uFillTx/>
                          <a:latin typeface="Helvetica"/>
                          <a:ea typeface="+mn-ea"/>
                          <a:cs typeface="+mn-cs"/>
                        </a:rPr>
                        <a:t>null&gt;</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extLst>
                  <a:ext uri="{0D108BD9-81ED-4DB2-BD59-A6C34878D82A}">
                    <a16:rowId xmlns:a16="http://schemas.microsoft.com/office/drawing/2014/main" val="1241532585"/>
                  </a:ext>
                </a:extLst>
              </a:tr>
              <a:tr h="182708">
                <a:tc>
                  <a:txBody>
                    <a:bodyPr/>
                    <a:lstStyle/>
                    <a:p>
                      <a:pPr marL="0" marR="0">
                        <a:lnSpc>
                          <a:spcPct val="107000"/>
                        </a:lnSpc>
                        <a:spcBef>
                          <a:spcPts val="0"/>
                        </a:spcBef>
                        <a:spcAft>
                          <a:spcPts val="0"/>
                        </a:spcAft>
                      </a:pPr>
                      <a:r>
                        <a:rPr lang="en-US" sz="1050" b="1">
                          <a:effectLst/>
                        </a:rPr>
                        <a:t>12348</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Aug 13 2002</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DHU69863</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50</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118.5</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Sara Thompson</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gn="ctr">
                        <a:lnSpc>
                          <a:spcPct val="107000"/>
                        </a:lnSpc>
                        <a:spcBef>
                          <a:spcPts val="0"/>
                        </a:spcBef>
                        <a:spcAft>
                          <a:spcPts val="0"/>
                        </a:spcAft>
                      </a:pPr>
                      <a:r>
                        <a:rPr lang="en-US" sz="1050" b="1" dirty="0">
                          <a:effectLst/>
                        </a:rPr>
                        <a:t> &lt;</a:t>
                      </a:r>
                      <a:r>
                        <a:rPr lang="en-US" sz="1050" b="1" i="1" dirty="0">
                          <a:effectLst/>
                        </a:rPr>
                        <a:t>null&gt;</a:t>
                      </a:r>
                      <a:endParaRPr lang="en-US" sz="1050" b="1" i="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 &lt;</a:t>
                      </a:r>
                      <a:r>
                        <a:rPr lang="en-US" sz="1050" b="1" i="1" dirty="0">
                          <a:effectLst/>
                        </a:rPr>
                        <a:t>null&gt;</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 &lt;</a:t>
                      </a:r>
                      <a:r>
                        <a:rPr lang="en-US" sz="1050" b="1" i="1" dirty="0">
                          <a:effectLst/>
                        </a:rPr>
                        <a:t>null&gt;</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 &lt;</a:t>
                      </a:r>
                      <a:r>
                        <a:rPr lang="en-US" sz="1050" b="1" i="1" dirty="0">
                          <a:effectLst/>
                        </a:rPr>
                        <a:t>null&gt;</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kumimoji="0" lang="en-US" sz="900" b="1" i="0" u="none" strike="noStrike" kern="1200" cap="none" spc="0" normalizeH="0" baseline="0" noProof="0">
                          <a:ln>
                            <a:noFill/>
                          </a:ln>
                          <a:solidFill>
                            <a:srgbClr val="000000"/>
                          </a:solidFill>
                          <a:effectLst/>
                          <a:uLnTx/>
                          <a:uFillTx/>
                          <a:latin typeface="Helvetica"/>
                          <a:ea typeface="+mn-ea"/>
                          <a:cs typeface="+mn-cs"/>
                        </a:rPr>
                        <a:t>&lt;</a:t>
                      </a:r>
                      <a:r>
                        <a:rPr kumimoji="0" lang="en-US" sz="900" b="1" i="1" u="none" strike="noStrike" kern="1200" cap="none" spc="0" normalizeH="0" baseline="0" noProof="0">
                          <a:ln>
                            <a:noFill/>
                          </a:ln>
                          <a:solidFill>
                            <a:srgbClr val="000000"/>
                          </a:solidFill>
                          <a:effectLst/>
                          <a:uLnTx/>
                          <a:uFillTx/>
                          <a:latin typeface="Helvetica"/>
                          <a:ea typeface="+mn-ea"/>
                          <a:cs typeface="+mn-cs"/>
                        </a:rPr>
                        <a:t>null&gt;</a:t>
                      </a:r>
                      <a:endParaRPr lang="en-US" sz="90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extLst>
                  <a:ext uri="{0D108BD9-81ED-4DB2-BD59-A6C34878D82A}">
                    <a16:rowId xmlns:a16="http://schemas.microsoft.com/office/drawing/2014/main" val="897738917"/>
                  </a:ext>
                </a:extLst>
              </a:tr>
              <a:tr h="182708">
                <a:tc>
                  <a:txBody>
                    <a:bodyPr/>
                    <a:lstStyle/>
                    <a:p>
                      <a:pPr marL="0" marR="0">
                        <a:lnSpc>
                          <a:spcPct val="107000"/>
                        </a:lnSpc>
                        <a:spcBef>
                          <a:spcPts val="0"/>
                        </a:spcBef>
                        <a:spcAft>
                          <a:spcPts val="0"/>
                        </a:spcAft>
                      </a:pPr>
                      <a:r>
                        <a:rPr lang="en-US" sz="1050" b="1">
                          <a:effectLst/>
                        </a:rPr>
                        <a:t>12349</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Aug 14 2002</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DHU69863</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940</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2227.8</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Sara Thompson</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1166-3461</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Amelia</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Waverley</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995 Forth Street</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kumimoji="0" lang="en-US" sz="900" b="1" i="0" u="none" strike="noStrike" kern="1200" cap="none" spc="0" normalizeH="0" baseline="0" noProof="0">
                          <a:ln>
                            <a:noFill/>
                          </a:ln>
                          <a:solidFill>
                            <a:srgbClr val="000000"/>
                          </a:solidFill>
                          <a:effectLst/>
                          <a:uLnTx/>
                          <a:uFillTx/>
                          <a:latin typeface="Helvetica"/>
                          <a:ea typeface="+mn-ea"/>
                          <a:cs typeface="+mn-cs"/>
                        </a:rPr>
                        <a:t>&lt;</a:t>
                      </a:r>
                      <a:r>
                        <a:rPr kumimoji="0" lang="en-US" sz="900" b="1" i="1" u="none" strike="noStrike" kern="1200" cap="none" spc="0" normalizeH="0" baseline="0" noProof="0">
                          <a:ln>
                            <a:noFill/>
                          </a:ln>
                          <a:solidFill>
                            <a:srgbClr val="000000"/>
                          </a:solidFill>
                          <a:effectLst/>
                          <a:uLnTx/>
                          <a:uFillTx/>
                          <a:latin typeface="Helvetica"/>
                          <a:ea typeface="+mn-ea"/>
                          <a:cs typeface="+mn-cs"/>
                        </a:rPr>
                        <a:t>null&gt;</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extLst>
                  <a:ext uri="{0D108BD9-81ED-4DB2-BD59-A6C34878D82A}">
                    <a16:rowId xmlns:a16="http://schemas.microsoft.com/office/drawing/2014/main" val="4176984474"/>
                  </a:ext>
                </a:extLst>
              </a:tr>
              <a:tr h="182708">
                <a:tc>
                  <a:txBody>
                    <a:bodyPr/>
                    <a:lstStyle/>
                    <a:p>
                      <a:pPr marL="0" marR="0">
                        <a:lnSpc>
                          <a:spcPct val="107000"/>
                        </a:lnSpc>
                        <a:spcBef>
                          <a:spcPts val="0"/>
                        </a:spcBef>
                        <a:spcAft>
                          <a:spcPts val="0"/>
                        </a:spcAft>
                      </a:pPr>
                      <a:r>
                        <a:rPr lang="en-US" sz="1050" b="1">
                          <a:effectLst/>
                        </a:rPr>
                        <a:t>12350</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Aug 14 2002</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DHU69863</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42</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99.54</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Sara Thompson</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7671-3496</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Antonio</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Gonzales</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55B Granary Lane</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kumimoji="0" lang="en-US" sz="900" b="1" i="0" u="none" strike="noStrike" kern="1200" cap="none" spc="0" normalizeH="0" baseline="0" noProof="0" dirty="0">
                          <a:ln>
                            <a:noFill/>
                          </a:ln>
                          <a:solidFill>
                            <a:srgbClr val="000000"/>
                          </a:solidFill>
                          <a:effectLst/>
                          <a:uLnTx/>
                          <a:uFillTx/>
                          <a:latin typeface="Helvetica"/>
                          <a:ea typeface="+mn-ea"/>
                          <a:cs typeface="+mn-cs"/>
                        </a:rPr>
                        <a:t>&lt;</a:t>
                      </a:r>
                      <a:r>
                        <a:rPr kumimoji="0" lang="en-US" sz="900" b="1" i="1" u="none" strike="noStrike" kern="1200" cap="none" spc="0" normalizeH="0" baseline="0" noProof="0" dirty="0">
                          <a:ln>
                            <a:noFill/>
                          </a:ln>
                          <a:solidFill>
                            <a:srgbClr val="000000"/>
                          </a:solidFill>
                          <a:effectLst/>
                          <a:uLnTx/>
                          <a:uFillTx/>
                          <a:latin typeface="Helvetica"/>
                          <a:ea typeface="+mn-ea"/>
                          <a:cs typeface="+mn-cs"/>
                        </a:rPr>
                        <a:t>null&gt;</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extLst>
                  <a:ext uri="{0D108BD9-81ED-4DB2-BD59-A6C34878D82A}">
                    <a16:rowId xmlns:a16="http://schemas.microsoft.com/office/drawing/2014/main" val="643762065"/>
                  </a:ext>
                </a:extLst>
              </a:tr>
              <a:tr h="257511">
                <a:tc>
                  <a:txBody>
                    <a:bodyPr/>
                    <a:lstStyle/>
                    <a:p>
                      <a:pPr marL="0" marR="0">
                        <a:lnSpc>
                          <a:spcPct val="107000"/>
                        </a:lnSpc>
                        <a:spcBef>
                          <a:spcPts val="0"/>
                        </a:spcBef>
                        <a:spcAft>
                          <a:spcPts val="0"/>
                        </a:spcAft>
                      </a:pPr>
                      <a:r>
                        <a:rPr lang="en-US" sz="1050" b="1" dirty="0">
                          <a:effectLst/>
                        </a:rPr>
                        <a:t>12351</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Aug 14 2002</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AQX88916</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55</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1317.25</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Dave Williams</a:t>
                      </a:r>
                    </a:p>
                    <a:p>
                      <a:pPr marL="0" marR="0">
                        <a:lnSpc>
                          <a:spcPct val="107000"/>
                        </a:lnSpc>
                        <a:spcBef>
                          <a:spcPts val="0"/>
                        </a:spcBef>
                        <a:spcAft>
                          <a:spcPts val="0"/>
                        </a:spcAft>
                      </a:pPr>
                      <a:r>
                        <a:rPr lang="en-US" sz="1050" b="1" dirty="0">
                          <a:effectLst/>
                        </a:rPr>
                        <a:t> </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6794-1674</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Diane</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Adams</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364 East Road</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150</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extLst>
                  <a:ext uri="{0D108BD9-81ED-4DB2-BD59-A6C34878D82A}">
                    <a16:rowId xmlns:a16="http://schemas.microsoft.com/office/drawing/2014/main" val="1134904673"/>
                  </a:ext>
                </a:extLst>
              </a:tr>
            </a:tbl>
          </a:graphicData>
        </a:graphic>
      </p:graphicFrame>
    </p:spTree>
    <p:extLst>
      <p:ext uri="{BB962C8B-B14F-4D97-AF65-F5344CB8AC3E}">
        <p14:creationId xmlns:p14="http://schemas.microsoft.com/office/powerpoint/2010/main" val="3284043882"/>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558D47E9-91E9-482F-99AF-121B4E079C36}"/>
              </a:ext>
            </a:extLst>
          </p:cNvPr>
          <p:cNvSpPr>
            <a:spLocks noChangeArrowheads="1"/>
          </p:cNvSpPr>
          <p:nvPr/>
        </p:nvSpPr>
        <p:spPr bwMode="auto">
          <a:xfrm>
            <a:off x="0" y="0"/>
            <a:ext cx="9144000" cy="15875"/>
          </a:xfrm>
          <a:prstGeom prst="rect">
            <a:avLst/>
          </a:prstGeom>
          <a:solidFill>
            <a:srgbClr val="000000"/>
          </a:solidFill>
          <a:ln w="9525">
            <a:solidFill>
              <a:schemeClr val="tx1"/>
            </a:solidFill>
            <a:prstDash val="solid"/>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6" name="Title 5">
            <a:extLst>
              <a:ext uri="{FF2B5EF4-FFF2-40B4-BE49-F238E27FC236}">
                <a16:creationId xmlns:a16="http://schemas.microsoft.com/office/drawing/2014/main" id="{B50BDF58-3945-4703-A505-AFBEF21903A3}"/>
              </a:ext>
            </a:extLst>
          </p:cNvPr>
          <p:cNvSpPr>
            <a:spLocks noGrp="1"/>
          </p:cNvSpPr>
          <p:nvPr>
            <p:ph type="title"/>
          </p:nvPr>
        </p:nvSpPr>
        <p:spPr>
          <a:xfrm>
            <a:off x="1095375" y="-1066800"/>
            <a:ext cx="7772400" cy="5105400"/>
          </a:xfrm>
        </p:spPr>
        <p:txBody>
          <a:bodyPr>
            <a:noAutofit/>
          </a:bodyPr>
          <a:lstStyle/>
          <a:p>
            <a:pPr algn="r" rtl="1"/>
            <a:r>
              <a:rPr lang="fa-IR" sz="2000" b="0" dirty="0">
                <a:cs typeface="B Nazanin" panose="00000400000000000000" pitchFamily="2" charset="-78"/>
              </a:rPr>
              <a:t>مثال. جدول </a:t>
            </a:r>
            <a:r>
              <a:rPr lang="en-US" sz="2000" b="0" dirty="0">
                <a:cs typeface="B Nazanin" panose="00000400000000000000" pitchFamily="2" charset="-78"/>
              </a:rPr>
              <a:t>ALL_SALES </a:t>
            </a:r>
            <a:r>
              <a:rPr lang="fa-IR" sz="2000" b="0" dirty="0">
                <a:cs typeface="B Nazanin" panose="00000400000000000000" pitchFamily="2" charset="-78"/>
              </a:rPr>
              <a:t>را درنظر بگيريد:</a:t>
            </a:r>
            <a:br>
              <a:rPr lang="fa-IR" sz="2000" b="0" dirty="0">
                <a:cs typeface="B Nazanin" panose="00000400000000000000" pitchFamily="2" charset="-78"/>
              </a:rPr>
            </a:br>
            <a:br>
              <a:rPr lang="fa-IR" sz="2000" b="0" dirty="0">
                <a:cs typeface="B Nazanin" panose="00000400000000000000" pitchFamily="2" charset="-78"/>
              </a:rPr>
            </a:br>
            <a:br>
              <a:rPr lang="fa-IR" sz="2000" b="0" dirty="0">
                <a:cs typeface="B Nazanin" panose="00000400000000000000" pitchFamily="2" charset="-78"/>
              </a:rPr>
            </a:br>
            <a:br>
              <a:rPr lang="en-US" sz="2000" dirty="0">
                <a:cs typeface="B Nazanin" panose="00000400000000000000" pitchFamily="2" charset="-78"/>
              </a:rPr>
            </a:br>
            <a:r>
              <a:rPr lang="fa-IR" sz="2000" b="0" dirty="0">
                <a:cs typeface="B Nazanin" panose="00000400000000000000" pitchFamily="2" charset="-78"/>
              </a:rPr>
              <a:t>مشاهده می شود بعضی از ستون ها بهم مرتبط هستند و توسط بخشی از کليد مشخص می شوند. به عبارت ديگر بعضی ستون ها با زيرمجموعه ای از کليد وابستگی تابعی دارند:</a:t>
            </a:r>
            <a:br>
              <a:rPr lang="fa-IR" sz="2000" b="0" dirty="0">
                <a:cs typeface="B Nazanin" panose="00000400000000000000" pitchFamily="2" charset="-78"/>
              </a:rPr>
            </a:br>
            <a:br>
              <a:rPr lang="fa-IR" sz="2000" b="0" dirty="0">
                <a:cs typeface="B Nazanin" panose="00000400000000000000" pitchFamily="2" charset="-78"/>
              </a:rPr>
            </a:br>
            <a:br>
              <a:rPr lang="fa-IR" sz="2000" b="0" dirty="0">
                <a:cs typeface="B Nazanin" panose="00000400000000000000" pitchFamily="2" charset="-78"/>
              </a:rPr>
            </a:br>
            <a:br>
              <a:rPr lang="en-US" sz="2000" dirty="0">
                <a:cs typeface="B Nazanin" panose="00000400000000000000" pitchFamily="2" charset="-78"/>
              </a:rPr>
            </a:br>
            <a:br>
              <a:rPr lang="en-US" sz="2000" dirty="0">
                <a:cs typeface="B Nazanin" panose="00000400000000000000" pitchFamily="2" charset="-78"/>
              </a:rPr>
            </a:br>
            <a:endParaRPr lang="en-US" sz="2000" dirty="0">
              <a:cs typeface="B Nazanin" panose="00000400000000000000" pitchFamily="2" charset="-78"/>
            </a:endParaRPr>
          </a:p>
        </p:txBody>
      </p:sp>
      <p:sp>
        <p:nvSpPr>
          <p:cNvPr id="9" name="Slide Number Placeholder 8">
            <a:extLst>
              <a:ext uri="{FF2B5EF4-FFF2-40B4-BE49-F238E27FC236}">
                <a16:creationId xmlns:a16="http://schemas.microsoft.com/office/drawing/2014/main" id="{05E59686-4629-481C-A6E5-ECA0394DA4F9}"/>
              </a:ext>
            </a:extLst>
          </p:cNvPr>
          <p:cNvSpPr>
            <a:spLocks noGrp="1"/>
          </p:cNvSpPr>
          <p:nvPr>
            <p:ph type="sldNum" sz="quarter" idx="4294967295"/>
          </p:nvPr>
        </p:nvSpPr>
        <p:spPr>
          <a:xfrm>
            <a:off x="7994650" y="6334125"/>
            <a:ext cx="1149350" cy="365125"/>
          </a:xfrm>
        </p:spPr>
        <p:txBody>
          <a:bodyPr/>
          <a:lstStyle/>
          <a:p>
            <a:fld id="{9B1BEC6B-D08C-4686-9D99-35ADA0E9E6CD}" type="slidenum">
              <a:rPr lang="en-US" smtClean="0"/>
              <a:t>28</a:t>
            </a:fld>
            <a:endParaRPr lang="en-US"/>
          </a:p>
        </p:txBody>
      </p:sp>
      <p:sp>
        <p:nvSpPr>
          <p:cNvPr id="4" name="Rectangle 3">
            <a:extLst>
              <a:ext uri="{FF2B5EF4-FFF2-40B4-BE49-F238E27FC236}">
                <a16:creationId xmlns:a16="http://schemas.microsoft.com/office/drawing/2014/main" id="{C3E5D3F8-2F16-4DBE-91F0-071A27DBCBB5}"/>
              </a:ext>
            </a:extLst>
          </p:cNvPr>
          <p:cNvSpPr/>
          <p:nvPr/>
        </p:nvSpPr>
        <p:spPr>
          <a:xfrm>
            <a:off x="371475" y="2642474"/>
            <a:ext cx="8686800" cy="923330"/>
          </a:xfrm>
          <a:prstGeom prst="rect">
            <a:avLst/>
          </a:prstGeom>
        </p:spPr>
        <p:txBody>
          <a:bodyPr wrap="square">
            <a:spAutoFit/>
          </a:bodyPr>
          <a:lstStyle/>
          <a:p>
            <a:r>
              <a:rPr lang="en-US" dirty="0" err="1"/>
              <a:t>ProductNo</a:t>
            </a:r>
            <a:r>
              <a:rPr lang="en-US" dirty="0"/>
              <a:t> → {Description, </a:t>
            </a:r>
            <a:r>
              <a:rPr lang="en-US" dirty="0" err="1"/>
              <a:t>ReorderLevel</a:t>
            </a:r>
            <a:r>
              <a:rPr lang="en-US" dirty="0"/>
              <a:t>, Price, </a:t>
            </a:r>
            <a:r>
              <a:rPr lang="en-US" dirty="0" err="1"/>
              <a:t>QtyInStock</a:t>
            </a:r>
            <a:r>
              <a:rPr lang="en-US" dirty="0"/>
              <a:t>}</a:t>
            </a:r>
            <a:br>
              <a:rPr lang="en-US" dirty="0"/>
            </a:br>
            <a:r>
              <a:rPr lang="en-US" dirty="0" err="1"/>
              <a:t>CustomerNo</a:t>
            </a:r>
            <a:r>
              <a:rPr lang="en-US" dirty="0"/>
              <a:t> → {</a:t>
            </a:r>
            <a:r>
              <a:rPr lang="en-US" dirty="0" err="1"/>
              <a:t>Customer_Name</a:t>
            </a:r>
            <a:r>
              <a:rPr lang="en-US" dirty="0"/>
              <a:t>, </a:t>
            </a:r>
            <a:r>
              <a:rPr lang="en-US" dirty="0" err="1"/>
              <a:t>CreditLimit</a:t>
            </a:r>
            <a:r>
              <a:rPr lang="en-US" dirty="0"/>
              <a:t>}</a:t>
            </a:r>
            <a:br>
              <a:rPr lang="en-US" dirty="0"/>
            </a:br>
            <a:r>
              <a:rPr lang="en-US" dirty="0" err="1"/>
              <a:t>SaleNo</a:t>
            </a:r>
            <a:r>
              <a:rPr lang="en-US" dirty="0"/>
              <a:t> → {Date, </a:t>
            </a:r>
            <a:r>
              <a:rPr lang="en-US" dirty="0" err="1"/>
              <a:t>CustomerNo</a:t>
            </a:r>
            <a:r>
              <a:rPr lang="en-US" dirty="0"/>
              <a:t>, </a:t>
            </a:r>
            <a:r>
              <a:rPr lang="en-US" dirty="0" err="1"/>
              <a:t>ProductNo</a:t>
            </a:r>
            <a:r>
              <a:rPr lang="en-US" dirty="0"/>
              <a:t>, Qty, Amount, </a:t>
            </a:r>
            <a:r>
              <a:rPr lang="en-US" dirty="0" err="1"/>
              <a:t>Salesrep</a:t>
            </a:r>
            <a:r>
              <a:rPr lang="en-US" dirty="0"/>
              <a:t>}</a:t>
            </a:r>
          </a:p>
        </p:txBody>
      </p:sp>
      <p:sp>
        <p:nvSpPr>
          <p:cNvPr id="5" name="Rectangle 4">
            <a:extLst>
              <a:ext uri="{FF2B5EF4-FFF2-40B4-BE49-F238E27FC236}">
                <a16:creationId xmlns:a16="http://schemas.microsoft.com/office/drawing/2014/main" id="{A3C649F2-B8DB-4A47-9B59-3BCC462679B1}"/>
              </a:ext>
            </a:extLst>
          </p:cNvPr>
          <p:cNvSpPr/>
          <p:nvPr/>
        </p:nvSpPr>
        <p:spPr>
          <a:xfrm>
            <a:off x="487680" y="838421"/>
            <a:ext cx="8534400" cy="646331"/>
          </a:xfrm>
          <a:prstGeom prst="rect">
            <a:avLst/>
          </a:prstGeom>
        </p:spPr>
        <p:txBody>
          <a:bodyPr wrap="square">
            <a:spAutoFit/>
          </a:bodyPr>
          <a:lstStyle/>
          <a:p>
            <a:r>
              <a:rPr lang="en-US" dirty="0"/>
              <a:t>ALL_SALES(</a:t>
            </a:r>
            <a:r>
              <a:rPr lang="en-US" u="sng" dirty="0" err="1"/>
              <a:t>SaleNo</a:t>
            </a:r>
            <a:r>
              <a:rPr lang="en-US" u="sng" dirty="0"/>
              <a:t>, </a:t>
            </a:r>
            <a:r>
              <a:rPr lang="en-US" u="sng" dirty="0" err="1"/>
              <a:t>ProductNo</a:t>
            </a:r>
            <a:r>
              <a:rPr lang="en-US" u="sng" dirty="0"/>
              <a:t>, </a:t>
            </a:r>
            <a:r>
              <a:rPr lang="en-US" u="sng" dirty="0" err="1"/>
              <a:t>CustomerNo</a:t>
            </a:r>
            <a:r>
              <a:rPr lang="en-US" dirty="0"/>
              <a:t>, </a:t>
            </a:r>
            <a:r>
              <a:rPr lang="en-US" dirty="0" err="1"/>
              <a:t>SaleDate</a:t>
            </a:r>
            <a:r>
              <a:rPr lang="en-US" dirty="0"/>
              <a:t>, </a:t>
            </a:r>
            <a:r>
              <a:rPr lang="en-US" dirty="0" err="1"/>
              <a:t>QtyInStock</a:t>
            </a:r>
            <a:r>
              <a:rPr lang="en-US" dirty="0"/>
              <a:t>, Description, Price, </a:t>
            </a:r>
            <a:r>
              <a:rPr lang="en-US" dirty="0" err="1"/>
              <a:t>Customer_Name</a:t>
            </a:r>
            <a:r>
              <a:rPr lang="en-US" dirty="0"/>
              <a:t>, </a:t>
            </a:r>
            <a:r>
              <a:rPr lang="en-US" dirty="0" err="1"/>
              <a:t>CreditLimit</a:t>
            </a:r>
            <a:r>
              <a:rPr lang="en-US" dirty="0"/>
              <a:t>, Amount, </a:t>
            </a:r>
            <a:r>
              <a:rPr lang="en-US" dirty="0" err="1"/>
              <a:t>Salesrep</a:t>
            </a:r>
            <a:r>
              <a:rPr lang="en-US" dirty="0"/>
              <a:t>)</a:t>
            </a:r>
          </a:p>
        </p:txBody>
      </p:sp>
      <p:graphicFrame>
        <p:nvGraphicFramePr>
          <p:cNvPr id="11" name="Table 10">
            <a:extLst>
              <a:ext uri="{FF2B5EF4-FFF2-40B4-BE49-F238E27FC236}">
                <a16:creationId xmlns:a16="http://schemas.microsoft.com/office/drawing/2014/main" id="{3D5B73AA-01E9-4543-BD2F-8FB1E4FACC44}"/>
              </a:ext>
            </a:extLst>
          </p:cNvPr>
          <p:cNvGraphicFramePr>
            <a:graphicFrameLocks noGrp="1"/>
          </p:cNvGraphicFramePr>
          <p:nvPr/>
        </p:nvGraphicFramePr>
        <p:xfrm>
          <a:off x="333375" y="4155401"/>
          <a:ext cx="8599489" cy="2572424"/>
        </p:xfrm>
        <a:graphic>
          <a:graphicData uri="http://schemas.openxmlformats.org/drawingml/2006/table">
            <a:tbl>
              <a:tblPr firstRow="1" firstCol="1" bandRow="1"/>
              <a:tblGrid>
                <a:gridCol w="563802">
                  <a:extLst>
                    <a:ext uri="{9D8B030D-6E8A-4147-A177-3AD203B41FA5}">
                      <a16:colId xmlns:a16="http://schemas.microsoft.com/office/drawing/2014/main" val="3634866909"/>
                    </a:ext>
                  </a:extLst>
                </a:gridCol>
                <a:gridCol w="900264">
                  <a:extLst>
                    <a:ext uri="{9D8B030D-6E8A-4147-A177-3AD203B41FA5}">
                      <a16:colId xmlns:a16="http://schemas.microsoft.com/office/drawing/2014/main" val="4176574813"/>
                    </a:ext>
                  </a:extLst>
                </a:gridCol>
                <a:gridCol w="885108">
                  <a:extLst>
                    <a:ext uri="{9D8B030D-6E8A-4147-A177-3AD203B41FA5}">
                      <a16:colId xmlns:a16="http://schemas.microsoft.com/office/drawing/2014/main" val="3413149126"/>
                    </a:ext>
                  </a:extLst>
                </a:gridCol>
                <a:gridCol w="436492">
                  <a:extLst>
                    <a:ext uri="{9D8B030D-6E8A-4147-A177-3AD203B41FA5}">
                      <a16:colId xmlns:a16="http://schemas.microsoft.com/office/drawing/2014/main" val="649026262"/>
                    </a:ext>
                  </a:extLst>
                </a:gridCol>
                <a:gridCol w="654737">
                  <a:extLst>
                    <a:ext uri="{9D8B030D-6E8A-4147-A177-3AD203B41FA5}">
                      <a16:colId xmlns:a16="http://schemas.microsoft.com/office/drawing/2014/main" val="4081517296"/>
                    </a:ext>
                  </a:extLst>
                </a:gridCol>
                <a:gridCol w="1103354">
                  <a:extLst>
                    <a:ext uri="{9D8B030D-6E8A-4147-A177-3AD203B41FA5}">
                      <a16:colId xmlns:a16="http://schemas.microsoft.com/office/drawing/2014/main" val="3577044718"/>
                    </a:ext>
                  </a:extLst>
                </a:gridCol>
                <a:gridCol w="812359">
                  <a:extLst>
                    <a:ext uri="{9D8B030D-6E8A-4147-A177-3AD203B41FA5}">
                      <a16:colId xmlns:a16="http://schemas.microsoft.com/office/drawing/2014/main" val="2289919263"/>
                    </a:ext>
                  </a:extLst>
                </a:gridCol>
                <a:gridCol w="739610">
                  <a:extLst>
                    <a:ext uri="{9D8B030D-6E8A-4147-A177-3AD203B41FA5}">
                      <a16:colId xmlns:a16="http://schemas.microsoft.com/office/drawing/2014/main" val="1565915294"/>
                    </a:ext>
                  </a:extLst>
                </a:gridCol>
                <a:gridCol w="739610">
                  <a:extLst>
                    <a:ext uri="{9D8B030D-6E8A-4147-A177-3AD203B41FA5}">
                      <a16:colId xmlns:a16="http://schemas.microsoft.com/office/drawing/2014/main" val="816195333"/>
                    </a:ext>
                  </a:extLst>
                </a:gridCol>
                <a:gridCol w="1254913">
                  <a:extLst>
                    <a:ext uri="{9D8B030D-6E8A-4147-A177-3AD203B41FA5}">
                      <a16:colId xmlns:a16="http://schemas.microsoft.com/office/drawing/2014/main" val="1416750868"/>
                    </a:ext>
                  </a:extLst>
                </a:gridCol>
                <a:gridCol w="509240">
                  <a:extLst>
                    <a:ext uri="{9D8B030D-6E8A-4147-A177-3AD203B41FA5}">
                      <a16:colId xmlns:a16="http://schemas.microsoft.com/office/drawing/2014/main" val="4016761913"/>
                    </a:ext>
                  </a:extLst>
                </a:gridCol>
              </a:tblGrid>
              <a:tr h="508671">
                <a:tc>
                  <a:txBody>
                    <a:bodyPr/>
                    <a:lstStyle/>
                    <a:p>
                      <a:pPr marL="0" marR="0" algn="l" rtl="0" eaLnBrk="1" fontAlgn="ctr" latinLnBrk="0" hangingPunct="1">
                        <a:lnSpc>
                          <a:spcPct val="107000"/>
                        </a:lnSpc>
                        <a:spcBef>
                          <a:spcPts val="0"/>
                        </a:spcBef>
                        <a:spcAft>
                          <a:spcPts val="0"/>
                        </a:spcAft>
                      </a:pPr>
                      <a:r>
                        <a:rPr lang="en-US" sz="1100" b="1" i="0" u="none" strike="noStrike" kern="1200">
                          <a:solidFill>
                            <a:srgbClr val="992600"/>
                          </a:solidFill>
                          <a:effectLst/>
                          <a:latin typeface="Helvetica" panose="020B0604020202020204" pitchFamily="34" charset="0"/>
                        </a:rPr>
                        <a:t>Sale No</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tcPr>
                </a:tc>
                <a:tc>
                  <a:txBody>
                    <a:bodyPr/>
                    <a:lstStyle/>
                    <a:p>
                      <a:pPr marL="0" marR="0" algn="l" rtl="0" eaLnBrk="1" fontAlgn="ctr" latinLnBrk="0" hangingPunct="1">
                        <a:lnSpc>
                          <a:spcPct val="107000"/>
                        </a:lnSpc>
                        <a:spcBef>
                          <a:spcPts val="0"/>
                        </a:spcBef>
                        <a:spcAft>
                          <a:spcPts val="0"/>
                        </a:spcAft>
                      </a:pPr>
                      <a:r>
                        <a:rPr lang="en-US" sz="1100" b="1" i="0" u="none" strike="noStrike" kern="1200">
                          <a:solidFill>
                            <a:srgbClr val="992600"/>
                          </a:solidFill>
                          <a:effectLst/>
                          <a:latin typeface="Helvetica" panose="020B0604020202020204" pitchFamily="34" charset="0"/>
                        </a:rPr>
                        <a:t>SaleDate</a:t>
                      </a:r>
                      <a:endParaRPr lang="en-US" sz="1700" b="0" i="0" u="none" strike="noStrike">
                        <a:effectLst/>
                        <a:latin typeface="Arial" panose="020B0604020202020204" pitchFamily="34" charset="0"/>
                      </a:endParaRPr>
                    </a:p>
                    <a:p>
                      <a:pPr marL="0" marR="0" algn="l" rtl="0" eaLnBrk="1" fontAlgn="ctr" latinLnBrk="0" hangingPunct="1">
                        <a:lnSpc>
                          <a:spcPct val="107000"/>
                        </a:lnSpc>
                        <a:spcBef>
                          <a:spcPts val="0"/>
                        </a:spcBef>
                        <a:spcAft>
                          <a:spcPts val="0"/>
                        </a:spcAft>
                      </a:pPr>
                      <a:r>
                        <a:rPr lang="en-US" sz="1100" b="1" i="0" u="none" strike="noStrike" kern="1200">
                          <a:solidFill>
                            <a:srgbClr val="992600"/>
                          </a:solidFill>
                          <a:effectLst/>
                          <a:latin typeface="Helvetica" panose="020B0604020202020204" pitchFamily="34" charset="0"/>
                        </a:rPr>
                        <a:t> </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tcPr>
                </a:tc>
                <a:tc>
                  <a:txBody>
                    <a:bodyPr/>
                    <a:lstStyle/>
                    <a:p>
                      <a:pPr marL="0" marR="0" algn="l" rtl="0" eaLnBrk="1" fontAlgn="ctr" latinLnBrk="0" hangingPunct="1">
                        <a:lnSpc>
                          <a:spcPct val="107000"/>
                        </a:lnSpc>
                        <a:spcBef>
                          <a:spcPts val="0"/>
                        </a:spcBef>
                        <a:spcAft>
                          <a:spcPts val="0"/>
                        </a:spcAft>
                      </a:pPr>
                      <a:r>
                        <a:rPr lang="en-US" sz="1100" b="1" i="0" u="none" strike="noStrike" kern="1200">
                          <a:solidFill>
                            <a:srgbClr val="992600"/>
                          </a:solidFill>
                          <a:effectLst/>
                          <a:latin typeface="Helvetica" panose="020B0604020202020204" pitchFamily="34" charset="0"/>
                        </a:rPr>
                        <a:t>ProductNo</a:t>
                      </a:r>
                      <a:endParaRPr lang="en-US" sz="1700" b="0" i="0" u="none" strike="noStrike">
                        <a:effectLst/>
                        <a:latin typeface="Arial" panose="020B0604020202020204" pitchFamily="34" charset="0"/>
                      </a:endParaRPr>
                    </a:p>
                    <a:p>
                      <a:pPr marL="0" marR="0" algn="l" rtl="0" eaLnBrk="1" fontAlgn="ctr" latinLnBrk="0" hangingPunct="1">
                        <a:lnSpc>
                          <a:spcPct val="107000"/>
                        </a:lnSpc>
                        <a:spcBef>
                          <a:spcPts val="0"/>
                        </a:spcBef>
                        <a:spcAft>
                          <a:spcPts val="0"/>
                        </a:spcAft>
                      </a:pPr>
                      <a:r>
                        <a:rPr lang="en-US" sz="1100" b="1" i="0" u="none" strike="noStrike" kern="1200">
                          <a:solidFill>
                            <a:srgbClr val="992600"/>
                          </a:solidFill>
                          <a:effectLst/>
                          <a:latin typeface="Helvetica" panose="020B0604020202020204" pitchFamily="34" charset="0"/>
                        </a:rPr>
                        <a:t> </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tcPr>
                </a:tc>
                <a:tc>
                  <a:txBody>
                    <a:bodyPr/>
                    <a:lstStyle/>
                    <a:p>
                      <a:pPr marL="0" marR="0" algn="l" rtl="0" eaLnBrk="1" fontAlgn="ctr" latinLnBrk="0" hangingPunct="1">
                        <a:lnSpc>
                          <a:spcPct val="107000"/>
                        </a:lnSpc>
                        <a:spcBef>
                          <a:spcPts val="0"/>
                        </a:spcBef>
                        <a:spcAft>
                          <a:spcPts val="0"/>
                        </a:spcAft>
                      </a:pPr>
                      <a:r>
                        <a:rPr lang="en-US" sz="1100" b="1" i="0" u="none" strike="noStrike" kern="1200">
                          <a:solidFill>
                            <a:srgbClr val="992600"/>
                          </a:solidFill>
                          <a:effectLst/>
                          <a:latin typeface="Helvetica" panose="020B0604020202020204" pitchFamily="34" charset="0"/>
                        </a:rPr>
                        <a:t>Qty</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tcPr>
                </a:tc>
                <a:tc>
                  <a:txBody>
                    <a:bodyPr/>
                    <a:lstStyle/>
                    <a:p>
                      <a:pPr marL="0" marR="0" algn="l" rtl="0" eaLnBrk="1" fontAlgn="ctr" latinLnBrk="0" hangingPunct="1">
                        <a:lnSpc>
                          <a:spcPct val="107000"/>
                        </a:lnSpc>
                        <a:spcBef>
                          <a:spcPts val="0"/>
                        </a:spcBef>
                        <a:spcAft>
                          <a:spcPts val="0"/>
                        </a:spcAft>
                      </a:pPr>
                      <a:r>
                        <a:rPr lang="en-US" sz="1100" b="1" i="0" u="none" strike="noStrike" kern="1200">
                          <a:solidFill>
                            <a:srgbClr val="992600"/>
                          </a:solidFill>
                          <a:effectLst/>
                          <a:latin typeface="Helvetica" panose="020B0604020202020204" pitchFamily="34" charset="0"/>
                        </a:rPr>
                        <a:t>Amount</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tcPr>
                </a:tc>
                <a:tc>
                  <a:txBody>
                    <a:bodyPr/>
                    <a:lstStyle/>
                    <a:p>
                      <a:pPr marL="0" marR="0" algn="l" rtl="0" eaLnBrk="1" fontAlgn="ctr" latinLnBrk="0" hangingPunct="1">
                        <a:lnSpc>
                          <a:spcPct val="107000"/>
                        </a:lnSpc>
                        <a:spcBef>
                          <a:spcPts val="0"/>
                        </a:spcBef>
                        <a:spcAft>
                          <a:spcPts val="0"/>
                        </a:spcAft>
                      </a:pPr>
                      <a:r>
                        <a:rPr lang="en-US" sz="1100" b="1" i="0" u="none" strike="noStrike" kern="1200">
                          <a:solidFill>
                            <a:srgbClr val="992600"/>
                          </a:solidFill>
                          <a:effectLst/>
                          <a:latin typeface="Helvetica" panose="020B0604020202020204" pitchFamily="34" charset="0"/>
                        </a:rPr>
                        <a:t>Salesrep</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tcPr>
                </a:tc>
                <a:tc>
                  <a:txBody>
                    <a:bodyPr/>
                    <a:lstStyle/>
                    <a:p>
                      <a:pPr marL="0" marR="0" algn="l" rtl="0" eaLnBrk="1" fontAlgn="ctr" latinLnBrk="0" hangingPunct="1">
                        <a:lnSpc>
                          <a:spcPct val="107000"/>
                        </a:lnSpc>
                        <a:spcBef>
                          <a:spcPts val="0"/>
                        </a:spcBef>
                        <a:spcAft>
                          <a:spcPts val="0"/>
                        </a:spcAft>
                      </a:pPr>
                      <a:r>
                        <a:rPr lang="en-US" sz="1100" b="1" i="0" u="none" strike="noStrike" kern="1200">
                          <a:solidFill>
                            <a:srgbClr val="992600"/>
                          </a:solidFill>
                          <a:effectLst/>
                          <a:latin typeface="Helvetica" panose="020B0604020202020204" pitchFamily="34" charset="0"/>
                        </a:rPr>
                        <a:t>CustomerNo</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tcPr>
                </a:tc>
                <a:tc>
                  <a:txBody>
                    <a:bodyPr/>
                    <a:lstStyle/>
                    <a:p>
                      <a:pPr marL="0" marR="0" algn="l" rtl="0" eaLnBrk="1" fontAlgn="ctr" latinLnBrk="0" hangingPunct="1">
                        <a:lnSpc>
                          <a:spcPct val="107000"/>
                        </a:lnSpc>
                        <a:spcBef>
                          <a:spcPts val="0"/>
                        </a:spcBef>
                        <a:spcAft>
                          <a:spcPts val="0"/>
                        </a:spcAft>
                      </a:pPr>
                      <a:r>
                        <a:rPr lang="en-US" sz="1100" b="1" i="0" u="none" strike="noStrike" kern="1200">
                          <a:solidFill>
                            <a:srgbClr val="992600"/>
                          </a:solidFill>
                          <a:effectLst/>
                          <a:latin typeface="Helvetica" panose="020B0604020202020204" pitchFamily="34" charset="0"/>
                        </a:rPr>
                        <a:t>First</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tcPr>
                </a:tc>
                <a:tc>
                  <a:txBody>
                    <a:bodyPr/>
                    <a:lstStyle/>
                    <a:p>
                      <a:pPr marL="0" marR="0" algn="l" rtl="0" eaLnBrk="1" fontAlgn="ctr" latinLnBrk="0" hangingPunct="1">
                        <a:lnSpc>
                          <a:spcPct val="107000"/>
                        </a:lnSpc>
                        <a:spcBef>
                          <a:spcPts val="0"/>
                        </a:spcBef>
                        <a:spcAft>
                          <a:spcPts val="0"/>
                        </a:spcAft>
                      </a:pPr>
                      <a:r>
                        <a:rPr lang="en-US" sz="1100" b="1" i="0" u="none" strike="noStrike" kern="1200">
                          <a:solidFill>
                            <a:srgbClr val="992600"/>
                          </a:solidFill>
                          <a:effectLst/>
                          <a:latin typeface="Helvetica" panose="020B0604020202020204" pitchFamily="34" charset="0"/>
                        </a:rPr>
                        <a:t>Last</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tcPr>
                </a:tc>
                <a:tc>
                  <a:txBody>
                    <a:bodyPr/>
                    <a:lstStyle/>
                    <a:p>
                      <a:pPr marL="0" marR="0" algn="l" rtl="0" eaLnBrk="1" fontAlgn="ctr" latinLnBrk="0" hangingPunct="1">
                        <a:lnSpc>
                          <a:spcPct val="107000"/>
                        </a:lnSpc>
                        <a:spcBef>
                          <a:spcPts val="0"/>
                        </a:spcBef>
                        <a:spcAft>
                          <a:spcPts val="0"/>
                        </a:spcAft>
                      </a:pPr>
                      <a:r>
                        <a:rPr lang="en-US" sz="1100" b="1" i="0" u="none" strike="noStrike" kern="1200">
                          <a:solidFill>
                            <a:srgbClr val="992600"/>
                          </a:solidFill>
                          <a:effectLst/>
                          <a:latin typeface="Helvetica" panose="020B0604020202020204" pitchFamily="34" charset="0"/>
                        </a:rPr>
                        <a:t>Address</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tcPr>
                </a:tc>
                <a:tc>
                  <a:txBody>
                    <a:bodyPr/>
                    <a:lstStyle/>
                    <a:p>
                      <a:pPr marL="0" marR="0" algn="l" rtl="0" eaLnBrk="1" fontAlgn="ctr" latinLnBrk="0" hangingPunct="1">
                        <a:lnSpc>
                          <a:spcPct val="107000"/>
                        </a:lnSpc>
                        <a:spcBef>
                          <a:spcPts val="0"/>
                        </a:spcBef>
                        <a:spcAft>
                          <a:spcPts val="0"/>
                        </a:spcAft>
                      </a:pPr>
                      <a:r>
                        <a:rPr lang="en-US" sz="1100" b="1" i="0" u="none" strike="noStrike" kern="1200">
                          <a:solidFill>
                            <a:srgbClr val="992600"/>
                          </a:solidFill>
                          <a:effectLst/>
                          <a:latin typeface="Helvetica" panose="020B0604020202020204" pitchFamily="34" charset="0"/>
                        </a:rPr>
                        <a:t>CreditLimit</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949978478"/>
                  </a:ext>
                </a:extLst>
              </a:tr>
              <a:tr h="337046">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12345</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7E7E7"/>
                    </a:solidFill>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Aug 12 2002</a:t>
                      </a:r>
                      <a:endParaRPr lang="en-US" sz="1700" b="0" i="0" u="none" strike="noStrike">
                        <a:effectLst/>
                        <a:latin typeface="Arial" panose="020B0604020202020204" pitchFamily="34" charset="0"/>
                      </a:endParaRPr>
                    </a:p>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 </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7E7E7"/>
                    </a:solidFill>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AQX88916</a:t>
                      </a:r>
                      <a:endParaRPr lang="en-US" sz="1700" b="0" i="0" u="none" strike="noStrike">
                        <a:effectLst/>
                        <a:latin typeface="Arial" panose="020B0604020202020204" pitchFamily="34" charset="0"/>
                      </a:endParaRPr>
                    </a:p>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 </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7E7E7"/>
                    </a:solidFill>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1</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7E7E7"/>
                    </a:solidFill>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23.95</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7E7E7"/>
                    </a:solidFill>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Dave Williams</a:t>
                      </a:r>
                      <a:endParaRPr lang="en-US" sz="1700" b="0" i="0" u="none" strike="noStrike">
                        <a:effectLst/>
                        <a:latin typeface="Arial" panose="020B0604020202020204" pitchFamily="34" charset="0"/>
                      </a:endParaRPr>
                    </a:p>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 </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7E7E7"/>
                    </a:solidFill>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4649-4673</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7E7E7"/>
                    </a:solidFill>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Richard</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7E7E7"/>
                    </a:solidFill>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Johnston</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7E7E7"/>
                    </a:solidFill>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14 West Avenue</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7E7E7"/>
                    </a:solidFill>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1000</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7E7E7"/>
                    </a:solidFill>
                  </a:tcPr>
                </a:tc>
                <a:extLst>
                  <a:ext uri="{0D108BD9-81ED-4DB2-BD59-A6C34878D82A}">
                    <a16:rowId xmlns:a16="http://schemas.microsoft.com/office/drawing/2014/main" val="512329316"/>
                  </a:ext>
                </a:extLst>
              </a:tr>
              <a:tr h="337046">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12346</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Aug 12 2002</a:t>
                      </a:r>
                      <a:endParaRPr lang="en-US" sz="1700" b="0" i="0" u="none" strike="noStrike">
                        <a:effectLst/>
                        <a:latin typeface="Arial" panose="020B0604020202020204" pitchFamily="34" charset="0"/>
                      </a:endParaRPr>
                    </a:p>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 </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AQX88916</a:t>
                      </a:r>
                      <a:endParaRPr lang="en-US" sz="1700" b="0" i="0" u="none" strike="noStrike">
                        <a:effectLst/>
                        <a:latin typeface="Arial" panose="020B0604020202020204" pitchFamily="34" charset="0"/>
                      </a:endParaRPr>
                    </a:p>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 </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7</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167.65</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Sara Thompson</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1113-7741</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Wayne</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Jones</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42 York Street</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l" rtl="0" eaLnBrk="1" fontAlgn="ctr" latinLnBrk="0" hangingPunct="1">
                        <a:lnSpc>
                          <a:spcPct val="107000"/>
                        </a:lnSpc>
                        <a:spcBef>
                          <a:spcPts val="0"/>
                        </a:spcBef>
                        <a:spcAft>
                          <a:spcPts val="0"/>
                        </a:spcAft>
                      </a:pPr>
                      <a:r>
                        <a:rPr lang="en-US" sz="900" b="1" i="0" u="none" strike="noStrike" kern="1200" spc="0" baseline="0">
                          <a:ln>
                            <a:noFill/>
                          </a:ln>
                          <a:solidFill>
                            <a:srgbClr val="000000"/>
                          </a:solidFill>
                          <a:effectLst/>
                          <a:latin typeface="Helvetica" panose="020B0604020202020204" pitchFamily="34" charset="0"/>
                        </a:rPr>
                        <a:t>&lt;</a:t>
                      </a:r>
                      <a:r>
                        <a:rPr lang="en-US" sz="900" b="1" i="1" u="none" strike="noStrike" kern="1200" spc="0" baseline="0">
                          <a:ln>
                            <a:noFill/>
                          </a:ln>
                          <a:solidFill>
                            <a:srgbClr val="000000"/>
                          </a:solidFill>
                          <a:effectLst/>
                          <a:latin typeface="Helvetica" panose="020B0604020202020204" pitchFamily="34" charset="0"/>
                        </a:rPr>
                        <a:t>null&gt;</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973686634"/>
                  </a:ext>
                </a:extLst>
              </a:tr>
              <a:tr h="337046">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12347</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7E7E7"/>
                    </a:solidFill>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Aug 13 2002</a:t>
                      </a:r>
                      <a:endParaRPr lang="en-US" sz="1700" b="0" i="0" u="none" strike="noStrike">
                        <a:effectLst/>
                        <a:latin typeface="Arial" panose="020B0604020202020204" pitchFamily="34" charset="0"/>
                      </a:endParaRPr>
                    </a:p>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 </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7E7E7"/>
                    </a:solidFill>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AHL46785</a:t>
                      </a:r>
                      <a:endParaRPr lang="en-US" sz="1700" b="0" i="0" u="none" strike="noStrike">
                        <a:effectLst/>
                        <a:latin typeface="Arial" panose="020B0604020202020204" pitchFamily="34" charset="0"/>
                      </a:endParaRPr>
                    </a:p>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 </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7E7E7"/>
                    </a:solidFill>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3705</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7E7E7"/>
                    </a:solidFill>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5001.75</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7E7E7"/>
                    </a:solidFill>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Li Qing</a:t>
                      </a:r>
                      <a:endParaRPr lang="en-US" sz="1700" b="0" i="0" u="none" strike="noStrike">
                        <a:effectLst/>
                        <a:latin typeface="Arial" panose="020B0604020202020204" pitchFamily="34" charset="0"/>
                      </a:endParaRPr>
                    </a:p>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 </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7E7E7"/>
                    </a:solidFill>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1166-3461</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7E7E7"/>
                    </a:solidFill>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Amelia</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7E7E7"/>
                    </a:solidFill>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Waverley</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7E7E7"/>
                    </a:solidFill>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995 Forth Street</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7E7E7"/>
                    </a:solidFill>
                  </a:tcPr>
                </a:tc>
                <a:tc>
                  <a:txBody>
                    <a:bodyPr/>
                    <a:lstStyle/>
                    <a:p>
                      <a:pPr marL="0" marR="0" algn="l" rtl="0" eaLnBrk="1" fontAlgn="ctr" latinLnBrk="0" hangingPunct="1">
                        <a:lnSpc>
                          <a:spcPct val="107000"/>
                        </a:lnSpc>
                        <a:spcBef>
                          <a:spcPts val="0"/>
                        </a:spcBef>
                        <a:spcAft>
                          <a:spcPts val="0"/>
                        </a:spcAft>
                      </a:pPr>
                      <a:r>
                        <a:rPr lang="en-US" sz="900" b="1" i="0" u="none" strike="noStrike" kern="1200" spc="0" baseline="0">
                          <a:ln>
                            <a:noFill/>
                          </a:ln>
                          <a:solidFill>
                            <a:srgbClr val="000000"/>
                          </a:solidFill>
                          <a:effectLst/>
                          <a:latin typeface="Helvetica" panose="020B0604020202020204" pitchFamily="34" charset="0"/>
                        </a:rPr>
                        <a:t>&lt;</a:t>
                      </a:r>
                      <a:r>
                        <a:rPr lang="en-US" sz="900" b="1" i="1" u="none" strike="noStrike" kern="1200" spc="0" baseline="0">
                          <a:ln>
                            <a:noFill/>
                          </a:ln>
                          <a:solidFill>
                            <a:srgbClr val="000000"/>
                          </a:solidFill>
                          <a:effectLst/>
                          <a:latin typeface="Helvetica" panose="020B0604020202020204" pitchFamily="34" charset="0"/>
                        </a:rPr>
                        <a:t>null&gt;</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7E7E7"/>
                    </a:solidFill>
                  </a:tcPr>
                </a:tc>
                <a:extLst>
                  <a:ext uri="{0D108BD9-81ED-4DB2-BD59-A6C34878D82A}">
                    <a16:rowId xmlns:a16="http://schemas.microsoft.com/office/drawing/2014/main" val="3491820568"/>
                  </a:ext>
                </a:extLst>
              </a:tr>
              <a:tr h="238523">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12348</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Aug 13 2002</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DHU69863</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50</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118.5</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Sara Thompson</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ctr"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 &lt;</a:t>
                      </a:r>
                      <a:r>
                        <a:rPr lang="en-US" sz="1000" b="1" i="1" u="none" strike="noStrike" kern="1200">
                          <a:solidFill>
                            <a:srgbClr val="000000"/>
                          </a:solidFill>
                          <a:effectLst/>
                          <a:latin typeface="Helvetica" panose="020B0604020202020204" pitchFamily="34" charset="0"/>
                        </a:rPr>
                        <a:t>null&gt;</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 &lt;</a:t>
                      </a:r>
                      <a:r>
                        <a:rPr lang="en-US" sz="1000" b="1" i="1" u="none" strike="noStrike" kern="1200">
                          <a:solidFill>
                            <a:srgbClr val="000000"/>
                          </a:solidFill>
                          <a:effectLst/>
                          <a:latin typeface="Helvetica" panose="020B0604020202020204" pitchFamily="34" charset="0"/>
                        </a:rPr>
                        <a:t>null&gt;</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 &lt;</a:t>
                      </a:r>
                      <a:r>
                        <a:rPr lang="en-US" sz="1000" b="1" i="1" u="none" strike="noStrike" kern="1200">
                          <a:solidFill>
                            <a:srgbClr val="000000"/>
                          </a:solidFill>
                          <a:effectLst/>
                          <a:latin typeface="Helvetica" panose="020B0604020202020204" pitchFamily="34" charset="0"/>
                        </a:rPr>
                        <a:t>null&gt;</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 &lt;</a:t>
                      </a:r>
                      <a:r>
                        <a:rPr lang="en-US" sz="1000" b="1" i="1" u="none" strike="noStrike" kern="1200">
                          <a:solidFill>
                            <a:srgbClr val="000000"/>
                          </a:solidFill>
                          <a:effectLst/>
                          <a:latin typeface="Helvetica" panose="020B0604020202020204" pitchFamily="34" charset="0"/>
                        </a:rPr>
                        <a:t>null&gt;</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l" rtl="0" eaLnBrk="1" fontAlgn="ctr" latinLnBrk="0" hangingPunct="1">
                        <a:lnSpc>
                          <a:spcPct val="107000"/>
                        </a:lnSpc>
                        <a:spcBef>
                          <a:spcPts val="0"/>
                        </a:spcBef>
                        <a:spcAft>
                          <a:spcPts val="0"/>
                        </a:spcAft>
                      </a:pPr>
                      <a:r>
                        <a:rPr lang="en-US" sz="900" b="1" i="0" u="none" strike="noStrike" kern="1200" spc="0" baseline="0">
                          <a:ln>
                            <a:noFill/>
                          </a:ln>
                          <a:solidFill>
                            <a:srgbClr val="000000"/>
                          </a:solidFill>
                          <a:effectLst/>
                          <a:latin typeface="Helvetica" panose="020B0604020202020204" pitchFamily="34" charset="0"/>
                        </a:rPr>
                        <a:t>&lt;</a:t>
                      </a:r>
                      <a:r>
                        <a:rPr lang="en-US" sz="900" b="1" i="1" u="none" strike="noStrike" kern="1200" spc="0" baseline="0">
                          <a:ln>
                            <a:noFill/>
                          </a:ln>
                          <a:solidFill>
                            <a:srgbClr val="000000"/>
                          </a:solidFill>
                          <a:effectLst/>
                          <a:latin typeface="Helvetica" panose="020B0604020202020204" pitchFamily="34" charset="0"/>
                        </a:rPr>
                        <a:t>null&gt;</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2324983069"/>
                  </a:ext>
                </a:extLst>
              </a:tr>
              <a:tr h="238523">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12349</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7E7E7"/>
                    </a:solidFill>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Aug 14 2002</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7E7E7"/>
                    </a:solidFill>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DHU69863</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7E7E7"/>
                    </a:solidFill>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940</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7E7E7"/>
                    </a:solidFill>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2227.8</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7E7E7"/>
                    </a:solidFill>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Sara Thompson</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7E7E7"/>
                    </a:solidFill>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1166-3461</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7E7E7"/>
                    </a:solidFill>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Amelia</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7E7E7"/>
                    </a:solidFill>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Waverley</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7E7E7"/>
                    </a:solidFill>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995 Forth Street</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7E7E7"/>
                    </a:solidFill>
                  </a:tcPr>
                </a:tc>
                <a:tc>
                  <a:txBody>
                    <a:bodyPr/>
                    <a:lstStyle/>
                    <a:p>
                      <a:pPr marL="0" marR="0" algn="l" rtl="0" eaLnBrk="1" fontAlgn="ctr" latinLnBrk="0" hangingPunct="1">
                        <a:lnSpc>
                          <a:spcPct val="107000"/>
                        </a:lnSpc>
                        <a:spcBef>
                          <a:spcPts val="0"/>
                        </a:spcBef>
                        <a:spcAft>
                          <a:spcPts val="0"/>
                        </a:spcAft>
                      </a:pPr>
                      <a:r>
                        <a:rPr lang="en-US" sz="900" b="1" i="0" u="none" strike="noStrike" kern="1200" spc="0" baseline="0">
                          <a:ln>
                            <a:noFill/>
                          </a:ln>
                          <a:solidFill>
                            <a:srgbClr val="000000"/>
                          </a:solidFill>
                          <a:effectLst/>
                          <a:latin typeface="Helvetica" panose="020B0604020202020204" pitchFamily="34" charset="0"/>
                        </a:rPr>
                        <a:t>&lt;</a:t>
                      </a:r>
                      <a:r>
                        <a:rPr lang="en-US" sz="900" b="1" i="1" u="none" strike="noStrike" kern="1200" spc="0" baseline="0">
                          <a:ln>
                            <a:noFill/>
                          </a:ln>
                          <a:solidFill>
                            <a:srgbClr val="000000"/>
                          </a:solidFill>
                          <a:effectLst/>
                          <a:latin typeface="Helvetica" panose="020B0604020202020204" pitchFamily="34" charset="0"/>
                        </a:rPr>
                        <a:t>null&gt;</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7E7E7"/>
                    </a:solidFill>
                  </a:tcPr>
                </a:tc>
                <a:extLst>
                  <a:ext uri="{0D108BD9-81ED-4DB2-BD59-A6C34878D82A}">
                    <a16:rowId xmlns:a16="http://schemas.microsoft.com/office/drawing/2014/main" val="405715733"/>
                  </a:ext>
                </a:extLst>
              </a:tr>
              <a:tr h="238523">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12350</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Aug 14 2002</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DHU69863</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42</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99.54</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Sara Thompson</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7671-3496</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Antonio</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Gonzales</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55B Granary Lane</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l" rtl="0" eaLnBrk="1" fontAlgn="ctr" latinLnBrk="0" hangingPunct="1">
                        <a:lnSpc>
                          <a:spcPct val="107000"/>
                        </a:lnSpc>
                        <a:spcBef>
                          <a:spcPts val="0"/>
                        </a:spcBef>
                        <a:spcAft>
                          <a:spcPts val="0"/>
                        </a:spcAft>
                      </a:pPr>
                      <a:r>
                        <a:rPr lang="en-US" sz="900" b="1" i="0" u="none" strike="noStrike" kern="1200" spc="0" baseline="0">
                          <a:ln>
                            <a:noFill/>
                          </a:ln>
                          <a:solidFill>
                            <a:srgbClr val="000000"/>
                          </a:solidFill>
                          <a:effectLst/>
                          <a:latin typeface="Helvetica" panose="020B0604020202020204" pitchFamily="34" charset="0"/>
                        </a:rPr>
                        <a:t>&lt;</a:t>
                      </a:r>
                      <a:r>
                        <a:rPr lang="en-US" sz="900" b="1" i="1" u="none" strike="noStrike" kern="1200" spc="0" baseline="0">
                          <a:ln>
                            <a:noFill/>
                          </a:ln>
                          <a:solidFill>
                            <a:srgbClr val="000000"/>
                          </a:solidFill>
                          <a:effectLst/>
                          <a:latin typeface="Helvetica" panose="020B0604020202020204" pitchFamily="34" charset="0"/>
                        </a:rPr>
                        <a:t>null&gt;</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272171564"/>
                  </a:ext>
                </a:extLst>
              </a:tr>
              <a:tr h="337046">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12351</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7E7E7"/>
                    </a:solidFill>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Aug 14 2002</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7E7E7"/>
                    </a:solidFill>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AQX88916</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7E7E7"/>
                    </a:solidFill>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55</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7E7E7"/>
                    </a:solidFill>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1317.25</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7E7E7"/>
                    </a:solidFill>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Dave Williams</a:t>
                      </a:r>
                      <a:endParaRPr lang="en-US" sz="1700" b="0" i="0" u="none" strike="noStrike">
                        <a:effectLst/>
                        <a:latin typeface="Arial" panose="020B0604020202020204" pitchFamily="34" charset="0"/>
                      </a:endParaRPr>
                    </a:p>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 </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7E7E7"/>
                    </a:solidFill>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6794-1674</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7E7E7"/>
                    </a:solidFill>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Diane</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7E7E7"/>
                    </a:solidFill>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Adams</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7E7E7"/>
                    </a:solidFill>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364 East Road</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7E7E7"/>
                    </a:solidFill>
                  </a:tcPr>
                </a:tc>
                <a:tc>
                  <a:txBody>
                    <a:bodyPr/>
                    <a:lstStyle/>
                    <a:p>
                      <a:pPr marL="0" marR="0" algn="l" rtl="0" eaLnBrk="1" fontAlgn="ctr" latinLnBrk="0" hangingPunct="1">
                        <a:lnSpc>
                          <a:spcPct val="107000"/>
                        </a:lnSpc>
                        <a:spcBef>
                          <a:spcPts val="0"/>
                        </a:spcBef>
                        <a:spcAft>
                          <a:spcPts val="0"/>
                        </a:spcAft>
                      </a:pPr>
                      <a:r>
                        <a:rPr lang="en-US" sz="1000" b="1" i="0" u="none" strike="noStrike" kern="1200" dirty="0">
                          <a:solidFill>
                            <a:srgbClr val="000000"/>
                          </a:solidFill>
                          <a:effectLst/>
                          <a:latin typeface="Helvetica" panose="020B0604020202020204" pitchFamily="34" charset="0"/>
                        </a:rPr>
                        <a:t>150</a:t>
                      </a:r>
                      <a:endParaRPr lang="en-US" sz="1700" b="0" i="0" u="none" strike="noStrike" dirty="0">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7E7E7"/>
                    </a:solidFill>
                  </a:tcPr>
                </a:tc>
                <a:extLst>
                  <a:ext uri="{0D108BD9-81ED-4DB2-BD59-A6C34878D82A}">
                    <a16:rowId xmlns:a16="http://schemas.microsoft.com/office/drawing/2014/main" val="1359192006"/>
                  </a:ext>
                </a:extLst>
              </a:tr>
            </a:tbl>
          </a:graphicData>
        </a:graphic>
      </p:graphicFrame>
    </p:spTree>
    <p:extLst>
      <p:ext uri="{BB962C8B-B14F-4D97-AF65-F5344CB8AC3E}">
        <p14:creationId xmlns:p14="http://schemas.microsoft.com/office/powerpoint/2010/main" val="3721452748"/>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558D47E9-91E9-482F-99AF-121B4E079C36}"/>
              </a:ext>
            </a:extLst>
          </p:cNvPr>
          <p:cNvSpPr>
            <a:spLocks noChangeArrowheads="1"/>
          </p:cNvSpPr>
          <p:nvPr/>
        </p:nvSpPr>
        <p:spPr bwMode="auto">
          <a:xfrm>
            <a:off x="0" y="0"/>
            <a:ext cx="9144000" cy="15875"/>
          </a:xfrm>
          <a:prstGeom prst="rect">
            <a:avLst/>
          </a:prstGeom>
          <a:solidFill>
            <a:srgbClr val="000000"/>
          </a:solidFill>
          <a:ln w="9525">
            <a:solidFill>
              <a:schemeClr val="tx1"/>
            </a:solidFill>
            <a:prstDash val="solid"/>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6" name="Title 5">
            <a:extLst>
              <a:ext uri="{FF2B5EF4-FFF2-40B4-BE49-F238E27FC236}">
                <a16:creationId xmlns:a16="http://schemas.microsoft.com/office/drawing/2014/main" id="{B50BDF58-3945-4703-A505-AFBEF21903A3}"/>
              </a:ext>
            </a:extLst>
          </p:cNvPr>
          <p:cNvSpPr>
            <a:spLocks noGrp="1"/>
          </p:cNvSpPr>
          <p:nvPr>
            <p:ph type="title"/>
          </p:nvPr>
        </p:nvSpPr>
        <p:spPr>
          <a:xfrm>
            <a:off x="1120859" y="-1137321"/>
            <a:ext cx="7772400" cy="1984379"/>
          </a:xfrm>
        </p:spPr>
        <p:txBody>
          <a:bodyPr>
            <a:noAutofit/>
          </a:bodyPr>
          <a:lstStyle/>
          <a:p>
            <a:pPr algn="r" rtl="1"/>
            <a:r>
              <a:rPr lang="fa-IR" sz="2000" b="0" dirty="0">
                <a:cs typeface="B Nazanin" panose="00000400000000000000" pitchFamily="2" charset="-78"/>
              </a:rPr>
              <a:t>با جدا کردن اين ستون ها به جداول جداگانه به فرم دوم نرمال می رسيم.</a:t>
            </a:r>
            <a:endParaRPr lang="en-US" sz="2000" dirty="0">
              <a:cs typeface="B Nazanin" panose="00000400000000000000" pitchFamily="2" charset="-78"/>
            </a:endParaRPr>
          </a:p>
        </p:txBody>
      </p:sp>
      <p:sp>
        <p:nvSpPr>
          <p:cNvPr id="9" name="Slide Number Placeholder 8">
            <a:extLst>
              <a:ext uri="{FF2B5EF4-FFF2-40B4-BE49-F238E27FC236}">
                <a16:creationId xmlns:a16="http://schemas.microsoft.com/office/drawing/2014/main" id="{E8A1EF70-2383-49DE-A504-D1E123EED235}"/>
              </a:ext>
            </a:extLst>
          </p:cNvPr>
          <p:cNvSpPr>
            <a:spLocks noGrp="1"/>
          </p:cNvSpPr>
          <p:nvPr>
            <p:ph type="sldNum" sz="quarter" idx="4294967295"/>
          </p:nvPr>
        </p:nvSpPr>
        <p:spPr>
          <a:xfrm>
            <a:off x="7994650" y="6334125"/>
            <a:ext cx="1149350" cy="365125"/>
          </a:xfrm>
        </p:spPr>
        <p:txBody>
          <a:bodyPr/>
          <a:lstStyle/>
          <a:p>
            <a:fld id="{9B1BEC6B-D08C-4686-9D99-35ADA0E9E6CD}" type="slidenum">
              <a:rPr lang="en-US" smtClean="0"/>
              <a:t>29</a:t>
            </a:fld>
            <a:endParaRPr lang="en-US"/>
          </a:p>
        </p:txBody>
      </p:sp>
      <p:sp>
        <p:nvSpPr>
          <p:cNvPr id="3" name="Rectangle 2">
            <a:extLst>
              <a:ext uri="{FF2B5EF4-FFF2-40B4-BE49-F238E27FC236}">
                <a16:creationId xmlns:a16="http://schemas.microsoft.com/office/drawing/2014/main" id="{86CFD693-8CB8-40E1-BE3A-00D16DFB52F1}"/>
              </a:ext>
            </a:extLst>
          </p:cNvPr>
          <p:cNvSpPr/>
          <p:nvPr/>
        </p:nvSpPr>
        <p:spPr>
          <a:xfrm>
            <a:off x="272255" y="1285435"/>
            <a:ext cx="7924800" cy="923330"/>
          </a:xfrm>
          <a:prstGeom prst="rect">
            <a:avLst/>
          </a:prstGeom>
        </p:spPr>
        <p:txBody>
          <a:bodyPr wrap="square">
            <a:spAutoFit/>
          </a:bodyPr>
          <a:lstStyle/>
          <a:p>
            <a:pPr marL="285750" indent="-285750">
              <a:buFont typeface="Arial" panose="020B0604020202020204" pitchFamily="34" charset="0"/>
              <a:buChar char="•"/>
            </a:pPr>
            <a:r>
              <a:rPr lang="en-US" dirty="0"/>
              <a:t>PRODUCT(</a:t>
            </a:r>
            <a:r>
              <a:rPr lang="en-US" u="sng" dirty="0" err="1"/>
              <a:t>ProductNo</a:t>
            </a:r>
            <a:r>
              <a:rPr lang="en-US" dirty="0"/>
              <a:t>, Description, Price, </a:t>
            </a:r>
            <a:r>
              <a:rPr lang="en-US" dirty="0" err="1"/>
              <a:t>QtyInStock</a:t>
            </a:r>
            <a:r>
              <a:rPr lang="en-US" dirty="0"/>
              <a:t>)</a:t>
            </a:r>
            <a:endParaRPr lang="fa-IR" dirty="0"/>
          </a:p>
          <a:p>
            <a:pPr marL="285750" indent="-285750">
              <a:buFont typeface="Arial" panose="020B0604020202020204" pitchFamily="34" charset="0"/>
              <a:buChar char="•"/>
            </a:pPr>
            <a:r>
              <a:rPr lang="en-US" dirty="0"/>
              <a:t>CUSTOMER(</a:t>
            </a:r>
            <a:r>
              <a:rPr lang="en-US" u="sng" dirty="0" err="1"/>
              <a:t>CustomerNo</a:t>
            </a:r>
            <a:r>
              <a:rPr lang="en-US" dirty="0"/>
              <a:t>, </a:t>
            </a:r>
            <a:r>
              <a:rPr lang="en-US" dirty="0" err="1"/>
              <a:t>Customer_Name</a:t>
            </a:r>
            <a:r>
              <a:rPr lang="en-US" dirty="0"/>
              <a:t>, </a:t>
            </a:r>
            <a:r>
              <a:rPr lang="en-US" dirty="0" err="1"/>
              <a:t>CreditLimit</a:t>
            </a:r>
            <a:r>
              <a:rPr lang="en-US" dirty="0"/>
              <a:t>)</a:t>
            </a:r>
            <a:endParaRPr lang="fa-IR" dirty="0"/>
          </a:p>
          <a:p>
            <a:pPr marL="285750" indent="-285750">
              <a:buFont typeface="Arial" panose="020B0604020202020204" pitchFamily="34" charset="0"/>
              <a:buChar char="•"/>
            </a:pPr>
            <a:r>
              <a:rPr lang="en-US" dirty="0"/>
              <a:t>SALE(</a:t>
            </a:r>
            <a:r>
              <a:rPr lang="en-US" u="sng" dirty="0" err="1"/>
              <a:t>SaleNo</a:t>
            </a:r>
            <a:r>
              <a:rPr lang="en-US" dirty="0"/>
              <a:t>, Date, </a:t>
            </a:r>
            <a:r>
              <a:rPr lang="en-US" dirty="0" err="1"/>
              <a:t>CustomerNo</a:t>
            </a:r>
            <a:r>
              <a:rPr lang="en-US" dirty="0"/>
              <a:t>, </a:t>
            </a:r>
            <a:r>
              <a:rPr lang="en-US" dirty="0" err="1"/>
              <a:t>ProductNo</a:t>
            </a:r>
            <a:r>
              <a:rPr lang="en-US" dirty="0"/>
              <a:t>, Qty, Amount, </a:t>
            </a:r>
            <a:r>
              <a:rPr lang="en-US" dirty="0" err="1"/>
              <a:t>Salesrep</a:t>
            </a:r>
            <a:r>
              <a:rPr lang="en-US" dirty="0"/>
              <a:t>)</a:t>
            </a:r>
          </a:p>
        </p:txBody>
      </p:sp>
      <p:graphicFrame>
        <p:nvGraphicFramePr>
          <p:cNvPr id="4" name="Table 3">
            <a:extLst>
              <a:ext uri="{FF2B5EF4-FFF2-40B4-BE49-F238E27FC236}">
                <a16:creationId xmlns:a16="http://schemas.microsoft.com/office/drawing/2014/main" id="{98AD0AB8-E44D-4320-BF91-CD914F19F5F1}"/>
              </a:ext>
            </a:extLst>
          </p:cNvPr>
          <p:cNvGraphicFramePr>
            <a:graphicFrameLocks noGrp="1"/>
          </p:cNvGraphicFramePr>
          <p:nvPr/>
        </p:nvGraphicFramePr>
        <p:xfrm>
          <a:off x="272255" y="3662620"/>
          <a:ext cx="8599489" cy="2572424"/>
        </p:xfrm>
        <a:graphic>
          <a:graphicData uri="http://schemas.openxmlformats.org/drawingml/2006/table">
            <a:tbl>
              <a:tblPr firstRow="1" firstCol="1" bandRow="1"/>
              <a:tblGrid>
                <a:gridCol w="563802">
                  <a:extLst>
                    <a:ext uri="{9D8B030D-6E8A-4147-A177-3AD203B41FA5}">
                      <a16:colId xmlns:a16="http://schemas.microsoft.com/office/drawing/2014/main" val="3944945673"/>
                    </a:ext>
                  </a:extLst>
                </a:gridCol>
                <a:gridCol w="900264">
                  <a:extLst>
                    <a:ext uri="{9D8B030D-6E8A-4147-A177-3AD203B41FA5}">
                      <a16:colId xmlns:a16="http://schemas.microsoft.com/office/drawing/2014/main" val="2714837217"/>
                    </a:ext>
                  </a:extLst>
                </a:gridCol>
                <a:gridCol w="885108">
                  <a:extLst>
                    <a:ext uri="{9D8B030D-6E8A-4147-A177-3AD203B41FA5}">
                      <a16:colId xmlns:a16="http://schemas.microsoft.com/office/drawing/2014/main" val="194842666"/>
                    </a:ext>
                  </a:extLst>
                </a:gridCol>
                <a:gridCol w="436492">
                  <a:extLst>
                    <a:ext uri="{9D8B030D-6E8A-4147-A177-3AD203B41FA5}">
                      <a16:colId xmlns:a16="http://schemas.microsoft.com/office/drawing/2014/main" val="538555613"/>
                    </a:ext>
                  </a:extLst>
                </a:gridCol>
                <a:gridCol w="654737">
                  <a:extLst>
                    <a:ext uri="{9D8B030D-6E8A-4147-A177-3AD203B41FA5}">
                      <a16:colId xmlns:a16="http://schemas.microsoft.com/office/drawing/2014/main" val="2034242651"/>
                    </a:ext>
                  </a:extLst>
                </a:gridCol>
                <a:gridCol w="1103354">
                  <a:extLst>
                    <a:ext uri="{9D8B030D-6E8A-4147-A177-3AD203B41FA5}">
                      <a16:colId xmlns:a16="http://schemas.microsoft.com/office/drawing/2014/main" val="4222582750"/>
                    </a:ext>
                  </a:extLst>
                </a:gridCol>
                <a:gridCol w="812359">
                  <a:extLst>
                    <a:ext uri="{9D8B030D-6E8A-4147-A177-3AD203B41FA5}">
                      <a16:colId xmlns:a16="http://schemas.microsoft.com/office/drawing/2014/main" val="472645087"/>
                    </a:ext>
                  </a:extLst>
                </a:gridCol>
                <a:gridCol w="739610">
                  <a:extLst>
                    <a:ext uri="{9D8B030D-6E8A-4147-A177-3AD203B41FA5}">
                      <a16:colId xmlns:a16="http://schemas.microsoft.com/office/drawing/2014/main" val="109886400"/>
                    </a:ext>
                  </a:extLst>
                </a:gridCol>
                <a:gridCol w="739610">
                  <a:extLst>
                    <a:ext uri="{9D8B030D-6E8A-4147-A177-3AD203B41FA5}">
                      <a16:colId xmlns:a16="http://schemas.microsoft.com/office/drawing/2014/main" val="1703494103"/>
                    </a:ext>
                  </a:extLst>
                </a:gridCol>
                <a:gridCol w="1254913">
                  <a:extLst>
                    <a:ext uri="{9D8B030D-6E8A-4147-A177-3AD203B41FA5}">
                      <a16:colId xmlns:a16="http://schemas.microsoft.com/office/drawing/2014/main" val="3278350128"/>
                    </a:ext>
                  </a:extLst>
                </a:gridCol>
                <a:gridCol w="509240">
                  <a:extLst>
                    <a:ext uri="{9D8B030D-6E8A-4147-A177-3AD203B41FA5}">
                      <a16:colId xmlns:a16="http://schemas.microsoft.com/office/drawing/2014/main" val="805615455"/>
                    </a:ext>
                  </a:extLst>
                </a:gridCol>
              </a:tblGrid>
              <a:tr h="508671">
                <a:tc>
                  <a:txBody>
                    <a:bodyPr/>
                    <a:lstStyle/>
                    <a:p>
                      <a:pPr marL="0" marR="0" algn="l" rtl="0" eaLnBrk="1" fontAlgn="ctr" latinLnBrk="0" hangingPunct="1">
                        <a:lnSpc>
                          <a:spcPct val="107000"/>
                        </a:lnSpc>
                        <a:spcBef>
                          <a:spcPts val="0"/>
                        </a:spcBef>
                        <a:spcAft>
                          <a:spcPts val="0"/>
                        </a:spcAft>
                      </a:pPr>
                      <a:r>
                        <a:rPr lang="en-US" sz="1100" b="1" i="0" u="none" strike="noStrike" kern="1200">
                          <a:solidFill>
                            <a:srgbClr val="992600"/>
                          </a:solidFill>
                          <a:effectLst/>
                          <a:latin typeface="Helvetica" panose="020B0604020202020204" pitchFamily="34" charset="0"/>
                        </a:rPr>
                        <a:t>Sale No</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tcPr>
                </a:tc>
                <a:tc>
                  <a:txBody>
                    <a:bodyPr/>
                    <a:lstStyle/>
                    <a:p>
                      <a:pPr marL="0" marR="0" algn="l" rtl="0" eaLnBrk="1" fontAlgn="ctr" latinLnBrk="0" hangingPunct="1">
                        <a:lnSpc>
                          <a:spcPct val="107000"/>
                        </a:lnSpc>
                        <a:spcBef>
                          <a:spcPts val="0"/>
                        </a:spcBef>
                        <a:spcAft>
                          <a:spcPts val="0"/>
                        </a:spcAft>
                      </a:pPr>
                      <a:r>
                        <a:rPr lang="en-US" sz="1100" b="1" i="0" u="none" strike="noStrike" kern="1200">
                          <a:solidFill>
                            <a:srgbClr val="992600"/>
                          </a:solidFill>
                          <a:effectLst/>
                          <a:latin typeface="Helvetica" panose="020B0604020202020204" pitchFamily="34" charset="0"/>
                        </a:rPr>
                        <a:t>SaleDate</a:t>
                      </a:r>
                      <a:endParaRPr lang="en-US" sz="1700" b="0" i="0" u="none" strike="noStrike">
                        <a:effectLst/>
                        <a:latin typeface="Arial" panose="020B0604020202020204" pitchFamily="34" charset="0"/>
                      </a:endParaRPr>
                    </a:p>
                    <a:p>
                      <a:pPr marL="0" marR="0" algn="l" rtl="0" eaLnBrk="1" fontAlgn="ctr" latinLnBrk="0" hangingPunct="1">
                        <a:lnSpc>
                          <a:spcPct val="107000"/>
                        </a:lnSpc>
                        <a:spcBef>
                          <a:spcPts val="0"/>
                        </a:spcBef>
                        <a:spcAft>
                          <a:spcPts val="0"/>
                        </a:spcAft>
                      </a:pPr>
                      <a:r>
                        <a:rPr lang="en-US" sz="1100" b="1" i="0" u="none" strike="noStrike" kern="1200">
                          <a:solidFill>
                            <a:srgbClr val="992600"/>
                          </a:solidFill>
                          <a:effectLst/>
                          <a:latin typeface="Helvetica" panose="020B0604020202020204" pitchFamily="34" charset="0"/>
                        </a:rPr>
                        <a:t> </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tcPr>
                </a:tc>
                <a:tc>
                  <a:txBody>
                    <a:bodyPr/>
                    <a:lstStyle/>
                    <a:p>
                      <a:pPr marL="0" marR="0" algn="l" rtl="0" eaLnBrk="1" fontAlgn="ctr" latinLnBrk="0" hangingPunct="1">
                        <a:lnSpc>
                          <a:spcPct val="107000"/>
                        </a:lnSpc>
                        <a:spcBef>
                          <a:spcPts val="0"/>
                        </a:spcBef>
                        <a:spcAft>
                          <a:spcPts val="0"/>
                        </a:spcAft>
                      </a:pPr>
                      <a:r>
                        <a:rPr lang="en-US" sz="1100" b="1" i="0" u="none" strike="noStrike" kern="1200">
                          <a:solidFill>
                            <a:srgbClr val="992600"/>
                          </a:solidFill>
                          <a:effectLst/>
                          <a:latin typeface="Helvetica" panose="020B0604020202020204" pitchFamily="34" charset="0"/>
                        </a:rPr>
                        <a:t>ProductNo</a:t>
                      </a:r>
                      <a:endParaRPr lang="en-US" sz="1700" b="0" i="0" u="none" strike="noStrike">
                        <a:effectLst/>
                        <a:latin typeface="Arial" panose="020B0604020202020204" pitchFamily="34" charset="0"/>
                      </a:endParaRPr>
                    </a:p>
                    <a:p>
                      <a:pPr marL="0" marR="0" algn="l" rtl="0" eaLnBrk="1" fontAlgn="ctr" latinLnBrk="0" hangingPunct="1">
                        <a:lnSpc>
                          <a:spcPct val="107000"/>
                        </a:lnSpc>
                        <a:spcBef>
                          <a:spcPts val="0"/>
                        </a:spcBef>
                        <a:spcAft>
                          <a:spcPts val="0"/>
                        </a:spcAft>
                      </a:pPr>
                      <a:r>
                        <a:rPr lang="en-US" sz="1100" b="1" i="0" u="none" strike="noStrike" kern="1200">
                          <a:solidFill>
                            <a:srgbClr val="992600"/>
                          </a:solidFill>
                          <a:effectLst/>
                          <a:latin typeface="Helvetica" panose="020B0604020202020204" pitchFamily="34" charset="0"/>
                        </a:rPr>
                        <a:t> </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tcPr>
                </a:tc>
                <a:tc>
                  <a:txBody>
                    <a:bodyPr/>
                    <a:lstStyle/>
                    <a:p>
                      <a:pPr marL="0" marR="0" algn="l" rtl="0" eaLnBrk="1" fontAlgn="ctr" latinLnBrk="0" hangingPunct="1">
                        <a:lnSpc>
                          <a:spcPct val="107000"/>
                        </a:lnSpc>
                        <a:spcBef>
                          <a:spcPts val="0"/>
                        </a:spcBef>
                        <a:spcAft>
                          <a:spcPts val="0"/>
                        </a:spcAft>
                      </a:pPr>
                      <a:r>
                        <a:rPr lang="en-US" sz="1100" b="1" i="0" u="none" strike="noStrike" kern="1200">
                          <a:solidFill>
                            <a:srgbClr val="992600"/>
                          </a:solidFill>
                          <a:effectLst/>
                          <a:latin typeface="Helvetica" panose="020B0604020202020204" pitchFamily="34" charset="0"/>
                        </a:rPr>
                        <a:t>Qty</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tcPr>
                </a:tc>
                <a:tc>
                  <a:txBody>
                    <a:bodyPr/>
                    <a:lstStyle/>
                    <a:p>
                      <a:pPr marL="0" marR="0" algn="l" rtl="0" eaLnBrk="1" fontAlgn="ctr" latinLnBrk="0" hangingPunct="1">
                        <a:lnSpc>
                          <a:spcPct val="107000"/>
                        </a:lnSpc>
                        <a:spcBef>
                          <a:spcPts val="0"/>
                        </a:spcBef>
                        <a:spcAft>
                          <a:spcPts val="0"/>
                        </a:spcAft>
                      </a:pPr>
                      <a:r>
                        <a:rPr lang="en-US" sz="1100" b="1" i="0" u="none" strike="noStrike" kern="1200">
                          <a:solidFill>
                            <a:srgbClr val="992600"/>
                          </a:solidFill>
                          <a:effectLst/>
                          <a:latin typeface="Helvetica" panose="020B0604020202020204" pitchFamily="34" charset="0"/>
                        </a:rPr>
                        <a:t>Amount</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tcPr>
                </a:tc>
                <a:tc>
                  <a:txBody>
                    <a:bodyPr/>
                    <a:lstStyle/>
                    <a:p>
                      <a:pPr marL="0" marR="0" algn="l" rtl="0" eaLnBrk="1" fontAlgn="ctr" latinLnBrk="0" hangingPunct="1">
                        <a:lnSpc>
                          <a:spcPct val="107000"/>
                        </a:lnSpc>
                        <a:spcBef>
                          <a:spcPts val="0"/>
                        </a:spcBef>
                        <a:spcAft>
                          <a:spcPts val="0"/>
                        </a:spcAft>
                      </a:pPr>
                      <a:r>
                        <a:rPr lang="en-US" sz="1100" b="1" i="0" u="none" strike="noStrike" kern="1200">
                          <a:solidFill>
                            <a:srgbClr val="992600"/>
                          </a:solidFill>
                          <a:effectLst/>
                          <a:latin typeface="Helvetica" panose="020B0604020202020204" pitchFamily="34" charset="0"/>
                        </a:rPr>
                        <a:t>Salesrep</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tcPr>
                </a:tc>
                <a:tc>
                  <a:txBody>
                    <a:bodyPr/>
                    <a:lstStyle/>
                    <a:p>
                      <a:pPr marL="0" marR="0" algn="l" rtl="0" eaLnBrk="1" fontAlgn="ctr" latinLnBrk="0" hangingPunct="1">
                        <a:lnSpc>
                          <a:spcPct val="107000"/>
                        </a:lnSpc>
                        <a:spcBef>
                          <a:spcPts val="0"/>
                        </a:spcBef>
                        <a:spcAft>
                          <a:spcPts val="0"/>
                        </a:spcAft>
                      </a:pPr>
                      <a:r>
                        <a:rPr lang="en-US" sz="1100" b="1" i="0" u="none" strike="noStrike" kern="1200">
                          <a:solidFill>
                            <a:srgbClr val="992600"/>
                          </a:solidFill>
                          <a:effectLst/>
                          <a:latin typeface="Helvetica" panose="020B0604020202020204" pitchFamily="34" charset="0"/>
                        </a:rPr>
                        <a:t>CustomerNo</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tcPr>
                </a:tc>
                <a:tc>
                  <a:txBody>
                    <a:bodyPr/>
                    <a:lstStyle/>
                    <a:p>
                      <a:pPr marL="0" marR="0" algn="l" rtl="0" eaLnBrk="1" fontAlgn="ctr" latinLnBrk="0" hangingPunct="1">
                        <a:lnSpc>
                          <a:spcPct val="107000"/>
                        </a:lnSpc>
                        <a:spcBef>
                          <a:spcPts val="0"/>
                        </a:spcBef>
                        <a:spcAft>
                          <a:spcPts val="0"/>
                        </a:spcAft>
                      </a:pPr>
                      <a:r>
                        <a:rPr lang="en-US" sz="1100" b="1" i="0" u="none" strike="noStrike" kern="1200">
                          <a:solidFill>
                            <a:srgbClr val="992600"/>
                          </a:solidFill>
                          <a:effectLst/>
                          <a:latin typeface="Helvetica" panose="020B0604020202020204" pitchFamily="34" charset="0"/>
                        </a:rPr>
                        <a:t>First</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tcPr>
                </a:tc>
                <a:tc>
                  <a:txBody>
                    <a:bodyPr/>
                    <a:lstStyle/>
                    <a:p>
                      <a:pPr marL="0" marR="0" algn="l" rtl="0" eaLnBrk="1" fontAlgn="ctr" latinLnBrk="0" hangingPunct="1">
                        <a:lnSpc>
                          <a:spcPct val="107000"/>
                        </a:lnSpc>
                        <a:spcBef>
                          <a:spcPts val="0"/>
                        </a:spcBef>
                        <a:spcAft>
                          <a:spcPts val="0"/>
                        </a:spcAft>
                      </a:pPr>
                      <a:r>
                        <a:rPr lang="en-US" sz="1100" b="1" i="0" u="none" strike="noStrike" kern="1200">
                          <a:solidFill>
                            <a:srgbClr val="992600"/>
                          </a:solidFill>
                          <a:effectLst/>
                          <a:latin typeface="Helvetica" panose="020B0604020202020204" pitchFamily="34" charset="0"/>
                        </a:rPr>
                        <a:t>Last</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tcPr>
                </a:tc>
                <a:tc>
                  <a:txBody>
                    <a:bodyPr/>
                    <a:lstStyle/>
                    <a:p>
                      <a:pPr marL="0" marR="0" algn="l" rtl="0" eaLnBrk="1" fontAlgn="ctr" latinLnBrk="0" hangingPunct="1">
                        <a:lnSpc>
                          <a:spcPct val="107000"/>
                        </a:lnSpc>
                        <a:spcBef>
                          <a:spcPts val="0"/>
                        </a:spcBef>
                        <a:spcAft>
                          <a:spcPts val="0"/>
                        </a:spcAft>
                      </a:pPr>
                      <a:r>
                        <a:rPr lang="en-US" sz="1100" b="1" i="0" u="none" strike="noStrike" kern="1200">
                          <a:solidFill>
                            <a:srgbClr val="992600"/>
                          </a:solidFill>
                          <a:effectLst/>
                          <a:latin typeface="Helvetica" panose="020B0604020202020204" pitchFamily="34" charset="0"/>
                        </a:rPr>
                        <a:t>Address</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tcPr>
                </a:tc>
                <a:tc>
                  <a:txBody>
                    <a:bodyPr/>
                    <a:lstStyle/>
                    <a:p>
                      <a:pPr marL="0" marR="0" algn="l" rtl="0" eaLnBrk="1" fontAlgn="ctr" latinLnBrk="0" hangingPunct="1">
                        <a:lnSpc>
                          <a:spcPct val="107000"/>
                        </a:lnSpc>
                        <a:spcBef>
                          <a:spcPts val="0"/>
                        </a:spcBef>
                        <a:spcAft>
                          <a:spcPts val="0"/>
                        </a:spcAft>
                      </a:pPr>
                      <a:r>
                        <a:rPr lang="en-US" sz="1100" b="1" i="0" u="none" strike="noStrike" kern="1200">
                          <a:solidFill>
                            <a:srgbClr val="992600"/>
                          </a:solidFill>
                          <a:effectLst/>
                          <a:latin typeface="Helvetica" panose="020B0604020202020204" pitchFamily="34" charset="0"/>
                        </a:rPr>
                        <a:t>CreditLimit</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745776751"/>
                  </a:ext>
                </a:extLst>
              </a:tr>
              <a:tr h="337046">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12345</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7E7E7"/>
                    </a:solidFill>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Aug 12 2002</a:t>
                      </a:r>
                      <a:endParaRPr lang="en-US" sz="1700" b="0" i="0" u="none" strike="noStrike">
                        <a:effectLst/>
                        <a:latin typeface="Arial" panose="020B0604020202020204" pitchFamily="34" charset="0"/>
                      </a:endParaRPr>
                    </a:p>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 </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7E7E7"/>
                    </a:solidFill>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AQX88916</a:t>
                      </a:r>
                      <a:endParaRPr lang="en-US" sz="1700" b="0" i="0" u="none" strike="noStrike">
                        <a:effectLst/>
                        <a:latin typeface="Arial" panose="020B0604020202020204" pitchFamily="34" charset="0"/>
                      </a:endParaRPr>
                    </a:p>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 </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7E7E7"/>
                    </a:solidFill>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1</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7E7E7"/>
                    </a:solidFill>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23.95</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7E7E7"/>
                    </a:solidFill>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Dave Williams</a:t>
                      </a:r>
                      <a:endParaRPr lang="en-US" sz="1700" b="0" i="0" u="none" strike="noStrike">
                        <a:effectLst/>
                        <a:latin typeface="Arial" panose="020B0604020202020204" pitchFamily="34" charset="0"/>
                      </a:endParaRPr>
                    </a:p>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 </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7E7E7"/>
                    </a:solidFill>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4649-4673</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7E7E7"/>
                    </a:solidFill>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Richard</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7E7E7"/>
                    </a:solidFill>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Johnston</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7E7E7"/>
                    </a:solidFill>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14 West Avenue</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7E7E7"/>
                    </a:solidFill>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1000</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7E7E7"/>
                    </a:solidFill>
                  </a:tcPr>
                </a:tc>
                <a:extLst>
                  <a:ext uri="{0D108BD9-81ED-4DB2-BD59-A6C34878D82A}">
                    <a16:rowId xmlns:a16="http://schemas.microsoft.com/office/drawing/2014/main" val="3014252598"/>
                  </a:ext>
                </a:extLst>
              </a:tr>
              <a:tr h="337046">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12346</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Aug 12 2002</a:t>
                      </a:r>
                      <a:endParaRPr lang="en-US" sz="1700" b="0" i="0" u="none" strike="noStrike">
                        <a:effectLst/>
                        <a:latin typeface="Arial" panose="020B0604020202020204" pitchFamily="34" charset="0"/>
                      </a:endParaRPr>
                    </a:p>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 </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AQX88916</a:t>
                      </a:r>
                      <a:endParaRPr lang="en-US" sz="1700" b="0" i="0" u="none" strike="noStrike">
                        <a:effectLst/>
                        <a:latin typeface="Arial" panose="020B0604020202020204" pitchFamily="34" charset="0"/>
                      </a:endParaRPr>
                    </a:p>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 </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7</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167.65</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Sara Thompson</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1113-7741</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l" rtl="0" eaLnBrk="1" fontAlgn="ctr" latinLnBrk="0" hangingPunct="1">
                        <a:lnSpc>
                          <a:spcPct val="107000"/>
                        </a:lnSpc>
                        <a:spcBef>
                          <a:spcPts val="0"/>
                        </a:spcBef>
                        <a:spcAft>
                          <a:spcPts val="0"/>
                        </a:spcAft>
                      </a:pPr>
                      <a:r>
                        <a:rPr lang="en-US" sz="1000" b="1" i="0" u="none" strike="noStrike" kern="1200" dirty="0">
                          <a:solidFill>
                            <a:srgbClr val="000000"/>
                          </a:solidFill>
                          <a:effectLst/>
                          <a:latin typeface="Helvetica" panose="020B0604020202020204" pitchFamily="34" charset="0"/>
                        </a:rPr>
                        <a:t>Wayne</a:t>
                      </a:r>
                      <a:endParaRPr lang="en-US" sz="1700" b="0" i="0" u="none" strike="noStrike" dirty="0">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Jones</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42 York Street</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l" rtl="0" eaLnBrk="1" fontAlgn="ctr" latinLnBrk="0" hangingPunct="1">
                        <a:lnSpc>
                          <a:spcPct val="107000"/>
                        </a:lnSpc>
                        <a:spcBef>
                          <a:spcPts val="0"/>
                        </a:spcBef>
                        <a:spcAft>
                          <a:spcPts val="0"/>
                        </a:spcAft>
                      </a:pPr>
                      <a:r>
                        <a:rPr lang="en-US" sz="900" b="1" i="0" u="none" strike="noStrike" kern="1200" spc="0" baseline="0">
                          <a:ln>
                            <a:noFill/>
                          </a:ln>
                          <a:solidFill>
                            <a:srgbClr val="000000"/>
                          </a:solidFill>
                          <a:effectLst/>
                          <a:latin typeface="Helvetica" panose="020B0604020202020204" pitchFamily="34" charset="0"/>
                        </a:rPr>
                        <a:t>&lt;</a:t>
                      </a:r>
                      <a:r>
                        <a:rPr lang="en-US" sz="900" b="1" i="1" u="none" strike="noStrike" kern="1200" spc="0" baseline="0">
                          <a:ln>
                            <a:noFill/>
                          </a:ln>
                          <a:solidFill>
                            <a:srgbClr val="000000"/>
                          </a:solidFill>
                          <a:effectLst/>
                          <a:latin typeface="Helvetica" panose="020B0604020202020204" pitchFamily="34" charset="0"/>
                        </a:rPr>
                        <a:t>null&gt;</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538569920"/>
                  </a:ext>
                </a:extLst>
              </a:tr>
              <a:tr h="337046">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12347</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7E7E7"/>
                    </a:solidFill>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Aug 13 2002</a:t>
                      </a:r>
                      <a:endParaRPr lang="en-US" sz="1700" b="0" i="0" u="none" strike="noStrike">
                        <a:effectLst/>
                        <a:latin typeface="Arial" panose="020B0604020202020204" pitchFamily="34" charset="0"/>
                      </a:endParaRPr>
                    </a:p>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 </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7E7E7"/>
                    </a:solidFill>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AHL46785</a:t>
                      </a:r>
                      <a:endParaRPr lang="en-US" sz="1700" b="0" i="0" u="none" strike="noStrike">
                        <a:effectLst/>
                        <a:latin typeface="Arial" panose="020B0604020202020204" pitchFamily="34" charset="0"/>
                      </a:endParaRPr>
                    </a:p>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 </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7E7E7"/>
                    </a:solidFill>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3705</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7E7E7"/>
                    </a:solidFill>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5001.75</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7E7E7"/>
                    </a:solidFill>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Li Qing</a:t>
                      </a:r>
                      <a:endParaRPr lang="en-US" sz="1700" b="0" i="0" u="none" strike="noStrike">
                        <a:effectLst/>
                        <a:latin typeface="Arial" panose="020B0604020202020204" pitchFamily="34" charset="0"/>
                      </a:endParaRPr>
                    </a:p>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 </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7E7E7"/>
                    </a:solidFill>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1166-3461</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7E7E7"/>
                    </a:solidFill>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Amelia</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7E7E7"/>
                    </a:solidFill>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Waverley</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7E7E7"/>
                    </a:solidFill>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995 Forth Street</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7E7E7"/>
                    </a:solidFill>
                  </a:tcPr>
                </a:tc>
                <a:tc>
                  <a:txBody>
                    <a:bodyPr/>
                    <a:lstStyle/>
                    <a:p>
                      <a:pPr marL="0" marR="0" algn="l" rtl="0" eaLnBrk="1" fontAlgn="ctr" latinLnBrk="0" hangingPunct="1">
                        <a:lnSpc>
                          <a:spcPct val="107000"/>
                        </a:lnSpc>
                        <a:spcBef>
                          <a:spcPts val="0"/>
                        </a:spcBef>
                        <a:spcAft>
                          <a:spcPts val="0"/>
                        </a:spcAft>
                      </a:pPr>
                      <a:r>
                        <a:rPr lang="en-US" sz="900" b="1" i="0" u="none" strike="noStrike" kern="1200" spc="0" baseline="0">
                          <a:ln>
                            <a:noFill/>
                          </a:ln>
                          <a:solidFill>
                            <a:srgbClr val="000000"/>
                          </a:solidFill>
                          <a:effectLst/>
                          <a:latin typeface="Helvetica" panose="020B0604020202020204" pitchFamily="34" charset="0"/>
                        </a:rPr>
                        <a:t>&lt;</a:t>
                      </a:r>
                      <a:r>
                        <a:rPr lang="en-US" sz="900" b="1" i="1" u="none" strike="noStrike" kern="1200" spc="0" baseline="0">
                          <a:ln>
                            <a:noFill/>
                          </a:ln>
                          <a:solidFill>
                            <a:srgbClr val="000000"/>
                          </a:solidFill>
                          <a:effectLst/>
                          <a:latin typeface="Helvetica" panose="020B0604020202020204" pitchFamily="34" charset="0"/>
                        </a:rPr>
                        <a:t>null&gt;</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7E7E7"/>
                    </a:solidFill>
                  </a:tcPr>
                </a:tc>
                <a:extLst>
                  <a:ext uri="{0D108BD9-81ED-4DB2-BD59-A6C34878D82A}">
                    <a16:rowId xmlns:a16="http://schemas.microsoft.com/office/drawing/2014/main" val="3276016436"/>
                  </a:ext>
                </a:extLst>
              </a:tr>
              <a:tr h="238523">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12348</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Aug 13 2002</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DHU69863</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50</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118.5</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Sara Thompson</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ctr"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 &lt;</a:t>
                      </a:r>
                      <a:r>
                        <a:rPr lang="en-US" sz="1000" b="1" i="1" u="none" strike="noStrike" kern="1200">
                          <a:solidFill>
                            <a:srgbClr val="000000"/>
                          </a:solidFill>
                          <a:effectLst/>
                          <a:latin typeface="Helvetica" panose="020B0604020202020204" pitchFamily="34" charset="0"/>
                        </a:rPr>
                        <a:t>null&gt;</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 &lt;</a:t>
                      </a:r>
                      <a:r>
                        <a:rPr lang="en-US" sz="1000" b="1" i="1" u="none" strike="noStrike" kern="1200">
                          <a:solidFill>
                            <a:srgbClr val="000000"/>
                          </a:solidFill>
                          <a:effectLst/>
                          <a:latin typeface="Helvetica" panose="020B0604020202020204" pitchFamily="34" charset="0"/>
                        </a:rPr>
                        <a:t>null&gt;</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 &lt;</a:t>
                      </a:r>
                      <a:r>
                        <a:rPr lang="en-US" sz="1000" b="1" i="1" u="none" strike="noStrike" kern="1200">
                          <a:solidFill>
                            <a:srgbClr val="000000"/>
                          </a:solidFill>
                          <a:effectLst/>
                          <a:latin typeface="Helvetica" panose="020B0604020202020204" pitchFamily="34" charset="0"/>
                        </a:rPr>
                        <a:t>null&gt;</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 &lt;</a:t>
                      </a:r>
                      <a:r>
                        <a:rPr lang="en-US" sz="1000" b="1" i="1" u="none" strike="noStrike" kern="1200">
                          <a:solidFill>
                            <a:srgbClr val="000000"/>
                          </a:solidFill>
                          <a:effectLst/>
                          <a:latin typeface="Helvetica" panose="020B0604020202020204" pitchFamily="34" charset="0"/>
                        </a:rPr>
                        <a:t>null&gt;</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l" rtl="0" eaLnBrk="1" fontAlgn="ctr" latinLnBrk="0" hangingPunct="1">
                        <a:lnSpc>
                          <a:spcPct val="107000"/>
                        </a:lnSpc>
                        <a:spcBef>
                          <a:spcPts val="0"/>
                        </a:spcBef>
                        <a:spcAft>
                          <a:spcPts val="0"/>
                        </a:spcAft>
                      </a:pPr>
                      <a:r>
                        <a:rPr lang="en-US" sz="900" b="1" i="0" u="none" strike="noStrike" kern="1200" spc="0" baseline="0">
                          <a:ln>
                            <a:noFill/>
                          </a:ln>
                          <a:solidFill>
                            <a:srgbClr val="000000"/>
                          </a:solidFill>
                          <a:effectLst/>
                          <a:latin typeface="Helvetica" panose="020B0604020202020204" pitchFamily="34" charset="0"/>
                        </a:rPr>
                        <a:t>&lt;</a:t>
                      </a:r>
                      <a:r>
                        <a:rPr lang="en-US" sz="900" b="1" i="1" u="none" strike="noStrike" kern="1200" spc="0" baseline="0">
                          <a:ln>
                            <a:noFill/>
                          </a:ln>
                          <a:solidFill>
                            <a:srgbClr val="000000"/>
                          </a:solidFill>
                          <a:effectLst/>
                          <a:latin typeface="Helvetica" panose="020B0604020202020204" pitchFamily="34" charset="0"/>
                        </a:rPr>
                        <a:t>null&gt;</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821485268"/>
                  </a:ext>
                </a:extLst>
              </a:tr>
              <a:tr h="238523">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12349</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7E7E7"/>
                    </a:solidFill>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Aug 14 2002</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7E7E7"/>
                    </a:solidFill>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DHU69863</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7E7E7"/>
                    </a:solidFill>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940</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7E7E7"/>
                    </a:solidFill>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2227.8</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7E7E7"/>
                    </a:solidFill>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Sara Thompson</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7E7E7"/>
                    </a:solidFill>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1166-3461</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7E7E7"/>
                    </a:solidFill>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Amelia</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7E7E7"/>
                    </a:solidFill>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Waverley</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7E7E7"/>
                    </a:solidFill>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995 Forth Street</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7E7E7"/>
                    </a:solidFill>
                  </a:tcPr>
                </a:tc>
                <a:tc>
                  <a:txBody>
                    <a:bodyPr/>
                    <a:lstStyle/>
                    <a:p>
                      <a:pPr marL="0" marR="0" algn="l" rtl="0" eaLnBrk="1" fontAlgn="ctr" latinLnBrk="0" hangingPunct="1">
                        <a:lnSpc>
                          <a:spcPct val="107000"/>
                        </a:lnSpc>
                        <a:spcBef>
                          <a:spcPts val="0"/>
                        </a:spcBef>
                        <a:spcAft>
                          <a:spcPts val="0"/>
                        </a:spcAft>
                      </a:pPr>
                      <a:r>
                        <a:rPr lang="en-US" sz="900" b="1" i="0" u="none" strike="noStrike" kern="1200" spc="0" baseline="0">
                          <a:ln>
                            <a:noFill/>
                          </a:ln>
                          <a:solidFill>
                            <a:srgbClr val="000000"/>
                          </a:solidFill>
                          <a:effectLst/>
                          <a:latin typeface="Helvetica" panose="020B0604020202020204" pitchFamily="34" charset="0"/>
                        </a:rPr>
                        <a:t>&lt;</a:t>
                      </a:r>
                      <a:r>
                        <a:rPr lang="en-US" sz="900" b="1" i="1" u="none" strike="noStrike" kern="1200" spc="0" baseline="0">
                          <a:ln>
                            <a:noFill/>
                          </a:ln>
                          <a:solidFill>
                            <a:srgbClr val="000000"/>
                          </a:solidFill>
                          <a:effectLst/>
                          <a:latin typeface="Helvetica" panose="020B0604020202020204" pitchFamily="34" charset="0"/>
                        </a:rPr>
                        <a:t>null&gt;</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7E7E7"/>
                    </a:solidFill>
                  </a:tcPr>
                </a:tc>
                <a:extLst>
                  <a:ext uri="{0D108BD9-81ED-4DB2-BD59-A6C34878D82A}">
                    <a16:rowId xmlns:a16="http://schemas.microsoft.com/office/drawing/2014/main" val="3978466850"/>
                  </a:ext>
                </a:extLst>
              </a:tr>
              <a:tr h="238523">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12350</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Aug 14 2002</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DHU69863</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42</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99.54</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Sara Thompson</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7671-3496</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Antonio</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Gonzales</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55B Granary Lane</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l" rtl="0" eaLnBrk="1" fontAlgn="ctr" latinLnBrk="0" hangingPunct="1">
                        <a:lnSpc>
                          <a:spcPct val="107000"/>
                        </a:lnSpc>
                        <a:spcBef>
                          <a:spcPts val="0"/>
                        </a:spcBef>
                        <a:spcAft>
                          <a:spcPts val="0"/>
                        </a:spcAft>
                      </a:pPr>
                      <a:r>
                        <a:rPr lang="en-US" sz="900" b="1" i="0" u="none" strike="noStrike" kern="1200" spc="0" baseline="0">
                          <a:ln>
                            <a:noFill/>
                          </a:ln>
                          <a:solidFill>
                            <a:srgbClr val="000000"/>
                          </a:solidFill>
                          <a:effectLst/>
                          <a:latin typeface="Helvetica" panose="020B0604020202020204" pitchFamily="34" charset="0"/>
                        </a:rPr>
                        <a:t>&lt;</a:t>
                      </a:r>
                      <a:r>
                        <a:rPr lang="en-US" sz="900" b="1" i="1" u="none" strike="noStrike" kern="1200" spc="0" baseline="0">
                          <a:ln>
                            <a:noFill/>
                          </a:ln>
                          <a:solidFill>
                            <a:srgbClr val="000000"/>
                          </a:solidFill>
                          <a:effectLst/>
                          <a:latin typeface="Helvetica" panose="020B0604020202020204" pitchFamily="34" charset="0"/>
                        </a:rPr>
                        <a:t>null&gt;</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880675617"/>
                  </a:ext>
                </a:extLst>
              </a:tr>
              <a:tr h="337046">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12351</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7E7E7"/>
                    </a:solidFill>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Aug 14 2002</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7E7E7"/>
                    </a:solidFill>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AQX88916</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7E7E7"/>
                    </a:solidFill>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55</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7E7E7"/>
                    </a:solidFill>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1317.25</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7E7E7"/>
                    </a:solidFill>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Dave Williams</a:t>
                      </a:r>
                      <a:endParaRPr lang="en-US" sz="1700" b="0" i="0" u="none" strike="noStrike">
                        <a:effectLst/>
                        <a:latin typeface="Arial" panose="020B0604020202020204" pitchFamily="34" charset="0"/>
                      </a:endParaRPr>
                    </a:p>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 </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7E7E7"/>
                    </a:solidFill>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6794-1674</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7E7E7"/>
                    </a:solidFill>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Diane</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7E7E7"/>
                    </a:solidFill>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Adams</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7E7E7"/>
                    </a:solidFill>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364 East Road</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7E7E7"/>
                    </a:solidFill>
                  </a:tcPr>
                </a:tc>
                <a:tc>
                  <a:txBody>
                    <a:bodyPr/>
                    <a:lstStyle/>
                    <a:p>
                      <a:pPr marL="0" marR="0" algn="l" rtl="0" eaLnBrk="1" fontAlgn="ctr" latinLnBrk="0" hangingPunct="1">
                        <a:lnSpc>
                          <a:spcPct val="107000"/>
                        </a:lnSpc>
                        <a:spcBef>
                          <a:spcPts val="0"/>
                        </a:spcBef>
                        <a:spcAft>
                          <a:spcPts val="0"/>
                        </a:spcAft>
                      </a:pPr>
                      <a:r>
                        <a:rPr lang="en-US" sz="1000" b="1" i="0" u="none" strike="noStrike" kern="1200" dirty="0">
                          <a:solidFill>
                            <a:srgbClr val="000000"/>
                          </a:solidFill>
                          <a:effectLst/>
                          <a:latin typeface="Helvetica" panose="020B0604020202020204" pitchFamily="34" charset="0"/>
                        </a:rPr>
                        <a:t>150</a:t>
                      </a:r>
                      <a:endParaRPr lang="en-US" sz="1700" b="0" i="0" u="none" strike="noStrike" dirty="0">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7E7E7"/>
                    </a:solidFill>
                  </a:tcPr>
                </a:tc>
                <a:extLst>
                  <a:ext uri="{0D108BD9-81ED-4DB2-BD59-A6C34878D82A}">
                    <a16:rowId xmlns:a16="http://schemas.microsoft.com/office/drawing/2014/main" val="1544192728"/>
                  </a:ext>
                </a:extLst>
              </a:tr>
            </a:tbl>
          </a:graphicData>
        </a:graphic>
      </p:graphicFrame>
    </p:spTree>
    <p:extLst>
      <p:ext uri="{BB962C8B-B14F-4D97-AF65-F5344CB8AC3E}">
        <p14:creationId xmlns:p14="http://schemas.microsoft.com/office/powerpoint/2010/main" val="1063349238"/>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5411" name="Title 1"/>
          <p:cNvSpPr>
            <a:spLocks noGrp="1"/>
          </p:cNvSpPr>
          <p:nvPr>
            <p:ph type="title"/>
          </p:nvPr>
        </p:nvSpPr>
        <p:spPr/>
        <p:txBody>
          <a:bodyPr anchor="ctr"/>
          <a:lstStyle/>
          <a:p>
            <a:pPr algn="ctr" rtl="1"/>
            <a:r>
              <a:rPr lang="fa-IR" altLang="en-US" sz="4400" dirty="0">
                <a:latin typeface="Titr" pitchFamily="2" charset="-78"/>
                <a:ea typeface="2  Titr"/>
                <a:cs typeface="2  Titr"/>
              </a:rPr>
              <a:t>جدول نرمال ۲</a:t>
            </a:r>
            <a:endParaRPr lang="en-US" altLang="en-US" sz="4400" b="1" dirty="0">
              <a:latin typeface="Titr" pitchFamily="2" charset="-78"/>
              <a:ea typeface="2  Titr"/>
              <a:cs typeface="2  Titr"/>
            </a:endParaRPr>
          </a:p>
        </p:txBody>
      </p:sp>
      <p:sp>
        <p:nvSpPr>
          <p:cNvPr id="145410" name="Content Placeholder 2"/>
          <p:cNvSpPr>
            <a:spLocks noGrp="1"/>
          </p:cNvSpPr>
          <p:nvPr>
            <p:ph idx="1"/>
          </p:nvPr>
        </p:nvSpPr>
        <p:spPr/>
        <p:txBody>
          <a:bodyPr/>
          <a:lstStyle/>
          <a:p>
            <a:pPr algn="just" rtl="1"/>
            <a:r>
              <a:rPr lang="fa-IR" altLang="en-US" sz="2800" dirty="0">
                <a:ea typeface="Majalla UI"/>
                <a:cs typeface="B Nazanin" panose="00000400000000000000" pitchFamily="2" charset="-78"/>
              </a:rPr>
              <a:t>یک جدول نرمال2 است اگر:</a:t>
            </a:r>
          </a:p>
          <a:p>
            <a:pPr lvl="1" algn="just" rtl="1"/>
            <a:r>
              <a:rPr lang="fa-IR" altLang="en-US" sz="2400" dirty="0">
                <a:ea typeface="Majalla UI"/>
                <a:cs typeface="B Nazanin" panose="00000400000000000000" pitchFamily="2" charset="-78"/>
              </a:rPr>
              <a:t>نرمال1 باشد </a:t>
            </a:r>
          </a:p>
          <a:p>
            <a:pPr lvl="1" algn="just" rtl="1"/>
            <a:r>
              <a:rPr lang="fa-IR" altLang="en-US" sz="2400" dirty="0">
                <a:ea typeface="Majalla UI"/>
                <a:cs typeface="B Nazanin" panose="00000400000000000000" pitchFamily="2" charset="-78"/>
              </a:rPr>
              <a:t>در آن هیچ وابستگی جزئی به کلید اصلی وجود نداشته باشد. به عبارت دیگر، هیچ ویژگی جدول تنها به قسمتی از کلید اصلی وابستگی نداشته باشد.</a:t>
            </a:r>
          </a:p>
          <a:p>
            <a:pPr lvl="1" algn="just" rtl="1"/>
            <a:endParaRPr lang="fa-IR" altLang="en-US" dirty="0">
              <a:ea typeface="Majalla UI"/>
              <a:cs typeface="B Nazanin" panose="00000400000000000000" pitchFamily="2" charset="-78"/>
            </a:endParaRPr>
          </a:p>
          <a:p>
            <a:pPr algn="just" rtl="1"/>
            <a:endParaRPr lang="fa-IR" altLang="en-US" dirty="0">
              <a:ea typeface="Majalla UI"/>
              <a:cs typeface="B Nazanin" panose="00000400000000000000" pitchFamily="2" charset="-78"/>
            </a:endParaRPr>
          </a:p>
          <a:p>
            <a:pPr algn="just" rtl="1"/>
            <a:endParaRPr lang="fa-IR" altLang="en-US" dirty="0">
              <a:ea typeface="Majalla UI"/>
              <a:cs typeface="B Nazanin" panose="00000400000000000000" pitchFamily="2" charset="-78"/>
            </a:endParaRPr>
          </a:p>
          <a:p>
            <a:pPr algn="just" rtl="1"/>
            <a:endParaRPr lang="fa-IR" altLang="en-US" dirty="0">
              <a:ea typeface="Majalla UI"/>
              <a:cs typeface="B Nazanin" panose="00000400000000000000" pitchFamily="2" charset="-78"/>
            </a:endParaRPr>
          </a:p>
          <a:p>
            <a:pPr algn="just" rtl="1"/>
            <a:endParaRPr lang="fa-IR" altLang="en-US" dirty="0">
              <a:ea typeface="Majalla UI"/>
              <a:cs typeface="B Nazanin" panose="00000400000000000000" pitchFamily="2" charset="-78"/>
            </a:endParaRPr>
          </a:p>
          <a:p>
            <a:pPr algn="just" rtl="1"/>
            <a:endParaRPr lang="fa-IR" altLang="en-US" dirty="0">
              <a:ea typeface="Majalla UI"/>
              <a:cs typeface="B Nazanin" panose="00000400000000000000" pitchFamily="2" charset="-78"/>
            </a:endParaRPr>
          </a:p>
        </p:txBody>
      </p:sp>
      <p:sp>
        <p:nvSpPr>
          <p:cNvPr id="3" name="Slide Number Placeholder 2">
            <a:extLst>
              <a:ext uri="{FF2B5EF4-FFF2-40B4-BE49-F238E27FC236}">
                <a16:creationId xmlns:a16="http://schemas.microsoft.com/office/drawing/2014/main" id="{20A4AFE0-6ACD-4C94-967B-D87C9FF4C0D7}"/>
              </a:ext>
            </a:extLst>
          </p:cNvPr>
          <p:cNvSpPr>
            <a:spLocks noGrp="1"/>
          </p:cNvSpPr>
          <p:nvPr>
            <p:ph type="sldNum" sz="quarter" idx="4294967295"/>
          </p:nvPr>
        </p:nvSpPr>
        <p:spPr>
          <a:xfrm>
            <a:off x="7994650" y="6334125"/>
            <a:ext cx="1149350" cy="365125"/>
          </a:xfrm>
        </p:spPr>
        <p:txBody>
          <a:bodyPr/>
          <a:lstStyle/>
          <a:p>
            <a:fld id="{9B1BEC6B-D08C-4686-9D99-35ADA0E9E6CD}" type="slidenum">
              <a:rPr lang="en-US" smtClean="0"/>
              <a:t>30</a:t>
            </a:fld>
            <a:endParaRPr lang="en-US"/>
          </a:p>
        </p:txBody>
      </p:sp>
      <p:graphicFrame>
        <p:nvGraphicFramePr>
          <p:cNvPr id="5" name="Table 4"/>
          <p:cNvGraphicFramePr>
            <a:graphicFrameLocks noGrp="1"/>
          </p:cNvGraphicFramePr>
          <p:nvPr/>
        </p:nvGraphicFramePr>
        <p:xfrm>
          <a:off x="948130" y="3177058"/>
          <a:ext cx="7238998" cy="2225676"/>
        </p:xfrm>
        <a:graphic>
          <a:graphicData uri="http://schemas.openxmlformats.org/drawingml/2006/table">
            <a:tbl>
              <a:tblPr firstRow="1" bandRow="1">
                <a:tableStyleId>{616DA210-FB5B-4158-B5E0-FEB733F419BA}</a:tableStyleId>
              </a:tblPr>
              <a:tblGrid>
                <a:gridCol w="774647">
                  <a:extLst>
                    <a:ext uri="{9D8B030D-6E8A-4147-A177-3AD203B41FA5}">
                      <a16:colId xmlns:a16="http://schemas.microsoft.com/office/drawing/2014/main" val="20000"/>
                    </a:ext>
                  </a:extLst>
                </a:gridCol>
                <a:gridCol w="852112">
                  <a:extLst>
                    <a:ext uri="{9D8B030D-6E8A-4147-A177-3AD203B41FA5}">
                      <a16:colId xmlns:a16="http://schemas.microsoft.com/office/drawing/2014/main" val="20001"/>
                    </a:ext>
                  </a:extLst>
                </a:gridCol>
                <a:gridCol w="852112">
                  <a:extLst>
                    <a:ext uri="{9D8B030D-6E8A-4147-A177-3AD203B41FA5}">
                      <a16:colId xmlns:a16="http://schemas.microsoft.com/office/drawing/2014/main" val="20002"/>
                    </a:ext>
                  </a:extLst>
                </a:gridCol>
                <a:gridCol w="1712128">
                  <a:extLst>
                    <a:ext uri="{9D8B030D-6E8A-4147-A177-3AD203B41FA5}">
                      <a16:colId xmlns:a16="http://schemas.microsoft.com/office/drawing/2014/main" val="20003"/>
                    </a:ext>
                  </a:extLst>
                </a:gridCol>
                <a:gridCol w="914400">
                  <a:extLst>
                    <a:ext uri="{9D8B030D-6E8A-4147-A177-3AD203B41FA5}">
                      <a16:colId xmlns:a16="http://schemas.microsoft.com/office/drawing/2014/main" val="20004"/>
                    </a:ext>
                  </a:extLst>
                </a:gridCol>
                <a:gridCol w="1143000">
                  <a:extLst>
                    <a:ext uri="{9D8B030D-6E8A-4147-A177-3AD203B41FA5}">
                      <a16:colId xmlns:a16="http://schemas.microsoft.com/office/drawing/2014/main" val="20005"/>
                    </a:ext>
                  </a:extLst>
                </a:gridCol>
                <a:gridCol w="990599">
                  <a:extLst>
                    <a:ext uri="{9D8B030D-6E8A-4147-A177-3AD203B41FA5}">
                      <a16:colId xmlns:a16="http://schemas.microsoft.com/office/drawing/2014/main" val="20006"/>
                    </a:ext>
                  </a:extLst>
                </a:gridCol>
              </a:tblGrid>
              <a:tr h="370946">
                <a:tc>
                  <a:txBody>
                    <a:bodyPr/>
                    <a:lstStyle/>
                    <a:p>
                      <a:pPr algn="ctr"/>
                      <a:r>
                        <a:rPr lang="en-US" sz="1800" dirty="0"/>
                        <a:t>S#</a:t>
                      </a:r>
                    </a:p>
                  </a:txBody>
                  <a:tcPr marT="45733" marB="45733" anchor="ctr"/>
                </a:tc>
                <a:tc>
                  <a:txBody>
                    <a:bodyPr/>
                    <a:lstStyle/>
                    <a:p>
                      <a:pPr algn="ctr"/>
                      <a:r>
                        <a:rPr lang="en-US" sz="1800" dirty="0"/>
                        <a:t>Name</a:t>
                      </a:r>
                    </a:p>
                  </a:txBody>
                  <a:tcPr marT="45733" marB="45733" anchor="ctr"/>
                </a:tc>
                <a:tc>
                  <a:txBody>
                    <a:bodyPr/>
                    <a:lstStyle/>
                    <a:p>
                      <a:pPr algn="ctr"/>
                      <a:r>
                        <a:rPr lang="en-US" sz="1800" dirty="0" err="1"/>
                        <a:t>Crs</a:t>
                      </a:r>
                      <a:r>
                        <a:rPr lang="en-US" sz="1800" dirty="0"/>
                        <a:t>#</a:t>
                      </a:r>
                    </a:p>
                  </a:txBody>
                  <a:tcPr marT="45733" marB="45733" anchor="ctr"/>
                </a:tc>
                <a:tc>
                  <a:txBody>
                    <a:bodyPr/>
                    <a:lstStyle/>
                    <a:p>
                      <a:pPr algn="ctr"/>
                      <a:r>
                        <a:rPr lang="en-US" sz="1800" dirty="0" err="1"/>
                        <a:t>Cname</a:t>
                      </a:r>
                      <a:endParaRPr lang="en-US" sz="1800" dirty="0"/>
                    </a:p>
                  </a:txBody>
                  <a:tcPr marT="45733" marB="45733" anchor="ctr"/>
                </a:tc>
                <a:tc>
                  <a:txBody>
                    <a:bodyPr/>
                    <a:lstStyle/>
                    <a:p>
                      <a:pPr algn="ctr"/>
                      <a:r>
                        <a:rPr lang="en-US" sz="1800" dirty="0"/>
                        <a:t>Unit</a:t>
                      </a:r>
                    </a:p>
                  </a:txBody>
                  <a:tcPr marT="45733" marB="45733" anchor="ctr"/>
                </a:tc>
                <a:tc>
                  <a:txBody>
                    <a:bodyPr/>
                    <a:lstStyle/>
                    <a:p>
                      <a:pPr algn="ctr"/>
                      <a:r>
                        <a:rPr lang="en-US" sz="1800" dirty="0"/>
                        <a:t>Grade</a:t>
                      </a:r>
                    </a:p>
                  </a:txBody>
                  <a:tcPr marT="45733" marB="45733" anchor="ctr"/>
                </a:tc>
                <a:tc>
                  <a:txBody>
                    <a:bodyPr/>
                    <a:lstStyle/>
                    <a:p>
                      <a:pPr algn="ctr"/>
                      <a:r>
                        <a:rPr lang="en-US" sz="1800" dirty="0"/>
                        <a:t>Term</a:t>
                      </a:r>
                    </a:p>
                  </a:txBody>
                  <a:tcPr marT="45733" marB="45733" anchor="ctr"/>
                </a:tc>
                <a:extLst>
                  <a:ext uri="{0D108BD9-81ED-4DB2-BD59-A6C34878D82A}">
                    <a16:rowId xmlns:a16="http://schemas.microsoft.com/office/drawing/2014/main" val="10000"/>
                  </a:ext>
                </a:extLst>
              </a:tr>
              <a:tr h="370946">
                <a:tc>
                  <a:txBody>
                    <a:bodyPr/>
                    <a:lstStyle/>
                    <a:p>
                      <a:pPr algn="ctr"/>
                      <a:r>
                        <a:rPr lang="fa-IR" sz="1800" dirty="0"/>
                        <a:t>7801</a:t>
                      </a:r>
                      <a:endParaRPr lang="en-US" sz="1800" dirty="0"/>
                    </a:p>
                  </a:txBody>
                  <a:tcPr marT="45733" marB="45733"/>
                </a:tc>
                <a:tc>
                  <a:txBody>
                    <a:bodyPr/>
                    <a:lstStyle/>
                    <a:p>
                      <a:pPr algn="ctr"/>
                      <a:r>
                        <a:rPr lang="fa-IR" sz="1800" dirty="0"/>
                        <a:t>علی</a:t>
                      </a:r>
                      <a:endParaRPr lang="en-US" sz="1800" dirty="0"/>
                    </a:p>
                  </a:txBody>
                  <a:tcPr marT="45733" marB="45733"/>
                </a:tc>
                <a:tc>
                  <a:txBody>
                    <a:bodyPr/>
                    <a:lstStyle/>
                    <a:p>
                      <a:pPr algn="ctr"/>
                      <a:r>
                        <a:rPr lang="fa-IR" sz="1800" dirty="0"/>
                        <a:t>1400</a:t>
                      </a:r>
                      <a:endParaRPr lang="en-US" sz="1800" dirty="0"/>
                    </a:p>
                  </a:txBody>
                  <a:tcPr marT="45733" marB="45733"/>
                </a:tc>
                <a:tc>
                  <a:txBody>
                    <a:bodyPr/>
                    <a:lstStyle/>
                    <a:p>
                      <a:pPr algn="ctr"/>
                      <a:r>
                        <a:rPr lang="fa-IR" sz="1800" dirty="0"/>
                        <a:t>پایگاه داده</a:t>
                      </a:r>
                      <a:endParaRPr lang="en-US" sz="1800" dirty="0"/>
                    </a:p>
                  </a:txBody>
                  <a:tcPr marT="45733" marB="45733"/>
                </a:tc>
                <a:tc>
                  <a:txBody>
                    <a:bodyPr/>
                    <a:lstStyle/>
                    <a:p>
                      <a:pPr algn="ctr"/>
                      <a:r>
                        <a:rPr lang="en-US" sz="1800" dirty="0"/>
                        <a:t>3</a:t>
                      </a:r>
                    </a:p>
                  </a:txBody>
                  <a:tcPr marT="45733" marB="45733"/>
                </a:tc>
                <a:tc>
                  <a:txBody>
                    <a:bodyPr/>
                    <a:lstStyle/>
                    <a:p>
                      <a:pPr algn="ctr"/>
                      <a:r>
                        <a:rPr lang="fa-IR" sz="1800" dirty="0"/>
                        <a:t>20</a:t>
                      </a:r>
                      <a:endParaRPr lang="en-US" sz="1800" dirty="0"/>
                    </a:p>
                  </a:txBody>
                  <a:tcPr marT="45733" marB="45733"/>
                </a:tc>
                <a:tc>
                  <a:txBody>
                    <a:bodyPr/>
                    <a:lstStyle/>
                    <a:p>
                      <a:pPr algn="ctr" rtl="1"/>
                      <a:r>
                        <a:rPr lang="fa-IR" sz="1800" dirty="0"/>
                        <a:t>2-79</a:t>
                      </a:r>
                    </a:p>
                  </a:txBody>
                  <a:tcPr marT="45733" marB="45733"/>
                </a:tc>
                <a:extLst>
                  <a:ext uri="{0D108BD9-81ED-4DB2-BD59-A6C34878D82A}">
                    <a16:rowId xmlns:a16="http://schemas.microsoft.com/office/drawing/2014/main" val="10001"/>
                  </a:ext>
                </a:extLst>
              </a:tr>
              <a:tr h="370946">
                <a:tc>
                  <a:txBody>
                    <a:bodyPr/>
                    <a:lstStyle/>
                    <a:p>
                      <a:pPr algn="ctr"/>
                      <a:r>
                        <a:rPr lang="fa-IR" sz="1800" dirty="0"/>
                        <a:t>7801</a:t>
                      </a:r>
                      <a:endParaRPr lang="en-US" sz="1800" dirty="0"/>
                    </a:p>
                  </a:txBody>
                  <a:tcPr marT="45733" marB="45733"/>
                </a:tc>
                <a:tc>
                  <a:txBody>
                    <a:bodyPr/>
                    <a:lstStyle/>
                    <a:p>
                      <a:pPr algn="ctr"/>
                      <a:r>
                        <a:rPr lang="fa-IR" sz="1800" dirty="0"/>
                        <a:t>علی</a:t>
                      </a:r>
                      <a:endParaRPr lang="en-US" sz="1800" dirty="0"/>
                    </a:p>
                  </a:txBody>
                  <a:tcPr marT="45733" marB="45733"/>
                </a:tc>
                <a:tc>
                  <a:txBody>
                    <a:bodyPr/>
                    <a:lstStyle/>
                    <a:p>
                      <a:pPr algn="ctr"/>
                      <a:r>
                        <a:rPr lang="fa-IR" sz="1800" dirty="0"/>
                        <a:t>1500</a:t>
                      </a:r>
                      <a:endParaRPr lang="en-US" sz="1800" dirty="0"/>
                    </a:p>
                  </a:txBody>
                  <a:tcPr marT="45733" marB="45733"/>
                </a:tc>
                <a:tc>
                  <a:txBody>
                    <a:bodyPr/>
                    <a:lstStyle/>
                    <a:p>
                      <a:pPr algn="ctr"/>
                      <a:r>
                        <a:rPr lang="fa-IR" sz="1800" dirty="0"/>
                        <a:t>ریاضی 1</a:t>
                      </a:r>
                      <a:endParaRPr lang="en-US" sz="1800" dirty="0"/>
                    </a:p>
                  </a:txBody>
                  <a:tcPr marT="45733" marB="45733"/>
                </a:tc>
                <a:tc>
                  <a:txBody>
                    <a:bodyPr/>
                    <a:lstStyle/>
                    <a:p>
                      <a:pPr algn="ctr"/>
                      <a:r>
                        <a:rPr lang="en-US" sz="1800" dirty="0"/>
                        <a:t>3</a:t>
                      </a:r>
                    </a:p>
                  </a:txBody>
                  <a:tcPr marT="45733" marB="45733"/>
                </a:tc>
                <a:tc>
                  <a:txBody>
                    <a:bodyPr/>
                    <a:lstStyle/>
                    <a:p>
                      <a:pPr algn="ctr"/>
                      <a:r>
                        <a:rPr lang="fa-IR" sz="1800" dirty="0"/>
                        <a:t>10</a:t>
                      </a:r>
                      <a:endParaRPr lang="en-US" sz="1800" dirty="0"/>
                    </a:p>
                  </a:txBody>
                  <a:tcPr marT="45733" marB="45733"/>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fa-IR" sz="1800" dirty="0"/>
                        <a:t>1-80</a:t>
                      </a:r>
                      <a:endParaRPr lang="en-US" sz="1800" dirty="0"/>
                    </a:p>
                  </a:txBody>
                  <a:tcPr marT="45733" marB="45733"/>
                </a:tc>
                <a:extLst>
                  <a:ext uri="{0D108BD9-81ED-4DB2-BD59-A6C34878D82A}">
                    <a16:rowId xmlns:a16="http://schemas.microsoft.com/office/drawing/2014/main" val="10002"/>
                  </a:ext>
                </a:extLst>
              </a:tr>
              <a:tr h="370946">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fa-IR" sz="1800" dirty="0"/>
                        <a:t>7801</a:t>
                      </a:r>
                      <a:endParaRPr lang="en-US" sz="1800" dirty="0"/>
                    </a:p>
                  </a:txBody>
                  <a:tcPr marT="45733" marB="45733"/>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fa-IR" sz="1800" dirty="0"/>
                        <a:t>علی</a:t>
                      </a:r>
                      <a:endParaRPr lang="en-US" sz="1800" dirty="0"/>
                    </a:p>
                  </a:txBody>
                  <a:tcPr marT="45733" marB="45733"/>
                </a:tc>
                <a:tc>
                  <a:txBody>
                    <a:bodyPr/>
                    <a:lstStyle/>
                    <a:p>
                      <a:pPr algn="ctr"/>
                      <a:r>
                        <a:rPr lang="fa-IR" sz="1800" dirty="0"/>
                        <a:t>1600</a:t>
                      </a:r>
                      <a:endParaRPr lang="en-US" sz="1800" dirty="0"/>
                    </a:p>
                  </a:txBody>
                  <a:tcPr marT="45733" marB="45733"/>
                </a:tc>
                <a:tc>
                  <a:txBody>
                    <a:bodyPr/>
                    <a:lstStyle/>
                    <a:p>
                      <a:pPr algn="ctr"/>
                      <a:r>
                        <a:rPr lang="fa-IR" sz="1800" dirty="0"/>
                        <a:t>تجزیه و تحلیل</a:t>
                      </a:r>
                      <a:endParaRPr lang="en-US" sz="1800" dirty="0"/>
                    </a:p>
                  </a:txBody>
                  <a:tcPr marT="45733" marB="45733"/>
                </a:tc>
                <a:tc>
                  <a:txBody>
                    <a:bodyPr/>
                    <a:lstStyle/>
                    <a:p>
                      <a:pPr algn="ctr"/>
                      <a:r>
                        <a:rPr lang="en-US" sz="1800" dirty="0"/>
                        <a:t>3</a:t>
                      </a:r>
                    </a:p>
                  </a:txBody>
                  <a:tcPr marT="45733" marB="45733"/>
                </a:tc>
                <a:tc>
                  <a:txBody>
                    <a:bodyPr/>
                    <a:lstStyle/>
                    <a:p>
                      <a:pPr algn="ctr"/>
                      <a:r>
                        <a:rPr lang="fa-IR" sz="1800" dirty="0"/>
                        <a:t>20</a:t>
                      </a:r>
                      <a:endParaRPr lang="en-US" sz="1800" dirty="0"/>
                    </a:p>
                  </a:txBody>
                  <a:tcPr marT="45733" marB="45733"/>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fa-IR" sz="1800" dirty="0"/>
                        <a:t>1-80</a:t>
                      </a:r>
                      <a:endParaRPr lang="en-US" sz="1800" dirty="0"/>
                    </a:p>
                  </a:txBody>
                  <a:tcPr marT="45733" marB="45733"/>
                </a:tc>
                <a:extLst>
                  <a:ext uri="{0D108BD9-81ED-4DB2-BD59-A6C34878D82A}">
                    <a16:rowId xmlns:a16="http://schemas.microsoft.com/office/drawing/2014/main" val="10003"/>
                  </a:ext>
                </a:extLst>
              </a:tr>
              <a:tr h="370946">
                <a:tc>
                  <a:txBody>
                    <a:bodyPr/>
                    <a:lstStyle/>
                    <a:p>
                      <a:pPr algn="ctr"/>
                      <a:r>
                        <a:rPr lang="fa-IR" sz="1800" dirty="0"/>
                        <a:t>7902</a:t>
                      </a:r>
                      <a:endParaRPr lang="en-US" sz="1800" dirty="0"/>
                    </a:p>
                  </a:txBody>
                  <a:tcPr marT="45733" marB="45733"/>
                </a:tc>
                <a:tc>
                  <a:txBody>
                    <a:bodyPr/>
                    <a:lstStyle/>
                    <a:p>
                      <a:pPr algn="ctr"/>
                      <a:r>
                        <a:rPr lang="fa-IR" sz="1800" dirty="0"/>
                        <a:t>عسل</a:t>
                      </a:r>
                      <a:endParaRPr lang="en-US" sz="1800" dirty="0"/>
                    </a:p>
                  </a:txBody>
                  <a:tcPr marT="45733" marB="45733"/>
                </a:tc>
                <a:tc>
                  <a:txBody>
                    <a:bodyPr/>
                    <a:lstStyle/>
                    <a:p>
                      <a:pPr algn="ctr"/>
                      <a:r>
                        <a:rPr lang="fa-IR" sz="1800" dirty="0"/>
                        <a:t>1400</a:t>
                      </a:r>
                      <a:endParaRPr lang="en-US" sz="1800" dirty="0"/>
                    </a:p>
                  </a:txBody>
                  <a:tcPr marT="45733" marB="45733"/>
                </a:tc>
                <a:tc>
                  <a:txBody>
                    <a:bodyPr/>
                    <a:lstStyle/>
                    <a:p>
                      <a:pPr algn="ctr"/>
                      <a:r>
                        <a:rPr lang="fa-IR" sz="1800" dirty="0"/>
                        <a:t>پایگاه داده </a:t>
                      </a:r>
                      <a:endParaRPr lang="en-US" sz="1800" dirty="0"/>
                    </a:p>
                  </a:txBody>
                  <a:tcPr marT="45733" marB="45733"/>
                </a:tc>
                <a:tc>
                  <a:txBody>
                    <a:bodyPr/>
                    <a:lstStyle/>
                    <a:p>
                      <a:pPr algn="ctr"/>
                      <a:r>
                        <a:rPr lang="en-US" sz="1800" dirty="0"/>
                        <a:t>3</a:t>
                      </a:r>
                    </a:p>
                  </a:txBody>
                  <a:tcPr marT="45733" marB="45733"/>
                </a:tc>
                <a:tc>
                  <a:txBody>
                    <a:bodyPr/>
                    <a:lstStyle/>
                    <a:p>
                      <a:pPr algn="ctr"/>
                      <a:r>
                        <a:rPr lang="fa-IR" sz="1800" dirty="0"/>
                        <a:t>7</a:t>
                      </a:r>
                      <a:endParaRPr lang="en-US" sz="1800" dirty="0"/>
                    </a:p>
                  </a:txBody>
                  <a:tcPr marT="45733" marB="45733"/>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fa-IR" sz="1800" dirty="0"/>
                        <a:t>1-80</a:t>
                      </a:r>
                    </a:p>
                  </a:txBody>
                  <a:tcPr marT="45733" marB="45733"/>
                </a:tc>
                <a:extLst>
                  <a:ext uri="{0D108BD9-81ED-4DB2-BD59-A6C34878D82A}">
                    <a16:rowId xmlns:a16="http://schemas.microsoft.com/office/drawing/2014/main" val="10004"/>
                  </a:ext>
                </a:extLst>
              </a:tr>
              <a:tr h="370946">
                <a:tc>
                  <a:txBody>
                    <a:bodyPr/>
                    <a:lstStyle/>
                    <a:p>
                      <a:pPr algn="ctr"/>
                      <a:r>
                        <a:rPr lang="fa-IR" sz="1800" dirty="0"/>
                        <a:t>7902</a:t>
                      </a:r>
                      <a:endParaRPr lang="en-US" sz="1800" dirty="0"/>
                    </a:p>
                  </a:txBody>
                  <a:tcPr marT="45733" marB="45733"/>
                </a:tc>
                <a:tc>
                  <a:txBody>
                    <a:bodyPr/>
                    <a:lstStyle/>
                    <a:p>
                      <a:pPr algn="ctr"/>
                      <a:r>
                        <a:rPr lang="fa-IR" sz="1800" dirty="0"/>
                        <a:t>عسل</a:t>
                      </a:r>
                      <a:endParaRPr lang="en-US" sz="1800" dirty="0"/>
                    </a:p>
                  </a:txBody>
                  <a:tcPr marT="45733" marB="45733"/>
                </a:tc>
                <a:tc>
                  <a:txBody>
                    <a:bodyPr/>
                    <a:lstStyle/>
                    <a:p>
                      <a:pPr algn="ctr"/>
                      <a:r>
                        <a:rPr lang="fa-IR" sz="1800" dirty="0"/>
                        <a:t>1700</a:t>
                      </a:r>
                      <a:endParaRPr lang="en-US" sz="1800" dirty="0"/>
                    </a:p>
                  </a:txBody>
                  <a:tcPr marT="45733" marB="45733"/>
                </a:tc>
                <a:tc>
                  <a:txBody>
                    <a:bodyPr/>
                    <a:lstStyle/>
                    <a:p>
                      <a:pPr algn="ctr"/>
                      <a:r>
                        <a:rPr lang="fa-IR" sz="1800" dirty="0"/>
                        <a:t>تربیت بدنی</a:t>
                      </a:r>
                      <a:endParaRPr lang="en-US" sz="1800" dirty="0"/>
                    </a:p>
                  </a:txBody>
                  <a:tcPr marT="45733" marB="45733"/>
                </a:tc>
                <a:tc>
                  <a:txBody>
                    <a:bodyPr/>
                    <a:lstStyle/>
                    <a:p>
                      <a:pPr algn="ctr"/>
                      <a:r>
                        <a:rPr lang="en-US" sz="1800" dirty="0"/>
                        <a:t>1</a:t>
                      </a:r>
                    </a:p>
                  </a:txBody>
                  <a:tcPr marT="45733" marB="45733"/>
                </a:tc>
                <a:tc>
                  <a:txBody>
                    <a:bodyPr/>
                    <a:lstStyle/>
                    <a:p>
                      <a:pPr algn="ctr"/>
                      <a:r>
                        <a:rPr lang="fa-IR" sz="1800" dirty="0"/>
                        <a:t>20</a:t>
                      </a:r>
                      <a:endParaRPr lang="en-US" sz="1800" dirty="0"/>
                    </a:p>
                  </a:txBody>
                  <a:tcPr marT="45733" marB="45733"/>
                </a:tc>
                <a:tc>
                  <a:txBody>
                    <a:bodyPr/>
                    <a:lstStyle/>
                    <a:p>
                      <a:pPr algn="ctr"/>
                      <a:r>
                        <a:rPr lang="fa-IR" sz="1800" dirty="0"/>
                        <a:t>1-80</a:t>
                      </a:r>
                      <a:endParaRPr lang="en-US" sz="1800" dirty="0"/>
                    </a:p>
                  </a:txBody>
                  <a:tcPr marT="45733" marB="45733"/>
                </a:tc>
                <a:extLst>
                  <a:ext uri="{0D108BD9-81ED-4DB2-BD59-A6C34878D82A}">
                    <a16:rowId xmlns:a16="http://schemas.microsoft.com/office/drawing/2014/main" val="10005"/>
                  </a:ext>
                </a:extLst>
              </a:tr>
            </a:tbl>
          </a:graphicData>
        </a:graphic>
      </p:graphicFrame>
      <p:sp>
        <p:nvSpPr>
          <p:cNvPr id="7" name="TextBox 6">
            <a:extLst>
              <a:ext uri="{FF2B5EF4-FFF2-40B4-BE49-F238E27FC236}">
                <a16:creationId xmlns:a16="http://schemas.microsoft.com/office/drawing/2014/main" id="{C504E865-2F12-4573-9DB8-3760670619B1}"/>
              </a:ext>
            </a:extLst>
          </p:cNvPr>
          <p:cNvSpPr txBox="1"/>
          <p:nvPr/>
        </p:nvSpPr>
        <p:spPr>
          <a:xfrm>
            <a:off x="457200" y="5764212"/>
            <a:ext cx="8229600" cy="369332"/>
          </a:xfrm>
          <a:prstGeom prst="rect">
            <a:avLst/>
          </a:prstGeom>
          <a:noFill/>
        </p:spPr>
        <p:txBody>
          <a:bodyPr wrap="square">
            <a:spAutoFit/>
          </a:bodyPr>
          <a:lstStyle/>
          <a:p>
            <a:pPr algn="just" rtl="1"/>
            <a:r>
              <a:rPr lang="fa-IR" altLang="en-US" dirty="0">
                <a:ea typeface="Majalla UI"/>
                <a:cs typeface="B Nazanin" panose="00000400000000000000" pitchFamily="2" charset="-78"/>
              </a:rPr>
              <a:t> </a:t>
            </a:r>
            <a:r>
              <a:rPr lang="fa-IR" altLang="en-US" sz="1800" dirty="0">
                <a:ea typeface="Majalla UI"/>
                <a:cs typeface="B Nazanin" panose="00000400000000000000" pitchFamily="2" charset="-78"/>
              </a:rPr>
              <a:t>بخشی از جدول فوق وابسته به </a:t>
            </a:r>
            <a:r>
              <a:rPr lang="en-US" altLang="en-US" sz="1800" dirty="0" err="1">
                <a:cs typeface="B Nazanin" panose="00000400000000000000" pitchFamily="2" charset="-78"/>
              </a:rPr>
              <a:t>Crs</a:t>
            </a:r>
            <a:r>
              <a:rPr lang="en-US" altLang="en-US" sz="1800" dirty="0">
                <a:cs typeface="B Nazanin" panose="00000400000000000000" pitchFamily="2" charset="-78"/>
              </a:rPr>
              <a:t>#</a:t>
            </a:r>
            <a:r>
              <a:rPr lang="fa-IR" altLang="en-US" sz="1800" dirty="0">
                <a:ea typeface="Majalla UI"/>
                <a:cs typeface="B Nazanin" panose="00000400000000000000" pitchFamily="2" charset="-78"/>
              </a:rPr>
              <a:t> است و بخش دیگر وابسته به </a:t>
            </a:r>
            <a:r>
              <a:rPr lang="en-US" altLang="en-US" sz="1800" dirty="0">
                <a:cs typeface="B Nazanin" panose="00000400000000000000" pitchFamily="2" charset="-78"/>
              </a:rPr>
              <a:t>S#</a:t>
            </a:r>
            <a:r>
              <a:rPr lang="fa-IR" altLang="en-US" sz="1800" dirty="0">
                <a:ea typeface="Majalla UI"/>
                <a:cs typeface="B Nazanin" panose="00000400000000000000" pitchFamily="2" charset="-78"/>
              </a:rPr>
              <a:t> است </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5411" name="Title 1"/>
          <p:cNvSpPr>
            <a:spLocks noGrp="1"/>
          </p:cNvSpPr>
          <p:nvPr>
            <p:ph type="title"/>
          </p:nvPr>
        </p:nvSpPr>
        <p:spPr/>
        <p:txBody>
          <a:bodyPr anchor="ctr"/>
          <a:lstStyle/>
          <a:p>
            <a:pPr algn="ctr" rtl="1"/>
            <a:r>
              <a:rPr lang="fa-IR" altLang="en-US" sz="4400" dirty="0">
                <a:latin typeface="Titr" pitchFamily="2" charset="-78"/>
                <a:ea typeface="2  Titr"/>
                <a:cs typeface="2  Titr"/>
              </a:rPr>
              <a:t>جدول نرمال ۳</a:t>
            </a:r>
            <a:endParaRPr lang="en-US" altLang="en-US" sz="4400" b="1" dirty="0">
              <a:latin typeface="Titr" pitchFamily="2" charset="-78"/>
              <a:ea typeface="2  Titr"/>
              <a:cs typeface="2  Titr"/>
            </a:endParaRPr>
          </a:p>
        </p:txBody>
      </p:sp>
      <p:sp>
        <p:nvSpPr>
          <p:cNvPr id="145410" name="Content Placeholder 2"/>
          <p:cNvSpPr>
            <a:spLocks noGrp="1"/>
          </p:cNvSpPr>
          <p:nvPr>
            <p:ph idx="1"/>
          </p:nvPr>
        </p:nvSpPr>
        <p:spPr>
          <a:xfrm>
            <a:off x="0" y="990600"/>
            <a:ext cx="8845550" cy="5392094"/>
          </a:xfrm>
        </p:spPr>
        <p:txBody>
          <a:bodyPr>
            <a:normAutofit/>
          </a:bodyPr>
          <a:lstStyle/>
          <a:p>
            <a:pPr algn="r" rtl="1"/>
            <a:r>
              <a:rPr lang="fa-IR" sz="2800" dirty="0">
                <a:cs typeface="B Nazanin" panose="00000400000000000000" pitchFamily="2" charset="-78"/>
              </a:rPr>
              <a:t>يک جدول در فرم سوم نرمال </a:t>
            </a:r>
            <a:r>
              <a:rPr lang="en-US" sz="2800" dirty="0">
                <a:cs typeface="B Nazanin" panose="00000400000000000000" pitchFamily="2" charset="-78"/>
              </a:rPr>
              <a:t>3NF</a:t>
            </a:r>
            <a:r>
              <a:rPr lang="fa-IR" sz="2800" dirty="0">
                <a:cs typeface="B Nazanin" panose="00000400000000000000" pitchFamily="2" charset="-78"/>
              </a:rPr>
              <a:t>است اگر ا</a:t>
            </a:r>
            <a:r>
              <a:rPr lang="fa-IR" sz="2800" b="1" dirty="0">
                <a:cs typeface="B Nazanin" panose="00000400000000000000" pitchFamily="2" charset="-78"/>
              </a:rPr>
              <a:t>ولا </a:t>
            </a:r>
            <a:r>
              <a:rPr lang="en-US" sz="2800" b="1" dirty="0">
                <a:cs typeface="B Nazanin" panose="00000400000000000000" pitchFamily="2" charset="-78"/>
              </a:rPr>
              <a:t>2NF </a:t>
            </a:r>
            <a:r>
              <a:rPr lang="fa-IR" sz="2800" b="1" dirty="0">
                <a:cs typeface="B Nazanin" panose="00000400000000000000" pitchFamily="2" charset="-78"/>
              </a:rPr>
              <a:t>باشد</a:t>
            </a:r>
            <a:r>
              <a:rPr lang="fa-IR" sz="2800" dirty="0">
                <a:cs typeface="B Nazanin" panose="00000400000000000000" pitchFamily="2" charset="-78"/>
              </a:rPr>
              <a:t>، ثانيا </a:t>
            </a:r>
            <a:r>
              <a:rPr lang="fa-IR" sz="2800" b="1" dirty="0">
                <a:cs typeface="B Nazanin" panose="00000400000000000000" pitchFamily="2" charset="-78"/>
              </a:rPr>
              <a:t>کليه صفات خاصه </a:t>
            </a:r>
            <a:r>
              <a:rPr lang="fa-IR" sz="2800" dirty="0">
                <a:cs typeface="B Nazanin" panose="00000400000000000000" pitchFamily="2" charset="-78"/>
              </a:rPr>
              <a:t>غير کليد در جدول </a:t>
            </a:r>
            <a:r>
              <a:rPr lang="fa-IR" sz="2800" b="1" dirty="0">
                <a:cs typeface="B Nazanin" panose="00000400000000000000" pitchFamily="2" charset="-78"/>
              </a:rPr>
              <a:t>با کليد اصلی </a:t>
            </a:r>
            <a:r>
              <a:rPr lang="fa-IR" sz="2800" dirty="0">
                <a:cs typeface="B Nazanin" panose="00000400000000000000" pitchFamily="2" charset="-78"/>
              </a:rPr>
              <a:t>وابستگی </a:t>
            </a:r>
            <a:r>
              <a:rPr lang="fa-IR" sz="2800" b="1" dirty="0">
                <a:cs typeface="B Nazanin" panose="00000400000000000000" pitchFamily="2" charset="-78"/>
              </a:rPr>
              <a:t>تابعی غير تعدی </a:t>
            </a:r>
            <a:r>
              <a:rPr lang="fa-IR" sz="2800" dirty="0">
                <a:cs typeface="B Nazanin" panose="00000400000000000000" pitchFamily="2" charset="-78"/>
              </a:rPr>
              <a:t>داشته باشند.</a:t>
            </a:r>
          </a:p>
          <a:p>
            <a:pPr algn="r" rtl="1"/>
            <a:r>
              <a:rPr lang="fa-IR" sz="2800" dirty="0">
                <a:cs typeface="B Nazanin" panose="00000400000000000000" pitchFamily="2" charset="-78"/>
              </a:rPr>
              <a:t>وابستگی تعدی </a:t>
            </a:r>
            <a:r>
              <a:rPr lang="en-US" sz="2800" dirty="0">
                <a:cs typeface="B Nazanin" panose="00000400000000000000" pitchFamily="2" charset="-78"/>
              </a:rPr>
              <a:t>transitive dependency </a:t>
            </a:r>
            <a:r>
              <a:rPr lang="fa-IR" sz="2800" dirty="0">
                <a:cs typeface="B Nazanin" panose="00000400000000000000" pitchFamily="2" charset="-78"/>
              </a:rPr>
              <a:t>يک وابستگی تابعی غير مستقيم است که در آن </a:t>
            </a:r>
            <a:r>
              <a:rPr lang="en-US" sz="2800" dirty="0">
                <a:cs typeface="B Nazanin" panose="00000400000000000000" pitchFamily="2" charset="-78"/>
              </a:rPr>
              <a:t>X→Z </a:t>
            </a:r>
            <a:r>
              <a:rPr lang="fa-IR" sz="2800" dirty="0">
                <a:cs typeface="B Nazanin" panose="00000400000000000000" pitchFamily="2" charset="-78"/>
              </a:rPr>
              <a:t>است اگر </a:t>
            </a:r>
            <a:r>
              <a:rPr lang="en-US" sz="2800" dirty="0">
                <a:cs typeface="B Nazanin" panose="00000400000000000000" pitchFamily="2" charset="-78"/>
              </a:rPr>
              <a:t>X→Y </a:t>
            </a:r>
            <a:r>
              <a:rPr lang="fa-IR" sz="2800" dirty="0">
                <a:cs typeface="B Nazanin" panose="00000400000000000000" pitchFamily="2" charset="-78"/>
              </a:rPr>
              <a:t>و </a:t>
            </a:r>
            <a:r>
              <a:rPr lang="en-US" sz="2800" dirty="0">
                <a:cs typeface="B Nazanin" panose="00000400000000000000" pitchFamily="2" charset="-78"/>
              </a:rPr>
              <a:t>Y→Z </a:t>
            </a:r>
            <a:r>
              <a:rPr lang="fa-IR" sz="2800" dirty="0">
                <a:cs typeface="B Nazanin" panose="00000400000000000000" pitchFamily="2" charset="-78"/>
              </a:rPr>
              <a:t>باشد.</a:t>
            </a:r>
          </a:p>
          <a:p>
            <a:pPr algn="r" rtl="1"/>
            <a:r>
              <a:rPr lang="fa-IR" sz="2800" dirty="0">
                <a:cs typeface="B Nazanin" panose="00000400000000000000" pitchFamily="2" charset="-78"/>
              </a:rPr>
              <a:t>در فرم سوم نرمال کليه ستون های جدول مستقيما توسط کليد اصلی مشخص می شوند.</a:t>
            </a:r>
          </a:p>
          <a:p>
            <a:pPr algn="r" rtl="1"/>
            <a:r>
              <a:rPr lang="fa-IR" sz="2800" dirty="0">
                <a:cs typeface="B Nazanin" panose="00000400000000000000" pitchFamily="2" charset="-78"/>
              </a:rPr>
              <a:t> با </a:t>
            </a:r>
            <a:r>
              <a:rPr lang="fa-IR" sz="2800" b="1" dirty="0">
                <a:cs typeface="B Nazanin" panose="00000400000000000000" pitchFamily="2" charset="-78"/>
              </a:rPr>
              <a:t>حذف فيلدهائی که وابستگی مستقيم با کليد ندارند </a:t>
            </a:r>
            <a:r>
              <a:rPr lang="fa-IR" sz="2800" dirty="0">
                <a:cs typeface="B Nazanin" panose="00000400000000000000" pitchFamily="2" charset="-78"/>
              </a:rPr>
              <a:t>به فرم سوم نرمال می رسيم. برای اين کار گروهی از ستون های جدول را که مقدارشان برای بيش از يک رکورد تکرار می شود را در جدول جداگانه ای قرار دهيد.</a:t>
            </a:r>
          </a:p>
          <a:p>
            <a:pPr algn="r" rtl="1"/>
            <a:endParaRPr lang="fa-IR" altLang="en-US" sz="2800" dirty="0">
              <a:ea typeface="Majalla UI"/>
              <a:cs typeface="B Nazanin" panose="00000400000000000000" pitchFamily="2" charset="-78"/>
            </a:endParaRPr>
          </a:p>
        </p:txBody>
      </p:sp>
      <p:sp>
        <p:nvSpPr>
          <p:cNvPr id="3" name="Slide Number Placeholder 2">
            <a:extLst>
              <a:ext uri="{FF2B5EF4-FFF2-40B4-BE49-F238E27FC236}">
                <a16:creationId xmlns:a16="http://schemas.microsoft.com/office/drawing/2014/main" id="{B48A8EBA-C0E8-47D6-8E5F-0EFCBFA744C8}"/>
              </a:ext>
            </a:extLst>
          </p:cNvPr>
          <p:cNvSpPr>
            <a:spLocks noGrp="1"/>
          </p:cNvSpPr>
          <p:nvPr>
            <p:ph type="sldNum" sz="quarter" idx="4294967295"/>
          </p:nvPr>
        </p:nvSpPr>
        <p:spPr>
          <a:xfrm>
            <a:off x="7994650" y="6334125"/>
            <a:ext cx="1149350" cy="365125"/>
          </a:xfrm>
        </p:spPr>
        <p:txBody>
          <a:bodyPr/>
          <a:lstStyle/>
          <a:p>
            <a:fld id="{9B1BEC6B-D08C-4686-9D99-35ADA0E9E6CD}" type="slidenum">
              <a:rPr lang="en-US" smtClean="0"/>
              <a:t>31</a:t>
            </a:fld>
            <a:endParaRPr lang="en-US"/>
          </a:p>
        </p:txBody>
      </p:sp>
    </p:spTree>
    <p:extLst>
      <p:ext uri="{BB962C8B-B14F-4D97-AF65-F5344CB8AC3E}">
        <p14:creationId xmlns:p14="http://schemas.microsoft.com/office/powerpoint/2010/main" val="2653286316"/>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6435" name="Title 1"/>
          <p:cNvSpPr>
            <a:spLocks noGrp="1"/>
          </p:cNvSpPr>
          <p:nvPr>
            <p:ph type="title"/>
          </p:nvPr>
        </p:nvSpPr>
        <p:spPr/>
        <p:txBody>
          <a:bodyPr anchor="ctr"/>
          <a:lstStyle/>
          <a:p>
            <a:pPr algn="ctr" rtl="1"/>
            <a:r>
              <a:rPr lang="fa-IR" altLang="en-US" sz="4400" dirty="0">
                <a:latin typeface="Titr" pitchFamily="2" charset="-78"/>
                <a:ea typeface="2  Titr"/>
                <a:cs typeface="2  Titr"/>
              </a:rPr>
              <a:t>جدول نرمال ۳</a:t>
            </a:r>
            <a:endParaRPr lang="en-US" altLang="en-US" sz="4400" b="1" dirty="0">
              <a:latin typeface="Titr" pitchFamily="2" charset="-78"/>
              <a:ea typeface="2  Titr"/>
              <a:cs typeface="2  Titr"/>
            </a:endParaRPr>
          </a:p>
        </p:txBody>
      </p:sp>
      <p:sp>
        <p:nvSpPr>
          <p:cNvPr id="3" name="Content Placeholder 2"/>
          <p:cNvSpPr>
            <a:spLocks noGrp="1"/>
          </p:cNvSpPr>
          <p:nvPr>
            <p:ph idx="1"/>
          </p:nvPr>
        </p:nvSpPr>
        <p:spPr/>
        <p:txBody>
          <a:bodyPr>
            <a:normAutofit/>
          </a:bodyPr>
          <a:lstStyle/>
          <a:p>
            <a:pPr marL="274320" indent="-274320" algn="just" rtl="1" fontAlgn="auto">
              <a:spcAft>
                <a:spcPts val="0"/>
              </a:spcAft>
              <a:buClr>
                <a:schemeClr val="accent3"/>
              </a:buClr>
              <a:buFont typeface="Wingdings 2"/>
              <a:buChar char=""/>
              <a:defRPr/>
            </a:pPr>
            <a:r>
              <a:rPr lang="fa-IR" sz="2800" dirty="0">
                <a:cs typeface="B Nazanin" panose="00000400000000000000" pitchFamily="2" charset="-78"/>
              </a:rPr>
              <a:t>یک جدول نرمال3 است اگر:</a:t>
            </a:r>
          </a:p>
          <a:p>
            <a:pPr marL="640080" lvl="1" indent="-246888" algn="just" rtl="1" fontAlgn="auto">
              <a:spcAft>
                <a:spcPts val="0"/>
              </a:spcAft>
              <a:buFont typeface="Wingdings 2"/>
              <a:buChar char=""/>
              <a:defRPr/>
            </a:pPr>
            <a:r>
              <a:rPr lang="fa-IR" sz="2400" dirty="0">
                <a:cs typeface="B Nazanin" panose="00000400000000000000" pitchFamily="2" charset="-78"/>
              </a:rPr>
              <a:t>نرمال2 باشد </a:t>
            </a:r>
          </a:p>
          <a:p>
            <a:pPr marL="640080" lvl="1" indent="-246888" algn="just" rtl="1" fontAlgn="auto">
              <a:spcAft>
                <a:spcPts val="0"/>
              </a:spcAft>
              <a:buFont typeface="Wingdings 2"/>
              <a:buChar char=""/>
              <a:defRPr/>
            </a:pPr>
            <a:r>
              <a:rPr lang="fa-IR" sz="2400" dirty="0">
                <a:cs typeface="B Nazanin" panose="00000400000000000000" pitchFamily="2" charset="-78"/>
              </a:rPr>
              <a:t>در آن هیچ وابستگی تعدی (وابستگی با واسطه) در آن وجود نداشته باشد. به عبارت دیگر، در آن هیچ ویژگی غیر کلیدی به ویژگی غیر کلیدی دیگر وابستگی تابعی نداشته باشد.</a:t>
            </a:r>
          </a:p>
          <a:p>
            <a:pPr marL="274320" indent="-274320" algn="just" rtl="1" fontAlgn="auto">
              <a:spcAft>
                <a:spcPts val="0"/>
              </a:spcAft>
              <a:buClr>
                <a:schemeClr val="accent3"/>
              </a:buClr>
              <a:buFont typeface="Wingdings 2"/>
              <a:buChar char=""/>
              <a:defRPr/>
            </a:pPr>
            <a:endParaRPr lang="fa-IR" dirty="0">
              <a:cs typeface="B Nazanin" panose="00000400000000000000" pitchFamily="2" charset="-78"/>
            </a:endParaRPr>
          </a:p>
          <a:p>
            <a:pPr marL="274320" indent="-274320" algn="just" rtl="1" fontAlgn="auto">
              <a:spcAft>
                <a:spcPts val="0"/>
              </a:spcAft>
              <a:buClr>
                <a:schemeClr val="accent3"/>
              </a:buClr>
              <a:buFont typeface="Wingdings 2"/>
              <a:buChar char=""/>
              <a:defRPr/>
            </a:pPr>
            <a:endParaRPr lang="fa-IR" dirty="0">
              <a:cs typeface="B Nazanin" panose="00000400000000000000" pitchFamily="2" charset="-78"/>
            </a:endParaRPr>
          </a:p>
          <a:p>
            <a:pPr marL="274320" indent="-274320" algn="just" rtl="1" fontAlgn="auto">
              <a:spcAft>
                <a:spcPts val="0"/>
              </a:spcAft>
              <a:buClr>
                <a:schemeClr val="accent3"/>
              </a:buClr>
              <a:buFont typeface="Wingdings 2"/>
              <a:buChar char=""/>
              <a:defRPr/>
            </a:pPr>
            <a:endParaRPr lang="fa-IR" dirty="0">
              <a:cs typeface="B Nazanin" panose="00000400000000000000" pitchFamily="2" charset="-78"/>
            </a:endParaRPr>
          </a:p>
          <a:p>
            <a:pPr marL="274320" indent="-274320" algn="just" rtl="1" fontAlgn="auto">
              <a:spcAft>
                <a:spcPts val="0"/>
              </a:spcAft>
              <a:buClr>
                <a:schemeClr val="accent3"/>
              </a:buClr>
              <a:buFont typeface="Wingdings 2"/>
              <a:buChar char=""/>
              <a:defRPr/>
            </a:pPr>
            <a:endParaRPr lang="fa-IR" dirty="0">
              <a:cs typeface="B Nazanin" panose="00000400000000000000" pitchFamily="2" charset="-78"/>
            </a:endParaRPr>
          </a:p>
          <a:p>
            <a:pPr marL="274320" indent="-274320" fontAlgn="auto">
              <a:spcAft>
                <a:spcPts val="0"/>
              </a:spcAft>
              <a:buClr>
                <a:schemeClr val="accent3"/>
              </a:buClr>
              <a:buFont typeface="Wingdings 2"/>
              <a:buChar char=""/>
              <a:defRPr/>
            </a:pPr>
            <a:endParaRPr lang="fa-IR" dirty="0">
              <a:cs typeface="B Nazanin" panose="00000400000000000000" pitchFamily="2" charset="-78"/>
            </a:endParaRPr>
          </a:p>
        </p:txBody>
      </p:sp>
      <p:sp>
        <p:nvSpPr>
          <p:cNvPr id="4" name="Slide Number Placeholder 3">
            <a:extLst>
              <a:ext uri="{FF2B5EF4-FFF2-40B4-BE49-F238E27FC236}">
                <a16:creationId xmlns:a16="http://schemas.microsoft.com/office/drawing/2014/main" id="{B3DD5900-62AA-4792-B743-5CABA8AE3F58}"/>
              </a:ext>
            </a:extLst>
          </p:cNvPr>
          <p:cNvSpPr>
            <a:spLocks noGrp="1"/>
          </p:cNvSpPr>
          <p:nvPr>
            <p:ph type="sldNum" sz="quarter" idx="4294967295"/>
          </p:nvPr>
        </p:nvSpPr>
        <p:spPr>
          <a:xfrm>
            <a:off x="7994650" y="6334125"/>
            <a:ext cx="1149350" cy="365125"/>
          </a:xfrm>
        </p:spPr>
        <p:txBody>
          <a:bodyPr/>
          <a:lstStyle/>
          <a:p>
            <a:fld id="{9B1BEC6B-D08C-4686-9D99-35ADA0E9E6CD}" type="slidenum">
              <a:rPr lang="en-US" smtClean="0"/>
              <a:t>32</a:t>
            </a:fld>
            <a:endParaRPr lang="en-US"/>
          </a:p>
        </p:txBody>
      </p:sp>
      <p:graphicFrame>
        <p:nvGraphicFramePr>
          <p:cNvPr id="5" name="Table 4"/>
          <p:cNvGraphicFramePr>
            <a:graphicFrameLocks noGrp="1"/>
          </p:cNvGraphicFramePr>
          <p:nvPr/>
        </p:nvGraphicFramePr>
        <p:xfrm>
          <a:off x="781050" y="3276600"/>
          <a:ext cx="6477000" cy="1482724"/>
        </p:xfrm>
        <a:graphic>
          <a:graphicData uri="http://schemas.openxmlformats.org/drawingml/2006/table">
            <a:tbl>
              <a:tblPr firstRow="1" bandRow="1">
                <a:tableStyleId>{616DA210-FB5B-4158-B5E0-FEB733F419BA}</a:tableStyleId>
              </a:tblPr>
              <a:tblGrid>
                <a:gridCol w="1145751">
                  <a:extLst>
                    <a:ext uri="{9D8B030D-6E8A-4147-A177-3AD203B41FA5}">
                      <a16:colId xmlns:a16="http://schemas.microsoft.com/office/drawing/2014/main" val="20000"/>
                    </a:ext>
                  </a:extLst>
                </a:gridCol>
                <a:gridCol w="1140247">
                  <a:extLst>
                    <a:ext uri="{9D8B030D-6E8A-4147-A177-3AD203B41FA5}">
                      <a16:colId xmlns:a16="http://schemas.microsoft.com/office/drawing/2014/main" val="20001"/>
                    </a:ext>
                  </a:extLst>
                </a:gridCol>
                <a:gridCol w="1676401">
                  <a:extLst>
                    <a:ext uri="{9D8B030D-6E8A-4147-A177-3AD203B41FA5}">
                      <a16:colId xmlns:a16="http://schemas.microsoft.com/office/drawing/2014/main" val="20002"/>
                    </a:ext>
                  </a:extLst>
                </a:gridCol>
                <a:gridCol w="2514601">
                  <a:extLst>
                    <a:ext uri="{9D8B030D-6E8A-4147-A177-3AD203B41FA5}">
                      <a16:colId xmlns:a16="http://schemas.microsoft.com/office/drawing/2014/main" val="20003"/>
                    </a:ext>
                  </a:extLst>
                </a:gridCol>
              </a:tblGrid>
              <a:tr h="370681">
                <a:tc>
                  <a:txBody>
                    <a:bodyPr/>
                    <a:lstStyle/>
                    <a:p>
                      <a:pPr algn="ctr"/>
                      <a:r>
                        <a:rPr lang="en-US" sz="1800" dirty="0"/>
                        <a:t>Prof#</a:t>
                      </a:r>
                    </a:p>
                  </a:txBody>
                  <a:tcPr marT="45700" marB="45700" anchor="ctr"/>
                </a:tc>
                <a:tc>
                  <a:txBody>
                    <a:bodyPr/>
                    <a:lstStyle/>
                    <a:p>
                      <a:pPr algn="ctr"/>
                      <a:r>
                        <a:rPr lang="en-US" sz="1800" dirty="0" err="1"/>
                        <a:t>Pname</a:t>
                      </a:r>
                      <a:endParaRPr lang="en-US" sz="1800" dirty="0"/>
                    </a:p>
                  </a:txBody>
                  <a:tcPr marT="45700" marB="45700" anchor="ctr"/>
                </a:tc>
                <a:tc>
                  <a:txBody>
                    <a:bodyPr/>
                    <a:lstStyle/>
                    <a:p>
                      <a:pPr algn="ctr"/>
                      <a:r>
                        <a:rPr lang="en-US" sz="1800" dirty="0" err="1"/>
                        <a:t>LastDegree</a:t>
                      </a:r>
                      <a:endParaRPr lang="en-US" sz="1800" dirty="0"/>
                    </a:p>
                  </a:txBody>
                  <a:tcPr marT="45700" marB="45700" anchor="ctr"/>
                </a:tc>
                <a:tc>
                  <a:txBody>
                    <a:bodyPr/>
                    <a:lstStyle/>
                    <a:p>
                      <a:pPr algn="ctr"/>
                      <a:r>
                        <a:rPr lang="en-US" sz="1800" dirty="0" err="1"/>
                        <a:t>LastDegreeName</a:t>
                      </a:r>
                      <a:endParaRPr lang="en-US" sz="1800" dirty="0"/>
                    </a:p>
                  </a:txBody>
                  <a:tcPr marT="45700" marB="45700" anchor="ctr"/>
                </a:tc>
                <a:extLst>
                  <a:ext uri="{0D108BD9-81ED-4DB2-BD59-A6C34878D82A}">
                    <a16:rowId xmlns:a16="http://schemas.microsoft.com/office/drawing/2014/main" val="10000"/>
                  </a:ext>
                </a:extLst>
              </a:tr>
              <a:tr h="370681">
                <a:tc>
                  <a:txBody>
                    <a:bodyPr/>
                    <a:lstStyle/>
                    <a:p>
                      <a:pPr algn="ctr"/>
                      <a:r>
                        <a:rPr lang="fa-IR" sz="1800" dirty="0"/>
                        <a:t>7801</a:t>
                      </a:r>
                      <a:endParaRPr lang="en-US" sz="1800" dirty="0"/>
                    </a:p>
                  </a:txBody>
                  <a:tcPr marT="45700" marB="45700"/>
                </a:tc>
                <a:tc>
                  <a:txBody>
                    <a:bodyPr/>
                    <a:lstStyle/>
                    <a:p>
                      <a:pPr algn="ctr"/>
                      <a:r>
                        <a:rPr lang="fa-IR" sz="1800" dirty="0"/>
                        <a:t>علی</a:t>
                      </a:r>
                      <a:endParaRPr lang="en-US" sz="1800" dirty="0"/>
                    </a:p>
                  </a:txBody>
                  <a:tcPr marT="45700" marB="45700"/>
                </a:tc>
                <a:tc>
                  <a:txBody>
                    <a:bodyPr/>
                    <a:lstStyle/>
                    <a:p>
                      <a:pPr algn="ctr"/>
                      <a:r>
                        <a:rPr lang="fa-IR" sz="1800" dirty="0"/>
                        <a:t>2</a:t>
                      </a:r>
                      <a:endParaRPr lang="en-US" sz="1800" dirty="0"/>
                    </a:p>
                  </a:txBody>
                  <a:tcPr marT="45700" marB="45700"/>
                </a:tc>
                <a:tc>
                  <a:txBody>
                    <a:bodyPr/>
                    <a:lstStyle/>
                    <a:p>
                      <a:pPr algn="ctr"/>
                      <a:r>
                        <a:rPr lang="fa-IR" sz="1800" dirty="0"/>
                        <a:t>کاردانی</a:t>
                      </a:r>
                      <a:endParaRPr lang="en-US" sz="1800" dirty="0"/>
                    </a:p>
                  </a:txBody>
                  <a:tcPr marT="45700" marB="45700"/>
                </a:tc>
                <a:extLst>
                  <a:ext uri="{0D108BD9-81ED-4DB2-BD59-A6C34878D82A}">
                    <a16:rowId xmlns:a16="http://schemas.microsoft.com/office/drawing/2014/main" val="10001"/>
                  </a:ext>
                </a:extLst>
              </a:tr>
              <a:tr h="370681">
                <a:tc>
                  <a:txBody>
                    <a:bodyPr/>
                    <a:lstStyle/>
                    <a:p>
                      <a:pPr algn="ctr"/>
                      <a:r>
                        <a:rPr lang="fa-IR" sz="1800" dirty="0"/>
                        <a:t>7802</a:t>
                      </a:r>
                      <a:endParaRPr lang="en-US" sz="1800" dirty="0"/>
                    </a:p>
                  </a:txBody>
                  <a:tcPr marT="45700" marB="45700"/>
                </a:tc>
                <a:tc>
                  <a:txBody>
                    <a:bodyPr/>
                    <a:lstStyle/>
                    <a:p>
                      <a:pPr algn="ctr"/>
                      <a:r>
                        <a:rPr lang="fa-IR" sz="1800" dirty="0"/>
                        <a:t>آرش</a:t>
                      </a:r>
                      <a:endParaRPr lang="en-US" sz="1800" dirty="0"/>
                    </a:p>
                  </a:txBody>
                  <a:tcPr marT="45700" marB="45700"/>
                </a:tc>
                <a:tc>
                  <a:txBody>
                    <a:bodyPr/>
                    <a:lstStyle/>
                    <a:p>
                      <a:pPr algn="ctr"/>
                      <a:r>
                        <a:rPr lang="fa-IR" sz="1800" dirty="0"/>
                        <a:t>2</a:t>
                      </a:r>
                      <a:endParaRPr lang="en-US" sz="1800" dirty="0"/>
                    </a:p>
                  </a:txBody>
                  <a:tcPr marT="45700" marB="45700"/>
                </a:tc>
                <a:tc>
                  <a:txBody>
                    <a:bodyPr/>
                    <a:lstStyle/>
                    <a:p>
                      <a:pPr algn="ctr"/>
                      <a:r>
                        <a:rPr lang="fa-IR" sz="1800" dirty="0"/>
                        <a:t>کاردانی</a:t>
                      </a:r>
                      <a:endParaRPr lang="en-US" sz="1800" dirty="0"/>
                    </a:p>
                  </a:txBody>
                  <a:tcPr marT="45700" marB="45700"/>
                </a:tc>
                <a:extLst>
                  <a:ext uri="{0D108BD9-81ED-4DB2-BD59-A6C34878D82A}">
                    <a16:rowId xmlns:a16="http://schemas.microsoft.com/office/drawing/2014/main" val="10002"/>
                  </a:ext>
                </a:extLst>
              </a:tr>
              <a:tr h="370681">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fa-IR" sz="1800" dirty="0"/>
                        <a:t>7803</a:t>
                      </a:r>
                      <a:endParaRPr lang="en-US" sz="1800" dirty="0"/>
                    </a:p>
                  </a:txBody>
                  <a:tcPr marT="45700" marB="45700"/>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fa-IR" sz="1800" dirty="0"/>
                        <a:t>عسل</a:t>
                      </a:r>
                      <a:endParaRPr lang="en-US" sz="1800" dirty="0"/>
                    </a:p>
                  </a:txBody>
                  <a:tcPr marT="45700" marB="45700"/>
                </a:tc>
                <a:tc>
                  <a:txBody>
                    <a:bodyPr/>
                    <a:lstStyle/>
                    <a:p>
                      <a:pPr algn="ctr"/>
                      <a:r>
                        <a:rPr lang="fa-IR" sz="1800" dirty="0"/>
                        <a:t>4</a:t>
                      </a:r>
                      <a:endParaRPr lang="en-US" sz="1800" dirty="0"/>
                    </a:p>
                  </a:txBody>
                  <a:tcPr marT="45700" marB="45700"/>
                </a:tc>
                <a:tc>
                  <a:txBody>
                    <a:bodyPr/>
                    <a:lstStyle/>
                    <a:p>
                      <a:pPr algn="ctr"/>
                      <a:r>
                        <a:rPr lang="fa-IR" sz="1800" dirty="0"/>
                        <a:t>فوق لیسانس</a:t>
                      </a:r>
                      <a:endParaRPr lang="en-US" sz="1800" dirty="0"/>
                    </a:p>
                  </a:txBody>
                  <a:tcPr marT="45700" marB="45700"/>
                </a:tc>
                <a:extLst>
                  <a:ext uri="{0D108BD9-81ED-4DB2-BD59-A6C34878D82A}">
                    <a16:rowId xmlns:a16="http://schemas.microsoft.com/office/drawing/2014/main" val="10003"/>
                  </a:ext>
                </a:extLst>
              </a:tr>
            </a:tbl>
          </a:graphicData>
        </a:graphic>
      </p:graphicFrame>
      <p:sp>
        <p:nvSpPr>
          <p:cNvPr id="7" name="TextBox 6">
            <a:extLst>
              <a:ext uri="{FF2B5EF4-FFF2-40B4-BE49-F238E27FC236}">
                <a16:creationId xmlns:a16="http://schemas.microsoft.com/office/drawing/2014/main" id="{BEDE9A4B-DDD9-4376-97AC-4AB13BAF0CF4}"/>
              </a:ext>
            </a:extLst>
          </p:cNvPr>
          <p:cNvSpPr txBox="1"/>
          <p:nvPr/>
        </p:nvSpPr>
        <p:spPr>
          <a:xfrm>
            <a:off x="289710" y="5070735"/>
            <a:ext cx="8473290" cy="923330"/>
          </a:xfrm>
          <a:prstGeom prst="rect">
            <a:avLst/>
          </a:prstGeom>
          <a:noFill/>
        </p:spPr>
        <p:txBody>
          <a:bodyPr wrap="square">
            <a:spAutoFit/>
          </a:bodyPr>
          <a:lstStyle/>
          <a:p>
            <a:pPr marL="274320" indent="-274320" algn="just" rtl="1" fontAlgn="auto">
              <a:spcAft>
                <a:spcPts val="0"/>
              </a:spcAft>
              <a:buClr>
                <a:schemeClr val="accent3"/>
              </a:buClr>
              <a:buFont typeface="Wingdings 2"/>
              <a:buChar char=""/>
              <a:defRPr/>
            </a:pPr>
            <a:r>
              <a:rPr lang="fa-IR" dirty="0">
                <a:cs typeface="B Nazanin" panose="00000400000000000000" pitchFamily="2" charset="-78"/>
              </a:rPr>
              <a:t>برای آنکه این جدول نرمال 3 شود به صورت زیر تبدیل میشود:</a:t>
            </a:r>
          </a:p>
          <a:p>
            <a:pPr marL="274320" indent="-274320" fontAlgn="auto">
              <a:spcAft>
                <a:spcPts val="0"/>
              </a:spcAft>
              <a:buClr>
                <a:schemeClr val="accent3"/>
              </a:buClr>
              <a:buFont typeface="Wingdings 2"/>
              <a:buChar char=""/>
              <a:defRPr/>
            </a:pPr>
            <a:r>
              <a:rPr lang="en-US" dirty="0">
                <a:cs typeface="B Nazanin" panose="00000400000000000000" pitchFamily="2" charset="-78"/>
              </a:rPr>
              <a:t>Prof(Prof#, </a:t>
            </a:r>
            <a:r>
              <a:rPr lang="en-US" dirty="0" err="1">
                <a:cs typeface="B Nazanin" panose="00000400000000000000" pitchFamily="2" charset="-78"/>
              </a:rPr>
              <a:t>Pname</a:t>
            </a:r>
            <a:r>
              <a:rPr lang="en-US" dirty="0">
                <a:cs typeface="B Nazanin" panose="00000400000000000000" pitchFamily="2" charset="-78"/>
              </a:rPr>
              <a:t>, </a:t>
            </a:r>
            <a:r>
              <a:rPr lang="en-US" dirty="0" err="1">
                <a:cs typeface="B Nazanin" panose="00000400000000000000" pitchFamily="2" charset="-78"/>
              </a:rPr>
              <a:t>LastDegree</a:t>
            </a:r>
            <a:r>
              <a:rPr lang="en-US" dirty="0">
                <a:cs typeface="B Nazanin" panose="00000400000000000000" pitchFamily="2" charset="-78"/>
              </a:rPr>
              <a:t>)</a:t>
            </a:r>
          </a:p>
          <a:p>
            <a:pPr marL="274320" indent="-274320" fontAlgn="auto">
              <a:spcAft>
                <a:spcPts val="0"/>
              </a:spcAft>
              <a:buClr>
                <a:schemeClr val="accent3"/>
              </a:buClr>
              <a:buFont typeface="Wingdings 2"/>
              <a:buChar char=""/>
              <a:defRPr/>
            </a:pPr>
            <a:r>
              <a:rPr lang="en-US" dirty="0">
                <a:cs typeface="B Nazanin" panose="00000400000000000000" pitchFamily="2" charset="-78"/>
              </a:rPr>
              <a:t>Degree(</a:t>
            </a:r>
            <a:r>
              <a:rPr lang="en-US" dirty="0" err="1">
                <a:cs typeface="B Nazanin" panose="00000400000000000000" pitchFamily="2" charset="-78"/>
              </a:rPr>
              <a:t>LastDegree</a:t>
            </a:r>
            <a:r>
              <a:rPr lang="en-US" dirty="0">
                <a:cs typeface="B Nazanin" panose="00000400000000000000" pitchFamily="2" charset="-78"/>
              </a:rPr>
              <a:t>#, </a:t>
            </a:r>
            <a:r>
              <a:rPr lang="en-US" dirty="0" err="1">
                <a:cs typeface="B Nazanin" panose="00000400000000000000" pitchFamily="2" charset="-78"/>
              </a:rPr>
              <a:t>LastDegreeName</a:t>
            </a:r>
            <a:r>
              <a:rPr lang="en-US" dirty="0">
                <a:cs typeface="B Nazanin" panose="00000400000000000000" pitchFamily="2" charset="-78"/>
              </a:rPr>
              <a:t>)</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FFD43B8-AEC3-41A9-8285-569D02D5ABED}"/>
              </a:ext>
            </a:extLst>
          </p:cNvPr>
          <p:cNvSpPr>
            <a:spLocks noGrp="1"/>
          </p:cNvSpPr>
          <p:nvPr>
            <p:ph idx="1"/>
          </p:nvPr>
        </p:nvSpPr>
        <p:spPr>
          <a:xfrm>
            <a:off x="190500" y="727075"/>
            <a:ext cx="8655050" cy="5633374"/>
          </a:xfrm>
        </p:spPr>
        <p:txBody>
          <a:bodyPr>
            <a:normAutofit/>
          </a:bodyPr>
          <a:lstStyle/>
          <a:p>
            <a:pPr algn="r" rtl="1"/>
            <a:r>
              <a:rPr lang="fa-IR" sz="2000" dirty="0">
                <a:cs typeface="B Nazanin" panose="00000400000000000000" pitchFamily="2" charset="-78"/>
              </a:rPr>
              <a:t>مثال. فرض کنيد جدول </a:t>
            </a:r>
            <a:r>
              <a:rPr lang="en-US" sz="2000" dirty="0">
                <a:cs typeface="B Nazanin" panose="00000400000000000000" pitchFamily="2" charset="-78"/>
              </a:rPr>
              <a:t>PRODUCT </a:t>
            </a:r>
            <a:r>
              <a:rPr lang="fa-IR" sz="2000" dirty="0">
                <a:cs typeface="B Nazanin" panose="00000400000000000000" pitchFamily="2" charset="-78"/>
              </a:rPr>
              <a:t>به صورت زير جزئيات توليد کننده هر محصول را دارا باشد:</a:t>
            </a:r>
          </a:p>
          <a:p>
            <a:pPr algn="l"/>
            <a:r>
              <a:rPr lang="en-US" sz="2000" b="1" dirty="0">
                <a:cs typeface="B Nazanin" panose="00000400000000000000" pitchFamily="2" charset="-78"/>
              </a:rPr>
              <a:t>PRODUCT(</a:t>
            </a:r>
            <a:r>
              <a:rPr lang="en-US" sz="2000" b="1" u="sng" dirty="0" err="1">
                <a:cs typeface="B Nazanin" panose="00000400000000000000" pitchFamily="2" charset="-78"/>
              </a:rPr>
              <a:t>ProductNo</a:t>
            </a:r>
            <a:r>
              <a:rPr lang="en-US" sz="2000" b="1" dirty="0">
                <a:cs typeface="B Nazanin" panose="00000400000000000000" pitchFamily="2" charset="-78"/>
              </a:rPr>
              <a:t>, Description, </a:t>
            </a:r>
            <a:r>
              <a:rPr lang="en-US" sz="2000" b="1" dirty="0" err="1">
                <a:cs typeface="B Nazanin" panose="00000400000000000000" pitchFamily="2" charset="-78"/>
              </a:rPr>
              <a:t>ReorderLevel</a:t>
            </a:r>
            <a:r>
              <a:rPr lang="en-US" sz="2000" b="1" dirty="0">
                <a:cs typeface="B Nazanin" panose="00000400000000000000" pitchFamily="2" charset="-78"/>
              </a:rPr>
              <a:t>, Price, </a:t>
            </a:r>
            <a:r>
              <a:rPr lang="en-US" sz="2000" b="1" dirty="0" err="1">
                <a:cs typeface="B Nazanin" panose="00000400000000000000" pitchFamily="2" charset="-78"/>
              </a:rPr>
              <a:t>QtyInStock</a:t>
            </a:r>
            <a:r>
              <a:rPr lang="en-US" sz="2000" b="1" dirty="0">
                <a:cs typeface="B Nazanin" panose="00000400000000000000" pitchFamily="2" charset="-78"/>
              </a:rPr>
              <a:t>, </a:t>
            </a:r>
            <a:r>
              <a:rPr lang="en-US" sz="2000" b="1" dirty="0" err="1">
                <a:cs typeface="B Nazanin" panose="00000400000000000000" pitchFamily="2" charset="-78"/>
              </a:rPr>
              <a:t>SupplierCode</a:t>
            </a:r>
            <a:r>
              <a:rPr lang="en-US" sz="2000" b="1" dirty="0">
                <a:cs typeface="B Nazanin" panose="00000400000000000000" pitchFamily="2" charset="-78"/>
              </a:rPr>
              <a:t>, </a:t>
            </a:r>
            <a:r>
              <a:rPr lang="en-US" sz="2000" b="1" dirty="0" err="1">
                <a:cs typeface="B Nazanin" panose="00000400000000000000" pitchFamily="2" charset="-78"/>
              </a:rPr>
              <a:t>SupplierName</a:t>
            </a:r>
            <a:r>
              <a:rPr lang="en-US" sz="2000" b="1" dirty="0">
                <a:cs typeface="B Nazanin" panose="00000400000000000000" pitchFamily="2" charset="-78"/>
              </a:rPr>
              <a:t>, </a:t>
            </a:r>
            <a:r>
              <a:rPr lang="en-US" sz="2000" b="1" dirty="0" err="1">
                <a:cs typeface="B Nazanin" panose="00000400000000000000" pitchFamily="2" charset="-78"/>
              </a:rPr>
              <a:t>SupplierAddress</a:t>
            </a:r>
            <a:r>
              <a:rPr lang="en-US" sz="2000" b="1" dirty="0">
                <a:cs typeface="B Nazanin" panose="00000400000000000000" pitchFamily="2" charset="-78"/>
              </a:rPr>
              <a:t>)</a:t>
            </a:r>
          </a:p>
          <a:p>
            <a:pPr algn="r" rtl="1"/>
            <a:endParaRPr lang="en-US" sz="2000" dirty="0">
              <a:cs typeface="B Nazanin" panose="00000400000000000000" pitchFamily="2" charset="-78"/>
            </a:endParaRPr>
          </a:p>
        </p:txBody>
      </p:sp>
      <p:sp>
        <p:nvSpPr>
          <p:cNvPr id="4" name="Slide Number Placeholder 3">
            <a:extLst>
              <a:ext uri="{FF2B5EF4-FFF2-40B4-BE49-F238E27FC236}">
                <a16:creationId xmlns:a16="http://schemas.microsoft.com/office/drawing/2014/main" id="{5D856993-8E12-458F-B7D7-C5EDBD35E4B3}"/>
              </a:ext>
            </a:extLst>
          </p:cNvPr>
          <p:cNvSpPr>
            <a:spLocks noGrp="1"/>
          </p:cNvSpPr>
          <p:nvPr>
            <p:ph type="sldNum" sz="quarter" idx="4294967295"/>
          </p:nvPr>
        </p:nvSpPr>
        <p:spPr>
          <a:xfrm>
            <a:off x="7994650" y="6334125"/>
            <a:ext cx="1149350" cy="365125"/>
          </a:xfrm>
        </p:spPr>
        <p:txBody>
          <a:bodyPr/>
          <a:lstStyle/>
          <a:p>
            <a:fld id="{9B1BEC6B-D08C-4686-9D99-35ADA0E9E6CD}" type="slidenum">
              <a:rPr lang="en-US" smtClean="0"/>
              <a:t>33</a:t>
            </a:fld>
            <a:endParaRPr lang="en-US"/>
          </a:p>
        </p:txBody>
      </p:sp>
      <p:sp>
        <p:nvSpPr>
          <p:cNvPr id="5" name="TextBox 4">
            <a:extLst>
              <a:ext uri="{FF2B5EF4-FFF2-40B4-BE49-F238E27FC236}">
                <a16:creationId xmlns:a16="http://schemas.microsoft.com/office/drawing/2014/main" id="{0D29A58F-009E-4713-8964-793CD3A7DDE6}"/>
              </a:ext>
            </a:extLst>
          </p:cNvPr>
          <p:cNvSpPr txBox="1"/>
          <p:nvPr/>
        </p:nvSpPr>
        <p:spPr>
          <a:xfrm>
            <a:off x="190500" y="2274019"/>
            <a:ext cx="8610600" cy="2862322"/>
          </a:xfrm>
          <a:prstGeom prst="rect">
            <a:avLst/>
          </a:prstGeom>
          <a:noFill/>
        </p:spPr>
        <p:txBody>
          <a:bodyPr wrap="square">
            <a:spAutoFit/>
          </a:bodyPr>
          <a:lstStyle/>
          <a:p>
            <a:pPr algn="r" rtl="1"/>
            <a:r>
              <a:rPr lang="fa-IR" sz="2000" dirty="0">
                <a:cs typeface="B Nazanin" panose="00000400000000000000" pitchFamily="2" charset="-78"/>
              </a:rPr>
              <a:t>اين جدول کليد اصلی تک ستونی دارد بنابراين 2</a:t>
            </a:r>
            <a:r>
              <a:rPr lang="en-US" sz="2000" dirty="0">
                <a:cs typeface="B Nazanin" panose="00000400000000000000" pitchFamily="2" charset="-78"/>
              </a:rPr>
              <a:t>NF </a:t>
            </a:r>
            <a:r>
              <a:rPr lang="fa-IR" sz="2000" dirty="0">
                <a:cs typeface="B Nazanin" panose="00000400000000000000" pitchFamily="2" charset="-78"/>
              </a:rPr>
              <a:t>است. اگر توليد کننده چندين محصول را توليد کند فيلدهای </a:t>
            </a:r>
            <a:r>
              <a:rPr lang="en-US" sz="2000" dirty="0" err="1">
                <a:cs typeface="B Nazanin" panose="00000400000000000000" pitchFamily="2" charset="-78"/>
              </a:rPr>
              <a:t>SupplierName</a:t>
            </a:r>
            <a:r>
              <a:rPr lang="en-US" sz="2000" dirty="0">
                <a:cs typeface="B Nazanin" panose="00000400000000000000" pitchFamily="2" charset="-78"/>
              </a:rPr>
              <a:t> </a:t>
            </a:r>
            <a:r>
              <a:rPr lang="fa-IR" sz="2000" dirty="0">
                <a:cs typeface="B Nazanin" panose="00000400000000000000" pitchFamily="2" charset="-78"/>
              </a:rPr>
              <a:t>و </a:t>
            </a:r>
            <a:r>
              <a:rPr lang="en-US" sz="2000" dirty="0" err="1">
                <a:cs typeface="B Nazanin" panose="00000400000000000000" pitchFamily="2" charset="-78"/>
              </a:rPr>
              <a:t>SupplierAddress</a:t>
            </a:r>
            <a:r>
              <a:rPr lang="en-US" sz="2000" dirty="0">
                <a:cs typeface="B Nazanin" panose="00000400000000000000" pitchFamily="2" charset="-78"/>
              </a:rPr>
              <a:t> </a:t>
            </a:r>
            <a:r>
              <a:rPr lang="fa-IR" sz="2000" dirty="0">
                <a:cs typeface="B Nazanin" panose="00000400000000000000" pitchFamily="2" charset="-78"/>
              </a:rPr>
              <a:t>برای هر محصول تکرار می شود زيرا وابستگی تعدی با کليد اصلی دارند.</a:t>
            </a:r>
            <a:endParaRPr lang="en-US" sz="2000" dirty="0">
              <a:cs typeface="B Nazanin" panose="00000400000000000000" pitchFamily="2" charset="-78"/>
            </a:endParaRPr>
          </a:p>
          <a:p>
            <a:pPr algn="r" rtl="1"/>
            <a:endParaRPr lang="fa-IR" sz="2000" dirty="0">
              <a:cs typeface="B Nazanin" panose="00000400000000000000" pitchFamily="2" charset="-78"/>
            </a:endParaRPr>
          </a:p>
          <a:p>
            <a:pPr algn="l"/>
            <a:r>
              <a:rPr lang="en-US" sz="2000" b="1" dirty="0" err="1">
                <a:cs typeface="B Nazanin" panose="00000400000000000000" pitchFamily="2" charset="-78"/>
              </a:rPr>
              <a:t>ProductNo</a:t>
            </a:r>
            <a:r>
              <a:rPr lang="en-US" sz="2000" b="1" dirty="0">
                <a:cs typeface="B Nazanin" panose="00000400000000000000" pitchFamily="2" charset="-78"/>
              </a:rPr>
              <a:t> → </a:t>
            </a:r>
            <a:r>
              <a:rPr lang="en-US" sz="2000" b="1" dirty="0" err="1">
                <a:cs typeface="B Nazanin" panose="00000400000000000000" pitchFamily="2" charset="-78"/>
              </a:rPr>
              <a:t>SupplierCode</a:t>
            </a:r>
            <a:r>
              <a:rPr lang="en-US" sz="2000" b="1" dirty="0">
                <a:cs typeface="B Nazanin" panose="00000400000000000000" pitchFamily="2" charset="-78"/>
              </a:rPr>
              <a:t> → {</a:t>
            </a:r>
            <a:r>
              <a:rPr lang="en-US" sz="2000" b="1" dirty="0" err="1">
                <a:cs typeface="B Nazanin" panose="00000400000000000000" pitchFamily="2" charset="-78"/>
              </a:rPr>
              <a:t>SupplierName</a:t>
            </a:r>
            <a:r>
              <a:rPr lang="en-US" sz="2000" b="1" dirty="0">
                <a:cs typeface="B Nazanin" panose="00000400000000000000" pitchFamily="2" charset="-78"/>
              </a:rPr>
              <a:t>, </a:t>
            </a:r>
            <a:r>
              <a:rPr lang="en-US" sz="2000" b="1" dirty="0" err="1">
                <a:cs typeface="B Nazanin" panose="00000400000000000000" pitchFamily="2" charset="-78"/>
              </a:rPr>
              <a:t>SupplierAddress</a:t>
            </a:r>
            <a:r>
              <a:rPr lang="en-US" sz="2000" b="1" dirty="0">
                <a:cs typeface="B Nazanin" panose="00000400000000000000" pitchFamily="2" charset="-78"/>
              </a:rPr>
              <a:t>}</a:t>
            </a:r>
          </a:p>
          <a:p>
            <a:pPr algn="l"/>
            <a:endParaRPr lang="en-US" sz="2000" b="1" dirty="0">
              <a:cs typeface="B Nazanin" panose="00000400000000000000" pitchFamily="2" charset="-78"/>
            </a:endParaRPr>
          </a:p>
          <a:p>
            <a:pPr algn="r" rtl="1"/>
            <a:r>
              <a:rPr lang="fa-IR" sz="2000" dirty="0">
                <a:cs typeface="B Nazanin" panose="00000400000000000000" pitchFamily="2" charset="-78"/>
              </a:rPr>
              <a:t>با حذف اين ستون ها و تقسيم جدول به صورت زير به فرم سوم نرمال می رسيم. توجه کنيد که </a:t>
            </a:r>
            <a:r>
              <a:rPr lang="en-US" sz="2000" dirty="0" err="1">
                <a:cs typeface="B Nazanin" panose="00000400000000000000" pitchFamily="2" charset="-78"/>
              </a:rPr>
              <a:t>SupplierCode</a:t>
            </a:r>
            <a:r>
              <a:rPr lang="en-US" sz="2000" dirty="0">
                <a:cs typeface="B Nazanin" panose="00000400000000000000" pitchFamily="2" charset="-78"/>
              </a:rPr>
              <a:t> </a:t>
            </a:r>
            <a:r>
              <a:rPr lang="fa-IR" sz="2000" dirty="0">
                <a:cs typeface="B Nazanin" panose="00000400000000000000" pitchFamily="2" charset="-78"/>
              </a:rPr>
              <a:t>در جدول </a:t>
            </a:r>
            <a:r>
              <a:rPr lang="en-US" sz="2000" dirty="0">
                <a:cs typeface="B Nazanin" panose="00000400000000000000" pitchFamily="2" charset="-78"/>
              </a:rPr>
              <a:t>PRODUCT </a:t>
            </a:r>
            <a:r>
              <a:rPr lang="fa-IR" sz="2000" dirty="0">
                <a:cs typeface="B Nazanin" panose="00000400000000000000" pitchFamily="2" charset="-78"/>
              </a:rPr>
              <a:t>به عنوان کليد خارجی باقی می ماند.</a:t>
            </a:r>
          </a:p>
          <a:p>
            <a:pPr algn="l"/>
            <a:endParaRPr lang="en-US" b="1" dirty="0">
              <a:cs typeface="B Nazanin" panose="00000400000000000000" pitchFamily="2" charset="-78"/>
            </a:endParaRPr>
          </a:p>
        </p:txBody>
      </p:sp>
      <p:sp>
        <p:nvSpPr>
          <p:cNvPr id="7" name="TextBox 6">
            <a:extLst>
              <a:ext uri="{FF2B5EF4-FFF2-40B4-BE49-F238E27FC236}">
                <a16:creationId xmlns:a16="http://schemas.microsoft.com/office/drawing/2014/main" id="{37CB1894-5212-453A-A5F7-4CDEA3A2FEC1}"/>
              </a:ext>
            </a:extLst>
          </p:cNvPr>
          <p:cNvSpPr txBox="1"/>
          <p:nvPr/>
        </p:nvSpPr>
        <p:spPr>
          <a:xfrm>
            <a:off x="190500" y="5029200"/>
            <a:ext cx="8896350" cy="923330"/>
          </a:xfrm>
          <a:prstGeom prst="rect">
            <a:avLst/>
          </a:prstGeom>
          <a:noFill/>
        </p:spPr>
        <p:txBody>
          <a:bodyPr wrap="square">
            <a:spAutoFit/>
          </a:bodyPr>
          <a:lstStyle/>
          <a:p>
            <a:pPr algn="l"/>
            <a:r>
              <a:rPr lang="en-US" sz="1800" b="1" dirty="0">
                <a:cs typeface="B Nazanin" panose="00000400000000000000" pitchFamily="2" charset="-78"/>
              </a:rPr>
              <a:t>PRODUCT(</a:t>
            </a:r>
            <a:r>
              <a:rPr lang="en-US" sz="1800" b="1" u="sng" dirty="0" err="1">
                <a:cs typeface="B Nazanin" panose="00000400000000000000" pitchFamily="2" charset="-78"/>
              </a:rPr>
              <a:t>ProductNo</a:t>
            </a:r>
            <a:r>
              <a:rPr lang="en-US" sz="1800" b="1" dirty="0">
                <a:cs typeface="B Nazanin" panose="00000400000000000000" pitchFamily="2" charset="-78"/>
              </a:rPr>
              <a:t>, Description, </a:t>
            </a:r>
            <a:r>
              <a:rPr lang="en-US" sz="1800" b="1" dirty="0" err="1">
                <a:cs typeface="B Nazanin" panose="00000400000000000000" pitchFamily="2" charset="-78"/>
              </a:rPr>
              <a:t>ReorderLevel</a:t>
            </a:r>
            <a:r>
              <a:rPr lang="en-US" sz="1800" b="1" dirty="0">
                <a:cs typeface="B Nazanin" panose="00000400000000000000" pitchFamily="2" charset="-78"/>
              </a:rPr>
              <a:t>, Price, </a:t>
            </a:r>
            <a:r>
              <a:rPr lang="en-US" sz="1800" b="1" dirty="0" err="1">
                <a:cs typeface="B Nazanin" panose="00000400000000000000" pitchFamily="2" charset="-78"/>
              </a:rPr>
              <a:t>QtyInStock</a:t>
            </a:r>
            <a:r>
              <a:rPr lang="en-US" sz="1800" b="1" dirty="0">
                <a:cs typeface="B Nazanin" panose="00000400000000000000" pitchFamily="2" charset="-78"/>
              </a:rPr>
              <a:t>, </a:t>
            </a:r>
            <a:r>
              <a:rPr lang="en-US" sz="1800" b="1" dirty="0" err="1">
                <a:cs typeface="B Nazanin" panose="00000400000000000000" pitchFamily="2" charset="-78"/>
              </a:rPr>
              <a:t>SupplierCode</a:t>
            </a:r>
            <a:r>
              <a:rPr lang="en-US" sz="1800" b="1" dirty="0">
                <a:cs typeface="B Nazanin" panose="00000400000000000000" pitchFamily="2" charset="-78"/>
              </a:rPr>
              <a:t>)</a:t>
            </a:r>
            <a:br>
              <a:rPr lang="en-US" sz="1800" b="1" dirty="0">
                <a:cs typeface="B Nazanin" panose="00000400000000000000" pitchFamily="2" charset="-78"/>
              </a:rPr>
            </a:br>
            <a:r>
              <a:rPr lang="en-US" sz="1800" b="1" dirty="0">
                <a:cs typeface="B Nazanin" panose="00000400000000000000" pitchFamily="2" charset="-78"/>
              </a:rPr>
              <a:t>SUPPLIER(</a:t>
            </a:r>
            <a:r>
              <a:rPr lang="en-US" sz="1800" b="1" u="sng" dirty="0" err="1">
                <a:cs typeface="B Nazanin" panose="00000400000000000000" pitchFamily="2" charset="-78"/>
              </a:rPr>
              <a:t>SupplierCode</a:t>
            </a:r>
            <a:r>
              <a:rPr lang="en-US" sz="1800" b="1" dirty="0">
                <a:cs typeface="B Nazanin" panose="00000400000000000000" pitchFamily="2" charset="-78"/>
              </a:rPr>
              <a:t>, </a:t>
            </a:r>
            <a:r>
              <a:rPr lang="en-US" sz="1800" b="1" dirty="0" err="1">
                <a:cs typeface="B Nazanin" panose="00000400000000000000" pitchFamily="2" charset="-78"/>
              </a:rPr>
              <a:t>SupplierName</a:t>
            </a:r>
            <a:r>
              <a:rPr lang="en-US" sz="1800" b="1" dirty="0">
                <a:cs typeface="B Nazanin" panose="00000400000000000000" pitchFamily="2" charset="-78"/>
              </a:rPr>
              <a:t>, </a:t>
            </a:r>
            <a:r>
              <a:rPr lang="en-US" sz="1800" b="1" dirty="0" err="1">
                <a:cs typeface="B Nazanin" panose="00000400000000000000" pitchFamily="2" charset="-78"/>
              </a:rPr>
              <a:t>SupplierAddress</a:t>
            </a:r>
            <a:r>
              <a:rPr lang="en-US" sz="1800" b="1" dirty="0">
                <a:cs typeface="B Nazanin" panose="00000400000000000000" pitchFamily="2" charset="-78"/>
              </a:rPr>
              <a:t>)</a:t>
            </a:r>
          </a:p>
        </p:txBody>
      </p:sp>
      <p:sp>
        <p:nvSpPr>
          <p:cNvPr id="6" name="Title 1">
            <a:extLst>
              <a:ext uri="{FF2B5EF4-FFF2-40B4-BE49-F238E27FC236}">
                <a16:creationId xmlns:a16="http://schemas.microsoft.com/office/drawing/2014/main" id="{54A5317B-7066-4DC2-A479-6E9240196B51}"/>
              </a:ext>
            </a:extLst>
          </p:cNvPr>
          <p:cNvSpPr>
            <a:spLocks noGrp="1"/>
          </p:cNvSpPr>
          <p:nvPr>
            <p:ph type="title"/>
          </p:nvPr>
        </p:nvSpPr>
        <p:spPr>
          <a:xfrm>
            <a:off x="768350" y="117475"/>
            <a:ext cx="8077200" cy="609600"/>
          </a:xfrm>
        </p:spPr>
        <p:txBody>
          <a:bodyPr anchor="ctr"/>
          <a:lstStyle/>
          <a:p>
            <a:pPr algn="ctr" rtl="1"/>
            <a:r>
              <a:rPr lang="fa-IR" altLang="en-US" sz="4400" dirty="0">
                <a:latin typeface="Titr" pitchFamily="2" charset="-78"/>
                <a:ea typeface="2  Titr"/>
                <a:cs typeface="2  Titr"/>
              </a:rPr>
              <a:t>جدول نرمال ۳</a:t>
            </a:r>
            <a:endParaRPr lang="en-US" altLang="en-US" sz="4400" b="1" dirty="0">
              <a:latin typeface="Titr" pitchFamily="2" charset="-78"/>
              <a:ea typeface="2  Titr"/>
              <a:cs typeface="2  Titr"/>
            </a:endParaRPr>
          </a:p>
        </p:txBody>
      </p:sp>
    </p:spTree>
    <p:extLst>
      <p:ext uri="{BB962C8B-B14F-4D97-AF65-F5344CB8AC3E}">
        <p14:creationId xmlns:p14="http://schemas.microsoft.com/office/powerpoint/2010/main" val="171341522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5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fade">
                                      <p:cBhvr>
                                        <p:cTn id="12"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7" grpId="0"/>
    </p:bld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7459" name="Title 1"/>
          <p:cNvSpPr>
            <a:spLocks noGrp="1"/>
          </p:cNvSpPr>
          <p:nvPr>
            <p:ph type="title"/>
          </p:nvPr>
        </p:nvSpPr>
        <p:spPr>
          <a:xfrm>
            <a:off x="457200" y="685800"/>
            <a:ext cx="8229600" cy="1143000"/>
          </a:xfrm>
        </p:spPr>
        <p:txBody>
          <a:bodyPr anchor="ctr"/>
          <a:lstStyle/>
          <a:p>
            <a:pPr algn="ctr" rtl="1"/>
            <a:r>
              <a:rPr lang="fa-IR" altLang="en-US" sz="4400" b="1">
                <a:latin typeface="Titr" pitchFamily="2" charset="-78"/>
                <a:ea typeface="2  Titr"/>
                <a:cs typeface="2  Titr"/>
              </a:rPr>
              <a:t>جداول نرمال</a:t>
            </a:r>
            <a:r>
              <a:rPr lang="en-US" altLang="en-US" sz="4400" b="1">
                <a:latin typeface="Titr" pitchFamily="2" charset="-78"/>
                <a:ea typeface="2  Titr"/>
                <a:cs typeface="2  Titr"/>
              </a:rPr>
              <a:t>BCNF </a:t>
            </a:r>
          </a:p>
        </p:txBody>
      </p:sp>
      <p:sp>
        <p:nvSpPr>
          <p:cNvPr id="147458" name="Content Placeholder 2"/>
          <p:cNvSpPr>
            <a:spLocks noGrp="1"/>
          </p:cNvSpPr>
          <p:nvPr>
            <p:ph idx="1"/>
          </p:nvPr>
        </p:nvSpPr>
        <p:spPr>
          <a:xfrm>
            <a:off x="76200" y="1752599"/>
            <a:ext cx="8614756" cy="4777365"/>
          </a:xfrm>
        </p:spPr>
        <p:txBody>
          <a:bodyPr>
            <a:noAutofit/>
          </a:bodyPr>
          <a:lstStyle/>
          <a:p>
            <a:pPr algn="just" rtl="1"/>
            <a:r>
              <a:rPr lang="fa-IR" altLang="en-US" sz="3200" dirty="0">
                <a:ea typeface="Majalla UI"/>
                <a:cs typeface="B Nazanin" panose="00000400000000000000" pitchFamily="2" charset="-78"/>
              </a:rPr>
              <a:t>یک جدول نرمال</a:t>
            </a:r>
            <a:r>
              <a:rPr lang="en-US" altLang="en-US" sz="3200" dirty="0">
                <a:cs typeface="B Nazanin" panose="00000400000000000000" pitchFamily="2" charset="-78"/>
              </a:rPr>
              <a:t>BCNF</a:t>
            </a:r>
            <a:r>
              <a:rPr lang="fa-IR" altLang="en-US" sz="3200" dirty="0">
                <a:ea typeface="Majalla UI"/>
                <a:cs typeface="B Nazanin" panose="00000400000000000000" pitchFamily="2" charset="-78"/>
              </a:rPr>
              <a:t>است اگروتنها اگر کلیه تعیین کننده های (</a:t>
            </a:r>
            <a:r>
              <a:rPr lang="en-US" altLang="en-US" sz="3200" dirty="0">
                <a:cs typeface="B Nazanin" panose="00000400000000000000" pitchFamily="2" charset="-78"/>
              </a:rPr>
              <a:t>Determinant</a:t>
            </a:r>
            <a:r>
              <a:rPr lang="fa-IR" altLang="en-US" sz="3200" dirty="0">
                <a:ea typeface="Majalla UI"/>
                <a:cs typeface="B Nazanin" panose="00000400000000000000" pitchFamily="2" charset="-78"/>
              </a:rPr>
              <a:t>) آن، کلید کاندیدا باشند. یعنی هر رابطه </a:t>
            </a:r>
            <a:r>
              <a:rPr lang="en-US" altLang="en-US" sz="3200" dirty="0">
                <a:cs typeface="B Nazanin" panose="00000400000000000000" pitchFamily="2" charset="-78"/>
              </a:rPr>
              <a:t>A-&gt;B</a:t>
            </a:r>
            <a:r>
              <a:rPr lang="fa-IR" altLang="en-US" sz="3200" dirty="0">
                <a:ea typeface="Majalla UI"/>
                <a:cs typeface="B Nazanin" panose="00000400000000000000" pitchFamily="2" charset="-78"/>
              </a:rPr>
              <a:t> در جدول وجود داشته باشد </a:t>
            </a:r>
            <a:r>
              <a:rPr lang="en-US" altLang="en-US" sz="3200" dirty="0">
                <a:cs typeface="B Nazanin" panose="00000400000000000000" pitchFamily="2" charset="-78"/>
              </a:rPr>
              <a:t>A</a:t>
            </a:r>
            <a:r>
              <a:rPr lang="fa-IR" altLang="en-US" sz="3200" dirty="0">
                <a:ea typeface="Majalla UI"/>
                <a:cs typeface="B Nazanin" panose="00000400000000000000" pitchFamily="2" charset="-78"/>
              </a:rPr>
              <a:t> کلید کاندیدا باشد</a:t>
            </a:r>
            <a:r>
              <a:rPr lang="en-US" altLang="en-US" sz="3200" dirty="0">
                <a:ea typeface="Majalla UI"/>
                <a:cs typeface="B Nazanin" panose="00000400000000000000" pitchFamily="2" charset="-78"/>
              </a:rPr>
              <a:t>.</a:t>
            </a:r>
            <a:endParaRPr lang="fa-IR" altLang="en-US" sz="3200" dirty="0">
              <a:ea typeface="Majalla UI"/>
              <a:cs typeface="B Nazanin" panose="00000400000000000000" pitchFamily="2" charset="-78"/>
            </a:endParaRPr>
          </a:p>
        </p:txBody>
      </p:sp>
      <p:sp>
        <p:nvSpPr>
          <p:cNvPr id="3" name="Slide Number Placeholder 2">
            <a:extLst>
              <a:ext uri="{FF2B5EF4-FFF2-40B4-BE49-F238E27FC236}">
                <a16:creationId xmlns:a16="http://schemas.microsoft.com/office/drawing/2014/main" id="{3912FC48-26F3-4848-BBE3-05E4687419AB}"/>
              </a:ext>
            </a:extLst>
          </p:cNvPr>
          <p:cNvSpPr>
            <a:spLocks noGrp="1"/>
          </p:cNvSpPr>
          <p:nvPr>
            <p:ph type="sldNum" sz="quarter" idx="4294967295"/>
          </p:nvPr>
        </p:nvSpPr>
        <p:spPr>
          <a:xfrm>
            <a:off x="7994650" y="6334125"/>
            <a:ext cx="1149350" cy="365125"/>
          </a:xfrm>
        </p:spPr>
        <p:txBody>
          <a:bodyPr/>
          <a:lstStyle/>
          <a:p>
            <a:fld id="{9B1BEC6B-D08C-4686-9D99-35ADA0E9E6CD}" type="slidenum">
              <a:rPr lang="en-US" smtClean="0"/>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7459" name="Title 1"/>
          <p:cNvSpPr>
            <a:spLocks noGrp="1"/>
          </p:cNvSpPr>
          <p:nvPr>
            <p:ph type="title"/>
          </p:nvPr>
        </p:nvSpPr>
        <p:spPr>
          <a:xfrm>
            <a:off x="465838" y="0"/>
            <a:ext cx="8229600" cy="1143000"/>
          </a:xfrm>
        </p:spPr>
        <p:txBody>
          <a:bodyPr anchor="ctr"/>
          <a:lstStyle/>
          <a:p>
            <a:pPr algn="ctr" rtl="1"/>
            <a:r>
              <a:rPr lang="fa-IR" altLang="en-US" sz="4400" b="1" dirty="0">
                <a:latin typeface="Titr" pitchFamily="2" charset="-78"/>
                <a:ea typeface="2  Titr"/>
                <a:cs typeface="2  Titr"/>
              </a:rPr>
              <a:t>جداول نرمال</a:t>
            </a:r>
            <a:r>
              <a:rPr lang="en-US" altLang="en-US" sz="4400" b="1" dirty="0">
                <a:latin typeface="Titr" pitchFamily="2" charset="-78"/>
                <a:ea typeface="2  Titr"/>
                <a:cs typeface="2  Titr"/>
              </a:rPr>
              <a:t>BCNF </a:t>
            </a:r>
          </a:p>
        </p:txBody>
      </p:sp>
      <p:sp>
        <p:nvSpPr>
          <p:cNvPr id="147458" name="Content Placeholder 2"/>
          <p:cNvSpPr>
            <a:spLocks noGrp="1"/>
          </p:cNvSpPr>
          <p:nvPr>
            <p:ph idx="1"/>
          </p:nvPr>
        </p:nvSpPr>
        <p:spPr>
          <a:xfrm>
            <a:off x="76200" y="1143000"/>
            <a:ext cx="8763000" cy="5386965"/>
          </a:xfrm>
        </p:spPr>
        <p:txBody>
          <a:bodyPr>
            <a:noAutofit/>
          </a:bodyPr>
          <a:lstStyle/>
          <a:p>
            <a:pPr marL="0" marR="0" algn="r" rtl="1">
              <a:lnSpc>
                <a:spcPct val="107000"/>
              </a:lnSpc>
              <a:spcBef>
                <a:spcPts val="0"/>
              </a:spcBef>
              <a:spcAft>
                <a:spcPts val="800"/>
              </a:spcAft>
            </a:pPr>
            <a:r>
              <a:rPr lang="en-US" sz="2400" b="1" dirty="0">
                <a:effectLst/>
                <a:latin typeface="Times New Roman" panose="02020603050405020304" pitchFamily="18" charset="0"/>
                <a:ea typeface="Times New Roman" panose="02020603050405020304" pitchFamily="18" charset="0"/>
                <a:cs typeface="B Nazanin" panose="00000400000000000000" pitchFamily="2" charset="-78"/>
              </a:rPr>
              <a:t>BCNF (Boyce-Codd Normal Form)</a:t>
            </a:r>
            <a:r>
              <a:rPr lang="en-US" sz="2400" dirty="0">
                <a:effectLst/>
                <a:latin typeface="Times New Roman" panose="02020603050405020304" pitchFamily="18" charset="0"/>
                <a:ea typeface="Times New Roman" panose="02020603050405020304" pitchFamily="18" charset="0"/>
                <a:cs typeface="B Nazanin" panose="00000400000000000000" pitchFamily="2" charset="-78"/>
              </a:rPr>
              <a:t> </a:t>
            </a:r>
            <a:r>
              <a:rPr lang="ar-SA" sz="2400" dirty="0">
                <a:effectLst/>
                <a:latin typeface="Times New Roman" panose="02020603050405020304" pitchFamily="18" charset="0"/>
                <a:ea typeface="Times New Roman" panose="02020603050405020304" pitchFamily="18" charset="0"/>
                <a:cs typeface="B Nazanin" panose="00000400000000000000" pitchFamily="2" charset="-78"/>
              </a:rPr>
              <a:t>یکی از سطوح بالای نرمال‌سازی در پایگاه داده است که برای کاهش انحرافات و مشکلات ناشی از تکرار داده‌ها طراحی شده است</a:t>
            </a:r>
            <a:r>
              <a:rPr lang="en-US" sz="2400" dirty="0">
                <a:effectLst/>
                <a:latin typeface="Times New Roman" panose="02020603050405020304" pitchFamily="18" charset="0"/>
                <a:ea typeface="Times New Roman" panose="02020603050405020304" pitchFamily="18" charset="0"/>
                <a:cs typeface="B Nazanin" panose="00000400000000000000" pitchFamily="2" charset="-78"/>
              </a:rPr>
              <a:t>. BCNF </a:t>
            </a:r>
            <a:r>
              <a:rPr lang="ar-SA" sz="2400" dirty="0">
                <a:effectLst/>
                <a:latin typeface="Times New Roman" panose="02020603050405020304" pitchFamily="18" charset="0"/>
                <a:ea typeface="Times New Roman" panose="02020603050405020304" pitchFamily="18" charset="0"/>
                <a:cs typeface="B Nazanin" panose="00000400000000000000" pitchFamily="2" charset="-78"/>
              </a:rPr>
              <a:t>در حقیقت یک شکل اصلاح‌شده از </a:t>
            </a:r>
            <a:r>
              <a:rPr lang="en-US" sz="2400" b="1" dirty="0">
                <a:effectLst/>
                <a:latin typeface="Times New Roman" panose="02020603050405020304" pitchFamily="18" charset="0"/>
                <a:ea typeface="Times New Roman" panose="02020603050405020304" pitchFamily="18" charset="0"/>
                <a:cs typeface="B Nazanin" panose="00000400000000000000" pitchFamily="2" charset="-78"/>
              </a:rPr>
              <a:t>3NF (Third Normal Form)</a:t>
            </a:r>
            <a:r>
              <a:rPr lang="en-US" sz="2400" dirty="0">
                <a:effectLst/>
                <a:latin typeface="Times New Roman" panose="02020603050405020304" pitchFamily="18" charset="0"/>
                <a:ea typeface="Times New Roman" panose="02020603050405020304" pitchFamily="18" charset="0"/>
                <a:cs typeface="B Nazanin" panose="00000400000000000000" pitchFamily="2" charset="-78"/>
              </a:rPr>
              <a:t> </a:t>
            </a:r>
            <a:r>
              <a:rPr lang="ar-SA" sz="2400" dirty="0">
                <a:effectLst/>
                <a:latin typeface="Times New Roman" panose="02020603050405020304" pitchFamily="18" charset="0"/>
                <a:ea typeface="Times New Roman" panose="02020603050405020304" pitchFamily="18" charset="0"/>
                <a:cs typeface="B Nazanin" panose="00000400000000000000" pitchFamily="2" charset="-78"/>
              </a:rPr>
              <a:t>است که شرایط سختگیرانه‌تری را برای روابط در پایگاه داده وضع می‌کند</a:t>
            </a:r>
            <a:r>
              <a:rPr lang="en-US" sz="2400" dirty="0">
                <a:effectLst/>
                <a:latin typeface="Times New Roman" panose="02020603050405020304" pitchFamily="18" charset="0"/>
                <a:ea typeface="Times New Roman" panose="02020603050405020304" pitchFamily="18" charset="0"/>
                <a:cs typeface="B Nazanin" panose="00000400000000000000" pitchFamily="2" charset="-78"/>
              </a:rPr>
              <a:t>.</a:t>
            </a:r>
          </a:p>
          <a:p>
            <a:pPr marL="0" marR="0" algn="r" rtl="1">
              <a:lnSpc>
                <a:spcPct val="107000"/>
              </a:lnSpc>
              <a:spcBef>
                <a:spcPts val="0"/>
              </a:spcBef>
              <a:spcAft>
                <a:spcPts val="800"/>
              </a:spcAft>
            </a:pPr>
            <a:r>
              <a:rPr lang="ar-SA" sz="2400" b="1" dirty="0">
                <a:effectLst/>
                <a:latin typeface="Times New Roman" panose="02020603050405020304" pitchFamily="18" charset="0"/>
                <a:ea typeface="Times New Roman" panose="02020603050405020304" pitchFamily="18" charset="0"/>
                <a:cs typeface="B Nazanin" panose="00000400000000000000" pitchFamily="2" charset="-78"/>
              </a:rPr>
              <a:t>شرایط</a:t>
            </a:r>
            <a:r>
              <a:rPr lang="en-US" sz="2400" b="1" dirty="0">
                <a:effectLst/>
                <a:latin typeface="Times New Roman" panose="02020603050405020304" pitchFamily="18" charset="0"/>
                <a:ea typeface="Times New Roman" panose="02020603050405020304" pitchFamily="18" charset="0"/>
                <a:cs typeface="B Nazanin" panose="00000400000000000000" pitchFamily="2" charset="-78"/>
              </a:rPr>
              <a:t> BCNF:</a:t>
            </a:r>
            <a:endParaRPr lang="en-US" sz="2400" dirty="0">
              <a:effectLst/>
              <a:latin typeface="Calibri" panose="020F0502020204030204" pitchFamily="34" charset="0"/>
              <a:ea typeface="Calibri" panose="020F0502020204030204" pitchFamily="34" charset="0"/>
              <a:cs typeface="Arial" panose="020B0604020202020204" pitchFamily="34" charset="0"/>
            </a:endParaRPr>
          </a:p>
          <a:p>
            <a:pPr marL="0" marR="0" algn="r" rtl="1">
              <a:lnSpc>
                <a:spcPct val="107000"/>
              </a:lnSpc>
              <a:spcBef>
                <a:spcPts val="0"/>
              </a:spcBef>
              <a:spcAft>
                <a:spcPts val="800"/>
              </a:spcAft>
            </a:pPr>
            <a:r>
              <a:rPr lang="ar-SA" sz="2400" dirty="0">
                <a:effectLst/>
                <a:latin typeface="Times New Roman" panose="02020603050405020304" pitchFamily="18" charset="0"/>
                <a:ea typeface="Times New Roman" panose="02020603050405020304" pitchFamily="18" charset="0"/>
                <a:cs typeface="B Nazanin" panose="00000400000000000000" pitchFamily="2" charset="-78"/>
              </a:rPr>
              <a:t>یک رابطه</a:t>
            </a:r>
            <a:r>
              <a:rPr lang="en-US" sz="2400" dirty="0">
                <a:effectLst/>
                <a:latin typeface="Times New Roman" panose="02020603050405020304" pitchFamily="18" charset="0"/>
                <a:ea typeface="Times New Roman" panose="02020603050405020304" pitchFamily="18" charset="0"/>
                <a:cs typeface="B Nazanin" panose="00000400000000000000" pitchFamily="2" charset="-78"/>
              </a:rPr>
              <a:t> (Table) </a:t>
            </a:r>
            <a:r>
              <a:rPr lang="ar-SA" sz="2400" dirty="0">
                <a:effectLst/>
                <a:latin typeface="Times New Roman" panose="02020603050405020304" pitchFamily="18" charset="0"/>
                <a:ea typeface="Times New Roman" panose="02020603050405020304" pitchFamily="18" charset="0"/>
                <a:cs typeface="B Nazanin" panose="00000400000000000000" pitchFamily="2" charset="-78"/>
              </a:rPr>
              <a:t>در</a:t>
            </a:r>
            <a:r>
              <a:rPr lang="en-US" sz="2400" dirty="0">
                <a:effectLst/>
                <a:latin typeface="Times New Roman" panose="02020603050405020304" pitchFamily="18" charset="0"/>
                <a:ea typeface="Times New Roman" panose="02020603050405020304" pitchFamily="18" charset="0"/>
                <a:cs typeface="B Nazanin" panose="00000400000000000000" pitchFamily="2" charset="-78"/>
              </a:rPr>
              <a:t> BCNF </a:t>
            </a:r>
            <a:r>
              <a:rPr lang="ar-SA" sz="2400" dirty="0">
                <a:effectLst/>
                <a:latin typeface="Times New Roman" panose="02020603050405020304" pitchFamily="18" charset="0"/>
                <a:ea typeface="Times New Roman" panose="02020603050405020304" pitchFamily="18" charset="0"/>
                <a:cs typeface="B Nazanin" panose="00000400000000000000" pitchFamily="2" charset="-78"/>
              </a:rPr>
              <a:t>قرار دارد اگر برای هر وابستگی تابعی </a:t>
            </a:r>
            <a:r>
              <a:rPr lang="en-US" sz="2400" b="1" dirty="0">
                <a:effectLst/>
                <a:latin typeface="Times New Roman" panose="02020603050405020304" pitchFamily="18" charset="0"/>
                <a:ea typeface="Times New Roman" panose="02020603050405020304" pitchFamily="18" charset="0"/>
                <a:cs typeface="B Nazanin" panose="00000400000000000000" pitchFamily="2" charset="-78"/>
              </a:rPr>
              <a:t>X → Y</a:t>
            </a:r>
            <a:r>
              <a:rPr lang="en-US" sz="2400" dirty="0">
                <a:effectLst/>
                <a:latin typeface="Times New Roman" panose="02020603050405020304" pitchFamily="18" charset="0"/>
                <a:ea typeface="Times New Roman" panose="02020603050405020304" pitchFamily="18" charset="0"/>
                <a:cs typeface="B Nazanin" panose="00000400000000000000" pitchFamily="2" charset="-78"/>
              </a:rPr>
              <a:t> </a:t>
            </a:r>
            <a:r>
              <a:rPr lang="ar-SA" sz="2400" dirty="0">
                <a:effectLst/>
                <a:latin typeface="Times New Roman" panose="02020603050405020304" pitchFamily="18" charset="0"/>
                <a:ea typeface="Times New Roman" panose="02020603050405020304" pitchFamily="18" charset="0"/>
                <a:cs typeface="B Nazanin" panose="00000400000000000000" pitchFamily="2" charset="-78"/>
              </a:rPr>
              <a:t>در آن رابطه، یکی از شرایط زیر برقرار باشد</a:t>
            </a:r>
            <a:r>
              <a:rPr lang="en-US" sz="2400" dirty="0">
                <a:effectLst/>
                <a:latin typeface="Times New Roman" panose="02020603050405020304" pitchFamily="18" charset="0"/>
                <a:ea typeface="Times New Roman" panose="02020603050405020304" pitchFamily="18" charset="0"/>
                <a:cs typeface="B Nazanin" panose="00000400000000000000" pitchFamily="2" charset="-78"/>
              </a:rPr>
              <a:t>:</a:t>
            </a:r>
            <a:endParaRPr lang="en-US" sz="2400" dirty="0">
              <a:effectLst/>
              <a:latin typeface="Calibri" panose="020F0502020204030204" pitchFamily="34" charset="0"/>
              <a:ea typeface="Calibri" panose="020F0502020204030204" pitchFamily="34" charset="0"/>
              <a:cs typeface="Arial" panose="020B0604020202020204" pitchFamily="34" charset="0"/>
            </a:endParaRPr>
          </a:p>
          <a:p>
            <a:pPr marL="342900" marR="0" lvl="0" indent="-342900" algn="r" rtl="1">
              <a:lnSpc>
                <a:spcPct val="107000"/>
              </a:lnSpc>
              <a:spcBef>
                <a:spcPts val="0"/>
              </a:spcBef>
              <a:spcAft>
                <a:spcPts val="800"/>
              </a:spcAft>
              <a:buFont typeface="+mj-lt"/>
              <a:buAutoNum type="arabicPeriod"/>
              <a:tabLst>
                <a:tab pos="457200" algn="l"/>
              </a:tabLst>
            </a:pPr>
            <a:r>
              <a:rPr lang="en-US" sz="2400" b="1" dirty="0">
                <a:effectLst/>
                <a:latin typeface="Times New Roman" panose="02020603050405020304" pitchFamily="18" charset="0"/>
                <a:ea typeface="Times New Roman" panose="02020603050405020304" pitchFamily="18" charset="0"/>
                <a:cs typeface="B Nazanin" panose="00000400000000000000" pitchFamily="2" charset="-78"/>
              </a:rPr>
              <a:t>X</a:t>
            </a:r>
            <a:r>
              <a:rPr lang="en-US" sz="2400" dirty="0">
                <a:effectLst/>
                <a:latin typeface="Times New Roman" panose="02020603050405020304" pitchFamily="18" charset="0"/>
                <a:ea typeface="Times New Roman" panose="02020603050405020304" pitchFamily="18" charset="0"/>
                <a:cs typeface="B Nazanin" panose="00000400000000000000" pitchFamily="2" charset="-78"/>
              </a:rPr>
              <a:t> </a:t>
            </a:r>
            <a:r>
              <a:rPr lang="ar-SA" sz="2400" dirty="0">
                <a:effectLst/>
                <a:latin typeface="Times New Roman" panose="02020603050405020304" pitchFamily="18" charset="0"/>
                <a:ea typeface="Times New Roman" panose="02020603050405020304" pitchFamily="18" charset="0"/>
                <a:cs typeface="B Nazanin" panose="00000400000000000000" pitchFamily="2" charset="-78"/>
              </a:rPr>
              <a:t>باید یک سوپرکلید باشد، یعنی مجموعه‌ای از ویژگی‌ها</a:t>
            </a:r>
            <a:r>
              <a:rPr lang="en-US" sz="2400" dirty="0">
                <a:effectLst/>
                <a:latin typeface="Times New Roman" panose="02020603050405020304" pitchFamily="18" charset="0"/>
                <a:ea typeface="Times New Roman" panose="02020603050405020304" pitchFamily="18" charset="0"/>
                <a:cs typeface="B Nazanin" panose="00000400000000000000" pitchFamily="2" charset="-78"/>
              </a:rPr>
              <a:t> (attributes) </a:t>
            </a:r>
            <a:r>
              <a:rPr lang="ar-SA" sz="2400" dirty="0">
                <a:effectLst/>
                <a:latin typeface="Times New Roman" panose="02020603050405020304" pitchFamily="18" charset="0"/>
                <a:ea typeface="Times New Roman" panose="02020603050405020304" pitchFamily="18" charset="0"/>
                <a:cs typeface="B Nazanin" panose="00000400000000000000" pitchFamily="2" charset="-78"/>
              </a:rPr>
              <a:t>که می‌تواند به طور منحصر به فرد هر سطر را شناسایی کند</a:t>
            </a:r>
            <a:r>
              <a:rPr lang="en-US" sz="2400" dirty="0">
                <a:effectLst/>
                <a:latin typeface="Times New Roman" panose="02020603050405020304" pitchFamily="18" charset="0"/>
                <a:ea typeface="Times New Roman" panose="02020603050405020304" pitchFamily="18" charset="0"/>
                <a:cs typeface="B Nazanin" panose="00000400000000000000" pitchFamily="2" charset="-78"/>
              </a:rPr>
              <a:t>.</a:t>
            </a:r>
            <a:endParaRPr lang="en-US" sz="2400" dirty="0">
              <a:effectLst/>
              <a:latin typeface="Calibri" panose="020F0502020204030204" pitchFamily="34" charset="0"/>
              <a:ea typeface="Calibri" panose="020F0502020204030204" pitchFamily="34" charset="0"/>
              <a:cs typeface="Arial" panose="020B0604020202020204" pitchFamily="34" charset="0"/>
            </a:endParaRPr>
          </a:p>
          <a:p>
            <a:pPr marL="342900" marR="0" lvl="0" indent="-342900" algn="r" rtl="1">
              <a:lnSpc>
                <a:spcPct val="107000"/>
              </a:lnSpc>
              <a:spcBef>
                <a:spcPts val="0"/>
              </a:spcBef>
              <a:spcAft>
                <a:spcPts val="800"/>
              </a:spcAft>
              <a:buFont typeface="+mj-lt"/>
              <a:buAutoNum type="arabicPeriod"/>
              <a:tabLst>
                <a:tab pos="457200" algn="l"/>
              </a:tabLst>
            </a:pPr>
            <a:r>
              <a:rPr lang="ar-SA" sz="2400" dirty="0">
                <a:effectLst/>
                <a:latin typeface="Times New Roman" panose="02020603050405020304" pitchFamily="18" charset="0"/>
                <a:ea typeface="Times New Roman" panose="02020603050405020304" pitchFamily="18" charset="0"/>
                <a:cs typeface="B Nazanin" panose="00000400000000000000" pitchFamily="2" charset="-78"/>
              </a:rPr>
              <a:t>در غیر این صورت، باید وابستگی‌های غیرضروری (جزئی) وجود نداشته باشد</a:t>
            </a:r>
            <a:r>
              <a:rPr lang="en-US" sz="2400" dirty="0">
                <a:effectLst/>
                <a:latin typeface="Times New Roman" panose="02020603050405020304" pitchFamily="18" charset="0"/>
                <a:ea typeface="Times New Roman" panose="02020603050405020304" pitchFamily="18" charset="0"/>
                <a:cs typeface="B Nazanin" panose="00000400000000000000" pitchFamily="2" charset="-78"/>
              </a:rPr>
              <a:t>.</a:t>
            </a:r>
            <a:endParaRPr lang="en-US" sz="2400" dirty="0">
              <a:effectLst/>
              <a:latin typeface="Calibri" panose="020F0502020204030204" pitchFamily="34" charset="0"/>
              <a:ea typeface="Calibri" panose="020F0502020204030204" pitchFamily="34" charset="0"/>
              <a:cs typeface="Arial" panose="020B0604020202020204" pitchFamily="34" charset="0"/>
            </a:endParaRPr>
          </a:p>
          <a:p>
            <a:pPr marL="0" marR="0" algn="r" rtl="1">
              <a:lnSpc>
                <a:spcPct val="107000"/>
              </a:lnSpc>
              <a:spcBef>
                <a:spcPts val="0"/>
              </a:spcBef>
              <a:spcAft>
                <a:spcPts val="800"/>
              </a:spcAft>
            </a:pPr>
            <a:endParaRPr lang="en-US" sz="2400" dirty="0">
              <a:effectLst/>
              <a:latin typeface="Calibri" panose="020F0502020204030204" pitchFamily="34" charset="0"/>
              <a:ea typeface="Calibri" panose="020F0502020204030204" pitchFamily="34" charset="0"/>
              <a:cs typeface="Arial" panose="020B0604020202020204" pitchFamily="34" charset="0"/>
            </a:endParaRPr>
          </a:p>
        </p:txBody>
      </p:sp>
      <p:sp>
        <p:nvSpPr>
          <p:cNvPr id="3" name="Slide Number Placeholder 2">
            <a:extLst>
              <a:ext uri="{FF2B5EF4-FFF2-40B4-BE49-F238E27FC236}">
                <a16:creationId xmlns:a16="http://schemas.microsoft.com/office/drawing/2014/main" id="{3912FC48-26F3-4848-BBE3-05E4687419AB}"/>
              </a:ext>
            </a:extLst>
          </p:cNvPr>
          <p:cNvSpPr>
            <a:spLocks noGrp="1"/>
          </p:cNvSpPr>
          <p:nvPr>
            <p:ph type="sldNum" sz="quarter" idx="4294967295"/>
          </p:nvPr>
        </p:nvSpPr>
        <p:spPr>
          <a:xfrm>
            <a:off x="7994650" y="6334125"/>
            <a:ext cx="1149350" cy="365125"/>
          </a:xfrm>
        </p:spPr>
        <p:txBody>
          <a:bodyPr/>
          <a:lstStyle/>
          <a:p>
            <a:fld id="{9B1BEC6B-D08C-4686-9D99-35ADA0E9E6CD}" type="slidenum">
              <a:rPr lang="en-US" smtClean="0"/>
              <a:t>35</a:t>
            </a:fld>
            <a:endParaRPr lang="en-US"/>
          </a:p>
        </p:txBody>
      </p:sp>
    </p:spTree>
    <p:extLst>
      <p:ext uri="{BB962C8B-B14F-4D97-AF65-F5344CB8AC3E}">
        <p14:creationId xmlns:p14="http://schemas.microsoft.com/office/powerpoint/2010/main" val="1544905466"/>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7459" name="Title 1"/>
          <p:cNvSpPr>
            <a:spLocks noGrp="1"/>
          </p:cNvSpPr>
          <p:nvPr>
            <p:ph type="title"/>
          </p:nvPr>
        </p:nvSpPr>
        <p:spPr>
          <a:xfrm>
            <a:off x="461356" y="102124"/>
            <a:ext cx="8229600" cy="1143000"/>
          </a:xfrm>
        </p:spPr>
        <p:txBody>
          <a:bodyPr anchor="ctr"/>
          <a:lstStyle/>
          <a:p>
            <a:pPr algn="ctr" rtl="1"/>
            <a:r>
              <a:rPr lang="fa-IR" altLang="en-US" sz="4400" b="1" dirty="0">
                <a:latin typeface="Titr" pitchFamily="2" charset="-78"/>
                <a:ea typeface="2  Titr"/>
                <a:cs typeface="2  Titr"/>
              </a:rPr>
              <a:t>جداول نرمال</a:t>
            </a:r>
            <a:r>
              <a:rPr lang="en-US" altLang="en-US" sz="4400" b="1" dirty="0">
                <a:latin typeface="Titr" pitchFamily="2" charset="-78"/>
                <a:ea typeface="2  Titr"/>
                <a:cs typeface="2  Titr"/>
              </a:rPr>
              <a:t>BCNF </a:t>
            </a:r>
          </a:p>
        </p:txBody>
      </p:sp>
      <p:sp>
        <p:nvSpPr>
          <p:cNvPr id="147458" name="Content Placeholder 2"/>
          <p:cNvSpPr>
            <a:spLocks noGrp="1"/>
          </p:cNvSpPr>
          <p:nvPr>
            <p:ph idx="1"/>
          </p:nvPr>
        </p:nvSpPr>
        <p:spPr>
          <a:xfrm>
            <a:off x="76200" y="1066801"/>
            <a:ext cx="8686800" cy="5463164"/>
          </a:xfrm>
        </p:spPr>
        <p:txBody>
          <a:bodyPr>
            <a:noAutofit/>
          </a:bodyPr>
          <a:lstStyle/>
          <a:p>
            <a:pPr marL="0" marR="0" lvl="0" indent="0" algn="r" defTabSz="914400" rtl="1" eaLnBrk="0" fontAlgn="base" latinLnBrk="0" hangingPunct="0">
              <a:lnSpc>
                <a:spcPct val="100000"/>
              </a:lnSpc>
              <a:spcBef>
                <a:spcPct val="0"/>
              </a:spcBef>
              <a:spcAft>
                <a:spcPct val="0"/>
              </a:spcAft>
              <a:buClrTx/>
              <a:buSzTx/>
              <a:buFontTx/>
              <a:buNone/>
              <a:tabLst/>
            </a:pPr>
            <a:r>
              <a:rPr kumimoji="0" lang="ar-SA" altLang="en-US" sz="2400" b="0" i="0" u="none" strike="noStrike" cap="none" normalizeH="0" baseline="0" dirty="0">
                <a:ln>
                  <a:noFill/>
                </a:ln>
                <a:solidFill>
                  <a:schemeClr val="tx1"/>
                </a:solidFill>
                <a:effectLst/>
                <a:latin typeface="Times New Roman" panose="02020603050405020304" pitchFamily="18" charset="0"/>
                <a:ea typeface="Times New Roman" panose="02020603050405020304" pitchFamily="18" charset="0"/>
                <a:cs typeface="B Nazanin" panose="00000400000000000000" pitchFamily="2" charset="-78"/>
              </a:rPr>
              <a:t>فرض کنید یک جدول به نام </a:t>
            </a:r>
            <a:r>
              <a:rPr kumimoji="0" lang="en-US" altLang="en-US" sz="2400" b="1" i="0" u="none" strike="noStrike" cap="none" normalizeH="0" baseline="0" dirty="0" err="1">
                <a:ln>
                  <a:noFill/>
                </a:ln>
                <a:solidFill>
                  <a:schemeClr val="tx1"/>
                </a:solidFill>
                <a:effectLst/>
                <a:latin typeface="Calibri" panose="020F0502020204030204" pitchFamily="34" charset="0"/>
                <a:ea typeface="Times New Roman" panose="02020603050405020304" pitchFamily="18" charset="0"/>
                <a:cs typeface="B Nazanin" panose="00000400000000000000" pitchFamily="2" charset="-78"/>
              </a:rPr>
              <a:t>Student_Course</a:t>
            </a:r>
            <a:r>
              <a:rPr kumimoji="0" lang="en-US" altLang="en-US" sz="2400" b="0" i="0" u="none" strike="noStrike" cap="none" normalizeH="0" baseline="0" dirty="0">
                <a:ln>
                  <a:noFill/>
                </a:ln>
                <a:solidFill>
                  <a:schemeClr val="tx1"/>
                </a:solidFill>
                <a:effectLst/>
                <a:latin typeface="Calibri" panose="020F0502020204030204" pitchFamily="34" charset="0"/>
                <a:ea typeface="Times New Roman" panose="02020603050405020304" pitchFamily="18" charset="0"/>
                <a:cs typeface="B Nazanin" panose="00000400000000000000" pitchFamily="2" charset="-78"/>
              </a:rPr>
              <a:t> </a:t>
            </a:r>
            <a:r>
              <a:rPr kumimoji="0" lang="ar-SA" altLang="en-US" sz="2400" b="0" i="0" u="none" strike="noStrike" cap="none" normalizeH="0" baseline="0" dirty="0">
                <a:ln>
                  <a:noFill/>
                </a:ln>
                <a:solidFill>
                  <a:schemeClr val="tx1"/>
                </a:solidFill>
                <a:effectLst/>
                <a:latin typeface="Times New Roman" panose="02020603050405020304" pitchFamily="18" charset="0"/>
                <a:ea typeface="Times New Roman" panose="02020603050405020304" pitchFamily="18" charset="0"/>
                <a:cs typeface="B Nazanin" panose="00000400000000000000" pitchFamily="2" charset="-78"/>
              </a:rPr>
              <a:t>داریم که اطلاعات مربوط به دانشجویان و دوره‌هایی که در آن‌ها ثبت‌نام کرده‌اند را ذخیره می‌کند</a:t>
            </a:r>
            <a:r>
              <a:rPr kumimoji="0" lang="en-US" altLang="en-US" sz="2400" b="0" i="0" u="none" strike="noStrike" cap="none" normalizeH="0" baseline="0" dirty="0">
                <a:ln>
                  <a:noFill/>
                </a:ln>
                <a:solidFill>
                  <a:schemeClr val="tx1"/>
                </a:solidFill>
                <a:effectLst/>
                <a:latin typeface="Calibri" panose="020F0502020204030204" pitchFamily="34" charset="0"/>
                <a:ea typeface="Times New Roman" panose="02020603050405020304" pitchFamily="18" charset="0"/>
                <a:cs typeface="B Nazanin" panose="00000400000000000000" pitchFamily="2" charset="-78"/>
              </a:rPr>
              <a:t>:</a:t>
            </a:r>
            <a:endParaRPr kumimoji="0" lang="en-US" altLang="en-US" sz="1000" b="0" i="0" u="none" strike="noStrike" cap="none" normalizeH="0" baseline="0" dirty="0">
              <a:ln>
                <a:noFill/>
              </a:ln>
              <a:solidFill>
                <a:schemeClr val="tx1"/>
              </a:solidFill>
              <a:effectLst/>
            </a:endParaRPr>
          </a:p>
          <a:p>
            <a:pPr marL="0" marR="0" lvl="0" indent="0" algn="r" defTabSz="914400" rtl="1" eaLnBrk="0" fontAlgn="base" latinLnBrk="0" hangingPunct="0">
              <a:lnSpc>
                <a:spcPct val="100000"/>
              </a:lnSpc>
              <a:spcBef>
                <a:spcPct val="0"/>
              </a:spcBef>
              <a:spcAft>
                <a:spcPct val="0"/>
              </a:spcAft>
              <a:buClrTx/>
              <a:buSzTx/>
              <a:buFontTx/>
              <a:buNone/>
              <a:tabLst/>
            </a:pPr>
            <a:r>
              <a:rPr kumimoji="0" lang="ar-SA" altLang="en-US" sz="2400" dirty="0">
                <a:latin typeface="Times New Roman" panose="02020603050405020304" pitchFamily="18" charset="0"/>
              </a:rPr>
              <a:t>در این جدول، وابستگی‌های تابعی </a:t>
            </a:r>
            <a:r>
              <a:rPr kumimoji="0" lang="ar-SA" altLang="en-US" sz="2400" b="0" i="0" u="none" strike="noStrike" cap="none" normalizeH="0" baseline="0" dirty="0">
                <a:ln>
                  <a:noFill/>
                </a:ln>
                <a:solidFill>
                  <a:schemeClr val="tx1"/>
                </a:solidFill>
                <a:effectLst/>
                <a:latin typeface="Times New Roman" panose="02020603050405020304" pitchFamily="18" charset="0"/>
                <a:ea typeface="Times New Roman" panose="02020603050405020304" pitchFamily="18" charset="0"/>
                <a:cs typeface="B Nazanin" panose="00000400000000000000" pitchFamily="2" charset="-78"/>
              </a:rPr>
              <a:t>به شکل زیر هستند</a:t>
            </a:r>
            <a:r>
              <a:rPr kumimoji="0" lang="en-US" altLang="en-US" sz="2400" b="0" i="0" u="none" strike="noStrike" cap="none" normalizeH="0" baseline="0" dirty="0">
                <a:ln>
                  <a:noFill/>
                </a:ln>
                <a:solidFill>
                  <a:schemeClr val="tx1"/>
                </a:solidFill>
                <a:effectLst/>
                <a:latin typeface="Calibri" panose="020F0502020204030204" pitchFamily="34" charset="0"/>
                <a:ea typeface="Times New Roman" panose="02020603050405020304" pitchFamily="18" charset="0"/>
                <a:cs typeface="B Nazanin" panose="00000400000000000000" pitchFamily="2" charset="-78"/>
              </a:rPr>
              <a:t>:</a:t>
            </a:r>
            <a:endParaRPr kumimoji="0" lang="en-US" altLang="en-US" sz="1000" b="0" i="0" u="none" strike="noStrike" cap="none" normalizeH="0" baseline="0" dirty="0">
              <a:ln>
                <a:noFill/>
              </a:ln>
              <a:solidFill>
                <a:schemeClr val="tx1"/>
              </a:solidFill>
              <a:effectLst/>
            </a:endParaRPr>
          </a:p>
          <a:p>
            <a:pPr marL="0" marR="0" lvl="0" indent="0" algn="r" defTabSz="914400" rtl="1" eaLnBrk="0" fontAlgn="base" latinLnBrk="0" hangingPunct="0">
              <a:lnSpc>
                <a:spcPct val="100000"/>
              </a:lnSpc>
              <a:spcBef>
                <a:spcPct val="0"/>
              </a:spcBef>
              <a:spcAft>
                <a:spcPct val="0"/>
              </a:spcAft>
              <a:buClrTx/>
              <a:buSzTx/>
              <a:buFontTx/>
              <a:buAutoNum type="arabicPeriod"/>
              <a:tabLst/>
            </a:pPr>
            <a:r>
              <a:rPr kumimoji="0" lang="en-US" altLang="en-US" sz="2400" b="1" i="0" u="none" strike="noStrike" cap="none" normalizeH="0" baseline="0" dirty="0" err="1">
                <a:ln>
                  <a:noFill/>
                </a:ln>
                <a:solidFill>
                  <a:schemeClr val="tx1"/>
                </a:solidFill>
                <a:effectLst/>
                <a:latin typeface="Calibri" panose="020F0502020204030204" pitchFamily="34" charset="0"/>
                <a:ea typeface="Times New Roman" panose="02020603050405020304" pitchFamily="18" charset="0"/>
                <a:cs typeface="B Nazanin" panose="00000400000000000000" pitchFamily="2" charset="-78"/>
              </a:rPr>
              <a:t>Student_ID</a:t>
            </a:r>
            <a:r>
              <a:rPr kumimoji="0" lang="en-US" altLang="en-US" sz="2400" b="1" i="0" u="none" strike="noStrike" cap="none" normalizeH="0" baseline="0" dirty="0">
                <a:ln>
                  <a:noFill/>
                </a:ln>
                <a:solidFill>
                  <a:schemeClr val="tx1"/>
                </a:solidFill>
                <a:effectLst/>
                <a:latin typeface="Calibri" panose="020F0502020204030204" pitchFamily="34" charset="0"/>
                <a:ea typeface="Times New Roman" panose="02020603050405020304" pitchFamily="18" charset="0"/>
                <a:cs typeface="B Nazanin" panose="00000400000000000000" pitchFamily="2" charset="-78"/>
              </a:rPr>
              <a:t>, </a:t>
            </a:r>
            <a:r>
              <a:rPr kumimoji="0" lang="en-US" altLang="en-US" sz="2400" b="1" i="0" u="none" strike="noStrike" cap="none" normalizeH="0" baseline="0" dirty="0" err="1">
                <a:ln>
                  <a:noFill/>
                </a:ln>
                <a:solidFill>
                  <a:schemeClr val="tx1"/>
                </a:solidFill>
                <a:effectLst/>
                <a:latin typeface="Calibri" panose="020F0502020204030204" pitchFamily="34" charset="0"/>
                <a:ea typeface="Times New Roman" panose="02020603050405020304" pitchFamily="18" charset="0"/>
                <a:cs typeface="B Nazanin" panose="00000400000000000000" pitchFamily="2" charset="-78"/>
              </a:rPr>
              <a:t>Course_ID</a:t>
            </a:r>
            <a:r>
              <a:rPr kumimoji="0" lang="en-US" altLang="en-US" sz="2400" b="1" i="0" u="none" strike="noStrike" cap="none" normalizeH="0" baseline="0" dirty="0">
                <a:ln>
                  <a:noFill/>
                </a:ln>
                <a:solidFill>
                  <a:schemeClr val="tx1"/>
                </a:solidFill>
                <a:effectLst/>
                <a:latin typeface="Calibri" panose="020F0502020204030204" pitchFamily="34" charset="0"/>
                <a:ea typeface="Times New Roman" panose="02020603050405020304" pitchFamily="18" charset="0"/>
                <a:cs typeface="B Nazanin" panose="00000400000000000000" pitchFamily="2" charset="-78"/>
              </a:rPr>
              <a:t> → Instructor</a:t>
            </a:r>
            <a:r>
              <a:rPr kumimoji="0" lang="en-US" altLang="en-US" sz="2400" b="0" i="0" u="none" strike="noStrike" cap="none" normalizeH="0" baseline="0" dirty="0">
                <a:ln>
                  <a:noFill/>
                </a:ln>
                <a:solidFill>
                  <a:schemeClr val="tx1"/>
                </a:solidFill>
                <a:effectLst/>
                <a:latin typeface="Calibri" panose="020F0502020204030204" pitchFamily="34" charset="0"/>
                <a:ea typeface="Times New Roman" panose="02020603050405020304" pitchFamily="18" charset="0"/>
                <a:cs typeface="B Nazanin" panose="00000400000000000000" pitchFamily="2" charset="-78"/>
              </a:rPr>
              <a:t>: </a:t>
            </a:r>
            <a:r>
              <a:rPr kumimoji="0" lang="ar-SA" altLang="en-US" sz="2400" b="0" i="0" u="none" strike="noStrike" cap="none" normalizeH="0" baseline="0" dirty="0">
                <a:ln>
                  <a:noFill/>
                </a:ln>
                <a:solidFill>
                  <a:schemeClr val="tx1"/>
                </a:solidFill>
                <a:effectLst/>
                <a:latin typeface="Times New Roman" panose="02020603050405020304" pitchFamily="18" charset="0"/>
                <a:ea typeface="Times New Roman" panose="02020603050405020304" pitchFamily="18" charset="0"/>
                <a:cs typeface="B Nazanin" panose="00000400000000000000" pitchFamily="2" charset="-78"/>
              </a:rPr>
              <a:t>برای هر ترکیب منحصر به فرد از دانشجو و دوره، استاد مشخص است</a:t>
            </a:r>
            <a:r>
              <a:rPr kumimoji="0" lang="en-US" altLang="en-US" sz="2400" b="0" i="0" u="none" strike="noStrike" cap="none" normalizeH="0" baseline="0" dirty="0">
                <a:ln>
                  <a:noFill/>
                </a:ln>
                <a:solidFill>
                  <a:schemeClr val="tx1"/>
                </a:solidFill>
                <a:effectLst/>
                <a:latin typeface="Calibri" panose="020F0502020204030204" pitchFamily="34" charset="0"/>
                <a:ea typeface="Times New Roman" panose="02020603050405020304" pitchFamily="18" charset="0"/>
                <a:cs typeface="B Nazanin" panose="00000400000000000000" pitchFamily="2" charset="-78"/>
              </a:rPr>
              <a:t>.</a:t>
            </a:r>
            <a:endParaRPr kumimoji="0" lang="en-US" altLang="en-US" b="0" i="0" u="none" strike="noStrike" cap="none" normalizeH="0" baseline="0" dirty="0">
              <a:ln>
                <a:noFill/>
              </a:ln>
              <a:solidFill>
                <a:schemeClr val="tx1"/>
              </a:solidFill>
              <a:effectLst/>
              <a:latin typeface="Calibri" panose="020F0502020204030204" pitchFamily="34" charset="0"/>
              <a:ea typeface="Calibri" panose="020F0502020204030204" pitchFamily="34" charset="0"/>
              <a:cs typeface="Arial" panose="020B0604020202020204" pitchFamily="34" charset="0"/>
            </a:endParaRPr>
          </a:p>
          <a:p>
            <a:pPr marL="0" marR="0" lvl="0" indent="0" algn="r" defTabSz="914400" rtl="1" eaLnBrk="0" fontAlgn="base" latinLnBrk="0" hangingPunct="0">
              <a:lnSpc>
                <a:spcPct val="100000"/>
              </a:lnSpc>
              <a:spcBef>
                <a:spcPct val="0"/>
              </a:spcBef>
              <a:spcAft>
                <a:spcPct val="0"/>
              </a:spcAft>
              <a:buClrTx/>
              <a:buSzTx/>
              <a:buFontTx/>
              <a:buAutoNum type="arabicPeriod"/>
              <a:tabLst/>
            </a:pPr>
            <a:r>
              <a:rPr kumimoji="0" lang="en-US" altLang="en-US" sz="2400" b="1" i="0" u="none" strike="noStrike" cap="none" normalizeH="0" baseline="0" dirty="0" err="1">
                <a:ln>
                  <a:noFill/>
                </a:ln>
                <a:solidFill>
                  <a:schemeClr val="tx1"/>
                </a:solidFill>
                <a:effectLst/>
                <a:latin typeface="Calibri" panose="020F0502020204030204" pitchFamily="34" charset="0"/>
                <a:ea typeface="Times New Roman" panose="02020603050405020304" pitchFamily="18" charset="0"/>
                <a:cs typeface="B Nazanin" panose="00000400000000000000" pitchFamily="2" charset="-78"/>
              </a:rPr>
              <a:t>Course_ID</a:t>
            </a:r>
            <a:r>
              <a:rPr kumimoji="0" lang="en-US" altLang="en-US" sz="2400" b="1" i="0" u="none" strike="noStrike" cap="none" normalizeH="0" baseline="0" dirty="0">
                <a:ln>
                  <a:noFill/>
                </a:ln>
                <a:solidFill>
                  <a:schemeClr val="tx1"/>
                </a:solidFill>
                <a:effectLst/>
                <a:latin typeface="Calibri" panose="020F0502020204030204" pitchFamily="34" charset="0"/>
                <a:ea typeface="Times New Roman" panose="02020603050405020304" pitchFamily="18" charset="0"/>
                <a:cs typeface="B Nazanin" panose="00000400000000000000" pitchFamily="2" charset="-78"/>
              </a:rPr>
              <a:t> → Instructor</a:t>
            </a:r>
            <a:r>
              <a:rPr kumimoji="0" lang="en-US" altLang="en-US" sz="2400" b="0" i="0" u="none" strike="noStrike" cap="none" normalizeH="0" baseline="0" dirty="0">
                <a:ln>
                  <a:noFill/>
                </a:ln>
                <a:solidFill>
                  <a:schemeClr val="tx1"/>
                </a:solidFill>
                <a:effectLst/>
                <a:latin typeface="Calibri" panose="020F0502020204030204" pitchFamily="34" charset="0"/>
                <a:ea typeface="Times New Roman" panose="02020603050405020304" pitchFamily="18" charset="0"/>
                <a:cs typeface="B Nazanin" panose="00000400000000000000" pitchFamily="2" charset="-78"/>
              </a:rPr>
              <a:t>: </a:t>
            </a:r>
            <a:r>
              <a:rPr kumimoji="0" lang="ar-SA" altLang="en-US" sz="2400" b="0" i="0" u="none" strike="noStrike" cap="none" normalizeH="0" baseline="0" dirty="0">
                <a:ln>
                  <a:noFill/>
                </a:ln>
                <a:solidFill>
                  <a:schemeClr val="tx1"/>
                </a:solidFill>
                <a:effectLst/>
                <a:latin typeface="Times New Roman" panose="02020603050405020304" pitchFamily="18" charset="0"/>
                <a:ea typeface="Times New Roman" panose="02020603050405020304" pitchFamily="18" charset="0"/>
                <a:cs typeface="B Nazanin" panose="00000400000000000000" pitchFamily="2" charset="-78"/>
              </a:rPr>
              <a:t>هر دوره یک استاد ثابت دارد</a:t>
            </a:r>
            <a:r>
              <a:rPr kumimoji="0" lang="en-US" altLang="en-US" sz="2400" b="0" i="0" u="none" strike="noStrike" cap="none" normalizeH="0" baseline="0" dirty="0">
                <a:ln>
                  <a:noFill/>
                </a:ln>
                <a:solidFill>
                  <a:schemeClr val="tx1"/>
                </a:solidFill>
                <a:effectLst/>
                <a:latin typeface="Calibri" panose="020F0502020204030204" pitchFamily="34" charset="0"/>
                <a:ea typeface="Times New Roman" panose="02020603050405020304" pitchFamily="18" charset="0"/>
                <a:cs typeface="B Nazanin" panose="00000400000000000000" pitchFamily="2" charset="-78"/>
              </a:rPr>
              <a:t>.</a:t>
            </a:r>
            <a:endParaRPr kumimoji="0" lang="en-US" altLang="en-US" sz="1000" b="0" i="0" u="none" strike="noStrike" cap="none" normalizeH="0" baseline="0" dirty="0">
              <a:ln>
                <a:noFill/>
              </a:ln>
              <a:solidFill>
                <a:schemeClr val="tx1"/>
              </a:solidFill>
              <a:effectLst/>
            </a:endParaRPr>
          </a:p>
        </p:txBody>
      </p:sp>
      <p:sp>
        <p:nvSpPr>
          <p:cNvPr id="3" name="Slide Number Placeholder 2">
            <a:extLst>
              <a:ext uri="{FF2B5EF4-FFF2-40B4-BE49-F238E27FC236}">
                <a16:creationId xmlns:a16="http://schemas.microsoft.com/office/drawing/2014/main" id="{3912FC48-26F3-4848-BBE3-05E4687419AB}"/>
              </a:ext>
            </a:extLst>
          </p:cNvPr>
          <p:cNvSpPr>
            <a:spLocks noGrp="1"/>
          </p:cNvSpPr>
          <p:nvPr>
            <p:ph type="sldNum" sz="quarter" idx="4294967295"/>
          </p:nvPr>
        </p:nvSpPr>
        <p:spPr>
          <a:xfrm>
            <a:off x="7994650" y="6334125"/>
            <a:ext cx="1149350" cy="365125"/>
          </a:xfrm>
        </p:spPr>
        <p:txBody>
          <a:bodyPr/>
          <a:lstStyle/>
          <a:p>
            <a:fld id="{9B1BEC6B-D08C-4686-9D99-35ADA0E9E6CD}" type="slidenum">
              <a:rPr lang="en-US" smtClean="0"/>
              <a:t>36</a:t>
            </a:fld>
            <a:endParaRPr lang="en-US"/>
          </a:p>
        </p:txBody>
      </p:sp>
      <p:graphicFrame>
        <p:nvGraphicFramePr>
          <p:cNvPr id="2" name="Table 1">
            <a:extLst>
              <a:ext uri="{FF2B5EF4-FFF2-40B4-BE49-F238E27FC236}">
                <a16:creationId xmlns:a16="http://schemas.microsoft.com/office/drawing/2014/main" id="{DCB33D59-BE8A-4FC5-AD38-946C988570CC}"/>
              </a:ext>
            </a:extLst>
          </p:cNvPr>
          <p:cNvGraphicFramePr>
            <a:graphicFrameLocks noGrp="1"/>
          </p:cNvGraphicFramePr>
          <p:nvPr/>
        </p:nvGraphicFramePr>
        <p:xfrm>
          <a:off x="1447800" y="4724400"/>
          <a:ext cx="5791200" cy="1295400"/>
        </p:xfrm>
        <a:graphic>
          <a:graphicData uri="http://schemas.openxmlformats.org/drawingml/2006/table">
            <a:tbl>
              <a:tblPr firstRow="1" firstCol="1" bandRow="1">
                <a:tableStyleId>{616DA210-FB5B-4158-B5E0-FEB733F419BA}</a:tableStyleId>
              </a:tblPr>
              <a:tblGrid>
                <a:gridCol w="1447800">
                  <a:extLst>
                    <a:ext uri="{9D8B030D-6E8A-4147-A177-3AD203B41FA5}">
                      <a16:colId xmlns:a16="http://schemas.microsoft.com/office/drawing/2014/main" val="1872423692"/>
                    </a:ext>
                  </a:extLst>
                </a:gridCol>
                <a:gridCol w="1447800">
                  <a:extLst>
                    <a:ext uri="{9D8B030D-6E8A-4147-A177-3AD203B41FA5}">
                      <a16:colId xmlns:a16="http://schemas.microsoft.com/office/drawing/2014/main" val="1361009028"/>
                    </a:ext>
                  </a:extLst>
                </a:gridCol>
                <a:gridCol w="1447800">
                  <a:extLst>
                    <a:ext uri="{9D8B030D-6E8A-4147-A177-3AD203B41FA5}">
                      <a16:colId xmlns:a16="http://schemas.microsoft.com/office/drawing/2014/main" val="3774693116"/>
                    </a:ext>
                  </a:extLst>
                </a:gridCol>
                <a:gridCol w="1447800">
                  <a:extLst>
                    <a:ext uri="{9D8B030D-6E8A-4147-A177-3AD203B41FA5}">
                      <a16:colId xmlns:a16="http://schemas.microsoft.com/office/drawing/2014/main" val="3463808896"/>
                    </a:ext>
                  </a:extLst>
                </a:gridCol>
              </a:tblGrid>
              <a:tr h="323850">
                <a:tc>
                  <a:txBody>
                    <a:bodyPr/>
                    <a:lstStyle/>
                    <a:p>
                      <a:pPr marL="0" marR="0" algn="ctr" rtl="1">
                        <a:lnSpc>
                          <a:spcPct val="107000"/>
                        </a:lnSpc>
                        <a:spcBef>
                          <a:spcPts val="0"/>
                        </a:spcBef>
                        <a:spcAft>
                          <a:spcPts val="0"/>
                        </a:spcAft>
                      </a:pPr>
                      <a:r>
                        <a:rPr lang="en-US" sz="1200" dirty="0" err="1">
                          <a:effectLst/>
                        </a:rPr>
                        <a:t>Student_ID</a:t>
                      </a:r>
                      <a:endParaRPr lang="en-US" sz="1100"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tc>
                <a:tc>
                  <a:txBody>
                    <a:bodyPr/>
                    <a:lstStyle/>
                    <a:p>
                      <a:pPr marL="0" marR="0" algn="ctr" rtl="1">
                        <a:lnSpc>
                          <a:spcPct val="107000"/>
                        </a:lnSpc>
                        <a:spcBef>
                          <a:spcPts val="0"/>
                        </a:spcBef>
                        <a:spcAft>
                          <a:spcPts val="0"/>
                        </a:spcAft>
                      </a:pPr>
                      <a:r>
                        <a:rPr lang="en-US" sz="1200" dirty="0" err="1">
                          <a:effectLst/>
                        </a:rPr>
                        <a:t>Course_ID</a:t>
                      </a:r>
                      <a:endParaRPr lang="en-US" sz="1100"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tc>
                <a:tc>
                  <a:txBody>
                    <a:bodyPr/>
                    <a:lstStyle/>
                    <a:p>
                      <a:pPr marL="0" marR="0" algn="ctr" rtl="1">
                        <a:lnSpc>
                          <a:spcPct val="107000"/>
                        </a:lnSpc>
                        <a:spcBef>
                          <a:spcPts val="0"/>
                        </a:spcBef>
                        <a:spcAft>
                          <a:spcPts val="0"/>
                        </a:spcAft>
                      </a:pPr>
                      <a:r>
                        <a:rPr lang="en-US" sz="1200" dirty="0">
                          <a:effectLst/>
                        </a:rPr>
                        <a:t>Instructor</a:t>
                      </a:r>
                      <a:endParaRPr lang="en-US" sz="1100"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tc>
                <a:tc>
                  <a:txBody>
                    <a:bodyPr/>
                    <a:lstStyle/>
                    <a:p>
                      <a:pPr marL="0" marR="0" algn="ctr" rtl="1">
                        <a:lnSpc>
                          <a:spcPct val="107000"/>
                        </a:lnSpc>
                        <a:spcBef>
                          <a:spcPts val="0"/>
                        </a:spcBef>
                        <a:spcAft>
                          <a:spcPts val="0"/>
                        </a:spcAft>
                      </a:pPr>
                      <a:r>
                        <a:rPr lang="en-US" sz="1200" dirty="0">
                          <a:effectLst/>
                        </a:rPr>
                        <a:t>Semester</a:t>
                      </a:r>
                      <a:endParaRPr lang="en-US" sz="1100"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tc>
                <a:extLst>
                  <a:ext uri="{0D108BD9-81ED-4DB2-BD59-A6C34878D82A}">
                    <a16:rowId xmlns:a16="http://schemas.microsoft.com/office/drawing/2014/main" val="4006917758"/>
                  </a:ext>
                </a:extLst>
              </a:tr>
              <a:tr h="323850">
                <a:tc>
                  <a:txBody>
                    <a:bodyPr/>
                    <a:lstStyle/>
                    <a:p>
                      <a:pPr marL="0" marR="0" algn="r" rtl="1">
                        <a:lnSpc>
                          <a:spcPct val="107000"/>
                        </a:lnSpc>
                        <a:spcBef>
                          <a:spcPts val="0"/>
                        </a:spcBef>
                        <a:spcAft>
                          <a:spcPts val="0"/>
                        </a:spcAft>
                      </a:pPr>
                      <a:r>
                        <a:rPr lang="en-US" sz="1200">
                          <a:effectLst/>
                        </a:rPr>
                        <a:t>1</a:t>
                      </a:r>
                      <a:endParaRPr lang="en-US" sz="110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tc>
                <a:tc>
                  <a:txBody>
                    <a:bodyPr/>
                    <a:lstStyle/>
                    <a:p>
                      <a:pPr marL="0" marR="0" algn="r" rtl="1">
                        <a:lnSpc>
                          <a:spcPct val="107000"/>
                        </a:lnSpc>
                        <a:spcBef>
                          <a:spcPts val="0"/>
                        </a:spcBef>
                        <a:spcAft>
                          <a:spcPts val="0"/>
                        </a:spcAft>
                      </a:pPr>
                      <a:r>
                        <a:rPr lang="en-US" sz="1200">
                          <a:effectLst/>
                        </a:rPr>
                        <a:t>101</a:t>
                      </a:r>
                      <a:endParaRPr lang="en-US" sz="110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tc>
                <a:tc>
                  <a:txBody>
                    <a:bodyPr/>
                    <a:lstStyle/>
                    <a:p>
                      <a:pPr marL="0" marR="0" algn="r" rtl="1">
                        <a:lnSpc>
                          <a:spcPct val="107000"/>
                        </a:lnSpc>
                        <a:spcBef>
                          <a:spcPts val="0"/>
                        </a:spcBef>
                        <a:spcAft>
                          <a:spcPts val="0"/>
                        </a:spcAft>
                      </a:pPr>
                      <a:r>
                        <a:rPr lang="en-US" sz="1200">
                          <a:effectLst/>
                        </a:rPr>
                        <a:t>Dr. A</a:t>
                      </a:r>
                      <a:endParaRPr lang="en-US" sz="110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tc>
                <a:tc>
                  <a:txBody>
                    <a:bodyPr/>
                    <a:lstStyle/>
                    <a:p>
                      <a:pPr marL="0" marR="0" algn="r" rtl="1">
                        <a:lnSpc>
                          <a:spcPct val="107000"/>
                        </a:lnSpc>
                        <a:spcBef>
                          <a:spcPts val="0"/>
                        </a:spcBef>
                        <a:spcAft>
                          <a:spcPts val="0"/>
                        </a:spcAft>
                      </a:pPr>
                      <a:r>
                        <a:rPr lang="en-US" sz="1200">
                          <a:effectLst/>
                        </a:rPr>
                        <a:t>Fall 2024</a:t>
                      </a:r>
                      <a:endParaRPr lang="en-US" sz="110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tc>
                <a:extLst>
                  <a:ext uri="{0D108BD9-81ED-4DB2-BD59-A6C34878D82A}">
                    <a16:rowId xmlns:a16="http://schemas.microsoft.com/office/drawing/2014/main" val="1662875176"/>
                  </a:ext>
                </a:extLst>
              </a:tr>
              <a:tr h="323850">
                <a:tc>
                  <a:txBody>
                    <a:bodyPr/>
                    <a:lstStyle/>
                    <a:p>
                      <a:pPr marL="0" marR="0" algn="r" rtl="1">
                        <a:lnSpc>
                          <a:spcPct val="107000"/>
                        </a:lnSpc>
                        <a:spcBef>
                          <a:spcPts val="0"/>
                        </a:spcBef>
                        <a:spcAft>
                          <a:spcPts val="0"/>
                        </a:spcAft>
                      </a:pPr>
                      <a:r>
                        <a:rPr lang="en-US" sz="1200">
                          <a:effectLst/>
                        </a:rPr>
                        <a:t>2</a:t>
                      </a:r>
                      <a:endParaRPr lang="en-US" sz="110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tc>
                <a:tc>
                  <a:txBody>
                    <a:bodyPr/>
                    <a:lstStyle/>
                    <a:p>
                      <a:pPr marL="0" marR="0" algn="r" rtl="1">
                        <a:lnSpc>
                          <a:spcPct val="107000"/>
                        </a:lnSpc>
                        <a:spcBef>
                          <a:spcPts val="0"/>
                        </a:spcBef>
                        <a:spcAft>
                          <a:spcPts val="0"/>
                        </a:spcAft>
                      </a:pPr>
                      <a:r>
                        <a:rPr lang="en-US" sz="1200">
                          <a:effectLst/>
                        </a:rPr>
                        <a:t>102</a:t>
                      </a:r>
                      <a:endParaRPr lang="en-US" sz="110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tc>
                <a:tc>
                  <a:txBody>
                    <a:bodyPr/>
                    <a:lstStyle/>
                    <a:p>
                      <a:pPr marL="0" marR="0" algn="r" rtl="1">
                        <a:lnSpc>
                          <a:spcPct val="107000"/>
                        </a:lnSpc>
                        <a:spcBef>
                          <a:spcPts val="0"/>
                        </a:spcBef>
                        <a:spcAft>
                          <a:spcPts val="0"/>
                        </a:spcAft>
                      </a:pPr>
                      <a:r>
                        <a:rPr lang="en-US" sz="1200">
                          <a:effectLst/>
                        </a:rPr>
                        <a:t>Dr. B</a:t>
                      </a:r>
                      <a:endParaRPr lang="en-US" sz="110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tc>
                <a:tc>
                  <a:txBody>
                    <a:bodyPr/>
                    <a:lstStyle/>
                    <a:p>
                      <a:pPr marL="0" marR="0" algn="r" rtl="1">
                        <a:lnSpc>
                          <a:spcPct val="107000"/>
                        </a:lnSpc>
                        <a:spcBef>
                          <a:spcPts val="0"/>
                        </a:spcBef>
                        <a:spcAft>
                          <a:spcPts val="0"/>
                        </a:spcAft>
                      </a:pPr>
                      <a:r>
                        <a:rPr lang="en-US" sz="1200">
                          <a:effectLst/>
                        </a:rPr>
                        <a:t>Spring 2024</a:t>
                      </a:r>
                      <a:endParaRPr lang="en-US" sz="110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tc>
                <a:extLst>
                  <a:ext uri="{0D108BD9-81ED-4DB2-BD59-A6C34878D82A}">
                    <a16:rowId xmlns:a16="http://schemas.microsoft.com/office/drawing/2014/main" val="2546994876"/>
                  </a:ext>
                </a:extLst>
              </a:tr>
              <a:tr h="323850">
                <a:tc>
                  <a:txBody>
                    <a:bodyPr/>
                    <a:lstStyle/>
                    <a:p>
                      <a:pPr marL="0" marR="0" algn="r" rtl="1">
                        <a:lnSpc>
                          <a:spcPct val="107000"/>
                        </a:lnSpc>
                        <a:spcBef>
                          <a:spcPts val="0"/>
                        </a:spcBef>
                        <a:spcAft>
                          <a:spcPts val="0"/>
                        </a:spcAft>
                      </a:pPr>
                      <a:r>
                        <a:rPr lang="en-US" sz="1200">
                          <a:effectLst/>
                        </a:rPr>
                        <a:t>3</a:t>
                      </a:r>
                      <a:endParaRPr lang="en-US" sz="110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tc>
                <a:tc>
                  <a:txBody>
                    <a:bodyPr/>
                    <a:lstStyle/>
                    <a:p>
                      <a:pPr marL="0" marR="0" algn="r" rtl="1">
                        <a:lnSpc>
                          <a:spcPct val="107000"/>
                        </a:lnSpc>
                        <a:spcBef>
                          <a:spcPts val="0"/>
                        </a:spcBef>
                        <a:spcAft>
                          <a:spcPts val="0"/>
                        </a:spcAft>
                      </a:pPr>
                      <a:r>
                        <a:rPr lang="en-US" sz="1200">
                          <a:effectLst/>
                        </a:rPr>
                        <a:t>101</a:t>
                      </a:r>
                      <a:endParaRPr lang="en-US" sz="110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tc>
                <a:tc>
                  <a:txBody>
                    <a:bodyPr/>
                    <a:lstStyle/>
                    <a:p>
                      <a:pPr marL="0" marR="0" algn="r" rtl="1">
                        <a:lnSpc>
                          <a:spcPct val="107000"/>
                        </a:lnSpc>
                        <a:spcBef>
                          <a:spcPts val="0"/>
                        </a:spcBef>
                        <a:spcAft>
                          <a:spcPts val="0"/>
                        </a:spcAft>
                      </a:pPr>
                      <a:r>
                        <a:rPr lang="en-US" sz="1200">
                          <a:effectLst/>
                        </a:rPr>
                        <a:t>Dr. A</a:t>
                      </a:r>
                      <a:endParaRPr lang="en-US" sz="110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tc>
                <a:tc>
                  <a:txBody>
                    <a:bodyPr/>
                    <a:lstStyle/>
                    <a:p>
                      <a:pPr marL="0" marR="0" algn="r" rtl="1">
                        <a:lnSpc>
                          <a:spcPct val="107000"/>
                        </a:lnSpc>
                        <a:spcBef>
                          <a:spcPts val="0"/>
                        </a:spcBef>
                        <a:spcAft>
                          <a:spcPts val="0"/>
                        </a:spcAft>
                      </a:pPr>
                      <a:r>
                        <a:rPr lang="en-US" sz="1200" dirty="0">
                          <a:effectLst/>
                        </a:rPr>
                        <a:t>Fall 2024</a:t>
                      </a:r>
                      <a:endParaRPr lang="en-US" sz="1100"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tc>
                <a:extLst>
                  <a:ext uri="{0D108BD9-81ED-4DB2-BD59-A6C34878D82A}">
                    <a16:rowId xmlns:a16="http://schemas.microsoft.com/office/drawing/2014/main" val="840469740"/>
                  </a:ext>
                </a:extLst>
              </a:tr>
            </a:tbl>
          </a:graphicData>
        </a:graphic>
      </p:graphicFrame>
      <p:sp>
        <p:nvSpPr>
          <p:cNvPr id="7" name="TextBox 6">
            <a:extLst>
              <a:ext uri="{FF2B5EF4-FFF2-40B4-BE49-F238E27FC236}">
                <a16:creationId xmlns:a16="http://schemas.microsoft.com/office/drawing/2014/main" id="{DEC1ACF0-AB03-4ABA-8644-CAEB46AFA86A}"/>
              </a:ext>
            </a:extLst>
          </p:cNvPr>
          <p:cNvSpPr txBox="1"/>
          <p:nvPr/>
        </p:nvSpPr>
        <p:spPr>
          <a:xfrm>
            <a:off x="0" y="3429000"/>
            <a:ext cx="8690955" cy="1200329"/>
          </a:xfrm>
          <a:prstGeom prst="rect">
            <a:avLst/>
          </a:prstGeom>
          <a:noFill/>
        </p:spPr>
        <p:txBody>
          <a:bodyPr wrap="square">
            <a:spAutoFit/>
          </a:bodyPr>
          <a:lstStyle/>
          <a:p>
            <a:pPr marL="0" marR="0" lvl="0" indent="0" algn="r" defTabSz="914400" rtl="1" eaLnBrk="0" fontAlgn="base" latinLnBrk="0" hangingPunct="0">
              <a:lnSpc>
                <a:spcPct val="100000"/>
              </a:lnSpc>
              <a:spcBef>
                <a:spcPct val="0"/>
              </a:spcBef>
              <a:spcAft>
                <a:spcPct val="0"/>
              </a:spcAft>
              <a:buClrTx/>
              <a:buSzTx/>
              <a:buFontTx/>
              <a:buNone/>
              <a:tabLst/>
            </a:pPr>
            <a:r>
              <a:rPr kumimoji="0" lang="ar-SA" altLang="en-US" sz="2400" b="0" i="0" u="none" strike="noStrike" cap="none" normalizeH="0" baseline="0" dirty="0">
                <a:ln>
                  <a:noFill/>
                </a:ln>
                <a:solidFill>
                  <a:schemeClr val="tx1"/>
                </a:solidFill>
                <a:effectLst/>
                <a:latin typeface="Times New Roman" panose="02020603050405020304" pitchFamily="18" charset="0"/>
                <a:ea typeface="Times New Roman" panose="02020603050405020304" pitchFamily="18" charset="0"/>
                <a:cs typeface="B Nazanin" panose="00000400000000000000" pitchFamily="2" charset="-78"/>
              </a:rPr>
              <a:t>مشکل این است که در این جدول، </a:t>
            </a:r>
            <a:r>
              <a:rPr kumimoji="0" lang="en-US" altLang="en-US" sz="2400" b="1" i="0" u="none" strike="noStrike" cap="none" normalizeH="0" baseline="0" dirty="0" err="1">
                <a:ln>
                  <a:noFill/>
                </a:ln>
                <a:solidFill>
                  <a:schemeClr val="tx1"/>
                </a:solidFill>
                <a:effectLst/>
                <a:latin typeface="Calibri" panose="020F0502020204030204" pitchFamily="34" charset="0"/>
                <a:ea typeface="Times New Roman" panose="02020603050405020304" pitchFamily="18" charset="0"/>
                <a:cs typeface="B Nazanin" panose="00000400000000000000" pitchFamily="2" charset="-78"/>
              </a:rPr>
              <a:t>Course_ID</a:t>
            </a:r>
            <a:r>
              <a:rPr kumimoji="0" lang="en-US" altLang="en-US" sz="2400" b="1" i="0" u="none" strike="noStrike" cap="none" normalizeH="0" baseline="0" dirty="0">
                <a:ln>
                  <a:noFill/>
                </a:ln>
                <a:solidFill>
                  <a:schemeClr val="tx1"/>
                </a:solidFill>
                <a:effectLst/>
                <a:latin typeface="Calibri" panose="020F0502020204030204" pitchFamily="34" charset="0"/>
                <a:ea typeface="Times New Roman" panose="02020603050405020304" pitchFamily="18" charset="0"/>
                <a:cs typeface="B Nazanin" panose="00000400000000000000" pitchFamily="2" charset="-78"/>
              </a:rPr>
              <a:t> → Instructor</a:t>
            </a:r>
            <a:r>
              <a:rPr kumimoji="0" lang="en-US" altLang="en-US" sz="2400" b="0" i="0" u="none" strike="noStrike" cap="none" normalizeH="0" baseline="0" dirty="0">
                <a:ln>
                  <a:noFill/>
                </a:ln>
                <a:solidFill>
                  <a:schemeClr val="tx1"/>
                </a:solidFill>
                <a:effectLst/>
                <a:latin typeface="Calibri" panose="020F0502020204030204" pitchFamily="34" charset="0"/>
                <a:ea typeface="Times New Roman" panose="02020603050405020304" pitchFamily="18" charset="0"/>
                <a:cs typeface="B Nazanin" panose="00000400000000000000" pitchFamily="2" charset="-78"/>
              </a:rPr>
              <a:t> </a:t>
            </a:r>
            <a:r>
              <a:rPr kumimoji="0" lang="ar-SA" altLang="en-US" sz="2400" b="0" i="0" u="none" strike="noStrike" cap="none" normalizeH="0" baseline="0" dirty="0">
                <a:ln>
                  <a:noFill/>
                </a:ln>
                <a:solidFill>
                  <a:schemeClr val="tx1"/>
                </a:solidFill>
                <a:effectLst/>
                <a:latin typeface="Times New Roman" panose="02020603050405020304" pitchFamily="18" charset="0"/>
                <a:ea typeface="Times New Roman" panose="02020603050405020304" pitchFamily="18" charset="0"/>
                <a:cs typeface="B Nazanin" panose="00000400000000000000" pitchFamily="2" charset="-78"/>
              </a:rPr>
              <a:t>نشان‌دهنده یک وابستگی است که باید در</a:t>
            </a:r>
            <a:r>
              <a:rPr kumimoji="0" lang="en-US" altLang="en-US" sz="2400" b="0" i="0" u="none" strike="noStrike" cap="none" normalizeH="0" baseline="0" dirty="0">
                <a:ln>
                  <a:noFill/>
                </a:ln>
                <a:solidFill>
                  <a:schemeClr val="tx1"/>
                </a:solidFill>
                <a:effectLst/>
                <a:latin typeface="Calibri" panose="020F0502020204030204" pitchFamily="34" charset="0"/>
                <a:ea typeface="Times New Roman" panose="02020603050405020304" pitchFamily="18" charset="0"/>
                <a:cs typeface="B Nazanin" panose="00000400000000000000" pitchFamily="2" charset="-78"/>
              </a:rPr>
              <a:t> BCNF </a:t>
            </a:r>
            <a:r>
              <a:rPr kumimoji="0" lang="ar-SA" altLang="en-US" sz="2400" b="0" i="0" u="none" strike="noStrike" cap="none" normalizeH="0" baseline="0" dirty="0">
                <a:ln>
                  <a:noFill/>
                </a:ln>
                <a:solidFill>
                  <a:schemeClr val="tx1"/>
                </a:solidFill>
                <a:effectLst/>
                <a:latin typeface="Times New Roman" panose="02020603050405020304" pitchFamily="18" charset="0"/>
                <a:ea typeface="Times New Roman" panose="02020603050405020304" pitchFamily="18" charset="0"/>
                <a:cs typeface="B Nazanin" panose="00000400000000000000" pitchFamily="2" charset="-78"/>
              </a:rPr>
              <a:t>تجزیه شود زیرا </a:t>
            </a:r>
            <a:r>
              <a:rPr kumimoji="0" lang="en-US" altLang="en-US" sz="2400" b="1" i="0" u="none" strike="noStrike" cap="none" normalizeH="0" baseline="0" dirty="0" err="1">
                <a:ln>
                  <a:noFill/>
                </a:ln>
                <a:solidFill>
                  <a:schemeClr val="tx1"/>
                </a:solidFill>
                <a:effectLst/>
                <a:latin typeface="Calibri" panose="020F0502020204030204" pitchFamily="34" charset="0"/>
                <a:ea typeface="Times New Roman" panose="02020603050405020304" pitchFamily="18" charset="0"/>
                <a:cs typeface="B Nazanin" panose="00000400000000000000" pitchFamily="2" charset="-78"/>
              </a:rPr>
              <a:t>Course_ID</a:t>
            </a:r>
            <a:r>
              <a:rPr kumimoji="0" lang="en-US" altLang="en-US" sz="2400" b="0" i="0" u="none" strike="noStrike" cap="none" normalizeH="0" baseline="0" dirty="0">
                <a:ln>
                  <a:noFill/>
                </a:ln>
                <a:solidFill>
                  <a:schemeClr val="tx1"/>
                </a:solidFill>
                <a:effectLst/>
                <a:latin typeface="Calibri" panose="020F0502020204030204" pitchFamily="34" charset="0"/>
                <a:ea typeface="Times New Roman" panose="02020603050405020304" pitchFamily="18" charset="0"/>
                <a:cs typeface="B Nazanin" panose="00000400000000000000" pitchFamily="2" charset="-78"/>
              </a:rPr>
              <a:t> </a:t>
            </a:r>
            <a:r>
              <a:rPr kumimoji="0" lang="ar-SA" altLang="en-US" sz="2400" b="0" i="0" u="none" strike="noStrike" cap="none" normalizeH="0" baseline="0" dirty="0">
                <a:ln>
                  <a:noFill/>
                </a:ln>
                <a:solidFill>
                  <a:schemeClr val="tx1"/>
                </a:solidFill>
                <a:effectLst/>
                <a:latin typeface="Times New Roman" panose="02020603050405020304" pitchFamily="18" charset="0"/>
                <a:ea typeface="Times New Roman" panose="02020603050405020304" pitchFamily="18" charset="0"/>
                <a:cs typeface="B Nazanin" panose="00000400000000000000" pitchFamily="2" charset="-78"/>
              </a:rPr>
              <a:t>یک سوپرکلید نیست (این تنها بخشی از کلید ترکیبی است)</a:t>
            </a:r>
            <a:r>
              <a:rPr kumimoji="0" lang="en-US" altLang="en-US" sz="2400" b="0" i="0" u="none" strike="noStrike" cap="none" normalizeH="0" baseline="0" dirty="0">
                <a:ln>
                  <a:noFill/>
                </a:ln>
                <a:solidFill>
                  <a:schemeClr val="tx1"/>
                </a:solidFill>
                <a:effectLst/>
                <a:latin typeface="Calibri" panose="020F0502020204030204" pitchFamily="34" charset="0"/>
                <a:ea typeface="Times New Roman" panose="02020603050405020304" pitchFamily="18" charset="0"/>
                <a:cs typeface="B Nazanin" panose="00000400000000000000" pitchFamily="2" charset="-78"/>
              </a:rPr>
              <a:t>.</a:t>
            </a:r>
            <a:endParaRPr kumimoji="0" lang="en-US" altLang="en-US" sz="3600" b="0" i="0" u="none" strike="noStrike" cap="none" normalizeH="0" baseline="0" dirty="0">
              <a:ln>
                <a:noFill/>
              </a:ln>
              <a:solidFill>
                <a:schemeClr val="tx1"/>
              </a:solidFill>
              <a:effectLst/>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30981747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7459" name="Title 1"/>
          <p:cNvSpPr>
            <a:spLocks noGrp="1"/>
          </p:cNvSpPr>
          <p:nvPr>
            <p:ph type="title"/>
          </p:nvPr>
        </p:nvSpPr>
        <p:spPr>
          <a:xfrm>
            <a:off x="457200" y="42078"/>
            <a:ext cx="8229600" cy="1143000"/>
          </a:xfrm>
        </p:spPr>
        <p:txBody>
          <a:bodyPr anchor="ctr"/>
          <a:lstStyle/>
          <a:p>
            <a:pPr algn="ctr" rtl="1"/>
            <a:r>
              <a:rPr lang="fa-IR" altLang="en-US" sz="4400" b="1" dirty="0">
                <a:latin typeface="Titr" pitchFamily="2" charset="-78"/>
                <a:ea typeface="2  Titr"/>
                <a:cs typeface="2  Titr"/>
              </a:rPr>
              <a:t>تبدیل به جدول نرمال</a:t>
            </a:r>
            <a:r>
              <a:rPr lang="en-US" altLang="en-US" sz="4400" b="1" dirty="0">
                <a:latin typeface="Titr" pitchFamily="2" charset="-78"/>
                <a:ea typeface="2  Titr"/>
                <a:cs typeface="2  Titr"/>
              </a:rPr>
              <a:t>BCNF </a:t>
            </a:r>
          </a:p>
        </p:txBody>
      </p:sp>
      <p:sp>
        <p:nvSpPr>
          <p:cNvPr id="147458" name="Content Placeholder 2"/>
          <p:cNvSpPr>
            <a:spLocks noGrp="1"/>
          </p:cNvSpPr>
          <p:nvPr>
            <p:ph idx="1"/>
          </p:nvPr>
        </p:nvSpPr>
        <p:spPr>
          <a:xfrm>
            <a:off x="76200" y="943147"/>
            <a:ext cx="8763000" cy="5586818"/>
          </a:xfrm>
        </p:spPr>
        <p:txBody>
          <a:bodyPr>
            <a:noAutofit/>
          </a:bodyPr>
          <a:lstStyle/>
          <a:p>
            <a:pPr marL="0" marR="0" lvl="0" indent="0" algn="r" defTabSz="914400" rtl="1" eaLnBrk="0" fontAlgn="base" latinLnBrk="0" hangingPunct="0">
              <a:lnSpc>
                <a:spcPct val="100000"/>
              </a:lnSpc>
              <a:spcBef>
                <a:spcPct val="0"/>
              </a:spcBef>
              <a:spcAft>
                <a:spcPct val="0"/>
              </a:spcAft>
              <a:buClrTx/>
              <a:buSzTx/>
              <a:buFontTx/>
              <a:buAutoNum type="arabicPeriod"/>
              <a:tabLst/>
            </a:pPr>
            <a:r>
              <a:rPr kumimoji="0" lang="ar-SA" altLang="en-US" sz="2800" b="0" i="0" u="none" strike="noStrike" cap="none" normalizeH="0" baseline="0" dirty="0">
                <a:ln>
                  <a:noFill/>
                </a:ln>
                <a:solidFill>
                  <a:schemeClr val="tx1"/>
                </a:solidFill>
                <a:effectLst/>
                <a:latin typeface="Times New Roman" panose="02020603050405020304" pitchFamily="18" charset="0"/>
                <a:ea typeface="Times New Roman" panose="02020603050405020304" pitchFamily="18" charset="0"/>
                <a:cs typeface="B Nazanin" panose="00000400000000000000" pitchFamily="2" charset="-78"/>
              </a:rPr>
              <a:t>جدول </a:t>
            </a:r>
            <a:r>
              <a:rPr kumimoji="0" lang="en-US" altLang="en-US" sz="2800" b="1" i="0" u="none" strike="noStrike" cap="none" normalizeH="0" baseline="0" dirty="0">
                <a:ln>
                  <a:noFill/>
                </a:ln>
                <a:solidFill>
                  <a:schemeClr val="tx1"/>
                </a:solidFill>
                <a:effectLst/>
                <a:latin typeface="Calibri" panose="020F0502020204030204" pitchFamily="34" charset="0"/>
                <a:ea typeface="Times New Roman" panose="02020603050405020304" pitchFamily="18" charset="0"/>
                <a:cs typeface="B Nazanin" panose="00000400000000000000" pitchFamily="2" charset="-78"/>
              </a:rPr>
              <a:t>Course</a:t>
            </a:r>
            <a:r>
              <a:rPr kumimoji="0" lang="en-US" altLang="en-US" sz="2800" b="0" i="0" u="none" strike="noStrike" cap="none" normalizeH="0" baseline="0" dirty="0">
                <a:ln>
                  <a:noFill/>
                </a:ln>
                <a:solidFill>
                  <a:schemeClr val="tx1"/>
                </a:solidFill>
                <a:effectLst/>
                <a:latin typeface="Calibri" panose="020F0502020204030204" pitchFamily="34" charset="0"/>
                <a:ea typeface="Times New Roman" panose="02020603050405020304" pitchFamily="18" charset="0"/>
                <a:cs typeface="B Nazanin" panose="00000400000000000000" pitchFamily="2" charset="-78"/>
              </a:rPr>
              <a:t> </a:t>
            </a:r>
            <a:r>
              <a:rPr kumimoji="0" lang="ar-SA" altLang="en-US" sz="2800" b="0" i="0" u="none" strike="noStrike" cap="none" normalizeH="0" baseline="0" dirty="0">
                <a:ln>
                  <a:noFill/>
                </a:ln>
                <a:solidFill>
                  <a:schemeClr val="tx1"/>
                </a:solidFill>
                <a:effectLst/>
                <a:latin typeface="Times New Roman" panose="02020603050405020304" pitchFamily="18" charset="0"/>
                <a:ea typeface="Times New Roman" panose="02020603050405020304" pitchFamily="18" charset="0"/>
                <a:cs typeface="B Nazanin" panose="00000400000000000000" pitchFamily="2" charset="-78"/>
              </a:rPr>
              <a:t>که اطلاعات دوره‌ها و استادها را ذخیره می‌کند</a:t>
            </a:r>
            <a:r>
              <a:rPr kumimoji="0" lang="en-US" altLang="en-US" sz="2800" b="0" i="0" u="none" strike="noStrike" cap="none" normalizeH="0" baseline="0" dirty="0">
                <a:ln>
                  <a:noFill/>
                </a:ln>
                <a:solidFill>
                  <a:schemeClr val="tx1"/>
                </a:solidFill>
                <a:effectLst/>
                <a:latin typeface="Calibri" panose="020F0502020204030204" pitchFamily="34" charset="0"/>
                <a:ea typeface="Times New Roman" panose="02020603050405020304" pitchFamily="18" charset="0"/>
                <a:cs typeface="B Nazanin" panose="00000400000000000000" pitchFamily="2" charset="-78"/>
              </a:rPr>
              <a:t>:</a:t>
            </a:r>
            <a:endParaRPr kumimoji="0" lang="en-US" altLang="en-US" sz="800" b="0" i="0" u="none" strike="noStrike" cap="none" normalizeH="0" baseline="0" dirty="0">
              <a:ln>
                <a:noFill/>
              </a:ln>
              <a:solidFill>
                <a:schemeClr val="tx1"/>
              </a:solidFill>
              <a:effectLst/>
            </a:endParaRPr>
          </a:p>
          <a:p>
            <a:pPr marL="0" marR="0" lvl="0" indent="0" algn="r" defTabSz="914400" rtl="1" eaLnBrk="0" fontAlgn="base" latinLnBrk="0" hangingPunct="0">
              <a:lnSpc>
                <a:spcPct val="100000"/>
              </a:lnSpc>
              <a:spcBef>
                <a:spcPct val="0"/>
              </a:spcBef>
              <a:spcAft>
                <a:spcPct val="0"/>
              </a:spcAft>
              <a:buClrTx/>
              <a:buSzTx/>
              <a:buFontTx/>
              <a:buAutoNum type="arabicPeriod"/>
              <a:tabLst/>
            </a:pPr>
            <a:r>
              <a:rPr kumimoji="0" lang="ar-SA" altLang="en-US" sz="2800" b="0" i="0" u="none" strike="noStrike" cap="none" normalizeH="0" baseline="0" dirty="0">
                <a:ln>
                  <a:noFill/>
                </a:ln>
                <a:solidFill>
                  <a:schemeClr val="tx1"/>
                </a:solidFill>
                <a:effectLst/>
                <a:latin typeface="Times New Roman" panose="02020603050405020304" pitchFamily="18" charset="0"/>
                <a:ea typeface="Times New Roman" panose="02020603050405020304" pitchFamily="18" charset="0"/>
                <a:cs typeface="B Nazanin" panose="00000400000000000000" pitchFamily="2" charset="-78"/>
              </a:rPr>
              <a:t>جدول </a:t>
            </a:r>
            <a:r>
              <a:rPr kumimoji="0" lang="en-US" altLang="en-US" sz="2800" b="1" i="0" u="none" strike="noStrike" cap="none" normalizeH="0" baseline="0" dirty="0" err="1">
                <a:ln>
                  <a:noFill/>
                </a:ln>
                <a:solidFill>
                  <a:schemeClr val="tx1"/>
                </a:solidFill>
                <a:effectLst/>
                <a:latin typeface="Calibri" panose="020F0502020204030204" pitchFamily="34" charset="0"/>
                <a:ea typeface="Times New Roman" panose="02020603050405020304" pitchFamily="18" charset="0"/>
                <a:cs typeface="B Nazanin" panose="00000400000000000000" pitchFamily="2" charset="-78"/>
              </a:rPr>
              <a:t>Student_Course</a:t>
            </a:r>
            <a:r>
              <a:rPr kumimoji="0" lang="en-US" altLang="en-US" sz="2800" b="0" i="0" u="none" strike="noStrike" cap="none" normalizeH="0" baseline="0" dirty="0">
                <a:ln>
                  <a:noFill/>
                </a:ln>
                <a:solidFill>
                  <a:schemeClr val="tx1"/>
                </a:solidFill>
                <a:effectLst/>
                <a:latin typeface="Calibri" panose="020F0502020204030204" pitchFamily="34" charset="0"/>
                <a:ea typeface="Times New Roman" panose="02020603050405020304" pitchFamily="18" charset="0"/>
                <a:cs typeface="B Nazanin" panose="00000400000000000000" pitchFamily="2" charset="-78"/>
              </a:rPr>
              <a:t> </a:t>
            </a:r>
            <a:r>
              <a:rPr kumimoji="0" lang="ar-SA" altLang="en-US" sz="2800" b="0" i="0" u="none" strike="noStrike" cap="none" normalizeH="0" baseline="0" dirty="0">
                <a:ln>
                  <a:noFill/>
                </a:ln>
                <a:solidFill>
                  <a:schemeClr val="tx1"/>
                </a:solidFill>
                <a:effectLst/>
                <a:latin typeface="Times New Roman" panose="02020603050405020304" pitchFamily="18" charset="0"/>
                <a:ea typeface="Times New Roman" panose="02020603050405020304" pitchFamily="18" charset="0"/>
                <a:cs typeface="B Nazanin" panose="00000400000000000000" pitchFamily="2" charset="-78"/>
              </a:rPr>
              <a:t>که اطلاعات مربوط به دانشجویان و دوره‌ها را نگهداری می‌کند</a:t>
            </a:r>
            <a:r>
              <a:rPr kumimoji="0" lang="en-US" altLang="en-US" sz="2800" b="0" i="0" u="none" strike="noStrike" cap="none" normalizeH="0" baseline="0" dirty="0">
                <a:ln>
                  <a:noFill/>
                </a:ln>
                <a:solidFill>
                  <a:schemeClr val="tx1"/>
                </a:solidFill>
                <a:effectLst/>
                <a:latin typeface="Calibri" panose="020F0502020204030204" pitchFamily="34" charset="0"/>
                <a:ea typeface="Times New Roman" panose="02020603050405020304" pitchFamily="18" charset="0"/>
                <a:cs typeface="B Nazanin" panose="00000400000000000000" pitchFamily="2" charset="-78"/>
              </a:rPr>
              <a:t>:</a:t>
            </a:r>
            <a:endParaRPr kumimoji="0" lang="en-US" altLang="en-US" sz="800" b="0" i="0" u="none" strike="noStrike" cap="none" normalizeH="0" baseline="0" dirty="0">
              <a:ln>
                <a:noFill/>
              </a:ln>
              <a:solidFill>
                <a:schemeClr val="tx1"/>
              </a:solidFill>
              <a:effectLst/>
            </a:endParaRPr>
          </a:p>
          <a:p>
            <a:pPr marL="0" marR="0" lvl="0" indent="0" algn="r" defTabSz="914400" rtl="1" eaLnBrk="0" fontAlgn="base" latinLnBrk="0" hangingPunct="0">
              <a:lnSpc>
                <a:spcPct val="100000"/>
              </a:lnSpc>
              <a:spcBef>
                <a:spcPct val="0"/>
              </a:spcBef>
              <a:spcAft>
                <a:spcPct val="0"/>
              </a:spcAft>
              <a:buClrTx/>
              <a:buSzTx/>
              <a:buFontTx/>
              <a:buNone/>
              <a:tabLst/>
            </a:pPr>
            <a:r>
              <a:rPr kumimoji="0" lang="ar-SA" altLang="en-US" sz="2800" b="0" i="0" u="none" strike="noStrike" cap="none" normalizeH="0" baseline="0" dirty="0">
                <a:ln>
                  <a:noFill/>
                </a:ln>
                <a:solidFill>
                  <a:schemeClr val="tx1"/>
                </a:solidFill>
                <a:effectLst/>
                <a:latin typeface="Times New Roman" panose="02020603050405020304" pitchFamily="18" charset="0"/>
                <a:ea typeface="Times New Roman" panose="02020603050405020304" pitchFamily="18" charset="0"/>
                <a:cs typeface="B Nazanin" panose="00000400000000000000" pitchFamily="2" charset="-78"/>
              </a:rPr>
              <a:t>در این حالت، هر جدول به</a:t>
            </a:r>
            <a:r>
              <a:rPr kumimoji="0" lang="en-US" altLang="en-US" sz="2800" b="0" i="0" u="none" strike="noStrike" cap="none" normalizeH="0" baseline="0" dirty="0">
                <a:ln>
                  <a:noFill/>
                </a:ln>
                <a:solidFill>
                  <a:schemeClr val="tx1"/>
                </a:solidFill>
                <a:effectLst/>
                <a:latin typeface="Calibri" panose="020F0502020204030204" pitchFamily="34" charset="0"/>
                <a:ea typeface="Times New Roman" panose="02020603050405020304" pitchFamily="18" charset="0"/>
                <a:cs typeface="B Nazanin" panose="00000400000000000000" pitchFamily="2" charset="-78"/>
              </a:rPr>
              <a:t> BCNF </a:t>
            </a:r>
            <a:r>
              <a:rPr kumimoji="0" lang="ar-SA" altLang="en-US" sz="2800" b="0" i="0" u="none" strike="noStrike" cap="none" normalizeH="0" baseline="0" dirty="0">
                <a:ln>
                  <a:noFill/>
                </a:ln>
                <a:solidFill>
                  <a:schemeClr val="tx1"/>
                </a:solidFill>
                <a:effectLst/>
                <a:latin typeface="Times New Roman" panose="02020603050405020304" pitchFamily="18" charset="0"/>
                <a:ea typeface="Times New Roman" panose="02020603050405020304" pitchFamily="18" charset="0"/>
                <a:cs typeface="B Nazanin" panose="00000400000000000000" pitchFamily="2" charset="-78"/>
              </a:rPr>
              <a:t>رسیده است، زیرا در هیچ‌کدام از جداول، وابستگی تابعی وجود ندارد که ویژگی‌های چپ آن‌ها سوپرکلید نباشد</a:t>
            </a:r>
            <a:r>
              <a:rPr kumimoji="0" lang="en-US" altLang="en-US" sz="2800" b="0" i="0" u="none" strike="noStrike" cap="none" normalizeH="0" baseline="0" dirty="0">
                <a:ln>
                  <a:noFill/>
                </a:ln>
                <a:solidFill>
                  <a:schemeClr val="tx1"/>
                </a:solidFill>
                <a:effectLst/>
                <a:latin typeface="Calibri" panose="020F0502020204030204" pitchFamily="34" charset="0"/>
                <a:ea typeface="Times New Roman" panose="02020603050405020304" pitchFamily="18" charset="0"/>
                <a:cs typeface="B Nazanin" panose="00000400000000000000" pitchFamily="2" charset="-78"/>
              </a:rPr>
              <a:t>.</a:t>
            </a:r>
            <a:endParaRPr kumimoji="0" lang="en-US" altLang="en-US" sz="4000" b="0" i="0" u="none" strike="noStrike" cap="none" normalizeH="0" baseline="0" dirty="0">
              <a:ln>
                <a:noFill/>
              </a:ln>
              <a:solidFill>
                <a:schemeClr val="tx1"/>
              </a:solidFill>
              <a:effectLst/>
              <a:latin typeface="Arial" panose="020B0604020202020204" pitchFamily="34" charset="0"/>
              <a:cs typeface="Arial" panose="020B0604020202020204" pitchFamily="34" charset="0"/>
            </a:endParaRPr>
          </a:p>
          <a:p>
            <a:pPr marL="0" marR="0" lvl="0" indent="0" algn="r" defTabSz="914400" rtl="1" eaLnBrk="0" fontAlgn="base" latinLnBrk="0" hangingPunct="0">
              <a:lnSpc>
                <a:spcPct val="100000"/>
              </a:lnSpc>
              <a:spcBef>
                <a:spcPct val="0"/>
              </a:spcBef>
              <a:spcAft>
                <a:spcPct val="0"/>
              </a:spcAft>
              <a:buClrTx/>
              <a:buSzTx/>
              <a:buFontTx/>
              <a:buNone/>
              <a:tabLst/>
            </a:pPr>
            <a:endParaRPr kumimoji="0" lang="en-US" altLang="en-US" sz="2800" b="0" i="0" u="none" strike="noStrike" cap="none" normalizeH="0" baseline="0" dirty="0">
              <a:ln>
                <a:noFill/>
              </a:ln>
              <a:solidFill>
                <a:schemeClr val="tx1"/>
              </a:solidFill>
              <a:effectLst/>
              <a:latin typeface="Arial" panose="020B0604020202020204" pitchFamily="34" charset="0"/>
              <a:cs typeface="Arial" panose="020B0604020202020204" pitchFamily="34" charset="0"/>
            </a:endParaRPr>
          </a:p>
        </p:txBody>
      </p:sp>
      <p:sp>
        <p:nvSpPr>
          <p:cNvPr id="3" name="Slide Number Placeholder 2">
            <a:extLst>
              <a:ext uri="{FF2B5EF4-FFF2-40B4-BE49-F238E27FC236}">
                <a16:creationId xmlns:a16="http://schemas.microsoft.com/office/drawing/2014/main" id="{3912FC48-26F3-4848-BBE3-05E4687419AB}"/>
              </a:ext>
            </a:extLst>
          </p:cNvPr>
          <p:cNvSpPr>
            <a:spLocks noGrp="1"/>
          </p:cNvSpPr>
          <p:nvPr>
            <p:ph type="sldNum" sz="quarter" idx="4294967295"/>
          </p:nvPr>
        </p:nvSpPr>
        <p:spPr>
          <a:xfrm>
            <a:off x="7994650" y="6334125"/>
            <a:ext cx="1149350" cy="365125"/>
          </a:xfrm>
        </p:spPr>
        <p:txBody>
          <a:bodyPr/>
          <a:lstStyle/>
          <a:p>
            <a:fld id="{9B1BEC6B-D08C-4686-9D99-35ADA0E9E6CD}" type="slidenum">
              <a:rPr lang="en-US" smtClean="0"/>
              <a:t>37</a:t>
            </a:fld>
            <a:endParaRPr lang="en-US"/>
          </a:p>
        </p:txBody>
      </p:sp>
      <p:graphicFrame>
        <p:nvGraphicFramePr>
          <p:cNvPr id="4" name="Table 3">
            <a:extLst>
              <a:ext uri="{FF2B5EF4-FFF2-40B4-BE49-F238E27FC236}">
                <a16:creationId xmlns:a16="http://schemas.microsoft.com/office/drawing/2014/main" id="{C158B4EA-476D-402D-A1EF-C767CD4B2E5C}"/>
              </a:ext>
            </a:extLst>
          </p:cNvPr>
          <p:cNvGraphicFramePr>
            <a:graphicFrameLocks noGrp="1"/>
          </p:cNvGraphicFramePr>
          <p:nvPr/>
        </p:nvGraphicFramePr>
        <p:xfrm>
          <a:off x="304800" y="4426380"/>
          <a:ext cx="2640106" cy="916974"/>
        </p:xfrm>
        <a:graphic>
          <a:graphicData uri="http://schemas.openxmlformats.org/drawingml/2006/table">
            <a:tbl>
              <a:tblPr firstRow="1" firstCol="1" bandRow="1">
                <a:tableStyleId>{616DA210-FB5B-4158-B5E0-FEB733F419BA}</a:tableStyleId>
              </a:tblPr>
              <a:tblGrid>
                <a:gridCol w="1320053">
                  <a:extLst>
                    <a:ext uri="{9D8B030D-6E8A-4147-A177-3AD203B41FA5}">
                      <a16:colId xmlns:a16="http://schemas.microsoft.com/office/drawing/2014/main" val="1480427199"/>
                    </a:ext>
                  </a:extLst>
                </a:gridCol>
                <a:gridCol w="1320053">
                  <a:extLst>
                    <a:ext uri="{9D8B030D-6E8A-4147-A177-3AD203B41FA5}">
                      <a16:colId xmlns:a16="http://schemas.microsoft.com/office/drawing/2014/main" val="364619874"/>
                    </a:ext>
                  </a:extLst>
                </a:gridCol>
              </a:tblGrid>
              <a:tr h="305658">
                <a:tc>
                  <a:txBody>
                    <a:bodyPr/>
                    <a:lstStyle/>
                    <a:p>
                      <a:pPr marL="0" marR="0" algn="ctr" rtl="1">
                        <a:lnSpc>
                          <a:spcPct val="107000"/>
                        </a:lnSpc>
                        <a:spcBef>
                          <a:spcPts val="0"/>
                        </a:spcBef>
                        <a:spcAft>
                          <a:spcPts val="0"/>
                        </a:spcAft>
                      </a:pPr>
                      <a:r>
                        <a:rPr lang="en-US" sz="1600" dirty="0" err="1">
                          <a:effectLst/>
                        </a:rPr>
                        <a:t>Course_ID</a:t>
                      </a:r>
                      <a:endParaRPr lang="en-US" sz="1400" dirty="0">
                        <a:effectLst/>
                        <a:latin typeface="Calibri" panose="020F0502020204030204" pitchFamily="34" charset="0"/>
                        <a:ea typeface="Calibri" panose="020F0502020204030204" pitchFamily="34" charset="0"/>
                        <a:cs typeface="Arial" panose="020B0604020202020204" pitchFamily="34" charset="0"/>
                      </a:endParaRPr>
                    </a:p>
                  </a:txBody>
                  <a:tcPr marL="9525" marR="9525" marT="9525" marB="9525" anchor="ctr"/>
                </a:tc>
                <a:tc>
                  <a:txBody>
                    <a:bodyPr/>
                    <a:lstStyle/>
                    <a:p>
                      <a:pPr marL="0" marR="0" algn="ctr" rtl="1">
                        <a:lnSpc>
                          <a:spcPct val="107000"/>
                        </a:lnSpc>
                        <a:spcBef>
                          <a:spcPts val="0"/>
                        </a:spcBef>
                        <a:spcAft>
                          <a:spcPts val="0"/>
                        </a:spcAft>
                      </a:pPr>
                      <a:r>
                        <a:rPr lang="en-US" sz="1600">
                          <a:effectLst/>
                        </a:rPr>
                        <a:t>Instructor</a:t>
                      </a:r>
                      <a:endParaRPr lang="en-US" sz="1400">
                        <a:effectLst/>
                        <a:latin typeface="Calibri" panose="020F0502020204030204" pitchFamily="34" charset="0"/>
                        <a:ea typeface="Calibri" panose="020F0502020204030204" pitchFamily="34" charset="0"/>
                        <a:cs typeface="Arial" panose="020B0604020202020204" pitchFamily="34" charset="0"/>
                      </a:endParaRPr>
                    </a:p>
                  </a:txBody>
                  <a:tcPr marL="9525" marR="9525" marT="9525" marB="9525" anchor="ctr"/>
                </a:tc>
                <a:extLst>
                  <a:ext uri="{0D108BD9-81ED-4DB2-BD59-A6C34878D82A}">
                    <a16:rowId xmlns:a16="http://schemas.microsoft.com/office/drawing/2014/main" val="2549653639"/>
                  </a:ext>
                </a:extLst>
              </a:tr>
              <a:tr h="305658">
                <a:tc>
                  <a:txBody>
                    <a:bodyPr/>
                    <a:lstStyle/>
                    <a:p>
                      <a:pPr marL="0" marR="0" algn="ctr" rtl="1">
                        <a:lnSpc>
                          <a:spcPct val="107000"/>
                        </a:lnSpc>
                        <a:spcBef>
                          <a:spcPts val="0"/>
                        </a:spcBef>
                        <a:spcAft>
                          <a:spcPts val="0"/>
                        </a:spcAft>
                      </a:pPr>
                      <a:r>
                        <a:rPr lang="en-US" sz="1600" dirty="0">
                          <a:effectLst/>
                        </a:rPr>
                        <a:t>101</a:t>
                      </a:r>
                      <a:endParaRPr lang="en-US" sz="1400" dirty="0">
                        <a:effectLst/>
                        <a:latin typeface="Calibri" panose="020F0502020204030204" pitchFamily="34" charset="0"/>
                        <a:ea typeface="Calibri" panose="020F0502020204030204" pitchFamily="34" charset="0"/>
                        <a:cs typeface="Arial" panose="020B0604020202020204" pitchFamily="34" charset="0"/>
                      </a:endParaRPr>
                    </a:p>
                  </a:txBody>
                  <a:tcPr marL="9525" marR="9525" marT="9525" marB="9525" anchor="ctr"/>
                </a:tc>
                <a:tc>
                  <a:txBody>
                    <a:bodyPr/>
                    <a:lstStyle/>
                    <a:p>
                      <a:pPr marL="0" marR="0" algn="ctr" rtl="1">
                        <a:lnSpc>
                          <a:spcPct val="107000"/>
                        </a:lnSpc>
                        <a:spcBef>
                          <a:spcPts val="0"/>
                        </a:spcBef>
                        <a:spcAft>
                          <a:spcPts val="0"/>
                        </a:spcAft>
                      </a:pPr>
                      <a:r>
                        <a:rPr lang="en-US" sz="1600" dirty="0">
                          <a:effectLst/>
                        </a:rPr>
                        <a:t>Dr. A</a:t>
                      </a:r>
                      <a:endParaRPr lang="en-US" sz="1400" dirty="0">
                        <a:effectLst/>
                        <a:latin typeface="Calibri" panose="020F0502020204030204" pitchFamily="34" charset="0"/>
                        <a:ea typeface="Calibri" panose="020F0502020204030204" pitchFamily="34" charset="0"/>
                        <a:cs typeface="Arial" panose="020B0604020202020204" pitchFamily="34" charset="0"/>
                      </a:endParaRPr>
                    </a:p>
                  </a:txBody>
                  <a:tcPr marL="9525" marR="9525" marT="9525" marB="9525" anchor="ctr"/>
                </a:tc>
                <a:extLst>
                  <a:ext uri="{0D108BD9-81ED-4DB2-BD59-A6C34878D82A}">
                    <a16:rowId xmlns:a16="http://schemas.microsoft.com/office/drawing/2014/main" val="3902150322"/>
                  </a:ext>
                </a:extLst>
              </a:tr>
              <a:tr h="305658">
                <a:tc>
                  <a:txBody>
                    <a:bodyPr/>
                    <a:lstStyle/>
                    <a:p>
                      <a:pPr marL="0" marR="0" algn="ctr" rtl="1">
                        <a:lnSpc>
                          <a:spcPct val="107000"/>
                        </a:lnSpc>
                        <a:spcBef>
                          <a:spcPts val="0"/>
                        </a:spcBef>
                        <a:spcAft>
                          <a:spcPts val="0"/>
                        </a:spcAft>
                      </a:pPr>
                      <a:r>
                        <a:rPr lang="en-US" sz="1600">
                          <a:effectLst/>
                        </a:rPr>
                        <a:t>102</a:t>
                      </a:r>
                      <a:endParaRPr lang="en-US" sz="1400">
                        <a:effectLst/>
                        <a:latin typeface="Calibri" panose="020F0502020204030204" pitchFamily="34" charset="0"/>
                        <a:ea typeface="Calibri" panose="020F0502020204030204" pitchFamily="34" charset="0"/>
                        <a:cs typeface="Arial" panose="020B0604020202020204" pitchFamily="34" charset="0"/>
                      </a:endParaRPr>
                    </a:p>
                  </a:txBody>
                  <a:tcPr marL="9525" marR="9525" marT="9525" marB="9525" anchor="ctr"/>
                </a:tc>
                <a:tc>
                  <a:txBody>
                    <a:bodyPr/>
                    <a:lstStyle/>
                    <a:p>
                      <a:pPr marL="0" marR="0" algn="ctr" rtl="1">
                        <a:lnSpc>
                          <a:spcPct val="107000"/>
                        </a:lnSpc>
                        <a:spcBef>
                          <a:spcPts val="0"/>
                        </a:spcBef>
                        <a:spcAft>
                          <a:spcPts val="0"/>
                        </a:spcAft>
                      </a:pPr>
                      <a:r>
                        <a:rPr lang="en-US" sz="1600" dirty="0">
                          <a:effectLst/>
                        </a:rPr>
                        <a:t>Dr. B</a:t>
                      </a:r>
                      <a:endParaRPr lang="en-US" sz="1400" dirty="0">
                        <a:effectLst/>
                        <a:latin typeface="Calibri" panose="020F0502020204030204" pitchFamily="34" charset="0"/>
                        <a:ea typeface="Calibri" panose="020F0502020204030204" pitchFamily="34" charset="0"/>
                        <a:cs typeface="Arial" panose="020B0604020202020204" pitchFamily="34" charset="0"/>
                      </a:endParaRPr>
                    </a:p>
                  </a:txBody>
                  <a:tcPr marL="9525" marR="9525" marT="9525" marB="9525" anchor="ctr"/>
                </a:tc>
                <a:extLst>
                  <a:ext uri="{0D108BD9-81ED-4DB2-BD59-A6C34878D82A}">
                    <a16:rowId xmlns:a16="http://schemas.microsoft.com/office/drawing/2014/main" val="2224336818"/>
                  </a:ext>
                </a:extLst>
              </a:tr>
            </a:tbl>
          </a:graphicData>
        </a:graphic>
      </p:graphicFrame>
      <p:graphicFrame>
        <p:nvGraphicFramePr>
          <p:cNvPr id="5" name="Table 4">
            <a:extLst>
              <a:ext uri="{FF2B5EF4-FFF2-40B4-BE49-F238E27FC236}">
                <a16:creationId xmlns:a16="http://schemas.microsoft.com/office/drawing/2014/main" id="{3D5BC913-FBBF-489B-9BD5-9F6DD7235939}"/>
              </a:ext>
            </a:extLst>
          </p:cNvPr>
          <p:cNvGraphicFramePr>
            <a:graphicFrameLocks noGrp="1"/>
          </p:cNvGraphicFramePr>
          <p:nvPr/>
        </p:nvGraphicFramePr>
        <p:xfrm>
          <a:off x="4878669" y="4289363"/>
          <a:ext cx="3956049" cy="1191008"/>
        </p:xfrm>
        <a:graphic>
          <a:graphicData uri="http://schemas.openxmlformats.org/drawingml/2006/table">
            <a:tbl>
              <a:tblPr firstRow="1" firstCol="1" bandRow="1">
                <a:tableStyleId>{616DA210-FB5B-4158-B5E0-FEB733F419BA}</a:tableStyleId>
              </a:tblPr>
              <a:tblGrid>
                <a:gridCol w="1318683">
                  <a:extLst>
                    <a:ext uri="{9D8B030D-6E8A-4147-A177-3AD203B41FA5}">
                      <a16:colId xmlns:a16="http://schemas.microsoft.com/office/drawing/2014/main" val="3316396909"/>
                    </a:ext>
                  </a:extLst>
                </a:gridCol>
                <a:gridCol w="1318683">
                  <a:extLst>
                    <a:ext uri="{9D8B030D-6E8A-4147-A177-3AD203B41FA5}">
                      <a16:colId xmlns:a16="http://schemas.microsoft.com/office/drawing/2014/main" val="3678757581"/>
                    </a:ext>
                  </a:extLst>
                </a:gridCol>
                <a:gridCol w="1318683">
                  <a:extLst>
                    <a:ext uri="{9D8B030D-6E8A-4147-A177-3AD203B41FA5}">
                      <a16:colId xmlns:a16="http://schemas.microsoft.com/office/drawing/2014/main" val="541035167"/>
                    </a:ext>
                  </a:extLst>
                </a:gridCol>
              </a:tblGrid>
              <a:tr h="285750">
                <a:tc>
                  <a:txBody>
                    <a:bodyPr/>
                    <a:lstStyle/>
                    <a:p>
                      <a:pPr marL="0" marR="0" algn="ctr" rtl="1">
                        <a:lnSpc>
                          <a:spcPct val="107000"/>
                        </a:lnSpc>
                        <a:spcBef>
                          <a:spcPts val="0"/>
                        </a:spcBef>
                        <a:spcAft>
                          <a:spcPts val="0"/>
                        </a:spcAft>
                      </a:pPr>
                      <a:r>
                        <a:rPr lang="en-US" sz="1800" dirty="0" err="1">
                          <a:effectLst/>
                        </a:rPr>
                        <a:t>Student_ID</a:t>
                      </a:r>
                      <a:endParaRPr lang="en-US" sz="1600" dirty="0">
                        <a:effectLst/>
                        <a:latin typeface="Calibri" panose="020F0502020204030204" pitchFamily="34" charset="0"/>
                        <a:ea typeface="Calibri" panose="020F0502020204030204" pitchFamily="34" charset="0"/>
                        <a:cs typeface="Arial" panose="020B0604020202020204" pitchFamily="34" charset="0"/>
                      </a:endParaRPr>
                    </a:p>
                  </a:txBody>
                  <a:tcPr marL="9525" marR="9525" marT="9525" marB="9525" anchor="ctr"/>
                </a:tc>
                <a:tc>
                  <a:txBody>
                    <a:bodyPr/>
                    <a:lstStyle/>
                    <a:p>
                      <a:pPr marL="0" marR="0" algn="ctr" rtl="1">
                        <a:lnSpc>
                          <a:spcPct val="107000"/>
                        </a:lnSpc>
                        <a:spcBef>
                          <a:spcPts val="0"/>
                        </a:spcBef>
                        <a:spcAft>
                          <a:spcPts val="0"/>
                        </a:spcAft>
                      </a:pPr>
                      <a:r>
                        <a:rPr lang="en-US" sz="1800" dirty="0" err="1">
                          <a:effectLst/>
                        </a:rPr>
                        <a:t>Course_ID</a:t>
                      </a:r>
                      <a:endParaRPr lang="en-US" sz="1600" dirty="0">
                        <a:effectLst/>
                        <a:latin typeface="Calibri" panose="020F0502020204030204" pitchFamily="34" charset="0"/>
                        <a:ea typeface="Calibri" panose="020F0502020204030204" pitchFamily="34" charset="0"/>
                        <a:cs typeface="Arial" panose="020B0604020202020204" pitchFamily="34" charset="0"/>
                      </a:endParaRPr>
                    </a:p>
                  </a:txBody>
                  <a:tcPr marL="9525" marR="9525" marT="9525" marB="9525" anchor="ctr"/>
                </a:tc>
                <a:tc>
                  <a:txBody>
                    <a:bodyPr/>
                    <a:lstStyle/>
                    <a:p>
                      <a:pPr marL="0" marR="0" algn="ctr" rtl="1">
                        <a:lnSpc>
                          <a:spcPct val="107000"/>
                        </a:lnSpc>
                        <a:spcBef>
                          <a:spcPts val="0"/>
                        </a:spcBef>
                        <a:spcAft>
                          <a:spcPts val="0"/>
                        </a:spcAft>
                      </a:pPr>
                      <a:r>
                        <a:rPr lang="en-US" sz="1800" dirty="0">
                          <a:effectLst/>
                        </a:rPr>
                        <a:t>Semester</a:t>
                      </a:r>
                      <a:endParaRPr lang="en-US" sz="1600" dirty="0">
                        <a:effectLst/>
                        <a:latin typeface="Calibri" panose="020F0502020204030204" pitchFamily="34" charset="0"/>
                        <a:ea typeface="Calibri" panose="020F0502020204030204" pitchFamily="34" charset="0"/>
                        <a:cs typeface="Arial" panose="020B0604020202020204" pitchFamily="34" charset="0"/>
                      </a:endParaRPr>
                    </a:p>
                  </a:txBody>
                  <a:tcPr marL="9525" marR="9525" marT="9525" marB="9525" anchor="ctr"/>
                </a:tc>
                <a:extLst>
                  <a:ext uri="{0D108BD9-81ED-4DB2-BD59-A6C34878D82A}">
                    <a16:rowId xmlns:a16="http://schemas.microsoft.com/office/drawing/2014/main" val="3319053270"/>
                  </a:ext>
                </a:extLst>
              </a:tr>
              <a:tr h="285750">
                <a:tc>
                  <a:txBody>
                    <a:bodyPr/>
                    <a:lstStyle/>
                    <a:p>
                      <a:pPr marL="0" marR="0" algn="ctr" rtl="1">
                        <a:lnSpc>
                          <a:spcPct val="107000"/>
                        </a:lnSpc>
                        <a:spcBef>
                          <a:spcPts val="0"/>
                        </a:spcBef>
                        <a:spcAft>
                          <a:spcPts val="0"/>
                        </a:spcAft>
                      </a:pPr>
                      <a:r>
                        <a:rPr lang="en-US" sz="1800" dirty="0">
                          <a:effectLst/>
                        </a:rPr>
                        <a:t>1</a:t>
                      </a:r>
                      <a:endParaRPr lang="en-US" sz="1600" dirty="0">
                        <a:effectLst/>
                        <a:latin typeface="Calibri" panose="020F0502020204030204" pitchFamily="34" charset="0"/>
                        <a:ea typeface="Calibri" panose="020F0502020204030204" pitchFamily="34" charset="0"/>
                        <a:cs typeface="Arial" panose="020B0604020202020204" pitchFamily="34" charset="0"/>
                      </a:endParaRPr>
                    </a:p>
                  </a:txBody>
                  <a:tcPr marL="9525" marR="9525" marT="9525" marB="9525" anchor="ctr"/>
                </a:tc>
                <a:tc>
                  <a:txBody>
                    <a:bodyPr/>
                    <a:lstStyle/>
                    <a:p>
                      <a:pPr marL="0" marR="0" algn="ctr" rtl="1">
                        <a:lnSpc>
                          <a:spcPct val="107000"/>
                        </a:lnSpc>
                        <a:spcBef>
                          <a:spcPts val="0"/>
                        </a:spcBef>
                        <a:spcAft>
                          <a:spcPts val="0"/>
                        </a:spcAft>
                      </a:pPr>
                      <a:r>
                        <a:rPr lang="en-US" sz="1800" dirty="0">
                          <a:effectLst/>
                        </a:rPr>
                        <a:t>101</a:t>
                      </a:r>
                      <a:endParaRPr lang="en-US" sz="1600" dirty="0">
                        <a:effectLst/>
                        <a:latin typeface="Calibri" panose="020F0502020204030204" pitchFamily="34" charset="0"/>
                        <a:ea typeface="Calibri" panose="020F0502020204030204" pitchFamily="34" charset="0"/>
                        <a:cs typeface="Arial" panose="020B0604020202020204" pitchFamily="34" charset="0"/>
                      </a:endParaRPr>
                    </a:p>
                  </a:txBody>
                  <a:tcPr marL="9525" marR="9525" marT="9525" marB="9525" anchor="ctr"/>
                </a:tc>
                <a:tc>
                  <a:txBody>
                    <a:bodyPr/>
                    <a:lstStyle/>
                    <a:p>
                      <a:pPr marL="0" marR="0" algn="ctr" rtl="1">
                        <a:lnSpc>
                          <a:spcPct val="107000"/>
                        </a:lnSpc>
                        <a:spcBef>
                          <a:spcPts val="0"/>
                        </a:spcBef>
                        <a:spcAft>
                          <a:spcPts val="0"/>
                        </a:spcAft>
                      </a:pPr>
                      <a:r>
                        <a:rPr lang="en-US" sz="1800">
                          <a:effectLst/>
                        </a:rPr>
                        <a:t>Fall 2024</a:t>
                      </a:r>
                      <a:endParaRPr lang="en-US" sz="1600">
                        <a:effectLst/>
                        <a:latin typeface="Calibri" panose="020F0502020204030204" pitchFamily="34" charset="0"/>
                        <a:ea typeface="Calibri" panose="020F0502020204030204" pitchFamily="34" charset="0"/>
                        <a:cs typeface="Arial" panose="020B0604020202020204" pitchFamily="34" charset="0"/>
                      </a:endParaRPr>
                    </a:p>
                  </a:txBody>
                  <a:tcPr marL="9525" marR="9525" marT="9525" marB="9525" anchor="ctr"/>
                </a:tc>
                <a:extLst>
                  <a:ext uri="{0D108BD9-81ED-4DB2-BD59-A6C34878D82A}">
                    <a16:rowId xmlns:a16="http://schemas.microsoft.com/office/drawing/2014/main" val="2644173297"/>
                  </a:ext>
                </a:extLst>
              </a:tr>
              <a:tr h="285750">
                <a:tc>
                  <a:txBody>
                    <a:bodyPr/>
                    <a:lstStyle/>
                    <a:p>
                      <a:pPr marL="0" marR="0" algn="ctr" rtl="1">
                        <a:lnSpc>
                          <a:spcPct val="107000"/>
                        </a:lnSpc>
                        <a:spcBef>
                          <a:spcPts val="0"/>
                        </a:spcBef>
                        <a:spcAft>
                          <a:spcPts val="0"/>
                        </a:spcAft>
                      </a:pPr>
                      <a:r>
                        <a:rPr lang="en-US" sz="1800">
                          <a:effectLst/>
                        </a:rPr>
                        <a:t>2</a:t>
                      </a:r>
                      <a:endParaRPr lang="en-US" sz="1600">
                        <a:effectLst/>
                        <a:latin typeface="Calibri" panose="020F0502020204030204" pitchFamily="34" charset="0"/>
                        <a:ea typeface="Calibri" panose="020F0502020204030204" pitchFamily="34" charset="0"/>
                        <a:cs typeface="Arial" panose="020B0604020202020204" pitchFamily="34" charset="0"/>
                      </a:endParaRPr>
                    </a:p>
                  </a:txBody>
                  <a:tcPr marL="9525" marR="9525" marT="9525" marB="9525" anchor="ctr"/>
                </a:tc>
                <a:tc>
                  <a:txBody>
                    <a:bodyPr/>
                    <a:lstStyle/>
                    <a:p>
                      <a:pPr marL="0" marR="0" algn="ctr" rtl="1">
                        <a:lnSpc>
                          <a:spcPct val="107000"/>
                        </a:lnSpc>
                        <a:spcBef>
                          <a:spcPts val="0"/>
                        </a:spcBef>
                        <a:spcAft>
                          <a:spcPts val="0"/>
                        </a:spcAft>
                      </a:pPr>
                      <a:r>
                        <a:rPr lang="en-US" sz="1800" dirty="0">
                          <a:effectLst/>
                        </a:rPr>
                        <a:t>102</a:t>
                      </a:r>
                      <a:endParaRPr lang="en-US" sz="1600" dirty="0">
                        <a:effectLst/>
                        <a:latin typeface="Calibri" panose="020F0502020204030204" pitchFamily="34" charset="0"/>
                        <a:ea typeface="Calibri" panose="020F0502020204030204" pitchFamily="34" charset="0"/>
                        <a:cs typeface="Arial" panose="020B0604020202020204" pitchFamily="34" charset="0"/>
                      </a:endParaRPr>
                    </a:p>
                  </a:txBody>
                  <a:tcPr marL="9525" marR="9525" marT="9525" marB="9525" anchor="ctr"/>
                </a:tc>
                <a:tc>
                  <a:txBody>
                    <a:bodyPr/>
                    <a:lstStyle/>
                    <a:p>
                      <a:pPr marL="0" marR="0" algn="ctr" rtl="1">
                        <a:lnSpc>
                          <a:spcPct val="107000"/>
                        </a:lnSpc>
                        <a:spcBef>
                          <a:spcPts val="0"/>
                        </a:spcBef>
                        <a:spcAft>
                          <a:spcPts val="0"/>
                        </a:spcAft>
                      </a:pPr>
                      <a:r>
                        <a:rPr lang="en-US" sz="1800" dirty="0">
                          <a:effectLst/>
                        </a:rPr>
                        <a:t>Spring 2024</a:t>
                      </a:r>
                      <a:endParaRPr lang="en-US" sz="1600" dirty="0">
                        <a:effectLst/>
                        <a:latin typeface="Calibri" panose="020F0502020204030204" pitchFamily="34" charset="0"/>
                        <a:ea typeface="Calibri" panose="020F0502020204030204" pitchFamily="34" charset="0"/>
                        <a:cs typeface="Arial" panose="020B0604020202020204" pitchFamily="34" charset="0"/>
                      </a:endParaRPr>
                    </a:p>
                  </a:txBody>
                  <a:tcPr marL="9525" marR="9525" marT="9525" marB="9525" anchor="ctr"/>
                </a:tc>
                <a:extLst>
                  <a:ext uri="{0D108BD9-81ED-4DB2-BD59-A6C34878D82A}">
                    <a16:rowId xmlns:a16="http://schemas.microsoft.com/office/drawing/2014/main" val="2538534930"/>
                  </a:ext>
                </a:extLst>
              </a:tr>
              <a:tr h="285750">
                <a:tc>
                  <a:txBody>
                    <a:bodyPr/>
                    <a:lstStyle/>
                    <a:p>
                      <a:pPr marL="0" marR="0" algn="ctr" rtl="1">
                        <a:lnSpc>
                          <a:spcPct val="107000"/>
                        </a:lnSpc>
                        <a:spcBef>
                          <a:spcPts val="0"/>
                        </a:spcBef>
                        <a:spcAft>
                          <a:spcPts val="0"/>
                        </a:spcAft>
                      </a:pPr>
                      <a:r>
                        <a:rPr lang="en-US" sz="1800">
                          <a:effectLst/>
                        </a:rPr>
                        <a:t>3</a:t>
                      </a:r>
                      <a:endParaRPr lang="en-US" sz="1600">
                        <a:effectLst/>
                        <a:latin typeface="Calibri" panose="020F0502020204030204" pitchFamily="34" charset="0"/>
                        <a:ea typeface="Calibri" panose="020F0502020204030204" pitchFamily="34" charset="0"/>
                        <a:cs typeface="Arial" panose="020B0604020202020204" pitchFamily="34" charset="0"/>
                      </a:endParaRPr>
                    </a:p>
                  </a:txBody>
                  <a:tcPr marL="9525" marR="9525" marT="9525" marB="9525" anchor="ctr"/>
                </a:tc>
                <a:tc>
                  <a:txBody>
                    <a:bodyPr/>
                    <a:lstStyle/>
                    <a:p>
                      <a:pPr marL="0" marR="0" algn="ctr" rtl="1">
                        <a:lnSpc>
                          <a:spcPct val="107000"/>
                        </a:lnSpc>
                        <a:spcBef>
                          <a:spcPts val="0"/>
                        </a:spcBef>
                        <a:spcAft>
                          <a:spcPts val="0"/>
                        </a:spcAft>
                      </a:pPr>
                      <a:r>
                        <a:rPr lang="en-US" sz="1800">
                          <a:effectLst/>
                        </a:rPr>
                        <a:t>101</a:t>
                      </a:r>
                      <a:endParaRPr lang="en-US" sz="1600">
                        <a:effectLst/>
                        <a:latin typeface="Calibri" panose="020F0502020204030204" pitchFamily="34" charset="0"/>
                        <a:ea typeface="Calibri" panose="020F0502020204030204" pitchFamily="34" charset="0"/>
                        <a:cs typeface="Arial" panose="020B0604020202020204" pitchFamily="34" charset="0"/>
                      </a:endParaRPr>
                    </a:p>
                  </a:txBody>
                  <a:tcPr marL="9525" marR="9525" marT="9525" marB="9525" anchor="ctr"/>
                </a:tc>
                <a:tc>
                  <a:txBody>
                    <a:bodyPr/>
                    <a:lstStyle/>
                    <a:p>
                      <a:pPr marL="0" marR="0" algn="ctr" rtl="1">
                        <a:lnSpc>
                          <a:spcPct val="107000"/>
                        </a:lnSpc>
                        <a:spcBef>
                          <a:spcPts val="0"/>
                        </a:spcBef>
                        <a:spcAft>
                          <a:spcPts val="0"/>
                        </a:spcAft>
                      </a:pPr>
                      <a:r>
                        <a:rPr lang="en-US" sz="1800" dirty="0">
                          <a:effectLst/>
                        </a:rPr>
                        <a:t>Fall 2024</a:t>
                      </a:r>
                      <a:endParaRPr lang="en-US" sz="1600" dirty="0">
                        <a:effectLst/>
                        <a:latin typeface="Calibri" panose="020F0502020204030204" pitchFamily="34" charset="0"/>
                        <a:ea typeface="Calibri" panose="020F0502020204030204" pitchFamily="34" charset="0"/>
                        <a:cs typeface="Arial" panose="020B0604020202020204" pitchFamily="34" charset="0"/>
                      </a:endParaRPr>
                    </a:p>
                  </a:txBody>
                  <a:tcPr marL="9525" marR="9525" marT="9525" marB="9525" anchor="ctr"/>
                </a:tc>
                <a:extLst>
                  <a:ext uri="{0D108BD9-81ED-4DB2-BD59-A6C34878D82A}">
                    <a16:rowId xmlns:a16="http://schemas.microsoft.com/office/drawing/2014/main" val="2247098130"/>
                  </a:ext>
                </a:extLst>
              </a:tr>
            </a:tbl>
          </a:graphicData>
        </a:graphic>
      </p:graphicFrame>
    </p:spTree>
    <p:extLst>
      <p:ext uri="{BB962C8B-B14F-4D97-AF65-F5344CB8AC3E}">
        <p14:creationId xmlns:p14="http://schemas.microsoft.com/office/powerpoint/2010/main" val="1779193544"/>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7459" name="Title 1"/>
          <p:cNvSpPr>
            <a:spLocks noGrp="1"/>
          </p:cNvSpPr>
          <p:nvPr>
            <p:ph type="title"/>
          </p:nvPr>
        </p:nvSpPr>
        <p:spPr>
          <a:xfrm>
            <a:off x="339725" y="-21515"/>
            <a:ext cx="8229600" cy="1143000"/>
          </a:xfrm>
        </p:spPr>
        <p:txBody>
          <a:bodyPr anchor="ctr"/>
          <a:lstStyle/>
          <a:p>
            <a:pPr algn="ctr" rtl="1"/>
            <a:r>
              <a:rPr lang="fa-IR" altLang="en-US" sz="4400" b="1" dirty="0">
                <a:latin typeface="Titr" pitchFamily="2" charset="-78"/>
                <a:ea typeface="2  Titr"/>
                <a:cs typeface="2  Titr"/>
              </a:rPr>
              <a:t>جداول نرمال</a:t>
            </a:r>
            <a:r>
              <a:rPr lang="en-US" altLang="en-US" sz="4400" b="1" dirty="0">
                <a:latin typeface="Titr" pitchFamily="2" charset="-78"/>
                <a:ea typeface="2  Titr"/>
                <a:cs typeface="2  Titr"/>
              </a:rPr>
              <a:t>BCNF </a:t>
            </a:r>
          </a:p>
        </p:txBody>
      </p:sp>
      <p:sp>
        <p:nvSpPr>
          <p:cNvPr id="147458" name="Content Placeholder 2"/>
          <p:cNvSpPr>
            <a:spLocks noGrp="1"/>
          </p:cNvSpPr>
          <p:nvPr>
            <p:ph idx="1"/>
          </p:nvPr>
        </p:nvSpPr>
        <p:spPr>
          <a:xfrm>
            <a:off x="892174" y="1081881"/>
            <a:ext cx="8077200" cy="4694237"/>
          </a:xfrm>
        </p:spPr>
        <p:txBody>
          <a:bodyPr>
            <a:noAutofit/>
          </a:bodyPr>
          <a:lstStyle/>
          <a:p>
            <a:pPr algn="just" rtl="1"/>
            <a:r>
              <a:rPr lang="fa-IR" altLang="en-US" sz="3200" dirty="0">
                <a:ea typeface="Majalla UI"/>
              </a:rPr>
              <a:t>آیا </a:t>
            </a:r>
            <a:r>
              <a:rPr lang="en-US" altLang="en-US" sz="3200" dirty="0">
                <a:ea typeface="Majalla UI"/>
              </a:rPr>
              <a:t>BCNF</a:t>
            </a:r>
            <a:r>
              <a:rPr lang="fa-IR" altLang="en-US" sz="3200" dirty="0">
                <a:ea typeface="Majalla UI"/>
              </a:rPr>
              <a:t> هست ؟</a:t>
            </a:r>
          </a:p>
        </p:txBody>
      </p:sp>
      <p:sp>
        <p:nvSpPr>
          <p:cNvPr id="3" name="Slide Number Placeholder 2">
            <a:extLst>
              <a:ext uri="{FF2B5EF4-FFF2-40B4-BE49-F238E27FC236}">
                <a16:creationId xmlns:a16="http://schemas.microsoft.com/office/drawing/2014/main" id="{1C50D837-745F-4778-8BE8-E695559A03E1}"/>
              </a:ext>
            </a:extLst>
          </p:cNvPr>
          <p:cNvSpPr>
            <a:spLocks noGrp="1"/>
          </p:cNvSpPr>
          <p:nvPr>
            <p:ph type="sldNum" sz="quarter" idx="4294967295"/>
          </p:nvPr>
        </p:nvSpPr>
        <p:spPr>
          <a:xfrm>
            <a:off x="7994650" y="6334125"/>
            <a:ext cx="1149350" cy="365125"/>
          </a:xfrm>
        </p:spPr>
        <p:txBody>
          <a:bodyPr/>
          <a:lstStyle/>
          <a:p>
            <a:fld id="{9B1BEC6B-D08C-4686-9D99-35ADA0E9E6CD}" type="slidenum">
              <a:rPr lang="en-US" smtClean="0"/>
              <a:t>38</a:t>
            </a:fld>
            <a:endParaRPr lang="en-US"/>
          </a:p>
        </p:txBody>
      </p:sp>
      <p:graphicFrame>
        <p:nvGraphicFramePr>
          <p:cNvPr id="5" name="Table 4"/>
          <p:cNvGraphicFramePr>
            <a:graphicFrameLocks noGrp="1"/>
          </p:cNvGraphicFramePr>
          <p:nvPr/>
        </p:nvGraphicFramePr>
        <p:xfrm>
          <a:off x="174625" y="2857625"/>
          <a:ext cx="3657600" cy="3596796"/>
        </p:xfrm>
        <a:graphic>
          <a:graphicData uri="http://schemas.openxmlformats.org/drawingml/2006/table">
            <a:tbl>
              <a:tblPr firstRow="1" bandRow="1">
                <a:tableStyleId>{616DA210-FB5B-4158-B5E0-FEB733F419BA}</a:tableStyleId>
              </a:tblPr>
              <a:tblGrid>
                <a:gridCol w="740229">
                  <a:extLst>
                    <a:ext uri="{9D8B030D-6E8A-4147-A177-3AD203B41FA5}">
                      <a16:colId xmlns:a16="http://schemas.microsoft.com/office/drawing/2014/main" val="20000"/>
                    </a:ext>
                  </a:extLst>
                </a:gridCol>
                <a:gridCol w="1393371">
                  <a:extLst>
                    <a:ext uri="{9D8B030D-6E8A-4147-A177-3AD203B41FA5}">
                      <a16:colId xmlns:a16="http://schemas.microsoft.com/office/drawing/2014/main" val="20001"/>
                    </a:ext>
                  </a:extLst>
                </a:gridCol>
                <a:gridCol w="1524000">
                  <a:extLst>
                    <a:ext uri="{9D8B030D-6E8A-4147-A177-3AD203B41FA5}">
                      <a16:colId xmlns:a16="http://schemas.microsoft.com/office/drawing/2014/main" val="20002"/>
                    </a:ext>
                  </a:extLst>
                </a:gridCol>
              </a:tblGrid>
              <a:tr h="370946">
                <a:tc>
                  <a:txBody>
                    <a:bodyPr/>
                    <a:lstStyle/>
                    <a:p>
                      <a:pPr marL="0" algn="ctr" defTabSz="457200" rtl="0" eaLnBrk="1" latinLnBrk="0" hangingPunct="1"/>
                      <a:r>
                        <a:rPr lang="en-US" sz="2000" b="1" kern="1200" dirty="0">
                          <a:solidFill>
                            <a:schemeClr val="tx1"/>
                          </a:solidFill>
                          <a:latin typeface="+mn-lt"/>
                          <a:ea typeface="+mn-ea"/>
                          <a:cs typeface="B Nazanin" panose="00000400000000000000" pitchFamily="2" charset="-78"/>
                        </a:rPr>
                        <a:t>S#</a:t>
                      </a:r>
                    </a:p>
                  </a:txBody>
                  <a:tcPr marT="45733" marB="45733" anchor="ctr"/>
                </a:tc>
                <a:tc>
                  <a:txBody>
                    <a:bodyPr/>
                    <a:lstStyle/>
                    <a:p>
                      <a:pPr marL="0" algn="ctr" defTabSz="457200" rtl="0" eaLnBrk="1" latinLnBrk="0" hangingPunct="1"/>
                      <a:r>
                        <a:rPr lang="en-US" sz="2000" b="1" kern="1200" dirty="0">
                          <a:solidFill>
                            <a:schemeClr val="tx1"/>
                          </a:solidFill>
                          <a:latin typeface="+mn-lt"/>
                          <a:ea typeface="+mn-ea"/>
                          <a:cs typeface="B Nazanin" panose="00000400000000000000" pitchFamily="2" charset="-78"/>
                        </a:rPr>
                        <a:t>Field</a:t>
                      </a:r>
                    </a:p>
                  </a:txBody>
                  <a:tcPr marT="45733" marB="45733" anchor="ctr"/>
                </a:tc>
                <a:tc>
                  <a:txBody>
                    <a:bodyPr/>
                    <a:lstStyle/>
                    <a:p>
                      <a:pPr marL="0" algn="ctr" defTabSz="457200" rtl="0" eaLnBrk="1" latinLnBrk="0" hangingPunct="1"/>
                      <a:r>
                        <a:rPr lang="en-US" sz="2000" b="1" kern="1200" dirty="0">
                          <a:solidFill>
                            <a:schemeClr val="tx1"/>
                          </a:solidFill>
                          <a:latin typeface="+mn-lt"/>
                          <a:ea typeface="+mn-ea"/>
                          <a:cs typeface="B Nazanin" panose="00000400000000000000" pitchFamily="2" charset="-78"/>
                        </a:rPr>
                        <a:t>Tutor</a:t>
                      </a:r>
                    </a:p>
                  </a:txBody>
                  <a:tcPr marT="45733" marB="45733" anchor="ctr"/>
                </a:tc>
                <a:extLst>
                  <a:ext uri="{0D108BD9-81ED-4DB2-BD59-A6C34878D82A}">
                    <a16:rowId xmlns:a16="http://schemas.microsoft.com/office/drawing/2014/main" val="10000"/>
                  </a:ext>
                </a:extLst>
              </a:tr>
              <a:tr h="370946">
                <a:tc>
                  <a:txBody>
                    <a:bodyPr/>
                    <a:lstStyle/>
                    <a:p>
                      <a:pPr marL="0" algn="ctr" defTabSz="457200" rtl="0" eaLnBrk="1" latinLnBrk="0" hangingPunct="1"/>
                      <a:r>
                        <a:rPr lang="fa-IR" sz="2000" b="1" kern="1200" dirty="0">
                          <a:solidFill>
                            <a:schemeClr val="tx1"/>
                          </a:solidFill>
                          <a:latin typeface="+mn-lt"/>
                          <a:ea typeface="+mn-ea"/>
                          <a:cs typeface="B Nazanin" panose="00000400000000000000" pitchFamily="2" charset="-78"/>
                        </a:rPr>
                        <a:t>7801</a:t>
                      </a:r>
                      <a:endParaRPr lang="en-US" sz="2000" b="1" kern="1200" dirty="0">
                        <a:solidFill>
                          <a:schemeClr val="tx1"/>
                        </a:solidFill>
                        <a:latin typeface="+mn-lt"/>
                        <a:ea typeface="+mn-ea"/>
                        <a:cs typeface="B Nazanin" panose="00000400000000000000" pitchFamily="2" charset="-78"/>
                      </a:endParaRPr>
                    </a:p>
                  </a:txBody>
                  <a:tcPr marT="45733" marB="45733"/>
                </a:tc>
                <a:tc>
                  <a:txBody>
                    <a:bodyPr/>
                    <a:lstStyle/>
                    <a:p>
                      <a:pPr marL="0" algn="ctr" defTabSz="457200" rtl="0" eaLnBrk="1" latinLnBrk="0" hangingPunct="1"/>
                      <a:r>
                        <a:rPr lang="fa-IR" sz="2000" b="1" kern="1200" dirty="0">
                          <a:solidFill>
                            <a:schemeClr val="tx1"/>
                          </a:solidFill>
                          <a:latin typeface="+mn-lt"/>
                          <a:ea typeface="+mn-ea"/>
                          <a:cs typeface="B Nazanin" panose="00000400000000000000" pitchFamily="2" charset="-78"/>
                        </a:rPr>
                        <a:t>مهندس کامپیوتر</a:t>
                      </a:r>
                      <a:endParaRPr lang="en-US" sz="2000" b="1" kern="1200" dirty="0">
                        <a:solidFill>
                          <a:schemeClr val="tx1"/>
                        </a:solidFill>
                        <a:latin typeface="+mn-lt"/>
                        <a:ea typeface="+mn-ea"/>
                        <a:cs typeface="B Nazanin" panose="00000400000000000000" pitchFamily="2" charset="-78"/>
                      </a:endParaRPr>
                    </a:p>
                  </a:txBody>
                  <a:tcPr marT="45733" marB="45733"/>
                </a:tc>
                <a:tc>
                  <a:txBody>
                    <a:bodyPr/>
                    <a:lstStyle/>
                    <a:p>
                      <a:pPr marL="0" algn="ctr" defTabSz="457200" rtl="0" eaLnBrk="1" latinLnBrk="0" hangingPunct="1"/>
                      <a:r>
                        <a:rPr lang="fa-IR" sz="2000" b="1" kern="1200" dirty="0">
                          <a:solidFill>
                            <a:schemeClr val="tx1"/>
                          </a:solidFill>
                          <a:latin typeface="+mn-lt"/>
                          <a:ea typeface="+mn-ea"/>
                          <a:cs typeface="B Nazanin" panose="00000400000000000000" pitchFamily="2" charset="-78"/>
                        </a:rPr>
                        <a:t>مهندس رضائی</a:t>
                      </a:r>
                      <a:endParaRPr lang="en-US" sz="2000" b="1" kern="1200" dirty="0">
                        <a:solidFill>
                          <a:schemeClr val="tx1"/>
                        </a:solidFill>
                        <a:latin typeface="+mn-lt"/>
                        <a:ea typeface="+mn-ea"/>
                        <a:cs typeface="B Nazanin" panose="00000400000000000000" pitchFamily="2" charset="-78"/>
                      </a:endParaRPr>
                    </a:p>
                  </a:txBody>
                  <a:tcPr marT="45733" marB="45733"/>
                </a:tc>
                <a:extLst>
                  <a:ext uri="{0D108BD9-81ED-4DB2-BD59-A6C34878D82A}">
                    <a16:rowId xmlns:a16="http://schemas.microsoft.com/office/drawing/2014/main" val="10001"/>
                  </a:ext>
                </a:extLst>
              </a:tr>
              <a:tr h="370946">
                <a:tc>
                  <a:txBody>
                    <a:bodyPr/>
                    <a:lstStyle/>
                    <a:p>
                      <a:pPr marL="0" algn="ctr" defTabSz="457200" rtl="0" eaLnBrk="1" latinLnBrk="0" hangingPunct="1"/>
                      <a:r>
                        <a:rPr lang="fa-IR" sz="2000" b="1" kern="1200" dirty="0">
                          <a:solidFill>
                            <a:schemeClr val="tx1"/>
                          </a:solidFill>
                          <a:latin typeface="+mn-lt"/>
                          <a:ea typeface="+mn-ea"/>
                          <a:cs typeface="B Nazanin" panose="00000400000000000000" pitchFamily="2" charset="-78"/>
                        </a:rPr>
                        <a:t>7801</a:t>
                      </a:r>
                      <a:endParaRPr lang="en-US" sz="2000" b="1" kern="1200" dirty="0">
                        <a:solidFill>
                          <a:schemeClr val="tx1"/>
                        </a:solidFill>
                        <a:latin typeface="+mn-lt"/>
                        <a:ea typeface="+mn-ea"/>
                        <a:cs typeface="B Nazanin" panose="00000400000000000000" pitchFamily="2" charset="-78"/>
                      </a:endParaRPr>
                    </a:p>
                  </a:txBody>
                  <a:tcPr marT="45733" marB="45733"/>
                </a:tc>
                <a:tc>
                  <a:txBody>
                    <a:bodyPr/>
                    <a:lstStyle/>
                    <a:p>
                      <a:pPr marL="0" algn="ctr" defTabSz="457200" rtl="0" eaLnBrk="1" latinLnBrk="0" hangingPunct="1"/>
                      <a:r>
                        <a:rPr lang="fa-IR" sz="2000" b="1" kern="1200" dirty="0">
                          <a:solidFill>
                            <a:schemeClr val="tx1"/>
                          </a:solidFill>
                          <a:latin typeface="+mn-lt"/>
                          <a:ea typeface="+mn-ea"/>
                          <a:cs typeface="B Nazanin" panose="00000400000000000000" pitchFamily="2" charset="-78"/>
                        </a:rPr>
                        <a:t>ریاضی محض</a:t>
                      </a:r>
                      <a:endParaRPr lang="en-US" sz="2000" b="1" kern="1200" dirty="0">
                        <a:solidFill>
                          <a:schemeClr val="tx1"/>
                        </a:solidFill>
                        <a:latin typeface="+mn-lt"/>
                        <a:ea typeface="+mn-ea"/>
                        <a:cs typeface="B Nazanin" panose="00000400000000000000" pitchFamily="2" charset="-78"/>
                      </a:endParaRPr>
                    </a:p>
                  </a:txBody>
                  <a:tcPr marT="45733" marB="45733"/>
                </a:tc>
                <a:tc>
                  <a:txBody>
                    <a:bodyPr/>
                    <a:lstStyle/>
                    <a:p>
                      <a:pPr marL="0" algn="ctr" defTabSz="457200" rtl="0" eaLnBrk="1" latinLnBrk="0" hangingPunct="1"/>
                      <a:r>
                        <a:rPr lang="fa-IR" sz="2000" b="1" kern="1200" dirty="0">
                          <a:solidFill>
                            <a:schemeClr val="tx1"/>
                          </a:solidFill>
                          <a:latin typeface="+mn-lt"/>
                          <a:ea typeface="+mn-ea"/>
                          <a:cs typeface="B Nazanin" panose="00000400000000000000" pitchFamily="2" charset="-78"/>
                        </a:rPr>
                        <a:t>آرش ریاضیدان</a:t>
                      </a:r>
                      <a:endParaRPr lang="en-US" sz="2000" b="1" kern="1200" dirty="0">
                        <a:solidFill>
                          <a:schemeClr val="tx1"/>
                        </a:solidFill>
                        <a:latin typeface="+mn-lt"/>
                        <a:ea typeface="+mn-ea"/>
                        <a:cs typeface="B Nazanin" panose="00000400000000000000" pitchFamily="2" charset="-78"/>
                      </a:endParaRPr>
                    </a:p>
                  </a:txBody>
                  <a:tcPr marT="45733" marB="45733"/>
                </a:tc>
                <a:extLst>
                  <a:ext uri="{0D108BD9-81ED-4DB2-BD59-A6C34878D82A}">
                    <a16:rowId xmlns:a16="http://schemas.microsoft.com/office/drawing/2014/main" val="10002"/>
                  </a:ext>
                </a:extLst>
              </a:tr>
              <a:tr h="370946">
                <a:tc>
                  <a:txBody>
                    <a:bodyPr/>
                    <a:lstStyle/>
                    <a:p>
                      <a:pPr marL="0" algn="ctr" defTabSz="457200" rtl="0" eaLnBrk="1" latinLnBrk="0" hangingPunct="1"/>
                      <a:r>
                        <a:rPr lang="fa-IR" sz="2000" b="1" kern="1200" dirty="0">
                          <a:solidFill>
                            <a:schemeClr val="tx1"/>
                          </a:solidFill>
                          <a:latin typeface="+mn-lt"/>
                          <a:ea typeface="+mn-ea"/>
                          <a:cs typeface="B Nazanin" panose="00000400000000000000" pitchFamily="2" charset="-78"/>
                        </a:rPr>
                        <a:t>7801</a:t>
                      </a:r>
                      <a:endParaRPr lang="en-US" sz="2000" b="1" kern="1200" dirty="0">
                        <a:solidFill>
                          <a:schemeClr val="tx1"/>
                        </a:solidFill>
                        <a:latin typeface="+mn-lt"/>
                        <a:ea typeface="+mn-ea"/>
                        <a:cs typeface="B Nazanin" panose="00000400000000000000" pitchFamily="2" charset="-78"/>
                      </a:endParaRPr>
                    </a:p>
                  </a:txBody>
                  <a:tcPr marT="45733" marB="45733"/>
                </a:tc>
                <a:tc>
                  <a:txBody>
                    <a:bodyPr/>
                    <a:lstStyle/>
                    <a:p>
                      <a:pPr marL="0" algn="ctr" defTabSz="457200" rtl="0" eaLnBrk="1" latinLnBrk="0" hangingPunct="1"/>
                      <a:r>
                        <a:rPr lang="fa-IR" sz="2000" b="1" kern="1200" dirty="0">
                          <a:solidFill>
                            <a:schemeClr val="tx1"/>
                          </a:solidFill>
                          <a:latin typeface="+mn-lt"/>
                          <a:ea typeface="+mn-ea"/>
                          <a:cs typeface="B Nazanin" panose="00000400000000000000" pitchFamily="2" charset="-78"/>
                        </a:rPr>
                        <a:t>هنر</a:t>
                      </a:r>
                      <a:endParaRPr lang="en-US" sz="2000" b="1" kern="1200" dirty="0">
                        <a:solidFill>
                          <a:schemeClr val="tx1"/>
                        </a:solidFill>
                        <a:latin typeface="+mn-lt"/>
                        <a:ea typeface="+mn-ea"/>
                        <a:cs typeface="B Nazanin" panose="00000400000000000000" pitchFamily="2" charset="-78"/>
                      </a:endParaRPr>
                    </a:p>
                  </a:txBody>
                  <a:tcPr marT="45733" marB="45733"/>
                </a:tc>
                <a:tc>
                  <a:txBody>
                    <a:bodyPr/>
                    <a:lstStyle/>
                    <a:p>
                      <a:pPr marL="0" algn="ctr" defTabSz="457200" rtl="0" eaLnBrk="1" latinLnBrk="0" hangingPunct="1"/>
                      <a:r>
                        <a:rPr lang="fa-IR" sz="2000" b="1" kern="1200" dirty="0">
                          <a:solidFill>
                            <a:schemeClr val="tx1"/>
                          </a:solidFill>
                          <a:latin typeface="+mn-lt"/>
                          <a:ea typeface="+mn-ea"/>
                          <a:cs typeface="B Nazanin" panose="00000400000000000000" pitchFamily="2" charset="-78"/>
                        </a:rPr>
                        <a:t>گلناز هنردوست</a:t>
                      </a:r>
                      <a:endParaRPr lang="en-US" sz="2000" b="1" kern="1200" dirty="0">
                        <a:solidFill>
                          <a:schemeClr val="tx1"/>
                        </a:solidFill>
                        <a:latin typeface="+mn-lt"/>
                        <a:ea typeface="+mn-ea"/>
                        <a:cs typeface="B Nazanin" panose="00000400000000000000" pitchFamily="2" charset="-78"/>
                      </a:endParaRPr>
                    </a:p>
                  </a:txBody>
                  <a:tcPr marT="45733" marB="45733"/>
                </a:tc>
                <a:extLst>
                  <a:ext uri="{0D108BD9-81ED-4DB2-BD59-A6C34878D82A}">
                    <a16:rowId xmlns:a16="http://schemas.microsoft.com/office/drawing/2014/main" val="10003"/>
                  </a:ext>
                </a:extLst>
              </a:tr>
              <a:tr h="370946">
                <a:tc>
                  <a:txBody>
                    <a:bodyPr/>
                    <a:lstStyle/>
                    <a:p>
                      <a:pPr marL="0" algn="ctr" defTabSz="457200" rtl="0" eaLnBrk="1" latinLnBrk="0" hangingPunct="1"/>
                      <a:r>
                        <a:rPr lang="fa-IR" sz="2000" b="1" kern="1200" dirty="0">
                          <a:solidFill>
                            <a:schemeClr val="tx1"/>
                          </a:solidFill>
                          <a:latin typeface="+mn-lt"/>
                          <a:ea typeface="+mn-ea"/>
                          <a:cs typeface="B Nazanin" panose="00000400000000000000" pitchFamily="2" charset="-78"/>
                        </a:rPr>
                        <a:t>7902</a:t>
                      </a:r>
                      <a:endParaRPr lang="en-US" sz="2000" b="1" kern="1200" dirty="0">
                        <a:solidFill>
                          <a:schemeClr val="tx1"/>
                        </a:solidFill>
                        <a:latin typeface="+mn-lt"/>
                        <a:ea typeface="+mn-ea"/>
                        <a:cs typeface="B Nazanin" panose="00000400000000000000" pitchFamily="2" charset="-78"/>
                      </a:endParaRPr>
                    </a:p>
                  </a:txBody>
                  <a:tcPr marT="45733" marB="45733"/>
                </a:tc>
                <a:tc>
                  <a:txBody>
                    <a:bodyPr/>
                    <a:lstStyle/>
                    <a:p>
                      <a:pPr marL="0" algn="ctr" defTabSz="457200" rtl="0" eaLnBrk="1" latinLnBrk="0" hangingPunct="1"/>
                      <a:r>
                        <a:rPr lang="fa-IR" sz="2000" b="1" kern="1200" dirty="0">
                          <a:solidFill>
                            <a:schemeClr val="tx1"/>
                          </a:solidFill>
                          <a:latin typeface="+mn-lt"/>
                          <a:ea typeface="+mn-ea"/>
                          <a:cs typeface="B Nazanin" panose="00000400000000000000" pitchFamily="2" charset="-78"/>
                        </a:rPr>
                        <a:t>مهندس کامپیوتر</a:t>
                      </a:r>
                      <a:endParaRPr lang="en-US" sz="2000" b="1" kern="1200" dirty="0">
                        <a:solidFill>
                          <a:schemeClr val="tx1"/>
                        </a:solidFill>
                        <a:latin typeface="+mn-lt"/>
                        <a:ea typeface="+mn-ea"/>
                        <a:cs typeface="B Nazanin" panose="00000400000000000000" pitchFamily="2" charset="-78"/>
                      </a:endParaRPr>
                    </a:p>
                  </a:txBody>
                  <a:tcPr marT="45733" marB="45733"/>
                </a:tc>
                <a:tc>
                  <a:txBody>
                    <a:bodyPr/>
                    <a:lstStyle/>
                    <a:p>
                      <a:pPr marL="0" algn="ctr" defTabSz="457200" rtl="0" eaLnBrk="1" latinLnBrk="0" hangingPunct="1"/>
                      <a:r>
                        <a:rPr lang="fa-IR" sz="2000" b="1" kern="1200" dirty="0">
                          <a:solidFill>
                            <a:schemeClr val="tx1"/>
                          </a:solidFill>
                          <a:latin typeface="+mn-lt"/>
                          <a:ea typeface="+mn-ea"/>
                          <a:cs typeface="B Nazanin" panose="00000400000000000000" pitchFamily="2" charset="-78"/>
                        </a:rPr>
                        <a:t>مجید رضائی</a:t>
                      </a:r>
                      <a:endParaRPr lang="en-US" sz="2000" b="1" kern="1200" dirty="0">
                        <a:solidFill>
                          <a:schemeClr val="tx1"/>
                        </a:solidFill>
                        <a:latin typeface="+mn-lt"/>
                        <a:ea typeface="+mn-ea"/>
                        <a:cs typeface="B Nazanin" panose="00000400000000000000" pitchFamily="2" charset="-78"/>
                      </a:endParaRPr>
                    </a:p>
                  </a:txBody>
                  <a:tcPr marT="45733" marB="45733"/>
                </a:tc>
                <a:extLst>
                  <a:ext uri="{0D108BD9-81ED-4DB2-BD59-A6C34878D82A}">
                    <a16:rowId xmlns:a16="http://schemas.microsoft.com/office/drawing/2014/main" val="10004"/>
                  </a:ext>
                </a:extLst>
              </a:tr>
              <a:tr h="370946">
                <a:tc>
                  <a:txBody>
                    <a:bodyPr/>
                    <a:lstStyle/>
                    <a:p>
                      <a:pPr marL="0" marR="0" indent="0" algn="ctr" defTabSz="457200" rtl="0" eaLnBrk="1" fontAlgn="auto" latinLnBrk="0" hangingPunct="1">
                        <a:lnSpc>
                          <a:spcPct val="100000"/>
                        </a:lnSpc>
                        <a:spcBef>
                          <a:spcPts val="0"/>
                        </a:spcBef>
                        <a:spcAft>
                          <a:spcPts val="0"/>
                        </a:spcAft>
                        <a:buClrTx/>
                        <a:buSzTx/>
                        <a:buFontTx/>
                        <a:buNone/>
                        <a:tabLst/>
                        <a:defRPr/>
                      </a:pPr>
                      <a:r>
                        <a:rPr lang="fa-IR" sz="2000" b="1" kern="1200" dirty="0">
                          <a:solidFill>
                            <a:schemeClr val="tx1"/>
                          </a:solidFill>
                          <a:latin typeface="+mn-lt"/>
                          <a:ea typeface="+mn-ea"/>
                          <a:cs typeface="B Nazanin" panose="00000400000000000000" pitchFamily="2" charset="-78"/>
                        </a:rPr>
                        <a:t>7803</a:t>
                      </a:r>
                      <a:endParaRPr lang="en-US" sz="2000" b="1" kern="1200" dirty="0">
                        <a:solidFill>
                          <a:schemeClr val="tx1"/>
                        </a:solidFill>
                        <a:latin typeface="+mn-lt"/>
                        <a:ea typeface="+mn-ea"/>
                        <a:cs typeface="B Nazanin" panose="00000400000000000000" pitchFamily="2" charset="-78"/>
                      </a:endParaRPr>
                    </a:p>
                  </a:txBody>
                  <a:tcPr marT="45733" marB="45733"/>
                </a:tc>
                <a:tc>
                  <a:txBody>
                    <a:bodyPr/>
                    <a:lstStyle/>
                    <a:p>
                      <a:pPr marL="0" marR="0" indent="0" algn="ctr" defTabSz="457200" rtl="0" eaLnBrk="1" fontAlgn="auto" latinLnBrk="0" hangingPunct="1">
                        <a:lnSpc>
                          <a:spcPct val="100000"/>
                        </a:lnSpc>
                        <a:spcBef>
                          <a:spcPts val="0"/>
                        </a:spcBef>
                        <a:spcAft>
                          <a:spcPts val="0"/>
                        </a:spcAft>
                        <a:buClrTx/>
                        <a:buSzTx/>
                        <a:buFontTx/>
                        <a:buNone/>
                        <a:tabLst/>
                        <a:defRPr/>
                      </a:pPr>
                      <a:r>
                        <a:rPr lang="fa-IR" sz="2000" b="1" kern="1200" dirty="0">
                          <a:solidFill>
                            <a:schemeClr val="tx1"/>
                          </a:solidFill>
                          <a:latin typeface="+mn-lt"/>
                          <a:ea typeface="+mn-ea"/>
                          <a:cs typeface="B Nazanin" panose="00000400000000000000" pitchFamily="2" charset="-78"/>
                        </a:rPr>
                        <a:t>مهندس کامپیوتر</a:t>
                      </a:r>
                      <a:endParaRPr lang="en-US" sz="2000" b="1" kern="1200" dirty="0">
                        <a:solidFill>
                          <a:schemeClr val="tx1"/>
                        </a:solidFill>
                        <a:latin typeface="+mn-lt"/>
                        <a:ea typeface="+mn-ea"/>
                        <a:cs typeface="B Nazanin" panose="00000400000000000000" pitchFamily="2" charset="-78"/>
                      </a:endParaRPr>
                    </a:p>
                  </a:txBody>
                  <a:tcPr marT="45733" marB="45733"/>
                </a:tc>
                <a:tc>
                  <a:txBody>
                    <a:bodyPr/>
                    <a:lstStyle/>
                    <a:p>
                      <a:pPr marL="0" algn="ctr" defTabSz="457200" rtl="0" eaLnBrk="1" latinLnBrk="0" hangingPunct="1"/>
                      <a:r>
                        <a:rPr lang="fa-IR" sz="2000" b="1" kern="1200" dirty="0">
                          <a:solidFill>
                            <a:schemeClr val="tx1"/>
                          </a:solidFill>
                          <a:latin typeface="+mn-lt"/>
                          <a:ea typeface="+mn-ea"/>
                          <a:cs typeface="B Nazanin" panose="00000400000000000000" pitchFamily="2" charset="-78"/>
                        </a:rPr>
                        <a:t>پروین صبا</a:t>
                      </a:r>
                      <a:endParaRPr lang="en-US" sz="2000" b="1" kern="1200" dirty="0">
                        <a:solidFill>
                          <a:schemeClr val="tx1"/>
                        </a:solidFill>
                        <a:latin typeface="+mn-lt"/>
                        <a:ea typeface="+mn-ea"/>
                        <a:cs typeface="B Nazanin" panose="00000400000000000000" pitchFamily="2" charset="-78"/>
                      </a:endParaRPr>
                    </a:p>
                  </a:txBody>
                  <a:tcPr marT="45733" marB="45733"/>
                </a:tc>
                <a:extLst>
                  <a:ext uri="{0D108BD9-81ED-4DB2-BD59-A6C34878D82A}">
                    <a16:rowId xmlns:a16="http://schemas.microsoft.com/office/drawing/2014/main" val="10005"/>
                  </a:ext>
                </a:extLst>
              </a:tr>
            </a:tbl>
          </a:graphicData>
        </a:graphic>
      </p:graphicFrame>
      <p:sp>
        <p:nvSpPr>
          <p:cNvPr id="9" name="TextBox 8">
            <a:extLst>
              <a:ext uri="{FF2B5EF4-FFF2-40B4-BE49-F238E27FC236}">
                <a16:creationId xmlns:a16="http://schemas.microsoft.com/office/drawing/2014/main" id="{5E0A068F-73AB-487C-A4E6-BAA61F54E507}"/>
              </a:ext>
            </a:extLst>
          </p:cNvPr>
          <p:cNvSpPr txBox="1"/>
          <p:nvPr/>
        </p:nvSpPr>
        <p:spPr>
          <a:xfrm>
            <a:off x="339725" y="1618301"/>
            <a:ext cx="8664574" cy="830997"/>
          </a:xfrm>
          <a:prstGeom prst="rect">
            <a:avLst/>
          </a:prstGeom>
          <a:noFill/>
        </p:spPr>
        <p:txBody>
          <a:bodyPr wrap="square">
            <a:spAutoFit/>
          </a:bodyPr>
          <a:lstStyle/>
          <a:p>
            <a:pPr algn="just" rtl="1"/>
            <a:r>
              <a:rPr lang="fa-IR" altLang="en-US" sz="2400" dirty="0">
                <a:ea typeface="Majalla UI"/>
                <a:cs typeface="B Nazanin" panose="00000400000000000000" pitchFamily="2" charset="-78"/>
              </a:rPr>
              <a:t>در جدول زیر دو کلید کاندیدای </a:t>
            </a:r>
            <a:r>
              <a:rPr lang="en-US" altLang="en-US" sz="2400" dirty="0">
                <a:cs typeface="B Nazanin" panose="00000400000000000000" pitchFamily="2" charset="-78"/>
              </a:rPr>
              <a:t>S#+Field</a:t>
            </a:r>
            <a:r>
              <a:rPr lang="fa-IR" altLang="en-US" sz="2400" dirty="0">
                <a:ea typeface="Majalla UI"/>
                <a:cs typeface="B Nazanin" panose="00000400000000000000" pitchFamily="2" charset="-78"/>
              </a:rPr>
              <a:t> و </a:t>
            </a:r>
            <a:r>
              <a:rPr lang="en-US" altLang="en-US" sz="2400" dirty="0">
                <a:cs typeface="B Nazanin" panose="00000400000000000000" pitchFamily="2" charset="-78"/>
              </a:rPr>
              <a:t>S#+Tutor</a:t>
            </a:r>
            <a:r>
              <a:rPr lang="fa-IR" altLang="en-US" sz="2400" dirty="0">
                <a:ea typeface="Majalla UI"/>
                <a:cs typeface="B Nazanin" panose="00000400000000000000" pitchFamily="2" charset="-78"/>
              </a:rPr>
              <a:t> و نیز داریم </a:t>
            </a:r>
            <a:r>
              <a:rPr lang="en-US" altLang="en-US" sz="2400" dirty="0">
                <a:cs typeface="B Nazanin" panose="00000400000000000000" pitchFamily="2" charset="-78"/>
              </a:rPr>
              <a:t>Tutor-&gt;Field</a:t>
            </a:r>
            <a:r>
              <a:rPr lang="fa-IR" altLang="en-US" sz="2400" dirty="0">
                <a:ea typeface="Majalla UI"/>
                <a:cs typeface="B Nazanin" panose="00000400000000000000" pitchFamily="2" charset="-78"/>
              </a:rPr>
              <a:t> بنابراین میتواند به دو جدول تقسیم شود</a:t>
            </a:r>
          </a:p>
        </p:txBody>
      </p:sp>
    </p:spTree>
    <p:extLst>
      <p:ext uri="{BB962C8B-B14F-4D97-AF65-F5344CB8AC3E}">
        <p14:creationId xmlns:p14="http://schemas.microsoft.com/office/powerpoint/2010/main" val="163492995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6386" name="Rectangle 2"/>
          <p:cNvSpPr>
            <a:spLocks noGrp="1" noChangeArrowheads="1"/>
          </p:cNvSpPr>
          <p:nvPr>
            <p:ph type="title"/>
          </p:nvPr>
        </p:nvSpPr>
        <p:spPr/>
        <p:txBody>
          <a:bodyPr/>
          <a:lstStyle/>
          <a:p>
            <a:pPr rtl="1">
              <a:defRPr/>
            </a:pPr>
            <a:r>
              <a:rPr lang="fa-IR" dirty="0"/>
              <a:t>تجزیه (</a:t>
            </a:r>
            <a:r>
              <a:rPr lang="en-US" dirty="0"/>
              <a:t>Decomposition</a:t>
            </a:r>
            <a:r>
              <a:rPr lang="fa-IR" dirty="0"/>
              <a:t>)</a:t>
            </a:r>
            <a:endParaRPr lang="en-US" altLang="en-US" sz="2800" dirty="0">
              <a:effectLst>
                <a:outerShdw blurRad="38100" dist="38100" dir="2700000" algn="tl">
                  <a:srgbClr val="C0C0C0"/>
                </a:outerShdw>
              </a:effectLst>
              <a:ea typeface="ＭＳ Ｐゴシック" pitchFamily="34" charset="-128"/>
            </a:endParaRPr>
          </a:p>
        </p:txBody>
      </p:sp>
      <p:sp>
        <p:nvSpPr>
          <p:cNvPr id="10243" name="Rectangle 3"/>
          <p:cNvSpPr>
            <a:spLocks noGrp="1" noChangeArrowheads="1"/>
          </p:cNvSpPr>
          <p:nvPr>
            <p:ph idx="1"/>
          </p:nvPr>
        </p:nvSpPr>
        <p:spPr>
          <a:xfrm>
            <a:off x="139700" y="1093788"/>
            <a:ext cx="8705850" cy="5484812"/>
          </a:xfrm>
        </p:spPr>
        <p:txBody>
          <a:bodyPr/>
          <a:lstStyle/>
          <a:p>
            <a:pPr algn="r" rtl="1"/>
            <a:r>
              <a:rPr lang="fa-IR" dirty="0"/>
              <a:t>همه تجزیه‌ها خوب نیستند. فرض کنیم که ما جدول را این‌گونه تجزیه کنیم:</a:t>
            </a:r>
          </a:p>
          <a:p>
            <a:pPr marL="0" indent="0" rtl="1">
              <a:buNone/>
            </a:pPr>
            <a:br>
              <a:rPr lang="en-US" altLang="en-US" dirty="0"/>
            </a:br>
            <a:r>
              <a:rPr lang="en-US" altLang="en-US" dirty="0"/>
              <a:t>       </a:t>
            </a:r>
            <a:r>
              <a:rPr lang="en-US" altLang="en-US" i="1" dirty="0"/>
              <a:t>employee(ID, name, street, city, salary)</a:t>
            </a:r>
            <a:r>
              <a:rPr lang="en-US" altLang="en-US" dirty="0"/>
              <a:t>  </a:t>
            </a:r>
          </a:p>
          <a:p>
            <a:pPr>
              <a:buFont typeface="Monotype Sorts" pitchFamily="-84" charset="2"/>
              <a:buNone/>
            </a:pPr>
            <a:r>
              <a:rPr lang="en-US" altLang="en-US" dirty="0"/>
              <a:t>       into</a:t>
            </a:r>
          </a:p>
          <a:p>
            <a:pPr>
              <a:buFont typeface="Monotype Sorts" pitchFamily="-84" charset="2"/>
              <a:buNone/>
            </a:pPr>
            <a:r>
              <a:rPr lang="en-US" altLang="en-US" dirty="0"/>
              <a:t>	       </a:t>
            </a:r>
            <a:r>
              <a:rPr lang="en-US" altLang="en-US" i="1" dirty="0"/>
              <a:t>employee1</a:t>
            </a:r>
            <a:r>
              <a:rPr lang="en-US" altLang="en-US" dirty="0"/>
              <a:t> (</a:t>
            </a:r>
            <a:r>
              <a:rPr lang="en-US" altLang="en-US" i="1" dirty="0"/>
              <a:t>ID</a:t>
            </a:r>
            <a:r>
              <a:rPr lang="en-US" altLang="en-US" dirty="0"/>
              <a:t>, </a:t>
            </a:r>
            <a:r>
              <a:rPr lang="en-US" altLang="en-US" i="1" dirty="0"/>
              <a:t>name</a:t>
            </a:r>
            <a:r>
              <a:rPr lang="en-US" altLang="en-US" dirty="0"/>
              <a:t>)</a:t>
            </a:r>
          </a:p>
          <a:p>
            <a:pPr>
              <a:buFont typeface="Monotype Sorts" pitchFamily="-84" charset="2"/>
              <a:buNone/>
            </a:pPr>
            <a:r>
              <a:rPr lang="en-US" altLang="en-US" dirty="0"/>
              <a:t>	       </a:t>
            </a:r>
            <a:r>
              <a:rPr lang="en-US" altLang="en-US" i="1" dirty="0"/>
              <a:t>employee2</a:t>
            </a:r>
            <a:r>
              <a:rPr lang="en-US" altLang="en-US" dirty="0"/>
              <a:t> (</a:t>
            </a:r>
            <a:r>
              <a:rPr lang="en-US" altLang="en-US" i="1" dirty="0"/>
              <a:t>name</a:t>
            </a:r>
            <a:r>
              <a:rPr lang="en-US" altLang="en-US" dirty="0"/>
              <a:t>, </a:t>
            </a:r>
            <a:r>
              <a:rPr lang="en-US" altLang="en-US" i="1" dirty="0"/>
              <a:t>street, city, salary</a:t>
            </a:r>
            <a:r>
              <a:rPr lang="en-US" altLang="en-US" dirty="0"/>
              <a:t>)</a:t>
            </a:r>
          </a:p>
          <a:p>
            <a:pPr>
              <a:buFont typeface="Monotype Sorts" pitchFamily="-84" charset="2"/>
              <a:buNone/>
            </a:pPr>
            <a:endParaRPr lang="en-US" altLang="en-US" dirty="0"/>
          </a:p>
          <a:p>
            <a:pPr algn="r" rtl="1">
              <a:buFont typeface="Monotype Sorts" pitchFamily="-84" charset="2"/>
              <a:buNone/>
            </a:pPr>
            <a:r>
              <a:rPr lang="fa-IR" dirty="0"/>
              <a:t>مشکل زمانی </a:t>
            </a:r>
            <a:r>
              <a:rPr lang="fa-IR" dirty="0" err="1"/>
              <a:t>به‌وجود</a:t>
            </a:r>
            <a:r>
              <a:rPr lang="fa-IR" dirty="0"/>
              <a:t> </a:t>
            </a:r>
            <a:r>
              <a:rPr lang="fa-IR" dirty="0" err="1"/>
              <a:t>می‌آید</a:t>
            </a:r>
            <a:r>
              <a:rPr lang="fa-IR" dirty="0"/>
              <a:t> که دو کارمند نام یکسان داشته باشند.</a:t>
            </a:r>
          </a:p>
          <a:p>
            <a:pPr algn="r" rtl="1">
              <a:buFont typeface="Monotype Sorts" pitchFamily="-84" charset="2"/>
              <a:buNone/>
            </a:pPr>
            <a:r>
              <a:rPr lang="fa-IR" dirty="0"/>
              <a:t>اسلاید بعدی نشان </a:t>
            </a:r>
            <a:r>
              <a:rPr lang="fa-IR" dirty="0" err="1"/>
              <a:t>می‌دهد</a:t>
            </a:r>
            <a:r>
              <a:rPr lang="fa-IR" dirty="0"/>
              <a:t> که در این حالت اطلاعات از دست </a:t>
            </a:r>
            <a:r>
              <a:rPr lang="fa-IR" dirty="0" err="1"/>
              <a:t>می‌رود</a:t>
            </a:r>
            <a:r>
              <a:rPr lang="fa-IR" dirty="0"/>
              <a:t> ــ یعنی دیگر </a:t>
            </a:r>
            <a:r>
              <a:rPr lang="fa-IR" dirty="0" err="1"/>
              <a:t>نمی‌توانیم</a:t>
            </a:r>
            <a:r>
              <a:rPr lang="fa-IR" dirty="0"/>
              <a:t> جدول اصلی </a:t>
            </a:r>
            <a:r>
              <a:rPr lang="en-US" dirty="0"/>
              <a:t>employee </a:t>
            </a:r>
            <a:r>
              <a:rPr lang="fa-IR" dirty="0"/>
              <a:t>را دوباره بازسازی کنیم ــ و به همین دلیل این کار یک «تجزیه دارای اتلاف» (</a:t>
            </a:r>
            <a:r>
              <a:rPr lang="en-US" dirty="0"/>
              <a:t>lossy decomposition) </a:t>
            </a:r>
            <a:r>
              <a:rPr lang="fa-IR" dirty="0"/>
              <a:t>است.</a:t>
            </a:r>
            <a:endParaRPr lang="en-US" altLang="en-US" dirty="0"/>
          </a:p>
        </p:txBody>
      </p:sp>
    </p:spTree>
    <p:extLst>
      <p:ext uri="{BB962C8B-B14F-4D97-AF65-F5344CB8AC3E}">
        <p14:creationId xmlns:p14="http://schemas.microsoft.com/office/powerpoint/2010/main" val="2173203487"/>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8434" name="Rectangle 2"/>
          <p:cNvSpPr>
            <a:spLocks noGrp="1" noChangeArrowheads="1"/>
          </p:cNvSpPr>
          <p:nvPr>
            <p:ph type="title"/>
          </p:nvPr>
        </p:nvSpPr>
        <p:spPr/>
        <p:txBody>
          <a:bodyPr/>
          <a:lstStyle/>
          <a:p>
            <a:pPr>
              <a:defRPr/>
            </a:pPr>
            <a:r>
              <a:rPr lang="fa-IR" dirty="0"/>
              <a:t>یک تجزیه دارای اتلاف</a:t>
            </a:r>
            <a:endParaRPr lang="en-US" altLang="en-US" sz="2800" dirty="0">
              <a:effectLst>
                <a:outerShdw blurRad="38100" dist="38100" dir="2700000" algn="tl">
                  <a:srgbClr val="C0C0C0"/>
                </a:outerShdw>
              </a:effectLst>
              <a:ea typeface="ＭＳ Ｐゴシック" pitchFamily="34" charset="-128"/>
            </a:endParaRPr>
          </a:p>
        </p:txBody>
      </p:sp>
      <p:pic>
        <p:nvPicPr>
          <p:cNvPr id="11267" name="Picture 5" descr="8"/>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535684" y="903344"/>
            <a:ext cx="6173216" cy="56537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3195644706"/>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6386" name="Rectangle 2"/>
          <p:cNvSpPr>
            <a:spLocks noGrp="1" noChangeArrowheads="1"/>
          </p:cNvSpPr>
          <p:nvPr>
            <p:ph type="title"/>
          </p:nvPr>
        </p:nvSpPr>
        <p:spPr/>
        <p:txBody>
          <a:bodyPr/>
          <a:lstStyle/>
          <a:p>
            <a:pPr>
              <a:defRPr/>
            </a:pPr>
            <a:r>
              <a:rPr lang="fa-IR" dirty="0"/>
              <a:t>تجزیه بدون اتلاف</a:t>
            </a:r>
            <a:endParaRPr lang="en-US" altLang="en-US" sz="2800" dirty="0">
              <a:effectLst>
                <a:outerShdw blurRad="38100" dist="38100" dir="2700000" algn="tl">
                  <a:srgbClr val="C0C0C0"/>
                </a:outerShdw>
              </a:effectLst>
              <a:ea typeface="ＭＳ Ｐゴシック" pitchFamily="34" charset="-128"/>
            </a:endParaRPr>
          </a:p>
        </p:txBody>
      </p:sp>
      <p:sp>
        <p:nvSpPr>
          <p:cNvPr id="12291" name="Rectangle 3"/>
          <p:cNvSpPr>
            <a:spLocks noGrp="1" noChangeArrowheads="1"/>
          </p:cNvSpPr>
          <p:nvPr>
            <p:ph idx="1"/>
          </p:nvPr>
        </p:nvSpPr>
        <p:spPr>
          <a:xfrm>
            <a:off x="768351" y="1093789"/>
            <a:ext cx="7522210" cy="4160964"/>
          </a:xfrm>
        </p:spPr>
        <p:txBody>
          <a:bodyPr/>
          <a:lstStyle/>
          <a:p>
            <a:pPr algn="r" rtl="1"/>
            <a:r>
              <a:rPr lang="fa-IR" sz="1800" dirty="0"/>
              <a:t>فرض کنید </a:t>
            </a:r>
            <a:r>
              <a:rPr lang="en-US" sz="1800" b="1" dirty="0"/>
              <a:t>R</a:t>
            </a:r>
            <a:r>
              <a:rPr lang="en-US" sz="1800" dirty="0"/>
              <a:t> </a:t>
            </a:r>
            <a:r>
              <a:rPr lang="fa-IR" sz="1800" dirty="0"/>
              <a:t>یک </a:t>
            </a:r>
            <a:r>
              <a:rPr lang="fa-IR" sz="1800" dirty="0" err="1"/>
              <a:t>شِمای</a:t>
            </a:r>
            <a:r>
              <a:rPr lang="fa-IR" sz="1800" dirty="0"/>
              <a:t> رابطه باشد و </a:t>
            </a:r>
            <a:r>
              <a:rPr lang="en-US" sz="1800" b="1" dirty="0"/>
              <a:t>R1</a:t>
            </a:r>
            <a:r>
              <a:rPr lang="en-US" sz="1800" dirty="0"/>
              <a:t> </a:t>
            </a:r>
            <a:r>
              <a:rPr lang="fa-IR" sz="1800" dirty="0"/>
              <a:t>و </a:t>
            </a:r>
            <a:r>
              <a:rPr lang="en-US" sz="1800" b="1" dirty="0"/>
              <a:t>R2</a:t>
            </a:r>
            <a:r>
              <a:rPr lang="en-US" sz="1800" dirty="0"/>
              <a:t> </a:t>
            </a:r>
            <a:r>
              <a:rPr lang="fa-IR" sz="1800" dirty="0"/>
              <a:t>یک تجزیه (تقسیم) از </a:t>
            </a:r>
            <a:r>
              <a:rPr lang="en-US" sz="1800" b="1" dirty="0"/>
              <a:t>R</a:t>
            </a:r>
            <a:r>
              <a:rPr lang="en-US" sz="1800" dirty="0"/>
              <a:t> </a:t>
            </a:r>
            <a:r>
              <a:rPr lang="fa-IR" sz="1800" dirty="0"/>
              <a:t>را تشکیل دهند؛ یعنی:</a:t>
            </a:r>
            <a:r>
              <a:rPr lang="en-US" altLang="en-US" sz="1700" dirty="0"/>
              <a:t>. R = </a:t>
            </a:r>
            <a:r>
              <a:rPr lang="en-US" altLang="en-US" sz="1700" i="1" dirty="0"/>
              <a:t>R</a:t>
            </a:r>
            <a:r>
              <a:rPr lang="en-US" altLang="en-US" sz="1700" i="1" baseline="-25000" dirty="0"/>
              <a:t>1 </a:t>
            </a:r>
            <a:r>
              <a:rPr lang="en-US" altLang="en-US" sz="1700" dirty="0"/>
              <a:t> U </a:t>
            </a:r>
            <a:r>
              <a:rPr lang="en-US" altLang="en-US" sz="1700" i="1" dirty="0"/>
              <a:t>R</a:t>
            </a:r>
            <a:r>
              <a:rPr lang="en-US" altLang="en-US" sz="1700" i="1" baseline="-25000" dirty="0"/>
              <a:t>2</a:t>
            </a:r>
            <a:endParaRPr lang="en-US" altLang="en-US" sz="1700" dirty="0"/>
          </a:p>
          <a:p>
            <a:pPr algn="r" rtl="1"/>
            <a:r>
              <a:rPr lang="fa-IR" sz="1800" dirty="0"/>
              <a:t>می‌گوییم این تجزیه </a:t>
            </a:r>
            <a:r>
              <a:rPr lang="fa-IR" sz="1800" b="1" dirty="0"/>
              <a:t>بدون اتلاف اطلاعات </a:t>
            </a:r>
            <a:r>
              <a:rPr lang="en-US" sz="1800" b="1" dirty="0"/>
              <a:t>lossless</a:t>
            </a:r>
            <a:r>
              <a:rPr lang="en-US" sz="1800" dirty="0"/>
              <a:t> </a:t>
            </a:r>
            <a:r>
              <a:rPr lang="fa-IR" sz="1800" dirty="0"/>
              <a:t>است اگر با جایگزین کردن </a:t>
            </a:r>
            <a:r>
              <a:rPr lang="en-US" sz="1800" dirty="0"/>
              <a:t>R </a:t>
            </a:r>
            <a:r>
              <a:rPr lang="fa-IR" sz="1800" dirty="0"/>
              <a:t>با دو </a:t>
            </a:r>
            <a:r>
              <a:rPr lang="fa-IR" sz="1800" dirty="0" err="1"/>
              <a:t>رابطهٔ</a:t>
            </a:r>
            <a:r>
              <a:rPr lang="fa-IR" sz="1800" dirty="0"/>
              <a:t> </a:t>
            </a:r>
            <a:r>
              <a:rPr lang="en-US" sz="1800" dirty="0"/>
              <a:t>R1 </a:t>
            </a:r>
            <a:r>
              <a:rPr lang="fa-IR" sz="1800" dirty="0"/>
              <a:t>و </a:t>
            </a:r>
            <a:r>
              <a:rPr lang="en-US" sz="1800" dirty="0"/>
              <a:t>R2 </a:t>
            </a:r>
            <a:r>
              <a:rPr lang="fa-IR" sz="1800" b="1" dirty="0"/>
              <a:t>هیچ اطلاعاتی از دست نرود</a:t>
            </a:r>
            <a:r>
              <a:rPr lang="fa-IR" sz="1800" dirty="0"/>
              <a:t>.</a:t>
            </a:r>
          </a:p>
          <a:p>
            <a:pPr algn="r" rtl="1"/>
            <a:r>
              <a:rPr lang="fa-IR" sz="1800" dirty="0" err="1"/>
              <a:t>به‌صورت</a:t>
            </a:r>
            <a:r>
              <a:rPr lang="fa-IR" sz="1800" dirty="0"/>
              <a:t> رسمی:</a:t>
            </a:r>
          </a:p>
          <a:p>
            <a:pPr algn="r" rtl="1"/>
            <a:r>
              <a:rPr lang="en-US" altLang="en-US" sz="1700" dirty="0">
                <a:latin typeface="Times New Roman" panose="02020603050405020304" pitchFamily="18" charset="0"/>
                <a:sym typeface="Symbol" panose="05050102010706020507" pitchFamily="18" charset="2"/>
              </a:rPr>
              <a:t>              </a:t>
            </a:r>
            <a:r>
              <a:rPr lang="en-US" altLang="en-US" sz="1700" baseline="-25000" dirty="0">
                <a:latin typeface="Times New Roman" panose="02020603050405020304" pitchFamily="18" charset="0"/>
                <a:sym typeface="Symbol" panose="05050102010706020507" pitchFamily="18" charset="2"/>
              </a:rPr>
              <a:t>R</a:t>
            </a:r>
            <a:r>
              <a:rPr lang="en-US" altLang="en-US" sz="1700" baseline="-50000" dirty="0">
                <a:latin typeface="Times New Roman" panose="02020603050405020304" pitchFamily="18" charset="0"/>
                <a:sym typeface="Symbol" panose="05050102010706020507" pitchFamily="18" charset="2"/>
              </a:rPr>
              <a:t>1</a:t>
            </a:r>
            <a:r>
              <a:rPr lang="en-US" altLang="en-US" sz="1700" dirty="0">
                <a:latin typeface="Times New Roman" panose="02020603050405020304" pitchFamily="18" charset="0"/>
                <a:sym typeface="Symbol" panose="05050102010706020507" pitchFamily="18" charset="2"/>
              </a:rPr>
              <a:t> (r)      </a:t>
            </a:r>
            <a:r>
              <a:rPr lang="en-US" altLang="en-US" sz="1700" baseline="-25000" dirty="0">
                <a:latin typeface="Times New Roman" panose="02020603050405020304" pitchFamily="18" charset="0"/>
                <a:sym typeface="Symbol" panose="05050102010706020507" pitchFamily="18" charset="2"/>
              </a:rPr>
              <a:t>R</a:t>
            </a:r>
            <a:r>
              <a:rPr lang="en-US" altLang="en-US" sz="1700" baseline="-50000" dirty="0">
                <a:latin typeface="Times New Roman" panose="02020603050405020304" pitchFamily="18" charset="0"/>
                <a:sym typeface="Symbol" panose="05050102010706020507" pitchFamily="18" charset="2"/>
              </a:rPr>
              <a:t>2</a:t>
            </a:r>
            <a:r>
              <a:rPr lang="en-US" altLang="en-US" sz="1700" dirty="0">
                <a:latin typeface="Times New Roman" panose="02020603050405020304" pitchFamily="18" charset="0"/>
                <a:sym typeface="Symbol" panose="05050102010706020507" pitchFamily="18" charset="2"/>
              </a:rPr>
              <a:t> (r) = </a:t>
            </a:r>
            <a:r>
              <a:rPr lang="en-US" altLang="en-US" sz="1700" i="1" dirty="0">
                <a:latin typeface="Times New Roman" panose="02020603050405020304" pitchFamily="18" charset="0"/>
                <a:sym typeface="Symbol" panose="05050102010706020507" pitchFamily="18" charset="2"/>
              </a:rPr>
              <a:t>r</a:t>
            </a:r>
          </a:p>
          <a:p>
            <a:pPr algn="r" rtl="1"/>
            <a:r>
              <a:rPr lang="fa-IR" sz="1800" dirty="0"/>
              <a:t>و برعکس، یک تجزیه </a:t>
            </a:r>
            <a:r>
              <a:rPr lang="fa-IR" sz="1800" b="1" dirty="0"/>
              <a:t>دارای اتلاف </a:t>
            </a:r>
            <a:r>
              <a:rPr lang="en-US" sz="1800" b="1" dirty="0"/>
              <a:t>lossy</a:t>
            </a:r>
            <a:r>
              <a:rPr lang="en-US" sz="1800" dirty="0"/>
              <a:t> </a:t>
            </a:r>
            <a:r>
              <a:rPr lang="fa-IR" sz="1800" dirty="0"/>
              <a:t>است اگر:</a:t>
            </a:r>
          </a:p>
          <a:p>
            <a:pPr algn="r" rtl="1"/>
            <a:r>
              <a:rPr lang="en-US" altLang="en-US" sz="1700" dirty="0">
                <a:latin typeface="Times New Roman" panose="02020603050405020304" pitchFamily="18" charset="0"/>
                <a:sym typeface="Symbol" panose="05050102010706020507" pitchFamily="18" charset="2"/>
              </a:rPr>
              <a:t>     r     </a:t>
            </a:r>
            <a:r>
              <a:rPr lang="en-US" altLang="en-US" sz="1700" baseline="-25000" dirty="0">
                <a:latin typeface="Times New Roman" panose="02020603050405020304" pitchFamily="18" charset="0"/>
                <a:sym typeface="Symbol" panose="05050102010706020507" pitchFamily="18" charset="2"/>
              </a:rPr>
              <a:t>R</a:t>
            </a:r>
            <a:r>
              <a:rPr lang="en-US" altLang="en-US" sz="1700" baseline="-50000" dirty="0">
                <a:latin typeface="Times New Roman" panose="02020603050405020304" pitchFamily="18" charset="0"/>
                <a:sym typeface="Symbol" panose="05050102010706020507" pitchFamily="18" charset="2"/>
              </a:rPr>
              <a:t>1</a:t>
            </a:r>
            <a:r>
              <a:rPr lang="en-US" altLang="en-US" sz="1700" dirty="0">
                <a:latin typeface="Times New Roman" panose="02020603050405020304" pitchFamily="18" charset="0"/>
                <a:sym typeface="Symbol" panose="05050102010706020507" pitchFamily="18" charset="2"/>
              </a:rPr>
              <a:t> (r)      </a:t>
            </a:r>
            <a:r>
              <a:rPr lang="en-US" altLang="en-US" sz="1700" baseline="-25000" dirty="0">
                <a:latin typeface="Times New Roman" panose="02020603050405020304" pitchFamily="18" charset="0"/>
                <a:sym typeface="Symbol" panose="05050102010706020507" pitchFamily="18" charset="2"/>
              </a:rPr>
              <a:t>R</a:t>
            </a:r>
            <a:r>
              <a:rPr lang="en-US" altLang="en-US" sz="1700" baseline="-50000" dirty="0">
                <a:latin typeface="Times New Roman" panose="02020603050405020304" pitchFamily="18" charset="0"/>
                <a:sym typeface="Symbol" panose="05050102010706020507" pitchFamily="18" charset="2"/>
              </a:rPr>
              <a:t>2</a:t>
            </a:r>
            <a:r>
              <a:rPr lang="en-US" altLang="en-US" sz="1700" dirty="0">
                <a:latin typeface="Times New Roman" panose="02020603050405020304" pitchFamily="18" charset="0"/>
                <a:sym typeface="Symbol" panose="05050102010706020507" pitchFamily="18" charset="2"/>
              </a:rPr>
              <a:t> (r) = </a:t>
            </a:r>
            <a:r>
              <a:rPr lang="en-US" altLang="en-US" sz="1700" i="1" dirty="0">
                <a:latin typeface="Times New Roman" panose="02020603050405020304" pitchFamily="18" charset="0"/>
                <a:sym typeface="Symbol" panose="05050102010706020507" pitchFamily="18" charset="2"/>
              </a:rPr>
              <a:t>r</a:t>
            </a:r>
            <a:r>
              <a:rPr lang="en-US" altLang="en-US" sz="1700" dirty="0">
                <a:latin typeface="Times New Roman" panose="02020603050405020304" pitchFamily="18" charset="0"/>
                <a:sym typeface="Symbol" panose="05050102010706020507" pitchFamily="18" charset="2"/>
              </a:rPr>
              <a:t> </a:t>
            </a:r>
            <a:endParaRPr lang="en-US" altLang="en-US" sz="1700" dirty="0"/>
          </a:p>
        </p:txBody>
      </p:sp>
      <p:sp>
        <p:nvSpPr>
          <p:cNvPr id="12292" name="Freeform 19"/>
          <p:cNvSpPr>
            <a:spLocks/>
          </p:cNvSpPr>
          <p:nvPr/>
        </p:nvSpPr>
        <p:spPr bwMode="auto">
          <a:xfrm>
            <a:off x="6673695" y="2863696"/>
            <a:ext cx="142875" cy="142875"/>
          </a:xfrm>
          <a:custGeom>
            <a:avLst/>
            <a:gdLst>
              <a:gd name="T0" fmla="*/ 0 w 182"/>
              <a:gd name="T1" fmla="*/ 0 h 182"/>
              <a:gd name="T2" fmla="*/ 0 w 182"/>
              <a:gd name="T3" fmla="*/ 2147483647 h 182"/>
              <a:gd name="T4" fmla="*/ 2147483647 w 182"/>
              <a:gd name="T5" fmla="*/ 0 h 182"/>
              <a:gd name="T6" fmla="*/ 2147483647 w 182"/>
              <a:gd name="T7" fmla="*/ 2147483647 h 182"/>
              <a:gd name="T8" fmla="*/ 0 w 182"/>
              <a:gd name="T9" fmla="*/ 0 h 182"/>
              <a:gd name="T10" fmla="*/ 0 60000 65536"/>
              <a:gd name="T11" fmla="*/ 0 60000 65536"/>
              <a:gd name="T12" fmla="*/ 0 60000 65536"/>
              <a:gd name="T13" fmla="*/ 0 60000 65536"/>
              <a:gd name="T14" fmla="*/ 0 60000 65536"/>
              <a:gd name="T15" fmla="*/ 0 w 182"/>
              <a:gd name="T16" fmla="*/ 0 h 182"/>
              <a:gd name="T17" fmla="*/ 182 w 182"/>
              <a:gd name="T18" fmla="*/ 182 h 182"/>
            </a:gdLst>
            <a:ahLst/>
            <a:cxnLst>
              <a:cxn ang="T10">
                <a:pos x="T0" y="T1"/>
              </a:cxn>
              <a:cxn ang="T11">
                <a:pos x="T2" y="T3"/>
              </a:cxn>
              <a:cxn ang="T12">
                <a:pos x="T4" y="T5"/>
              </a:cxn>
              <a:cxn ang="T13">
                <a:pos x="T6" y="T7"/>
              </a:cxn>
              <a:cxn ang="T14">
                <a:pos x="T8" y="T9"/>
              </a:cxn>
            </a:cxnLst>
            <a:rect l="T15" t="T16" r="T17" b="T18"/>
            <a:pathLst>
              <a:path w="182" h="182">
                <a:moveTo>
                  <a:pt x="0" y="0"/>
                </a:moveTo>
                <a:lnTo>
                  <a:pt x="0" y="182"/>
                </a:lnTo>
                <a:lnTo>
                  <a:pt x="182" y="0"/>
                </a:lnTo>
                <a:lnTo>
                  <a:pt x="182" y="182"/>
                </a:lnTo>
                <a:lnTo>
                  <a:pt x="0" y="0"/>
                </a:lnTo>
                <a:close/>
              </a:path>
            </a:pathLst>
          </a:custGeom>
          <a:noFill/>
          <a:ln w="12700">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endParaRPr lang="en-US"/>
          </a:p>
        </p:txBody>
      </p:sp>
      <p:sp>
        <p:nvSpPr>
          <p:cNvPr id="12293" name="Freeform 19"/>
          <p:cNvSpPr>
            <a:spLocks/>
          </p:cNvSpPr>
          <p:nvPr/>
        </p:nvSpPr>
        <p:spPr bwMode="auto">
          <a:xfrm>
            <a:off x="6602257" y="3561591"/>
            <a:ext cx="142875" cy="142875"/>
          </a:xfrm>
          <a:custGeom>
            <a:avLst/>
            <a:gdLst>
              <a:gd name="T0" fmla="*/ 0 w 182"/>
              <a:gd name="T1" fmla="*/ 0 h 182"/>
              <a:gd name="T2" fmla="*/ 0 w 182"/>
              <a:gd name="T3" fmla="*/ 2147483647 h 182"/>
              <a:gd name="T4" fmla="*/ 2147483647 w 182"/>
              <a:gd name="T5" fmla="*/ 0 h 182"/>
              <a:gd name="T6" fmla="*/ 2147483647 w 182"/>
              <a:gd name="T7" fmla="*/ 2147483647 h 182"/>
              <a:gd name="T8" fmla="*/ 0 w 182"/>
              <a:gd name="T9" fmla="*/ 0 h 182"/>
              <a:gd name="T10" fmla="*/ 0 60000 65536"/>
              <a:gd name="T11" fmla="*/ 0 60000 65536"/>
              <a:gd name="T12" fmla="*/ 0 60000 65536"/>
              <a:gd name="T13" fmla="*/ 0 60000 65536"/>
              <a:gd name="T14" fmla="*/ 0 60000 65536"/>
              <a:gd name="T15" fmla="*/ 0 w 182"/>
              <a:gd name="T16" fmla="*/ 0 h 182"/>
              <a:gd name="T17" fmla="*/ 182 w 182"/>
              <a:gd name="T18" fmla="*/ 182 h 182"/>
            </a:gdLst>
            <a:ahLst/>
            <a:cxnLst>
              <a:cxn ang="T10">
                <a:pos x="T0" y="T1"/>
              </a:cxn>
              <a:cxn ang="T11">
                <a:pos x="T2" y="T3"/>
              </a:cxn>
              <a:cxn ang="T12">
                <a:pos x="T4" y="T5"/>
              </a:cxn>
              <a:cxn ang="T13">
                <a:pos x="T6" y="T7"/>
              </a:cxn>
              <a:cxn ang="T14">
                <a:pos x="T8" y="T9"/>
              </a:cxn>
            </a:cxnLst>
            <a:rect l="T15" t="T16" r="T17" b="T18"/>
            <a:pathLst>
              <a:path w="182" h="182">
                <a:moveTo>
                  <a:pt x="0" y="0"/>
                </a:moveTo>
                <a:lnTo>
                  <a:pt x="0" y="182"/>
                </a:lnTo>
                <a:lnTo>
                  <a:pt x="182" y="0"/>
                </a:lnTo>
                <a:lnTo>
                  <a:pt x="182" y="182"/>
                </a:lnTo>
                <a:lnTo>
                  <a:pt x="0" y="0"/>
                </a:lnTo>
                <a:close/>
              </a:path>
            </a:pathLst>
          </a:custGeom>
          <a:noFill/>
          <a:ln w="12700">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endParaRPr lang="en-US"/>
          </a:p>
        </p:txBody>
      </p:sp>
    </p:spTree>
    <p:extLst>
      <p:ext uri="{BB962C8B-B14F-4D97-AF65-F5344CB8AC3E}">
        <p14:creationId xmlns:p14="http://schemas.microsoft.com/office/powerpoint/2010/main" val="1701780100"/>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60482" name="Rectangle 2"/>
          <p:cNvSpPr>
            <a:spLocks noGrp="1" noChangeArrowheads="1"/>
          </p:cNvSpPr>
          <p:nvPr>
            <p:ph type="title"/>
          </p:nvPr>
        </p:nvSpPr>
        <p:spPr>
          <a:xfrm>
            <a:off x="628650" y="252413"/>
            <a:ext cx="8534400" cy="457200"/>
          </a:xfrm>
        </p:spPr>
        <p:txBody>
          <a:bodyPr/>
          <a:lstStyle/>
          <a:p>
            <a:pPr>
              <a:defRPr/>
            </a:pPr>
            <a:r>
              <a:rPr lang="fa-IR" dirty="0"/>
              <a:t>مثال یک تجزیه بدون اتلاف</a:t>
            </a:r>
            <a:endParaRPr lang="en-US" altLang="en-US" sz="2800" dirty="0">
              <a:effectLst>
                <a:outerShdw blurRad="38100" dist="38100" dir="2700000" algn="tl">
                  <a:srgbClr val="C0C0C0"/>
                </a:outerShdw>
              </a:effectLst>
              <a:ea typeface="ＭＳ Ｐゴシック" pitchFamily="34" charset="-128"/>
            </a:endParaRPr>
          </a:p>
        </p:txBody>
      </p:sp>
      <p:sp>
        <p:nvSpPr>
          <p:cNvPr id="13315" name="Rectangle 3"/>
          <p:cNvSpPr>
            <a:spLocks noGrp="1" noChangeArrowheads="1"/>
          </p:cNvSpPr>
          <p:nvPr>
            <p:ph idx="1"/>
          </p:nvPr>
        </p:nvSpPr>
        <p:spPr>
          <a:xfrm>
            <a:off x="772359" y="1095375"/>
            <a:ext cx="7541522" cy="830961"/>
          </a:xfrm>
        </p:spPr>
        <p:txBody>
          <a:bodyPr/>
          <a:lstStyle/>
          <a:p>
            <a:pPr algn="r" rtl="1">
              <a:tabLst>
                <a:tab pos="2336800" algn="l"/>
                <a:tab pos="3765550" algn="l"/>
              </a:tabLst>
            </a:pPr>
            <a:r>
              <a:rPr lang="fa-IR" sz="1800" dirty="0"/>
              <a:t>مثال </a:t>
            </a:r>
            <a:r>
              <a:rPr lang="en-US" sz="1800" dirty="0"/>
              <a:t>R=(A,B,C) </a:t>
            </a:r>
            <a:r>
              <a:rPr lang="fa-IR" sz="1800" dirty="0"/>
              <a:t>و تجزیه به </a:t>
            </a:r>
            <a:r>
              <a:rPr lang="en-US" sz="1800" dirty="0"/>
              <a:t>A,B </a:t>
            </a:r>
            <a:r>
              <a:rPr lang="fa-IR" sz="1800" dirty="0"/>
              <a:t>و </a:t>
            </a:r>
            <a:r>
              <a:rPr lang="en-US" sz="1800" dirty="0"/>
              <a:t>B,C</a:t>
            </a:r>
            <a:endParaRPr lang="en-US" altLang="en-US" sz="1700" dirty="0"/>
          </a:p>
        </p:txBody>
      </p:sp>
      <p:pic>
        <p:nvPicPr>
          <p:cNvPr id="13316" name="Picture 30" descr="C:\Users\as668\Desktop\Judi\7_02 figure.jpg"/>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453750" y="2312098"/>
            <a:ext cx="5963049" cy="396114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339040147"/>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66626" name="Rectangle 2"/>
          <p:cNvSpPr>
            <a:spLocks noGrp="1" noChangeArrowheads="1"/>
          </p:cNvSpPr>
          <p:nvPr>
            <p:ph type="title"/>
          </p:nvPr>
        </p:nvSpPr>
        <p:spPr>
          <a:xfrm>
            <a:off x="771525" y="185738"/>
            <a:ext cx="8372475" cy="598487"/>
          </a:xfrm>
        </p:spPr>
        <p:txBody>
          <a:bodyPr/>
          <a:lstStyle/>
          <a:p>
            <a:pPr>
              <a:defRPr/>
            </a:pPr>
            <a:r>
              <a:rPr lang="fa-IR" dirty="0"/>
              <a:t>تئوری </a:t>
            </a:r>
            <a:r>
              <a:rPr lang="fa-IR" dirty="0" err="1"/>
              <a:t>نرمال‌سازی</a:t>
            </a:r>
            <a:endParaRPr lang="en-US" altLang="en-US" sz="2800" dirty="0">
              <a:effectLst>
                <a:outerShdw blurRad="38100" dist="38100" dir="2700000" algn="tl">
                  <a:srgbClr val="C0C0C0"/>
                </a:outerShdw>
              </a:effectLst>
              <a:ea typeface="ＭＳ Ｐゴシック" pitchFamily="34" charset="-128"/>
            </a:endParaRPr>
          </a:p>
        </p:txBody>
      </p:sp>
      <p:sp>
        <p:nvSpPr>
          <p:cNvPr id="14339" name="Rectangle 3"/>
          <p:cNvSpPr>
            <a:spLocks noGrp="1" noChangeArrowheads="1"/>
          </p:cNvSpPr>
          <p:nvPr>
            <p:ph idx="1"/>
          </p:nvPr>
        </p:nvSpPr>
        <p:spPr>
          <a:xfrm>
            <a:off x="246743" y="1132114"/>
            <a:ext cx="8650514" cy="5355772"/>
          </a:xfrm>
        </p:spPr>
        <p:txBody>
          <a:bodyPr/>
          <a:lstStyle/>
          <a:p>
            <a:pPr algn="r" rtl="1"/>
            <a:r>
              <a:rPr lang="fa-IR" sz="2400" dirty="0"/>
              <a:t>تشخیص </a:t>
            </a:r>
            <a:r>
              <a:rPr lang="fa-IR" sz="2400" dirty="0" err="1"/>
              <a:t>این‌که</a:t>
            </a:r>
            <a:r>
              <a:rPr lang="fa-IR" sz="2400" dirty="0"/>
              <a:t> یک رابطه </a:t>
            </a:r>
            <a:r>
              <a:rPr lang="en-US" sz="2400" dirty="0"/>
              <a:t>Relation)</a:t>
            </a:r>
            <a:r>
              <a:rPr lang="fa-IR" sz="2400" dirty="0"/>
              <a:t>)</a:t>
            </a:r>
            <a:r>
              <a:rPr lang="en-US" sz="2400" dirty="0"/>
              <a:t> </a:t>
            </a:r>
            <a:r>
              <a:rPr lang="fa-IR" sz="2400" dirty="0"/>
              <a:t>به نام </a:t>
            </a:r>
            <a:r>
              <a:rPr lang="en-US" sz="2400" dirty="0"/>
              <a:t>R </a:t>
            </a:r>
            <a:r>
              <a:rPr lang="fa-IR" sz="2400" dirty="0"/>
              <a:t>در «فرم خوب» قرار دارد یا نه.</a:t>
            </a:r>
          </a:p>
          <a:p>
            <a:pPr algn="r" rtl="1"/>
            <a:r>
              <a:rPr lang="fa-IR" sz="2400" dirty="0"/>
              <a:t>اگر رابطه </a:t>
            </a:r>
            <a:r>
              <a:rPr lang="en-US" sz="2400" dirty="0"/>
              <a:t>R </a:t>
            </a:r>
            <a:r>
              <a:rPr lang="fa-IR" sz="2400" dirty="0"/>
              <a:t>در فرم خوب نباشد، آن را به مجموعه‌ای از رابطه‌ها </a:t>
            </a:r>
            <a:r>
              <a:rPr lang="en-US" sz="2400" dirty="0"/>
              <a:t>R1, R2, ..., Rn </a:t>
            </a:r>
            <a:r>
              <a:rPr lang="fa-IR" sz="2400" dirty="0"/>
              <a:t>تجزیه </a:t>
            </a:r>
            <a:r>
              <a:rPr lang="fa-IR" sz="2400" dirty="0" err="1"/>
              <a:t>می‌کنیم</a:t>
            </a:r>
            <a:r>
              <a:rPr lang="fa-IR" sz="2400" dirty="0"/>
              <a:t>، </a:t>
            </a:r>
            <a:r>
              <a:rPr lang="fa-IR" sz="2400" dirty="0" err="1"/>
              <a:t>به‌گونه‌ای</a:t>
            </a:r>
            <a:r>
              <a:rPr lang="fa-IR" sz="2400" dirty="0"/>
              <a:t> که:</a:t>
            </a:r>
          </a:p>
          <a:p>
            <a:pPr lvl="1" algn="r" rtl="1"/>
            <a:r>
              <a:rPr lang="fa-IR" sz="2400" dirty="0"/>
              <a:t>هر یک از </a:t>
            </a:r>
            <a:r>
              <a:rPr lang="fa-IR" sz="2400" dirty="0" err="1"/>
              <a:t>رابطه‌های</a:t>
            </a:r>
            <a:r>
              <a:rPr lang="fa-IR" sz="2400" dirty="0"/>
              <a:t> حاصل در فرم خوب باشند</a:t>
            </a:r>
          </a:p>
          <a:p>
            <a:pPr lvl="1" algn="r" rtl="1"/>
            <a:r>
              <a:rPr lang="fa-IR" sz="2400" dirty="0"/>
              <a:t>این تجزیه بدونِ اتلاف اطلاعات </a:t>
            </a:r>
            <a:r>
              <a:rPr lang="en-US" sz="2400" dirty="0"/>
              <a:t>Lossless </a:t>
            </a:r>
            <a:r>
              <a:rPr lang="fa-IR" sz="2400" dirty="0"/>
              <a:t> باشد</a:t>
            </a:r>
          </a:p>
          <a:p>
            <a:pPr algn="r" rtl="1"/>
            <a:r>
              <a:rPr lang="fa-IR" sz="2400" dirty="0"/>
              <a:t>تئوری ما بر پایه موارد زیر است:</a:t>
            </a:r>
          </a:p>
          <a:p>
            <a:pPr lvl="1" algn="r" rtl="1"/>
            <a:r>
              <a:rPr lang="fa-IR" sz="2400" dirty="0" err="1"/>
              <a:t>وابستگی‌های</a:t>
            </a:r>
            <a:r>
              <a:rPr lang="fa-IR" sz="2400" dirty="0"/>
              <a:t> </a:t>
            </a:r>
            <a:r>
              <a:rPr lang="fa-IR" sz="2400" dirty="0" err="1"/>
              <a:t>تابعی</a:t>
            </a:r>
            <a:endParaRPr lang="fa-IR" sz="2400" dirty="0"/>
          </a:p>
          <a:p>
            <a:pPr lvl="1" algn="r" rtl="1"/>
            <a:r>
              <a:rPr lang="fa-IR" sz="2400" dirty="0" err="1"/>
              <a:t>وابستگی‌های</a:t>
            </a:r>
            <a:r>
              <a:rPr lang="fa-IR" sz="2400" dirty="0"/>
              <a:t> </a:t>
            </a:r>
            <a:r>
              <a:rPr lang="fa-IR" sz="2400" dirty="0" err="1"/>
              <a:t>چندمقداری</a:t>
            </a:r>
            <a:endParaRPr lang="en-US" altLang="en-US" sz="2400" dirty="0"/>
          </a:p>
        </p:txBody>
      </p:sp>
    </p:spTree>
    <p:extLst>
      <p:ext uri="{BB962C8B-B14F-4D97-AF65-F5344CB8AC3E}">
        <p14:creationId xmlns:p14="http://schemas.microsoft.com/office/powerpoint/2010/main" val="525494911"/>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68674" name="Rectangle 2"/>
          <p:cNvSpPr>
            <a:spLocks noGrp="1" noChangeArrowheads="1"/>
          </p:cNvSpPr>
          <p:nvPr>
            <p:ph type="title"/>
          </p:nvPr>
        </p:nvSpPr>
        <p:spPr>
          <a:xfrm>
            <a:off x="768350" y="98425"/>
            <a:ext cx="8077200" cy="609600"/>
          </a:xfrm>
        </p:spPr>
        <p:txBody>
          <a:bodyPr/>
          <a:lstStyle/>
          <a:p>
            <a:pPr>
              <a:defRPr/>
            </a:pPr>
            <a:r>
              <a:rPr lang="fa-IR" dirty="0" err="1"/>
              <a:t>وابستگی‌های</a:t>
            </a:r>
            <a:r>
              <a:rPr lang="fa-IR" dirty="0"/>
              <a:t> </a:t>
            </a:r>
            <a:r>
              <a:rPr lang="fa-IR" dirty="0" err="1"/>
              <a:t>تابعی</a:t>
            </a:r>
            <a:endParaRPr lang="en-US" altLang="en-US" sz="2800" dirty="0">
              <a:effectLst>
                <a:outerShdw blurRad="38100" dist="38100" dir="2700000" algn="tl">
                  <a:srgbClr val="C0C0C0"/>
                </a:outerShdw>
              </a:effectLst>
              <a:ea typeface="ＭＳ Ｐゴシック" pitchFamily="34" charset="-128"/>
            </a:endParaRPr>
          </a:p>
        </p:txBody>
      </p:sp>
      <p:sp>
        <p:nvSpPr>
          <p:cNvPr id="15363" name="Rectangle 3"/>
          <p:cNvSpPr>
            <a:spLocks noGrp="1" noChangeArrowheads="1"/>
          </p:cNvSpPr>
          <p:nvPr>
            <p:ph idx="1"/>
          </p:nvPr>
        </p:nvSpPr>
        <p:spPr>
          <a:xfrm>
            <a:off x="362857" y="1106423"/>
            <a:ext cx="8650514" cy="5410491"/>
          </a:xfrm>
        </p:spPr>
        <p:txBody>
          <a:bodyPr/>
          <a:lstStyle/>
          <a:p>
            <a:pPr algn="r" rtl="1"/>
            <a:r>
              <a:rPr lang="fa-IR" sz="2800" dirty="0"/>
              <a:t>در دنیای واقعی معمولاً </a:t>
            </a:r>
            <a:r>
              <a:rPr lang="fa-IR" sz="2800" dirty="0" err="1"/>
              <a:t>مجموعه‌ای</a:t>
            </a:r>
            <a:r>
              <a:rPr lang="fa-IR" sz="2800" dirty="0"/>
              <a:t> از </a:t>
            </a:r>
            <a:r>
              <a:rPr lang="fa-IR" sz="2800" dirty="0" err="1"/>
              <a:t>محدودیت‌ها</a:t>
            </a:r>
            <a:r>
              <a:rPr lang="fa-IR" sz="2800" dirty="0"/>
              <a:t> (قوانین) روی </a:t>
            </a:r>
            <a:r>
              <a:rPr lang="fa-IR" sz="2800" dirty="0" err="1"/>
              <a:t>داده‌ها</a:t>
            </a:r>
            <a:r>
              <a:rPr lang="fa-IR" sz="2800" dirty="0"/>
              <a:t> وجود دارد.</a:t>
            </a:r>
            <a:br>
              <a:rPr lang="fa-IR" sz="2800" dirty="0"/>
            </a:br>
            <a:r>
              <a:rPr lang="fa-IR" sz="2800" dirty="0"/>
              <a:t>برای مثال، برخی از محدودیت‌هایی که انتظار می‌رود در یک پایگاه داده دانشگاه برقرار باشند، عبارت‌اند از:</a:t>
            </a:r>
          </a:p>
          <a:p>
            <a:pPr algn="r" rtl="1"/>
            <a:r>
              <a:rPr lang="fa-IR" sz="2800" b="1" dirty="0"/>
              <a:t>دانشجوها و اساتید با شناسه </a:t>
            </a:r>
            <a:r>
              <a:rPr lang="en-US" sz="2800" b="1" dirty="0"/>
              <a:t>ID </a:t>
            </a:r>
            <a:r>
              <a:rPr lang="fa-IR" sz="2800" b="1" dirty="0"/>
              <a:t>خود </a:t>
            </a:r>
            <a:r>
              <a:rPr lang="fa-IR" sz="2800" b="1" dirty="0" err="1"/>
              <a:t>به‌طور</a:t>
            </a:r>
            <a:r>
              <a:rPr lang="fa-IR" sz="2800" b="1" dirty="0"/>
              <a:t> </a:t>
            </a:r>
            <a:r>
              <a:rPr lang="fa-IR" sz="2800" b="1" dirty="0" err="1"/>
              <a:t>یکتایی</a:t>
            </a:r>
            <a:r>
              <a:rPr lang="fa-IR" sz="2800" b="1" dirty="0"/>
              <a:t> شناسایی </a:t>
            </a:r>
            <a:r>
              <a:rPr lang="fa-IR" sz="2800" b="1" dirty="0" err="1"/>
              <a:t>می‌شوند</a:t>
            </a:r>
            <a:r>
              <a:rPr lang="fa-IR" sz="2800" b="1" dirty="0"/>
              <a:t>.</a:t>
            </a:r>
            <a:br>
              <a:rPr lang="fa-IR" sz="2800" dirty="0"/>
            </a:br>
            <a:r>
              <a:rPr lang="fa-IR" sz="2800" dirty="0"/>
              <a:t>یعنی هیچ دو دانشجو یا استاد </a:t>
            </a:r>
            <a:r>
              <a:rPr lang="fa-IR" sz="2800" dirty="0" err="1"/>
              <a:t>نمی‌توانند</a:t>
            </a:r>
            <a:r>
              <a:rPr lang="fa-IR" sz="2800" dirty="0"/>
              <a:t> </a:t>
            </a:r>
            <a:r>
              <a:rPr lang="en-US" sz="2800" dirty="0"/>
              <a:t>ID </a:t>
            </a:r>
            <a:r>
              <a:rPr lang="fa-IR" sz="2800" dirty="0"/>
              <a:t>یکسان داشته باشند.</a:t>
            </a:r>
          </a:p>
          <a:p>
            <a:pPr algn="r" rtl="1"/>
            <a:r>
              <a:rPr lang="fa-IR" sz="2800" dirty="0"/>
              <a:t>هر دانشجو و هر استاد فقط یک نام دارد.</a:t>
            </a:r>
          </a:p>
          <a:p>
            <a:pPr algn="r" rtl="1"/>
            <a:r>
              <a:rPr lang="fa-IR" sz="2800" dirty="0"/>
              <a:t>هر استاد و هر دانشجو (</a:t>
            </a:r>
            <a:r>
              <a:rPr lang="fa-IR" sz="2800" dirty="0" err="1"/>
              <a:t>به‌طور</a:t>
            </a:r>
            <a:r>
              <a:rPr lang="fa-IR" sz="2800" dirty="0"/>
              <a:t> اصلی) فقط به یک دپارتمان وابسته است.</a:t>
            </a:r>
          </a:p>
          <a:p>
            <a:pPr algn="r" rtl="1"/>
            <a:r>
              <a:rPr lang="fa-IR" sz="2800" dirty="0"/>
              <a:t>هر دپارتمان فقط یک مقدار برای بودجه خود دارد و تنها یک ساختمان به آن اختصاص داده شده است.</a:t>
            </a:r>
          </a:p>
        </p:txBody>
      </p:sp>
    </p:spTree>
    <p:extLst>
      <p:ext uri="{BB962C8B-B14F-4D97-AF65-F5344CB8AC3E}">
        <p14:creationId xmlns:p14="http://schemas.microsoft.com/office/powerpoint/2010/main" val="687862712"/>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68674" name="Rectangle 2"/>
          <p:cNvSpPr>
            <a:spLocks noGrp="1" noChangeArrowheads="1"/>
          </p:cNvSpPr>
          <p:nvPr>
            <p:ph type="title"/>
          </p:nvPr>
        </p:nvSpPr>
        <p:spPr>
          <a:xfrm>
            <a:off x="768350" y="98425"/>
            <a:ext cx="8077200" cy="609600"/>
          </a:xfrm>
        </p:spPr>
        <p:txBody>
          <a:bodyPr/>
          <a:lstStyle/>
          <a:p>
            <a:pPr>
              <a:defRPr/>
            </a:pPr>
            <a:r>
              <a:rPr lang="fa-IR" dirty="0" err="1"/>
              <a:t>وابستگی‌های</a:t>
            </a:r>
            <a:r>
              <a:rPr lang="fa-IR" dirty="0"/>
              <a:t> </a:t>
            </a:r>
            <a:r>
              <a:rPr lang="fa-IR" dirty="0" err="1"/>
              <a:t>تابعی</a:t>
            </a:r>
            <a:r>
              <a:rPr lang="fa-IR" dirty="0"/>
              <a:t> – ادامه</a:t>
            </a:r>
            <a:endParaRPr lang="en-US" altLang="en-US" sz="2800" dirty="0">
              <a:effectLst>
                <a:outerShdw blurRad="38100" dist="38100" dir="2700000" algn="tl">
                  <a:srgbClr val="C0C0C0"/>
                </a:outerShdw>
              </a:effectLst>
              <a:ea typeface="ＭＳ Ｐゴシック" pitchFamily="34" charset="-128"/>
            </a:endParaRPr>
          </a:p>
        </p:txBody>
      </p:sp>
      <p:sp>
        <p:nvSpPr>
          <p:cNvPr id="16387" name="Rectangle 3"/>
          <p:cNvSpPr>
            <a:spLocks noGrp="1" noChangeArrowheads="1"/>
          </p:cNvSpPr>
          <p:nvPr>
            <p:ph idx="1"/>
          </p:nvPr>
        </p:nvSpPr>
        <p:spPr>
          <a:xfrm>
            <a:off x="508000" y="1142557"/>
            <a:ext cx="7880096" cy="4706700"/>
          </a:xfrm>
        </p:spPr>
        <p:txBody>
          <a:bodyPr/>
          <a:lstStyle/>
          <a:p>
            <a:pPr algn="r" rtl="1"/>
            <a:r>
              <a:rPr lang="fa-IR" sz="2800" dirty="0"/>
              <a:t>یک نمونه </a:t>
            </a:r>
            <a:r>
              <a:rPr lang="en-US" sz="2800" dirty="0"/>
              <a:t>instance </a:t>
            </a:r>
            <a:r>
              <a:rPr lang="fa-IR" sz="2800" dirty="0"/>
              <a:t>از یک رابطه که تمام این </a:t>
            </a:r>
            <a:r>
              <a:rPr lang="fa-IR" sz="2800" dirty="0" err="1"/>
              <a:t>محدودیت‌های</a:t>
            </a:r>
            <a:r>
              <a:rPr lang="fa-IR" sz="2800" dirty="0"/>
              <a:t> دنیای واقعی را رعایت کند، «نمونه معتبر» آن رابطه نامیده </a:t>
            </a:r>
            <a:r>
              <a:rPr lang="fa-IR" sz="2800" dirty="0" err="1"/>
              <a:t>می‌شود</a:t>
            </a:r>
            <a:r>
              <a:rPr lang="fa-IR" sz="2800" dirty="0"/>
              <a:t>.</a:t>
            </a:r>
            <a:br>
              <a:rPr lang="fa-IR" sz="2800" dirty="0"/>
            </a:br>
            <a:r>
              <a:rPr lang="fa-IR" sz="2800" dirty="0"/>
              <a:t>یک پایگاه داده زمانی معتبر است که همه </a:t>
            </a:r>
            <a:r>
              <a:rPr lang="fa-IR" sz="2800" dirty="0" err="1"/>
              <a:t>رابطه‌های</a:t>
            </a:r>
            <a:r>
              <a:rPr lang="fa-IR" sz="2800" dirty="0"/>
              <a:t> داخل آن </a:t>
            </a:r>
            <a:r>
              <a:rPr lang="fa-IR" sz="2800" dirty="0" err="1"/>
              <a:t>نمونه‌های</a:t>
            </a:r>
            <a:r>
              <a:rPr lang="fa-IR" sz="2800" dirty="0"/>
              <a:t> معتبر باشند.</a:t>
            </a:r>
          </a:p>
          <a:p>
            <a:pPr algn="r" rtl="1"/>
            <a:r>
              <a:rPr lang="fa-IR" sz="2800" dirty="0"/>
              <a:t>این محدودیت‌ها روی مجموعه رابطه‌های معتبر اعمال می‌شوند و تعیین می‌کنند که:</a:t>
            </a:r>
            <a:br>
              <a:rPr lang="fa-IR" sz="2800" dirty="0"/>
            </a:br>
            <a:r>
              <a:rPr lang="fa-IR" sz="2800" dirty="0"/>
              <a:t>مقدار یک سری از ویژگی‌ها </a:t>
            </a:r>
            <a:r>
              <a:rPr lang="en-US" sz="2800" dirty="0"/>
              <a:t>attributes </a:t>
            </a:r>
            <a:r>
              <a:rPr lang="fa-IR" sz="2800" dirty="0"/>
              <a:t>باید مقدار مجموعه دیگری از </a:t>
            </a:r>
            <a:r>
              <a:rPr lang="fa-IR" sz="2800" dirty="0" err="1"/>
              <a:t>ویژگی‌ها</a:t>
            </a:r>
            <a:r>
              <a:rPr lang="fa-IR" sz="2800" dirty="0"/>
              <a:t> را </a:t>
            </a:r>
            <a:r>
              <a:rPr lang="fa-IR" sz="2800" dirty="0" err="1"/>
              <a:t>به‌طور</a:t>
            </a:r>
            <a:r>
              <a:rPr lang="fa-IR" sz="2800" dirty="0"/>
              <a:t> یکتا مشخص کند.</a:t>
            </a:r>
          </a:p>
          <a:p>
            <a:pPr algn="r" rtl="1"/>
            <a:r>
              <a:rPr lang="fa-IR" sz="2800" dirty="0"/>
              <a:t>درواقع، وابستگی تابعی یک شکل تعمیم‌یافته از مفهوم کلید </a:t>
            </a:r>
            <a:r>
              <a:rPr lang="en-US" sz="2800" dirty="0"/>
              <a:t>Key </a:t>
            </a:r>
            <a:r>
              <a:rPr lang="fa-IR" sz="2800" dirty="0"/>
              <a:t>است.</a:t>
            </a:r>
          </a:p>
        </p:txBody>
      </p:sp>
    </p:spTree>
    <p:extLst>
      <p:ext uri="{BB962C8B-B14F-4D97-AF65-F5344CB8AC3E}">
        <p14:creationId xmlns:p14="http://schemas.microsoft.com/office/powerpoint/2010/main" val="2432182442"/>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70722" name="Rectangle 2"/>
          <p:cNvSpPr>
            <a:spLocks noGrp="1" noChangeArrowheads="1"/>
          </p:cNvSpPr>
          <p:nvPr>
            <p:ph type="title"/>
          </p:nvPr>
        </p:nvSpPr>
        <p:spPr/>
        <p:txBody>
          <a:bodyPr/>
          <a:lstStyle/>
          <a:p>
            <a:pPr>
              <a:defRPr/>
            </a:pPr>
            <a:r>
              <a:rPr lang="fa-IR" altLang="en-US" sz="2800" dirty="0">
                <a:effectLst>
                  <a:outerShdw blurRad="38100" dist="38100" dir="2700000" algn="tl">
                    <a:srgbClr val="C0C0C0"/>
                  </a:outerShdw>
                </a:effectLst>
                <a:ea typeface="ＭＳ Ｐゴシック" pitchFamily="34" charset="-128"/>
              </a:rPr>
              <a:t>مفهوم </a:t>
            </a:r>
            <a:r>
              <a:rPr lang="fa-IR" dirty="0" err="1"/>
              <a:t>وابستگی‌های</a:t>
            </a:r>
            <a:r>
              <a:rPr lang="fa-IR" dirty="0"/>
              <a:t> </a:t>
            </a:r>
            <a:r>
              <a:rPr lang="fa-IR" dirty="0" err="1"/>
              <a:t>تابعی</a:t>
            </a:r>
            <a:r>
              <a:rPr lang="fa-IR" dirty="0"/>
              <a:t> </a:t>
            </a:r>
            <a:endParaRPr lang="en-US" altLang="en-US" sz="2800" dirty="0">
              <a:effectLst>
                <a:outerShdw blurRad="38100" dist="38100" dir="2700000" algn="tl">
                  <a:srgbClr val="C0C0C0"/>
                </a:outerShdw>
              </a:effectLst>
              <a:ea typeface="ＭＳ Ｐゴシック" pitchFamily="34" charset="-128"/>
            </a:endParaRPr>
          </a:p>
        </p:txBody>
      </p:sp>
      <p:sp>
        <p:nvSpPr>
          <p:cNvPr id="17411" name="Rectangle 3"/>
          <p:cNvSpPr>
            <a:spLocks noGrp="1" noChangeArrowheads="1"/>
          </p:cNvSpPr>
          <p:nvPr>
            <p:ph idx="1"/>
          </p:nvPr>
        </p:nvSpPr>
        <p:spPr>
          <a:xfrm>
            <a:off x="188685" y="1001485"/>
            <a:ext cx="8795657" cy="5544457"/>
          </a:xfrm>
        </p:spPr>
        <p:txBody>
          <a:bodyPr/>
          <a:lstStyle/>
          <a:p>
            <a:pPr algn="r" rtl="1">
              <a:lnSpc>
                <a:spcPct val="90000"/>
              </a:lnSpc>
              <a:tabLst>
                <a:tab pos="2917825" algn="ctr"/>
              </a:tabLst>
            </a:pPr>
            <a:r>
              <a:rPr lang="fa-IR" sz="2400" dirty="0"/>
              <a:t>فرض کنید </a:t>
            </a:r>
            <a:r>
              <a:rPr lang="en-US" sz="2400" dirty="0"/>
              <a:t>R </a:t>
            </a:r>
            <a:r>
              <a:rPr lang="fa-IR" sz="2400" dirty="0"/>
              <a:t>یک </a:t>
            </a:r>
            <a:r>
              <a:rPr lang="fa-IR" sz="2400" dirty="0" err="1"/>
              <a:t>اسکیما</a:t>
            </a:r>
            <a:r>
              <a:rPr lang="fa-IR" sz="2400" dirty="0"/>
              <a:t> (طرح) </a:t>
            </a:r>
            <a:r>
              <a:rPr lang="fa-IR" sz="2400" dirty="0" err="1"/>
              <a:t>رابطه‌ای</a:t>
            </a:r>
            <a:r>
              <a:rPr lang="fa-IR" sz="2400" dirty="0"/>
              <a:t> باشد.</a:t>
            </a:r>
            <a:br>
              <a:rPr lang="fa-IR" sz="2400" dirty="0"/>
            </a:br>
            <a:r>
              <a:rPr lang="fa-IR" sz="2400" dirty="0"/>
              <a:t>  </a:t>
            </a:r>
            <a:r>
              <a:rPr lang="el-GR" sz="2400" dirty="0"/>
              <a:t>α ⊆ </a:t>
            </a:r>
            <a:r>
              <a:rPr lang="en-US" sz="2400" dirty="0"/>
              <a:t>R </a:t>
            </a:r>
            <a:r>
              <a:rPr lang="fa-IR" sz="2400" dirty="0"/>
              <a:t>و </a:t>
            </a:r>
            <a:r>
              <a:rPr lang="el-GR" sz="2400" dirty="0"/>
              <a:t>β ⊆ </a:t>
            </a:r>
            <a:r>
              <a:rPr lang="en-US" sz="2400" dirty="0"/>
              <a:t>R</a:t>
            </a:r>
            <a:br>
              <a:rPr lang="en-US" sz="2400" dirty="0"/>
            </a:br>
            <a:endParaRPr lang="fa-IR" sz="2400" dirty="0"/>
          </a:p>
          <a:p>
            <a:pPr algn="r" rtl="1">
              <a:lnSpc>
                <a:spcPct val="90000"/>
              </a:lnSpc>
              <a:tabLst>
                <a:tab pos="2917825" algn="ctr"/>
              </a:tabLst>
            </a:pPr>
            <a:r>
              <a:rPr lang="fa-IR" sz="2400" dirty="0"/>
              <a:t>وابستگی </a:t>
            </a:r>
            <a:r>
              <a:rPr lang="fa-IR" sz="2400" dirty="0" err="1"/>
              <a:t>تابعی</a:t>
            </a:r>
            <a:br>
              <a:rPr lang="fa-IR" sz="2400" dirty="0"/>
            </a:br>
            <a:r>
              <a:rPr lang="fa-IR" sz="2400" dirty="0"/>
              <a:t>  </a:t>
            </a:r>
            <a:r>
              <a:rPr lang="el-GR" sz="2400" dirty="0"/>
              <a:t>α → β</a:t>
            </a:r>
            <a:br>
              <a:rPr lang="el-GR" sz="2400" dirty="0"/>
            </a:br>
            <a:endParaRPr lang="fa-IR" sz="2400" dirty="0"/>
          </a:p>
          <a:p>
            <a:pPr algn="r" rtl="1">
              <a:lnSpc>
                <a:spcPct val="90000"/>
              </a:lnSpc>
              <a:tabLst>
                <a:tab pos="2917825" algn="ctr"/>
              </a:tabLst>
            </a:pPr>
            <a:r>
              <a:rPr lang="fa-IR" sz="2400" dirty="0"/>
              <a:t>روی </a:t>
            </a:r>
            <a:r>
              <a:rPr lang="en-US" sz="2400" dirty="0"/>
              <a:t>R </a:t>
            </a:r>
            <a:r>
              <a:rPr lang="fa-IR" sz="2400" dirty="0"/>
              <a:t>برقرار است </a:t>
            </a:r>
            <a:r>
              <a:rPr lang="fa-IR" sz="2400" b="1" dirty="0"/>
              <a:t>اگر و تنها اگر</a:t>
            </a:r>
            <a:r>
              <a:rPr lang="fa-IR" sz="2400" dirty="0"/>
              <a:t> برای هر نمونه قانونی </a:t>
            </a:r>
            <a:r>
              <a:rPr lang="en-US" sz="2400" dirty="0"/>
              <a:t>r(R)، </a:t>
            </a:r>
            <a:r>
              <a:rPr lang="fa-IR" sz="2400" dirty="0" err="1"/>
              <a:t>هرگاه</a:t>
            </a:r>
            <a:r>
              <a:rPr lang="fa-IR" sz="2400" dirty="0"/>
              <a:t> دو </a:t>
            </a:r>
            <a:r>
              <a:rPr lang="fa-IR" sz="2400" dirty="0" err="1"/>
              <a:t>تاپل</a:t>
            </a:r>
            <a:r>
              <a:rPr lang="fa-IR" sz="2400" dirty="0"/>
              <a:t> </a:t>
            </a:r>
            <a:r>
              <a:rPr lang="en-US" sz="2400" dirty="0"/>
              <a:t>t1 </a:t>
            </a:r>
            <a:r>
              <a:rPr lang="fa-IR" sz="2400" dirty="0"/>
              <a:t>و </a:t>
            </a:r>
            <a:r>
              <a:rPr lang="en-US" sz="2400" dirty="0"/>
              <a:t>t2 </a:t>
            </a:r>
            <a:r>
              <a:rPr lang="fa-IR" sz="2400" dirty="0"/>
              <a:t>از </a:t>
            </a:r>
            <a:r>
              <a:rPr lang="en-US" sz="2400" dirty="0"/>
              <a:t>r </a:t>
            </a:r>
            <a:r>
              <a:rPr lang="fa-IR" sz="2400" dirty="0"/>
              <a:t>روی </a:t>
            </a:r>
            <a:r>
              <a:rPr lang="fa-IR" sz="2400" dirty="0" err="1"/>
              <a:t>صفت‌های</a:t>
            </a:r>
            <a:r>
              <a:rPr lang="fa-IR" sz="2400" dirty="0"/>
              <a:t> مجموعه </a:t>
            </a:r>
            <a:r>
              <a:rPr lang="el-GR" sz="2400" dirty="0"/>
              <a:t>α </a:t>
            </a:r>
            <a:r>
              <a:rPr lang="fa-IR" sz="2400" dirty="0"/>
              <a:t>با هم برابر باشند، آن دو </a:t>
            </a:r>
            <a:r>
              <a:rPr lang="fa-IR" sz="2400" dirty="0" err="1"/>
              <a:t>تاپل</a:t>
            </a:r>
            <a:r>
              <a:rPr lang="fa-IR" sz="2400" dirty="0"/>
              <a:t> روی </a:t>
            </a:r>
            <a:r>
              <a:rPr lang="fa-IR" sz="2400" dirty="0" err="1"/>
              <a:t>صفت‌های</a:t>
            </a:r>
            <a:r>
              <a:rPr lang="fa-IR" sz="2400" dirty="0"/>
              <a:t> مجموعه </a:t>
            </a:r>
            <a:r>
              <a:rPr lang="el-GR" sz="2400" dirty="0"/>
              <a:t>β </a:t>
            </a:r>
            <a:r>
              <a:rPr lang="fa-IR" sz="2400" dirty="0"/>
              <a:t>هم با هم برابر باشند. به عبارتی:</a:t>
            </a:r>
          </a:p>
          <a:p>
            <a:pPr algn="r" rtl="1">
              <a:lnSpc>
                <a:spcPct val="90000"/>
              </a:lnSpc>
              <a:tabLst>
                <a:tab pos="2917825" algn="ctr"/>
              </a:tabLst>
            </a:pPr>
            <a:br>
              <a:rPr lang="fa-IR" sz="2400" dirty="0"/>
            </a:br>
            <a:r>
              <a:rPr lang="fa-IR" sz="2400" dirty="0"/>
              <a:t>  اگر </a:t>
            </a:r>
            <a:r>
              <a:rPr lang="en-US" sz="2400" dirty="0"/>
              <a:t>t1[</a:t>
            </a:r>
            <a:r>
              <a:rPr lang="el-GR" sz="2400" dirty="0"/>
              <a:t>α] = </a:t>
            </a:r>
            <a:r>
              <a:rPr lang="en-US" sz="2400" dirty="0"/>
              <a:t>t2[</a:t>
            </a:r>
            <a:r>
              <a:rPr lang="el-GR" sz="2400" dirty="0"/>
              <a:t>α] </a:t>
            </a:r>
            <a:r>
              <a:rPr lang="fa-IR" sz="2400" dirty="0"/>
              <a:t>آنگاه </a:t>
            </a:r>
            <a:r>
              <a:rPr lang="en-US" sz="2400" dirty="0"/>
              <a:t>t1[</a:t>
            </a:r>
            <a:r>
              <a:rPr lang="el-GR" sz="2400" dirty="0"/>
              <a:t>β] = </a:t>
            </a:r>
            <a:r>
              <a:rPr lang="en-US" sz="2400" dirty="0"/>
              <a:t>t2[</a:t>
            </a:r>
            <a:r>
              <a:rPr lang="el-GR" sz="2400" dirty="0"/>
              <a:t>β]</a:t>
            </a:r>
            <a:br>
              <a:rPr lang="el-GR" sz="2400" dirty="0"/>
            </a:br>
            <a:endParaRPr lang="fa-IR" sz="2400" dirty="0"/>
          </a:p>
          <a:p>
            <a:pPr algn="r" rtl="1">
              <a:lnSpc>
                <a:spcPct val="90000"/>
              </a:lnSpc>
              <a:tabLst>
                <a:tab pos="2917825" algn="ctr"/>
              </a:tabLst>
            </a:pPr>
            <a:r>
              <a:rPr lang="fa-IR" sz="2400" dirty="0"/>
              <a:t>مثال: </a:t>
            </a:r>
            <a:r>
              <a:rPr lang="fa-IR" sz="2400" dirty="0" err="1"/>
              <a:t>رابطه‌ای</a:t>
            </a:r>
            <a:r>
              <a:rPr lang="fa-IR" sz="2400" dirty="0"/>
              <a:t> به نام </a:t>
            </a:r>
            <a:r>
              <a:rPr lang="en-US" sz="2400" dirty="0"/>
              <a:t>r(A,B) </a:t>
            </a:r>
            <a:r>
              <a:rPr lang="fa-IR" sz="2400" dirty="0"/>
              <a:t>را در نظر بگیرید با یک نمونه مشخص.</a:t>
            </a:r>
            <a:br>
              <a:rPr lang="fa-IR" sz="2400" dirty="0"/>
            </a:br>
            <a:r>
              <a:rPr lang="fa-IR" sz="2400" dirty="0"/>
              <a:t>روی این نمونه، وابستگی </a:t>
            </a:r>
            <a:r>
              <a:rPr lang="en-US" sz="2400" dirty="0"/>
              <a:t>B → A </a:t>
            </a:r>
            <a:r>
              <a:rPr lang="fa-IR" sz="2400" dirty="0"/>
              <a:t>برقرار است؛ اما </a:t>
            </a:r>
            <a:r>
              <a:rPr lang="en-US" sz="2400" dirty="0"/>
              <a:t>A → B </a:t>
            </a:r>
            <a:r>
              <a:rPr lang="fa-IR" sz="2400" dirty="0"/>
              <a:t>برقرار نیست.</a:t>
            </a:r>
            <a:endParaRPr lang="en-US" altLang="en-US" sz="3200" i="1" dirty="0">
              <a:sym typeface="Symbol" panose="05050102010706020507" pitchFamily="18" charset="2"/>
            </a:endParaRPr>
          </a:p>
        </p:txBody>
      </p:sp>
      <p:graphicFrame>
        <p:nvGraphicFramePr>
          <p:cNvPr id="3" name="Table 2">
            <a:extLst>
              <a:ext uri="{FF2B5EF4-FFF2-40B4-BE49-F238E27FC236}">
                <a16:creationId xmlns:a16="http://schemas.microsoft.com/office/drawing/2014/main" id="{28B3E0DD-EBFA-D31A-B756-BEEA85E98DB7}"/>
              </a:ext>
            </a:extLst>
          </p:cNvPr>
          <p:cNvGraphicFramePr>
            <a:graphicFrameLocks noGrp="1"/>
          </p:cNvGraphicFramePr>
          <p:nvPr>
            <p:extLst>
              <p:ext uri="{D42A27DB-BD31-4B8C-83A1-F6EECF244321}">
                <p14:modId xmlns:p14="http://schemas.microsoft.com/office/powerpoint/2010/main" val="694167135"/>
              </p:ext>
            </p:extLst>
          </p:nvPr>
        </p:nvGraphicFramePr>
        <p:xfrm>
          <a:off x="188685" y="4105029"/>
          <a:ext cx="1500554" cy="1557216"/>
        </p:xfrm>
        <a:graphic>
          <a:graphicData uri="http://schemas.openxmlformats.org/drawingml/2006/table">
            <a:tbl>
              <a:tblPr firstRow="1" bandRow="1">
                <a:tableStyleId>{85BE263C-DBD7-4A20-BB59-AAB30ACAA65A}</a:tableStyleId>
              </a:tblPr>
              <a:tblGrid>
                <a:gridCol w="750277">
                  <a:extLst>
                    <a:ext uri="{9D8B030D-6E8A-4147-A177-3AD203B41FA5}">
                      <a16:colId xmlns:a16="http://schemas.microsoft.com/office/drawing/2014/main" val="2631685623"/>
                    </a:ext>
                  </a:extLst>
                </a:gridCol>
                <a:gridCol w="750277">
                  <a:extLst>
                    <a:ext uri="{9D8B030D-6E8A-4147-A177-3AD203B41FA5}">
                      <a16:colId xmlns:a16="http://schemas.microsoft.com/office/drawing/2014/main" val="2932344076"/>
                    </a:ext>
                  </a:extLst>
                </a:gridCol>
              </a:tblGrid>
              <a:tr h="389304">
                <a:tc>
                  <a:txBody>
                    <a:bodyPr/>
                    <a:lstStyle/>
                    <a:p>
                      <a:pPr algn="ctr"/>
                      <a:r>
                        <a:rPr lang="en-US" dirty="0"/>
                        <a:t>A</a:t>
                      </a:r>
                    </a:p>
                  </a:txBody>
                  <a:tcPr/>
                </a:tc>
                <a:tc>
                  <a:txBody>
                    <a:bodyPr/>
                    <a:lstStyle/>
                    <a:p>
                      <a:pPr algn="ctr"/>
                      <a:r>
                        <a:rPr lang="en-US" dirty="0"/>
                        <a:t>B</a:t>
                      </a:r>
                    </a:p>
                  </a:txBody>
                  <a:tcPr/>
                </a:tc>
                <a:extLst>
                  <a:ext uri="{0D108BD9-81ED-4DB2-BD59-A6C34878D82A}">
                    <a16:rowId xmlns:a16="http://schemas.microsoft.com/office/drawing/2014/main" val="4222122866"/>
                  </a:ext>
                </a:extLst>
              </a:tr>
              <a:tr h="389304">
                <a:tc>
                  <a:txBody>
                    <a:bodyPr/>
                    <a:lstStyle/>
                    <a:p>
                      <a:pPr algn="ctr"/>
                      <a:r>
                        <a:rPr lang="en-US" dirty="0"/>
                        <a:t>1</a:t>
                      </a:r>
                    </a:p>
                  </a:txBody>
                  <a:tcPr/>
                </a:tc>
                <a:tc>
                  <a:txBody>
                    <a:bodyPr/>
                    <a:lstStyle/>
                    <a:p>
                      <a:pPr algn="ctr"/>
                      <a:r>
                        <a:rPr lang="en-US" dirty="0"/>
                        <a:t>4</a:t>
                      </a:r>
                    </a:p>
                  </a:txBody>
                  <a:tcPr/>
                </a:tc>
                <a:extLst>
                  <a:ext uri="{0D108BD9-81ED-4DB2-BD59-A6C34878D82A}">
                    <a16:rowId xmlns:a16="http://schemas.microsoft.com/office/drawing/2014/main" val="2406087946"/>
                  </a:ext>
                </a:extLst>
              </a:tr>
              <a:tr h="389304">
                <a:tc>
                  <a:txBody>
                    <a:bodyPr/>
                    <a:lstStyle/>
                    <a:p>
                      <a:pPr algn="ctr"/>
                      <a:r>
                        <a:rPr lang="en-US" dirty="0"/>
                        <a:t>1</a:t>
                      </a:r>
                    </a:p>
                  </a:txBody>
                  <a:tcPr/>
                </a:tc>
                <a:tc>
                  <a:txBody>
                    <a:bodyPr/>
                    <a:lstStyle/>
                    <a:p>
                      <a:pPr algn="ctr"/>
                      <a:r>
                        <a:rPr lang="en-US" dirty="0"/>
                        <a:t>5</a:t>
                      </a:r>
                    </a:p>
                  </a:txBody>
                  <a:tcPr/>
                </a:tc>
                <a:extLst>
                  <a:ext uri="{0D108BD9-81ED-4DB2-BD59-A6C34878D82A}">
                    <a16:rowId xmlns:a16="http://schemas.microsoft.com/office/drawing/2014/main" val="483526984"/>
                  </a:ext>
                </a:extLst>
              </a:tr>
              <a:tr h="389304">
                <a:tc>
                  <a:txBody>
                    <a:bodyPr/>
                    <a:lstStyle/>
                    <a:p>
                      <a:pPr algn="ctr"/>
                      <a:r>
                        <a:rPr lang="en-US" dirty="0"/>
                        <a:t>3</a:t>
                      </a:r>
                    </a:p>
                  </a:txBody>
                  <a:tcPr/>
                </a:tc>
                <a:tc>
                  <a:txBody>
                    <a:bodyPr/>
                    <a:lstStyle/>
                    <a:p>
                      <a:pPr algn="ctr"/>
                      <a:r>
                        <a:rPr lang="en-US" dirty="0"/>
                        <a:t>7</a:t>
                      </a:r>
                    </a:p>
                  </a:txBody>
                  <a:tcPr/>
                </a:tc>
                <a:extLst>
                  <a:ext uri="{0D108BD9-81ED-4DB2-BD59-A6C34878D82A}">
                    <a16:rowId xmlns:a16="http://schemas.microsoft.com/office/drawing/2014/main" val="3432425648"/>
                  </a:ext>
                </a:extLst>
              </a:tr>
            </a:tbl>
          </a:graphicData>
        </a:graphic>
      </p:graphicFrame>
    </p:spTree>
    <p:extLst>
      <p:ext uri="{BB962C8B-B14F-4D97-AF65-F5344CB8AC3E}">
        <p14:creationId xmlns:p14="http://schemas.microsoft.com/office/powerpoint/2010/main" val="141575016"/>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99394" name="Rectangle 2"/>
          <p:cNvSpPr>
            <a:spLocks noGrp="1" noChangeArrowheads="1"/>
          </p:cNvSpPr>
          <p:nvPr>
            <p:ph type="title"/>
          </p:nvPr>
        </p:nvSpPr>
        <p:spPr>
          <a:xfrm>
            <a:off x="955866" y="266700"/>
            <a:ext cx="7924800" cy="457200"/>
          </a:xfrm>
        </p:spPr>
        <p:txBody>
          <a:bodyPr/>
          <a:lstStyle/>
          <a:p>
            <a:pPr>
              <a:defRPr/>
            </a:pPr>
            <a:r>
              <a:rPr lang="fa-IR" dirty="0"/>
              <a:t>بسته </a:t>
            </a:r>
            <a:r>
              <a:rPr lang="fa-IR" dirty="0" err="1"/>
              <a:t>مجموعه‌ای</a:t>
            </a:r>
            <a:r>
              <a:rPr lang="fa-IR" dirty="0"/>
              <a:t> از </a:t>
            </a:r>
            <a:r>
              <a:rPr lang="fa-IR" dirty="0" err="1"/>
              <a:t>وابستگی‌های</a:t>
            </a:r>
            <a:r>
              <a:rPr lang="fa-IR" dirty="0"/>
              <a:t> </a:t>
            </a:r>
            <a:r>
              <a:rPr lang="fa-IR" dirty="0" err="1"/>
              <a:t>تابعی</a:t>
            </a:r>
            <a:endParaRPr lang="en-US" altLang="en-US" sz="2800" dirty="0">
              <a:effectLst>
                <a:outerShdw blurRad="38100" dist="38100" dir="2700000" algn="tl">
                  <a:srgbClr val="C0C0C0"/>
                </a:outerShdw>
              </a:effectLst>
              <a:ea typeface="ＭＳ Ｐゴシック" pitchFamily="34" charset="-128"/>
            </a:endParaRPr>
          </a:p>
        </p:txBody>
      </p:sp>
      <p:sp>
        <p:nvSpPr>
          <p:cNvPr id="18435" name="Rectangle 3"/>
          <p:cNvSpPr>
            <a:spLocks noGrp="1" noChangeArrowheads="1"/>
          </p:cNvSpPr>
          <p:nvPr>
            <p:ph idx="1"/>
          </p:nvPr>
        </p:nvSpPr>
        <p:spPr>
          <a:xfrm>
            <a:off x="402454" y="1217613"/>
            <a:ext cx="7924800" cy="5081587"/>
          </a:xfrm>
        </p:spPr>
        <p:txBody>
          <a:bodyPr/>
          <a:lstStyle/>
          <a:p>
            <a:pPr algn="r" rtl="1"/>
            <a:r>
              <a:rPr lang="fa-IR" sz="2800" dirty="0"/>
              <a:t>با داشتن یک مجموعه </a:t>
            </a:r>
            <a:r>
              <a:rPr lang="en-US" sz="2800" dirty="0"/>
              <a:t>F </a:t>
            </a:r>
            <a:r>
              <a:rPr lang="fa-IR" sz="2800" dirty="0"/>
              <a:t>از </a:t>
            </a:r>
            <a:r>
              <a:rPr lang="fa-IR" sz="2800" dirty="0" err="1"/>
              <a:t>وابستگی‌های</a:t>
            </a:r>
            <a:r>
              <a:rPr lang="fa-IR" sz="2800" dirty="0"/>
              <a:t> </a:t>
            </a:r>
            <a:r>
              <a:rPr lang="fa-IR" sz="2800" dirty="0" err="1"/>
              <a:t>تابعی</a:t>
            </a:r>
            <a:r>
              <a:rPr lang="fa-IR" sz="2800" dirty="0"/>
              <a:t>، برخی </a:t>
            </a:r>
            <a:r>
              <a:rPr lang="fa-IR" sz="2800" dirty="0" err="1"/>
              <a:t>وابستگی‌های</a:t>
            </a:r>
            <a:r>
              <a:rPr lang="fa-IR" sz="2800" dirty="0"/>
              <a:t> </a:t>
            </a:r>
            <a:r>
              <a:rPr lang="fa-IR" sz="2800" dirty="0" err="1"/>
              <a:t>تابعی</a:t>
            </a:r>
            <a:r>
              <a:rPr lang="fa-IR" sz="2800" dirty="0"/>
              <a:t> دیگر وجود دارند که </a:t>
            </a:r>
            <a:r>
              <a:rPr lang="fa-IR" sz="2800" dirty="0" err="1"/>
              <a:t>به‌صورت</a:t>
            </a:r>
            <a:r>
              <a:rPr lang="fa-IR" sz="2800" dirty="0"/>
              <a:t> منطقی از </a:t>
            </a:r>
            <a:r>
              <a:rPr lang="en-US" sz="2800" dirty="0"/>
              <a:t>F </a:t>
            </a:r>
            <a:r>
              <a:rPr lang="fa-IR" sz="2800" dirty="0"/>
              <a:t>نتیجه </a:t>
            </a:r>
            <a:r>
              <a:rPr lang="fa-IR" sz="2800" dirty="0" err="1"/>
              <a:t>می‌شوند</a:t>
            </a:r>
            <a:r>
              <a:rPr lang="fa-IR" sz="2800" dirty="0"/>
              <a:t>.</a:t>
            </a:r>
          </a:p>
          <a:p>
            <a:pPr algn="r" rtl="1"/>
            <a:r>
              <a:rPr lang="en-US" altLang="en-US" sz="2800" dirty="0"/>
              <a:t> If  </a:t>
            </a:r>
            <a:r>
              <a:rPr lang="en-US" altLang="en-US" sz="2800" i="1" dirty="0"/>
              <a:t>A</a:t>
            </a:r>
            <a:r>
              <a:rPr lang="en-US" altLang="en-US" sz="2800" dirty="0"/>
              <a:t> </a:t>
            </a:r>
            <a:r>
              <a:rPr lang="en-US" altLang="en-US" sz="2800" dirty="0">
                <a:sym typeface="Symbol" panose="05050102010706020507" pitchFamily="18" charset="2"/>
              </a:rPr>
              <a:t></a:t>
            </a:r>
            <a:r>
              <a:rPr lang="en-US" altLang="en-US" sz="2800" dirty="0">
                <a:sym typeface="Monotype Sorts" pitchFamily="-84" charset="2"/>
              </a:rPr>
              <a:t> </a:t>
            </a:r>
            <a:r>
              <a:rPr lang="en-US" altLang="en-US" sz="2800" i="1" dirty="0">
                <a:sym typeface="Monotype Sorts" pitchFamily="-84" charset="2"/>
              </a:rPr>
              <a:t>B</a:t>
            </a:r>
            <a:r>
              <a:rPr lang="en-US" altLang="en-US" sz="2800" dirty="0">
                <a:sym typeface="Monotype Sorts" pitchFamily="-84" charset="2"/>
              </a:rPr>
              <a:t> and  </a:t>
            </a:r>
            <a:r>
              <a:rPr lang="en-US" altLang="en-US" sz="2800" i="1" dirty="0">
                <a:sym typeface="Monotype Sorts" pitchFamily="-84" charset="2"/>
              </a:rPr>
              <a:t>B</a:t>
            </a:r>
            <a:r>
              <a:rPr lang="en-US" altLang="en-US" sz="2800" dirty="0">
                <a:sym typeface="Monotype Sorts" pitchFamily="-84" charset="2"/>
              </a:rPr>
              <a:t> </a:t>
            </a:r>
            <a:r>
              <a:rPr lang="en-US" altLang="en-US" sz="2800" dirty="0">
                <a:sym typeface="Symbol" panose="05050102010706020507" pitchFamily="18" charset="2"/>
              </a:rPr>
              <a:t></a:t>
            </a:r>
            <a:r>
              <a:rPr lang="en-US" altLang="en-US" sz="2800" dirty="0">
                <a:sym typeface="Monotype Sorts" pitchFamily="-84" charset="2"/>
              </a:rPr>
              <a:t> </a:t>
            </a:r>
            <a:r>
              <a:rPr lang="en-US" altLang="en-US" sz="2800" i="1" dirty="0">
                <a:sym typeface="Monotype Sorts" pitchFamily="-84" charset="2"/>
              </a:rPr>
              <a:t>C</a:t>
            </a:r>
            <a:r>
              <a:rPr lang="en-US" altLang="en-US" sz="2800" dirty="0">
                <a:sym typeface="Monotype Sorts" pitchFamily="-84" charset="2"/>
              </a:rPr>
              <a:t>,  then we can infer that </a:t>
            </a:r>
            <a:r>
              <a:rPr lang="en-US" altLang="en-US" sz="2800" i="1" dirty="0">
                <a:sym typeface="Monotype Sorts" pitchFamily="-84" charset="2"/>
              </a:rPr>
              <a:t>A</a:t>
            </a:r>
            <a:r>
              <a:rPr lang="en-US" altLang="en-US" sz="2800" dirty="0">
                <a:sym typeface="Monotype Sorts" pitchFamily="-84" charset="2"/>
              </a:rPr>
              <a:t> </a:t>
            </a:r>
            <a:r>
              <a:rPr lang="en-US" altLang="en-US" sz="2800" dirty="0">
                <a:sym typeface="Symbol" panose="05050102010706020507" pitchFamily="18" charset="2"/>
              </a:rPr>
              <a:t></a:t>
            </a:r>
            <a:r>
              <a:rPr lang="en-US" altLang="en-US" sz="2800" dirty="0">
                <a:sym typeface="Monotype Sorts" pitchFamily="-84" charset="2"/>
              </a:rPr>
              <a:t> C</a:t>
            </a:r>
          </a:p>
          <a:p>
            <a:pPr lvl="1"/>
            <a:r>
              <a:rPr lang="en-US" altLang="en-US" sz="2800" dirty="0">
                <a:sym typeface="Monotype Sorts" pitchFamily="-84" charset="2"/>
              </a:rPr>
              <a:t>etc.</a:t>
            </a:r>
            <a:endParaRPr lang="en-US" altLang="en-US" sz="2800" dirty="0"/>
          </a:p>
          <a:p>
            <a:pPr algn="r" rtl="1"/>
            <a:r>
              <a:rPr lang="fa-IR" sz="2800" dirty="0"/>
              <a:t>مجموعه تمام </a:t>
            </a:r>
            <a:r>
              <a:rPr lang="fa-IR" sz="2800" dirty="0" err="1"/>
              <a:t>وابستگی‌های</a:t>
            </a:r>
            <a:r>
              <a:rPr lang="fa-IR" sz="2800" dirty="0"/>
              <a:t> </a:t>
            </a:r>
            <a:r>
              <a:rPr lang="fa-IR" sz="2800" dirty="0" err="1"/>
              <a:t>تابعی</a:t>
            </a:r>
            <a:r>
              <a:rPr lang="fa-IR" sz="2800" dirty="0"/>
              <a:t> که از نظر منطقی از </a:t>
            </a:r>
            <a:r>
              <a:rPr lang="en-US" sz="2800" dirty="0"/>
              <a:t>F </a:t>
            </a:r>
            <a:r>
              <a:rPr lang="fa-IR" sz="2800" dirty="0"/>
              <a:t>نتیجه </a:t>
            </a:r>
            <a:r>
              <a:rPr lang="fa-IR" sz="2800" dirty="0" err="1"/>
              <a:t>می‌شوند</a:t>
            </a:r>
            <a:r>
              <a:rPr lang="fa-IR" sz="2800" dirty="0"/>
              <a:t>، </a:t>
            </a:r>
            <a:r>
              <a:rPr lang="fa-IR" sz="2800" dirty="0" err="1"/>
              <a:t>بستارِ</a:t>
            </a:r>
            <a:r>
              <a:rPr lang="fa-IR" sz="2800" dirty="0"/>
              <a:t> </a:t>
            </a:r>
            <a:r>
              <a:rPr lang="en-US" sz="2800" dirty="0"/>
              <a:t>F </a:t>
            </a:r>
            <a:r>
              <a:rPr lang="fa-IR" sz="2800" dirty="0"/>
              <a:t>نام دارد.</a:t>
            </a:r>
          </a:p>
          <a:p>
            <a:pPr algn="r" rtl="1"/>
            <a:r>
              <a:rPr lang="fa-IR" sz="2800" dirty="0" err="1"/>
              <a:t>بستار</a:t>
            </a:r>
            <a:r>
              <a:rPr lang="fa-IR" sz="2800" dirty="0"/>
              <a:t> </a:t>
            </a:r>
            <a:r>
              <a:rPr lang="en-US" sz="2800" dirty="0"/>
              <a:t>F </a:t>
            </a:r>
            <a:r>
              <a:rPr lang="fa-IR" sz="2800" dirty="0"/>
              <a:t>را با نماد </a:t>
            </a:r>
            <a:r>
              <a:rPr lang="en-US" sz="2800" dirty="0"/>
              <a:t>F⁺ </a:t>
            </a:r>
            <a:r>
              <a:rPr lang="fa-IR" sz="2800" dirty="0"/>
              <a:t>نمایش </a:t>
            </a:r>
            <a:r>
              <a:rPr lang="fa-IR" sz="2800" dirty="0" err="1"/>
              <a:t>می‌دهیم</a:t>
            </a:r>
            <a:r>
              <a:rPr lang="fa-IR" sz="2800" dirty="0"/>
              <a:t>.</a:t>
            </a:r>
            <a:endParaRPr lang="en-US" altLang="en-US" sz="3600" dirty="0">
              <a:sym typeface="Greek Symbols"/>
            </a:endParaRPr>
          </a:p>
        </p:txBody>
      </p:sp>
    </p:spTree>
    <p:extLst>
      <p:ext uri="{BB962C8B-B14F-4D97-AF65-F5344CB8AC3E}">
        <p14:creationId xmlns:p14="http://schemas.microsoft.com/office/powerpoint/2010/main" val="4251414431"/>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72770" name="Rectangle 2"/>
          <p:cNvSpPr>
            <a:spLocks noGrp="1" noChangeArrowheads="1"/>
          </p:cNvSpPr>
          <p:nvPr>
            <p:ph type="title"/>
          </p:nvPr>
        </p:nvSpPr>
        <p:spPr/>
        <p:txBody>
          <a:bodyPr/>
          <a:lstStyle/>
          <a:p>
            <a:pPr>
              <a:defRPr/>
            </a:pPr>
            <a:r>
              <a:rPr lang="fa-IR" dirty="0" err="1"/>
              <a:t>کلیدها</a:t>
            </a:r>
            <a:r>
              <a:rPr lang="fa-IR" dirty="0"/>
              <a:t> و </a:t>
            </a:r>
            <a:r>
              <a:rPr lang="fa-IR" dirty="0" err="1"/>
              <a:t>وابستگی‌های</a:t>
            </a:r>
            <a:r>
              <a:rPr lang="fa-IR" dirty="0"/>
              <a:t> </a:t>
            </a:r>
            <a:r>
              <a:rPr lang="fa-IR" dirty="0" err="1"/>
              <a:t>تابعی</a:t>
            </a:r>
            <a:endParaRPr lang="en-US" altLang="en-US" sz="2800" dirty="0">
              <a:effectLst>
                <a:outerShdw blurRad="38100" dist="38100" dir="2700000" algn="tl">
                  <a:srgbClr val="C0C0C0"/>
                </a:outerShdw>
              </a:effectLst>
              <a:ea typeface="ＭＳ Ｐゴシック" pitchFamily="34" charset="-128"/>
            </a:endParaRPr>
          </a:p>
        </p:txBody>
      </p:sp>
      <p:sp>
        <p:nvSpPr>
          <p:cNvPr id="19459" name="Rectangle 3"/>
          <p:cNvSpPr>
            <a:spLocks noGrp="1" noChangeArrowheads="1"/>
          </p:cNvSpPr>
          <p:nvPr>
            <p:ph idx="1"/>
          </p:nvPr>
        </p:nvSpPr>
        <p:spPr>
          <a:xfrm>
            <a:off x="116114" y="717811"/>
            <a:ext cx="9027886" cy="5422378"/>
          </a:xfrm>
        </p:spPr>
        <p:txBody>
          <a:bodyPr/>
          <a:lstStyle/>
          <a:p>
            <a:pPr algn="r" rtl="1">
              <a:tabLst>
                <a:tab pos="1250950" algn="l"/>
                <a:tab pos="2173288" algn="l"/>
                <a:tab pos="3378200" algn="l"/>
              </a:tabLst>
            </a:pPr>
            <a:r>
              <a:rPr lang="en-US" dirty="0"/>
              <a:t>K </a:t>
            </a:r>
            <a:r>
              <a:rPr lang="fa-IR" dirty="0"/>
              <a:t>یک </a:t>
            </a:r>
            <a:r>
              <a:rPr lang="fa-IR" dirty="0" err="1"/>
              <a:t>اَبَرکلید</a:t>
            </a:r>
            <a:r>
              <a:rPr lang="fa-IR" dirty="0"/>
              <a:t> برای </a:t>
            </a:r>
            <a:r>
              <a:rPr lang="fa-IR" dirty="0" err="1"/>
              <a:t>شِمای</a:t>
            </a:r>
            <a:r>
              <a:rPr lang="fa-IR" dirty="0"/>
              <a:t> رابطه </a:t>
            </a:r>
            <a:r>
              <a:rPr lang="en-US" dirty="0"/>
              <a:t>R </a:t>
            </a:r>
            <a:r>
              <a:rPr lang="fa-IR" dirty="0"/>
              <a:t>است </a:t>
            </a:r>
            <a:r>
              <a:rPr lang="fa-IR" b="1" dirty="0"/>
              <a:t>اگر و تنها اگر</a:t>
            </a:r>
            <a:r>
              <a:rPr lang="fa-IR" dirty="0"/>
              <a:t> بتواند همه </a:t>
            </a:r>
            <a:r>
              <a:rPr lang="fa-IR" dirty="0" err="1"/>
              <a:t>ویژگی‌های</a:t>
            </a:r>
            <a:r>
              <a:rPr lang="fa-IR" dirty="0"/>
              <a:t> </a:t>
            </a:r>
            <a:r>
              <a:rPr lang="en-US" dirty="0"/>
              <a:t>R </a:t>
            </a:r>
            <a:r>
              <a:rPr lang="fa-IR" dirty="0"/>
              <a:t>را تعیین کند.</a:t>
            </a:r>
          </a:p>
          <a:p>
            <a:pPr algn="r" rtl="1">
              <a:tabLst>
                <a:tab pos="1250950" algn="l"/>
                <a:tab pos="2173288" algn="l"/>
                <a:tab pos="3378200" algn="l"/>
              </a:tabLst>
            </a:pPr>
            <a:r>
              <a:rPr lang="en-US" dirty="0"/>
              <a:t>K </a:t>
            </a:r>
            <a:r>
              <a:rPr lang="fa-IR" dirty="0"/>
              <a:t>یک کلید نامزد برای </a:t>
            </a:r>
            <a:r>
              <a:rPr lang="en-US" dirty="0"/>
              <a:t>R </a:t>
            </a:r>
            <a:r>
              <a:rPr lang="fa-IR" dirty="0"/>
              <a:t>است </a:t>
            </a:r>
            <a:r>
              <a:rPr lang="fa-IR" b="1" dirty="0"/>
              <a:t>اگر و تنها اگر</a:t>
            </a:r>
            <a:r>
              <a:rPr lang="fa-IR" dirty="0"/>
              <a:t>:</a:t>
            </a:r>
            <a:r>
              <a:rPr lang="en-US" altLang="en-US" dirty="0">
                <a:sym typeface="Monotype Sorts" pitchFamily="-84" charset="2"/>
              </a:rPr>
              <a:t> </a:t>
            </a:r>
          </a:p>
          <a:p>
            <a:pPr lvl="1">
              <a:tabLst>
                <a:tab pos="1250950" algn="l"/>
                <a:tab pos="2173288" algn="l"/>
                <a:tab pos="3378200" algn="l"/>
              </a:tabLst>
            </a:pPr>
            <a:r>
              <a:rPr lang="en-US" altLang="en-US" sz="2400" i="1" dirty="0">
                <a:sym typeface="Monotype Sorts" pitchFamily="-84" charset="2"/>
              </a:rPr>
              <a:t>K </a:t>
            </a:r>
            <a:r>
              <a:rPr lang="en-US" altLang="en-US" sz="2400" dirty="0">
                <a:sym typeface="Symbol" panose="05050102010706020507" pitchFamily="18" charset="2"/>
              </a:rPr>
              <a:t></a:t>
            </a:r>
            <a:r>
              <a:rPr lang="en-US" altLang="en-US" sz="2400" dirty="0">
                <a:sym typeface="Monotype Sorts" pitchFamily="-84" charset="2"/>
              </a:rPr>
              <a:t> </a:t>
            </a:r>
            <a:r>
              <a:rPr lang="en-US" altLang="en-US" sz="2400" i="1" dirty="0">
                <a:sym typeface="Monotype Sorts" pitchFamily="-84" charset="2"/>
              </a:rPr>
              <a:t>R</a:t>
            </a:r>
            <a:r>
              <a:rPr lang="en-US" altLang="en-US" sz="2400" dirty="0">
                <a:sym typeface="Monotype Sorts" pitchFamily="-84" charset="2"/>
              </a:rPr>
              <a:t>, and</a:t>
            </a:r>
          </a:p>
          <a:p>
            <a:pPr lvl="1">
              <a:tabLst>
                <a:tab pos="1250950" algn="l"/>
                <a:tab pos="2173288" algn="l"/>
                <a:tab pos="3378200" algn="l"/>
              </a:tabLst>
            </a:pPr>
            <a:r>
              <a:rPr lang="en-US" altLang="en-US" sz="2400" dirty="0">
                <a:sym typeface="Monotype Sorts" pitchFamily="-84" charset="2"/>
              </a:rPr>
              <a:t>for no </a:t>
            </a:r>
            <a:r>
              <a:rPr lang="en-US" altLang="en-US" sz="2400" dirty="0">
                <a:sym typeface="Symbol" panose="05050102010706020507" pitchFamily="18" charset="2"/>
              </a:rPr>
              <a:t>  </a:t>
            </a:r>
            <a:r>
              <a:rPr lang="en-US" altLang="en-US" sz="2400" i="1" dirty="0">
                <a:sym typeface="Symbol" panose="05050102010706020507" pitchFamily="18" charset="2"/>
              </a:rPr>
              <a:t>K, </a:t>
            </a:r>
            <a:r>
              <a:rPr lang="en-US" altLang="en-US" sz="2400" dirty="0">
                <a:sym typeface="Symbol" panose="05050102010706020507" pitchFamily="18" charset="2"/>
              </a:rPr>
              <a:t> </a:t>
            </a:r>
            <a:r>
              <a:rPr lang="en-US" altLang="en-US" sz="2400" dirty="0">
                <a:sym typeface="Monotype Sorts" pitchFamily="-84" charset="2"/>
              </a:rPr>
              <a:t> </a:t>
            </a:r>
            <a:r>
              <a:rPr lang="en-US" altLang="en-US" sz="2400" i="1" dirty="0">
                <a:sym typeface="Monotype Sorts" pitchFamily="-84" charset="2"/>
              </a:rPr>
              <a:t>R</a:t>
            </a:r>
          </a:p>
          <a:p>
            <a:pPr algn="r" rtl="1">
              <a:tabLst>
                <a:tab pos="1250950" algn="l"/>
                <a:tab pos="2173288" algn="l"/>
                <a:tab pos="3378200" algn="l"/>
              </a:tabLst>
            </a:pPr>
            <a:r>
              <a:rPr lang="fa-IR" sz="2400" dirty="0" err="1"/>
              <a:t>وابستگی‌های</a:t>
            </a:r>
            <a:r>
              <a:rPr lang="fa-IR" sz="2400" dirty="0"/>
              <a:t> </a:t>
            </a:r>
            <a:r>
              <a:rPr lang="fa-IR" sz="2400" dirty="0" err="1"/>
              <a:t>تابعی</a:t>
            </a:r>
            <a:r>
              <a:rPr lang="fa-IR" sz="2400" dirty="0"/>
              <a:t> به ما اجازه </a:t>
            </a:r>
            <a:r>
              <a:rPr lang="fa-IR" sz="2400" dirty="0" err="1"/>
              <a:t>می‌دهند</a:t>
            </a:r>
            <a:r>
              <a:rPr lang="fa-IR" sz="2400" dirty="0"/>
              <a:t> قیود و </a:t>
            </a:r>
            <a:r>
              <a:rPr lang="fa-IR" sz="2400" dirty="0" err="1"/>
              <a:t>محدودیت‌هایی</a:t>
            </a:r>
            <a:r>
              <a:rPr lang="fa-IR" sz="2400" dirty="0"/>
              <a:t> را بیان کنیم که با استفاده از </a:t>
            </a:r>
            <a:r>
              <a:rPr lang="fa-IR" sz="2400" dirty="0" err="1"/>
              <a:t>اَبَرکلیدها</a:t>
            </a:r>
            <a:r>
              <a:rPr lang="fa-IR" sz="2400" dirty="0"/>
              <a:t> قابل بیان نیستند. برای مثال، در </a:t>
            </a:r>
            <a:r>
              <a:rPr lang="fa-IR" sz="2400" dirty="0" err="1"/>
              <a:t>شِمای</a:t>
            </a:r>
            <a:r>
              <a:rPr lang="fa-IR" sz="2400" dirty="0"/>
              <a:t> زیر:</a:t>
            </a:r>
            <a:endParaRPr lang="en-US" altLang="en-US" sz="2400" dirty="0"/>
          </a:p>
          <a:p>
            <a:pPr>
              <a:buFont typeface="Monotype Sorts" pitchFamily="-84" charset="2"/>
              <a:buNone/>
              <a:tabLst>
                <a:tab pos="1250950" algn="l"/>
                <a:tab pos="2173288" algn="l"/>
                <a:tab pos="3378200" algn="l"/>
              </a:tabLst>
            </a:pPr>
            <a:r>
              <a:rPr lang="en-US" altLang="en-US" sz="2400" dirty="0"/>
              <a:t>	      </a:t>
            </a:r>
            <a:r>
              <a:rPr lang="en-US" altLang="en-US" sz="2400" i="1" dirty="0" err="1"/>
              <a:t>in_dep</a:t>
            </a:r>
            <a:r>
              <a:rPr lang="en-US" altLang="en-US" sz="2400" i="1" dirty="0"/>
              <a:t> </a:t>
            </a:r>
            <a:r>
              <a:rPr lang="en-US" altLang="en-US" sz="2400" dirty="0"/>
              <a:t>(</a:t>
            </a:r>
            <a:r>
              <a:rPr lang="en-US" altLang="en-US" sz="2400" i="1" u="sng" dirty="0"/>
              <a:t>ID, </a:t>
            </a:r>
            <a:r>
              <a:rPr lang="en-US" altLang="en-US" sz="2400" i="1" dirty="0"/>
              <a:t>name, salary</a:t>
            </a:r>
            <a:r>
              <a:rPr lang="en-US" altLang="en-US" sz="2400" i="1" u="sng" dirty="0"/>
              <a:t>, </a:t>
            </a:r>
            <a:r>
              <a:rPr lang="en-US" altLang="en-US" sz="2400" i="1" u="sng" dirty="0" err="1"/>
              <a:t>dept_name</a:t>
            </a:r>
            <a:r>
              <a:rPr lang="en-US" altLang="en-US" sz="2400" i="1" u="sng" dirty="0"/>
              <a:t>, </a:t>
            </a:r>
            <a:r>
              <a:rPr lang="en-US" altLang="en-US" sz="2400" i="1" dirty="0"/>
              <a:t>building, budget </a:t>
            </a:r>
            <a:r>
              <a:rPr lang="en-US" altLang="en-US" sz="2400" dirty="0"/>
              <a:t>)</a:t>
            </a:r>
            <a:r>
              <a:rPr lang="en-US" altLang="en-US" sz="2400" i="1" dirty="0"/>
              <a:t>.</a:t>
            </a:r>
          </a:p>
          <a:p>
            <a:pPr algn="r" rtl="1">
              <a:buFont typeface="Monotype Sorts" pitchFamily="-84" charset="2"/>
              <a:buNone/>
              <a:tabLst>
                <a:tab pos="1250950" algn="l"/>
                <a:tab pos="2173288" algn="l"/>
                <a:tab pos="3378200" algn="l"/>
              </a:tabLst>
            </a:pPr>
            <a:r>
              <a:rPr lang="fa-IR" sz="2400" dirty="0"/>
              <a:t>انتظار داریم این </a:t>
            </a:r>
            <a:r>
              <a:rPr lang="fa-IR" sz="2400" dirty="0" err="1"/>
              <a:t>وابستگی‌های</a:t>
            </a:r>
            <a:r>
              <a:rPr lang="fa-IR" sz="2400" dirty="0"/>
              <a:t> </a:t>
            </a:r>
            <a:r>
              <a:rPr lang="fa-IR" sz="2400" dirty="0" err="1"/>
              <a:t>تابعی</a:t>
            </a:r>
            <a:r>
              <a:rPr lang="fa-IR" sz="2400" dirty="0"/>
              <a:t> برقرار باشند:</a:t>
            </a:r>
            <a:endParaRPr lang="fa-IR" altLang="en-US" sz="2400" dirty="0"/>
          </a:p>
          <a:p>
            <a:pPr>
              <a:buFont typeface="Monotype Sorts" pitchFamily="-84" charset="2"/>
              <a:buNone/>
              <a:tabLst>
                <a:tab pos="1250950" algn="l"/>
                <a:tab pos="2173288" algn="l"/>
                <a:tab pos="3378200" algn="l"/>
              </a:tabLst>
            </a:pPr>
            <a:r>
              <a:rPr lang="en-US" altLang="en-US" sz="2400" dirty="0"/>
              <a:t>	                          </a:t>
            </a:r>
            <a:r>
              <a:rPr lang="en-US" altLang="en-US" sz="2400" i="1" dirty="0" err="1"/>
              <a:t>dept_name</a:t>
            </a:r>
            <a:r>
              <a:rPr lang="en-US" altLang="en-US" sz="2400" dirty="0">
                <a:sym typeface="Symbol" panose="05050102010706020507" pitchFamily="18" charset="2"/>
              </a:rPr>
              <a:t></a:t>
            </a:r>
            <a:r>
              <a:rPr lang="en-US" altLang="en-US" sz="2400" dirty="0">
                <a:sym typeface="Monotype Sorts" pitchFamily="-84" charset="2"/>
              </a:rPr>
              <a:t> </a:t>
            </a:r>
            <a:r>
              <a:rPr lang="en-US" altLang="en-US" sz="2400" i="1" dirty="0">
                <a:sym typeface="Monotype Sorts" pitchFamily="-84" charset="2"/>
              </a:rPr>
              <a:t>building</a:t>
            </a:r>
          </a:p>
          <a:p>
            <a:pPr>
              <a:buFont typeface="Monotype Sorts" pitchFamily="-84" charset="2"/>
              <a:buNone/>
              <a:tabLst>
                <a:tab pos="1250950" algn="l"/>
                <a:tab pos="2173288" algn="l"/>
                <a:tab pos="3378200" algn="l"/>
              </a:tabLst>
            </a:pPr>
            <a:r>
              <a:rPr lang="en-US" altLang="en-US" sz="2400" i="1" dirty="0">
                <a:sym typeface="Monotype Sorts" pitchFamily="-84" charset="2"/>
              </a:rPr>
              <a:t>                               ID </a:t>
            </a:r>
            <a:r>
              <a:rPr lang="en-US" altLang="en-US" sz="2400" dirty="0">
                <a:sym typeface="Wingdings" panose="05000000000000000000" pitchFamily="2" charset="2"/>
              </a:rPr>
              <a:t></a:t>
            </a:r>
            <a:r>
              <a:rPr lang="en-US" altLang="en-US" sz="2400" i="1" dirty="0">
                <a:sym typeface="Wingdings" panose="05000000000000000000" pitchFamily="2" charset="2"/>
              </a:rPr>
              <a:t> building</a:t>
            </a:r>
            <a:endParaRPr lang="en-US" altLang="en-US" sz="2400" i="1" dirty="0">
              <a:sym typeface="Monotype Sorts" pitchFamily="-84" charset="2"/>
            </a:endParaRPr>
          </a:p>
          <a:p>
            <a:pPr algn="r" rtl="1">
              <a:buNone/>
              <a:tabLst>
                <a:tab pos="1250950" algn="l"/>
                <a:tab pos="2173288" algn="l"/>
                <a:tab pos="3378200" algn="l"/>
              </a:tabLst>
            </a:pPr>
            <a:r>
              <a:rPr lang="en-US" altLang="en-US" sz="2400" i="1" dirty="0">
                <a:sym typeface="Monotype Sorts" pitchFamily="-84" charset="2"/>
              </a:rPr>
              <a:t>	</a:t>
            </a:r>
            <a:r>
              <a:rPr lang="fa-IR" sz="2400" dirty="0"/>
              <a:t>اما انتظار </a:t>
            </a:r>
            <a:r>
              <a:rPr lang="fa-IR" sz="2400" b="1" dirty="0" err="1"/>
              <a:t>نمی‌رود</a:t>
            </a:r>
            <a:r>
              <a:rPr lang="fa-IR" sz="2400" dirty="0"/>
              <a:t> که وابستگی زیر برقرار باشد:</a:t>
            </a:r>
            <a:endParaRPr lang="en-US" altLang="en-US" sz="2400" dirty="0">
              <a:sym typeface="Monotype Sorts" pitchFamily="-84" charset="2"/>
            </a:endParaRPr>
          </a:p>
          <a:p>
            <a:pPr>
              <a:buFont typeface="Monotype Sorts" pitchFamily="-84" charset="2"/>
              <a:buNone/>
              <a:tabLst>
                <a:tab pos="1250950" algn="l"/>
                <a:tab pos="2173288" algn="l"/>
                <a:tab pos="3378200" algn="l"/>
              </a:tabLst>
            </a:pPr>
            <a:r>
              <a:rPr lang="en-US" altLang="en-US" sz="2400" dirty="0">
                <a:sym typeface="Monotype Sorts" pitchFamily="-84" charset="2"/>
              </a:rPr>
              <a:t>			</a:t>
            </a:r>
            <a:r>
              <a:rPr lang="en-US" altLang="en-US" sz="2400" i="1" dirty="0" err="1">
                <a:sym typeface="Monotype Sorts" pitchFamily="-84" charset="2"/>
              </a:rPr>
              <a:t>dept_name</a:t>
            </a:r>
            <a:r>
              <a:rPr lang="en-US" altLang="en-US" sz="2400" i="1" dirty="0">
                <a:sym typeface="Monotype Sorts" pitchFamily="-84" charset="2"/>
              </a:rPr>
              <a:t> </a:t>
            </a:r>
            <a:r>
              <a:rPr lang="en-US" altLang="en-US" sz="2400" dirty="0">
                <a:sym typeface="Symbol" panose="05050102010706020507" pitchFamily="18" charset="2"/>
              </a:rPr>
              <a:t></a:t>
            </a:r>
            <a:r>
              <a:rPr lang="en-US" altLang="en-US" sz="2400" dirty="0">
                <a:sym typeface="Monotype Sorts" pitchFamily="-84" charset="2"/>
              </a:rPr>
              <a:t> </a:t>
            </a:r>
            <a:r>
              <a:rPr lang="en-US" altLang="en-US" sz="2400" i="1" dirty="0">
                <a:sym typeface="Monotype Sorts" pitchFamily="-84" charset="2"/>
              </a:rPr>
              <a:t>salary</a:t>
            </a:r>
          </a:p>
          <a:p>
            <a:pPr>
              <a:buFont typeface="Monotype Sorts" pitchFamily="-84" charset="2"/>
              <a:buNone/>
              <a:tabLst>
                <a:tab pos="1250950" algn="l"/>
                <a:tab pos="2173288" algn="l"/>
                <a:tab pos="3378200" algn="l"/>
              </a:tabLst>
            </a:pPr>
            <a:endParaRPr lang="en-US" altLang="en-US" sz="3200" i="1" dirty="0">
              <a:sym typeface="Monotype Sorts" pitchFamily="-84" charset="2"/>
            </a:endParaRPr>
          </a:p>
        </p:txBody>
      </p:sp>
    </p:spTree>
    <p:extLst>
      <p:ext uri="{BB962C8B-B14F-4D97-AF65-F5344CB8AC3E}">
        <p14:creationId xmlns:p14="http://schemas.microsoft.com/office/powerpoint/2010/main" val="2678473722"/>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74818" name="Rectangle 2"/>
          <p:cNvSpPr>
            <a:spLocks noGrp="1" noChangeArrowheads="1"/>
          </p:cNvSpPr>
          <p:nvPr>
            <p:ph type="title"/>
          </p:nvPr>
        </p:nvSpPr>
        <p:spPr/>
        <p:txBody>
          <a:bodyPr/>
          <a:lstStyle/>
          <a:p>
            <a:pPr>
              <a:defRPr/>
            </a:pPr>
            <a:r>
              <a:rPr lang="en-US" altLang="en-US" sz="2800" dirty="0">
                <a:effectLst>
                  <a:outerShdw blurRad="38100" dist="38100" dir="2700000" algn="tl">
                    <a:srgbClr val="C0C0C0"/>
                  </a:outerShdw>
                </a:effectLst>
                <a:ea typeface="ＭＳ Ｐゴシック" pitchFamily="34" charset="-128"/>
              </a:rPr>
              <a:t>Use of Functional Dependencies</a:t>
            </a:r>
          </a:p>
        </p:txBody>
      </p:sp>
      <p:sp>
        <p:nvSpPr>
          <p:cNvPr id="20483" name="Rectangle 3"/>
          <p:cNvSpPr>
            <a:spLocks noGrp="1" noChangeArrowheads="1"/>
          </p:cNvSpPr>
          <p:nvPr>
            <p:ph idx="1"/>
          </p:nvPr>
        </p:nvSpPr>
        <p:spPr>
          <a:xfrm>
            <a:off x="272999" y="1032997"/>
            <a:ext cx="8362553" cy="5341454"/>
          </a:xfrm>
        </p:spPr>
        <p:txBody>
          <a:bodyPr/>
          <a:lstStyle/>
          <a:p>
            <a:pPr algn="r" rtl="1"/>
            <a:r>
              <a:rPr lang="fa-IR" sz="2400" dirty="0"/>
              <a:t>ما از </a:t>
            </a:r>
            <a:r>
              <a:rPr lang="fa-IR" sz="2400" dirty="0" err="1"/>
              <a:t>وابستگی‌های</a:t>
            </a:r>
            <a:r>
              <a:rPr lang="fa-IR" sz="2400" dirty="0"/>
              <a:t> </a:t>
            </a:r>
            <a:r>
              <a:rPr lang="fa-IR" sz="2400" dirty="0" err="1"/>
              <a:t>تابعی</a:t>
            </a:r>
            <a:r>
              <a:rPr lang="fa-IR" sz="2400" dirty="0"/>
              <a:t> برای این کارها استفاده </a:t>
            </a:r>
            <a:r>
              <a:rPr lang="fa-IR" sz="2400" dirty="0" err="1"/>
              <a:t>می‌کنیم</a:t>
            </a:r>
            <a:r>
              <a:rPr lang="fa-IR" sz="2400" dirty="0"/>
              <a:t>:</a:t>
            </a:r>
            <a:endParaRPr lang="en-US" altLang="en-US" sz="2400" dirty="0"/>
          </a:p>
          <a:p>
            <a:pPr lvl="1" algn="r" rtl="1"/>
            <a:r>
              <a:rPr lang="fa-IR" sz="2400" dirty="0"/>
              <a:t>برای بررسی </a:t>
            </a:r>
            <a:r>
              <a:rPr lang="fa-IR" sz="2400" dirty="0" err="1"/>
              <a:t>رابطه‌ها</a:t>
            </a:r>
            <a:r>
              <a:rPr lang="fa-IR" sz="2400" dirty="0"/>
              <a:t> تا ببینیم آیا تحت </a:t>
            </a:r>
            <a:r>
              <a:rPr lang="fa-IR" sz="2400" dirty="0" err="1"/>
              <a:t>مجموعه‌ای</a:t>
            </a:r>
            <a:r>
              <a:rPr lang="fa-IR" sz="2400" dirty="0"/>
              <a:t> از </a:t>
            </a:r>
            <a:r>
              <a:rPr lang="fa-IR" sz="2400" dirty="0" err="1"/>
              <a:t>وابستگی‌های</a:t>
            </a:r>
            <a:r>
              <a:rPr lang="fa-IR" sz="2400" dirty="0"/>
              <a:t> </a:t>
            </a:r>
            <a:r>
              <a:rPr lang="fa-IR" sz="2400" dirty="0" err="1"/>
              <a:t>تابعی</a:t>
            </a:r>
            <a:r>
              <a:rPr lang="fa-IR" sz="2400" dirty="0"/>
              <a:t> معتبر هستند یا نه.</a:t>
            </a:r>
            <a:endParaRPr lang="en-US" altLang="en-US" sz="2400" dirty="0"/>
          </a:p>
          <a:p>
            <a:pPr lvl="2" algn="r" rtl="1"/>
            <a:r>
              <a:rPr lang="en-US" altLang="en-US" sz="2400" dirty="0"/>
              <a:t> </a:t>
            </a:r>
            <a:r>
              <a:rPr lang="fa-IR" sz="2400" dirty="0"/>
              <a:t>اگر رابطه </a:t>
            </a:r>
            <a:r>
              <a:rPr lang="en-US" sz="2400" dirty="0"/>
              <a:t>r </a:t>
            </a:r>
            <a:r>
              <a:rPr lang="fa-IR" sz="2400" dirty="0"/>
              <a:t>تحت مجموعه </a:t>
            </a:r>
            <a:r>
              <a:rPr lang="en-US" sz="2400" dirty="0"/>
              <a:t>F </a:t>
            </a:r>
            <a:r>
              <a:rPr lang="fa-IR" sz="2400" dirty="0"/>
              <a:t>معتبر باشد، </a:t>
            </a:r>
            <a:r>
              <a:rPr lang="fa-IR" sz="2400" dirty="0" err="1"/>
              <a:t>می‌گوییم</a:t>
            </a:r>
            <a:r>
              <a:rPr lang="fa-IR" sz="2400" dirty="0"/>
              <a:t> </a:t>
            </a:r>
            <a:r>
              <a:rPr lang="en-US" sz="2400" dirty="0"/>
              <a:t>r، </a:t>
            </a:r>
            <a:r>
              <a:rPr lang="fa-IR" sz="2400" dirty="0" err="1"/>
              <a:t>وابستگی‌های</a:t>
            </a:r>
            <a:r>
              <a:rPr lang="fa-IR" sz="2400" dirty="0"/>
              <a:t> </a:t>
            </a:r>
            <a:r>
              <a:rPr lang="fa-IR" sz="2400" dirty="0" err="1"/>
              <a:t>تابعی</a:t>
            </a:r>
            <a:r>
              <a:rPr lang="fa-IR" sz="2400" dirty="0"/>
              <a:t> </a:t>
            </a:r>
            <a:r>
              <a:rPr lang="en-US" sz="2400" dirty="0"/>
              <a:t>F </a:t>
            </a:r>
            <a:r>
              <a:rPr lang="fa-IR" sz="2400" dirty="0"/>
              <a:t>را </a:t>
            </a:r>
            <a:r>
              <a:rPr lang="fa-IR" sz="2400" dirty="0" err="1"/>
              <a:t>ارضا</a:t>
            </a:r>
            <a:r>
              <a:rPr lang="fa-IR" sz="2400" dirty="0"/>
              <a:t> </a:t>
            </a:r>
            <a:r>
              <a:rPr lang="fa-IR" sz="2400" dirty="0" err="1"/>
              <a:t>می‌کند</a:t>
            </a:r>
            <a:r>
              <a:rPr lang="fa-IR" sz="2400" dirty="0"/>
              <a:t>.</a:t>
            </a:r>
            <a:endParaRPr lang="en-US" altLang="en-US" sz="2400" dirty="0"/>
          </a:p>
          <a:p>
            <a:pPr lvl="1" algn="r" rtl="1"/>
            <a:r>
              <a:rPr lang="fa-IR" sz="2400" dirty="0"/>
              <a:t>برای </a:t>
            </a:r>
            <a:r>
              <a:rPr lang="fa-IR" sz="2400" dirty="0" err="1"/>
              <a:t>مشخص‌کردن</a:t>
            </a:r>
            <a:r>
              <a:rPr lang="fa-IR" sz="2400" dirty="0"/>
              <a:t> </a:t>
            </a:r>
            <a:r>
              <a:rPr lang="fa-IR" sz="2400" dirty="0" err="1"/>
              <a:t>محدودیت‌ها</a:t>
            </a:r>
            <a:r>
              <a:rPr lang="fa-IR" sz="2400" dirty="0"/>
              <a:t> روی مجموعه </a:t>
            </a:r>
            <a:r>
              <a:rPr lang="fa-IR" sz="2400" dirty="0" err="1"/>
              <a:t>رابطه‌های</a:t>
            </a:r>
            <a:r>
              <a:rPr lang="fa-IR" sz="2400" dirty="0"/>
              <a:t> معتبر.</a:t>
            </a:r>
            <a:endParaRPr lang="en-US" altLang="en-US" sz="2400" dirty="0"/>
          </a:p>
          <a:p>
            <a:pPr lvl="2" algn="r" rtl="1"/>
            <a:r>
              <a:rPr lang="fa-IR" sz="2400" dirty="0" err="1"/>
              <a:t>می‌گوییم</a:t>
            </a:r>
            <a:r>
              <a:rPr lang="fa-IR" sz="2400" dirty="0"/>
              <a:t> </a:t>
            </a:r>
            <a:r>
              <a:rPr lang="en-US" sz="2400" dirty="0"/>
              <a:t>F </a:t>
            </a:r>
            <a:r>
              <a:rPr lang="fa-IR" sz="2400" dirty="0"/>
              <a:t>روی </a:t>
            </a:r>
            <a:r>
              <a:rPr lang="en-US" sz="2400" dirty="0"/>
              <a:t>R </a:t>
            </a:r>
            <a:r>
              <a:rPr lang="fa-IR" sz="2400" dirty="0"/>
              <a:t>برقرار است اگر تمام </a:t>
            </a:r>
            <a:r>
              <a:rPr lang="fa-IR" sz="2400" dirty="0" err="1"/>
              <a:t>رابطه‌های</a:t>
            </a:r>
            <a:r>
              <a:rPr lang="fa-IR" sz="2400" dirty="0"/>
              <a:t> معتبر روی </a:t>
            </a:r>
            <a:r>
              <a:rPr lang="en-US" sz="2400" dirty="0"/>
              <a:t>R، </a:t>
            </a:r>
            <a:r>
              <a:rPr lang="fa-IR" sz="2400" dirty="0" err="1"/>
              <a:t>وابستگی‌های</a:t>
            </a:r>
            <a:r>
              <a:rPr lang="fa-IR" sz="2400" dirty="0"/>
              <a:t> </a:t>
            </a:r>
            <a:r>
              <a:rPr lang="fa-IR" sz="2400" dirty="0" err="1"/>
              <a:t>تابعی</a:t>
            </a:r>
            <a:r>
              <a:rPr lang="fa-IR" sz="2400" dirty="0"/>
              <a:t> </a:t>
            </a:r>
            <a:r>
              <a:rPr lang="en-US" sz="2400" dirty="0"/>
              <a:t>F </a:t>
            </a:r>
            <a:r>
              <a:rPr lang="fa-IR" sz="2400" dirty="0"/>
              <a:t>را </a:t>
            </a:r>
            <a:r>
              <a:rPr lang="fa-IR" sz="2400" dirty="0" err="1"/>
              <a:t>ارضا</a:t>
            </a:r>
            <a:r>
              <a:rPr lang="fa-IR" sz="2400" dirty="0"/>
              <a:t> کنند.</a:t>
            </a:r>
            <a:endParaRPr lang="en-US" altLang="en-US" sz="2400" i="1" dirty="0"/>
          </a:p>
          <a:p>
            <a:pPr algn="r" rtl="1"/>
            <a:r>
              <a:rPr lang="fa-IR" sz="2400" dirty="0"/>
              <a:t>نکته: ممکن است یک نمونه مشخص از یک طرح رابطه، یک وابستگی </a:t>
            </a:r>
            <a:r>
              <a:rPr lang="fa-IR" sz="2400" dirty="0" err="1"/>
              <a:t>تابعی</a:t>
            </a:r>
            <a:r>
              <a:rPr lang="fa-IR" sz="2400" dirty="0"/>
              <a:t> را </a:t>
            </a:r>
            <a:r>
              <a:rPr lang="fa-IR" sz="2400" dirty="0" err="1"/>
              <a:t>ارضا</a:t>
            </a:r>
            <a:r>
              <a:rPr lang="fa-IR" sz="2400" dirty="0"/>
              <a:t> کند، حتی اگر آن وابستگی </a:t>
            </a:r>
            <a:r>
              <a:rPr lang="fa-IR" sz="2400" dirty="0" err="1"/>
              <a:t>تابعی</a:t>
            </a:r>
            <a:r>
              <a:rPr lang="fa-IR" sz="2400" dirty="0"/>
              <a:t> در تمام </a:t>
            </a:r>
            <a:r>
              <a:rPr lang="fa-IR" sz="2400" dirty="0" err="1"/>
              <a:t>نمونه‌های</a:t>
            </a:r>
            <a:r>
              <a:rPr lang="fa-IR" sz="2400" dirty="0"/>
              <a:t> معتبر برقرار نباشد.</a:t>
            </a:r>
            <a:r>
              <a:rPr lang="en-US" altLang="en-US" sz="2400" dirty="0"/>
              <a:t>  </a:t>
            </a:r>
          </a:p>
          <a:p>
            <a:pPr lvl="1" algn="r" rtl="1"/>
            <a:r>
              <a:rPr lang="fa-IR" sz="2400" dirty="0"/>
              <a:t>برای مثال، یک نمونه خاص از رابطه </a:t>
            </a:r>
            <a:r>
              <a:rPr lang="en-US" sz="2400" dirty="0"/>
              <a:t>instructor </a:t>
            </a:r>
            <a:r>
              <a:rPr lang="fa-IR" sz="2400" dirty="0"/>
              <a:t>ممکن است </a:t>
            </a:r>
            <a:r>
              <a:rPr lang="fa-IR" sz="2400" dirty="0" err="1"/>
              <a:t>به‌صورت</a:t>
            </a:r>
            <a:r>
              <a:rPr lang="fa-IR" sz="2400" dirty="0"/>
              <a:t> اتفاقی وابستگی</a:t>
            </a:r>
            <a:r>
              <a:rPr lang="en-US" altLang="en-US" sz="2400" dirty="0"/>
              <a:t> </a:t>
            </a:r>
            <a:br>
              <a:rPr lang="en-US" altLang="en-US" sz="2400" dirty="0"/>
            </a:br>
            <a:r>
              <a:rPr lang="en-US" altLang="en-US" sz="2400" dirty="0"/>
              <a:t>               </a:t>
            </a:r>
            <a:r>
              <a:rPr lang="en-US" altLang="en-US" sz="2400" i="1" dirty="0"/>
              <a:t>name </a:t>
            </a:r>
            <a:r>
              <a:rPr lang="en-US" altLang="en-US" sz="2400" dirty="0">
                <a:sym typeface="Symbol" panose="05050102010706020507" pitchFamily="18" charset="2"/>
              </a:rPr>
              <a:t></a:t>
            </a:r>
            <a:r>
              <a:rPr lang="en-US" altLang="en-US" sz="2400" dirty="0">
                <a:sym typeface="Monotype Sorts" pitchFamily="-84" charset="2"/>
              </a:rPr>
              <a:t> </a:t>
            </a:r>
            <a:r>
              <a:rPr lang="en-US" altLang="en-US" sz="2400" i="1" dirty="0">
                <a:sym typeface="Monotype Sorts" pitchFamily="-84" charset="2"/>
              </a:rPr>
              <a:t>ID.</a:t>
            </a:r>
          </a:p>
        </p:txBody>
      </p:sp>
    </p:spTree>
    <p:extLst>
      <p:ext uri="{BB962C8B-B14F-4D97-AF65-F5344CB8AC3E}">
        <p14:creationId xmlns:p14="http://schemas.microsoft.com/office/powerpoint/2010/main" val="882395710"/>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76866" name="Rectangle 2"/>
          <p:cNvSpPr>
            <a:spLocks noGrp="1" noChangeArrowheads="1"/>
          </p:cNvSpPr>
          <p:nvPr>
            <p:ph type="title"/>
          </p:nvPr>
        </p:nvSpPr>
        <p:spPr/>
        <p:txBody>
          <a:bodyPr/>
          <a:lstStyle/>
          <a:p>
            <a:pPr>
              <a:defRPr/>
            </a:pPr>
            <a:r>
              <a:rPr lang="en-US" altLang="en-US" sz="2800" dirty="0">
                <a:effectLst>
                  <a:outerShdw blurRad="38100" dist="38100" dir="2700000" algn="tl">
                    <a:srgbClr val="C0C0C0"/>
                  </a:outerShdw>
                </a:effectLst>
                <a:ea typeface="ＭＳ Ｐゴシック" pitchFamily="34" charset="-128"/>
              </a:rPr>
              <a:t>Trivial Functional Dependencies</a:t>
            </a:r>
          </a:p>
        </p:txBody>
      </p:sp>
      <p:sp>
        <p:nvSpPr>
          <p:cNvPr id="21507" name="Rectangle 3"/>
          <p:cNvSpPr>
            <a:spLocks noGrp="1" noChangeArrowheads="1"/>
          </p:cNvSpPr>
          <p:nvPr>
            <p:ph idx="1"/>
          </p:nvPr>
        </p:nvSpPr>
        <p:spPr>
          <a:xfrm>
            <a:off x="406400" y="1175247"/>
            <a:ext cx="7814322" cy="5123953"/>
          </a:xfrm>
        </p:spPr>
        <p:txBody>
          <a:bodyPr/>
          <a:lstStyle/>
          <a:p>
            <a:pPr algn="r" rtl="1"/>
            <a:r>
              <a:rPr lang="fa-IR" sz="3200" dirty="0"/>
              <a:t>یک وابستگی </a:t>
            </a:r>
            <a:r>
              <a:rPr lang="fa-IR" sz="3200" dirty="0" err="1"/>
              <a:t>تابعی</a:t>
            </a:r>
            <a:r>
              <a:rPr lang="fa-IR" sz="3200" dirty="0"/>
              <a:t> زمانی بدیهی است که در تمام </a:t>
            </a:r>
            <a:r>
              <a:rPr lang="fa-IR" sz="3200" dirty="0" err="1"/>
              <a:t>نمونه‌های</a:t>
            </a:r>
            <a:r>
              <a:rPr lang="fa-IR" sz="3200" dirty="0"/>
              <a:t> </a:t>
            </a:r>
            <a:r>
              <a:rPr lang="fa-IR" sz="3200" dirty="0" err="1"/>
              <a:t>ممکنِ</a:t>
            </a:r>
            <a:r>
              <a:rPr lang="fa-IR" sz="3200" dirty="0"/>
              <a:t> یک رابطه برقرار باشد.</a:t>
            </a:r>
            <a:endParaRPr lang="fa-IR" altLang="en-US" sz="3200" dirty="0">
              <a:sym typeface="Monotype Sorts" pitchFamily="-84" charset="2"/>
            </a:endParaRPr>
          </a:p>
          <a:p>
            <a:pPr algn="r" rtl="1"/>
            <a:r>
              <a:rPr lang="fa-IR" altLang="en-US" sz="3200" dirty="0">
                <a:sym typeface="Monotype Sorts" pitchFamily="-84" charset="2"/>
              </a:rPr>
              <a:t>مثال:</a:t>
            </a:r>
            <a:endParaRPr lang="en-US" altLang="en-US" sz="3200" i="1" dirty="0">
              <a:sym typeface="Monotype Sorts" pitchFamily="-84" charset="2"/>
            </a:endParaRPr>
          </a:p>
          <a:p>
            <a:pPr lvl="1"/>
            <a:r>
              <a:rPr lang="en-US" altLang="en-US" sz="2800" i="1" dirty="0">
                <a:sym typeface="Monotype Sorts" pitchFamily="-84" charset="2"/>
              </a:rPr>
              <a:t> ID, name</a:t>
            </a:r>
            <a:r>
              <a:rPr lang="en-US" altLang="en-US" sz="2800" i="1" dirty="0"/>
              <a:t> </a:t>
            </a:r>
            <a:r>
              <a:rPr lang="en-US" altLang="en-US" sz="2800" dirty="0">
                <a:sym typeface="Symbol" panose="05050102010706020507" pitchFamily="18" charset="2"/>
              </a:rPr>
              <a:t></a:t>
            </a:r>
            <a:r>
              <a:rPr lang="en-US" altLang="en-US" sz="2800" dirty="0">
                <a:sym typeface="Monotype Sorts" pitchFamily="-84" charset="2"/>
              </a:rPr>
              <a:t> </a:t>
            </a:r>
            <a:r>
              <a:rPr lang="en-US" altLang="en-US" sz="2800" i="1" dirty="0">
                <a:sym typeface="Monotype Sorts" pitchFamily="-84" charset="2"/>
              </a:rPr>
              <a:t>ID</a:t>
            </a:r>
          </a:p>
          <a:p>
            <a:pPr lvl="1"/>
            <a:r>
              <a:rPr lang="en-US" altLang="en-US" sz="2800" i="1" dirty="0">
                <a:sym typeface="Monotype Sorts" pitchFamily="-84" charset="2"/>
              </a:rPr>
              <a:t> name </a:t>
            </a:r>
            <a:r>
              <a:rPr lang="en-US" altLang="en-US" sz="2800" dirty="0">
                <a:sym typeface="Symbol" panose="05050102010706020507" pitchFamily="18" charset="2"/>
              </a:rPr>
              <a:t></a:t>
            </a:r>
            <a:r>
              <a:rPr lang="en-US" altLang="en-US" sz="2800" dirty="0">
                <a:sym typeface="Monotype Sorts" pitchFamily="-84" charset="2"/>
              </a:rPr>
              <a:t> </a:t>
            </a:r>
            <a:r>
              <a:rPr lang="en-US" altLang="en-US" sz="2800" i="1" dirty="0">
                <a:sym typeface="Monotype Sorts" pitchFamily="-84" charset="2"/>
              </a:rPr>
              <a:t>name</a:t>
            </a:r>
          </a:p>
          <a:p>
            <a:pPr algn="r" rtl="1"/>
            <a:r>
              <a:rPr lang="fa-IR" sz="3200" dirty="0" err="1"/>
              <a:t>به‌طور</a:t>
            </a:r>
            <a:r>
              <a:rPr lang="fa-IR" sz="3200" dirty="0"/>
              <a:t> کلی</a:t>
            </a:r>
            <a:r>
              <a:rPr lang="en-US" altLang="en-US" sz="3200" dirty="0">
                <a:sym typeface="Monotype Sorts" pitchFamily="-84" charset="2"/>
              </a:rPr>
              <a:t>, </a:t>
            </a:r>
            <a:r>
              <a:rPr lang="en-US" altLang="en-US" sz="3200" dirty="0">
                <a:sym typeface="Symbol" panose="05050102010706020507" pitchFamily="18" charset="2"/>
              </a:rPr>
              <a:t> </a:t>
            </a:r>
            <a:r>
              <a:rPr lang="en-US" altLang="en-US" sz="3200" dirty="0">
                <a:sym typeface="Monotype Sorts" pitchFamily="-84" charset="2"/>
              </a:rPr>
              <a:t> </a:t>
            </a:r>
            <a:r>
              <a:rPr lang="en-US" altLang="en-US" sz="3200" i="1" dirty="0">
                <a:sym typeface="Symbol" panose="05050102010706020507" pitchFamily="18" charset="2"/>
              </a:rPr>
              <a:t> </a:t>
            </a:r>
            <a:r>
              <a:rPr lang="fa-IR" sz="3200" dirty="0"/>
              <a:t>زمانی بدیهی است که </a:t>
            </a:r>
            <a:r>
              <a:rPr lang="en-US" altLang="en-US" sz="3200" i="1" dirty="0">
                <a:sym typeface="Symbol" panose="05050102010706020507" pitchFamily="18" charset="2"/>
              </a:rPr>
              <a:t></a:t>
            </a:r>
            <a:r>
              <a:rPr lang="en-US" altLang="en-US" sz="3200" dirty="0">
                <a:sym typeface="Symbol" panose="05050102010706020507" pitchFamily="18" charset="2"/>
              </a:rPr>
              <a:t>   </a:t>
            </a:r>
            <a:br>
              <a:rPr lang="en-US" altLang="en-US" sz="3600" i="1" dirty="0">
                <a:sym typeface="Symbol" panose="05050102010706020507" pitchFamily="18" charset="2"/>
              </a:rPr>
            </a:br>
            <a:r>
              <a:rPr lang="en-US" altLang="en-US" sz="3600" i="1" dirty="0">
                <a:sym typeface="Symbol" panose="05050102010706020507" pitchFamily="18" charset="2"/>
              </a:rPr>
              <a:t> </a:t>
            </a:r>
          </a:p>
          <a:p>
            <a:endParaRPr lang="en-US" altLang="en-US" sz="3600" dirty="0"/>
          </a:p>
        </p:txBody>
      </p:sp>
    </p:spTree>
    <p:extLst>
      <p:ext uri="{BB962C8B-B14F-4D97-AF65-F5344CB8AC3E}">
        <p14:creationId xmlns:p14="http://schemas.microsoft.com/office/powerpoint/2010/main" val="951806254"/>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23970" name="Rectangle 2"/>
          <p:cNvSpPr>
            <a:spLocks noGrp="1" noChangeArrowheads="1"/>
          </p:cNvSpPr>
          <p:nvPr>
            <p:ph type="title"/>
          </p:nvPr>
        </p:nvSpPr>
        <p:spPr/>
        <p:txBody>
          <a:bodyPr/>
          <a:lstStyle/>
          <a:p>
            <a:pPr>
              <a:defRPr/>
            </a:pPr>
            <a:r>
              <a:rPr lang="en-US" altLang="en-US" sz="2800" dirty="0">
                <a:effectLst>
                  <a:outerShdw blurRad="38100" dist="38100" dir="2700000" algn="tl">
                    <a:srgbClr val="C0C0C0"/>
                  </a:outerShdw>
                </a:effectLst>
                <a:ea typeface="ＭＳ Ｐゴシック" pitchFamily="34" charset="-128"/>
              </a:rPr>
              <a:t>Lossless Decomposition</a:t>
            </a:r>
          </a:p>
        </p:txBody>
      </p:sp>
      <p:sp>
        <p:nvSpPr>
          <p:cNvPr id="22531" name="Rectangle 3"/>
          <p:cNvSpPr>
            <a:spLocks noGrp="1" noChangeArrowheads="1"/>
          </p:cNvSpPr>
          <p:nvPr>
            <p:ph idx="1"/>
          </p:nvPr>
        </p:nvSpPr>
        <p:spPr>
          <a:xfrm>
            <a:off x="294444" y="1030514"/>
            <a:ext cx="8551106" cy="5065486"/>
          </a:xfrm>
        </p:spPr>
        <p:txBody>
          <a:bodyPr/>
          <a:lstStyle/>
          <a:p>
            <a:pPr algn="r" rtl="1">
              <a:tabLst>
                <a:tab pos="2292350" algn="l"/>
                <a:tab pos="2976563" algn="l"/>
              </a:tabLst>
            </a:pPr>
            <a:r>
              <a:rPr lang="fa-IR" dirty="0"/>
              <a:t>ما می‌توانیم از وابستگی‌های تابعی استفاده کنیم تا مشخص کنیم چه زمانی یک تجزیه بدون اتلاف</a:t>
            </a:r>
            <a:r>
              <a:rPr lang="en-US" dirty="0"/>
              <a:t> </a:t>
            </a:r>
            <a:r>
              <a:rPr lang="fa-IR" dirty="0"/>
              <a:t>است.</a:t>
            </a:r>
            <a:r>
              <a:rPr lang="en-US" altLang="en-US" dirty="0"/>
              <a:t>  </a:t>
            </a:r>
          </a:p>
          <a:p>
            <a:pPr algn="r" rtl="1">
              <a:tabLst>
                <a:tab pos="2292350" algn="l"/>
                <a:tab pos="2976563" algn="l"/>
              </a:tabLst>
            </a:pPr>
            <a:r>
              <a:rPr lang="fa-IR" dirty="0"/>
              <a:t>برای حالتی که </a:t>
            </a:r>
            <a:r>
              <a:rPr lang="en-US" dirty="0"/>
              <a:t>R = (R1, R2) </a:t>
            </a:r>
            <a:r>
              <a:rPr lang="fa-IR" dirty="0"/>
              <a:t>باشد، لازم است که برای همه </a:t>
            </a:r>
            <a:r>
              <a:rPr lang="fa-IR" dirty="0" err="1"/>
              <a:t>رابطه‌های</a:t>
            </a:r>
            <a:r>
              <a:rPr lang="fa-IR" dirty="0"/>
              <a:t> ممکن </a:t>
            </a:r>
            <a:r>
              <a:rPr lang="en-US" dirty="0"/>
              <a:t>r </a:t>
            </a:r>
            <a:r>
              <a:rPr lang="fa-IR" dirty="0"/>
              <a:t>روی </a:t>
            </a:r>
            <a:r>
              <a:rPr lang="fa-IR" dirty="0" err="1"/>
              <a:t>شِمای</a:t>
            </a:r>
            <a:r>
              <a:rPr lang="fa-IR" dirty="0"/>
              <a:t> </a:t>
            </a:r>
            <a:r>
              <a:rPr lang="en-US" dirty="0"/>
              <a:t>R،</a:t>
            </a:r>
            <a:endParaRPr lang="en-US" altLang="en-US" i="1" dirty="0"/>
          </a:p>
          <a:p>
            <a:pPr algn="r" rtl="1">
              <a:buFont typeface="Monotype Sorts" pitchFamily="-84" charset="2"/>
              <a:buNone/>
              <a:tabLst>
                <a:tab pos="2292350" algn="l"/>
                <a:tab pos="2976563" algn="l"/>
              </a:tabLst>
            </a:pPr>
            <a:r>
              <a:rPr lang="en-US" altLang="en-US" baseline="-25000" dirty="0"/>
              <a:t>		</a:t>
            </a:r>
            <a:r>
              <a:rPr lang="en-US" altLang="en-US" i="1" dirty="0"/>
              <a:t>r = </a:t>
            </a:r>
            <a:r>
              <a:rPr lang="en-US" altLang="en-US" dirty="0">
                <a:sym typeface="Symbol" panose="05050102010706020507" pitchFamily="18" charset="2"/>
              </a:rPr>
              <a:t></a:t>
            </a:r>
            <a:r>
              <a:rPr lang="en-US" altLang="en-US" i="1" baseline="-25000" dirty="0">
                <a:sym typeface="Symbol" panose="05050102010706020507" pitchFamily="18" charset="2"/>
              </a:rPr>
              <a:t>R1</a:t>
            </a:r>
            <a:r>
              <a:rPr lang="en-US" altLang="en-US" baseline="-25000" dirty="0">
                <a:sym typeface="Symbol" panose="05050102010706020507" pitchFamily="18" charset="2"/>
              </a:rPr>
              <a:t> </a:t>
            </a:r>
            <a:r>
              <a:rPr lang="en-US" altLang="en-US" dirty="0">
                <a:sym typeface="Symbol" panose="05050102010706020507" pitchFamily="18" charset="2"/>
              </a:rPr>
              <a:t>(</a:t>
            </a:r>
            <a:r>
              <a:rPr lang="en-US" altLang="en-US" i="1" dirty="0">
                <a:sym typeface="Symbol" panose="05050102010706020507" pitchFamily="18" charset="2"/>
              </a:rPr>
              <a:t>r </a:t>
            </a:r>
            <a:r>
              <a:rPr lang="en-US" altLang="en-US" dirty="0">
                <a:sym typeface="Symbol" panose="05050102010706020507" pitchFamily="18" charset="2"/>
              </a:rPr>
              <a:t>)    </a:t>
            </a:r>
            <a:r>
              <a:rPr lang="en-US" altLang="en-US" i="1" baseline="-25000" dirty="0">
                <a:sym typeface="Symbol" panose="05050102010706020507" pitchFamily="18" charset="2"/>
              </a:rPr>
              <a:t>R2</a:t>
            </a:r>
            <a:r>
              <a:rPr lang="en-US" altLang="en-US" baseline="-25000" dirty="0">
                <a:sym typeface="Symbol" panose="05050102010706020507" pitchFamily="18" charset="2"/>
              </a:rPr>
              <a:t> </a:t>
            </a:r>
            <a:r>
              <a:rPr lang="en-US" altLang="en-US" dirty="0">
                <a:sym typeface="Symbol" panose="05050102010706020507" pitchFamily="18" charset="2"/>
              </a:rPr>
              <a:t>(</a:t>
            </a:r>
            <a:r>
              <a:rPr lang="en-US" altLang="en-US" i="1" dirty="0">
                <a:sym typeface="Symbol" panose="05050102010706020507" pitchFamily="18" charset="2"/>
              </a:rPr>
              <a:t>r </a:t>
            </a:r>
            <a:r>
              <a:rPr lang="en-US" altLang="en-US" dirty="0">
                <a:sym typeface="Symbol" panose="05050102010706020507" pitchFamily="18" charset="2"/>
              </a:rPr>
              <a:t>) </a:t>
            </a:r>
          </a:p>
          <a:p>
            <a:pPr algn="r" rtl="1">
              <a:tabLst>
                <a:tab pos="2292350" algn="l"/>
                <a:tab pos="2976563" algn="l"/>
              </a:tabLst>
            </a:pPr>
            <a:r>
              <a:rPr lang="fa-IR" dirty="0"/>
              <a:t>تجزیه </a:t>
            </a:r>
            <a:r>
              <a:rPr lang="en-US" dirty="0"/>
              <a:t>R </a:t>
            </a:r>
            <a:r>
              <a:rPr lang="fa-IR" dirty="0"/>
              <a:t>به </a:t>
            </a:r>
            <a:r>
              <a:rPr lang="en-US" dirty="0"/>
              <a:t>R1 </a:t>
            </a:r>
            <a:r>
              <a:rPr lang="fa-IR" dirty="0"/>
              <a:t>و </a:t>
            </a:r>
            <a:r>
              <a:rPr lang="en-US" dirty="0"/>
              <a:t>R2 </a:t>
            </a:r>
            <a:r>
              <a:rPr lang="fa-IR" dirty="0"/>
              <a:t>یک تجزیه بدون اتلاف است اگر حداقل یکی از </a:t>
            </a:r>
            <a:r>
              <a:rPr lang="fa-IR" dirty="0" err="1"/>
              <a:t>وابستگی‌های</a:t>
            </a:r>
            <a:r>
              <a:rPr lang="fa-IR" dirty="0"/>
              <a:t> زیر در </a:t>
            </a:r>
            <a:r>
              <a:rPr lang="en-US" dirty="0"/>
              <a:t>F⁺ </a:t>
            </a:r>
            <a:r>
              <a:rPr lang="fa-IR" dirty="0"/>
              <a:t>وجود داشته باشد:</a:t>
            </a:r>
            <a:endParaRPr lang="en-US" altLang="en-US" dirty="0"/>
          </a:p>
          <a:p>
            <a:pPr lvl="1" algn="r" rtl="1">
              <a:tabLst>
                <a:tab pos="2292350" algn="l"/>
                <a:tab pos="2976563" algn="l"/>
              </a:tabLst>
            </a:pPr>
            <a:r>
              <a:rPr lang="en-US" altLang="en-US" i="1" dirty="0"/>
              <a:t>R</a:t>
            </a:r>
            <a:r>
              <a:rPr lang="en-US" altLang="en-US" baseline="-25000" dirty="0"/>
              <a:t>1</a:t>
            </a:r>
            <a:r>
              <a:rPr lang="en-US" altLang="en-US" dirty="0"/>
              <a:t> </a:t>
            </a:r>
            <a:r>
              <a:rPr lang="en-US" altLang="en-US" dirty="0">
                <a:sym typeface="Symbol" panose="05050102010706020507" pitchFamily="18" charset="2"/>
              </a:rPr>
              <a:t> </a:t>
            </a:r>
            <a:r>
              <a:rPr lang="en-US" altLang="en-US" i="1" dirty="0"/>
              <a:t>R</a:t>
            </a:r>
            <a:r>
              <a:rPr lang="en-US" altLang="en-US" baseline="-25000" dirty="0"/>
              <a:t>2</a:t>
            </a:r>
            <a:r>
              <a:rPr lang="en-US" altLang="en-US" dirty="0"/>
              <a:t> </a:t>
            </a:r>
            <a:r>
              <a:rPr lang="en-US" altLang="en-US" dirty="0">
                <a:sym typeface="Symbol" panose="05050102010706020507" pitchFamily="18" charset="2"/>
              </a:rPr>
              <a:t></a:t>
            </a:r>
            <a:r>
              <a:rPr lang="en-US" altLang="en-US" dirty="0">
                <a:sym typeface="Monotype Sorts" pitchFamily="-84" charset="2"/>
              </a:rPr>
              <a:t> </a:t>
            </a:r>
            <a:r>
              <a:rPr lang="en-US" altLang="en-US" i="1" dirty="0"/>
              <a:t>R</a:t>
            </a:r>
            <a:r>
              <a:rPr lang="en-US" altLang="en-US" baseline="-25000" dirty="0"/>
              <a:t>1</a:t>
            </a:r>
          </a:p>
          <a:p>
            <a:pPr lvl="1" algn="r" rtl="1">
              <a:tabLst>
                <a:tab pos="2292350" algn="l"/>
                <a:tab pos="2976563" algn="l"/>
              </a:tabLst>
            </a:pPr>
            <a:r>
              <a:rPr lang="en-US" altLang="en-US" i="1" dirty="0"/>
              <a:t>R</a:t>
            </a:r>
            <a:r>
              <a:rPr lang="en-US" altLang="en-US" baseline="-25000" dirty="0"/>
              <a:t>1</a:t>
            </a:r>
            <a:r>
              <a:rPr lang="en-US" altLang="en-US" dirty="0"/>
              <a:t> </a:t>
            </a:r>
            <a:r>
              <a:rPr lang="en-US" altLang="en-US" dirty="0">
                <a:sym typeface="Symbol" panose="05050102010706020507" pitchFamily="18" charset="2"/>
              </a:rPr>
              <a:t> </a:t>
            </a:r>
            <a:r>
              <a:rPr lang="en-US" altLang="en-US" i="1" dirty="0"/>
              <a:t>R</a:t>
            </a:r>
            <a:r>
              <a:rPr lang="en-US" altLang="en-US" baseline="-25000" dirty="0"/>
              <a:t>2</a:t>
            </a:r>
            <a:r>
              <a:rPr lang="en-US" altLang="en-US" dirty="0"/>
              <a:t> </a:t>
            </a:r>
            <a:r>
              <a:rPr lang="en-US" altLang="en-US" dirty="0">
                <a:sym typeface="Symbol" panose="05050102010706020507" pitchFamily="18" charset="2"/>
              </a:rPr>
              <a:t></a:t>
            </a:r>
            <a:r>
              <a:rPr lang="en-US" altLang="en-US" dirty="0">
                <a:sym typeface="Monotype Sorts" pitchFamily="-84" charset="2"/>
              </a:rPr>
              <a:t> </a:t>
            </a:r>
            <a:r>
              <a:rPr lang="en-US" altLang="en-US" i="1" dirty="0"/>
              <a:t>R</a:t>
            </a:r>
            <a:r>
              <a:rPr lang="en-US" altLang="en-US" baseline="-25000" dirty="0"/>
              <a:t>2</a:t>
            </a:r>
            <a:endParaRPr lang="en-US" altLang="en-US" dirty="0"/>
          </a:p>
          <a:p>
            <a:pPr algn="r" rtl="1">
              <a:tabLst>
                <a:tab pos="2292350" algn="l"/>
                <a:tab pos="2976563" algn="l"/>
              </a:tabLst>
            </a:pPr>
            <a:r>
              <a:rPr lang="fa-IR" dirty="0" err="1"/>
              <a:t>وابستگی‌های</a:t>
            </a:r>
            <a:r>
              <a:rPr lang="fa-IR" dirty="0"/>
              <a:t> </a:t>
            </a:r>
            <a:r>
              <a:rPr lang="fa-IR" dirty="0" err="1"/>
              <a:t>تابعی</a:t>
            </a:r>
            <a:r>
              <a:rPr lang="fa-IR" dirty="0"/>
              <a:t> بالا یک شرط کافی برای تجزیه بدون اتلاف هستند؛</a:t>
            </a:r>
            <a:br>
              <a:rPr lang="fa-IR" dirty="0"/>
            </a:br>
            <a:r>
              <a:rPr lang="fa-IR" dirty="0"/>
              <a:t>و این </a:t>
            </a:r>
            <a:r>
              <a:rPr lang="fa-IR" dirty="0" err="1"/>
              <a:t>وابستگی‌ها</a:t>
            </a:r>
            <a:r>
              <a:rPr lang="fa-IR" dirty="0"/>
              <a:t> زمانی شرط لازم هم هستند که همه </a:t>
            </a:r>
            <a:r>
              <a:rPr lang="fa-IR" dirty="0" err="1"/>
              <a:t>محدودیت‌ها</a:t>
            </a:r>
            <a:r>
              <a:rPr lang="fa-IR" dirty="0"/>
              <a:t>، وابستگی </a:t>
            </a:r>
            <a:r>
              <a:rPr lang="fa-IR" dirty="0" err="1"/>
              <a:t>تابعی</a:t>
            </a:r>
            <a:r>
              <a:rPr lang="fa-IR" dirty="0"/>
              <a:t> باشند.</a:t>
            </a:r>
            <a:endParaRPr lang="en-US" altLang="en-US" dirty="0">
              <a:sym typeface="Symbol" panose="05050102010706020507" pitchFamily="18" charset="2"/>
            </a:endParaRPr>
          </a:p>
        </p:txBody>
      </p:sp>
      <p:sp>
        <p:nvSpPr>
          <p:cNvPr id="22532" name="Freeform 4"/>
          <p:cNvSpPr>
            <a:spLocks/>
          </p:cNvSpPr>
          <p:nvPr/>
        </p:nvSpPr>
        <p:spPr bwMode="auto">
          <a:xfrm>
            <a:off x="7334093" y="2334703"/>
            <a:ext cx="142875" cy="142875"/>
          </a:xfrm>
          <a:custGeom>
            <a:avLst/>
            <a:gdLst>
              <a:gd name="T0" fmla="*/ 0 w 182"/>
              <a:gd name="T1" fmla="*/ 0 h 182"/>
              <a:gd name="T2" fmla="*/ 0 w 182"/>
              <a:gd name="T3" fmla="*/ 2147483647 h 182"/>
              <a:gd name="T4" fmla="*/ 2147483647 w 182"/>
              <a:gd name="T5" fmla="*/ 0 h 182"/>
              <a:gd name="T6" fmla="*/ 2147483647 w 182"/>
              <a:gd name="T7" fmla="*/ 2147483647 h 182"/>
              <a:gd name="T8" fmla="*/ 0 w 182"/>
              <a:gd name="T9" fmla="*/ 0 h 182"/>
              <a:gd name="T10" fmla="*/ 0 60000 65536"/>
              <a:gd name="T11" fmla="*/ 0 60000 65536"/>
              <a:gd name="T12" fmla="*/ 0 60000 65536"/>
              <a:gd name="T13" fmla="*/ 0 60000 65536"/>
              <a:gd name="T14" fmla="*/ 0 60000 65536"/>
              <a:gd name="T15" fmla="*/ 0 w 182"/>
              <a:gd name="T16" fmla="*/ 0 h 182"/>
              <a:gd name="T17" fmla="*/ 182 w 182"/>
              <a:gd name="T18" fmla="*/ 182 h 182"/>
            </a:gdLst>
            <a:ahLst/>
            <a:cxnLst>
              <a:cxn ang="T10">
                <a:pos x="T0" y="T1"/>
              </a:cxn>
              <a:cxn ang="T11">
                <a:pos x="T2" y="T3"/>
              </a:cxn>
              <a:cxn ang="T12">
                <a:pos x="T4" y="T5"/>
              </a:cxn>
              <a:cxn ang="T13">
                <a:pos x="T6" y="T7"/>
              </a:cxn>
              <a:cxn ang="T14">
                <a:pos x="T8" y="T9"/>
              </a:cxn>
            </a:cxnLst>
            <a:rect l="T15" t="T16" r="T17" b="T18"/>
            <a:pathLst>
              <a:path w="182" h="182">
                <a:moveTo>
                  <a:pt x="0" y="0"/>
                </a:moveTo>
                <a:lnTo>
                  <a:pt x="0" y="182"/>
                </a:lnTo>
                <a:lnTo>
                  <a:pt x="182" y="0"/>
                </a:lnTo>
                <a:lnTo>
                  <a:pt x="182" y="182"/>
                </a:lnTo>
                <a:lnTo>
                  <a:pt x="0" y="0"/>
                </a:lnTo>
                <a:close/>
              </a:path>
            </a:pathLst>
          </a:custGeom>
          <a:noFill/>
          <a:ln w="12700">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endParaRPr lang="en-US"/>
          </a:p>
        </p:txBody>
      </p:sp>
    </p:spTree>
    <p:extLst>
      <p:ext uri="{BB962C8B-B14F-4D97-AF65-F5344CB8AC3E}">
        <p14:creationId xmlns:p14="http://schemas.microsoft.com/office/powerpoint/2010/main" val="842099102"/>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0E9A56-8A37-DD40-F17E-180ED42CB652}"/>
            </a:ext>
          </a:extLst>
        </p:cNvPr>
        <p:cNvGrpSpPr/>
        <p:nvPr/>
      </p:nvGrpSpPr>
      <p:grpSpPr>
        <a:xfrm>
          <a:off x="0" y="0"/>
          <a:ext cx="0" cy="0"/>
          <a:chOff x="0" y="0"/>
          <a:chExt cx="0" cy="0"/>
        </a:xfrm>
      </p:grpSpPr>
      <p:sp>
        <p:nvSpPr>
          <p:cNvPr id="723970" name="Rectangle 2">
            <a:extLst>
              <a:ext uri="{FF2B5EF4-FFF2-40B4-BE49-F238E27FC236}">
                <a16:creationId xmlns:a16="http://schemas.microsoft.com/office/drawing/2014/main" id="{7D2507A6-0BBE-9BA8-3F79-FB52C9FB1FB3}"/>
              </a:ext>
            </a:extLst>
          </p:cNvPr>
          <p:cNvSpPr>
            <a:spLocks noGrp="1" noChangeArrowheads="1"/>
          </p:cNvSpPr>
          <p:nvPr>
            <p:ph type="title"/>
          </p:nvPr>
        </p:nvSpPr>
        <p:spPr/>
        <p:txBody>
          <a:bodyPr/>
          <a:lstStyle/>
          <a:p>
            <a:pPr>
              <a:defRPr/>
            </a:pPr>
            <a:r>
              <a:rPr lang="en-US" altLang="en-US" sz="2800" dirty="0">
                <a:effectLst>
                  <a:outerShdw blurRad="38100" dist="38100" dir="2700000" algn="tl">
                    <a:srgbClr val="C0C0C0"/>
                  </a:outerShdw>
                </a:effectLst>
                <a:ea typeface="ＭＳ Ｐゴシック" pitchFamily="34" charset="-128"/>
              </a:rPr>
              <a:t>Lossless Decomposition</a:t>
            </a:r>
          </a:p>
        </p:txBody>
      </p:sp>
      <mc:AlternateContent xmlns:mc="http://schemas.openxmlformats.org/markup-compatibility/2006">
        <mc:Choice xmlns:a14="http://schemas.microsoft.com/office/drawing/2010/main" Requires="a14">
          <p:sp>
            <p:nvSpPr>
              <p:cNvPr id="22531" name="Rectangle 3">
                <a:extLst>
                  <a:ext uri="{FF2B5EF4-FFF2-40B4-BE49-F238E27FC236}">
                    <a16:creationId xmlns:a16="http://schemas.microsoft.com/office/drawing/2014/main" id="{7237A793-BDF0-40D1-CFAE-D6939C0CD28A}"/>
                  </a:ext>
                </a:extLst>
              </p:cNvPr>
              <p:cNvSpPr>
                <a:spLocks noGrp="1" noChangeArrowheads="1"/>
              </p:cNvSpPr>
              <p:nvPr>
                <p:ph idx="1"/>
              </p:nvPr>
            </p:nvSpPr>
            <p:spPr>
              <a:xfrm>
                <a:off x="294444" y="1030514"/>
                <a:ext cx="8551106" cy="5065486"/>
              </a:xfrm>
            </p:spPr>
            <p:txBody>
              <a:bodyPr/>
              <a:lstStyle/>
              <a:p>
                <a:pPr algn="r" rtl="1"/>
                <a:r>
                  <a:rPr lang="fa-IR" b="1" dirty="0"/>
                  <a:t>قاعده دقیق تجزیه بدون اتلاف</a:t>
                </a:r>
              </a:p>
              <a:p>
                <a:pPr algn="r" rtl="1"/>
                <a:r>
                  <a:rPr lang="fa-IR" dirty="0"/>
                  <a:t>برای تجزیه‌ی یک رابطه </a:t>
                </a:r>
                <a14:m>
                  <m:oMath xmlns:m="http://schemas.openxmlformats.org/officeDocument/2006/math">
                    <m:r>
                      <a:rPr lang="fa-IR" i="1">
                        <a:latin typeface="Cambria Math" panose="02040503050406030204" pitchFamily="18" charset="0"/>
                      </a:rPr>
                      <m:t>𝑅</m:t>
                    </m:r>
                  </m:oMath>
                </a14:m>
                <a:r>
                  <a:rPr lang="fa-IR" dirty="0"/>
                  <a:t>به دو رابطه </a:t>
                </a:r>
                <a14:m>
                  <m:oMath xmlns:m="http://schemas.openxmlformats.org/officeDocument/2006/math">
                    <m:sSub>
                      <m:sSubPr>
                        <m:ctrlPr>
                          <a:rPr lang="fa-IR" i="1">
                            <a:latin typeface="Cambria Math" panose="02040503050406030204" pitchFamily="18" charset="0"/>
                          </a:rPr>
                        </m:ctrlPr>
                      </m:sSubPr>
                      <m:e>
                        <m:r>
                          <a:rPr lang="fa-IR" i="1">
                            <a:latin typeface="Cambria Math" panose="02040503050406030204" pitchFamily="18" charset="0"/>
                          </a:rPr>
                          <m:t>𝑅</m:t>
                        </m:r>
                      </m:e>
                      <m:sub>
                        <m:r>
                          <a:rPr lang="fa-IR">
                            <a:latin typeface="Cambria Math" panose="02040503050406030204" pitchFamily="18" charset="0"/>
                          </a:rPr>
                          <m:t>1</m:t>
                        </m:r>
                      </m:sub>
                    </m:sSub>
                  </m:oMath>
                </a14:m>
                <a:r>
                  <a:rPr lang="fa-IR" dirty="0"/>
                  <a:t>و </a:t>
                </a:r>
                <a14:m>
                  <m:oMath xmlns:m="http://schemas.openxmlformats.org/officeDocument/2006/math">
                    <m:sSub>
                      <m:sSubPr>
                        <m:ctrlPr>
                          <a:rPr lang="fa-IR" i="1">
                            <a:latin typeface="Cambria Math" panose="02040503050406030204" pitchFamily="18" charset="0"/>
                          </a:rPr>
                        </m:ctrlPr>
                      </m:sSubPr>
                      <m:e>
                        <m:r>
                          <a:rPr lang="fa-IR" i="1">
                            <a:latin typeface="Cambria Math" panose="02040503050406030204" pitchFamily="18" charset="0"/>
                          </a:rPr>
                          <m:t>𝑅</m:t>
                        </m:r>
                      </m:e>
                      <m:sub>
                        <m:r>
                          <a:rPr lang="fa-IR">
                            <a:latin typeface="Cambria Math" panose="02040503050406030204" pitchFamily="18" charset="0"/>
                          </a:rPr>
                          <m:t>2</m:t>
                        </m:r>
                      </m:sub>
                    </m:sSub>
                  </m:oMath>
                </a14:m>
                <a:r>
                  <a:rPr lang="fa-IR" dirty="0"/>
                  <a:t>، اگر </a:t>
                </a:r>
                <a:r>
                  <a:rPr lang="fa-IR" b="1" dirty="0"/>
                  <a:t>حداقل یکی</a:t>
                </a:r>
                <a:r>
                  <a:rPr lang="fa-IR" dirty="0"/>
                  <a:t> از شرایط زیر برقرار باشد، تجزیه </a:t>
                </a:r>
                <a:r>
                  <a:rPr lang="fa-IR" b="1" dirty="0"/>
                  <a:t>بدون اتلاف</a:t>
                </a:r>
                <a:r>
                  <a:rPr lang="fa-IR" dirty="0"/>
                  <a:t> است:</a:t>
                </a:r>
              </a:p>
              <a:p>
                <a:pPr algn="r" rtl="1"/>
                <a14:m>
                  <m:oMath xmlns:m="http://schemas.openxmlformats.org/officeDocument/2006/math">
                    <m:d>
                      <m:dPr>
                        <m:ctrlPr>
                          <a:rPr lang="fa-IR" i="1">
                            <a:latin typeface="Cambria Math" panose="02040503050406030204" pitchFamily="18" charset="0"/>
                          </a:rPr>
                        </m:ctrlPr>
                      </m:dPr>
                      <m:e>
                        <m:sSub>
                          <m:sSubPr>
                            <m:ctrlPr>
                              <a:rPr lang="fa-IR" i="1">
                                <a:latin typeface="Cambria Math" panose="02040503050406030204" pitchFamily="18" charset="0"/>
                              </a:rPr>
                            </m:ctrlPr>
                          </m:sSubPr>
                          <m:e>
                            <m:r>
                              <a:rPr lang="fa-IR" i="1">
                                <a:latin typeface="Cambria Math" panose="02040503050406030204" pitchFamily="18" charset="0"/>
                              </a:rPr>
                              <m:t>𝑅</m:t>
                            </m:r>
                          </m:e>
                          <m:sub>
                            <m:r>
                              <a:rPr lang="fa-IR">
                                <a:latin typeface="Cambria Math" panose="02040503050406030204" pitchFamily="18" charset="0"/>
                              </a:rPr>
                              <m:t>1</m:t>
                            </m:r>
                          </m:sub>
                        </m:sSub>
                        <m:r>
                          <a:rPr lang="fa-IR">
                            <a:latin typeface="Cambria Math" panose="02040503050406030204" pitchFamily="18" charset="0"/>
                          </a:rPr>
                          <m:t>∩</m:t>
                        </m:r>
                        <m:sSub>
                          <m:sSubPr>
                            <m:ctrlPr>
                              <a:rPr lang="fa-IR" i="1">
                                <a:latin typeface="Cambria Math" panose="02040503050406030204" pitchFamily="18" charset="0"/>
                              </a:rPr>
                            </m:ctrlPr>
                          </m:sSubPr>
                          <m:e>
                            <m:r>
                              <a:rPr lang="fa-IR" i="1">
                                <a:latin typeface="Cambria Math" panose="02040503050406030204" pitchFamily="18" charset="0"/>
                              </a:rPr>
                              <m:t>𝑅</m:t>
                            </m:r>
                          </m:e>
                          <m:sub>
                            <m:r>
                              <a:rPr lang="fa-IR">
                                <a:latin typeface="Cambria Math" panose="02040503050406030204" pitchFamily="18" charset="0"/>
                              </a:rPr>
                              <m:t>2</m:t>
                            </m:r>
                          </m:sub>
                        </m:sSub>
                      </m:e>
                    </m:d>
                    <m:r>
                      <a:rPr lang="fa-IR">
                        <a:latin typeface="Cambria Math" panose="02040503050406030204" pitchFamily="18" charset="0"/>
                      </a:rPr>
                      <m:t>→</m:t>
                    </m:r>
                    <m:sSub>
                      <m:sSubPr>
                        <m:ctrlPr>
                          <a:rPr lang="fa-IR" i="1">
                            <a:latin typeface="Cambria Math" panose="02040503050406030204" pitchFamily="18" charset="0"/>
                          </a:rPr>
                        </m:ctrlPr>
                      </m:sSubPr>
                      <m:e>
                        <m:r>
                          <a:rPr lang="fa-IR" i="1">
                            <a:latin typeface="Cambria Math" panose="02040503050406030204" pitchFamily="18" charset="0"/>
                          </a:rPr>
                          <m:t>𝑅</m:t>
                        </m:r>
                      </m:e>
                      <m:sub>
                        <m:r>
                          <a:rPr lang="fa-IR">
                            <a:latin typeface="Cambria Math" panose="02040503050406030204" pitchFamily="18" charset="0"/>
                          </a:rPr>
                          <m:t>1</m:t>
                        </m:r>
                      </m:sub>
                    </m:sSub>
                    <m:r>
                      <a:rPr lang="fa-IR">
                        <a:latin typeface="Cambria Math" panose="02040503050406030204" pitchFamily="18" charset="0"/>
                      </a:rPr>
                      <m:t> </m:t>
                    </m:r>
                    <m:r>
                      <m:rPr>
                        <m:nor/>
                      </m:rPr>
                      <a:rPr lang="fa-IR" i="1"/>
                      <m:t>یا</m:t>
                    </m:r>
                    <m:r>
                      <a:rPr lang="fa-IR">
                        <a:latin typeface="Cambria Math" panose="02040503050406030204" pitchFamily="18" charset="0"/>
                      </a:rPr>
                      <m:t> </m:t>
                    </m:r>
                    <m:d>
                      <m:dPr>
                        <m:ctrlPr>
                          <a:rPr lang="fa-IR" i="1">
                            <a:latin typeface="Cambria Math" panose="02040503050406030204" pitchFamily="18" charset="0"/>
                          </a:rPr>
                        </m:ctrlPr>
                      </m:dPr>
                      <m:e>
                        <m:sSub>
                          <m:sSubPr>
                            <m:ctrlPr>
                              <a:rPr lang="fa-IR" i="1">
                                <a:latin typeface="Cambria Math" panose="02040503050406030204" pitchFamily="18" charset="0"/>
                              </a:rPr>
                            </m:ctrlPr>
                          </m:sSubPr>
                          <m:e>
                            <m:r>
                              <a:rPr lang="fa-IR" i="1">
                                <a:latin typeface="Cambria Math" panose="02040503050406030204" pitchFamily="18" charset="0"/>
                              </a:rPr>
                              <m:t>𝑅</m:t>
                            </m:r>
                          </m:e>
                          <m:sub>
                            <m:r>
                              <a:rPr lang="fa-IR">
                                <a:latin typeface="Cambria Math" panose="02040503050406030204" pitchFamily="18" charset="0"/>
                              </a:rPr>
                              <m:t>1</m:t>
                            </m:r>
                          </m:sub>
                        </m:sSub>
                        <m:r>
                          <a:rPr lang="fa-IR">
                            <a:latin typeface="Cambria Math" panose="02040503050406030204" pitchFamily="18" charset="0"/>
                          </a:rPr>
                          <m:t>∩</m:t>
                        </m:r>
                        <m:sSub>
                          <m:sSubPr>
                            <m:ctrlPr>
                              <a:rPr lang="fa-IR" i="1">
                                <a:latin typeface="Cambria Math" panose="02040503050406030204" pitchFamily="18" charset="0"/>
                              </a:rPr>
                            </m:ctrlPr>
                          </m:sSubPr>
                          <m:e>
                            <m:r>
                              <a:rPr lang="fa-IR" i="1">
                                <a:latin typeface="Cambria Math" panose="02040503050406030204" pitchFamily="18" charset="0"/>
                              </a:rPr>
                              <m:t>𝑅</m:t>
                            </m:r>
                          </m:e>
                          <m:sub>
                            <m:r>
                              <a:rPr lang="fa-IR">
                                <a:latin typeface="Cambria Math" panose="02040503050406030204" pitchFamily="18" charset="0"/>
                              </a:rPr>
                              <m:t>2</m:t>
                            </m:r>
                          </m:sub>
                        </m:sSub>
                      </m:e>
                    </m:d>
                    <m:r>
                      <a:rPr lang="fa-IR">
                        <a:latin typeface="Cambria Math" panose="02040503050406030204" pitchFamily="18" charset="0"/>
                      </a:rPr>
                      <m:t>→</m:t>
                    </m:r>
                    <m:sSub>
                      <m:sSubPr>
                        <m:ctrlPr>
                          <a:rPr lang="fa-IR" i="1">
                            <a:latin typeface="Cambria Math" panose="02040503050406030204" pitchFamily="18" charset="0"/>
                          </a:rPr>
                        </m:ctrlPr>
                      </m:sSubPr>
                      <m:e>
                        <m:r>
                          <a:rPr lang="fa-IR" i="1">
                            <a:latin typeface="Cambria Math" panose="02040503050406030204" pitchFamily="18" charset="0"/>
                          </a:rPr>
                          <m:t>𝑅</m:t>
                        </m:r>
                      </m:e>
                      <m:sub>
                        <m:r>
                          <a:rPr lang="fa-IR">
                            <a:latin typeface="Cambria Math" panose="02040503050406030204" pitchFamily="18" charset="0"/>
                          </a:rPr>
                          <m:t>2</m:t>
                        </m:r>
                      </m:sub>
                    </m:sSub>
                  </m:oMath>
                </a14:m>
                <a:endParaRPr lang="fa-IR" b="0" dirty="0"/>
              </a:p>
              <a:p>
                <a:pPr algn="r" rtl="1"/>
                <a:r>
                  <a:rPr lang="fa-IR" dirty="0"/>
                  <a:t>یعنی:</a:t>
                </a:r>
              </a:p>
              <a:p>
                <a:pPr algn="r" rtl="1"/>
                <a:r>
                  <a:rPr lang="fa-IR" dirty="0"/>
                  <a:t>اشتراک دو رابطه، </a:t>
                </a:r>
                <a:r>
                  <a:rPr lang="fa-IR" b="1" dirty="0"/>
                  <a:t>کلید یکی از آن‌ها</a:t>
                </a:r>
                <a:r>
                  <a:rPr lang="fa-IR" dirty="0"/>
                  <a:t> باشد.</a:t>
                </a:r>
                <a:br>
                  <a:rPr lang="fa-IR" dirty="0"/>
                </a:br>
                <a:endParaRPr lang="fa-IR" dirty="0"/>
              </a:p>
              <a:p>
                <a:pPr algn="r" rtl="1"/>
                <a:r>
                  <a:rPr lang="fa-IR" b="1" dirty="0"/>
                  <a:t>تفسیر ساده</a:t>
                </a:r>
              </a:p>
              <a:p>
                <a:pPr algn="r" rtl="1"/>
                <a:r>
                  <a:rPr lang="fa-IR" dirty="0"/>
                  <a:t>اگر اشتراک بتواند </a:t>
                </a:r>
                <a:r>
                  <a:rPr lang="fa-IR" b="1" dirty="0"/>
                  <a:t>کل </a:t>
                </a:r>
                <a:r>
                  <a:rPr lang="en-US" b="1" dirty="0"/>
                  <a:t>R1</a:t>
                </a:r>
                <a:r>
                  <a:rPr lang="en-US" dirty="0"/>
                  <a:t> </a:t>
                </a:r>
                <a:r>
                  <a:rPr lang="fa-IR" dirty="0"/>
                  <a:t>را بسازد → بدون اتلاف</a:t>
                </a:r>
              </a:p>
              <a:p>
                <a:pPr algn="r" rtl="1"/>
                <a:r>
                  <a:rPr lang="fa-IR" dirty="0"/>
                  <a:t>اگر اشتراک بتواند </a:t>
                </a:r>
                <a:r>
                  <a:rPr lang="fa-IR" b="1" dirty="0"/>
                  <a:t>کل </a:t>
                </a:r>
                <a:r>
                  <a:rPr lang="en-US" b="1" dirty="0"/>
                  <a:t>R2</a:t>
                </a:r>
                <a:r>
                  <a:rPr lang="en-US" dirty="0"/>
                  <a:t> </a:t>
                </a:r>
                <a:r>
                  <a:rPr lang="fa-IR" dirty="0"/>
                  <a:t>را بسازد → بدون اتلاف</a:t>
                </a:r>
              </a:p>
              <a:p>
                <a:pPr algn="r" rtl="1"/>
                <a:r>
                  <a:rPr lang="fa-IR" b="1" dirty="0"/>
                  <a:t>نیازی نیست هر دو با هم برقرار باشند</a:t>
                </a:r>
                <a:endParaRPr lang="fa-IR" dirty="0"/>
              </a:p>
            </p:txBody>
          </p:sp>
        </mc:Choice>
        <mc:Fallback>
          <p:sp>
            <p:nvSpPr>
              <p:cNvPr id="22531" name="Rectangle 3">
                <a:extLst>
                  <a:ext uri="{FF2B5EF4-FFF2-40B4-BE49-F238E27FC236}">
                    <a16:creationId xmlns:a16="http://schemas.microsoft.com/office/drawing/2014/main" id="{7237A793-BDF0-40D1-CFAE-D6939C0CD28A}"/>
                  </a:ext>
                </a:extLst>
              </p:cNvPr>
              <p:cNvSpPr>
                <a:spLocks noGrp="1" noRot="1" noChangeAspect="1" noMove="1" noResize="1" noEditPoints="1" noAdjustHandles="1" noChangeArrowheads="1" noChangeShapeType="1" noTextEdit="1"/>
              </p:cNvSpPr>
              <p:nvPr>
                <p:ph idx="1"/>
              </p:nvPr>
            </p:nvSpPr>
            <p:spPr>
              <a:xfrm>
                <a:off x="294444" y="1030514"/>
                <a:ext cx="8551106" cy="5065486"/>
              </a:xfrm>
              <a:blipFill>
                <a:blip r:embed="rId3"/>
                <a:stretch>
                  <a:fillRect t="-1685" r="-855"/>
                </a:stretch>
              </a:blipFill>
            </p:spPr>
            <p:txBody>
              <a:bodyPr/>
              <a:lstStyle/>
              <a:p>
                <a:r>
                  <a:rPr lang="en-US">
                    <a:noFill/>
                  </a:rPr>
                  <a:t> </a:t>
                </a:r>
              </a:p>
            </p:txBody>
          </p:sp>
        </mc:Fallback>
      </mc:AlternateContent>
    </p:spTree>
    <p:extLst>
      <p:ext uri="{BB962C8B-B14F-4D97-AF65-F5344CB8AC3E}">
        <p14:creationId xmlns:p14="http://schemas.microsoft.com/office/powerpoint/2010/main" val="3558653892"/>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EBDB9D-CA4E-756B-D263-86F87A57A2A8}"/>
            </a:ext>
          </a:extLst>
        </p:cNvPr>
        <p:cNvGrpSpPr/>
        <p:nvPr/>
      </p:nvGrpSpPr>
      <p:grpSpPr>
        <a:xfrm>
          <a:off x="0" y="0"/>
          <a:ext cx="0" cy="0"/>
          <a:chOff x="0" y="0"/>
          <a:chExt cx="0" cy="0"/>
        </a:xfrm>
      </p:grpSpPr>
      <p:sp>
        <p:nvSpPr>
          <p:cNvPr id="723970" name="Rectangle 2">
            <a:extLst>
              <a:ext uri="{FF2B5EF4-FFF2-40B4-BE49-F238E27FC236}">
                <a16:creationId xmlns:a16="http://schemas.microsoft.com/office/drawing/2014/main" id="{14F91890-0B77-9870-313F-D13C1D3E9D69}"/>
              </a:ext>
            </a:extLst>
          </p:cNvPr>
          <p:cNvSpPr>
            <a:spLocks noGrp="1" noChangeArrowheads="1"/>
          </p:cNvSpPr>
          <p:nvPr>
            <p:ph type="title"/>
          </p:nvPr>
        </p:nvSpPr>
        <p:spPr/>
        <p:txBody>
          <a:bodyPr/>
          <a:lstStyle/>
          <a:p>
            <a:pPr>
              <a:defRPr/>
            </a:pPr>
            <a:r>
              <a:rPr lang="en-US" altLang="en-US" sz="2800" dirty="0">
                <a:effectLst>
                  <a:outerShdw blurRad="38100" dist="38100" dir="2700000" algn="tl">
                    <a:srgbClr val="C0C0C0"/>
                  </a:outerShdw>
                </a:effectLst>
                <a:ea typeface="ＭＳ Ｐゴシック" pitchFamily="34" charset="-128"/>
              </a:rPr>
              <a:t>Lossless Decomposition</a:t>
            </a:r>
          </a:p>
        </p:txBody>
      </p:sp>
      <mc:AlternateContent xmlns:mc="http://schemas.openxmlformats.org/markup-compatibility/2006">
        <mc:Choice xmlns:a14="http://schemas.microsoft.com/office/drawing/2010/main" Requires="a14">
          <p:sp>
            <p:nvSpPr>
              <p:cNvPr id="22531" name="Rectangle 3">
                <a:extLst>
                  <a:ext uri="{FF2B5EF4-FFF2-40B4-BE49-F238E27FC236}">
                    <a16:creationId xmlns:a16="http://schemas.microsoft.com/office/drawing/2014/main" id="{6A452F4A-FBE8-F064-7E29-25382118AF68}"/>
                  </a:ext>
                </a:extLst>
              </p:cNvPr>
              <p:cNvSpPr>
                <a:spLocks noGrp="1" noChangeArrowheads="1"/>
              </p:cNvSpPr>
              <p:nvPr>
                <p:ph idx="1"/>
              </p:nvPr>
            </p:nvSpPr>
            <p:spPr>
              <a:xfrm>
                <a:off x="294444" y="1030513"/>
                <a:ext cx="8551106" cy="5581301"/>
              </a:xfrm>
            </p:spPr>
            <p:txBody>
              <a:bodyPr/>
              <a:lstStyle/>
              <a:p>
                <a:pPr algn="r" rtl="1"/>
                <a:r>
                  <a:rPr lang="fa-IR" b="1" dirty="0"/>
                  <a:t>مثال</a:t>
                </a:r>
              </a:p>
              <a:p>
                <a:pPr algn="r" rtl="1"/>
                <a:r>
                  <a:rPr lang="fa-IR" b="1" dirty="0"/>
                  <a:t>حالت اول:</a:t>
                </a:r>
              </a:p>
              <a:p>
                <a:pPr algn="l"/>
                <a14:m>
                  <m:oMath xmlns:m="http://schemas.openxmlformats.org/officeDocument/2006/math">
                    <m:sSub>
                      <m:sSubPr>
                        <m:ctrlPr>
                          <a:rPr lang="fa-IR"/>
                        </m:ctrlPr>
                      </m:sSubPr>
                      <m:e>
                        <m:r>
                          <a:rPr lang="fa-IR" i="1"/>
                          <m:t>𝑅</m:t>
                        </m:r>
                      </m:e>
                      <m:sub>
                        <m:r>
                          <a:rPr lang="fa-IR"/>
                          <m:t>1</m:t>
                        </m:r>
                      </m:sub>
                    </m:sSub>
                    <m:r>
                      <a:rPr lang="en-US" b="0" i="0" smtClean="0">
                        <a:latin typeface="Cambria Math" panose="02040503050406030204" pitchFamily="18" charset="0"/>
                      </a:rPr>
                      <m:t>(</m:t>
                    </m:r>
                    <m:r>
                      <m:rPr>
                        <m:sty m:val="p"/>
                      </m:rPr>
                      <a:rPr lang="en-US" b="0" i="0" smtClean="0">
                        <a:latin typeface="Cambria Math" panose="02040503050406030204" pitchFamily="18" charset="0"/>
                      </a:rPr>
                      <m:t>A</m:t>
                    </m:r>
                    <m:r>
                      <a:rPr lang="en-US" b="0" i="0" smtClean="0">
                        <a:latin typeface="Cambria Math" panose="02040503050406030204" pitchFamily="18" charset="0"/>
                      </a:rPr>
                      <m:t>,</m:t>
                    </m:r>
                    <m:r>
                      <m:rPr>
                        <m:sty m:val="p"/>
                      </m:rPr>
                      <a:rPr lang="en-US" b="0" i="0" smtClean="0">
                        <a:latin typeface="Cambria Math" panose="02040503050406030204" pitchFamily="18" charset="0"/>
                      </a:rPr>
                      <m:t>B</m:t>
                    </m:r>
                    <m:r>
                      <a:rPr lang="en-US" b="0" i="0" smtClean="0">
                        <a:latin typeface="Cambria Math" panose="02040503050406030204" pitchFamily="18" charset="0"/>
                      </a:rPr>
                      <m:t>),</m:t>
                    </m:r>
                    <m:r>
                      <m:rPr>
                        <m:nor/>
                      </m:rPr>
                      <a:rPr lang="fa-IR" i="1"/>
                      <m:t>  </m:t>
                    </m:r>
                    <m:sSub>
                      <m:sSubPr>
                        <m:ctrlPr>
                          <a:rPr lang="fa-IR" i="1"/>
                        </m:ctrlPr>
                      </m:sSubPr>
                      <m:e>
                        <m:r>
                          <a:rPr lang="fa-IR" i="1"/>
                          <m:t>𝑅</m:t>
                        </m:r>
                      </m:e>
                      <m:sub>
                        <m:r>
                          <a:rPr lang="fa-IR"/>
                          <m:t>2</m:t>
                        </m:r>
                      </m:sub>
                    </m:sSub>
                    <m:r>
                      <a:rPr lang="en-US" b="0" i="1" smtClean="0">
                        <a:latin typeface="Cambria Math" panose="02040503050406030204" pitchFamily="18" charset="0"/>
                      </a:rPr>
                      <m:t>(</m:t>
                    </m:r>
                    <m:r>
                      <a:rPr lang="en-US" b="0" i="1" smtClean="0">
                        <a:latin typeface="Cambria Math" panose="02040503050406030204" pitchFamily="18" charset="0"/>
                      </a:rPr>
                      <m:t>𝐵</m:t>
                    </m:r>
                    <m:r>
                      <a:rPr lang="en-US" b="0" i="1" smtClean="0">
                        <a:latin typeface="Cambria Math" panose="02040503050406030204" pitchFamily="18" charset="0"/>
                      </a:rPr>
                      <m:t>,</m:t>
                    </m:r>
                    <m:r>
                      <a:rPr lang="en-US" b="0" i="1" smtClean="0">
                        <a:latin typeface="Cambria Math" panose="02040503050406030204" pitchFamily="18" charset="0"/>
                      </a:rPr>
                      <m:t>𝐶</m:t>
                    </m:r>
                    <m:r>
                      <a:rPr lang="en-US" b="0" i="1" smtClean="0">
                        <a:latin typeface="Cambria Math" panose="02040503050406030204" pitchFamily="18" charset="0"/>
                      </a:rPr>
                      <m:t>)</m:t>
                    </m:r>
                  </m:oMath>
                </a14:m>
                <a:endParaRPr lang="fa-IR" b="0" dirty="0"/>
              </a:p>
              <a:p>
                <a:pPr algn="l"/>
                <a14:m>
                  <m:oMath xmlns:m="http://schemas.openxmlformats.org/officeDocument/2006/math">
                    <m:sSub>
                      <m:sSubPr>
                        <m:ctrlPr>
                          <a:rPr lang="fa-IR"/>
                        </m:ctrlPr>
                      </m:sSubPr>
                      <m:e>
                        <m:r>
                          <a:rPr lang="fa-IR" i="1"/>
                          <m:t>𝑅</m:t>
                        </m:r>
                      </m:e>
                      <m:sub>
                        <m:r>
                          <a:rPr lang="fa-IR"/>
                          <m:t>1</m:t>
                        </m:r>
                      </m:sub>
                    </m:sSub>
                    <m:r>
                      <a:rPr lang="fa-IR"/>
                      <m:t>∩</m:t>
                    </m:r>
                    <m:sSub>
                      <m:sSubPr>
                        <m:ctrlPr>
                          <a:rPr lang="fa-IR" i="1"/>
                        </m:ctrlPr>
                      </m:sSubPr>
                      <m:e>
                        <m:r>
                          <a:rPr lang="fa-IR" i="1"/>
                          <m:t>𝑅</m:t>
                        </m:r>
                      </m:e>
                      <m:sub>
                        <m:r>
                          <a:rPr lang="fa-IR"/>
                          <m:t>2</m:t>
                        </m:r>
                      </m:sub>
                    </m:sSub>
                    <m:r>
                      <a:rPr lang="fa-IR"/>
                      <m:t>=</m:t>
                    </m:r>
                    <m:d>
                      <m:dPr>
                        <m:begChr m:val="{"/>
                        <m:endChr m:val="}"/>
                        <m:ctrlPr>
                          <a:rPr lang="fa-IR" i="1"/>
                        </m:ctrlPr>
                      </m:dPr>
                      <m:e>
                        <m:r>
                          <a:rPr lang="fa-IR" i="1"/>
                          <m:t>𝐵</m:t>
                        </m:r>
                      </m:e>
                    </m:d>
                    <m:r>
                      <a:rPr lang="fa-IR"/>
                      <m:t>,</m:t>
                    </m:r>
                    <m:r>
                      <m:rPr>
                        <m:nor/>
                      </m:rPr>
                      <a:rPr lang="fa-IR" i="1"/>
                      <m:t>  </m:t>
                    </m:r>
                    <m:r>
                      <a:rPr lang="fa-IR" i="1"/>
                      <m:t>𝐵</m:t>
                    </m:r>
                    <m:r>
                      <a:rPr lang="fa-IR"/>
                      <m:t>→</m:t>
                    </m:r>
                    <m:r>
                      <a:rPr lang="fa-IR" i="1"/>
                      <m:t>𝐵𝐶</m:t>
                    </m:r>
                  </m:oMath>
                </a14:m>
                <a:endParaRPr lang="fa-IR" b="0" dirty="0"/>
              </a:p>
              <a:p>
                <a:pPr algn="r" rtl="1"/>
                <a:r>
                  <a:rPr lang="fa-IR" dirty="0"/>
                  <a:t>اشتراک کل </a:t>
                </a:r>
                <a14:m>
                  <m:oMath xmlns:m="http://schemas.openxmlformats.org/officeDocument/2006/math">
                    <m:sSub>
                      <m:sSubPr>
                        <m:ctrlPr>
                          <a:rPr lang="fa-IR"/>
                        </m:ctrlPr>
                      </m:sSubPr>
                      <m:e>
                        <m:r>
                          <a:rPr lang="fa-IR" i="1"/>
                          <m:t>𝑅</m:t>
                        </m:r>
                      </m:e>
                      <m:sub>
                        <m:r>
                          <a:rPr lang="fa-IR"/>
                          <m:t>2</m:t>
                        </m:r>
                      </m:sub>
                    </m:sSub>
                  </m:oMath>
                </a14:m>
                <a:r>
                  <a:rPr lang="fa-IR" dirty="0"/>
                  <a:t>را تعیین می‌کند</a:t>
                </a:r>
                <a:br>
                  <a:rPr lang="fa-IR" dirty="0"/>
                </a:br>
                <a:r>
                  <a:rPr lang="fa-IR" dirty="0"/>
                  <a:t>✔ تجزیه بدون اتلاف</a:t>
                </a:r>
              </a:p>
              <a:p>
                <a:pPr algn="r" rtl="1"/>
                <a:r>
                  <a:rPr lang="fa-IR" b="1" dirty="0"/>
                  <a:t>حالت دوم:</a:t>
                </a:r>
              </a:p>
              <a:p>
                <a:pPr algn="r" rtl="1"/>
                <a14:m>
                  <m:oMath xmlns:m="http://schemas.openxmlformats.org/officeDocument/2006/math">
                    <m:sSub>
                      <m:sSubPr>
                        <m:ctrlPr>
                          <a:rPr lang="fa-IR"/>
                        </m:ctrlPr>
                      </m:sSubPr>
                      <m:e>
                        <m:r>
                          <a:rPr lang="fa-IR" i="1"/>
                          <m:t>𝑅</m:t>
                        </m:r>
                      </m:e>
                      <m:sub>
                        <m:r>
                          <a:rPr lang="fa-IR"/>
                          <m:t>1</m:t>
                        </m:r>
                      </m:sub>
                    </m:sSub>
                    <m:d>
                      <m:dPr>
                        <m:sepChr m:val=","/>
                        <m:ctrlPr>
                          <a:rPr lang="fa-IR" i="1"/>
                        </m:ctrlPr>
                      </m:dPr>
                      <m:e>
                        <m:r>
                          <a:rPr lang="fa-IR" i="1"/>
                          <m:t>𝐴</m:t>
                        </m:r>
                      </m:e>
                      <m:e>
                        <m:r>
                          <a:rPr lang="fa-IR" i="1"/>
                          <m:t>𝐵</m:t>
                        </m:r>
                      </m:e>
                    </m:d>
                    <m:r>
                      <a:rPr lang="fa-IR"/>
                      <m:t>,</m:t>
                    </m:r>
                    <m:r>
                      <m:rPr>
                        <m:nor/>
                      </m:rPr>
                      <a:rPr lang="fa-IR" i="1"/>
                      <m:t>  </m:t>
                    </m:r>
                    <m:sSub>
                      <m:sSubPr>
                        <m:ctrlPr>
                          <a:rPr lang="fa-IR" i="1"/>
                        </m:ctrlPr>
                      </m:sSubPr>
                      <m:e>
                        <m:r>
                          <a:rPr lang="fa-IR" i="1"/>
                          <m:t>𝑅</m:t>
                        </m:r>
                      </m:e>
                      <m:sub>
                        <m:r>
                          <a:rPr lang="fa-IR"/>
                          <m:t>2</m:t>
                        </m:r>
                      </m:sub>
                    </m:sSub>
                    <m:d>
                      <m:dPr>
                        <m:sepChr m:val=","/>
                        <m:ctrlPr>
                          <a:rPr lang="fa-IR" i="1"/>
                        </m:ctrlPr>
                      </m:dPr>
                      <m:e>
                        <m:r>
                          <a:rPr lang="fa-IR" i="1"/>
                          <m:t>𝐴</m:t>
                        </m:r>
                      </m:e>
                      <m:e>
                        <m:r>
                          <a:rPr lang="fa-IR" i="1"/>
                          <m:t>𝐶</m:t>
                        </m:r>
                      </m:e>
                    </m:d>
                  </m:oMath>
                </a14:m>
                <a:endParaRPr lang="fa-IR" b="0" dirty="0"/>
              </a:p>
              <a:p>
                <a:pPr algn="r" rtl="1"/>
                <a14:m>
                  <m:oMath xmlns:m="http://schemas.openxmlformats.org/officeDocument/2006/math">
                    <m:sSub>
                      <m:sSubPr>
                        <m:ctrlPr>
                          <a:rPr lang="fa-IR"/>
                        </m:ctrlPr>
                      </m:sSubPr>
                      <m:e>
                        <m:r>
                          <a:rPr lang="fa-IR" i="1"/>
                          <m:t>𝑅</m:t>
                        </m:r>
                      </m:e>
                      <m:sub>
                        <m:r>
                          <a:rPr lang="fa-IR"/>
                          <m:t>1</m:t>
                        </m:r>
                      </m:sub>
                    </m:sSub>
                    <m:r>
                      <a:rPr lang="fa-IR"/>
                      <m:t>∩</m:t>
                    </m:r>
                    <m:sSub>
                      <m:sSubPr>
                        <m:ctrlPr>
                          <a:rPr lang="fa-IR" i="1"/>
                        </m:ctrlPr>
                      </m:sSubPr>
                      <m:e>
                        <m:r>
                          <a:rPr lang="fa-IR" i="1"/>
                          <m:t>𝑅</m:t>
                        </m:r>
                      </m:e>
                      <m:sub>
                        <m:r>
                          <a:rPr lang="fa-IR"/>
                          <m:t>2</m:t>
                        </m:r>
                      </m:sub>
                    </m:sSub>
                    <m:r>
                      <a:rPr lang="fa-IR"/>
                      <m:t>=</m:t>
                    </m:r>
                    <m:d>
                      <m:dPr>
                        <m:begChr m:val="{"/>
                        <m:endChr m:val="}"/>
                        <m:ctrlPr>
                          <a:rPr lang="fa-IR" i="1"/>
                        </m:ctrlPr>
                      </m:dPr>
                      <m:e>
                        <m:r>
                          <a:rPr lang="fa-IR" i="1"/>
                          <m:t>𝐴</m:t>
                        </m:r>
                      </m:e>
                    </m:d>
                    <m:r>
                      <a:rPr lang="fa-IR"/>
                      <m:t>,</m:t>
                    </m:r>
                    <m:r>
                      <m:rPr>
                        <m:nor/>
                      </m:rPr>
                      <a:rPr lang="fa-IR" i="1"/>
                      <m:t>  </m:t>
                    </m:r>
                    <m:r>
                      <a:rPr lang="fa-IR" i="1"/>
                      <m:t>𝐴</m:t>
                    </m:r>
                    <m:r>
                      <a:rPr lang="fa-IR"/>
                      <m:t>→</m:t>
                    </m:r>
                    <m:r>
                      <a:rPr lang="fa-IR" i="1"/>
                      <m:t>𝐴𝐵</m:t>
                    </m:r>
                  </m:oMath>
                </a14:m>
                <a:endParaRPr lang="fa-IR" b="0" dirty="0"/>
              </a:p>
              <a:p>
                <a:pPr algn="r" rtl="1"/>
                <a:r>
                  <a:rPr lang="fa-IR" dirty="0"/>
                  <a:t>اشتراک کل </a:t>
                </a:r>
                <a14:m>
                  <m:oMath xmlns:m="http://schemas.openxmlformats.org/officeDocument/2006/math">
                    <m:sSub>
                      <m:sSubPr>
                        <m:ctrlPr>
                          <a:rPr lang="fa-IR"/>
                        </m:ctrlPr>
                      </m:sSubPr>
                      <m:e>
                        <m:r>
                          <a:rPr lang="fa-IR" i="1"/>
                          <m:t>𝑅</m:t>
                        </m:r>
                      </m:e>
                      <m:sub>
                        <m:r>
                          <a:rPr lang="fa-IR"/>
                          <m:t>1</m:t>
                        </m:r>
                      </m:sub>
                    </m:sSub>
                  </m:oMath>
                </a14:m>
                <a:r>
                  <a:rPr lang="fa-IR" dirty="0"/>
                  <a:t>را تعیین می‌کند</a:t>
                </a:r>
                <a:br>
                  <a:rPr lang="fa-IR" dirty="0"/>
                </a:br>
                <a:r>
                  <a:rPr lang="fa-IR" dirty="0"/>
                  <a:t>✔ تجزیه بدون اتلاف</a:t>
                </a:r>
              </a:p>
              <a:p>
                <a:pPr algn="ctr" rtl="1"/>
                <a:r>
                  <a:rPr lang="fa-IR" b="1" dirty="0"/>
                  <a:t>نتیجه نهایی (نکته امتحانی مهم)</a:t>
                </a:r>
              </a:p>
              <a:p>
                <a:pPr algn="r" rtl="1"/>
                <a:r>
                  <a:rPr lang="fa-IR" b="1" dirty="0"/>
                  <a:t>وجود یکی از دو شرط کافی است.</a:t>
                </a:r>
                <a:br>
                  <a:rPr lang="fa-IR" dirty="0"/>
                </a:br>
                <a:r>
                  <a:rPr lang="fa-IR" dirty="0"/>
                  <a:t>اگر هیچ‌کدام برقرار نباشد، تجزیه </a:t>
                </a:r>
                <a:r>
                  <a:rPr lang="fa-IR" b="1" dirty="0"/>
                  <a:t>با اتلاف</a:t>
                </a:r>
                <a:r>
                  <a:rPr lang="fa-IR" dirty="0"/>
                  <a:t> است.</a:t>
                </a:r>
              </a:p>
            </p:txBody>
          </p:sp>
        </mc:Choice>
        <mc:Fallback>
          <p:sp>
            <p:nvSpPr>
              <p:cNvPr id="22531" name="Rectangle 3">
                <a:extLst>
                  <a:ext uri="{FF2B5EF4-FFF2-40B4-BE49-F238E27FC236}">
                    <a16:creationId xmlns:a16="http://schemas.microsoft.com/office/drawing/2014/main" id="{6A452F4A-FBE8-F064-7E29-25382118AF68}"/>
                  </a:ext>
                </a:extLst>
              </p:cNvPr>
              <p:cNvSpPr>
                <a:spLocks noGrp="1" noRot="1" noChangeAspect="1" noMove="1" noResize="1" noEditPoints="1" noAdjustHandles="1" noChangeArrowheads="1" noChangeShapeType="1" noTextEdit="1"/>
              </p:cNvSpPr>
              <p:nvPr>
                <p:ph idx="1"/>
              </p:nvPr>
            </p:nvSpPr>
            <p:spPr>
              <a:xfrm>
                <a:off x="294444" y="1030513"/>
                <a:ext cx="8551106" cy="5581301"/>
              </a:xfrm>
              <a:blipFill>
                <a:blip r:embed="rId3"/>
                <a:stretch>
                  <a:fillRect l="-784" t="-1528" r="-855"/>
                </a:stretch>
              </a:blipFill>
            </p:spPr>
            <p:txBody>
              <a:bodyPr/>
              <a:lstStyle/>
              <a:p>
                <a:r>
                  <a:rPr lang="en-US">
                    <a:noFill/>
                  </a:rPr>
                  <a:t> </a:t>
                </a:r>
              </a:p>
            </p:txBody>
          </p:sp>
        </mc:Fallback>
      </mc:AlternateContent>
    </p:spTree>
    <p:extLst>
      <p:ext uri="{BB962C8B-B14F-4D97-AF65-F5344CB8AC3E}">
        <p14:creationId xmlns:p14="http://schemas.microsoft.com/office/powerpoint/2010/main" val="3902621865"/>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showMasterPhAnim="0">
  <p:cSld>
    <p:spTree>
      <p:nvGrpSpPr>
        <p:cNvPr id="1" name="">
          <a:extLst>
            <a:ext uri="{FF2B5EF4-FFF2-40B4-BE49-F238E27FC236}">
              <a16:creationId xmlns:a16="http://schemas.microsoft.com/office/drawing/2014/main" id="{56C4EB49-0EEB-CEA9-3AC5-573D6B93876C}"/>
            </a:ext>
          </a:extLst>
        </p:cNvPr>
        <p:cNvGrpSpPr/>
        <p:nvPr/>
      </p:nvGrpSpPr>
      <p:grpSpPr>
        <a:xfrm>
          <a:off x="0" y="0"/>
          <a:ext cx="0" cy="0"/>
          <a:chOff x="0" y="0"/>
          <a:chExt cx="0" cy="0"/>
        </a:xfrm>
      </p:grpSpPr>
      <p:sp>
        <p:nvSpPr>
          <p:cNvPr id="926722" name="Rectangle 2">
            <a:extLst>
              <a:ext uri="{FF2B5EF4-FFF2-40B4-BE49-F238E27FC236}">
                <a16:creationId xmlns:a16="http://schemas.microsoft.com/office/drawing/2014/main" id="{08EB07B8-5719-9759-1221-1ADAC5DB0161}"/>
              </a:ext>
            </a:extLst>
          </p:cNvPr>
          <p:cNvSpPr>
            <a:spLocks noGrp="1" noChangeArrowheads="1"/>
          </p:cNvSpPr>
          <p:nvPr>
            <p:ph type="title"/>
          </p:nvPr>
        </p:nvSpPr>
        <p:spPr/>
        <p:txBody>
          <a:bodyPr/>
          <a:lstStyle/>
          <a:p>
            <a:pPr>
              <a:defRPr/>
            </a:pPr>
            <a:r>
              <a:rPr lang="en-US" sz="2800" dirty="0">
                <a:ea typeface="ＭＳ Ｐゴシック" pitchFamily="34" charset="-128"/>
              </a:rPr>
              <a:t>Example</a:t>
            </a:r>
          </a:p>
        </p:txBody>
      </p:sp>
      <p:sp>
        <p:nvSpPr>
          <p:cNvPr id="926723" name="Rectangle 3">
            <a:extLst>
              <a:ext uri="{FF2B5EF4-FFF2-40B4-BE49-F238E27FC236}">
                <a16:creationId xmlns:a16="http://schemas.microsoft.com/office/drawing/2014/main" id="{E1D8F4C5-A577-C1FA-CEA4-3451CD42644A}"/>
              </a:ext>
            </a:extLst>
          </p:cNvPr>
          <p:cNvSpPr>
            <a:spLocks noGrp="1" noChangeArrowheads="1"/>
          </p:cNvSpPr>
          <p:nvPr>
            <p:ph idx="1"/>
          </p:nvPr>
        </p:nvSpPr>
        <p:spPr>
          <a:xfrm>
            <a:off x="508000" y="972458"/>
            <a:ext cx="8337549" cy="5573486"/>
          </a:xfrm>
        </p:spPr>
        <p:txBody>
          <a:bodyPr/>
          <a:lstStyle/>
          <a:p>
            <a:pPr marL="0" indent="0" algn="r" rtl="1">
              <a:buNone/>
            </a:pPr>
            <a:r>
              <a:rPr lang="fa-IR" sz="1800" dirty="0"/>
              <a:t>رابطه زیر را داریم:</a:t>
            </a:r>
          </a:p>
          <a:p>
            <a:pPr marL="0" indent="0" algn="r" rtl="1">
              <a:buNone/>
            </a:pPr>
            <a:r>
              <a:rPr lang="en-US" sz="1800" dirty="0"/>
              <a:t>R(A, B, C)</a:t>
            </a:r>
          </a:p>
          <a:p>
            <a:pPr marL="0" indent="0" algn="r" rtl="1">
              <a:buNone/>
            </a:pPr>
            <a:r>
              <a:rPr lang="fa-IR" sz="1800" dirty="0"/>
              <a:t>وابستگی‌های تابعی:</a:t>
            </a:r>
          </a:p>
          <a:p>
            <a:pPr marL="0" indent="0" algn="r" rtl="1">
              <a:buNone/>
            </a:pPr>
            <a:r>
              <a:rPr lang="en-US" sz="1800" dirty="0"/>
              <a:t>F = { A → B , B → C }</a:t>
            </a:r>
          </a:p>
          <a:p>
            <a:pPr marL="0" indent="0" algn="r" rtl="1">
              <a:buNone/>
            </a:pPr>
            <a:r>
              <a:rPr lang="fa-IR" sz="1800" dirty="0"/>
              <a:t>یعنی:</a:t>
            </a:r>
          </a:p>
          <a:p>
            <a:pPr marL="0" indent="0" algn="r" rtl="1">
              <a:buNone/>
            </a:pPr>
            <a:r>
              <a:rPr lang="fa-IR" sz="1800" dirty="0"/>
              <a:t>با دانستن </a:t>
            </a:r>
            <a:r>
              <a:rPr lang="en-US" sz="1800" dirty="0"/>
              <a:t>A </a:t>
            </a:r>
            <a:r>
              <a:rPr lang="fa-IR" sz="1800" dirty="0"/>
              <a:t>مقدار </a:t>
            </a:r>
            <a:r>
              <a:rPr lang="en-US" sz="1800" dirty="0"/>
              <a:t>B </a:t>
            </a:r>
            <a:r>
              <a:rPr lang="fa-IR" sz="1800" dirty="0"/>
              <a:t>مشخص می‌شود.</a:t>
            </a:r>
          </a:p>
          <a:p>
            <a:pPr marL="0" indent="0" algn="r" rtl="1">
              <a:buNone/>
            </a:pPr>
            <a:r>
              <a:rPr lang="fa-IR" sz="1800" dirty="0"/>
              <a:t>با دانستن </a:t>
            </a:r>
            <a:r>
              <a:rPr lang="en-US" sz="1800" dirty="0"/>
              <a:t>B </a:t>
            </a:r>
            <a:r>
              <a:rPr lang="fa-IR" sz="1800" dirty="0"/>
              <a:t>مقدار </a:t>
            </a:r>
            <a:r>
              <a:rPr lang="en-US" sz="1800" dirty="0"/>
              <a:t>C </a:t>
            </a:r>
            <a:r>
              <a:rPr lang="fa-IR" sz="1800" dirty="0"/>
              <a:t>مشخص می‌شود.</a:t>
            </a:r>
          </a:p>
          <a:p>
            <a:pPr marL="0" indent="0" algn="r" rtl="1">
              <a:buNone/>
            </a:pPr>
            <a:r>
              <a:rPr lang="fa-IR" sz="1800" dirty="0"/>
              <a:t>در نتیجه به‌صورت زنجیره‌ای:</a:t>
            </a:r>
            <a:br>
              <a:rPr lang="fa-IR" sz="1800" dirty="0"/>
            </a:br>
            <a:r>
              <a:rPr lang="en-US" sz="1800" dirty="0"/>
              <a:t>A → C </a:t>
            </a:r>
            <a:r>
              <a:rPr lang="fa-IR" sz="1800" dirty="0"/>
              <a:t>نیز برقرار است.</a:t>
            </a:r>
            <a:endParaRPr lang="en-US" sz="1800" dirty="0"/>
          </a:p>
          <a:p>
            <a:pPr marL="0" indent="0" algn="r" rtl="1">
              <a:buNone/>
            </a:pPr>
            <a:endParaRPr lang="fa-IR" sz="1800" dirty="0"/>
          </a:p>
        </p:txBody>
      </p:sp>
    </p:spTree>
    <p:extLst>
      <p:ext uri="{BB962C8B-B14F-4D97-AF65-F5344CB8AC3E}">
        <p14:creationId xmlns:p14="http://schemas.microsoft.com/office/powerpoint/2010/main" val="3329859188"/>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showMasterPhAnim="0">
  <p:cSld>
    <p:spTree>
      <p:nvGrpSpPr>
        <p:cNvPr id="1" name="">
          <a:extLst>
            <a:ext uri="{FF2B5EF4-FFF2-40B4-BE49-F238E27FC236}">
              <a16:creationId xmlns:a16="http://schemas.microsoft.com/office/drawing/2014/main" id="{AC43F246-0072-AEDE-3C56-61819D632CF2}"/>
            </a:ext>
          </a:extLst>
        </p:cNvPr>
        <p:cNvGrpSpPr/>
        <p:nvPr/>
      </p:nvGrpSpPr>
      <p:grpSpPr>
        <a:xfrm>
          <a:off x="0" y="0"/>
          <a:ext cx="0" cy="0"/>
          <a:chOff x="0" y="0"/>
          <a:chExt cx="0" cy="0"/>
        </a:xfrm>
      </p:grpSpPr>
      <p:sp>
        <p:nvSpPr>
          <p:cNvPr id="926722" name="Rectangle 2">
            <a:extLst>
              <a:ext uri="{FF2B5EF4-FFF2-40B4-BE49-F238E27FC236}">
                <a16:creationId xmlns:a16="http://schemas.microsoft.com/office/drawing/2014/main" id="{2402B2FA-52F9-73ED-2DEB-9ECDFC030872}"/>
              </a:ext>
            </a:extLst>
          </p:cNvPr>
          <p:cNvSpPr>
            <a:spLocks noGrp="1" noChangeArrowheads="1"/>
          </p:cNvSpPr>
          <p:nvPr>
            <p:ph type="title"/>
          </p:nvPr>
        </p:nvSpPr>
        <p:spPr/>
        <p:txBody>
          <a:bodyPr/>
          <a:lstStyle/>
          <a:p>
            <a:pPr>
              <a:defRPr/>
            </a:pPr>
            <a:r>
              <a:rPr lang="en-US" sz="2800" dirty="0">
                <a:ea typeface="ＭＳ Ｐゴシック" pitchFamily="34" charset="-128"/>
              </a:rPr>
              <a:t>Example</a:t>
            </a:r>
          </a:p>
        </p:txBody>
      </p:sp>
      <p:sp>
        <p:nvSpPr>
          <p:cNvPr id="926723" name="Rectangle 3">
            <a:extLst>
              <a:ext uri="{FF2B5EF4-FFF2-40B4-BE49-F238E27FC236}">
                <a16:creationId xmlns:a16="http://schemas.microsoft.com/office/drawing/2014/main" id="{4F7DA3A5-E1C9-02EB-0E3B-F269923E87F1}"/>
              </a:ext>
            </a:extLst>
          </p:cNvPr>
          <p:cNvSpPr>
            <a:spLocks noGrp="1" noChangeArrowheads="1"/>
          </p:cNvSpPr>
          <p:nvPr>
            <p:ph idx="1"/>
          </p:nvPr>
        </p:nvSpPr>
        <p:spPr>
          <a:xfrm>
            <a:off x="508000" y="972458"/>
            <a:ext cx="8337549" cy="5573486"/>
          </a:xfrm>
        </p:spPr>
        <p:txBody>
          <a:bodyPr/>
          <a:lstStyle/>
          <a:p>
            <a:pPr marL="0" indent="0" algn="r" rtl="1">
              <a:buNone/>
            </a:pPr>
            <a:r>
              <a:rPr lang="fa-IR" sz="1600" dirty="0"/>
              <a:t>رابطه زیر را داریم:</a:t>
            </a:r>
            <a:r>
              <a:rPr lang="en-US" sz="1600" dirty="0"/>
              <a:t> R(A, B, C)</a:t>
            </a:r>
          </a:p>
          <a:p>
            <a:pPr marL="0" indent="0" algn="r" rtl="1">
              <a:buNone/>
            </a:pPr>
            <a:r>
              <a:rPr lang="fa-IR" sz="1600" dirty="0"/>
              <a:t>وابستگی‌های تابعی:</a:t>
            </a:r>
          </a:p>
          <a:p>
            <a:pPr marL="0" indent="0" algn="r" rtl="1">
              <a:buNone/>
            </a:pPr>
            <a:r>
              <a:rPr lang="en-US" sz="1600" dirty="0"/>
              <a:t>F = { A → B , B → C }</a:t>
            </a:r>
          </a:p>
          <a:p>
            <a:pPr marL="0" indent="0" algn="r" rtl="1">
              <a:buNone/>
            </a:pPr>
            <a:endParaRPr lang="fa-IR" sz="1100" dirty="0"/>
          </a:p>
        </p:txBody>
      </p:sp>
      <mc:AlternateContent xmlns:mc="http://schemas.openxmlformats.org/markup-compatibility/2006">
        <mc:Choice xmlns:a14="http://schemas.microsoft.com/office/drawing/2010/main" Requires="a14">
          <p:sp>
            <p:nvSpPr>
              <p:cNvPr id="3" name="TextBox 2">
                <a:extLst>
                  <a:ext uri="{FF2B5EF4-FFF2-40B4-BE49-F238E27FC236}">
                    <a16:creationId xmlns:a16="http://schemas.microsoft.com/office/drawing/2014/main" id="{4E738E69-009A-1B18-8794-6B30B36DA979}"/>
                  </a:ext>
                </a:extLst>
              </p:cNvPr>
              <p:cNvSpPr txBox="1"/>
              <p:nvPr/>
            </p:nvSpPr>
            <p:spPr>
              <a:xfrm>
                <a:off x="99989" y="2859259"/>
                <a:ext cx="4572000" cy="3416320"/>
              </a:xfrm>
              <a:prstGeom prst="rect">
                <a:avLst/>
              </a:prstGeom>
              <a:noFill/>
            </p:spPr>
            <p:txBody>
              <a:bodyPr wrap="square">
                <a:spAutoFit/>
              </a:bodyPr>
              <a:lstStyle/>
              <a:p>
                <a:pPr algn="r" rtl="1">
                  <a:buNone/>
                </a:pPr>
                <a:r>
                  <a:rPr lang="fa-IR" sz="1800" b="1" dirty="0">
                    <a:cs typeface="B Nazanin" panose="00000400000000000000" pitchFamily="2" charset="-78"/>
                  </a:rPr>
                  <a:t>حالت دوم: تجزیه به </a:t>
                </a:r>
                <a:r>
                  <a:rPr lang="en-US" sz="1800" b="1" dirty="0">
                    <a:cs typeface="B Nazanin" panose="00000400000000000000" pitchFamily="2" charset="-78"/>
                  </a:rPr>
                  <a:t>R1 </a:t>
                </a:r>
                <a:r>
                  <a:rPr lang="fa-IR" sz="1800" b="1" dirty="0">
                    <a:cs typeface="B Nazanin" panose="00000400000000000000" pitchFamily="2" charset="-78"/>
                  </a:rPr>
                  <a:t>و </a:t>
                </a:r>
                <a:r>
                  <a:rPr lang="en-US" sz="1800" b="1" dirty="0">
                    <a:cs typeface="B Nazanin" panose="00000400000000000000" pitchFamily="2" charset="-78"/>
                  </a:rPr>
                  <a:t>R2</a:t>
                </a:r>
              </a:p>
              <a:p>
                <a:pPr rtl="1">
                  <a:buNone/>
                </a:pPr>
                <a:r>
                  <a:rPr lang="en-US" sz="1800" dirty="0">
                    <a:cs typeface="B Nazanin" panose="00000400000000000000" pitchFamily="2" charset="-78"/>
                  </a:rPr>
                  <a:t>R1(A, B)</a:t>
                </a:r>
                <a:br>
                  <a:rPr lang="en-US" sz="1800" dirty="0">
                    <a:cs typeface="B Nazanin" panose="00000400000000000000" pitchFamily="2" charset="-78"/>
                  </a:rPr>
                </a:br>
                <a:r>
                  <a:rPr lang="en-US" sz="1800" dirty="0">
                    <a:cs typeface="B Nazanin" panose="00000400000000000000" pitchFamily="2" charset="-78"/>
                  </a:rPr>
                  <a:t>R2(A, C)</a:t>
                </a:r>
              </a:p>
              <a:p>
                <a:pPr algn="r" rtl="1">
                  <a:buNone/>
                </a:pPr>
                <a:r>
                  <a:rPr lang="fa-IR" sz="1800" dirty="0">
                    <a:cs typeface="B Nazanin" panose="00000400000000000000" pitchFamily="2" charset="-78"/>
                  </a:rPr>
                  <a:t>شرط تجزیه بدون اتلاف</a:t>
                </a:r>
              </a:p>
              <a:p>
                <a:pPr algn="r" rtl="1">
                  <a:buFont typeface="Arial" panose="020B0604020202020204" pitchFamily="34" charset="0"/>
                  <a:buChar char="•"/>
                </a:pPr>
                <a:r>
                  <a:rPr lang="fa-IR" sz="1800" dirty="0">
                    <a:cs typeface="B Nazanin" panose="00000400000000000000" pitchFamily="2" charset="-78"/>
                  </a:rPr>
                  <a:t>اشتراک:</a:t>
                </a:r>
              </a:p>
              <a:p>
                <a:pPr algn="r" rtl="1">
                  <a:buNone/>
                </a:pPr>
                <a14:m>
                  <m:oMathPara xmlns:m="http://schemas.openxmlformats.org/officeDocument/2006/math">
                    <m:oMathParaPr>
                      <m:jc m:val="centerGroup"/>
                    </m:oMathParaPr>
                    <m:oMath xmlns:m="http://schemas.openxmlformats.org/officeDocument/2006/math">
                      <m:r>
                        <a:rPr lang="fa-IR" sz="1800" b="0" i="1" smtClean="0">
                          <a:latin typeface="Cambria Math" panose="02040503050406030204" pitchFamily="18" charset="0"/>
                        </a:rPr>
                        <m:t>𝑅</m:t>
                      </m:r>
                      <m:r>
                        <a:rPr lang="fa-IR" sz="1800" b="0" i="0" smtClean="0">
                          <a:latin typeface="Cambria Math" panose="02040503050406030204" pitchFamily="18" charset="0"/>
                        </a:rPr>
                        <m:t>1</m:t>
                      </m:r>
                      <m:r>
                        <a:rPr lang="fa-IR" sz="1800" b="0" i="0" smtClean="0">
                          <a:latin typeface="Cambria Math" panose="02040503050406030204" pitchFamily="18" charset="0"/>
                        </a:rPr>
                        <m:t>∩</m:t>
                      </m:r>
                      <m:r>
                        <a:rPr lang="fa-IR" sz="1800" b="0" i="1" smtClean="0">
                          <a:latin typeface="Cambria Math" panose="02040503050406030204" pitchFamily="18" charset="0"/>
                        </a:rPr>
                        <m:t>𝑅</m:t>
                      </m:r>
                      <m:r>
                        <a:rPr lang="fa-IR" sz="1800" b="0" i="0" smtClean="0">
                          <a:latin typeface="Cambria Math" panose="02040503050406030204" pitchFamily="18" charset="0"/>
                        </a:rPr>
                        <m:t>2</m:t>
                      </m:r>
                      <m:r>
                        <a:rPr lang="fa-IR" sz="1800" b="0" i="0" smtClean="0">
                          <a:latin typeface="Cambria Math" panose="02040503050406030204" pitchFamily="18" charset="0"/>
                        </a:rPr>
                        <m:t>=</m:t>
                      </m:r>
                      <m:d>
                        <m:dPr>
                          <m:begChr m:val="{"/>
                          <m:endChr m:val="}"/>
                          <m:ctrlPr>
                            <a:rPr lang="fa-IR" sz="1800" i="1">
                              <a:latin typeface="Cambria Math" panose="02040503050406030204" pitchFamily="18" charset="0"/>
                            </a:rPr>
                          </m:ctrlPr>
                        </m:dPr>
                        <m:e>
                          <m:r>
                            <a:rPr lang="fa-IR" sz="1800" b="0" i="1" smtClean="0">
                              <a:latin typeface="Cambria Math" panose="02040503050406030204" pitchFamily="18" charset="0"/>
                            </a:rPr>
                            <m:t>𝐴</m:t>
                          </m:r>
                        </m:e>
                      </m:d>
                    </m:oMath>
                  </m:oMathPara>
                </a14:m>
                <a:endParaRPr lang="fa-IR" sz="1800" dirty="0">
                  <a:cs typeface="B Nazanin" panose="00000400000000000000" pitchFamily="2" charset="-78"/>
                </a:endParaRPr>
              </a:p>
              <a:p>
                <a:pPr algn="r" rtl="1">
                  <a:buFont typeface="Arial" panose="020B0604020202020204" pitchFamily="34" charset="0"/>
                  <a:buChar char="•"/>
                </a:pPr>
                <a:r>
                  <a:rPr lang="fa-IR" sz="1800" dirty="0">
                    <a:cs typeface="B Nazanin" panose="00000400000000000000" pitchFamily="2" charset="-78"/>
                  </a:rPr>
                  <a:t>بررسی وابستگی:</a:t>
                </a:r>
              </a:p>
              <a:p>
                <a:pPr algn="r" rtl="1">
                  <a:buNone/>
                </a:pPr>
                <a14:m>
                  <m:oMathPara xmlns:m="http://schemas.openxmlformats.org/officeDocument/2006/math">
                    <m:oMathParaPr>
                      <m:jc m:val="centerGroup"/>
                    </m:oMathParaPr>
                    <m:oMath xmlns:m="http://schemas.openxmlformats.org/officeDocument/2006/math">
                      <m:r>
                        <a:rPr lang="fa-IR" sz="1800" b="0" i="1" smtClean="0">
                          <a:latin typeface="Cambria Math" panose="02040503050406030204" pitchFamily="18" charset="0"/>
                        </a:rPr>
                        <m:t>𝐴</m:t>
                      </m:r>
                      <m:r>
                        <a:rPr lang="fa-IR" sz="1800" b="0" i="0" smtClean="0">
                          <a:latin typeface="Cambria Math" panose="02040503050406030204" pitchFamily="18" charset="0"/>
                        </a:rPr>
                        <m:t>→</m:t>
                      </m:r>
                      <m:r>
                        <a:rPr lang="fa-IR" sz="1800" b="0" i="1" smtClean="0">
                          <a:latin typeface="Cambria Math" panose="02040503050406030204" pitchFamily="18" charset="0"/>
                        </a:rPr>
                        <m:t>𝐴𝐵</m:t>
                      </m:r>
                    </m:oMath>
                  </m:oMathPara>
                </a14:m>
                <a:endParaRPr lang="fa-IR" sz="1800" dirty="0">
                  <a:cs typeface="B Nazanin" panose="00000400000000000000" pitchFamily="2" charset="-78"/>
                </a:endParaRPr>
              </a:p>
              <a:p>
                <a:pPr algn="r" rtl="1">
                  <a:buNone/>
                </a:pPr>
                <a:r>
                  <a:rPr lang="fa-IR" sz="1800" dirty="0">
                    <a:cs typeface="B Nazanin" panose="00000400000000000000" pitchFamily="2" charset="-78"/>
                  </a:rPr>
                  <a:t>یعنی با دانستن </a:t>
                </a:r>
                <a:r>
                  <a:rPr lang="en-US" sz="1800" dirty="0">
                    <a:cs typeface="B Nazanin" panose="00000400000000000000" pitchFamily="2" charset="-78"/>
                  </a:rPr>
                  <a:t>A </a:t>
                </a:r>
                <a:r>
                  <a:rPr lang="fa-IR" sz="1800" dirty="0">
                    <a:cs typeface="B Nazanin" panose="00000400000000000000" pitchFamily="2" charset="-78"/>
                  </a:rPr>
                  <a:t>می‌توان کل </a:t>
                </a:r>
                <a:r>
                  <a:rPr lang="en-US" sz="1800" dirty="0">
                    <a:cs typeface="B Nazanin" panose="00000400000000000000" pitchFamily="2" charset="-78"/>
                  </a:rPr>
                  <a:t>R1(A, B) </a:t>
                </a:r>
                <a:r>
                  <a:rPr lang="fa-IR" sz="1800" dirty="0">
                    <a:cs typeface="B Nazanin" panose="00000400000000000000" pitchFamily="2" charset="-78"/>
                  </a:rPr>
                  <a:t>را به‌دست آورد.</a:t>
                </a:r>
              </a:p>
              <a:p>
                <a:pPr algn="r" rtl="1">
                  <a:buNone/>
                </a:pPr>
                <a:r>
                  <a:rPr lang="fa-IR" sz="1800" dirty="0">
                    <a:cs typeface="B Nazanin" panose="00000400000000000000" pitchFamily="2" charset="-78"/>
                  </a:rPr>
                  <a:t>نتیجه</a:t>
                </a:r>
              </a:p>
              <a:p>
                <a:pPr algn="r" rtl="1">
                  <a:buNone/>
                </a:pPr>
                <a:r>
                  <a:rPr lang="fa-IR" sz="1800" dirty="0">
                    <a:cs typeface="B Nazanin" panose="00000400000000000000" pitchFamily="2" charset="-78"/>
                  </a:rPr>
                  <a:t>این تجزیه هم بدون اتلاف است، چون اشتراک </a:t>
                </a:r>
                <a:r>
                  <a:rPr lang="en-US" sz="1800" dirty="0">
                    <a:cs typeface="B Nazanin" panose="00000400000000000000" pitchFamily="2" charset="-78"/>
                  </a:rPr>
                  <a:t>A </a:t>
                </a:r>
                <a:r>
                  <a:rPr lang="fa-IR" sz="1800" dirty="0">
                    <a:cs typeface="B Nazanin" panose="00000400000000000000" pitchFamily="2" charset="-78"/>
                  </a:rPr>
                  <a:t>یک کلید برای </a:t>
                </a:r>
                <a:r>
                  <a:rPr lang="en-US" sz="1800" dirty="0">
                    <a:cs typeface="B Nazanin" panose="00000400000000000000" pitchFamily="2" charset="-78"/>
                  </a:rPr>
                  <a:t>R1 </a:t>
                </a:r>
                <a:r>
                  <a:rPr lang="fa-IR" sz="1800" dirty="0">
                    <a:cs typeface="B Nazanin" panose="00000400000000000000" pitchFamily="2" charset="-78"/>
                  </a:rPr>
                  <a:t>است.</a:t>
                </a:r>
              </a:p>
            </p:txBody>
          </p:sp>
        </mc:Choice>
        <mc:Fallback>
          <p:sp>
            <p:nvSpPr>
              <p:cNvPr id="3" name="TextBox 2">
                <a:extLst>
                  <a:ext uri="{FF2B5EF4-FFF2-40B4-BE49-F238E27FC236}">
                    <a16:creationId xmlns:a16="http://schemas.microsoft.com/office/drawing/2014/main" id="{4E738E69-009A-1B18-8794-6B30B36DA979}"/>
                  </a:ext>
                </a:extLst>
              </p:cNvPr>
              <p:cNvSpPr txBox="1">
                <a:spLocks noRot="1" noChangeAspect="1" noMove="1" noResize="1" noEditPoints="1" noAdjustHandles="1" noChangeArrowheads="1" noChangeShapeType="1" noTextEdit="1"/>
              </p:cNvSpPr>
              <p:nvPr/>
            </p:nvSpPr>
            <p:spPr>
              <a:xfrm>
                <a:off x="99989" y="2859259"/>
                <a:ext cx="4572000" cy="3416320"/>
              </a:xfrm>
              <a:prstGeom prst="rect">
                <a:avLst/>
              </a:prstGeom>
              <a:blipFill>
                <a:blip r:embed="rId3"/>
                <a:stretch>
                  <a:fillRect l="-2000" t="-1607" r="-1333" b="-2500"/>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5" name="TextBox 4">
                <a:extLst>
                  <a:ext uri="{FF2B5EF4-FFF2-40B4-BE49-F238E27FC236}">
                    <a16:creationId xmlns:a16="http://schemas.microsoft.com/office/drawing/2014/main" id="{D6EC2F15-2D3D-AE0D-E782-89211AF5E56C}"/>
                  </a:ext>
                </a:extLst>
              </p:cNvPr>
              <p:cNvSpPr txBox="1"/>
              <p:nvPr/>
            </p:nvSpPr>
            <p:spPr>
              <a:xfrm>
                <a:off x="5098023" y="2539218"/>
                <a:ext cx="3806826" cy="3908762"/>
              </a:xfrm>
              <a:prstGeom prst="rect">
                <a:avLst/>
              </a:prstGeom>
              <a:noFill/>
            </p:spPr>
            <p:txBody>
              <a:bodyPr wrap="square">
                <a:spAutoFit/>
              </a:bodyPr>
              <a:lstStyle/>
              <a:p>
                <a:pPr marL="0" indent="0" algn="r" rtl="1">
                  <a:buNone/>
                </a:pPr>
                <a:r>
                  <a:rPr lang="fa-IR" sz="1600" b="1" dirty="0">
                    <a:cs typeface="B Nazanin" panose="00000400000000000000" pitchFamily="2" charset="-78"/>
                  </a:rPr>
                  <a:t>حالت اول: تجزیه به </a:t>
                </a:r>
                <a:r>
                  <a:rPr lang="en-US" sz="1600" b="1" dirty="0">
                    <a:cs typeface="B Nazanin" panose="00000400000000000000" pitchFamily="2" charset="-78"/>
                  </a:rPr>
                  <a:t>R1 </a:t>
                </a:r>
                <a:r>
                  <a:rPr lang="fa-IR" sz="1600" b="1" dirty="0">
                    <a:cs typeface="B Nazanin" panose="00000400000000000000" pitchFamily="2" charset="-78"/>
                  </a:rPr>
                  <a:t>و </a:t>
                </a:r>
                <a:r>
                  <a:rPr lang="en-US" sz="1600" b="1" dirty="0">
                    <a:cs typeface="B Nazanin" panose="00000400000000000000" pitchFamily="2" charset="-78"/>
                  </a:rPr>
                  <a:t>R2</a:t>
                </a:r>
              </a:p>
              <a:p>
                <a:pPr marL="0" indent="0" algn="l">
                  <a:buNone/>
                </a:pPr>
                <a:r>
                  <a:rPr lang="en-US" sz="1600" dirty="0">
                    <a:cs typeface="B Nazanin" panose="00000400000000000000" pitchFamily="2" charset="-78"/>
                  </a:rPr>
                  <a:t>R1(A, B)</a:t>
                </a:r>
                <a:br>
                  <a:rPr lang="en-US" sz="1600" dirty="0">
                    <a:cs typeface="B Nazanin" panose="00000400000000000000" pitchFamily="2" charset="-78"/>
                  </a:rPr>
                </a:br>
                <a:r>
                  <a:rPr lang="en-US" sz="1600" dirty="0">
                    <a:cs typeface="B Nazanin" panose="00000400000000000000" pitchFamily="2" charset="-78"/>
                  </a:rPr>
                  <a:t>R2(B, C)</a:t>
                </a:r>
              </a:p>
              <a:p>
                <a:pPr marL="0" indent="0" algn="r" rtl="1">
                  <a:buNone/>
                </a:pPr>
                <a:r>
                  <a:rPr lang="fa-IR" sz="1600" b="1" dirty="0">
                    <a:cs typeface="B Nazanin" panose="00000400000000000000" pitchFamily="2" charset="-78"/>
                  </a:rPr>
                  <a:t>شرط تجزیه بدون اتلاف</a:t>
                </a:r>
              </a:p>
              <a:p>
                <a:pPr marL="0" indent="0" algn="r" rtl="1">
                  <a:buNone/>
                </a:pPr>
                <a:r>
                  <a:rPr lang="fa-IR" sz="1600" dirty="0">
                    <a:cs typeface="B Nazanin" panose="00000400000000000000" pitchFamily="2" charset="-78"/>
                  </a:rPr>
                  <a:t>برای بدون اتلاف بودن تجزیه، باید اشتراک دو رابطه بتواند یکی از آن‌ها را تعیین کند.</a:t>
                </a:r>
              </a:p>
              <a:p>
                <a:pPr marL="0" indent="0" algn="r" rtl="1">
                  <a:buNone/>
                </a:pPr>
                <a:r>
                  <a:rPr lang="fa-IR" sz="1600" dirty="0">
                    <a:cs typeface="B Nazanin" panose="00000400000000000000" pitchFamily="2" charset="-78"/>
                  </a:rPr>
                  <a:t>اشتراک:</a:t>
                </a:r>
              </a:p>
              <a:p>
                <a:pPr marL="0" indent="0" algn="r" rtl="1">
                  <a:buNone/>
                </a:pPr>
                <a14:m>
                  <m:oMathPara xmlns:m="http://schemas.openxmlformats.org/officeDocument/2006/math">
                    <m:oMathParaPr>
                      <m:jc m:val="centerGroup"/>
                    </m:oMathParaPr>
                    <m:oMath xmlns:m="http://schemas.openxmlformats.org/officeDocument/2006/math">
                      <m:r>
                        <a:rPr lang="fa-IR" i="1">
                          <a:latin typeface="Cambria Math" panose="02040503050406030204" pitchFamily="18" charset="0"/>
                        </a:rPr>
                        <m:t>𝑅</m:t>
                      </m:r>
                      <m:r>
                        <a:rPr lang="fa-IR">
                          <a:latin typeface="Cambria Math" panose="02040503050406030204" pitchFamily="18" charset="0"/>
                        </a:rPr>
                        <m:t>1</m:t>
                      </m:r>
                      <m:r>
                        <a:rPr lang="fa-IR">
                          <a:latin typeface="Cambria Math" panose="02040503050406030204" pitchFamily="18" charset="0"/>
                        </a:rPr>
                        <m:t>∩</m:t>
                      </m:r>
                      <m:r>
                        <a:rPr lang="fa-IR" i="1">
                          <a:latin typeface="Cambria Math" panose="02040503050406030204" pitchFamily="18" charset="0"/>
                        </a:rPr>
                        <m:t>𝑅</m:t>
                      </m:r>
                      <m:r>
                        <a:rPr lang="fa-IR">
                          <a:latin typeface="Cambria Math" panose="02040503050406030204" pitchFamily="18" charset="0"/>
                        </a:rPr>
                        <m:t>2</m:t>
                      </m:r>
                      <m:r>
                        <a:rPr lang="fa-IR">
                          <a:latin typeface="Cambria Math" panose="02040503050406030204" pitchFamily="18" charset="0"/>
                        </a:rPr>
                        <m:t>=</m:t>
                      </m:r>
                      <m:d>
                        <m:dPr>
                          <m:begChr m:val="{"/>
                          <m:endChr m:val="}"/>
                          <m:ctrlPr>
                            <a:rPr lang="fa-IR" i="1">
                              <a:latin typeface="Cambria Math" panose="02040503050406030204" pitchFamily="18" charset="0"/>
                            </a:rPr>
                          </m:ctrlPr>
                        </m:dPr>
                        <m:e>
                          <m:r>
                            <a:rPr lang="fa-IR" i="1">
                              <a:latin typeface="Cambria Math" panose="02040503050406030204" pitchFamily="18" charset="0"/>
                            </a:rPr>
                            <m:t>𝐵</m:t>
                          </m:r>
                        </m:e>
                      </m:d>
                    </m:oMath>
                  </m:oMathPara>
                </a14:m>
                <a:endParaRPr lang="fa-IR" sz="1600" dirty="0">
                  <a:cs typeface="B Nazanin" panose="00000400000000000000" pitchFamily="2" charset="-78"/>
                </a:endParaRPr>
              </a:p>
              <a:p>
                <a:pPr marL="0" indent="0" algn="r" rtl="1">
                  <a:buNone/>
                </a:pPr>
                <a:r>
                  <a:rPr lang="fa-IR" sz="1600" dirty="0">
                    <a:cs typeface="B Nazanin" panose="00000400000000000000" pitchFamily="2" charset="-78"/>
                  </a:rPr>
                  <a:t>بررسی وابستگی:</a:t>
                </a:r>
              </a:p>
              <a:p>
                <a:pPr marL="0" indent="0" algn="r" rtl="1">
                  <a:buNone/>
                </a:pPr>
                <a14:m>
                  <m:oMathPara xmlns:m="http://schemas.openxmlformats.org/officeDocument/2006/math">
                    <m:oMathParaPr>
                      <m:jc m:val="centerGroup"/>
                    </m:oMathParaPr>
                    <m:oMath xmlns:m="http://schemas.openxmlformats.org/officeDocument/2006/math">
                      <m:r>
                        <a:rPr lang="fa-IR" sz="2400" i="1">
                          <a:latin typeface="Cambria Math" panose="02040503050406030204" pitchFamily="18" charset="0"/>
                        </a:rPr>
                        <m:t>𝐵</m:t>
                      </m:r>
                      <m:r>
                        <a:rPr lang="fa-IR" sz="2400">
                          <a:latin typeface="Cambria Math" panose="02040503050406030204" pitchFamily="18" charset="0"/>
                        </a:rPr>
                        <m:t>→</m:t>
                      </m:r>
                      <m:r>
                        <a:rPr lang="fa-IR" sz="2400" i="1">
                          <a:latin typeface="Cambria Math" panose="02040503050406030204" pitchFamily="18" charset="0"/>
                        </a:rPr>
                        <m:t>𝐵𝐶</m:t>
                      </m:r>
                    </m:oMath>
                  </m:oMathPara>
                </a14:m>
                <a:endParaRPr lang="fa-IR" sz="1200" dirty="0">
                  <a:cs typeface="B Nazanin" panose="00000400000000000000" pitchFamily="2" charset="-78"/>
                </a:endParaRPr>
              </a:p>
              <a:p>
                <a:pPr marL="0" indent="0" algn="r" rtl="1">
                  <a:buNone/>
                </a:pPr>
                <a:r>
                  <a:rPr lang="fa-IR" sz="1600" dirty="0">
                    <a:cs typeface="B Nazanin" panose="00000400000000000000" pitchFamily="2" charset="-78"/>
                  </a:rPr>
                  <a:t>یعنی با دانستن </a:t>
                </a:r>
                <a:r>
                  <a:rPr lang="en-US" sz="1600" b="1" dirty="0">
                    <a:cs typeface="B Nazanin" panose="00000400000000000000" pitchFamily="2" charset="-78"/>
                  </a:rPr>
                  <a:t>B</a:t>
                </a:r>
                <a:r>
                  <a:rPr lang="en-US" sz="1600" dirty="0">
                    <a:cs typeface="B Nazanin" panose="00000400000000000000" pitchFamily="2" charset="-78"/>
                  </a:rPr>
                  <a:t> </a:t>
                </a:r>
                <a:r>
                  <a:rPr lang="fa-IR" sz="1600" dirty="0">
                    <a:cs typeface="B Nazanin" panose="00000400000000000000" pitchFamily="2" charset="-78"/>
                  </a:rPr>
                  <a:t>می‌توان کل </a:t>
                </a:r>
                <a:r>
                  <a:rPr lang="en-US" sz="1600" b="1" dirty="0">
                    <a:cs typeface="B Nazanin" panose="00000400000000000000" pitchFamily="2" charset="-78"/>
                  </a:rPr>
                  <a:t>R2(B, C)</a:t>
                </a:r>
                <a:r>
                  <a:rPr lang="en-US" sz="1600" dirty="0">
                    <a:cs typeface="B Nazanin" panose="00000400000000000000" pitchFamily="2" charset="-78"/>
                  </a:rPr>
                  <a:t> </a:t>
                </a:r>
                <a:r>
                  <a:rPr lang="fa-IR" sz="1600" dirty="0">
                    <a:cs typeface="B Nazanin" panose="00000400000000000000" pitchFamily="2" charset="-78"/>
                  </a:rPr>
                  <a:t>را به‌دست آورد.</a:t>
                </a:r>
              </a:p>
              <a:p>
                <a:pPr marL="0" indent="0" algn="r" rtl="1">
                  <a:buNone/>
                </a:pPr>
                <a:r>
                  <a:rPr lang="fa-IR" sz="1600" b="1" dirty="0">
                    <a:cs typeface="B Nazanin" panose="00000400000000000000" pitchFamily="2" charset="-78"/>
                  </a:rPr>
                  <a:t>نتیجه</a:t>
                </a:r>
              </a:p>
              <a:p>
                <a:pPr marL="0" indent="0" algn="r" rtl="1">
                  <a:buNone/>
                </a:pPr>
                <a:r>
                  <a:rPr lang="fa-IR" sz="1600" dirty="0">
                    <a:cs typeface="B Nazanin" panose="00000400000000000000" pitchFamily="2" charset="-78"/>
                  </a:rPr>
                  <a:t>این تجزیه </a:t>
                </a:r>
                <a:r>
                  <a:rPr lang="fa-IR" sz="1600" b="1" dirty="0">
                    <a:cs typeface="B Nazanin" panose="00000400000000000000" pitchFamily="2" charset="-78"/>
                  </a:rPr>
                  <a:t>بدون اتلاف</a:t>
                </a:r>
                <a:r>
                  <a:rPr lang="fa-IR" sz="1600" dirty="0">
                    <a:cs typeface="B Nazanin" panose="00000400000000000000" pitchFamily="2" charset="-78"/>
                  </a:rPr>
                  <a:t> است، چون اشتراک </a:t>
                </a:r>
                <a:r>
                  <a:rPr lang="en-US" sz="1600" b="1" dirty="0">
                    <a:cs typeface="B Nazanin" panose="00000400000000000000" pitchFamily="2" charset="-78"/>
                  </a:rPr>
                  <a:t>B</a:t>
                </a:r>
                <a:r>
                  <a:rPr lang="en-US" sz="1600" dirty="0">
                    <a:cs typeface="B Nazanin" panose="00000400000000000000" pitchFamily="2" charset="-78"/>
                  </a:rPr>
                  <a:t> </a:t>
                </a:r>
                <a:r>
                  <a:rPr lang="fa-IR" sz="1600" dirty="0">
                    <a:cs typeface="B Nazanin" panose="00000400000000000000" pitchFamily="2" charset="-78"/>
                  </a:rPr>
                  <a:t>یک کلید برای </a:t>
                </a:r>
                <a:r>
                  <a:rPr lang="en-US" sz="1600" b="1" dirty="0">
                    <a:cs typeface="B Nazanin" panose="00000400000000000000" pitchFamily="2" charset="-78"/>
                  </a:rPr>
                  <a:t>R2</a:t>
                </a:r>
                <a:r>
                  <a:rPr lang="en-US" sz="1600" dirty="0">
                    <a:cs typeface="B Nazanin" panose="00000400000000000000" pitchFamily="2" charset="-78"/>
                  </a:rPr>
                  <a:t> </a:t>
                </a:r>
                <a:r>
                  <a:rPr lang="fa-IR" sz="1600" dirty="0">
                    <a:cs typeface="B Nazanin" panose="00000400000000000000" pitchFamily="2" charset="-78"/>
                  </a:rPr>
                  <a:t>است.</a:t>
                </a:r>
                <a:endParaRPr lang="fa-IR" sz="1100" dirty="0">
                  <a:cs typeface="B Nazanin" panose="00000400000000000000" pitchFamily="2" charset="-78"/>
                </a:endParaRPr>
              </a:p>
            </p:txBody>
          </p:sp>
        </mc:Choice>
        <mc:Fallback>
          <p:sp>
            <p:nvSpPr>
              <p:cNvPr id="5" name="TextBox 4">
                <a:extLst>
                  <a:ext uri="{FF2B5EF4-FFF2-40B4-BE49-F238E27FC236}">
                    <a16:creationId xmlns:a16="http://schemas.microsoft.com/office/drawing/2014/main" id="{D6EC2F15-2D3D-AE0D-E782-89211AF5E56C}"/>
                  </a:ext>
                </a:extLst>
              </p:cNvPr>
              <p:cNvSpPr txBox="1">
                <a:spLocks noRot="1" noChangeAspect="1" noMove="1" noResize="1" noEditPoints="1" noAdjustHandles="1" noChangeArrowheads="1" noChangeShapeType="1" noTextEdit="1"/>
              </p:cNvSpPr>
              <p:nvPr/>
            </p:nvSpPr>
            <p:spPr>
              <a:xfrm>
                <a:off x="5098023" y="2539218"/>
                <a:ext cx="3806826" cy="3908762"/>
              </a:xfrm>
              <a:prstGeom prst="rect">
                <a:avLst/>
              </a:prstGeom>
              <a:blipFill>
                <a:blip r:embed="rId4"/>
                <a:stretch>
                  <a:fillRect l="-800" t="-1092" r="-800" b="-1404"/>
                </a:stretch>
              </a:blipFill>
            </p:spPr>
            <p:txBody>
              <a:bodyPr/>
              <a:lstStyle/>
              <a:p>
                <a:r>
                  <a:rPr lang="en-US">
                    <a:noFill/>
                  </a:rPr>
                  <a:t> </a:t>
                </a:r>
              </a:p>
            </p:txBody>
          </p:sp>
        </mc:Fallback>
      </mc:AlternateContent>
      <p:sp>
        <p:nvSpPr>
          <p:cNvPr id="6" name="Rectangle 5">
            <a:extLst>
              <a:ext uri="{FF2B5EF4-FFF2-40B4-BE49-F238E27FC236}">
                <a16:creationId xmlns:a16="http://schemas.microsoft.com/office/drawing/2014/main" id="{0630FDA6-7B47-96D3-A942-DBB23E8835EF}"/>
              </a:ext>
            </a:extLst>
          </p:cNvPr>
          <p:cNvSpPr/>
          <p:nvPr/>
        </p:nvSpPr>
        <p:spPr bwMode="auto">
          <a:xfrm>
            <a:off x="4804117" y="1659988"/>
            <a:ext cx="161778" cy="4768947"/>
          </a:xfrm>
          <a:prstGeom prst="rect">
            <a:avLst/>
          </a:prstGeom>
          <a:solidFill>
            <a:schemeClr val="accent1"/>
          </a:solidFill>
          <a:ln w="9525" cap="flat" cmpd="sng" algn="ctr">
            <a:solidFill>
              <a:schemeClr val="tx1"/>
            </a:solidFill>
            <a:prstDash val="solid"/>
            <a:round/>
            <a:headEnd type="none" w="med" len="med"/>
            <a:tailEnd type="none" w="med" len="med"/>
          </a:ln>
          <a:effectLst/>
        </p:spPr>
        <p:txBody>
          <a:bodyPr vert="horz" wrap="non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US" sz="1600" b="0" i="0" u="none" strike="noStrike" cap="none" normalizeH="0" baseline="0">
              <a:ln>
                <a:noFill/>
              </a:ln>
              <a:solidFill>
                <a:schemeClr val="tx1"/>
              </a:solidFill>
              <a:effectLst/>
              <a:latin typeface="Helvetica" charset="0"/>
            </a:endParaRPr>
          </a:p>
        </p:txBody>
      </p:sp>
    </p:spTree>
    <p:extLst>
      <p:ext uri="{BB962C8B-B14F-4D97-AF65-F5344CB8AC3E}">
        <p14:creationId xmlns:p14="http://schemas.microsoft.com/office/powerpoint/2010/main" val="1038337991"/>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28066" name="Rectangle 2"/>
          <p:cNvSpPr>
            <a:spLocks noGrp="1" noChangeArrowheads="1"/>
          </p:cNvSpPr>
          <p:nvPr>
            <p:ph type="title"/>
          </p:nvPr>
        </p:nvSpPr>
        <p:spPr>
          <a:xfrm>
            <a:off x="709613" y="296949"/>
            <a:ext cx="7993062" cy="441325"/>
          </a:xfrm>
        </p:spPr>
        <p:txBody>
          <a:bodyPr/>
          <a:lstStyle/>
          <a:p>
            <a:pPr>
              <a:defRPr/>
            </a:pPr>
            <a:r>
              <a:rPr lang="en-US" altLang="en-US" sz="2800" dirty="0">
                <a:effectLst>
                  <a:outerShdw blurRad="38100" dist="38100" dir="2700000" algn="tl">
                    <a:srgbClr val="C0C0C0"/>
                  </a:outerShdw>
                </a:effectLst>
                <a:ea typeface="ＭＳ Ｐゴシック" pitchFamily="34" charset="-128"/>
              </a:rPr>
              <a:t>Dependency Preservation</a:t>
            </a:r>
          </a:p>
        </p:txBody>
      </p:sp>
      <p:sp>
        <p:nvSpPr>
          <p:cNvPr id="49155" name="Rectangle 3"/>
          <p:cNvSpPr>
            <a:spLocks noGrp="1" noChangeArrowheads="1"/>
          </p:cNvSpPr>
          <p:nvPr>
            <p:ph idx="1"/>
          </p:nvPr>
        </p:nvSpPr>
        <p:spPr>
          <a:xfrm>
            <a:off x="362857" y="1093787"/>
            <a:ext cx="7805783" cy="5350555"/>
          </a:xfrm>
        </p:spPr>
        <p:txBody>
          <a:bodyPr/>
          <a:lstStyle/>
          <a:p>
            <a:pPr algn="r" rtl="1"/>
            <a:r>
              <a:rPr lang="fa-IR" sz="2800" dirty="0"/>
              <a:t>بررسی </a:t>
            </a:r>
            <a:r>
              <a:rPr lang="fa-IR" sz="2800" dirty="0" err="1"/>
              <a:t>محدودیت‌های</a:t>
            </a:r>
            <a:r>
              <a:rPr lang="fa-IR" sz="2800" dirty="0"/>
              <a:t> وابستگی </a:t>
            </a:r>
            <a:r>
              <a:rPr lang="fa-IR" sz="2800" dirty="0" err="1"/>
              <a:t>تابعی</a:t>
            </a:r>
            <a:r>
              <a:rPr lang="fa-IR" sz="2800" dirty="0"/>
              <a:t> هر بار که پایگاه داده </a:t>
            </a:r>
            <a:r>
              <a:rPr lang="fa-IR" sz="2800" dirty="0" err="1"/>
              <a:t>به‌روزرسانی</a:t>
            </a:r>
            <a:r>
              <a:rPr lang="fa-IR" sz="2800" dirty="0"/>
              <a:t> </a:t>
            </a:r>
            <a:r>
              <a:rPr lang="fa-IR" sz="2800" dirty="0" err="1"/>
              <a:t>می‌شود</a:t>
            </a:r>
            <a:r>
              <a:rPr lang="fa-IR" sz="2800" dirty="0"/>
              <a:t> </a:t>
            </a:r>
            <a:r>
              <a:rPr lang="fa-IR" sz="2800" dirty="0" err="1"/>
              <a:t>می‌تواند</a:t>
            </a:r>
            <a:r>
              <a:rPr lang="fa-IR" sz="2800" dirty="0"/>
              <a:t> بسیار پرهزینه باشد.</a:t>
            </a:r>
          </a:p>
          <a:p>
            <a:pPr algn="r" rtl="1"/>
            <a:r>
              <a:rPr lang="fa-IR" sz="2800" dirty="0"/>
              <a:t>مفید است که پایگاه داده به </a:t>
            </a:r>
            <a:r>
              <a:rPr lang="fa-IR" sz="2800" dirty="0" err="1"/>
              <a:t>گونه‌ای</a:t>
            </a:r>
            <a:r>
              <a:rPr lang="fa-IR" sz="2800" dirty="0"/>
              <a:t> طراحی شود که بتوان </a:t>
            </a:r>
            <a:r>
              <a:rPr lang="fa-IR" sz="2800" dirty="0" err="1"/>
              <a:t>محدودیت‌ها</a:t>
            </a:r>
            <a:r>
              <a:rPr lang="fa-IR" sz="2800" dirty="0"/>
              <a:t> را </a:t>
            </a:r>
            <a:r>
              <a:rPr lang="fa-IR" sz="2800" dirty="0" err="1"/>
              <a:t>به‌صورت</a:t>
            </a:r>
            <a:r>
              <a:rPr lang="fa-IR" sz="2800" dirty="0"/>
              <a:t> کارآمد و سریع بررسی کرد.</a:t>
            </a:r>
          </a:p>
          <a:p>
            <a:pPr algn="r" rtl="1"/>
            <a:r>
              <a:rPr lang="fa-IR" sz="2800" dirty="0"/>
              <a:t>اگر بررسی یک وابستگی </a:t>
            </a:r>
            <a:r>
              <a:rPr lang="fa-IR" sz="2800" dirty="0" err="1"/>
              <a:t>تابعی</a:t>
            </a:r>
            <a:r>
              <a:rPr lang="fa-IR" sz="2800" dirty="0"/>
              <a:t> تنها با استفاده از یک رابطه قابل انجام باشد، هزینه بررسی آن بسیار کم خواهد بود.</a:t>
            </a:r>
          </a:p>
          <a:p>
            <a:pPr algn="r" rtl="1"/>
            <a:r>
              <a:rPr lang="fa-IR" sz="2800" dirty="0"/>
              <a:t>هنگام تجزیه یک رابطه ممکن است وضعیت </a:t>
            </a:r>
            <a:r>
              <a:rPr lang="fa-IR" sz="2800" dirty="0" err="1"/>
              <a:t>به‌گونه‌ای</a:t>
            </a:r>
            <a:r>
              <a:rPr lang="fa-IR" sz="2800" dirty="0"/>
              <a:t> شود که برای بررسی یک وابستگی </a:t>
            </a:r>
            <a:r>
              <a:rPr lang="fa-IR" sz="2800" dirty="0" err="1"/>
              <a:t>تابعی</a:t>
            </a:r>
            <a:r>
              <a:rPr lang="fa-IR" sz="2800" dirty="0"/>
              <a:t> مجبور به انجام ضرب دکارتی باشیم.</a:t>
            </a:r>
          </a:p>
          <a:p>
            <a:pPr algn="r" rtl="1"/>
            <a:r>
              <a:rPr lang="fa-IR" sz="2800" dirty="0" err="1"/>
              <a:t>تجزیه‌ای</a:t>
            </a:r>
            <a:r>
              <a:rPr lang="fa-IR" sz="2800" dirty="0"/>
              <a:t> که اجرای وابستگی </a:t>
            </a:r>
            <a:r>
              <a:rPr lang="fa-IR" sz="2800" dirty="0" err="1"/>
              <a:t>تابعی</a:t>
            </a:r>
            <a:r>
              <a:rPr lang="fa-IR" sz="2800" dirty="0"/>
              <a:t> را از نظر </a:t>
            </a:r>
            <a:r>
              <a:rPr lang="fa-IR" sz="2800" dirty="0" err="1"/>
              <a:t>محاسباتی</a:t>
            </a:r>
            <a:r>
              <a:rPr lang="fa-IR" sz="2800" dirty="0"/>
              <a:t> دشوار کند، «</a:t>
            </a:r>
            <a:r>
              <a:rPr lang="fa-IR" sz="2800" dirty="0" err="1"/>
              <a:t>حفظ‌کننده</a:t>
            </a:r>
            <a:r>
              <a:rPr lang="fa-IR" sz="2800" dirty="0"/>
              <a:t> وابستگی» محسوب </a:t>
            </a:r>
            <a:r>
              <a:rPr lang="fa-IR" sz="2800" dirty="0" err="1"/>
              <a:t>نمی‌شود</a:t>
            </a:r>
            <a:r>
              <a:rPr lang="fa-IR" sz="2800" dirty="0"/>
              <a:t>.</a:t>
            </a:r>
          </a:p>
        </p:txBody>
      </p:sp>
    </p:spTree>
    <p:extLst>
      <p:ext uri="{BB962C8B-B14F-4D97-AF65-F5344CB8AC3E}">
        <p14:creationId xmlns:p14="http://schemas.microsoft.com/office/powerpoint/2010/main" val="326025700"/>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28066" name="Rectangle 2"/>
          <p:cNvSpPr>
            <a:spLocks noGrp="1" noChangeArrowheads="1"/>
          </p:cNvSpPr>
          <p:nvPr>
            <p:ph type="title"/>
          </p:nvPr>
        </p:nvSpPr>
        <p:spPr>
          <a:xfrm>
            <a:off x="709613" y="264699"/>
            <a:ext cx="7993062" cy="497639"/>
          </a:xfrm>
        </p:spPr>
        <p:txBody>
          <a:bodyPr/>
          <a:lstStyle/>
          <a:p>
            <a:pPr>
              <a:defRPr/>
            </a:pPr>
            <a:r>
              <a:rPr lang="en-US" altLang="en-US" sz="2800" dirty="0">
                <a:effectLst>
                  <a:outerShdw blurRad="38100" dist="38100" dir="2700000" algn="tl">
                    <a:srgbClr val="C0C0C0"/>
                  </a:outerShdw>
                </a:effectLst>
                <a:ea typeface="ＭＳ Ｐゴシック" pitchFamily="34" charset="-128"/>
              </a:rPr>
              <a:t>Dependency Preservation Example</a:t>
            </a:r>
          </a:p>
        </p:txBody>
      </p:sp>
      <p:sp>
        <p:nvSpPr>
          <p:cNvPr id="49155" name="Rectangle 3"/>
          <p:cNvSpPr>
            <a:spLocks noGrp="1" noChangeArrowheads="1"/>
          </p:cNvSpPr>
          <p:nvPr>
            <p:ph idx="1"/>
          </p:nvPr>
        </p:nvSpPr>
        <p:spPr>
          <a:xfrm>
            <a:off x="781235" y="1093788"/>
            <a:ext cx="7814125" cy="5314046"/>
          </a:xfrm>
        </p:spPr>
        <p:txBody>
          <a:bodyPr/>
          <a:lstStyle/>
          <a:p>
            <a:pPr algn="r" rtl="1">
              <a:defRPr/>
            </a:pPr>
            <a:r>
              <a:rPr lang="fa-IR" dirty="0"/>
              <a:t>در یک </a:t>
            </a:r>
            <a:r>
              <a:rPr lang="fa-IR" dirty="0" err="1"/>
              <a:t>شِما</a:t>
            </a:r>
            <a:r>
              <a:rPr lang="fa-IR" dirty="0"/>
              <a:t>:</a:t>
            </a:r>
            <a:endParaRPr lang="en-US" altLang="en-US" sz="1800" dirty="0"/>
          </a:p>
          <a:p>
            <a:pPr rtl="1">
              <a:buFont typeface="Monotype Sorts" pitchFamily="-84" charset="2"/>
              <a:buNone/>
              <a:defRPr/>
            </a:pPr>
            <a:r>
              <a:rPr lang="en-US" altLang="en-US" sz="1800" dirty="0"/>
              <a:t>         </a:t>
            </a:r>
            <a:r>
              <a:rPr lang="en-US" altLang="en-US" sz="1800" i="1" dirty="0"/>
              <a:t>dept_advisor(s_ID, i_ID, </a:t>
            </a:r>
            <a:r>
              <a:rPr lang="en-US" altLang="en-US" sz="1800" i="1" dirty="0">
                <a:sym typeface="Symbol" pitchFamily="18" charset="2"/>
              </a:rPr>
              <a:t>dept </a:t>
            </a:r>
            <a:r>
              <a:rPr lang="en-US" altLang="en-US" sz="1800" i="1" dirty="0"/>
              <a:t>_name</a:t>
            </a:r>
            <a:r>
              <a:rPr lang="en-US" altLang="en-US" sz="1800" dirty="0"/>
              <a:t>)</a:t>
            </a:r>
          </a:p>
          <a:p>
            <a:pPr algn="r" rtl="1">
              <a:defRPr/>
            </a:pPr>
            <a:r>
              <a:rPr lang="fa-IR" dirty="0"/>
              <a:t>و با </a:t>
            </a:r>
            <a:r>
              <a:rPr lang="fa-IR" dirty="0" err="1"/>
              <a:t>وابستگی‌های</a:t>
            </a:r>
            <a:r>
              <a:rPr lang="fa-IR" dirty="0"/>
              <a:t> </a:t>
            </a:r>
            <a:r>
              <a:rPr lang="fa-IR" dirty="0" err="1"/>
              <a:t>تابعی</a:t>
            </a:r>
            <a:r>
              <a:rPr lang="fa-IR" dirty="0"/>
              <a:t> زیر:</a:t>
            </a:r>
            <a:endParaRPr lang="en-US" altLang="en-US" sz="1800" dirty="0"/>
          </a:p>
          <a:p>
            <a:pPr rtl="1">
              <a:buFont typeface="Monotype Sorts" pitchFamily="-84" charset="2"/>
              <a:buNone/>
              <a:defRPr/>
            </a:pPr>
            <a:r>
              <a:rPr lang="en-US" altLang="en-US" sz="1800" dirty="0"/>
              <a:t>             </a:t>
            </a:r>
            <a:r>
              <a:rPr lang="en-US" altLang="en-US" sz="1800" i="1" dirty="0"/>
              <a:t>i_ID</a:t>
            </a:r>
            <a:r>
              <a:rPr lang="en-US" altLang="en-US" sz="1800" dirty="0"/>
              <a:t> </a:t>
            </a:r>
            <a:r>
              <a:rPr lang="en-US" altLang="en-US" sz="1800" dirty="0">
                <a:sym typeface="Symbol" pitchFamily="18" charset="2"/>
              </a:rPr>
              <a:t> </a:t>
            </a:r>
            <a:r>
              <a:rPr lang="en-US" altLang="en-US" sz="1800" i="1" dirty="0">
                <a:sym typeface="Symbol" pitchFamily="18" charset="2"/>
              </a:rPr>
              <a:t>dept_name</a:t>
            </a:r>
          </a:p>
          <a:p>
            <a:pPr rtl="1">
              <a:buFont typeface="Monotype Sorts" pitchFamily="-84" charset="2"/>
              <a:buNone/>
              <a:defRPr/>
            </a:pPr>
            <a:r>
              <a:rPr lang="en-US" altLang="en-US" sz="1800" dirty="0"/>
              <a:t>             </a:t>
            </a:r>
            <a:r>
              <a:rPr lang="en-US" altLang="en-US" sz="1800" i="1" dirty="0"/>
              <a:t>s_ID, </a:t>
            </a:r>
            <a:r>
              <a:rPr lang="en-US" altLang="en-US" sz="1800" i="1" dirty="0">
                <a:sym typeface="Symbol" pitchFamily="18" charset="2"/>
              </a:rPr>
              <a:t>dept_name</a:t>
            </a:r>
            <a:r>
              <a:rPr lang="en-US" altLang="en-US" sz="1800" i="1" dirty="0"/>
              <a:t> </a:t>
            </a:r>
            <a:r>
              <a:rPr lang="en-US" altLang="en-US" sz="1800" dirty="0">
                <a:sym typeface="Symbol" pitchFamily="18" charset="2"/>
              </a:rPr>
              <a:t> </a:t>
            </a:r>
            <a:r>
              <a:rPr lang="en-US" altLang="en-US" sz="1800" i="1" dirty="0" err="1">
                <a:sym typeface="Symbol" pitchFamily="18" charset="2"/>
              </a:rPr>
              <a:t>i_ID</a:t>
            </a:r>
            <a:endParaRPr lang="en-US" altLang="en-US" sz="1800" i="1" dirty="0">
              <a:sym typeface="Symbol" pitchFamily="18" charset="2"/>
            </a:endParaRPr>
          </a:p>
          <a:p>
            <a:pPr marL="0" indent="0" algn="r" rtl="1">
              <a:buNone/>
              <a:defRPr/>
            </a:pPr>
            <a:r>
              <a:rPr lang="fa-IR" dirty="0"/>
              <a:t>در طراحی بالا مجبور هستیم نام دپارتمان را برای هر بار که یک استاد در رابطه </a:t>
            </a:r>
            <a:r>
              <a:rPr lang="en-US" dirty="0" err="1"/>
              <a:t>dept_advisor</a:t>
            </a:r>
            <a:r>
              <a:rPr lang="en-US" dirty="0"/>
              <a:t> </a:t>
            </a:r>
            <a:r>
              <a:rPr lang="fa-IR" dirty="0"/>
              <a:t>ظاهر </a:t>
            </a:r>
            <a:r>
              <a:rPr lang="fa-IR" dirty="0" err="1"/>
              <a:t>می‌شود</a:t>
            </a:r>
            <a:r>
              <a:rPr lang="fa-IR" dirty="0"/>
              <a:t>، تکرار کنیم.</a:t>
            </a:r>
            <a:r>
              <a:rPr lang="en-US" altLang="en-US" sz="1800" dirty="0">
                <a:sym typeface="Symbol" pitchFamily="18" charset="2"/>
              </a:rPr>
              <a:t>  </a:t>
            </a:r>
          </a:p>
          <a:p>
            <a:pPr algn="r" rtl="1">
              <a:defRPr/>
            </a:pPr>
            <a:r>
              <a:rPr lang="fa-IR" dirty="0"/>
              <a:t>برای رفع این مشکل باید رابطه </a:t>
            </a:r>
            <a:r>
              <a:rPr lang="en-US" dirty="0" err="1"/>
              <a:t>dept_advisor</a:t>
            </a:r>
            <a:r>
              <a:rPr lang="en-US" dirty="0"/>
              <a:t> </a:t>
            </a:r>
            <a:r>
              <a:rPr lang="fa-IR" dirty="0"/>
              <a:t>را تجزیه کنیم.</a:t>
            </a:r>
            <a:endParaRPr lang="en-US" altLang="en-US" sz="1800" i="1" dirty="0"/>
          </a:p>
          <a:p>
            <a:pPr algn="r" rtl="1">
              <a:defRPr/>
            </a:pPr>
            <a:r>
              <a:rPr lang="fa-IR" dirty="0"/>
              <a:t>اما هر </a:t>
            </a:r>
            <a:r>
              <a:rPr lang="fa-IR" dirty="0" err="1"/>
              <a:t>تجزیه‌ای</a:t>
            </a:r>
            <a:r>
              <a:rPr lang="fa-IR" dirty="0"/>
              <a:t> انجام دهیم، تمام صفات موجود در وابستگی</a:t>
            </a:r>
            <a:endParaRPr lang="en-US" altLang="en-US" sz="1800" dirty="0">
              <a:sym typeface="Symbol" pitchFamily="18" charset="2"/>
            </a:endParaRPr>
          </a:p>
          <a:p>
            <a:pPr rtl="1">
              <a:buFont typeface="Monotype Sorts" pitchFamily="-84" charset="2"/>
              <a:buNone/>
              <a:defRPr/>
            </a:pPr>
            <a:r>
              <a:rPr lang="en-US" altLang="en-US" sz="1800" dirty="0">
                <a:sym typeface="Symbol" pitchFamily="18" charset="2"/>
              </a:rPr>
              <a:t>            </a:t>
            </a:r>
            <a:r>
              <a:rPr lang="en-US" altLang="en-US" sz="1800" i="1" dirty="0"/>
              <a:t>s_ID, </a:t>
            </a:r>
            <a:r>
              <a:rPr lang="en-US" altLang="en-US" sz="1800" i="1" dirty="0">
                <a:sym typeface="Symbol" pitchFamily="18" charset="2"/>
              </a:rPr>
              <a:t>dept_name</a:t>
            </a:r>
            <a:r>
              <a:rPr lang="en-US" altLang="en-US" sz="1800" i="1" dirty="0"/>
              <a:t> </a:t>
            </a:r>
            <a:r>
              <a:rPr lang="en-US" altLang="en-US" sz="1800" i="1" dirty="0">
                <a:sym typeface="Symbol" pitchFamily="18" charset="2"/>
              </a:rPr>
              <a:t> </a:t>
            </a:r>
            <a:r>
              <a:rPr lang="en-US" altLang="en-US" sz="1800" i="1" dirty="0" err="1">
                <a:sym typeface="Symbol" pitchFamily="18" charset="2"/>
              </a:rPr>
              <a:t>i_ID</a:t>
            </a:r>
            <a:endParaRPr lang="fa-IR" altLang="en-US" sz="1800" i="1" dirty="0">
              <a:sym typeface="Symbol" pitchFamily="18" charset="2"/>
            </a:endParaRPr>
          </a:p>
          <a:p>
            <a:pPr algn="r" rtl="1">
              <a:buFont typeface="Monotype Sorts" pitchFamily="-84" charset="2"/>
              <a:buNone/>
              <a:defRPr/>
            </a:pPr>
            <a:r>
              <a:rPr lang="fa-IR" dirty="0"/>
              <a:t>در یک رابطه واحد باقی نخواهند ماند.</a:t>
            </a:r>
            <a:endParaRPr lang="en-US" altLang="en-US" sz="1800" i="1" dirty="0">
              <a:sym typeface="Symbol" pitchFamily="18" charset="2"/>
            </a:endParaRPr>
          </a:p>
          <a:p>
            <a:pPr algn="r" rtl="1">
              <a:defRPr/>
            </a:pPr>
            <a:r>
              <a:rPr lang="fa-IR" dirty="0"/>
              <a:t>به همین دلیل، ترکیب حاصل </a:t>
            </a:r>
            <a:r>
              <a:rPr lang="fa-IR" dirty="0" err="1"/>
              <a:t>وابستگی‌ها</a:t>
            </a:r>
            <a:r>
              <a:rPr lang="fa-IR" dirty="0"/>
              <a:t> را حفظ </a:t>
            </a:r>
            <a:r>
              <a:rPr lang="fa-IR" dirty="0" err="1"/>
              <a:t>نمی‌کند</a:t>
            </a:r>
            <a:r>
              <a:rPr lang="fa-IR" dirty="0"/>
              <a:t> (</a:t>
            </a:r>
            <a:r>
              <a:rPr lang="en-US" dirty="0"/>
              <a:t>dependency preserving </a:t>
            </a:r>
            <a:r>
              <a:rPr lang="fa-IR" dirty="0"/>
              <a:t>نیست).</a:t>
            </a:r>
            <a:endParaRPr lang="en-US" altLang="en-US" sz="1800" dirty="0">
              <a:sym typeface="Symbol" pitchFamily="18" charset="2"/>
            </a:endParaRPr>
          </a:p>
          <a:p>
            <a:pPr>
              <a:buFont typeface="Monotype Sorts" pitchFamily="-84" charset="2"/>
              <a:buNone/>
              <a:defRPr/>
            </a:pPr>
            <a:endParaRPr lang="en-US" altLang="en-US" sz="1800" dirty="0">
              <a:sym typeface="Symbol" pitchFamily="18" charset="2"/>
            </a:endParaRPr>
          </a:p>
          <a:p>
            <a:pPr>
              <a:defRPr/>
            </a:pPr>
            <a:endParaRPr lang="en-US" altLang="en-US" sz="2400" dirty="0"/>
          </a:p>
        </p:txBody>
      </p:sp>
    </p:spTree>
    <p:extLst>
      <p:ext uri="{BB962C8B-B14F-4D97-AF65-F5344CB8AC3E}">
        <p14:creationId xmlns:p14="http://schemas.microsoft.com/office/powerpoint/2010/main" val="1927808772"/>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5" name="Rectangle 3"/>
          <p:cNvSpPr>
            <a:spLocks noGrp="1" noChangeArrowheads="1"/>
          </p:cNvSpPr>
          <p:nvPr>
            <p:ph idx="1"/>
          </p:nvPr>
        </p:nvSpPr>
        <p:spPr>
          <a:xfrm>
            <a:off x="2885243" y="2286000"/>
            <a:ext cx="3901320" cy="1479550"/>
          </a:xfrm>
        </p:spPr>
        <p:txBody>
          <a:bodyPr/>
          <a:lstStyle/>
          <a:p>
            <a:pPr algn="ctr">
              <a:buFont typeface="Monotype Sorts" charset="2"/>
              <a:buNone/>
              <a:defRPr/>
            </a:pPr>
            <a:r>
              <a:rPr lang="fa-IR" sz="3200" dirty="0" err="1"/>
              <a:t>نرمال‌فرم‌ها</a:t>
            </a:r>
            <a:endParaRPr lang="en-US" altLang="en-US" sz="3200" b="1" dirty="0">
              <a:solidFill>
                <a:srgbClr val="002060"/>
              </a:solidFill>
              <a:effectLst>
                <a:outerShdw blurRad="38100" dist="38100" dir="2700000" algn="tl">
                  <a:srgbClr val="C0C0C0"/>
                </a:outerShdw>
              </a:effectLst>
              <a:latin typeface="+mj-lt"/>
              <a:ea typeface="ＭＳ Ｐゴシック" pitchFamily="34" charset="-128"/>
              <a:cs typeface="+mj-cs"/>
            </a:endParaRPr>
          </a:p>
        </p:txBody>
      </p:sp>
    </p:spTree>
    <p:extLst>
      <p:ext uri="{BB962C8B-B14F-4D97-AF65-F5344CB8AC3E}">
        <p14:creationId xmlns:p14="http://schemas.microsoft.com/office/powerpoint/2010/main" val="2015827623"/>
      </p:ext>
    </p:extLst>
  </p:cSld>
  <p:clrMapOvr>
    <a:masterClrMapping/>
  </p:clrMapOvr>
  <p:transition spd="slow"/>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861FF6-2091-A497-22FA-BCD6F27FFD28}"/>
            </a:ext>
          </a:extLst>
        </p:cNvPr>
        <p:cNvGrpSpPr/>
        <p:nvPr/>
      </p:nvGrpSpPr>
      <p:grpSpPr>
        <a:xfrm>
          <a:off x="0" y="0"/>
          <a:ext cx="0" cy="0"/>
          <a:chOff x="0" y="0"/>
          <a:chExt cx="0" cy="0"/>
        </a:xfrm>
      </p:grpSpPr>
      <p:sp>
        <p:nvSpPr>
          <p:cNvPr id="683010" name="Rectangle 2">
            <a:extLst>
              <a:ext uri="{FF2B5EF4-FFF2-40B4-BE49-F238E27FC236}">
                <a16:creationId xmlns:a16="http://schemas.microsoft.com/office/drawing/2014/main" id="{369C3D21-8A9E-D2DF-81B6-AFE41E5BF00D}"/>
              </a:ext>
            </a:extLst>
          </p:cNvPr>
          <p:cNvSpPr>
            <a:spLocks noGrp="1" noChangeArrowheads="1"/>
          </p:cNvSpPr>
          <p:nvPr>
            <p:ph type="title"/>
          </p:nvPr>
        </p:nvSpPr>
        <p:spPr/>
        <p:txBody>
          <a:bodyPr/>
          <a:lstStyle/>
          <a:p>
            <a:pPr>
              <a:defRPr/>
            </a:pPr>
            <a:r>
              <a:rPr lang="en-US" altLang="en-US" sz="2800" dirty="0">
                <a:effectLst>
                  <a:outerShdw blurRad="38100" dist="38100" dir="2700000" algn="tl">
                    <a:srgbClr val="C0C0C0"/>
                  </a:outerShdw>
                </a:effectLst>
                <a:ea typeface="ＭＳ Ｐゴシック" pitchFamily="34" charset="-128"/>
              </a:rPr>
              <a:t>Boyce-Codd Normal Form</a:t>
            </a:r>
          </a:p>
        </p:txBody>
      </p:sp>
      <mc:AlternateContent xmlns:mc="http://schemas.openxmlformats.org/markup-compatibility/2006">
        <mc:Choice xmlns:a14="http://schemas.microsoft.com/office/drawing/2010/main" Requires="a14">
          <p:sp>
            <p:nvSpPr>
              <p:cNvPr id="683011" name="Rectangle 3">
                <a:extLst>
                  <a:ext uri="{FF2B5EF4-FFF2-40B4-BE49-F238E27FC236}">
                    <a16:creationId xmlns:a16="http://schemas.microsoft.com/office/drawing/2014/main" id="{4933B197-8116-700A-7519-08F4946A0A67}"/>
                  </a:ext>
                </a:extLst>
              </p:cNvPr>
              <p:cNvSpPr>
                <a:spLocks noGrp="1" noChangeArrowheads="1"/>
              </p:cNvSpPr>
              <p:nvPr>
                <p:ph idx="1"/>
              </p:nvPr>
            </p:nvSpPr>
            <p:spPr>
              <a:xfrm>
                <a:off x="768350" y="1163638"/>
                <a:ext cx="7541149" cy="5328601"/>
              </a:xfrm>
            </p:spPr>
            <p:txBody>
              <a:bodyPr/>
              <a:lstStyle/>
              <a:p>
                <a:pPr algn="r" rtl="1"/>
                <a:r>
                  <a:rPr lang="fa-IR" sz="2400" dirty="0"/>
                  <a:t>تعریف ساده </a:t>
                </a:r>
                <a:r>
                  <a:rPr lang="en-US" sz="2400" dirty="0"/>
                  <a:t>BCNF:</a:t>
                </a:r>
              </a:p>
              <a:p>
                <a:pPr algn="r" rtl="1"/>
                <a:r>
                  <a:rPr lang="fa-IR" sz="2400" dirty="0"/>
                  <a:t>یک رابطه در </a:t>
                </a:r>
                <a:r>
                  <a:rPr lang="en-US" sz="2400" dirty="0"/>
                  <a:t>BCNF </a:t>
                </a:r>
                <a:r>
                  <a:rPr lang="fa-IR" sz="2400" dirty="0"/>
                  <a:t>است اگر </a:t>
                </a:r>
                <a:r>
                  <a:rPr lang="fa-IR" sz="2400" b="1" dirty="0"/>
                  <a:t>در هر وابستگی تابعی </a:t>
                </a:r>
                <a14:m>
                  <m:oMath xmlns:m="http://schemas.openxmlformats.org/officeDocument/2006/math">
                    <m:r>
                      <a:rPr lang="fa-IR" i="1"/>
                      <m:t>𝑋</m:t>
                    </m:r>
                    <m:r>
                      <a:rPr lang="fa-IR"/>
                      <m:t>→</m:t>
                    </m:r>
                    <m:r>
                      <a:rPr lang="fa-IR" i="1"/>
                      <m:t>𝑌</m:t>
                    </m:r>
                  </m:oMath>
                </a14:m>
                <a:r>
                  <a:rPr lang="fa-IR" sz="2400" b="1" dirty="0"/>
                  <a:t>، مجموعه </a:t>
                </a:r>
                <a14:m>
                  <m:oMath xmlns:m="http://schemas.openxmlformats.org/officeDocument/2006/math">
                    <m:r>
                      <a:rPr lang="fa-IR" i="1"/>
                      <m:t>𝑋</m:t>
                    </m:r>
                  </m:oMath>
                </a14:m>
                <a:r>
                  <a:rPr lang="fa-IR" sz="2400" b="1" dirty="0"/>
                  <a:t>ابرکلید باشد.</a:t>
                </a:r>
                <a:endParaRPr lang="fa-IR" sz="2400" dirty="0"/>
              </a:p>
            </p:txBody>
          </p:sp>
        </mc:Choice>
        <mc:Fallback>
          <p:sp>
            <p:nvSpPr>
              <p:cNvPr id="683011" name="Rectangle 3">
                <a:extLst>
                  <a:ext uri="{FF2B5EF4-FFF2-40B4-BE49-F238E27FC236}">
                    <a16:creationId xmlns:a16="http://schemas.microsoft.com/office/drawing/2014/main" id="{4933B197-8116-700A-7519-08F4946A0A67}"/>
                  </a:ext>
                </a:extLst>
              </p:cNvPr>
              <p:cNvSpPr>
                <a:spLocks noGrp="1" noRot="1" noChangeAspect="1" noMove="1" noResize="1" noEditPoints="1" noAdjustHandles="1" noChangeArrowheads="1" noChangeShapeType="1" noTextEdit="1"/>
              </p:cNvSpPr>
              <p:nvPr>
                <p:ph idx="1"/>
              </p:nvPr>
            </p:nvSpPr>
            <p:spPr>
              <a:xfrm>
                <a:off x="768350" y="1163638"/>
                <a:ext cx="7541149" cy="5328601"/>
              </a:xfrm>
              <a:blipFill>
                <a:blip r:embed="rId3"/>
                <a:stretch>
                  <a:fillRect l="-728" t="-1716" r="-1374"/>
                </a:stretch>
              </a:blipFill>
            </p:spPr>
            <p:txBody>
              <a:bodyPr/>
              <a:lstStyle/>
              <a:p>
                <a:r>
                  <a:rPr lang="en-US">
                    <a:noFill/>
                  </a:rPr>
                  <a:t> </a:t>
                </a:r>
              </a:p>
            </p:txBody>
          </p:sp>
        </mc:Fallback>
      </mc:AlternateContent>
    </p:spTree>
    <p:extLst>
      <p:ext uri="{BB962C8B-B14F-4D97-AF65-F5344CB8AC3E}">
        <p14:creationId xmlns:p14="http://schemas.microsoft.com/office/powerpoint/2010/main" val="2827849501"/>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grpId="0" nodeType="clickEffect">
                                  <p:stCondLst>
                                    <p:cond delay="0"/>
                                  </p:stCondLst>
                                  <p:childTnLst>
                                    <p:set>
                                      <p:cBhvr>
                                        <p:cTn id="6" dur="1" fill="hold">
                                          <p:stCondLst>
                                            <p:cond delay="499"/>
                                          </p:stCondLst>
                                        </p:cTn>
                                        <p:tgtEl>
                                          <p:spTgt spid="683011">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499"/>
                                          </p:stCondLst>
                                        </p:cTn>
                                        <p:tgtEl>
                                          <p:spTgt spid="683011">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83011" grpId="0" build="p" autoUpdateAnimBg="0"/>
    </p:bldLst>
  </p:timing>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83010" name="Rectangle 2"/>
          <p:cNvSpPr>
            <a:spLocks noGrp="1" noChangeArrowheads="1"/>
          </p:cNvSpPr>
          <p:nvPr>
            <p:ph type="title"/>
          </p:nvPr>
        </p:nvSpPr>
        <p:spPr/>
        <p:txBody>
          <a:bodyPr/>
          <a:lstStyle/>
          <a:p>
            <a:pPr>
              <a:defRPr/>
            </a:pPr>
            <a:r>
              <a:rPr lang="en-US" altLang="en-US" sz="2800" dirty="0">
                <a:effectLst>
                  <a:outerShdw blurRad="38100" dist="38100" dir="2700000" algn="tl">
                    <a:srgbClr val="C0C0C0"/>
                  </a:outerShdw>
                </a:effectLst>
                <a:ea typeface="ＭＳ Ｐゴシック" pitchFamily="34" charset="-128"/>
              </a:rPr>
              <a:t>Boyce-Codd Normal Form</a:t>
            </a:r>
          </a:p>
        </p:txBody>
      </p:sp>
      <p:sp>
        <p:nvSpPr>
          <p:cNvPr id="683011" name="Rectangle 3"/>
          <p:cNvSpPr>
            <a:spLocks noGrp="1" noChangeArrowheads="1"/>
          </p:cNvSpPr>
          <p:nvPr>
            <p:ph idx="1"/>
          </p:nvPr>
        </p:nvSpPr>
        <p:spPr>
          <a:xfrm>
            <a:off x="768350" y="1163638"/>
            <a:ext cx="7541149" cy="5328601"/>
          </a:xfrm>
        </p:spPr>
        <p:txBody>
          <a:bodyPr/>
          <a:lstStyle/>
          <a:p>
            <a:pPr algn="r" rtl="1">
              <a:lnSpc>
                <a:spcPct val="90000"/>
              </a:lnSpc>
            </a:pPr>
            <a:r>
              <a:rPr lang="fa-IR" sz="2400" dirty="0"/>
              <a:t>یک </a:t>
            </a:r>
            <a:r>
              <a:rPr lang="fa-IR" sz="2400" dirty="0" err="1"/>
              <a:t>شِمای</a:t>
            </a:r>
            <a:r>
              <a:rPr lang="fa-IR" sz="2400" dirty="0"/>
              <a:t> </a:t>
            </a:r>
            <a:r>
              <a:rPr lang="fa-IR" sz="2400" dirty="0" err="1"/>
              <a:t>رابطه‌ای</a:t>
            </a:r>
            <a:r>
              <a:rPr lang="fa-IR" sz="2400" dirty="0"/>
              <a:t> </a:t>
            </a:r>
            <a:r>
              <a:rPr lang="en-US" sz="2400" dirty="0"/>
              <a:t>R </a:t>
            </a:r>
            <a:r>
              <a:rPr lang="fa-IR" sz="2400" dirty="0"/>
              <a:t>نسبت به </a:t>
            </a:r>
            <a:r>
              <a:rPr lang="fa-IR" sz="2400" dirty="0" err="1"/>
              <a:t>مجموعه‌ای</a:t>
            </a:r>
            <a:r>
              <a:rPr lang="fa-IR" sz="2400" dirty="0"/>
              <a:t> از </a:t>
            </a:r>
            <a:r>
              <a:rPr lang="fa-IR" sz="2400" dirty="0" err="1"/>
              <a:t>وابستگی‌های</a:t>
            </a:r>
            <a:r>
              <a:rPr lang="fa-IR" sz="2400" dirty="0"/>
              <a:t> </a:t>
            </a:r>
            <a:r>
              <a:rPr lang="fa-IR" sz="2400" dirty="0" err="1"/>
              <a:t>تابعی</a:t>
            </a:r>
            <a:r>
              <a:rPr lang="fa-IR" sz="2400" dirty="0"/>
              <a:t> </a:t>
            </a:r>
            <a:r>
              <a:rPr lang="en-US" sz="2400" dirty="0"/>
              <a:t>F </a:t>
            </a:r>
            <a:r>
              <a:rPr lang="fa-IR" sz="2400" dirty="0"/>
              <a:t>در نرمال فرم بویس–کاد </a:t>
            </a:r>
            <a:r>
              <a:rPr lang="en-US" sz="2400" dirty="0"/>
              <a:t>BCNF </a:t>
            </a:r>
            <a:r>
              <a:rPr lang="fa-IR" sz="2400" dirty="0"/>
              <a:t>قرار دارد اگر برای تمام </a:t>
            </a:r>
            <a:r>
              <a:rPr lang="fa-IR" sz="2400" dirty="0" err="1"/>
              <a:t>وابستگی‌های</a:t>
            </a:r>
            <a:r>
              <a:rPr lang="fa-IR" sz="2400" dirty="0"/>
              <a:t> </a:t>
            </a:r>
            <a:r>
              <a:rPr lang="fa-IR" sz="2400" dirty="0" err="1"/>
              <a:t>تابعی</a:t>
            </a:r>
            <a:r>
              <a:rPr lang="fa-IR" sz="2400" dirty="0"/>
              <a:t> موجود در </a:t>
            </a:r>
            <a:r>
              <a:rPr lang="en-US" sz="2400" dirty="0"/>
              <a:t>F⁺ </a:t>
            </a:r>
            <a:r>
              <a:rPr lang="fa-IR" sz="2400" dirty="0"/>
              <a:t>که به صورت:</a:t>
            </a:r>
            <a:r>
              <a:rPr lang="en-US" altLang="en-US" dirty="0"/>
              <a:t> </a:t>
            </a:r>
          </a:p>
          <a:p>
            <a:pPr rtl="1">
              <a:buFont typeface="Monotype Sorts" pitchFamily="-84" charset="2"/>
              <a:buNone/>
            </a:pPr>
            <a:r>
              <a:rPr lang="en-US" altLang="en-US" dirty="0">
                <a:sym typeface="Symbol" panose="05050102010706020507" pitchFamily="18" charset="2"/>
              </a:rPr>
              <a:t>                 </a:t>
            </a:r>
            <a:r>
              <a:rPr lang="en-US" altLang="en-US" dirty="0">
                <a:sym typeface="Greek Symbols"/>
              </a:rPr>
              <a:t> </a:t>
            </a:r>
            <a:r>
              <a:rPr lang="en-US" altLang="en-US" dirty="0">
                <a:sym typeface="Symbol" panose="05050102010706020507" pitchFamily="18" charset="2"/>
              </a:rPr>
              <a:t></a:t>
            </a:r>
            <a:r>
              <a:rPr lang="en-US" altLang="en-US" dirty="0">
                <a:sym typeface="Monotype Sorts" pitchFamily="-84" charset="2"/>
              </a:rPr>
              <a:t> </a:t>
            </a:r>
            <a:r>
              <a:rPr lang="en-US" altLang="en-US" i="1" dirty="0">
                <a:sym typeface="Symbol" panose="05050102010706020507" pitchFamily="18" charset="2"/>
              </a:rPr>
              <a:t></a:t>
            </a:r>
            <a:endParaRPr lang="en-US" altLang="en-US" i="1" dirty="0">
              <a:sym typeface="Greek Symbols"/>
            </a:endParaRPr>
          </a:p>
          <a:p>
            <a:pPr algn="r" rtl="1">
              <a:buFont typeface="Monotype Sorts" pitchFamily="-84" charset="2"/>
              <a:buNone/>
            </a:pPr>
            <a:r>
              <a:rPr lang="en-US" altLang="en-US" i="1" dirty="0">
                <a:sym typeface="Greek Symbols"/>
              </a:rPr>
              <a:t>      </a:t>
            </a:r>
            <a:r>
              <a:rPr lang="fa-IR" sz="2400" dirty="0"/>
              <a:t>هستند و </a:t>
            </a:r>
            <a:r>
              <a:rPr lang="el-GR" sz="2400" dirty="0"/>
              <a:t>α </a:t>
            </a:r>
            <a:r>
              <a:rPr lang="fa-IR" sz="2400" dirty="0"/>
              <a:t>و </a:t>
            </a:r>
            <a:r>
              <a:rPr lang="el-GR" sz="2400" dirty="0"/>
              <a:t>β </a:t>
            </a:r>
            <a:r>
              <a:rPr lang="fa-IR" sz="2400" dirty="0"/>
              <a:t>هر دو </a:t>
            </a:r>
            <a:r>
              <a:rPr lang="fa-IR" sz="2400" dirty="0" err="1"/>
              <a:t>زیرمجموعه‌ای</a:t>
            </a:r>
            <a:r>
              <a:rPr lang="fa-IR" sz="2400" dirty="0"/>
              <a:t> از </a:t>
            </a:r>
            <a:r>
              <a:rPr lang="en-US" sz="2400" dirty="0"/>
              <a:t>R </a:t>
            </a:r>
            <a:r>
              <a:rPr lang="fa-IR" sz="2400" dirty="0"/>
              <a:t>هستند، حداقل یکی از شروط زیر برقرار باشد:</a:t>
            </a:r>
            <a:endParaRPr lang="en-US" altLang="en-US" dirty="0">
              <a:sym typeface="Symbol" panose="05050102010706020507" pitchFamily="18" charset="2"/>
            </a:endParaRPr>
          </a:p>
          <a:p>
            <a:pPr lvl="1" algn="r" rtl="1"/>
            <a:r>
              <a:rPr lang="fa-IR" sz="2400" dirty="0"/>
              <a:t>وابستگی </a:t>
            </a:r>
            <a:r>
              <a:rPr lang="el-GR" sz="2400" b="1" dirty="0"/>
              <a:t>α → β</a:t>
            </a:r>
            <a:r>
              <a:rPr lang="el-GR" sz="2400" dirty="0"/>
              <a:t> </a:t>
            </a:r>
            <a:r>
              <a:rPr lang="fa-IR" sz="2400" dirty="0"/>
              <a:t>بدیهی باشد (یعنی </a:t>
            </a:r>
            <a:r>
              <a:rPr lang="el-GR" sz="2400" dirty="0"/>
              <a:t>β </a:t>
            </a:r>
            <a:r>
              <a:rPr lang="fa-IR" sz="2400" dirty="0" err="1"/>
              <a:t>زیرمجموعه‌ای</a:t>
            </a:r>
            <a:r>
              <a:rPr lang="fa-IR" sz="2400" dirty="0"/>
              <a:t> از </a:t>
            </a:r>
            <a:r>
              <a:rPr lang="el-GR" sz="2400" dirty="0"/>
              <a:t>α </a:t>
            </a:r>
            <a:r>
              <a:rPr lang="fa-IR" sz="2400" dirty="0"/>
              <a:t>باشد)</a:t>
            </a:r>
            <a:endParaRPr lang="en-US" altLang="en-US" dirty="0">
              <a:sym typeface="Greek Symbols"/>
            </a:endParaRPr>
          </a:p>
          <a:p>
            <a:pPr lvl="1" algn="r" rtl="1"/>
            <a:r>
              <a:rPr lang="el-GR" sz="2400" dirty="0"/>
              <a:t>α </a:t>
            </a:r>
            <a:r>
              <a:rPr lang="fa-IR" sz="2400" dirty="0"/>
              <a:t>یک </a:t>
            </a:r>
            <a:r>
              <a:rPr lang="fa-IR" sz="2400" b="1" dirty="0"/>
              <a:t>ابرکلید</a:t>
            </a:r>
            <a:r>
              <a:rPr lang="fa-IR" sz="2400" dirty="0"/>
              <a:t> برای </a:t>
            </a:r>
            <a:r>
              <a:rPr lang="en-US" sz="2400" dirty="0"/>
              <a:t>R </a:t>
            </a:r>
            <a:r>
              <a:rPr lang="fa-IR" sz="2400" dirty="0"/>
              <a:t>باشد. اگر وابستگی تابعی وجود دارد باید آن ابرکلید باشد. </a:t>
            </a:r>
            <a:endParaRPr lang="en-US" altLang="en-US" i="1" dirty="0">
              <a:sym typeface="Greek Symbols"/>
            </a:endParaRPr>
          </a:p>
          <a:p>
            <a:pPr algn="r" rtl="1"/>
            <a:endParaRPr lang="en-US" altLang="en-US" sz="2800" i="1" dirty="0">
              <a:sym typeface="Greek Symbols"/>
            </a:endParaRPr>
          </a:p>
          <a:p>
            <a:pPr algn="r" rtl="1"/>
            <a:endParaRPr lang="en-US" altLang="en-US" sz="2800" dirty="0">
              <a:sym typeface="Symbol" panose="05050102010706020507" pitchFamily="18" charset="2"/>
            </a:endParaRPr>
          </a:p>
        </p:txBody>
      </p:sp>
    </p:spTree>
    <p:extLst>
      <p:ext uri="{BB962C8B-B14F-4D97-AF65-F5344CB8AC3E}">
        <p14:creationId xmlns:p14="http://schemas.microsoft.com/office/powerpoint/2010/main" val="2651386258"/>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grpId="0" nodeType="clickEffect">
                                  <p:stCondLst>
                                    <p:cond delay="0"/>
                                  </p:stCondLst>
                                  <p:childTnLst>
                                    <p:set>
                                      <p:cBhvr>
                                        <p:cTn id="6" dur="1" fill="hold">
                                          <p:stCondLst>
                                            <p:cond delay="499"/>
                                          </p:stCondLst>
                                        </p:cTn>
                                        <p:tgtEl>
                                          <p:spTgt spid="683011">
                                            <p:txEl>
                                              <p:pRg st="0" end="0"/>
                                            </p:txEl>
                                          </p:spTgt>
                                        </p:tgtEl>
                                        <p:attrNameLst>
                                          <p:attrName>style.visibility</p:attrName>
                                        </p:attrNameLst>
                                      </p:cBhvr>
                                      <p:to>
                                        <p:strVal val="visible"/>
                                      </p:to>
                                    </p:set>
                                  </p:childTnLst>
                                </p:cTn>
                              </p:par>
                            </p:childTnLst>
                          </p:cTn>
                        </p:par>
                      </p:childTnLst>
                    </p:cTn>
                  </p:par>
                  <p:par>
                    <p:cTn id="7" fill="hold" nodeType="clickPar">
                      <p:stCondLst>
                        <p:cond delay="indefinite"/>
                      </p:stCondLst>
                      <p:childTnLst>
                        <p:par>
                          <p:cTn id="8" fill="hold" nodeType="withGroup">
                            <p:stCondLst>
                              <p:cond delay="0"/>
                            </p:stCondLst>
                            <p:childTnLst>
                              <p:par>
                                <p:cTn id="9" presetID="1" presetClass="entr" presetSubtype="0" fill="hold" grpId="0" nodeType="clickEffect">
                                  <p:stCondLst>
                                    <p:cond delay="0"/>
                                  </p:stCondLst>
                                  <p:childTnLst>
                                    <p:set>
                                      <p:cBhvr>
                                        <p:cTn id="10" dur="1" fill="hold">
                                          <p:stCondLst>
                                            <p:cond delay="499"/>
                                          </p:stCondLst>
                                        </p:cTn>
                                        <p:tgtEl>
                                          <p:spTgt spid="683011">
                                            <p:txEl>
                                              <p:pRg st="1" end="1"/>
                                            </p:txEl>
                                          </p:spTgt>
                                        </p:tgtEl>
                                        <p:attrNameLst>
                                          <p:attrName>style.visibility</p:attrName>
                                        </p:attrNameLst>
                                      </p:cBhvr>
                                      <p:to>
                                        <p:strVal val="visible"/>
                                      </p:to>
                                    </p:set>
                                  </p:childTnLst>
                                </p:cTn>
                              </p:par>
                            </p:childTnLst>
                          </p:cTn>
                        </p:par>
                      </p:childTnLst>
                    </p:cTn>
                  </p:par>
                  <p:par>
                    <p:cTn id="11" fill="hold" nodeType="clickPar">
                      <p:stCondLst>
                        <p:cond delay="indefinite"/>
                      </p:stCondLst>
                      <p:childTnLst>
                        <p:par>
                          <p:cTn id="12" fill="hold" nodeType="withGroup">
                            <p:stCondLst>
                              <p:cond delay="0"/>
                            </p:stCondLst>
                            <p:childTnLst>
                              <p:par>
                                <p:cTn id="13" presetID="1" presetClass="entr" presetSubtype="0" fill="hold" grpId="0" nodeType="clickEffect">
                                  <p:stCondLst>
                                    <p:cond delay="0"/>
                                  </p:stCondLst>
                                  <p:childTnLst>
                                    <p:set>
                                      <p:cBhvr>
                                        <p:cTn id="14" dur="1" fill="hold">
                                          <p:stCondLst>
                                            <p:cond delay="499"/>
                                          </p:stCondLst>
                                        </p:cTn>
                                        <p:tgtEl>
                                          <p:spTgt spid="683011">
                                            <p:txEl>
                                              <p:pRg st="2" end="2"/>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499"/>
                                          </p:stCondLst>
                                        </p:cTn>
                                        <p:tgtEl>
                                          <p:spTgt spid="683011">
                                            <p:txEl>
                                              <p:pRg st="3" end="3"/>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499"/>
                                          </p:stCondLst>
                                        </p:cTn>
                                        <p:tgtEl>
                                          <p:spTgt spid="683011">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83011" grpId="0" build="p" autoUpdateAnimBg="0"/>
    </p:bldLst>
  </p:timing>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83010" name="Rectangle 2"/>
          <p:cNvSpPr>
            <a:spLocks noGrp="1" noChangeArrowheads="1"/>
          </p:cNvSpPr>
          <p:nvPr>
            <p:ph type="title"/>
          </p:nvPr>
        </p:nvSpPr>
        <p:spPr/>
        <p:txBody>
          <a:bodyPr/>
          <a:lstStyle/>
          <a:p>
            <a:pPr>
              <a:defRPr/>
            </a:pPr>
            <a:r>
              <a:rPr lang="en-US" altLang="en-US" sz="2800" dirty="0">
                <a:effectLst>
                  <a:outerShdw blurRad="38100" dist="38100" dir="2700000" algn="tl">
                    <a:srgbClr val="C0C0C0"/>
                  </a:outerShdw>
                </a:effectLst>
                <a:ea typeface="ＭＳ Ｐゴシック" pitchFamily="34" charset="-128"/>
              </a:rPr>
              <a:t>Boyce-Codd Normal Form (Cont.)</a:t>
            </a:r>
          </a:p>
        </p:txBody>
      </p:sp>
      <p:sp>
        <p:nvSpPr>
          <p:cNvPr id="683011" name="Rectangle 3"/>
          <p:cNvSpPr>
            <a:spLocks noGrp="1" noChangeArrowheads="1"/>
          </p:cNvSpPr>
          <p:nvPr>
            <p:ph idx="1"/>
          </p:nvPr>
        </p:nvSpPr>
        <p:spPr>
          <a:xfrm>
            <a:off x="684536" y="1881092"/>
            <a:ext cx="7774928" cy="5201992"/>
          </a:xfrm>
        </p:spPr>
        <p:txBody>
          <a:bodyPr/>
          <a:lstStyle/>
          <a:p>
            <a:pPr algn="r" rtl="1">
              <a:lnSpc>
                <a:spcPct val="90000"/>
              </a:lnSpc>
            </a:pPr>
            <a:r>
              <a:rPr lang="fa-IR" dirty="0"/>
              <a:t>مثالِ یک شِمایی که در </a:t>
            </a:r>
            <a:r>
              <a:rPr lang="en-US" dirty="0"/>
              <a:t>BCNF </a:t>
            </a:r>
            <a:r>
              <a:rPr lang="fa-IR" dirty="0"/>
              <a:t>نیست:</a:t>
            </a:r>
            <a:endParaRPr lang="en-US" altLang="en-US" dirty="0"/>
          </a:p>
          <a:p>
            <a:pPr algn="r" rtl="1">
              <a:buFont typeface="Monotype Sorts" pitchFamily="-84" charset="2"/>
              <a:buNone/>
            </a:pPr>
            <a:r>
              <a:rPr lang="en-US" altLang="en-US" dirty="0"/>
              <a:t> </a:t>
            </a:r>
            <a:r>
              <a:rPr lang="fa-IR" altLang="en-US" dirty="0"/>
              <a:t>زیرا:</a:t>
            </a:r>
            <a:endParaRPr lang="en-US" altLang="en-US" dirty="0"/>
          </a:p>
          <a:p>
            <a:pPr lvl="1" algn="r" rtl="1"/>
            <a:r>
              <a:rPr lang="en-US" altLang="en-US" i="1" dirty="0" err="1"/>
              <a:t>dept_name</a:t>
            </a:r>
            <a:r>
              <a:rPr lang="en-US" altLang="en-US" dirty="0">
                <a:sym typeface="Symbol" panose="05050102010706020507" pitchFamily="18" charset="2"/>
              </a:rPr>
              <a:t></a:t>
            </a:r>
            <a:r>
              <a:rPr lang="en-US" altLang="en-US" dirty="0">
                <a:sym typeface="Monotype Sorts" pitchFamily="-84" charset="2"/>
              </a:rPr>
              <a:t> </a:t>
            </a:r>
            <a:r>
              <a:rPr lang="en-US" altLang="en-US" i="1" dirty="0">
                <a:sym typeface="Monotype Sorts" pitchFamily="-84" charset="2"/>
              </a:rPr>
              <a:t>building, budget  </a:t>
            </a:r>
          </a:p>
          <a:p>
            <a:pPr lvl="2" algn="r" rtl="1"/>
            <a:r>
              <a:rPr lang="fa-IR" sz="2400" dirty="0"/>
              <a:t>در رابطه </a:t>
            </a:r>
            <a:r>
              <a:rPr lang="en-US" sz="2400" b="1" dirty="0" err="1"/>
              <a:t>in_dep</a:t>
            </a:r>
            <a:r>
              <a:rPr lang="en-US" sz="2400" dirty="0"/>
              <a:t> </a:t>
            </a:r>
            <a:r>
              <a:rPr lang="fa-IR" sz="2400" dirty="0"/>
              <a:t>برقرار است.</a:t>
            </a:r>
            <a:endParaRPr lang="en-US" altLang="en-US" i="1" dirty="0">
              <a:sym typeface="Monotype Sorts" pitchFamily="-84" charset="2"/>
            </a:endParaRPr>
          </a:p>
          <a:p>
            <a:pPr lvl="2" algn="r" rtl="1"/>
            <a:r>
              <a:rPr lang="fa-IR" altLang="en-US" dirty="0">
                <a:sym typeface="Monotype Sorts" pitchFamily="-84" charset="2"/>
              </a:rPr>
              <a:t>ولی</a:t>
            </a:r>
            <a:endParaRPr lang="en-US" altLang="en-US" dirty="0">
              <a:sym typeface="Monotype Sorts" pitchFamily="-84" charset="2"/>
            </a:endParaRPr>
          </a:p>
          <a:p>
            <a:pPr lvl="1" algn="r" rtl="1"/>
            <a:r>
              <a:rPr lang="en-US" sz="2400" b="1" dirty="0" err="1"/>
              <a:t>dept_name</a:t>
            </a:r>
            <a:r>
              <a:rPr lang="en-US" sz="2400" dirty="0"/>
              <a:t> </a:t>
            </a:r>
            <a:r>
              <a:rPr lang="fa-IR" sz="2400" dirty="0"/>
              <a:t>یک اَبَرکلید نیست.</a:t>
            </a:r>
            <a:endParaRPr lang="en-US" altLang="en-US" dirty="0">
              <a:sym typeface="Monotype Sorts" pitchFamily="-84" charset="2"/>
            </a:endParaRPr>
          </a:p>
          <a:p>
            <a:pPr marL="0" indent="0" algn="r" rtl="1">
              <a:buNone/>
            </a:pPr>
            <a:r>
              <a:rPr lang="fa-IR" sz="2400" dirty="0"/>
              <a:t>وقتی </a:t>
            </a:r>
            <a:r>
              <a:rPr lang="en-US" sz="2400" b="1" dirty="0" err="1"/>
              <a:t>in_dep</a:t>
            </a:r>
            <a:r>
              <a:rPr lang="en-US" sz="2400" dirty="0"/>
              <a:t> </a:t>
            </a:r>
            <a:r>
              <a:rPr lang="fa-IR" sz="2400" dirty="0"/>
              <a:t>را به دو رابطه </a:t>
            </a:r>
            <a:r>
              <a:rPr lang="en-US" sz="2400" i="1" dirty="0"/>
              <a:t>instructor</a:t>
            </a:r>
            <a:r>
              <a:rPr lang="en-US" sz="2400" dirty="0"/>
              <a:t> </a:t>
            </a:r>
            <a:r>
              <a:rPr lang="fa-IR" sz="2400" dirty="0"/>
              <a:t>و </a:t>
            </a:r>
            <a:r>
              <a:rPr lang="en-US" sz="2400" i="1" dirty="0"/>
              <a:t>department</a:t>
            </a:r>
            <a:r>
              <a:rPr lang="en-US" sz="2400" dirty="0"/>
              <a:t> </a:t>
            </a:r>
            <a:r>
              <a:rPr lang="fa-IR" sz="2400" dirty="0"/>
              <a:t>تجزیه می‌کنیم،</a:t>
            </a:r>
            <a:r>
              <a:rPr lang="en-US" altLang="en-US" i="1" dirty="0">
                <a:sym typeface="Monotype Sorts" pitchFamily="-84" charset="2"/>
              </a:rPr>
              <a:t> </a:t>
            </a:r>
          </a:p>
          <a:p>
            <a:pPr lvl="1" algn="r" rtl="1"/>
            <a:r>
              <a:rPr lang="fa-IR" sz="2400" dirty="0"/>
              <a:t>رابطه </a:t>
            </a:r>
            <a:r>
              <a:rPr lang="en-US" sz="2400" b="1" dirty="0"/>
              <a:t>instructor</a:t>
            </a:r>
            <a:r>
              <a:rPr lang="en-US" sz="2400" dirty="0"/>
              <a:t> </a:t>
            </a:r>
            <a:r>
              <a:rPr lang="fa-IR" sz="2400" dirty="0"/>
              <a:t>در </a:t>
            </a:r>
            <a:r>
              <a:rPr lang="en-US" sz="2400" dirty="0"/>
              <a:t>BCNF </a:t>
            </a:r>
            <a:r>
              <a:rPr lang="fa-IR" sz="2400" dirty="0"/>
              <a:t>است.</a:t>
            </a:r>
            <a:endParaRPr lang="en-US" altLang="en-US" dirty="0">
              <a:sym typeface="Monotype Sorts" pitchFamily="-84" charset="2"/>
            </a:endParaRPr>
          </a:p>
          <a:p>
            <a:pPr lvl="1" algn="r" rtl="1"/>
            <a:r>
              <a:rPr lang="fa-IR" sz="2400" dirty="0"/>
              <a:t>رابطه </a:t>
            </a:r>
            <a:r>
              <a:rPr lang="en-US" sz="2400" b="1" dirty="0"/>
              <a:t>department</a:t>
            </a:r>
            <a:r>
              <a:rPr lang="en-US" sz="2400" dirty="0"/>
              <a:t> </a:t>
            </a:r>
            <a:r>
              <a:rPr lang="fa-IR" sz="2400" dirty="0"/>
              <a:t>نیز در </a:t>
            </a:r>
            <a:r>
              <a:rPr lang="en-US" sz="2400" dirty="0"/>
              <a:t>BCNF </a:t>
            </a:r>
            <a:r>
              <a:rPr lang="fa-IR" sz="2400" dirty="0"/>
              <a:t>است.</a:t>
            </a:r>
            <a:endParaRPr lang="en-US" altLang="en-US" dirty="0">
              <a:sym typeface="Monotype Sorts" pitchFamily="-84" charset="2"/>
            </a:endParaRPr>
          </a:p>
          <a:p>
            <a:pPr>
              <a:buFont typeface="Monotype Sorts" pitchFamily="-84" charset="2"/>
              <a:buNone/>
            </a:pPr>
            <a:endParaRPr lang="en-US" altLang="en-US" sz="2800" dirty="0">
              <a:sym typeface="Monotype Sorts" pitchFamily="-84" charset="2"/>
            </a:endParaRPr>
          </a:p>
          <a:p>
            <a:pPr>
              <a:buFont typeface="Monotype Sorts" pitchFamily="-84" charset="2"/>
              <a:buNone/>
            </a:pPr>
            <a:endParaRPr lang="en-US" altLang="en-US" sz="2800" dirty="0">
              <a:sym typeface="Monotype Sorts" pitchFamily="-84" charset="2"/>
            </a:endParaRPr>
          </a:p>
          <a:p>
            <a:endParaRPr lang="en-US" altLang="en-US" sz="2800" i="1" dirty="0">
              <a:sym typeface="Greek Symbols"/>
            </a:endParaRPr>
          </a:p>
          <a:p>
            <a:endParaRPr lang="en-US" altLang="en-US" sz="2800" dirty="0">
              <a:sym typeface="Symbol" panose="05050102010706020507" pitchFamily="18" charset="2"/>
            </a:endParaRPr>
          </a:p>
        </p:txBody>
      </p:sp>
      <p:sp>
        <p:nvSpPr>
          <p:cNvPr id="3" name="TextBox 2">
            <a:extLst>
              <a:ext uri="{FF2B5EF4-FFF2-40B4-BE49-F238E27FC236}">
                <a16:creationId xmlns:a16="http://schemas.microsoft.com/office/drawing/2014/main" id="{C570F802-196A-24F2-862D-364577000F07}"/>
              </a:ext>
            </a:extLst>
          </p:cNvPr>
          <p:cNvSpPr txBox="1"/>
          <p:nvPr/>
        </p:nvSpPr>
        <p:spPr>
          <a:xfrm>
            <a:off x="112540" y="1262097"/>
            <a:ext cx="6766561" cy="341632"/>
          </a:xfrm>
          <a:prstGeom prst="rect">
            <a:avLst/>
          </a:prstGeom>
          <a:noFill/>
        </p:spPr>
        <p:txBody>
          <a:bodyPr wrap="square">
            <a:spAutoFit/>
          </a:bodyPr>
          <a:lstStyle/>
          <a:p>
            <a:pPr algn="l">
              <a:lnSpc>
                <a:spcPct val="90000"/>
              </a:lnSpc>
            </a:pPr>
            <a:r>
              <a:rPr lang="en-US" altLang="en-US" sz="1800" i="1" dirty="0" err="1"/>
              <a:t>in_dep</a:t>
            </a:r>
            <a:r>
              <a:rPr lang="en-US" altLang="en-US" sz="1800" i="1" dirty="0"/>
              <a:t> </a:t>
            </a:r>
            <a:r>
              <a:rPr lang="en-US" altLang="en-US" sz="1800" dirty="0"/>
              <a:t>(</a:t>
            </a:r>
            <a:r>
              <a:rPr lang="en-US" altLang="en-US" sz="1800" i="1" u="sng" dirty="0"/>
              <a:t>ID, </a:t>
            </a:r>
            <a:r>
              <a:rPr lang="en-US" altLang="en-US" sz="1800" i="1" dirty="0"/>
              <a:t>name, salary</a:t>
            </a:r>
            <a:r>
              <a:rPr lang="en-US" altLang="en-US" sz="1800" i="1" u="sng" dirty="0"/>
              <a:t>, </a:t>
            </a:r>
            <a:r>
              <a:rPr lang="en-US" altLang="en-US" sz="1800" i="1" u="sng" dirty="0" err="1"/>
              <a:t>dept_name</a:t>
            </a:r>
            <a:r>
              <a:rPr lang="en-US" altLang="en-US" sz="1800" i="1" u="sng" dirty="0"/>
              <a:t>, </a:t>
            </a:r>
            <a:r>
              <a:rPr lang="en-US" altLang="en-US" sz="1800" i="1" dirty="0"/>
              <a:t>building, budget </a:t>
            </a:r>
            <a:r>
              <a:rPr lang="en-US" altLang="en-US" sz="1800" dirty="0"/>
              <a:t>)</a:t>
            </a:r>
            <a:endParaRPr lang="fa-IR" altLang="en-US" sz="1800" dirty="0"/>
          </a:p>
        </p:txBody>
      </p:sp>
    </p:spTree>
    <p:extLst>
      <p:ext uri="{BB962C8B-B14F-4D97-AF65-F5344CB8AC3E}">
        <p14:creationId xmlns:p14="http://schemas.microsoft.com/office/powerpoint/2010/main" val="112074512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83011">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83011">
                                            <p:txEl>
                                              <p:pRg st="1" end="1"/>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683011">
                                            <p:txEl>
                                              <p:pRg st="2" end="2"/>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683011">
                                            <p:txEl>
                                              <p:pRg st="3" end="3"/>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683011">
                                            <p:txEl>
                                              <p:pRg st="4" end="4"/>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683011">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683011">
                                            <p:txEl>
                                              <p:pRg st="6" end="6"/>
                                            </p:txEl>
                                          </p:spTgt>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683011">
                                            <p:txEl>
                                              <p:pRg st="7" end="7"/>
                                            </p:txEl>
                                          </p:spTgt>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683011">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83011" grpId="0" build="p"/>
    </p:bldLst>
  </p:timing>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83010" name="Rectangle 2"/>
          <p:cNvSpPr>
            <a:spLocks noGrp="1" noChangeArrowheads="1"/>
          </p:cNvSpPr>
          <p:nvPr>
            <p:ph type="title"/>
          </p:nvPr>
        </p:nvSpPr>
        <p:spPr/>
        <p:txBody>
          <a:bodyPr/>
          <a:lstStyle/>
          <a:p>
            <a:pPr>
              <a:defRPr/>
            </a:pPr>
            <a:r>
              <a:rPr lang="en-US" altLang="en-US" sz="2800" dirty="0">
                <a:effectLst>
                  <a:outerShdw blurRad="38100" dist="38100" dir="2700000" algn="tl">
                    <a:srgbClr val="C0C0C0"/>
                  </a:outerShdw>
                </a:effectLst>
                <a:ea typeface="ＭＳ Ｐゴシック" pitchFamily="34" charset="-128"/>
              </a:rPr>
              <a:t>Decomposing a Schema into BCNF</a:t>
            </a:r>
          </a:p>
        </p:txBody>
      </p:sp>
      <p:sp>
        <p:nvSpPr>
          <p:cNvPr id="683011" name="Rectangle 3"/>
          <p:cNvSpPr>
            <a:spLocks noGrp="1" noChangeArrowheads="1"/>
          </p:cNvSpPr>
          <p:nvPr>
            <p:ph idx="1"/>
          </p:nvPr>
        </p:nvSpPr>
        <p:spPr>
          <a:xfrm>
            <a:off x="768350" y="1163639"/>
            <a:ext cx="7399106" cy="4334953"/>
          </a:xfrm>
        </p:spPr>
        <p:txBody>
          <a:bodyPr/>
          <a:lstStyle/>
          <a:p>
            <a:pPr algn="r" rtl="1">
              <a:lnSpc>
                <a:spcPct val="90000"/>
              </a:lnSpc>
            </a:pPr>
            <a:r>
              <a:rPr lang="fa-IR" sz="2400" dirty="0"/>
              <a:t>فرض میکنیم </a:t>
            </a:r>
            <a:r>
              <a:rPr lang="en-US" sz="2400" dirty="0"/>
              <a:t>R </a:t>
            </a:r>
            <a:r>
              <a:rPr lang="fa-IR" sz="2400" dirty="0"/>
              <a:t>یک </a:t>
            </a:r>
            <a:r>
              <a:rPr lang="fa-IR" sz="2400" dirty="0" err="1"/>
              <a:t>شِمای</a:t>
            </a:r>
            <a:r>
              <a:rPr lang="fa-IR" sz="2400" dirty="0"/>
              <a:t> رابطه باشد که در </a:t>
            </a:r>
            <a:r>
              <a:rPr lang="en-US" sz="2400" dirty="0"/>
              <a:t>BCNF </a:t>
            </a:r>
            <a:r>
              <a:rPr lang="fa-IR" sz="2400" dirty="0"/>
              <a:t>نیست.</a:t>
            </a:r>
            <a:br>
              <a:rPr lang="fa-IR" sz="2400" dirty="0"/>
            </a:br>
            <a:r>
              <a:rPr lang="fa-IR" sz="2400" dirty="0"/>
              <a:t>اگر </a:t>
            </a:r>
            <a:r>
              <a:rPr lang="el-GR" sz="2400" dirty="0"/>
              <a:t>α → β </a:t>
            </a:r>
            <a:r>
              <a:rPr lang="fa-IR" sz="2400" dirty="0" err="1"/>
              <a:t>وابستگیِ</a:t>
            </a:r>
            <a:r>
              <a:rPr lang="fa-IR" sz="2400" dirty="0"/>
              <a:t> </a:t>
            </a:r>
            <a:r>
              <a:rPr lang="fa-IR" sz="2400" dirty="0" err="1"/>
              <a:t>تابعی‌ای</a:t>
            </a:r>
            <a:r>
              <a:rPr lang="fa-IR" sz="2400" dirty="0"/>
              <a:t> باشد که باعث </a:t>
            </a:r>
            <a:r>
              <a:rPr lang="fa-IR" sz="2400" b="1" dirty="0"/>
              <a:t>نقض</a:t>
            </a:r>
            <a:r>
              <a:rPr lang="fa-IR" sz="2400" dirty="0"/>
              <a:t> </a:t>
            </a:r>
            <a:r>
              <a:rPr lang="en-US" sz="2400" dirty="0"/>
              <a:t>BCNF </a:t>
            </a:r>
            <a:r>
              <a:rPr lang="fa-IR" sz="2400" dirty="0"/>
              <a:t>شده است.</a:t>
            </a:r>
            <a:endParaRPr lang="en-US" altLang="en-US" dirty="0"/>
          </a:p>
          <a:p>
            <a:pPr algn="r" rtl="1">
              <a:lnSpc>
                <a:spcPct val="90000"/>
              </a:lnSpc>
            </a:pPr>
            <a:r>
              <a:rPr lang="fa-IR" sz="1800" dirty="0"/>
              <a:t>ما </a:t>
            </a:r>
            <a:r>
              <a:rPr lang="en-US" sz="1800" dirty="0"/>
              <a:t>R </a:t>
            </a:r>
            <a:r>
              <a:rPr lang="fa-IR" sz="1800" dirty="0"/>
              <a:t>را به دو رابطه تجزیه </a:t>
            </a:r>
            <a:r>
              <a:rPr lang="fa-IR" sz="1800" dirty="0" err="1"/>
              <a:t>می‌کنیم</a:t>
            </a:r>
            <a:r>
              <a:rPr lang="fa-IR" sz="1800" dirty="0"/>
              <a:t>:</a:t>
            </a:r>
            <a:endParaRPr lang="en-US" altLang="en-US" sz="1700" dirty="0"/>
          </a:p>
          <a:p>
            <a:pPr lvl="1" algn="r" rtl="1">
              <a:lnSpc>
                <a:spcPct val="90000"/>
              </a:lnSpc>
              <a:buFont typeface="Times" panose="02020603050405020304" pitchFamily="18" charset="0"/>
              <a:buChar char="•"/>
            </a:pPr>
            <a:r>
              <a:rPr lang="en-US" altLang="en-US" sz="1700" dirty="0"/>
              <a:t>(</a:t>
            </a:r>
            <a:r>
              <a:rPr lang="en-US" altLang="en-US" sz="1700" dirty="0">
                <a:sym typeface="Symbol" panose="05050102010706020507" pitchFamily="18" charset="2"/>
              </a:rPr>
              <a:t></a:t>
            </a:r>
            <a:r>
              <a:rPr lang="en-US" altLang="en-US" sz="1700" dirty="0">
                <a:sym typeface="Greek Symbols"/>
              </a:rPr>
              <a:t> U </a:t>
            </a:r>
            <a:r>
              <a:rPr lang="en-US" altLang="en-US" sz="1700" dirty="0">
                <a:sym typeface="Symbol" panose="05050102010706020507" pitchFamily="18" charset="2"/>
              </a:rPr>
              <a:t></a:t>
            </a:r>
            <a:r>
              <a:rPr lang="en-US" altLang="en-US" sz="1700" i="1" dirty="0">
                <a:sym typeface="Symbol" panose="05050102010706020507" pitchFamily="18" charset="2"/>
              </a:rPr>
              <a:t> </a:t>
            </a:r>
            <a:r>
              <a:rPr lang="en-US" altLang="en-US" sz="1700" dirty="0">
                <a:sym typeface="Symbol" panose="05050102010706020507" pitchFamily="18" charset="2"/>
              </a:rPr>
              <a:t>)</a:t>
            </a:r>
            <a:r>
              <a:rPr lang="fa-IR" altLang="en-US" sz="1700" dirty="0">
                <a:sym typeface="Symbol" panose="05050102010706020507" pitchFamily="18" charset="2"/>
              </a:rPr>
              <a:t> در یک رابطه جدید</a:t>
            </a:r>
            <a:endParaRPr lang="en-US" altLang="en-US" sz="1700" dirty="0"/>
          </a:p>
          <a:p>
            <a:pPr lvl="1" algn="r" rtl="1">
              <a:lnSpc>
                <a:spcPct val="90000"/>
              </a:lnSpc>
              <a:buFont typeface="Times" panose="02020603050405020304" pitchFamily="18" charset="0"/>
              <a:buChar char="•"/>
            </a:pPr>
            <a:r>
              <a:rPr lang="en-US" altLang="en-US" sz="1700" dirty="0"/>
              <a:t>( </a:t>
            </a:r>
            <a:r>
              <a:rPr lang="en-US" altLang="en-US" sz="1700" i="1" dirty="0"/>
              <a:t>R</a:t>
            </a:r>
            <a:r>
              <a:rPr lang="en-US" altLang="en-US" sz="1700" dirty="0"/>
              <a:t> - ( </a:t>
            </a:r>
            <a:r>
              <a:rPr lang="en-US" altLang="en-US" sz="1700" i="1" dirty="0">
                <a:sym typeface="Symbol" panose="05050102010706020507" pitchFamily="18" charset="2"/>
              </a:rPr>
              <a:t> - </a:t>
            </a:r>
            <a:r>
              <a:rPr lang="en-US" altLang="en-US" sz="1700" dirty="0">
                <a:sym typeface="Symbol" panose="05050102010706020507" pitchFamily="18" charset="2"/>
              </a:rPr>
              <a:t> ) )</a:t>
            </a:r>
            <a:r>
              <a:rPr lang="fa-IR" altLang="en-US" sz="1700" dirty="0">
                <a:sym typeface="Symbol" panose="05050102010706020507" pitchFamily="18" charset="2"/>
              </a:rPr>
              <a:t> در یک رابطه جدید</a:t>
            </a:r>
            <a:endParaRPr lang="en-US" altLang="en-US" sz="1700" dirty="0"/>
          </a:p>
          <a:p>
            <a:pPr algn="r" rtl="1">
              <a:lnSpc>
                <a:spcPct val="90000"/>
              </a:lnSpc>
            </a:pPr>
            <a:r>
              <a:rPr lang="fa-IR" sz="1800" dirty="0"/>
              <a:t>در مثال ما یعنی </a:t>
            </a:r>
            <a:r>
              <a:rPr lang="en-US" sz="1800" dirty="0" err="1"/>
              <a:t>in_dep</a:t>
            </a:r>
            <a:r>
              <a:rPr lang="fa-IR" sz="1800" dirty="0"/>
              <a:t>:</a:t>
            </a:r>
            <a:endParaRPr lang="en-US" altLang="en-US" sz="1700" dirty="0"/>
          </a:p>
          <a:p>
            <a:pPr lvl="1" algn="r" rtl="1">
              <a:lnSpc>
                <a:spcPct val="90000"/>
              </a:lnSpc>
            </a:pPr>
            <a:r>
              <a:rPr lang="en-US" altLang="en-US" sz="1700" dirty="0">
                <a:sym typeface="Symbol" panose="05050102010706020507" pitchFamily="18" charset="2"/>
              </a:rPr>
              <a:t> = </a:t>
            </a:r>
            <a:r>
              <a:rPr lang="en-US" altLang="en-US" sz="1700" i="1" dirty="0" err="1">
                <a:sym typeface="Symbol" panose="05050102010706020507" pitchFamily="18" charset="2"/>
              </a:rPr>
              <a:t>dept_name</a:t>
            </a:r>
            <a:endParaRPr lang="en-US" altLang="en-US" sz="1700" dirty="0">
              <a:sym typeface="Symbol" panose="05050102010706020507" pitchFamily="18" charset="2"/>
            </a:endParaRPr>
          </a:p>
          <a:p>
            <a:pPr lvl="1" algn="r" rtl="1">
              <a:lnSpc>
                <a:spcPct val="90000"/>
              </a:lnSpc>
            </a:pPr>
            <a:r>
              <a:rPr lang="en-US" altLang="en-US" sz="1700" i="1" dirty="0">
                <a:sym typeface="Symbol" panose="05050102010706020507" pitchFamily="18" charset="2"/>
              </a:rPr>
              <a:t> </a:t>
            </a:r>
            <a:r>
              <a:rPr lang="en-US" altLang="en-US" sz="1700" dirty="0">
                <a:sym typeface="Symbol" panose="05050102010706020507" pitchFamily="18" charset="2"/>
              </a:rPr>
              <a:t>=</a:t>
            </a:r>
            <a:r>
              <a:rPr lang="en-US" altLang="en-US" sz="1700" i="1" dirty="0">
                <a:sym typeface="Symbol" panose="05050102010706020507" pitchFamily="18" charset="2"/>
              </a:rPr>
              <a:t> building, budget</a:t>
            </a:r>
          </a:p>
          <a:p>
            <a:pPr lvl="1" algn="r" rtl="1">
              <a:lnSpc>
                <a:spcPct val="90000"/>
              </a:lnSpc>
              <a:buFont typeface="Monotype Sorts" pitchFamily="-84" charset="2"/>
              <a:buNone/>
            </a:pPr>
            <a:r>
              <a:rPr lang="fa-IR" sz="1800" dirty="0"/>
              <a:t>و </a:t>
            </a:r>
            <a:r>
              <a:rPr lang="en-US" sz="1800" dirty="0" err="1"/>
              <a:t>in_dep</a:t>
            </a:r>
            <a:r>
              <a:rPr lang="en-US" sz="1800" dirty="0"/>
              <a:t> </a:t>
            </a:r>
            <a:r>
              <a:rPr lang="fa-IR" sz="1800" dirty="0"/>
              <a:t>جایگزین </a:t>
            </a:r>
            <a:r>
              <a:rPr lang="fa-IR" sz="1800" dirty="0" err="1"/>
              <a:t>می‌شود</a:t>
            </a:r>
            <a:r>
              <a:rPr lang="fa-IR" sz="1800" dirty="0"/>
              <a:t> با:</a:t>
            </a:r>
            <a:endParaRPr lang="en-US" altLang="en-US" sz="1700" dirty="0"/>
          </a:p>
          <a:p>
            <a:pPr lvl="1" algn="r" rtl="1">
              <a:lnSpc>
                <a:spcPct val="90000"/>
              </a:lnSpc>
            </a:pPr>
            <a:r>
              <a:rPr lang="en-US" altLang="en-US" sz="1700" dirty="0"/>
              <a:t> (</a:t>
            </a:r>
            <a:r>
              <a:rPr lang="en-US" altLang="en-US" sz="1700" dirty="0">
                <a:sym typeface="Symbol" panose="05050102010706020507" pitchFamily="18" charset="2"/>
              </a:rPr>
              <a:t></a:t>
            </a:r>
            <a:r>
              <a:rPr lang="en-US" altLang="en-US" sz="1700" dirty="0">
                <a:sym typeface="Greek Symbols"/>
              </a:rPr>
              <a:t> U </a:t>
            </a:r>
            <a:r>
              <a:rPr lang="en-US" altLang="en-US" sz="1700" dirty="0">
                <a:sym typeface="Symbol" panose="05050102010706020507" pitchFamily="18" charset="2"/>
              </a:rPr>
              <a:t></a:t>
            </a:r>
            <a:r>
              <a:rPr lang="en-US" altLang="en-US" sz="1700" i="1" dirty="0">
                <a:sym typeface="Symbol" panose="05050102010706020507" pitchFamily="18" charset="2"/>
              </a:rPr>
              <a:t> </a:t>
            </a:r>
            <a:r>
              <a:rPr lang="en-US" altLang="en-US" sz="1700" dirty="0">
                <a:sym typeface="Symbol" panose="05050102010706020507" pitchFamily="18" charset="2"/>
              </a:rPr>
              <a:t>) = ( </a:t>
            </a:r>
            <a:r>
              <a:rPr lang="en-US" altLang="en-US" sz="1700" i="1" dirty="0" err="1">
                <a:sym typeface="Symbol" panose="05050102010706020507" pitchFamily="18" charset="2"/>
              </a:rPr>
              <a:t>dept_name</a:t>
            </a:r>
            <a:r>
              <a:rPr lang="en-US" altLang="en-US" sz="1700" i="1" dirty="0">
                <a:sym typeface="Symbol" panose="05050102010706020507" pitchFamily="18" charset="2"/>
              </a:rPr>
              <a:t>, building, budget</a:t>
            </a:r>
            <a:r>
              <a:rPr lang="en-US" altLang="en-US" sz="1700" dirty="0">
                <a:sym typeface="Symbol" panose="05050102010706020507" pitchFamily="18" charset="2"/>
              </a:rPr>
              <a:t> )</a:t>
            </a:r>
          </a:p>
          <a:p>
            <a:pPr lvl="1" algn="r" rtl="1">
              <a:lnSpc>
                <a:spcPct val="90000"/>
              </a:lnSpc>
            </a:pPr>
            <a:r>
              <a:rPr lang="en-US" altLang="en-US" sz="1700" dirty="0"/>
              <a:t>( </a:t>
            </a:r>
            <a:r>
              <a:rPr lang="en-US" altLang="en-US" sz="1700" i="1" dirty="0"/>
              <a:t>R</a:t>
            </a:r>
            <a:r>
              <a:rPr lang="en-US" altLang="en-US" sz="1700" dirty="0"/>
              <a:t> - ( </a:t>
            </a:r>
            <a:r>
              <a:rPr lang="en-US" altLang="en-US" sz="1700" i="1" dirty="0">
                <a:sym typeface="Symbol" panose="05050102010706020507" pitchFamily="18" charset="2"/>
              </a:rPr>
              <a:t> - </a:t>
            </a:r>
            <a:r>
              <a:rPr lang="en-US" altLang="en-US" sz="1700" dirty="0">
                <a:sym typeface="Symbol" panose="05050102010706020507" pitchFamily="18" charset="2"/>
              </a:rPr>
              <a:t> ) ) = ( </a:t>
            </a:r>
            <a:r>
              <a:rPr lang="en-US" altLang="en-US" sz="1700" i="1" dirty="0">
                <a:sym typeface="Symbol" panose="05050102010706020507" pitchFamily="18" charset="2"/>
              </a:rPr>
              <a:t>ID, name, </a:t>
            </a:r>
            <a:r>
              <a:rPr lang="en-US" altLang="en-US" sz="1700" i="1" dirty="0" err="1">
                <a:sym typeface="Symbol" panose="05050102010706020507" pitchFamily="18" charset="2"/>
              </a:rPr>
              <a:t>dept_name</a:t>
            </a:r>
            <a:r>
              <a:rPr lang="en-US" altLang="en-US" sz="1700" i="1" dirty="0">
                <a:sym typeface="Symbol" panose="05050102010706020507" pitchFamily="18" charset="2"/>
              </a:rPr>
              <a:t>, salary</a:t>
            </a:r>
            <a:r>
              <a:rPr lang="en-US" altLang="en-US" sz="1700" dirty="0">
                <a:sym typeface="Symbol" panose="05050102010706020507" pitchFamily="18" charset="2"/>
              </a:rPr>
              <a:t> )</a:t>
            </a:r>
          </a:p>
        </p:txBody>
      </p:sp>
    </p:spTree>
    <p:extLst>
      <p:ext uri="{BB962C8B-B14F-4D97-AF65-F5344CB8AC3E}">
        <p14:creationId xmlns:p14="http://schemas.microsoft.com/office/powerpoint/2010/main" val="3462548307"/>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grpId="0" nodeType="clickEffect">
                                  <p:stCondLst>
                                    <p:cond delay="0"/>
                                  </p:stCondLst>
                                  <p:childTnLst>
                                    <p:set>
                                      <p:cBhvr>
                                        <p:cTn id="6" dur="1" fill="hold">
                                          <p:stCondLst>
                                            <p:cond delay="499"/>
                                          </p:stCondLst>
                                        </p:cTn>
                                        <p:tgtEl>
                                          <p:spTgt spid="683011">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499"/>
                                          </p:stCondLst>
                                        </p:cTn>
                                        <p:tgtEl>
                                          <p:spTgt spid="683011">
                                            <p:txEl>
                                              <p:pRg st="1" end="1"/>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499"/>
                                          </p:stCondLst>
                                        </p:cTn>
                                        <p:tgtEl>
                                          <p:spTgt spid="683011">
                                            <p:txEl>
                                              <p:pRg st="2" end="2"/>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499"/>
                                          </p:stCondLst>
                                        </p:cTn>
                                        <p:tgtEl>
                                          <p:spTgt spid="683011">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499"/>
                                          </p:stCondLst>
                                        </p:cTn>
                                        <p:tgtEl>
                                          <p:spTgt spid="683011">
                                            <p:txEl>
                                              <p:pRg st="4" end="4"/>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499"/>
                                          </p:stCondLst>
                                        </p:cTn>
                                        <p:tgtEl>
                                          <p:spTgt spid="683011">
                                            <p:txEl>
                                              <p:pRg st="5" end="5"/>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499"/>
                                          </p:stCondLst>
                                        </p:cTn>
                                        <p:tgtEl>
                                          <p:spTgt spid="683011">
                                            <p:txEl>
                                              <p:pRg st="6" end="6"/>
                                            </p:txEl>
                                          </p:spTgt>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499"/>
                                          </p:stCondLst>
                                        </p:cTn>
                                        <p:tgtEl>
                                          <p:spTgt spid="683011">
                                            <p:txEl>
                                              <p:pRg st="7" end="7"/>
                                            </p:txEl>
                                          </p:spTgt>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499"/>
                                          </p:stCondLst>
                                        </p:cTn>
                                        <p:tgtEl>
                                          <p:spTgt spid="683011">
                                            <p:txEl>
                                              <p:pRg st="8" end="8"/>
                                            </p:txEl>
                                          </p:spTgt>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499"/>
                                          </p:stCondLst>
                                        </p:cTn>
                                        <p:tgtEl>
                                          <p:spTgt spid="683011">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83011" grpId="0" build="p" autoUpdateAnimBg="0"/>
    </p:bldLst>
  </p:timing>
</p:sld>
</file>

<file path=ppt/slides/slide63.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924674" name="Rectangle 2"/>
          <p:cNvSpPr>
            <a:spLocks noGrp="1" noChangeArrowheads="1"/>
          </p:cNvSpPr>
          <p:nvPr>
            <p:ph type="title"/>
          </p:nvPr>
        </p:nvSpPr>
        <p:spPr/>
        <p:txBody>
          <a:bodyPr/>
          <a:lstStyle/>
          <a:p>
            <a:pPr>
              <a:defRPr/>
            </a:pPr>
            <a:r>
              <a:rPr lang="en-US" sz="2800" dirty="0">
                <a:ea typeface="ＭＳ Ｐゴシック" pitchFamily="34" charset="-128"/>
              </a:rPr>
              <a:t>Example</a:t>
            </a:r>
          </a:p>
        </p:txBody>
      </p:sp>
      <p:sp>
        <p:nvSpPr>
          <p:cNvPr id="924675" name="Rectangle 3"/>
          <p:cNvSpPr>
            <a:spLocks noGrp="1" noChangeArrowheads="1"/>
          </p:cNvSpPr>
          <p:nvPr>
            <p:ph idx="1"/>
          </p:nvPr>
        </p:nvSpPr>
        <p:spPr>
          <a:xfrm>
            <a:off x="768351" y="1093789"/>
            <a:ext cx="7607554" cy="4502340"/>
          </a:xfrm>
        </p:spPr>
        <p:txBody>
          <a:bodyPr/>
          <a:lstStyle/>
          <a:p>
            <a:pPr>
              <a:tabLst>
                <a:tab pos="2054225" algn="l"/>
              </a:tabLst>
            </a:pPr>
            <a:r>
              <a:rPr lang="en-US" altLang="en-US" sz="1700" i="1" dirty="0"/>
              <a:t>R = (A, B, C)</a:t>
            </a:r>
            <a:br>
              <a:rPr lang="en-US" altLang="en-US" sz="1700" i="1" dirty="0"/>
            </a:br>
            <a:r>
              <a:rPr lang="en-US" altLang="en-US" sz="1700" i="1" dirty="0"/>
              <a:t>F = {A </a:t>
            </a:r>
            <a:r>
              <a:rPr lang="en-US" altLang="en-US" sz="1700" dirty="0">
                <a:sym typeface="Symbol" panose="05050102010706020507" pitchFamily="18" charset="2"/>
              </a:rPr>
              <a:t></a:t>
            </a:r>
            <a:r>
              <a:rPr lang="en-US" altLang="en-US" sz="1700" dirty="0">
                <a:sym typeface="Monotype Sorts" pitchFamily="-84" charset="2"/>
              </a:rPr>
              <a:t> </a:t>
            </a:r>
            <a:r>
              <a:rPr lang="en-US" altLang="en-US" sz="1700" i="1" dirty="0">
                <a:sym typeface="Monotype Sorts" pitchFamily="-84" charset="2"/>
              </a:rPr>
              <a:t>B, B </a:t>
            </a:r>
            <a:r>
              <a:rPr lang="en-US" altLang="en-US" sz="1700" dirty="0">
                <a:sym typeface="Symbol" panose="05050102010706020507" pitchFamily="18" charset="2"/>
              </a:rPr>
              <a:t></a:t>
            </a:r>
            <a:r>
              <a:rPr lang="en-US" altLang="en-US" sz="1700" dirty="0">
                <a:sym typeface="Monotype Sorts" pitchFamily="-84" charset="2"/>
              </a:rPr>
              <a:t> </a:t>
            </a:r>
            <a:r>
              <a:rPr lang="en-US" altLang="en-US" sz="1700" i="1" dirty="0">
                <a:sym typeface="Monotype Sorts" pitchFamily="-84" charset="2"/>
              </a:rPr>
              <a:t>C)</a:t>
            </a:r>
            <a:endParaRPr lang="en-US" altLang="en-US" sz="1700" dirty="0">
              <a:sym typeface="Monotype Sorts" pitchFamily="-84" charset="2"/>
            </a:endParaRPr>
          </a:p>
          <a:p>
            <a:pPr>
              <a:tabLst>
                <a:tab pos="2054225" algn="l"/>
              </a:tabLst>
            </a:pPr>
            <a:r>
              <a:rPr lang="en-US" altLang="en-US" sz="1700" i="1" dirty="0">
                <a:sym typeface="Monotype Sorts" pitchFamily="-84" charset="2"/>
              </a:rPr>
              <a:t>R</a:t>
            </a:r>
            <a:r>
              <a:rPr lang="en-US" altLang="en-US" sz="1700" baseline="-25000" dirty="0">
                <a:sym typeface="Monotype Sorts" pitchFamily="-84" charset="2"/>
              </a:rPr>
              <a:t>1</a:t>
            </a:r>
            <a:r>
              <a:rPr lang="en-US" altLang="en-US" sz="1700" i="1" dirty="0">
                <a:sym typeface="Monotype Sorts" pitchFamily="-84" charset="2"/>
              </a:rPr>
              <a:t> = (A, B),   R</a:t>
            </a:r>
            <a:r>
              <a:rPr lang="en-US" altLang="en-US" sz="1700" baseline="-25000" dirty="0">
                <a:sym typeface="Monotype Sorts" pitchFamily="-84" charset="2"/>
              </a:rPr>
              <a:t>2</a:t>
            </a:r>
            <a:r>
              <a:rPr lang="en-US" altLang="en-US" sz="1700" i="1" dirty="0">
                <a:sym typeface="Monotype Sorts" pitchFamily="-84" charset="2"/>
              </a:rPr>
              <a:t> = (B, C)</a:t>
            </a:r>
          </a:p>
          <a:p>
            <a:pPr lvl="1">
              <a:tabLst>
                <a:tab pos="2054225" algn="l"/>
              </a:tabLst>
            </a:pPr>
            <a:r>
              <a:rPr lang="fa-IR" sz="1800" dirty="0"/>
              <a:t>:تجزیه </a:t>
            </a:r>
            <a:r>
              <a:rPr lang="fa-IR" sz="1800" dirty="0" err="1"/>
              <a:t>بدون‌ِاتلافِ‌ِ</a:t>
            </a:r>
            <a:r>
              <a:rPr lang="fa-IR" sz="1800" dirty="0"/>
              <a:t> پیوست</a:t>
            </a:r>
            <a:endParaRPr lang="en-US" altLang="en-US" sz="1700" dirty="0">
              <a:sym typeface="Monotype Sorts" pitchFamily="-84" charset="2"/>
            </a:endParaRPr>
          </a:p>
          <a:p>
            <a:pPr lvl="1">
              <a:buFont typeface="Monotype Sorts" pitchFamily="-84" charset="2"/>
              <a:buNone/>
              <a:tabLst>
                <a:tab pos="2054225" algn="l"/>
              </a:tabLst>
            </a:pPr>
            <a:r>
              <a:rPr lang="en-US" altLang="en-US" sz="1700" dirty="0">
                <a:sym typeface="Monotype Sorts" pitchFamily="-84" charset="2"/>
              </a:rPr>
              <a:t>		 </a:t>
            </a:r>
            <a:r>
              <a:rPr lang="en-US" altLang="en-US" sz="1700" i="1" dirty="0">
                <a:sym typeface="Monotype Sorts" pitchFamily="-84" charset="2"/>
              </a:rPr>
              <a:t>R</a:t>
            </a:r>
            <a:r>
              <a:rPr lang="en-US" altLang="en-US" sz="1700" baseline="-25000" dirty="0">
                <a:sym typeface="Monotype Sorts" pitchFamily="-84" charset="2"/>
              </a:rPr>
              <a:t>1  </a:t>
            </a:r>
            <a:r>
              <a:rPr lang="en-US" altLang="en-US" sz="1700" dirty="0">
                <a:sym typeface="Symbol" panose="05050102010706020507" pitchFamily="18" charset="2"/>
              </a:rPr>
              <a:t> </a:t>
            </a:r>
            <a:r>
              <a:rPr lang="en-US" altLang="en-US" sz="1700" i="1" dirty="0">
                <a:sym typeface="Monotype Sorts" pitchFamily="-84" charset="2"/>
              </a:rPr>
              <a:t>R</a:t>
            </a:r>
            <a:r>
              <a:rPr lang="en-US" altLang="en-US" sz="1700" baseline="-25000" dirty="0">
                <a:sym typeface="Monotype Sorts" pitchFamily="-84" charset="2"/>
              </a:rPr>
              <a:t>2</a:t>
            </a:r>
            <a:r>
              <a:rPr lang="en-US" altLang="en-US" sz="1700" i="1" dirty="0">
                <a:sym typeface="Monotype Sorts" pitchFamily="-84" charset="2"/>
              </a:rPr>
              <a:t> = </a:t>
            </a:r>
            <a:r>
              <a:rPr lang="en-US" altLang="en-US" sz="1700" dirty="0">
                <a:sym typeface="Monotype Sorts" pitchFamily="-84" charset="2"/>
              </a:rPr>
              <a:t>{</a:t>
            </a:r>
            <a:r>
              <a:rPr lang="en-US" altLang="en-US" sz="1700" i="1" dirty="0">
                <a:sym typeface="Monotype Sorts" pitchFamily="-84" charset="2"/>
              </a:rPr>
              <a:t>B</a:t>
            </a:r>
            <a:r>
              <a:rPr lang="en-US" altLang="en-US" sz="1700" dirty="0">
                <a:sym typeface="Monotype Sorts" pitchFamily="-84" charset="2"/>
              </a:rPr>
              <a:t>}</a:t>
            </a:r>
            <a:r>
              <a:rPr lang="en-US" altLang="en-US" sz="1700" i="1" dirty="0">
                <a:sym typeface="Monotype Sorts" pitchFamily="-84" charset="2"/>
              </a:rPr>
              <a:t>   </a:t>
            </a:r>
            <a:r>
              <a:rPr lang="en-US" altLang="en-US" sz="1700" dirty="0">
                <a:sym typeface="Monotype Sorts" pitchFamily="-84" charset="2"/>
              </a:rPr>
              <a:t>and </a:t>
            </a:r>
            <a:r>
              <a:rPr lang="en-US" altLang="en-US" sz="1700" i="1" dirty="0">
                <a:sym typeface="Monotype Sorts" pitchFamily="-84" charset="2"/>
              </a:rPr>
              <a:t>B </a:t>
            </a:r>
            <a:r>
              <a:rPr lang="en-US" altLang="en-US" sz="1700" dirty="0">
                <a:sym typeface="Symbol" panose="05050102010706020507" pitchFamily="18" charset="2"/>
              </a:rPr>
              <a:t></a:t>
            </a:r>
            <a:r>
              <a:rPr lang="en-US" altLang="en-US" sz="1700" dirty="0">
                <a:sym typeface="Monotype Sorts" pitchFamily="-84" charset="2"/>
              </a:rPr>
              <a:t> </a:t>
            </a:r>
            <a:r>
              <a:rPr lang="en-US" altLang="en-US" sz="1700" i="1" dirty="0">
                <a:sym typeface="Monotype Sorts" pitchFamily="-84" charset="2"/>
              </a:rPr>
              <a:t>BC</a:t>
            </a:r>
          </a:p>
          <a:p>
            <a:pPr lvl="1">
              <a:tabLst>
                <a:tab pos="2054225" algn="l"/>
              </a:tabLst>
            </a:pPr>
            <a:r>
              <a:rPr lang="fa-IR" sz="1800" dirty="0"/>
              <a:t>:</a:t>
            </a:r>
            <a:r>
              <a:rPr lang="fa-IR" sz="1800" dirty="0" err="1"/>
              <a:t>حفظ‌کننده</a:t>
            </a:r>
            <a:r>
              <a:rPr lang="fa-IR" sz="1800" dirty="0"/>
              <a:t> </a:t>
            </a:r>
            <a:r>
              <a:rPr lang="fa-IR" sz="1800" dirty="0" err="1"/>
              <a:t>وابستگی‌ها</a:t>
            </a:r>
            <a:endParaRPr lang="en-US" altLang="en-US" sz="1700" dirty="0">
              <a:sym typeface="Monotype Sorts" pitchFamily="-84" charset="2"/>
            </a:endParaRPr>
          </a:p>
          <a:p>
            <a:pPr>
              <a:tabLst>
                <a:tab pos="2054225" algn="l"/>
              </a:tabLst>
            </a:pPr>
            <a:r>
              <a:rPr lang="en-US" altLang="en-US" sz="1700" i="1" dirty="0">
                <a:sym typeface="Monotype Sorts" pitchFamily="-84" charset="2"/>
              </a:rPr>
              <a:t>R</a:t>
            </a:r>
            <a:r>
              <a:rPr lang="en-US" altLang="en-US" sz="1700" i="1" baseline="-25000" dirty="0">
                <a:sym typeface="Monotype Sorts" pitchFamily="-84" charset="2"/>
              </a:rPr>
              <a:t>1 </a:t>
            </a:r>
            <a:r>
              <a:rPr lang="en-US" altLang="en-US" sz="1700" i="1" dirty="0">
                <a:sym typeface="Monotype Sorts" pitchFamily="-84" charset="2"/>
              </a:rPr>
              <a:t>= (A, B),   R</a:t>
            </a:r>
            <a:r>
              <a:rPr lang="en-US" altLang="en-US" sz="1700" baseline="-25000" dirty="0">
                <a:sym typeface="Monotype Sorts" pitchFamily="-84" charset="2"/>
              </a:rPr>
              <a:t>2</a:t>
            </a:r>
            <a:r>
              <a:rPr lang="en-US" altLang="en-US" sz="1700" i="1" dirty="0">
                <a:sym typeface="Monotype Sorts" pitchFamily="-84" charset="2"/>
              </a:rPr>
              <a:t> = (A, C)</a:t>
            </a:r>
          </a:p>
          <a:p>
            <a:pPr lvl="1">
              <a:tabLst>
                <a:tab pos="2054225" algn="l"/>
              </a:tabLst>
            </a:pPr>
            <a:r>
              <a:rPr lang="fa-IR" sz="1600" dirty="0"/>
              <a:t>:تجزیه </a:t>
            </a:r>
            <a:r>
              <a:rPr lang="fa-IR" sz="1600" dirty="0" err="1"/>
              <a:t>بدون‌ِاتلافِ‌ِ</a:t>
            </a:r>
            <a:r>
              <a:rPr lang="fa-IR" sz="1600" dirty="0"/>
              <a:t> پیوست</a:t>
            </a:r>
            <a:endParaRPr lang="en-US" altLang="en-US" sz="1700" dirty="0">
              <a:sym typeface="Monotype Sorts" pitchFamily="-84" charset="2"/>
            </a:endParaRPr>
          </a:p>
          <a:p>
            <a:pPr lvl="1">
              <a:buFont typeface="Monotype Sorts" pitchFamily="-84" charset="2"/>
              <a:buNone/>
              <a:tabLst>
                <a:tab pos="2054225" algn="l"/>
              </a:tabLst>
            </a:pPr>
            <a:r>
              <a:rPr lang="en-US" altLang="en-US" sz="1700" dirty="0">
                <a:sym typeface="Monotype Sorts" pitchFamily="-84" charset="2"/>
              </a:rPr>
              <a:t>		 </a:t>
            </a:r>
            <a:r>
              <a:rPr lang="en-US" altLang="en-US" sz="1700" i="1" dirty="0">
                <a:sym typeface="Monotype Sorts" pitchFamily="-84" charset="2"/>
              </a:rPr>
              <a:t>R</a:t>
            </a:r>
            <a:r>
              <a:rPr lang="en-US" altLang="en-US" sz="1700" baseline="-25000" dirty="0">
                <a:sym typeface="Monotype Sorts" pitchFamily="-84" charset="2"/>
              </a:rPr>
              <a:t>1  </a:t>
            </a:r>
            <a:r>
              <a:rPr lang="en-US" altLang="en-US" sz="1700" dirty="0">
                <a:sym typeface="Symbol" panose="05050102010706020507" pitchFamily="18" charset="2"/>
              </a:rPr>
              <a:t> </a:t>
            </a:r>
            <a:r>
              <a:rPr lang="en-US" altLang="en-US" sz="1700" i="1" dirty="0">
                <a:sym typeface="Monotype Sorts" pitchFamily="-84" charset="2"/>
              </a:rPr>
              <a:t>R</a:t>
            </a:r>
            <a:r>
              <a:rPr lang="en-US" altLang="en-US" sz="1700" baseline="-25000" dirty="0">
                <a:sym typeface="Monotype Sorts" pitchFamily="-84" charset="2"/>
              </a:rPr>
              <a:t>2</a:t>
            </a:r>
            <a:r>
              <a:rPr lang="en-US" altLang="en-US" sz="1700" i="1" dirty="0">
                <a:sym typeface="Monotype Sorts" pitchFamily="-84" charset="2"/>
              </a:rPr>
              <a:t> =</a:t>
            </a:r>
            <a:r>
              <a:rPr lang="en-US" altLang="en-US" sz="1700" dirty="0">
                <a:sym typeface="Monotype Sorts" pitchFamily="-84" charset="2"/>
              </a:rPr>
              <a:t> {</a:t>
            </a:r>
            <a:r>
              <a:rPr lang="en-US" altLang="en-US" sz="1700" i="1" dirty="0">
                <a:sym typeface="Monotype Sorts" pitchFamily="-84" charset="2"/>
              </a:rPr>
              <a:t>A</a:t>
            </a:r>
            <a:r>
              <a:rPr lang="en-US" altLang="en-US" sz="1700" dirty="0">
                <a:sym typeface="Monotype Sorts" pitchFamily="-84" charset="2"/>
              </a:rPr>
              <a:t>}</a:t>
            </a:r>
            <a:r>
              <a:rPr lang="en-US" altLang="en-US" sz="1700" i="1" dirty="0">
                <a:sym typeface="Monotype Sorts" pitchFamily="-84" charset="2"/>
              </a:rPr>
              <a:t> </a:t>
            </a:r>
            <a:r>
              <a:rPr lang="en-US" altLang="en-US" sz="1700" dirty="0">
                <a:sym typeface="Monotype Sorts" pitchFamily="-84" charset="2"/>
              </a:rPr>
              <a:t>and </a:t>
            </a:r>
            <a:r>
              <a:rPr lang="en-US" altLang="en-US" sz="1700" i="1" dirty="0">
                <a:sym typeface="Monotype Sorts" pitchFamily="-84" charset="2"/>
              </a:rPr>
              <a:t>A </a:t>
            </a:r>
            <a:r>
              <a:rPr lang="en-US" altLang="en-US" sz="1700" dirty="0">
                <a:sym typeface="Symbol" panose="05050102010706020507" pitchFamily="18" charset="2"/>
              </a:rPr>
              <a:t></a:t>
            </a:r>
            <a:r>
              <a:rPr lang="en-US" altLang="en-US" sz="1700" dirty="0">
                <a:sym typeface="Monotype Sorts" pitchFamily="-84" charset="2"/>
              </a:rPr>
              <a:t> A</a:t>
            </a:r>
            <a:r>
              <a:rPr lang="en-US" altLang="en-US" sz="1700" i="1" dirty="0">
                <a:sym typeface="Monotype Sorts" pitchFamily="-84" charset="2"/>
              </a:rPr>
              <a:t>B</a:t>
            </a:r>
          </a:p>
          <a:p>
            <a:pPr lvl="1">
              <a:tabLst>
                <a:tab pos="2054225" algn="l"/>
              </a:tabLst>
            </a:pPr>
            <a:r>
              <a:rPr lang="fa-IR" sz="1800" dirty="0" err="1"/>
              <a:t>غیرِ</a:t>
            </a:r>
            <a:r>
              <a:rPr lang="fa-IR" sz="1800" dirty="0"/>
              <a:t> </a:t>
            </a:r>
            <a:r>
              <a:rPr lang="fa-IR" sz="1800" dirty="0" err="1"/>
              <a:t>حفظ‌کننده</a:t>
            </a:r>
            <a:r>
              <a:rPr lang="fa-IR" sz="1800" dirty="0"/>
              <a:t> وابستگی</a:t>
            </a:r>
            <a:br>
              <a:rPr lang="en-US" altLang="en-US" sz="1700" dirty="0">
                <a:sym typeface="Monotype Sorts" pitchFamily="-84" charset="2"/>
              </a:rPr>
            </a:br>
            <a:r>
              <a:rPr lang="en-US" altLang="en-US" sz="1700" dirty="0">
                <a:sym typeface="Monotype Sorts" pitchFamily="-84" charset="2"/>
              </a:rPr>
              <a:t>(</a:t>
            </a:r>
            <a:r>
              <a:rPr lang="fa-IR" altLang="en-US" sz="1700" dirty="0">
                <a:sym typeface="Monotype Sorts" pitchFamily="-84" charset="2"/>
              </a:rPr>
              <a:t>نمیتوانیم بگیم</a:t>
            </a:r>
            <a:r>
              <a:rPr lang="en-US" altLang="en-US" sz="1700" i="1" dirty="0">
                <a:sym typeface="Monotype Sorts" pitchFamily="-84" charset="2"/>
              </a:rPr>
              <a:t>B </a:t>
            </a:r>
            <a:r>
              <a:rPr lang="en-US" altLang="en-US" sz="1700" dirty="0">
                <a:sym typeface="Symbol" panose="05050102010706020507" pitchFamily="18" charset="2"/>
              </a:rPr>
              <a:t></a:t>
            </a:r>
            <a:r>
              <a:rPr lang="en-US" altLang="en-US" sz="1700" dirty="0">
                <a:sym typeface="Monotype Sorts" pitchFamily="-84" charset="2"/>
              </a:rPr>
              <a:t> </a:t>
            </a:r>
            <a:r>
              <a:rPr lang="en-US" altLang="en-US" sz="1700" i="1" dirty="0">
                <a:sym typeface="Monotype Sorts" pitchFamily="-84" charset="2"/>
              </a:rPr>
              <a:t>C </a:t>
            </a:r>
            <a:r>
              <a:rPr lang="fa-IR" altLang="en-US" sz="1700" dirty="0">
                <a:sym typeface="Monotype Sorts" pitchFamily="-84" charset="2"/>
              </a:rPr>
              <a:t>بدون محا</a:t>
            </a:r>
            <a:r>
              <a:rPr lang="fa-IR" sz="1600" dirty="0"/>
              <a:t>سبه</a:t>
            </a:r>
            <a:r>
              <a:rPr lang="en-US" altLang="en-US" sz="1700" i="1" dirty="0">
                <a:sym typeface="Monotype Sorts" pitchFamily="-84" charset="2"/>
              </a:rPr>
              <a:t>R</a:t>
            </a:r>
            <a:r>
              <a:rPr lang="en-US" altLang="en-US" sz="1700" i="1" baseline="-25000" dirty="0">
                <a:sym typeface="Monotype Sorts" pitchFamily="-84" charset="2"/>
              </a:rPr>
              <a:t>1 </a:t>
            </a:r>
            <a:r>
              <a:rPr lang="en-US" altLang="en-US" sz="1700" dirty="0">
                <a:sym typeface="Monotype Sorts" pitchFamily="-84" charset="2"/>
              </a:rPr>
              <a:t>    </a:t>
            </a:r>
            <a:r>
              <a:rPr lang="en-US" altLang="en-US" sz="1700" i="1" dirty="0">
                <a:sym typeface="Monotype Sorts" pitchFamily="-84" charset="2"/>
              </a:rPr>
              <a:t>R</a:t>
            </a:r>
            <a:r>
              <a:rPr lang="en-US" altLang="en-US" sz="1700" baseline="-25000" dirty="0">
                <a:sym typeface="Monotype Sorts" pitchFamily="-84" charset="2"/>
              </a:rPr>
              <a:t>2</a:t>
            </a:r>
            <a:r>
              <a:rPr lang="en-US" altLang="en-US" sz="1700" dirty="0">
                <a:sym typeface="Monotype Sorts" pitchFamily="-84" charset="2"/>
              </a:rPr>
              <a:t>)</a:t>
            </a:r>
          </a:p>
        </p:txBody>
      </p:sp>
      <p:pic>
        <p:nvPicPr>
          <p:cNvPr id="30724" name="Picture 4"/>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454525" y="4512499"/>
            <a:ext cx="234950" cy="2349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2805275314"/>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grpId="0" nodeType="clickEffect">
                                  <p:stCondLst>
                                    <p:cond delay="0"/>
                                  </p:stCondLst>
                                  <p:childTnLst>
                                    <p:set>
                                      <p:cBhvr>
                                        <p:cTn id="6" dur="1" fill="hold">
                                          <p:stCondLst>
                                            <p:cond delay="499"/>
                                          </p:stCondLst>
                                        </p:cTn>
                                        <p:tgtEl>
                                          <p:spTgt spid="924675">
                                            <p:txEl>
                                              <p:pRg st="1" end="1"/>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499"/>
                                          </p:stCondLst>
                                        </p:cTn>
                                        <p:tgtEl>
                                          <p:spTgt spid="924675">
                                            <p:txEl>
                                              <p:pRg st="2" end="2"/>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499"/>
                                          </p:stCondLst>
                                        </p:cTn>
                                        <p:tgtEl>
                                          <p:spTgt spid="924675">
                                            <p:txEl>
                                              <p:pRg st="3" end="3"/>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499"/>
                                          </p:stCondLst>
                                        </p:cTn>
                                        <p:tgtEl>
                                          <p:spTgt spid="924675">
                                            <p:txEl>
                                              <p:pRg st="4" end="4"/>
                                            </p:txEl>
                                          </p:spTgt>
                                        </p:tgtEl>
                                        <p:attrNameLst>
                                          <p:attrName>style.visibility</p:attrName>
                                        </p:attrNameLst>
                                      </p:cBhvr>
                                      <p:to>
                                        <p:strVal val="visible"/>
                                      </p:to>
                                    </p:set>
                                  </p:childTnLst>
                                </p:cTn>
                              </p:par>
                            </p:childTnLst>
                          </p:cTn>
                        </p:par>
                      </p:childTnLst>
                    </p:cTn>
                  </p:par>
                  <p:par>
                    <p:cTn id="13" fill="hold" nodeType="clickPar">
                      <p:stCondLst>
                        <p:cond delay="indefinite"/>
                      </p:stCondLst>
                      <p:childTnLst>
                        <p:par>
                          <p:cTn id="14" fill="hold" nodeType="withGroup">
                            <p:stCondLst>
                              <p:cond delay="0"/>
                            </p:stCondLst>
                            <p:childTnLst>
                              <p:par>
                                <p:cTn id="15" presetID="1" presetClass="entr" presetSubtype="0" fill="hold" grpId="0" nodeType="clickEffect">
                                  <p:stCondLst>
                                    <p:cond delay="0"/>
                                  </p:stCondLst>
                                  <p:childTnLst>
                                    <p:set>
                                      <p:cBhvr>
                                        <p:cTn id="16" dur="1" fill="hold">
                                          <p:stCondLst>
                                            <p:cond delay="499"/>
                                          </p:stCondLst>
                                        </p:cTn>
                                        <p:tgtEl>
                                          <p:spTgt spid="924675">
                                            <p:txEl>
                                              <p:pRg st="5" end="5"/>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499"/>
                                          </p:stCondLst>
                                        </p:cTn>
                                        <p:tgtEl>
                                          <p:spTgt spid="924675">
                                            <p:txEl>
                                              <p:pRg st="6" end="6"/>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499"/>
                                          </p:stCondLst>
                                        </p:cTn>
                                        <p:tgtEl>
                                          <p:spTgt spid="924675">
                                            <p:txEl>
                                              <p:pRg st="7" end="7"/>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499"/>
                                          </p:stCondLst>
                                        </p:cTn>
                                        <p:tgtEl>
                                          <p:spTgt spid="924675">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24675" grpId="0" build="p" autoUpdateAnimBg="0"/>
    </p:bldLst>
  </p:timing>
</p:sld>
</file>

<file path=ppt/slides/slide64.xml><?xml version="1.0" encoding="utf-8"?>
<p:sld xmlns:a="http://schemas.openxmlformats.org/drawingml/2006/main" xmlns:r="http://schemas.openxmlformats.org/officeDocument/2006/relationships" xmlns:p="http://schemas.openxmlformats.org/presentationml/2006/main" showMasterPhAnim="0">
  <p:cSld>
    <p:spTree>
      <p:nvGrpSpPr>
        <p:cNvPr id="1" name="">
          <a:extLst>
            <a:ext uri="{FF2B5EF4-FFF2-40B4-BE49-F238E27FC236}">
              <a16:creationId xmlns:a16="http://schemas.microsoft.com/office/drawing/2014/main" id="{C29FC1C7-0EF1-ABF2-A907-F60C51B29897}"/>
            </a:ext>
          </a:extLst>
        </p:cNvPr>
        <p:cNvGrpSpPr/>
        <p:nvPr/>
      </p:nvGrpSpPr>
      <p:grpSpPr>
        <a:xfrm>
          <a:off x="0" y="0"/>
          <a:ext cx="0" cy="0"/>
          <a:chOff x="0" y="0"/>
          <a:chExt cx="0" cy="0"/>
        </a:xfrm>
      </p:grpSpPr>
      <p:sp>
        <p:nvSpPr>
          <p:cNvPr id="924674" name="Rectangle 2">
            <a:extLst>
              <a:ext uri="{FF2B5EF4-FFF2-40B4-BE49-F238E27FC236}">
                <a16:creationId xmlns:a16="http://schemas.microsoft.com/office/drawing/2014/main" id="{DA222D16-10C4-8E6A-0E29-C51EC35EACAF}"/>
              </a:ext>
            </a:extLst>
          </p:cNvPr>
          <p:cNvSpPr>
            <a:spLocks noGrp="1" noChangeArrowheads="1"/>
          </p:cNvSpPr>
          <p:nvPr>
            <p:ph type="title"/>
          </p:nvPr>
        </p:nvSpPr>
        <p:spPr/>
        <p:txBody>
          <a:bodyPr/>
          <a:lstStyle/>
          <a:p>
            <a:pPr>
              <a:defRPr/>
            </a:pPr>
            <a:r>
              <a:rPr lang="en-US" sz="2800" dirty="0">
                <a:ea typeface="ＭＳ Ｐゴシック" pitchFamily="34" charset="-128"/>
              </a:rPr>
              <a:t>Example: Is it BCNF?</a:t>
            </a:r>
          </a:p>
        </p:txBody>
      </p:sp>
      <mc:AlternateContent xmlns:mc="http://schemas.openxmlformats.org/markup-compatibility/2006">
        <mc:Choice xmlns:a14="http://schemas.microsoft.com/office/drawing/2010/main" Requires="a14">
          <p:sp>
            <p:nvSpPr>
              <p:cNvPr id="924675" name="Rectangle 3">
                <a:extLst>
                  <a:ext uri="{FF2B5EF4-FFF2-40B4-BE49-F238E27FC236}">
                    <a16:creationId xmlns:a16="http://schemas.microsoft.com/office/drawing/2014/main" id="{DF8B3AAB-F40D-5C9C-BDC1-C0876D37ECFA}"/>
                  </a:ext>
                </a:extLst>
              </p:cNvPr>
              <p:cNvSpPr>
                <a:spLocks noGrp="1" noChangeArrowheads="1"/>
              </p:cNvSpPr>
              <p:nvPr>
                <p:ph idx="1"/>
              </p:nvPr>
            </p:nvSpPr>
            <p:spPr>
              <a:xfrm>
                <a:off x="885698" y="2430220"/>
                <a:ext cx="7607554" cy="4502340"/>
              </a:xfrm>
            </p:spPr>
            <p:txBody>
              <a:bodyPr/>
              <a:lstStyle/>
              <a:p>
                <a:pPr algn="r" rtl="1">
                  <a:tabLst>
                    <a:tab pos="2054225" algn="l"/>
                  </a:tabLst>
                </a:pPr>
                <a:r>
                  <a:rPr lang="fa-IR" sz="1800" dirty="0"/>
                  <a:t>بررسی وابستگی‌ها:</a:t>
                </a:r>
                <a:endParaRPr lang="en-US" sz="1800" dirty="0"/>
              </a:p>
              <a:p>
                <a:pPr algn="r" rtl="1"/>
                <a:r>
                  <a:rPr lang="en-US" sz="1800" dirty="0"/>
                  <a:t>A→B</a:t>
                </a:r>
                <a:br>
                  <a:rPr lang="en-US" sz="1800" dirty="0"/>
                </a:br>
                <a:r>
                  <a:rPr lang="en-US" sz="1800" dirty="0"/>
                  <a:t>✔️ </a:t>
                </a:r>
                <a14:m>
                  <m:oMath xmlns:m="http://schemas.openxmlformats.org/officeDocument/2006/math">
                    <m:r>
                      <a:rPr lang="en-US" i="1">
                        <a:latin typeface="Cambria Math" panose="02040503050406030204" pitchFamily="18" charset="0"/>
                      </a:rPr>
                      <m:t>𝐴</m:t>
                    </m:r>
                  </m:oMath>
                </a14:m>
                <a:r>
                  <a:rPr lang="fa-IR" sz="1800" dirty="0"/>
                  <a:t>کلید است (چون </a:t>
                </a:r>
                <a14:m>
                  <m:oMath xmlns:m="http://schemas.openxmlformats.org/officeDocument/2006/math">
                    <m:r>
                      <a:rPr lang="fa-IR" i="1">
                        <a:latin typeface="Cambria Math" panose="02040503050406030204" pitchFamily="18" charset="0"/>
                      </a:rPr>
                      <m:t>𝐴</m:t>
                    </m:r>
                    <m:r>
                      <a:rPr lang="fa-IR">
                        <a:latin typeface="Cambria Math" panose="02040503050406030204" pitchFamily="18" charset="0"/>
                      </a:rPr>
                      <m:t>→</m:t>
                    </m:r>
                    <m:r>
                      <a:rPr lang="fa-IR" i="1">
                        <a:latin typeface="Cambria Math" panose="02040503050406030204" pitchFamily="18" charset="0"/>
                      </a:rPr>
                      <m:t>𝐵𝐶</m:t>
                    </m:r>
                  </m:oMath>
                </a14:m>
                <a:r>
                  <a:rPr lang="fa-IR" sz="1800" dirty="0"/>
                  <a:t>)</a:t>
                </a:r>
              </a:p>
              <a:p>
                <a:pPr algn="r" rtl="1"/>
                <a14:m>
                  <m:oMath xmlns:m="http://schemas.openxmlformats.org/officeDocument/2006/math">
                    <m:r>
                      <a:rPr lang="fa-IR" i="1">
                        <a:latin typeface="Cambria Math" panose="02040503050406030204" pitchFamily="18" charset="0"/>
                      </a:rPr>
                      <m:t>𝐵</m:t>
                    </m:r>
                    <m:r>
                      <a:rPr lang="fa-IR">
                        <a:latin typeface="Cambria Math" panose="02040503050406030204" pitchFamily="18" charset="0"/>
                      </a:rPr>
                      <m:t>→</m:t>
                    </m:r>
                    <m:r>
                      <a:rPr lang="fa-IR" i="1">
                        <a:latin typeface="Cambria Math" panose="02040503050406030204" pitchFamily="18" charset="0"/>
                      </a:rPr>
                      <m:t>𝐶</m:t>
                    </m:r>
                  </m:oMath>
                </a14:m>
                <a:br>
                  <a:rPr lang="fa-IR" sz="1800" dirty="0"/>
                </a:br>
                <a:r>
                  <a:rPr lang="en-US" sz="1800" dirty="0"/>
                  <a:t>❌ </a:t>
                </a:r>
                <a14:m>
                  <m:oMath xmlns:m="http://schemas.openxmlformats.org/officeDocument/2006/math">
                    <m:r>
                      <a:rPr lang="en-US" i="1">
                        <a:latin typeface="Cambria Math" panose="02040503050406030204" pitchFamily="18" charset="0"/>
                      </a:rPr>
                      <m:t>𝐵</m:t>
                    </m:r>
                  </m:oMath>
                </a14:m>
                <a:r>
                  <a:rPr lang="fa-IR" sz="1800" dirty="0"/>
                  <a:t>کلید نیست</a:t>
                </a:r>
              </a:p>
              <a:p>
                <a:pPr algn="r" rtl="1"/>
                <a:r>
                  <a:rPr lang="fa-IR" sz="1800" dirty="0"/>
                  <a:t>پس:</a:t>
                </a:r>
              </a:p>
              <a:p>
                <a:pPr algn="r" rtl="1"/>
                <a14:m>
                  <m:oMath xmlns:m="http://schemas.openxmlformats.org/officeDocument/2006/math">
                    <m:r>
                      <a:rPr lang="fa-IR" i="1">
                        <a:latin typeface="Cambria Math" panose="02040503050406030204" pitchFamily="18" charset="0"/>
                      </a:rPr>
                      <m:t>𝑅</m:t>
                    </m:r>
                    <m:d>
                      <m:dPr>
                        <m:sepChr m:val=","/>
                        <m:ctrlPr>
                          <a:rPr lang="fa-IR" i="1">
                            <a:latin typeface="Cambria Math" panose="02040503050406030204" pitchFamily="18" charset="0"/>
                          </a:rPr>
                        </m:ctrlPr>
                      </m:dPr>
                      <m:e>
                        <m:r>
                          <a:rPr lang="fa-IR" i="1">
                            <a:latin typeface="Cambria Math" panose="02040503050406030204" pitchFamily="18" charset="0"/>
                          </a:rPr>
                          <m:t>𝐴</m:t>
                        </m:r>
                      </m:e>
                      <m:e>
                        <m:r>
                          <a:rPr lang="fa-IR" i="1">
                            <a:latin typeface="Cambria Math" panose="02040503050406030204" pitchFamily="18" charset="0"/>
                          </a:rPr>
                          <m:t>𝐵</m:t>
                        </m:r>
                      </m:e>
                      <m:e>
                        <m:r>
                          <a:rPr lang="fa-IR" i="1">
                            <a:latin typeface="Cambria Math" panose="02040503050406030204" pitchFamily="18" charset="0"/>
                          </a:rPr>
                          <m:t>𝐶</m:t>
                        </m:r>
                      </m:e>
                    </m:d>
                    <m:r>
                      <a:rPr lang="fa-IR">
                        <a:latin typeface="Cambria Math" panose="02040503050406030204" pitchFamily="18" charset="0"/>
                      </a:rPr>
                      <m:t>∉</m:t>
                    </m:r>
                    <m:r>
                      <a:rPr lang="fa-IR" i="1">
                        <a:latin typeface="Cambria Math" panose="02040503050406030204" pitchFamily="18" charset="0"/>
                      </a:rPr>
                      <m:t>𝐵𝐶𝑁𝐹</m:t>
                    </m:r>
                  </m:oMath>
                </a14:m>
                <a:endParaRPr lang="en-US" sz="1800" dirty="0"/>
              </a:p>
              <a:p>
                <a:pPr algn="r" rtl="1"/>
                <a:r>
                  <a:rPr lang="fa-IR" sz="1800" dirty="0"/>
                  <a:t>چه کنیم ؟</a:t>
                </a:r>
              </a:p>
              <a:p>
                <a:pPr algn="r" rtl="1">
                  <a:tabLst>
                    <a:tab pos="2054225" algn="l"/>
                  </a:tabLst>
                </a:pPr>
                <a:endParaRPr lang="en-US" altLang="en-US" sz="1700" dirty="0">
                  <a:sym typeface="Monotype Sorts" pitchFamily="-84" charset="2"/>
                </a:endParaRPr>
              </a:p>
            </p:txBody>
          </p:sp>
        </mc:Choice>
        <mc:Fallback>
          <p:sp>
            <p:nvSpPr>
              <p:cNvPr id="924675" name="Rectangle 3">
                <a:extLst>
                  <a:ext uri="{FF2B5EF4-FFF2-40B4-BE49-F238E27FC236}">
                    <a16:creationId xmlns:a16="http://schemas.microsoft.com/office/drawing/2014/main" id="{DF8B3AAB-F40D-5C9C-BDC1-C0876D37ECFA}"/>
                  </a:ext>
                </a:extLst>
              </p:cNvPr>
              <p:cNvSpPr>
                <a:spLocks noGrp="1" noRot="1" noChangeAspect="1" noMove="1" noResize="1" noEditPoints="1" noAdjustHandles="1" noChangeArrowheads="1" noChangeShapeType="1" noTextEdit="1"/>
              </p:cNvSpPr>
              <p:nvPr>
                <p:ph idx="1"/>
              </p:nvPr>
            </p:nvSpPr>
            <p:spPr>
              <a:xfrm>
                <a:off x="885698" y="2430220"/>
                <a:ext cx="7607554" cy="4502340"/>
              </a:xfrm>
              <a:blipFill>
                <a:blip r:embed="rId3"/>
                <a:stretch>
                  <a:fillRect t="-1355" r="-962"/>
                </a:stretch>
              </a:blipFill>
            </p:spPr>
            <p:txBody>
              <a:bodyPr/>
              <a:lstStyle/>
              <a:p>
                <a:r>
                  <a:rPr lang="en-US">
                    <a:noFill/>
                  </a:rPr>
                  <a:t> </a:t>
                </a:r>
              </a:p>
            </p:txBody>
          </p:sp>
        </mc:Fallback>
      </mc:AlternateContent>
      <p:sp>
        <p:nvSpPr>
          <p:cNvPr id="5" name="TextBox 4">
            <a:extLst>
              <a:ext uri="{FF2B5EF4-FFF2-40B4-BE49-F238E27FC236}">
                <a16:creationId xmlns:a16="http://schemas.microsoft.com/office/drawing/2014/main" id="{4794F489-D6B8-AFC5-4511-7B910A4E3C62}"/>
              </a:ext>
            </a:extLst>
          </p:cNvPr>
          <p:cNvSpPr txBox="1"/>
          <p:nvPr/>
        </p:nvSpPr>
        <p:spPr>
          <a:xfrm>
            <a:off x="611945" y="1437939"/>
            <a:ext cx="4572000" cy="584775"/>
          </a:xfrm>
          <a:prstGeom prst="rect">
            <a:avLst/>
          </a:prstGeom>
          <a:noFill/>
        </p:spPr>
        <p:txBody>
          <a:bodyPr wrap="square">
            <a:spAutoFit/>
          </a:bodyPr>
          <a:lstStyle/>
          <a:p>
            <a:pPr>
              <a:tabLst>
                <a:tab pos="2054225" algn="l"/>
              </a:tabLst>
            </a:pPr>
            <a:r>
              <a:rPr lang="en-US" altLang="en-US" sz="1600" i="1" dirty="0"/>
              <a:t>R = (A, B, C)</a:t>
            </a:r>
            <a:br>
              <a:rPr lang="en-US" altLang="en-US" sz="1600" i="1" dirty="0"/>
            </a:br>
            <a:r>
              <a:rPr lang="en-US" altLang="en-US" sz="1600" i="1" dirty="0"/>
              <a:t>F = {A </a:t>
            </a:r>
            <a:r>
              <a:rPr lang="en-US" altLang="en-US" sz="1600" dirty="0">
                <a:sym typeface="Symbol" panose="05050102010706020507" pitchFamily="18" charset="2"/>
              </a:rPr>
              <a:t></a:t>
            </a:r>
            <a:r>
              <a:rPr lang="en-US" altLang="en-US" sz="1600" dirty="0">
                <a:sym typeface="Monotype Sorts" pitchFamily="-84" charset="2"/>
              </a:rPr>
              <a:t> </a:t>
            </a:r>
            <a:r>
              <a:rPr lang="en-US" altLang="en-US" sz="1600" i="1" dirty="0">
                <a:sym typeface="Monotype Sorts" pitchFamily="-84" charset="2"/>
              </a:rPr>
              <a:t>B, B </a:t>
            </a:r>
            <a:r>
              <a:rPr lang="en-US" altLang="en-US" sz="1600" dirty="0">
                <a:sym typeface="Symbol" panose="05050102010706020507" pitchFamily="18" charset="2"/>
              </a:rPr>
              <a:t></a:t>
            </a:r>
            <a:r>
              <a:rPr lang="en-US" altLang="en-US" sz="1600" dirty="0">
                <a:sym typeface="Monotype Sorts" pitchFamily="-84" charset="2"/>
              </a:rPr>
              <a:t> </a:t>
            </a:r>
            <a:r>
              <a:rPr lang="en-US" altLang="en-US" sz="1600" i="1" dirty="0">
                <a:sym typeface="Monotype Sorts" pitchFamily="-84" charset="2"/>
              </a:rPr>
              <a:t>C)</a:t>
            </a:r>
          </a:p>
        </p:txBody>
      </p:sp>
    </p:spTree>
    <p:extLst>
      <p:ext uri="{BB962C8B-B14F-4D97-AF65-F5344CB8AC3E}">
        <p14:creationId xmlns:p14="http://schemas.microsoft.com/office/powerpoint/2010/main" val="3594445891"/>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showMasterPhAnim="0">
  <p:cSld>
    <p:spTree>
      <p:nvGrpSpPr>
        <p:cNvPr id="1" name="">
          <a:extLst>
            <a:ext uri="{FF2B5EF4-FFF2-40B4-BE49-F238E27FC236}">
              <a16:creationId xmlns:a16="http://schemas.microsoft.com/office/drawing/2014/main" id="{F492B8B8-D3BD-1F7D-87D9-A0BC0FAE4258}"/>
            </a:ext>
          </a:extLst>
        </p:cNvPr>
        <p:cNvGrpSpPr/>
        <p:nvPr/>
      </p:nvGrpSpPr>
      <p:grpSpPr>
        <a:xfrm>
          <a:off x="0" y="0"/>
          <a:ext cx="0" cy="0"/>
          <a:chOff x="0" y="0"/>
          <a:chExt cx="0" cy="0"/>
        </a:xfrm>
      </p:grpSpPr>
      <p:sp>
        <p:nvSpPr>
          <p:cNvPr id="924674" name="Rectangle 2">
            <a:extLst>
              <a:ext uri="{FF2B5EF4-FFF2-40B4-BE49-F238E27FC236}">
                <a16:creationId xmlns:a16="http://schemas.microsoft.com/office/drawing/2014/main" id="{BDDEF104-BEE5-C5D8-7E79-08B3540005AF}"/>
              </a:ext>
            </a:extLst>
          </p:cNvPr>
          <p:cNvSpPr>
            <a:spLocks noGrp="1" noChangeArrowheads="1"/>
          </p:cNvSpPr>
          <p:nvPr>
            <p:ph type="title"/>
          </p:nvPr>
        </p:nvSpPr>
        <p:spPr/>
        <p:txBody>
          <a:bodyPr/>
          <a:lstStyle/>
          <a:p>
            <a:pPr>
              <a:defRPr/>
            </a:pPr>
            <a:r>
              <a:rPr lang="en-US" sz="2800" dirty="0">
                <a:ea typeface="ＭＳ Ｐゴシック" pitchFamily="34" charset="-128"/>
              </a:rPr>
              <a:t>Example</a:t>
            </a:r>
          </a:p>
        </p:txBody>
      </p:sp>
      <mc:AlternateContent xmlns:mc="http://schemas.openxmlformats.org/markup-compatibility/2006">
        <mc:Choice xmlns:a14="http://schemas.microsoft.com/office/drawing/2010/main" Requires="a14">
          <p:sp>
            <p:nvSpPr>
              <p:cNvPr id="924675" name="Rectangle 3">
                <a:extLst>
                  <a:ext uri="{FF2B5EF4-FFF2-40B4-BE49-F238E27FC236}">
                    <a16:creationId xmlns:a16="http://schemas.microsoft.com/office/drawing/2014/main" id="{09666F0F-E521-EE22-AD15-0E6FCD2F6C2D}"/>
                  </a:ext>
                </a:extLst>
              </p:cNvPr>
              <p:cNvSpPr>
                <a:spLocks noGrp="1" noChangeArrowheads="1"/>
              </p:cNvSpPr>
              <p:nvPr>
                <p:ph idx="1"/>
              </p:nvPr>
            </p:nvSpPr>
            <p:spPr>
              <a:xfrm>
                <a:off x="768351" y="1093789"/>
                <a:ext cx="7607554" cy="4502340"/>
              </a:xfrm>
            </p:spPr>
            <p:txBody>
              <a:bodyPr/>
              <a:lstStyle/>
              <a:p>
                <a:r>
                  <a:rPr lang="fa-IR" sz="1800" b="1" dirty="0"/>
                  <a:t>رابطه و وابستگی‌ها</a:t>
                </a:r>
              </a:p>
              <a:p>
                <a:r>
                  <a:rPr lang="fa-IR" sz="1800" dirty="0"/>
                  <a:t>رابطه اصلی:</a:t>
                </a:r>
              </a:p>
              <a:p>
                <a14:m>
                  <m:oMath xmlns:m="http://schemas.openxmlformats.org/officeDocument/2006/math">
                    <m:r>
                      <a:rPr lang="fa-IR" i="1"/>
                      <m:t>𝑅</m:t>
                    </m:r>
                    <m:d>
                      <m:dPr>
                        <m:sepChr m:val=","/>
                        <m:ctrlPr>
                          <a:rPr lang="fa-IR" i="1"/>
                        </m:ctrlPr>
                      </m:dPr>
                      <m:e>
                        <m:r>
                          <a:rPr lang="fa-IR" i="1"/>
                          <m:t>𝐴</m:t>
                        </m:r>
                      </m:e>
                      <m:e>
                        <m:r>
                          <a:rPr lang="fa-IR" i="1"/>
                          <m:t>𝐵</m:t>
                        </m:r>
                      </m:e>
                      <m:e>
                        <m:r>
                          <a:rPr lang="fa-IR" i="1"/>
                          <m:t>𝐶</m:t>
                        </m:r>
                      </m:e>
                    </m:d>
                  </m:oMath>
                </a14:m>
                <a:endParaRPr lang="fa-IR" sz="1800" dirty="0"/>
              </a:p>
              <a:p>
                <a:r>
                  <a:rPr lang="fa-IR" sz="1800" dirty="0"/>
                  <a:t>وابستگی‌های تابعی:</a:t>
                </a:r>
              </a:p>
              <a:p>
                <a14:m>
                  <m:oMath xmlns:m="http://schemas.openxmlformats.org/officeDocument/2006/math">
                    <m:r>
                      <a:rPr lang="fa-IR" i="1">
                        <a:latin typeface="Cambria Math" panose="02040503050406030204" pitchFamily="18" charset="0"/>
                      </a:rPr>
                      <m:t>𝐹</m:t>
                    </m:r>
                    <m:r>
                      <a:rPr lang="fa-IR">
                        <a:latin typeface="Cambria Math" panose="02040503050406030204" pitchFamily="18" charset="0"/>
                      </a:rPr>
                      <m:t>=</m:t>
                    </m:r>
                    <m:r>
                      <a:rPr lang="en-US" i="1">
                        <a:latin typeface="Cambria Math" panose="02040503050406030204" pitchFamily="18" charset="0"/>
                      </a:rPr>
                      <m:t>{</m:t>
                    </m:r>
                    <m:r>
                      <a:rPr lang="en-US" i="1">
                        <a:latin typeface="Cambria Math" panose="02040503050406030204" pitchFamily="18" charset="0"/>
                      </a:rPr>
                      <m:t>𝐴</m:t>
                    </m:r>
                    <m:r>
                      <a:rPr lang="fa-IR">
                        <a:latin typeface="Cambria Math" panose="02040503050406030204" pitchFamily="18" charset="0"/>
                      </a:rPr>
                      <m:t>→</m:t>
                    </m:r>
                    <m:r>
                      <m:rPr>
                        <m:sty m:val="p"/>
                      </m:rPr>
                      <a:rPr lang="en-US">
                        <a:latin typeface="Cambria Math" panose="02040503050406030204" pitchFamily="18" charset="0"/>
                      </a:rPr>
                      <m:t>B</m:t>
                    </m:r>
                    <m:r>
                      <a:rPr lang="en-US">
                        <a:latin typeface="Cambria Math" panose="02040503050406030204" pitchFamily="18" charset="0"/>
                      </a:rPr>
                      <m:t>, </m:t>
                    </m:r>
                    <m:r>
                      <m:rPr>
                        <m:sty m:val="p"/>
                      </m:rPr>
                      <a:rPr lang="en-US">
                        <a:latin typeface="Cambria Math" panose="02040503050406030204" pitchFamily="18" charset="0"/>
                      </a:rPr>
                      <m:t>B</m:t>
                    </m:r>
                    <m:r>
                      <a:rPr lang="fa-IR">
                        <a:latin typeface="Cambria Math" panose="02040503050406030204" pitchFamily="18" charset="0"/>
                      </a:rPr>
                      <m:t>→</m:t>
                    </m:r>
                    <m:r>
                      <m:rPr>
                        <m:sty m:val="p"/>
                      </m:rPr>
                      <a:rPr lang="en-US">
                        <a:latin typeface="Cambria Math" panose="02040503050406030204" pitchFamily="18" charset="0"/>
                      </a:rPr>
                      <m:t>C</m:t>
                    </m:r>
                    <m:r>
                      <a:rPr lang="en-US" i="1">
                        <a:latin typeface="Cambria Math" panose="02040503050406030204" pitchFamily="18" charset="0"/>
                      </a:rPr>
                      <m:t>}</m:t>
                    </m:r>
                  </m:oMath>
                </a14:m>
                <a:endParaRPr lang="fa-IR" sz="1800" dirty="0"/>
              </a:p>
            </p:txBody>
          </p:sp>
        </mc:Choice>
        <mc:Fallback>
          <p:sp>
            <p:nvSpPr>
              <p:cNvPr id="924675" name="Rectangle 3">
                <a:extLst>
                  <a:ext uri="{FF2B5EF4-FFF2-40B4-BE49-F238E27FC236}">
                    <a16:creationId xmlns:a16="http://schemas.microsoft.com/office/drawing/2014/main" id="{09666F0F-E521-EE22-AD15-0E6FCD2F6C2D}"/>
                  </a:ext>
                </a:extLst>
              </p:cNvPr>
              <p:cNvSpPr>
                <a:spLocks noGrp="1" noRot="1" noChangeAspect="1" noMove="1" noResize="1" noEditPoints="1" noAdjustHandles="1" noChangeArrowheads="1" noChangeShapeType="1" noTextEdit="1"/>
              </p:cNvSpPr>
              <p:nvPr>
                <p:ph idx="1"/>
              </p:nvPr>
            </p:nvSpPr>
            <p:spPr>
              <a:xfrm>
                <a:off x="768351" y="1093789"/>
                <a:ext cx="7607554" cy="4502340"/>
              </a:xfrm>
              <a:blipFill>
                <a:blip r:embed="rId3"/>
                <a:stretch>
                  <a:fillRect l="-881" t="-1624"/>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3" name="TextBox 2">
                <a:extLst>
                  <a:ext uri="{FF2B5EF4-FFF2-40B4-BE49-F238E27FC236}">
                    <a16:creationId xmlns:a16="http://schemas.microsoft.com/office/drawing/2014/main" id="{BAD62D09-C0EF-BA97-9FDC-E5C16168DC57}"/>
                  </a:ext>
                </a:extLst>
              </p:cNvPr>
              <p:cNvSpPr txBox="1"/>
              <p:nvPr/>
            </p:nvSpPr>
            <p:spPr>
              <a:xfrm>
                <a:off x="4273550" y="3344959"/>
                <a:ext cx="4572000" cy="584775"/>
              </a:xfrm>
              <a:prstGeom prst="rect">
                <a:avLst/>
              </a:prstGeom>
              <a:noFill/>
            </p:spPr>
            <p:txBody>
              <a:bodyPr wrap="square">
                <a:spAutoFit/>
              </a:bodyPr>
              <a:lstStyle/>
              <a:p>
                <a:pPr algn="r" rtl="1">
                  <a:buNone/>
                </a:pPr>
                <a:r>
                  <a:rPr lang="fa-IR" b="1" dirty="0">
                    <a:cs typeface="B Nazanin" panose="00000400000000000000" pitchFamily="2" charset="-78"/>
                  </a:rPr>
                  <a:t>تجزیه اول</a:t>
                </a:r>
              </a:p>
              <a:p>
                <a:pPr algn="r" rtl="1">
                  <a:buNone/>
                </a:pPr>
                <a14:m>
                  <m:oMathPara xmlns:m="http://schemas.openxmlformats.org/officeDocument/2006/math">
                    <m:oMathParaPr>
                      <m:jc m:val="centerGroup"/>
                    </m:oMathParaPr>
                    <m:oMath xmlns:m="http://schemas.openxmlformats.org/officeDocument/2006/math">
                      <m:sSub>
                        <m:sSubPr>
                          <m:ctrlPr>
                            <a:rPr lang="fa-IR" i="1">
                              <a:latin typeface="Cambria Math" panose="02040503050406030204" pitchFamily="18" charset="0"/>
                            </a:rPr>
                          </m:ctrlPr>
                        </m:sSubPr>
                        <m:e>
                          <m:r>
                            <a:rPr lang="fa-IR" i="1">
                              <a:latin typeface="Cambria Math" panose="02040503050406030204" pitchFamily="18" charset="0"/>
                            </a:rPr>
                            <m:t>𝑅</m:t>
                          </m:r>
                        </m:e>
                        <m:sub>
                          <m:r>
                            <a:rPr lang="fa-IR" i="0">
                              <a:latin typeface="Cambria Math" panose="02040503050406030204" pitchFamily="18" charset="0"/>
                            </a:rPr>
                            <m:t>1</m:t>
                          </m:r>
                        </m:sub>
                      </m:sSub>
                      <m:d>
                        <m:dPr>
                          <m:sepChr m:val=","/>
                          <m:ctrlPr>
                            <a:rPr lang="fa-IR" i="1">
                              <a:latin typeface="Cambria Math" panose="02040503050406030204" pitchFamily="18" charset="0"/>
                            </a:rPr>
                          </m:ctrlPr>
                        </m:dPr>
                        <m:e>
                          <m:r>
                            <a:rPr lang="fa-IR" i="1">
                              <a:latin typeface="Cambria Math" panose="02040503050406030204" pitchFamily="18" charset="0"/>
                            </a:rPr>
                            <m:t>𝐴</m:t>
                          </m:r>
                        </m:e>
                        <m:e>
                          <m:r>
                            <a:rPr lang="fa-IR" i="1">
                              <a:latin typeface="Cambria Math" panose="02040503050406030204" pitchFamily="18" charset="0"/>
                            </a:rPr>
                            <m:t>𝐵</m:t>
                          </m:r>
                        </m:e>
                      </m:d>
                      <m:r>
                        <a:rPr lang="fa-IR" i="0">
                          <a:latin typeface="Cambria Math" panose="02040503050406030204" pitchFamily="18" charset="0"/>
                        </a:rPr>
                        <m:t>, </m:t>
                      </m:r>
                      <m:sSub>
                        <m:sSubPr>
                          <m:ctrlPr>
                            <a:rPr lang="fa-IR" i="1">
                              <a:latin typeface="Cambria Math" panose="02040503050406030204" pitchFamily="18" charset="0"/>
                            </a:rPr>
                          </m:ctrlPr>
                        </m:sSubPr>
                        <m:e>
                          <m:r>
                            <a:rPr lang="fa-IR" i="1">
                              <a:latin typeface="Cambria Math" panose="02040503050406030204" pitchFamily="18" charset="0"/>
                            </a:rPr>
                            <m:t>𝑅</m:t>
                          </m:r>
                        </m:e>
                        <m:sub>
                          <m:r>
                            <a:rPr lang="fa-IR" i="0">
                              <a:latin typeface="Cambria Math" panose="02040503050406030204" pitchFamily="18" charset="0"/>
                            </a:rPr>
                            <m:t>2</m:t>
                          </m:r>
                        </m:sub>
                      </m:sSub>
                      <m:d>
                        <m:dPr>
                          <m:sepChr m:val=","/>
                          <m:ctrlPr>
                            <a:rPr lang="fa-IR" i="1">
                              <a:latin typeface="Cambria Math" panose="02040503050406030204" pitchFamily="18" charset="0"/>
                            </a:rPr>
                          </m:ctrlPr>
                        </m:dPr>
                        <m:e>
                          <m:r>
                            <a:rPr lang="fa-IR" i="1">
                              <a:latin typeface="Cambria Math" panose="02040503050406030204" pitchFamily="18" charset="0"/>
                            </a:rPr>
                            <m:t>𝐵</m:t>
                          </m:r>
                        </m:e>
                        <m:e>
                          <m:r>
                            <a:rPr lang="fa-IR" i="1">
                              <a:latin typeface="Cambria Math" panose="02040503050406030204" pitchFamily="18" charset="0"/>
                            </a:rPr>
                            <m:t>𝐶</m:t>
                          </m:r>
                        </m:e>
                      </m:d>
                    </m:oMath>
                  </m:oMathPara>
                </a14:m>
                <a:endParaRPr lang="fa-IR" dirty="0">
                  <a:cs typeface="B Nazanin" panose="00000400000000000000" pitchFamily="2" charset="-78"/>
                </a:endParaRPr>
              </a:p>
            </p:txBody>
          </p:sp>
        </mc:Choice>
        <mc:Fallback>
          <p:sp>
            <p:nvSpPr>
              <p:cNvPr id="3" name="TextBox 2">
                <a:extLst>
                  <a:ext uri="{FF2B5EF4-FFF2-40B4-BE49-F238E27FC236}">
                    <a16:creationId xmlns:a16="http://schemas.microsoft.com/office/drawing/2014/main" id="{BAD62D09-C0EF-BA97-9FDC-E5C16168DC57}"/>
                  </a:ext>
                </a:extLst>
              </p:cNvPr>
              <p:cNvSpPr txBox="1">
                <a:spLocks noRot="1" noChangeAspect="1" noMove="1" noResize="1" noEditPoints="1" noAdjustHandles="1" noChangeArrowheads="1" noChangeShapeType="1" noTextEdit="1"/>
              </p:cNvSpPr>
              <p:nvPr/>
            </p:nvSpPr>
            <p:spPr>
              <a:xfrm>
                <a:off x="4273550" y="3344959"/>
                <a:ext cx="4572000" cy="584775"/>
              </a:xfrm>
              <a:prstGeom prst="rect">
                <a:avLst/>
              </a:prstGeom>
              <a:blipFill>
                <a:blip r:embed="rId4"/>
                <a:stretch>
                  <a:fillRect t="-3125" r="-800"/>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5" name="TextBox 4">
                <a:extLst>
                  <a:ext uri="{FF2B5EF4-FFF2-40B4-BE49-F238E27FC236}">
                    <a16:creationId xmlns:a16="http://schemas.microsoft.com/office/drawing/2014/main" id="{FE2423B0-CF07-745E-CF60-76B3C96952CF}"/>
                  </a:ext>
                </a:extLst>
              </p:cNvPr>
              <p:cNvSpPr txBox="1"/>
              <p:nvPr/>
            </p:nvSpPr>
            <p:spPr>
              <a:xfrm>
                <a:off x="422031" y="4340353"/>
                <a:ext cx="3381874" cy="1323439"/>
              </a:xfrm>
              <a:prstGeom prst="rect">
                <a:avLst/>
              </a:prstGeom>
              <a:noFill/>
            </p:spPr>
            <p:txBody>
              <a:bodyPr wrap="square">
                <a:spAutoFit/>
              </a:bodyPr>
              <a:lstStyle/>
              <a:p>
                <a:pPr algn="r" rtl="1">
                  <a:buNone/>
                </a:pPr>
                <a:r>
                  <a:rPr lang="fa-IR" b="1" dirty="0">
                    <a:cs typeface="B Nazanin" panose="00000400000000000000" pitchFamily="2" charset="-78"/>
                  </a:rPr>
                  <a:t>2) حفظ‌کننده وابستگی‌ها</a:t>
                </a:r>
              </a:p>
              <a:p>
                <a:pPr algn="r" rtl="1">
                  <a:buFont typeface="Arial" panose="020B0604020202020204" pitchFamily="34" charset="0"/>
                  <a:buChar char="•"/>
                </a:pPr>
                <a:r>
                  <a:rPr lang="fa-IR" dirty="0">
                    <a:cs typeface="B Nazanin" panose="00000400000000000000" pitchFamily="2" charset="-78"/>
                  </a:rPr>
                  <a:t>وابستگی </a:t>
                </a:r>
                <a14:m>
                  <m:oMath xmlns:m="http://schemas.openxmlformats.org/officeDocument/2006/math">
                    <m:r>
                      <a:rPr lang="fa-IR" i="1">
                        <a:latin typeface="Cambria Math" panose="02040503050406030204" pitchFamily="18" charset="0"/>
                      </a:rPr>
                      <m:t>𝐴</m:t>
                    </m:r>
                    <m:r>
                      <a:rPr lang="fa-IR" i="0">
                        <a:latin typeface="Cambria Math" panose="02040503050406030204" pitchFamily="18" charset="0"/>
                      </a:rPr>
                      <m:t>→</m:t>
                    </m:r>
                    <m:r>
                      <a:rPr lang="fa-IR" i="1">
                        <a:latin typeface="Cambria Math" panose="02040503050406030204" pitchFamily="18" charset="0"/>
                      </a:rPr>
                      <m:t>𝐵</m:t>
                    </m:r>
                  </m:oMath>
                </a14:m>
                <a:r>
                  <a:rPr lang="fa-IR" dirty="0">
                    <a:cs typeface="B Nazanin" panose="00000400000000000000" pitchFamily="2" charset="-78"/>
                  </a:rPr>
                  <a:t>کاملاً در </a:t>
                </a:r>
                <a14:m>
                  <m:oMath xmlns:m="http://schemas.openxmlformats.org/officeDocument/2006/math">
                    <m:sSub>
                      <m:sSubPr>
                        <m:ctrlPr>
                          <a:rPr lang="fa-IR" i="1">
                            <a:latin typeface="Cambria Math" panose="02040503050406030204" pitchFamily="18" charset="0"/>
                          </a:rPr>
                        </m:ctrlPr>
                      </m:sSubPr>
                      <m:e>
                        <m:r>
                          <a:rPr lang="fa-IR" i="1">
                            <a:latin typeface="Cambria Math" panose="02040503050406030204" pitchFamily="18" charset="0"/>
                          </a:rPr>
                          <m:t>𝑅</m:t>
                        </m:r>
                      </m:e>
                      <m:sub>
                        <m:r>
                          <a:rPr lang="fa-IR" i="0">
                            <a:latin typeface="Cambria Math" panose="02040503050406030204" pitchFamily="18" charset="0"/>
                          </a:rPr>
                          <m:t>1</m:t>
                        </m:r>
                      </m:sub>
                    </m:sSub>
                  </m:oMath>
                </a14:m>
                <a:r>
                  <a:rPr lang="fa-IR" dirty="0">
                    <a:cs typeface="B Nazanin" panose="00000400000000000000" pitchFamily="2" charset="-78"/>
                  </a:rPr>
                  <a:t>قابل بررسی است.</a:t>
                </a:r>
              </a:p>
              <a:p>
                <a:pPr algn="r" rtl="1">
                  <a:buFont typeface="Arial" panose="020B0604020202020204" pitchFamily="34" charset="0"/>
                  <a:buChar char="•"/>
                </a:pPr>
                <a:r>
                  <a:rPr lang="fa-IR" dirty="0">
                    <a:cs typeface="B Nazanin" panose="00000400000000000000" pitchFamily="2" charset="-78"/>
                  </a:rPr>
                  <a:t>وابستگی </a:t>
                </a:r>
                <a14:m>
                  <m:oMath xmlns:m="http://schemas.openxmlformats.org/officeDocument/2006/math">
                    <m:r>
                      <a:rPr lang="fa-IR" i="1">
                        <a:latin typeface="Cambria Math" panose="02040503050406030204" pitchFamily="18" charset="0"/>
                      </a:rPr>
                      <m:t>𝐵</m:t>
                    </m:r>
                    <m:r>
                      <a:rPr lang="fa-IR" i="0">
                        <a:latin typeface="Cambria Math" panose="02040503050406030204" pitchFamily="18" charset="0"/>
                      </a:rPr>
                      <m:t>→</m:t>
                    </m:r>
                    <m:r>
                      <a:rPr lang="fa-IR" i="1">
                        <a:latin typeface="Cambria Math" panose="02040503050406030204" pitchFamily="18" charset="0"/>
                      </a:rPr>
                      <m:t>𝐶</m:t>
                    </m:r>
                  </m:oMath>
                </a14:m>
                <a:r>
                  <a:rPr lang="fa-IR" dirty="0">
                    <a:cs typeface="B Nazanin" panose="00000400000000000000" pitchFamily="2" charset="-78"/>
                  </a:rPr>
                  <a:t>کاملاً در </a:t>
                </a:r>
                <a14:m>
                  <m:oMath xmlns:m="http://schemas.openxmlformats.org/officeDocument/2006/math">
                    <m:sSub>
                      <m:sSubPr>
                        <m:ctrlPr>
                          <a:rPr lang="fa-IR" i="1">
                            <a:latin typeface="Cambria Math" panose="02040503050406030204" pitchFamily="18" charset="0"/>
                          </a:rPr>
                        </m:ctrlPr>
                      </m:sSubPr>
                      <m:e>
                        <m:r>
                          <a:rPr lang="fa-IR" i="1">
                            <a:latin typeface="Cambria Math" panose="02040503050406030204" pitchFamily="18" charset="0"/>
                          </a:rPr>
                          <m:t>𝑅</m:t>
                        </m:r>
                      </m:e>
                      <m:sub>
                        <m:r>
                          <a:rPr lang="fa-IR" i="0">
                            <a:latin typeface="Cambria Math" panose="02040503050406030204" pitchFamily="18" charset="0"/>
                          </a:rPr>
                          <m:t>2</m:t>
                        </m:r>
                      </m:sub>
                    </m:sSub>
                  </m:oMath>
                </a14:m>
                <a:r>
                  <a:rPr lang="fa-IR" dirty="0">
                    <a:cs typeface="B Nazanin" panose="00000400000000000000" pitchFamily="2" charset="-78"/>
                  </a:rPr>
                  <a:t>قابل بررسی است.</a:t>
                </a:r>
              </a:p>
              <a:p>
                <a:pPr algn="r" rtl="1">
                  <a:buNone/>
                </a:pPr>
                <a:r>
                  <a:rPr lang="fa-IR" dirty="0">
                    <a:cs typeface="B Nazanin" panose="00000400000000000000" pitchFamily="2" charset="-78"/>
                  </a:rPr>
                  <a:t>✔ تمام وابستگی‌ها </a:t>
                </a:r>
                <a:r>
                  <a:rPr lang="fa-IR" b="1" dirty="0">
                    <a:cs typeface="B Nazanin" panose="00000400000000000000" pitchFamily="2" charset="-78"/>
                  </a:rPr>
                  <a:t>بدون </a:t>
                </a:r>
                <a:r>
                  <a:rPr lang="en-US" b="1" dirty="0">
                    <a:cs typeface="B Nazanin" panose="00000400000000000000" pitchFamily="2" charset="-78"/>
                  </a:rPr>
                  <a:t>Join</a:t>
                </a:r>
                <a:r>
                  <a:rPr lang="en-US" dirty="0">
                    <a:cs typeface="B Nazanin" panose="00000400000000000000" pitchFamily="2" charset="-78"/>
                  </a:rPr>
                  <a:t> </a:t>
                </a:r>
                <a:r>
                  <a:rPr lang="fa-IR" dirty="0">
                    <a:cs typeface="B Nazanin" panose="00000400000000000000" pitchFamily="2" charset="-78"/>
                  </a:rPr>
                  <a:t>قابل کنترل‌اند.</a:t>
                </a:r>
                <a:br>
                  <a:rPr lang="fa-IR" dirty="0">
                    <a:cs typeface="B Nazanin" panose="00000400000000000000" pitchFamily="2" charset="-78"/>
                  </a:rPr>
                </a:br>
                <a:r>
                  <a:rPr lang="fa-IR" dirty="0">
                    <a:cs typeface="B Nazanin" panose="00000400000000000000" pitchFamily="2" charset="-78"/>
                  </a:rPr>
                  <a:t>✔ </a:t>
                </a:r>
                <a:r>
                  <a:rPr lang="fa-IR" b="1" dirty="0">
                    <a:cs typeface="B Nazanin" panose="00000400000000000000" pitchFamily="2" charset="-78"/>
                  </a:rPr>
                  <a:t>تجزیه حفظ‌کننده وابستگی‌ها</a:t>
                </a:r>
                <a:endParaRPr lang="fa-IR" dirty="0">
                  <a:cs typeface="B Nazanin" panose="00000400000000000000" pitchFamily="2" charset="-78"/>
                </a:endParaRPr>
              </a:p>
            </p:txBody>
          </p:sp>
        </mc:Choice>
        <mc:Fallback>
          <p:sp>
            <p:nvSpPr>
              <p:cNvPr id="5" name="TextBox 4">
                <a:extLst>
                  <a:ext uri="{FF2B5EF4-FFF2-40B4-BE49-F238E27FC236}">
                    <a16:creationId xmlns:a16="http://schemas.microsoft.com/office/drawing/2014/main" id="{FE2423B0-CF07-745E-CF60-76B3C96952CF}"/>
                  </a:ext>
                </a:extLst>
              </p:cNvPr>
              <p:cNvSpPr txBox="1">
                <a:spLocks noRot="1" noChangeAspect="1" noMove="1" noResize="1" noEditPoints="1" noAdjustHandles="1" noChangeArrowheads="1" noChangeShapeType="1" noTextEdit="1"/>
              </p:cNvSpPr>
              <p:nvPr/>
            </p:nvSpPr>
            <p:spPr>
              <a:xfrm>
                <a:off x="422031" y="4340353"/>
                <a:ext cx="3381874" cy="1323439"/>
              </a:xfrm>
              <a:prstGeom prst="rect">
                <a:avLst/>
              </a:prstGeom>
              <a:blipFill>
                <a:blip r:embed="rId5"/>
                <a:stretch>
                  <a:fillRect t="-1382" r="-1261" b="-6452"/>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7" name="TextBox 6">
                <a:extLst>
                  <a:ext uri="{FF2B5EF4-FFF2-40B4-BE49-F238E27FC236}">
                    <a16:creationId xmlns:a16="http://schemas.microsoft.com/office/drawing/2014/main" id="{E2116B7C-F02D-D016-D44E-439F88759970}"/>
                  </a:ext>
                </a:extLst>
              </p:cNvPr>
              <p:cNvSpPr txBox="1"/>
              <p:nvPr/>
            </p:nvSpPr>
            <p:spPr>
              <a:xfrm>
                <a:off x="3890206" y="3787115"/>
                <a:ext cx="4955344" cy="2308324"/>
              </a:xfrm>
              <a:prstGeom prst="rect">
                <a:avLst/>
              </a:prstGeom>
              <a:noFill/>
            </p:spPr>
            <p:txBody>
              <a:bodyPr wrap="square">
                <a:spAutoFit/>
              </a:bodyPr>
              <a:lstStyle/>
              <a:p>
                <a:pPr algn="r" rtl="1">
                  <a:buNone/>
                </a:pPr>
                <a:endParaRPr lang="fa-IR" dirty="0">
                  <a:cs typeface="B Nazanin" panose="00000400000000000000" pitchFamily="2" charset="-78"/>
                </a:endParaRPr>
              </a:p>
              <a:p>
                <a:pPr algn="r" rtl="1">
                  <a:buNone/>
                </a:pPr>
                <a:r>
                  <a:rPr lang="fa-IR" b="1" dirty="0">
                    <a:cs typeface="B Nazanin" panose="00000400000000000000" pitchFamily="2" charset="-78"/>
                  </a:rPr>
                  <a:t>1) تجزیه بدون اتلاف پیوست</a:t>
                </a:r>
              </a:p>
              <a:p>
                <a:pPr algn="r" rtl="1">
                  <a:buFont typeface="Arial" panose="020B0604020202020204" pitchFamily="34" charset="0"/>
                  <a:buChar char="•"/>
                </a:pPr>
                <a:r>
                  <a:rPr lang="fa-IR" dirty="0">
                    <a:cs typeface="B Nazanin" panose="00000400000000000000" pitchFamily="2" charset="-78"/>
                  </a:rPr>
                  <a:t>اشتراک:</a:t>
                </a:r>
              </a:p>
              <a:p>
                <a:pPr algn="r" rtl="1">
                  <a:buNone/>
                </a:pPr>
                <a14:m>
                  <m:oMathPara xmlns:m="http://schemas.openxmlformats.org/officeDocument/2006/math">
                    <m:oMathParaPr>
                      <m:jc m:val="centerGroup"/>
                    </m:oMathParaPr>
                    <m:oMath xmlns:m="http://schemas.openxmlformats.org/officeDocument/2006/math">
                      <m:sSub>
                        <m:sSubPr>
                          <m:ctrlPr>
                            <a:rPr lang="fa-IR" i="1">
                              <a:latin typeface="Cambria Math" panose="02040503050406030204" pitchFamily="18" charset="0"/>
                            </a:rPr>
                          </m:ctrlPr>
                        </m:sSubPr>
                        <m:e>
                          <m:r>
                            <a:rPr lang="fa-IR" i="1">
                              <a:latin typeface="Cambria Math" panose="02040503050406030204" pitchFamily="18" charset="0"/>
                            </a:rPr>
                            <m:t>𝑅</m:t>
                          </m:r>
                        </m:e>
                        <m:sub>
                          <m:r>
                            <a:rPr lang="fa-IR" i="0">
                              <a:latin typeface="Cambria Math" panose="02040503050406030204" pitchFamily="18" charset="0"/>
                            </a:rPr>
                            <m:t>1</m:t>
                          </m:r>
                        </m:sub>
                      </m:sSub>
                      <m:r>
                        <a:rPr lang="fa-IR" i="0">
                          <a:latin typeface="Cambria Math" panose="02040503050406030204" pitchFamily="18" charset="0"/>
                        </a:rPr>
                        <m:t>∩</m:t>
                      </m:r>
                      <m:sSub>
                        <m:sSubPr>
                          <m:ctrlPr>
                            <a:rPr lang="fa-IR" i="1">
                              <a:latin typeface="Cambria Math" panose="02040503050406030204" pitchFamily="18" charset="0"/>
                            </a:rPr>
                          </m:ctrlPr>
                        </m:sSubPr>
                        <m:e>
                          <m:r>
                            <a:rPr lang="fa-IR" i="1">
                              <a:latin typeface="Cambria Math" panose="02040503050406030204" pitchFamily="18" charset="0"/>
                            </a:rPr>
                            <m:t>𝑅</m:t>
                          </m:r>
                        </m:e>
                        <m:sub>
                          <m:r>
                            <a:rPr lang="fa-IR" i="0">
                              <a:latin typeface="Cambria Math" panose="02040503050406030204" pitchFamily="18" charset="0"/>
                            </a:rPr>
                            <m:t>2</m:t>
                          </m:r>
                        </m:sub>
                      </m:sSub>
                      <m:r>
                        <a:rPr lang="fa-IR" i="0">
                          <a:latin typeface="Cambria Math" panose="02040503050406030204" pitchFamily="18" charset="0"/>
                        </a:rPr>
                        <m:t>=</m:t>
                      </m:r>
                      <m:d>
                        <m:dPr>
                          <m:begChr m:val="{"/>
                          <m:endChr m:val="}"/>
                          <m:ctrlPr>
                            <a:rPr lang="fa-IR" i="1">
                              <a:latin typeface="Cambria Math" panose="02040503050406030204" pitchFamily="18" charset="0"/>
                            </a:rPr>
                          </m:ctrlPr>
                        </m:dPr>
                        <m:e>
                          <m:r>
                            <a:rPr lang="fa-IR" i="1">
                              <a:latin typeface="Cambria Math" panose="02040503050406030204" pitchFamily="18" charset="0"/>
                            </a:rPr>
                            <m:t>𝐵</m:t>
                          </m:r>
                        </m:e>
                      </m:d>
                    </m:oMath>
                  </m:oMathPara>
                </a14:m>
                <a:endParaRPr lang="fa-IR" dirty="0">
                  <a:cs typeface="B Nazanin" panose="00000400000000000000" pitchFamily="2" charset="-78"/>
                </a:endParaRPr>
              </a:p>
              <a:p>
                <a:pPr algn="r" rtl="1">
                  <a:buFont typeface="Arial" panose="020B0604020202020204" pitchFamily="34" charset="0"/>
                  <a:buChar char="•"/>
                </a:pPr>
                <a:r>
                  <a:rPr lang="fa-IR" dirty="0">
                    <a:cs typeface="B Nazanin" panose="00000400000000000000" pitchFamily="2" charset="-78"/>
                  </a:rPr>
                  <a:t>وابستگی:</a:t>
                </a:r>
              </a:p>
              <a:p>
                <a:pPr algn="r" rtl="1">
                  <a:buNone/>
                </a:pPr>
                <a14:m>
                  <m:oMathPara xmlns:m="http://schemas.openxmlformats.org/officeDocument/2006/math">
                    <m:oMathParaPr>
                      <m:jc m:val="centerGroup"/>
                    </m:oMathParaPr>
                    <m:oMath xmlns:m="http://schemas.openxmlformats.org/officeDocument/2006/math">
                      <m:r>
                        <a:rPr lang="fa-IR" i="1">
                          <a:latin typeface="Cambria Math" panose="02040503050406030204" pitchFamily="18" charset="0"/>
                        </a:rPr>
                        <m:t>𝐵</m:t>
                      </m:r>
                      <m:r>
                        <a:rPr lang="fa-IR" i="0">
                          <a:latin typeface="Cambria Math" panose="02040503050406030204" pitchFamily="18" charset="0"/>
                        </a:rPr>
                        <m:t>→</m:t>
                      </m:r>
                      <m:r>
                        <a:rPr lang="fa-IR" i="1">
                          <a:latin typeface="Cambria Math" panose="02040503050406030204" pitchFamily="18" charset="0"/>
                        </a:rPr>
                        <m:t>𝐵𝐶</m:t>
                      </m:r>
                    </m:oMath>
                  </m:oMathPara>
                </a14:m>
                <a:endParaRPr lang="fa-IR" dirty="0">
                  <a:cs typeface="B Nazanin" panose="00000400000000000000" pitchFamily="2" charset="-78"/>
                </a:endParaRPr>
              </a:p>
              <a:p>
                <a:pPr algn="r" rtl="1">
                  <a:buNone/>
                </a:pPr>
                <a:r>
                  <a:rPr lang="fa-IR" dirty="0">
                    <a:cs typeface="B Nazanin" panose="00000400000000000000" pitchFamily="2" charset="-78"/>
                  </a:rPr>
                  <a:t>چون </a:t>
                </a:r>
                <a:r>
                  <a:rPr lang="en-US" b="1" dirty="0">
                    <a:cs typeface="B Nazanin" panose="00000400000000000000" pitchFamily="2" charset="-78"/>
                  </a:rPr>
                  <a:t>B </a:t>
                </a:r>
                <a:r>
                  <a:rPr lang="fa-IR" b="1" dirty="0">
                    <a:cs typeface="B Nazanin" panose="00000400000000000000" pitchFamily="2" charset="-78"/>
                  </a:rPr>
                  <a:t>کلید رابطه </a:t>
                </a:r>
                <a14:m>
                  <m:oMath xmlns:m="http://schemas.openxmlformats.org/officeDocument/2006/math">
                    <m:sSub>
                      <m:sSubPr>
                        <m:ctrlPr>
                          <a:rPr lang="fa-IR" i="1">
                            <a:latin typeface="Cambria Math" panose="02040503050406030204" pitchFamily="18" charset="0"/>
                          </a:rPr>
                        </m:ctrlPr>
                      </m:sSubPr>
                      <m:e>
                        <m:r>
                          <a:rPr lang="fa-IR" i="1">
                            <a:latin typeface="Cambria Math" panose="02040503050406030204" pitchFamily="18" charset="0"/>
                          </a:rPr>
                          <m:t>𝑅</m:t>
                        </m:r>
                      </m:e>
                      <m:sub>
                        <m:r>
                          <a:rPr lang="fa-IR" i="0">
                            <a:latin typeface="Cambria Math" panose="02040503050406030204" pitchFamily="18" charset="0"/>
                          </a:rPr>
                          <m:t>2</m:t>
                        </m:r>
                      </m:sub>
                    </m:sSub>
                    <m:d>
                      <m:dPr>
                        <m:sepChr m:val=","/>
                        <m:ctrlPr>
                          <a:rPr lang="fa-IR" i="1">
                            <a:latin typeface="Cambria Math" panose="02040503050406030204" pitchFamily="18" charset="0"/>
                          </a:rPr>
                        </m:ctrlPr>
                      </m:dPr>
                      <m:e>
                        <m:r>
                          <a:rPr lang="fa-IR" i="1">
                            <a:latin typeface="Cambria Math" panose="02040503050406030204" pitchFamily="18" charset="0"/>
                          </a:rPr>
                          <m:t>𝐵</m:t>
                        </m:r>
                      </m:e>
                      <m:e>
                        <m:r>
                          <a:rPr lang="fa-IR" i="1">
                            <a:latin typeface="Cambria Math" panose="02040503050406030204" pitchFamily="18" charset="0"/>
                          </a:rPr>
                          <m:t>𝐶</m:t>
                        </m:r>
                      </m:e>
                    </m:d>
                  </m:oMath>
                </a14:m>
                <a:r>
                  <a:rPr lang="fa-IR" dirty="0">
                    <a:cs typeface="B Nazanin" panose="00000400000000000000" pitchFamily="2" charset="-78"/>
                  </a:rPr>
                  <a:t>است، اتصال طبیعی </a:t>
                </a:r>
                <a14:m>
                  <m:oMath xmlns:m="http://schemas.openxmlformats.org/officeDocument/2006/math">
                    <m:sSub>
                      <m:sSubPr>
                        <m:ctrlPr>
                          <a:rPr lang="fa-IR" i="1">
                            <a:latin typeface="Cambria Math" panose="02040503050406030204" pitchFamily="18" charset="0"/>
                          </a:rPr>
                        </m:ctrlPr>
                      </m:sSubPr>
                      <m:e>
                        <m:r>
                          <a:rPr lang="fa-IR" i="1">
                            <a:latin typeface="Cambria Math" panose="02040503050406030204" pitchFamily="18" charset="0"/>
                          </a:rPr>
                          <m:t>𝑅</m:t>
                        </m:r>
                      </m:e>
                      <m:sub>
                        <m:r>
                          <a:rPr lang="fa-IR" i="0">
                            <a:latin typeface="Cambria Math" panose="02040503050406030204" pitchFamily="18" charset="0"/>
                          </a:rPr>
                          <m:t>1</m:t>
                        </m:r>
                      </m:sub>
                    </m:sSub>
                  </m:oMath>
                </a14:m>
                <a:r>
                  <a:rPr lang="fa-IR" dirty="0">
                    <a:cs typeface="B Nazanin" panose="00000400000000000000" pitchFamily="2" charset="-78"/>
                  </a:rPr>
                  <a:t>و </a:t>
                </a:r>
                <a14:m>
                  <m:oMath xmlns:m="http://schemas.openxmlformats.org/officeDocument/2006/math">
                    <m:sSub>
                      <m:sSubPr>
                        <m:ctrlPr>
                          <a:rPr lang="fa-IR" i="1">
                            <a:latin typeface="Cambria Math" panose="02040503050406030204" pitchFamily="18" charset="0"/>
                          </a:rPr>
                        </m:ctrlPr>
                      </m:sSubPr>
                      <m:e>
                        <m:r>
                          <a:rPr lang="fa-IR" i="1">
                            <a:latin typeface="Cambria Math" panose="02040503050406030204" pitchFamily="18" charset="0"/>
                          </a:rPr>
                          <m:t>𝑅</m:t>
                        </m:r>
                      </m:e>
                      <m:sub>
                        <m:r>
                          <a:rPr lang="fa-IR" i="0">
                            <a:latin typeface="Cambria Math" panose="02040503050406030204" pitchFamily="18" charset="0"/>
                          </a:rPr>
                          <m:t>2</m:t>
                        </m:r>
                      </m:sub>
                    </m:sSub>
                  </m:oMath>
                </a14:m>
                <a:r>
                  <a:rPr lang="fa-IR" dirty="0">
                    <a:cs typeface="B Nazanin" panose="00000400000000000000" pitchFamily="2" charset="-78"/>
                  </a:rPr>
                  <a:t>اطلاعات را از دست نمی‌دهد.</a:t>
                </a:r>
              </a:p>
              <a:p>
                <a:pPr algn="r" rtl="1">
                  <a:buNone/>
                </a:pPr>
                <a:r>
                  <a:rPr lang="fa-IR" dirty="0">
                    <a:cs typeface="B Nazanin" panose="00000400000000000000" pitchFamily="2" charset="-78"/>
                  </a:rPr>
                  <a:t>✔ </a:t>
                </a:r>
                <a:r>
                  <a:rPr lang="fa-IR" b="1" dirty="0">
                    <a:cs typeface="B Nazanin" panose="00000400000000000000" pitchFamily="2" charset="-78"/>
                  </a:rPr>
                  <a:t>تجزیه بدون اتلاف</a:t>
                </a:r>
                <a:endParaRPr lang="fa-IR" dirty="0">
                  <a:cs typeface="B Nazanin" panose="00000400000000000000" pitchFamily="2" charset="-78"/>
                </a:endParaRPr>
              </a:p>
            </p:txBody>
          </p:sp>
        </mc:Choice>
        <mc:Fallback>
          <p:sp>
            <p:nvSpPr>
              <p:cNvPr id="7" name="TextBox 6">
                <a:extLst>
                  <a:ext uri="{FF2B5EF4-FFF2-40B4-BE49-F238E27FC236}">
                    <a16:creationId xmlns:a16="http://schemas.microsoft.com/office/drawing/2014/main" id="{E2116B7C-F02D-D016-D44E-439F88759970}"/>
                  </a:ext>
                </a:extLst>
              </p:cNvPr>
              <p:cNvSpPr txBox="1">
                <a:spLocks noRot="1" noChangeAspect="1" noMove="1" noResize="1" noEditPoints="1" noAdjustHandles="1" noChangeArrowheads="1" noChangeShapeType="1" noTextEdit="1"/>
              </p:cNvSpPr>
              <p:nvPr/>
            </p:nvSpPr>
            <p:spPr>
              <a:xfrm>
                <a:off x="3890206" y="3787115"/>
                <a:ext cx="4955344" cy="2308324"/>
              </a:xfrm>
              <a:prstGeom prst="rect">
                <a:avLst/>
              </a:prstGeom>
              <a:blipFill>
                <a:blip r:embed="rId6"/>
                <a:stretch>
                  <a:fillRect r="-861" b="-3166"/>
                </a:stretch>
              </a:blipFill>
            </p:spPr>
            <p:txBody>
              <a:bodyPr/>
              <a:lstStyle/>
              <a:p>
                <a:r>
                  <a:rPr lang="en-US">
                    <a:noFill/>
                  </a:rPr>
                  <a:t> </a:t>
                </a:r>
              </a:p>
            </p:txBody>
          </p:sp>
        </mc:Fallback>
      </mc:AlternateContent>
    </p:spTree>
    <p:extLst>
      <p:ext uri="{BB962C8B-B14F-4D97-AF65-F5344CB8AC3E}">
        <p14:creationId xmlns:p14="http://schemas.microsoft.com/office/powerpoint/2010/main" val="117768385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fade">
                                      <p:cBhvr>
                                        <p:cTn id="12" dur="500"/>
                                        <p:tgtEl>
                                          <p:spTgt spid="7"/>
                                        </p:tgtEl>
                                      </p:cBhvr>
                                    </p:animEffec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5" grpId="0"/>
      <p:bldP spid="7" grpId="0"/>
    </p:bldLst>
  </p:timing>
</p:sld>
</file>

<file path=ppt/slides/slide66.xml><?xml version="1.0" encoding="utf-8"?>
<p:sld xmlns:a="http://schemas.openxmlformats.org/drawingml/2006/main" xmlns:r="http://schemas.openxmlformats.org/officeDocument/2006/relationships" xmlns:p="http://schemas.openxmlformats.org/presentationml/2006/main" showMasterPhAnim="0">
  <p:cSld>
    <p:spTree>
      <p:nvGrpSpPr>
        <p:cNvPr id="1" name="">
          <a:extLst>
            <a:ext uri="{FF2B5EF4-FFF2-40B4-BE49-F238E27FC236}">
              <a16:creationId xmlns:a16="http://schemas.microsoft.com/office/drawing/2014/main" id="{446307C4-124F-8232-139B-25E34215BE06}"/>
            </a:ext>
          </a:extLst>
        </p:cNvPr>
        <p:cNvGrpSpPr/>
        <p:nvPr/>
      </p:nvGrpSpPr>
      <p:grpSpPr>
        <a:xfrm>
          <a:off x="0" y="0"/>
          <a:ext cx="0" cy="0"/>
          <a:chOff x="0" y="0"/>
          <a:chExt cx="0" cy="0"/>
        </a:xfrm>
      </p:grpSpPr>
      <p:sp>
        <p:nvSpPr>
          <p:cNvPr id="924674" name="Rectangle 2">
            <a:extLst>
              <a:ext uri="{FF2B5EF4-FFF2-40B4-BE49-F238E27FC236}">
                <a16:creationId xmlns:a16="http://schemas.microsoft.com/office/drawing/2014/main" id="{AFC7C6FB-6C42-F982-5483-E6C1EA7D2851}"/>
              </a:ext>
            </a:extLst>
          </p:cNvPr>
          <p:cNvSpPr>
            <a:spLocks noGrp="1" noChangeArrowheads="1"/>
          </p:cNvSpPr>
          <p:nvPr>
            <p:ph type="title"/>
          </p:nvPr>
        </p:nvSpPr>
        <p:spPr/>
        <p:txBody>
          <a:bodyPr/>
          <a:lstStyle/>
          <a:p>
            <a:pPr>
              <a:defRPr/>
            </a:pPr>
            <a:r>
              <a:rPr lang="en-US" sz="2800" dirty="0">
                <a:ea typeface="ＭＳ Ｐゴシック" pitchFamily="34" charset="-128"/>
              </a:rPr>
              <a:t>Example</a:t>
            </a:r>
          </a:p>
        </p:txBody>
      </p:sp>
      <mc:AlternateContent xmlns:mc="http://schemas.openxmlformats.org/markup-compatibility/2006">
        <mc:Choice xmlns:a14="http://schemas.microsoft.com/office/drawing/2010/main" Requires="a14">
          <p:sp>
            <p:nvSpPr>
              <p:cNvPr id="924675" name="Rectangle 3">
                <a:extLst>
                  <a:ext uri="{FF2B5EF4-FFF2-40B4-BE49-F238E27FC236}">
                    <a16:creationId xmlns:a16="http://schemas.microsoft.com/office/drawing/2014/main" id="{829A558C-FF9B-E4ED-7894-E349DFD23B8A}"/>
                  </a:ext>
                </a:extLst>
              </p:cNvPr>
              <p:cNvSpPr>
                <a:spLocks noGrp="1" noChangeArrowheads="1"/>
              </p:cNvSpPr>
              <p:nvPr>
                <p:ph idx="1"/>
              </p:nvPr>
            </p:nvSpPr>
            <p:spPr>
              <a:xfrm>
                <a:off x="768351" y="1093789"/>
                <a:ext cx="7607554" cy="2085509"/>
              </a:xfrm>
            </p:spPr>
            <p:txBody>
              <a:bodyPr/>
              <a:lstStyle/>
              <a:p>
                <a:r>
                  <a:rPr lang="fa-IR" sz="1800" b="1" dirty="0"/>
                  <a:t>رابطه و وابستگی‌ها</a:t>
                </a:r>
              </a:p>
              <a:p>
                <a:r>
                  <a:rPr lang="fa-IR" sz="1800" dirty="0"/>
                  <a:t>رابطه اصلی:</a:t>
                </a:r>
              </a:p>
              <a:p>
                <a14:m>
                  <m:oMath xmlns:m="http://schemas.openxmlformats.org/officeDocument/2006/math">
                    <m:r>
                      <a:rPr lang="fa-IR" i="1">
                        <a:latin typeface="Cambria Math" panose="02040503050406030204" pitchFamily="18" charset="0"/>
                      </a:rPr>
                      <m:t>𝑅</m:t>
                    </m:r>
                    <m:d>
                      <m:dPr>
                        <m:sepChr m:val=","/>
                        <m:ctrlPr>
                          <a:rPr lang="fa-IR" i="1">
                            <a:latin typeface="Cambria Math" panose="02040503050406030204" pitchFamily="18" charset="0"/>
                          </a:rPr>
                        </m:ctrlPr>
                      </m:dPr>
                      <m:e>
                        <m:r>
                          <a:rPr lang="fa-IR" i="1">
                            <a:latin typeface="Cambria Math" panose="02040503050406030204" pitchFamily="18" charset="0"/>
                          </a:rPr>
                          <m:t>𝐴</m:t>
                        </m:r>
                      </m:e>
                      <m:e>
                        <m:r>
                          <a:rPr lang="fa-IR" i="1">
                            <a:latin typeface="Cambria Math" panose="02040503050406030204" pitchFamily="18" charset="0"/>
                          </a:rPr>
                          <m:t>𝐵</m:t>
                        </m:r>
                      </m:e>
                      <m:e>
                        <m:r>
                          <a:rPr lang="fa-IR" i="1">
                            <a:latin typeface="Cambria Math" panose="02040503050406030204" pitchFamily="18" charset="0"/>
                          </a:rPr>
                          <m:t>𝐶</m:t>
                        </m:r>
                      </m:e>
                    </m:d>
                  </m:oMath>
                </a14:m>
                <a:endParaRPr lang="fa-IR" sz="1800" dirty="0"/>
              </a:p>
              <a:p>
                <a:r>
                  <a:rPr lang="fa-IR" sz="1800" dirty="0"/>
                  <a:t>وابستگی‌های تابعی:</a:t>
                </a:r>
              </a:p>
              <a:p>
                <a14:m>
                  <m:oMath xmlns:m="http://schemas.openxmlformats.org/officeDocument/2006/math">
                    <m:r>
                      <a:rPr lang="fa-IR" i="1">
                        <a:latin typeface="Cambria Math" panose="02040503050406030204" pitchFamily="18" charset="0"/>
                      </a:rPr>
                      <m:t>𝐹</m:t>
                    </m:r>
                    <m:r>
                      <a:rPr lang="fa-IR">
                        <a:latin typeface="Cambria Math" panose="02040503050406030204" pitchFamily="18" charset="0"/>
                      </a:rPr>
                      <m:t>=</m:t>
                    </m:r>
                    <m:r>
                      <a:rPr lang="en-US" b="0" i="1" smtClean="0">
                        <a:latin typeface="Cambria Math" panose="02040503050406030204" pitchFamily="18" charset="0"/>
                      </a:rPr>
                      <m:t>{</m:t>
                    </m:r>
                    <m:r>
                      <a:rPr lang="en-US" b="0" i="1" smtClean="0">
                        <a:latin typeface="Cambria Math" panose="02040503050406030204" pitchFamily="18" charset="0"/>
                      </a:rPr>
                      <m:t>𝐴</m:t>
                    </m:r>
                    <m:r>
                      <a:rPr lang="fa-IR">
                        <a:latin typeface="Cambria Math" panose="02040503050406030204" pitchFamily="18" charset="0"/>
                      </a:rPr>
                      <m:t>→</m:t>
                    </m:r>
                    <m:r>
                      <m:rPr>
                        <m:sty m:val="p"/>
                      </m:rPr>
                      <a:rPr lang="en-US" b="0" i="0" smtClean="0">
                        <a:latin typeface="Cambria Math" panose="02040503050406030204" pitchFamily="18" charset="0"/>
                      </a:rPr>
                      <m:t>B</m:t>
                    </m:r>
                    <m:r>
                      <a:rPr lang="en-US" b="0" i="0" smtClean="0">
                        <a:latin typeface="Cambria Math" panose="02040503050406030204" pitchFamily="18" charset="0"/>
                      </a:rPr>
                      <m:t>, </m:t>
                    </m:r>
                    <m:r>
                      <m:rPr>
                        <m:sty m:val="p"/>
                      </m:rPr>
                      <a:rPr lang="en-US" b="0" i="0" smtClean="0">
                        <a:latin typeface="Cambria Math" panose="02040503050406030204" pitchFamily="18" charset="0"/>
                      </a:rPr>
                      <m:t>B</m:t>
                    </m:r>
                    <m:r>
                      <a:rPr lang="fa-IR">
                        <a:latin typeface="Cambria Math" panose="02040503050406030204" pitchFamily="18" charset="0"/>
                      </a:rPr>
                      <m:t>→</m:t>
                    </m:r>
                    <m:r>
                      <m:rPr>
                        <m:sty m:val="p"/>
                      </m:rPr>
                      <a:rPr lang="en-US" b="0" i="0" smtClean="0">
                        <a:latin typeface="Cambria Math" panose="02040503050406030204" pitchFamily="18" charset="0"/>
                      </a:rPr>
                      <m:t>C</m:t>
                    </m:r>
                    <m:r>
                      <a:rPr lang="en-US" b="0" i="1" smtClean="0">
                        <a:latin typeface="Cambria Math" panose="02040503050406030204" pitchFamily="18" charset="0"/>
                      </a:rPr>
                      <m:t>}</m:t>
                    </m:r>
                  </m:oMath>
                </a14:m>
                <a:endParaRPr lang="fa-IR" sz="1800" b="0" dirty="0"/>
              </a:p>
            </p:txBody>
          </p:sp>
        </mc:Choice>
        <mc:Fallback>
          <p:sp>
            <p:nvSpPr>
              <p:cNvPr id="924675" name="Rectangle 3">
                <a:extLst>
                  <a:ext uri="{FF2B5EF4-FFF2-40B4-BE49-F238E27FC236}">
                    <a16:creationId xmlns:a16="http://schemas.microsoft.com/office/drawing/2014/main" id="{829A558C-FF9B-E4ED-7894-E349DFD23B8A}"/>
                  </a:ext>
                </a:extLst>
              </p:cNvPr>
              <p:cNvSpPr>
                <a:spLocks noGrp="1" noRot="1" noChangeAspect="1" noMove="1" noResize="1" noEditPoints="1" noAdjustHandles="1" noChangeArrowheads="1" noChangeShapeType="1" noTextEdit="1"/>
              </p:cNvSpPr>
              <p:nvPr>
                <p:ph idx="1"/>
              </p:nvPr>
            </p:nvSpPr>
            <p:spPr>
              <a:xfrm>
                <a:off x="768351" y="1093789"/>
                <a:ext cx="7607554" cy="2085509"/>
              </a:xfrm>
              <a:blipFill>
                <a:blip r:embed="rId3"/>
                <a:stretch>
                  <a:fillRect l="-881" t="-3499"/>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3" name="TextBox 2">
                <a:extLst>
                  <a:ext uri="{FF2B5EF4-FFF2-40B4-BE49-F238E27FC236}">
                    <a16:creationId xmlns:a16="http://schemas.microsoft.com/office/drawing/2014/main" id="{6BD407FC-1DEE-2889-2E57-AA74EC32D0AC}"/>
                  </a:ext>
                </a:extLst>
              </p:cNvPr>
              <p:cNvSpPr txBox="1"/>
              <p:nvPr/>
            </p:nvSpPr>
            <p:spPr>
              <a:xfrm>
                <a:off x="4273550" y="1482992"/>
                <a:ext cx="4572000" cy="830997"/>
              </a:xfrm>
              <a:prstGeom prst="rect">
                <a:avLst/>
              </a:prstGeom>
              <a:noFill/>
            </p:spPr>
            <p:txBody>
              <a:bodyPr wrap="square">
                <a:spAutoFit/>
              </a:bodyPr>
              <a:lstStyle/>
              <a:p>
                <a:pPr algn="r" rtl="1"/>
                <a:r>
                  <a:rPr lang="fa-IR" b="1" dirty="0">
                    <a:cs typeface="B Nazanin" panose="00000400000000000000" pitchFamily="2" charset="-78"/>
                  </a:rPr>
                  <a:t>تجزیه دوم</a:t>
                </a:r>
              </a:p>
              <a:p>
                <a:pPr algn="r" rtl="1"/>
                <a14:m>
                  <m:oMathPara xmlns:m="http://schemas.openxmlformats.org/officeDocument/2006/math">
                    <m:oMathParaPr>
                      <m:jc m:val="centerGroup"/>
                    </m:oMathParaPr>
                    <m:oMath xmlns:m="http://schemas.openxmlformats.org/officeDocument/2006/math">
                      <m:sSub>
                        <m:sSubPr>
                          <m:ctrlPr>
                            <a:rPr lang="fa-IR"/>
                          </m:ctrlPr>
                        </m:sSubPr>
                        <m:e>
                          <m:r>
                            <a:rPr lang="fa-IR" i="1"/>
                            <m:t>𝑅</m:t>
                          </m:r>
                        </m:e>
                        <m:sub>
                          <m:r>
                            <a:rPr lang="fa-IR"/>
                            <m:t>1</m:t>
                          </m:r>
                        </m:sub>
                      </m:sSub>
                      <m:d>
                        <m:dPr>
                          <m:sepChr m:val=","/>
                          <m:ctrlPr>
                            <a:rPr lang="fa-IR" i="1"/>
                          </m:ctrlPr>
                        </m:dPr>
                        <m:e>
                          <m:r>
                            <a:rPr lang="fa-IR" i="1"/>
                            <m:t>𝐴</m:t>
                          </m:r>
                        </m:e>
                        <m:e>
                          <m:r>
                            <a:rPr lang="fa-IR" i="1"/>
                            <m:t>𝐵</m:t>
                          </m:r>
                        </m:e>
                      </m:d>
                    </m:oMath>
                  </m:oMathPara>
                </a14:m>
                <a:endParaRPr lang="en-US" dirty="0">
                  <a:cs typeface="B Nazanin" panose="00000400000000000000" pitchFamily="2" charset="-78"/>
                </a:endParaRPr>
              </a:p>
              <a:p>
                <a:pPr algn="r" rtl="1"/>
                <a14:m>
                  <m:oMathPara xmlns:m="http://schemas.openxmlformats.org/officeDocument/2006/math">
                    <m:oMathParaPr>
                      <m:jc m:val="centerGroup"/>
                    </m:oMathParaPr>
                    <m:oMath xmlns:m="http://schemas.openxmlformats.org/officeDocument/2006/math">
                      <m:sSub>
                        <m:sSubPr>
                          <m:ctrlPr>
                            <a:rPr lang="fa-IR" i="1"/>
                          </m:ctrlPr>
                        </m:sSubPr>
                        <m:e>
                          <m:r>
                            <a:rPr lang="fa-IR" i="1"/>
                            <m:t>𝑅</m:t>
                          </m:r>
                        </m:e>
                        <m:sub>
                          <m:r>
                            <a:rPr lang="fa-IR"/>
                            <m:t>2</m:t>
                          </m:r>
                        </m:sub>
                      </m:sSub>
                      <m:d>
                        <m:dPr>
                          <m:sepChr m:val=","/>
                          <m:ctrlPr>
                            <a:rPr lang="fa-IR" i="1"/>
                          </m:ctrlPr>
                        </m:dPr>
                        <m:e>
                          <m:r>
                            <a:rPr lang="fa-IR" i="1"/>
                            <m:t>𝐴</m:t>
                          </m:r>
                        </m:e>
                        <m:e>
                          <m:r>
                            <a:rPr lang="fa-IR" i="1"/>
                            <m:t>𝐶</m:t>
                          </m:r>
                        </m:e>
                      </m:d>
                    </m:oMath>
                  </m:oMathPara>
                </a14:m>
                <a:endParaRPr lang="fa-IR" dirty="0">
                  <a:cs typeface="B Nazanin" panose="00000400000000000000" pitchFamily="2" charset="-78"/>
                </a:endParaRPr>
              </a:p>
            </p:txBody>
          </p:sp>
        </mc:Choice>
        <mc:Fallback>
          <p:sp>
            <p:nvSpPr>
              <p:cNvPr id="3" name="TextBox 2">
                <a:extLst>
                  <a:ext uri="{FF2B5EF4-FFF2-40B4-BE49-F238E27FC236}">
                    <a16:creationId xmlns:a16="http://schemas.microsoft.com/office/drawing/2014/main" id="{6BD407FC-1DEE-2889-2E57-AA74EC32D0AC}"/>
                  </a:ext>
                </a:extLst>
              </p:cNvPr>
              <p:cNvSpPr txBox="1">
                <a:spLocks noRot="1" noChangeAspect="1" noMove="1" noResize="1" noEditPoints="1" noAdjustHandles="1" noChangeArrowheads="1" noChangeShapeType="1" noTextEdit="1"/>
              </p:cNvSpPr>
              <p:nvPr/>
            </p:nvSpPr>
            <p:spPr>
              <a:xfrm>
                <a:off x="4273550" y="1482992"/>
                <a:ext cx="4572000" cy="830997"/>
              </a:xfrm>
              <a:prstGeom prst="rect">
                <a:avLst/>
              </a:prstGeom>
              <a:blipFill>
                <a:blip r:embed="rId4"/>
                <a:stretch>
                  <a:fillRect t="-2190" r="-800"/>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5" name="TextBox 4">
                <a:extLst>
                  <a:ext uri="{FF2B5EF4-FFF2-40B4-BE49-F238E27FC236}">
                    <a16:creationId xmlns:a16="http://schemas.microsoft.com/office/drawing/2014/main" id="{EFA3F8C0-33EE-0B63-94CA-D55385769DC3}"/>
                  </a:ext>
                </a:extLst>
              </p:cNvPr>
              <p:cNvSpPr txBox="1"/>
              <p:nvPr/>
            </p:nvSpPr>
            <p:spPr>
              <a:xfrm>
                <a:off x="-98475" y="3559126"/>
                <a:ext cx="3587261" cy="2308324"/>
              </a:xfrm>
              <a:prstGeom prst="rect">
                <a:avLst/>
              </a:prstGeom>
              <a:noFill/>
            </p:spPr>
            <p:txBody>
              <a:bodyPr wrap="square">
                <a:spAutoFit/>
              </a:bodyPr>
              <a:lstStyle/>
              <a:p>
                <a:pPr algn="r" rtl="1"/>
                <a:r>
                  <a:rPr lang="fa-IR" b="1" dirty="0">
                    <a:cs typeface="B Nazanin" panose="00000400000000000000" pitchFamily="2" charset="-78"/>
                  </a:rPr>
                  <a:t>2) غیرِ حفظ‌کننده وابستگی‌ها</a:t>
                </a:r>
              </a:p>
              <a:p>
                <a:pPr algn="r" rtl="1"/>
                <a:r>
                  <a:rPr lang="fa-IR" dirty="0">
                    <a:cs typeface="B Nazanin" panose="00000400000000000000" pitchFamily="2" charset="-78"/>
                  </a:rPr>
                  <a:t>وابستگی </a:t>
                </a:r>
                <a14:m>
                  <m:oMath xmlns:m="http://schemas.openxmlformats.org/officeDocument/2006/math">
                    <m:r>
                      <a:rPr lang="fa-IR" i="1"/>
                      <m:t>𝐴</m:t>
                    </m:r>
                    <m:r>
                      <a:rPr lang="fa-IR"/>
                      <m:t>→</m:t>
                    </m:r>
                    <m:r>
                      <a:rPr lang="fa-IR" i="1"/>
                      <m:t>𝐵</m:t>
                    </m:r>
                  </m:oMath>
                </a14:m>
                <a:r>
                  <a:rPr lang="fa-IR" dirty="0">
                    <a:cs typeface="B Nazanin" panose="00000400000000000000" pitchFamily="2" charset="-78"/>
                  </a:rPr>
                  <a:t>در </a:t>
                </a:r>
                <a14:m>
                  <m:oMath xmlns:m="http://schemas.openxmlformats.org/officeDocument/2006/math">
                    <m:sSub>
                      <m:sSubPr>
                        <m:ctrlPr>
                          <a:rPr lang="fa-IR"/>
                        </m:ctrlPr>
                      </m:sSubPr>
                      <m:e>
                        <m:r>
                          <a:rPr lang="fa-IR" i="1"/>
                          <m:t>𝑅</m:t>
                        </m:r>
                      </m:e>
                      <m:sub>
                        <m:r>
                          <a:rPr lang="fa-IR"/>
                          <m:t>1</m:t>
                        </m:r>
                      </m:sub>
                    </m:sSub>
                  </m:oMath>
                </a14:m>
                <a:r>
                  <a:rPr lang="fa-IR" dirty="0">
                    <a:cs typeface="B Nazanin" panose="00000400000000000000" pitchFamily="2" charset="-78"/>
                  </a:rPr>
                  <a:t>موجود است.</a:t>
                </a:r>
              </a:p>
              <a:p>
                <a:pPr algn="r" rtl="1"/>
                <a:r>
                  <a:rPr lang="fa-IR" dirty="0">
                    <a:cs typeface="B Nazanin" panose="00000400000000000000" pitchFamily="2" charset="-78"/>
                  </a:rPr>
                  <a:t>اما وابستگی مهم:</a:t>
                </a:r>
              </a:p>
              <a:p>
                <a:pPr algn="r" rtl="1"/>
                <a14:m>
                  <m:oMathPara xmlns:m="http://schemas.openxmlformats.org/officeDocument/2006/math">
                    <m:oMathParaPr>
                      <m:jc m:val="centerGroup"/>
                    </m:oMathParaPr>
                    <m:oMath xmlns:m="http://schemas.openxmlformats.org/officeDocument/2006/math">
                      <m:r>
                        <a:rPr lang="fa-IR" i="1"/>
                        <m:t>𝐵</m:t>
                      </m:r>
                      <m:r>
                        <a:rPr lang="fa-IR"/>
                        <m:t>→</m:t>
                      </m:r>
                      <m:r>
                        <a:rPr lang="fa-IR" i="1"/>
                        <m:t>𝐶</m:t>
                      </m:r>
                    </m:oMath>
                  </m:oMathPara>
                </a14:m>
                <a:endParaRPr lang="fa-IR" dirty="0">
                  <a:cs typeface="B Nazanin" panose="00000400000000000000" pitchFamily="2" charset="-78"/>
                </a:endParaRPr>
              </a:p>
              <a:p>
                <a:pPr algn="r" rtl="1"/>
                <a:r>
                  <a:rPr lang="fa-IR" dirty="0">
                    <a:cs typeface="B Nazanin" panose="00000400000000000000" pitchFamily="2" charset="-78"/>
                  </a:rPr>
                  <a:t>در هیچ‌کدام از روابط به‌تنهایی وجود ندارد:</a:t>
                </a:r>
              </a:p>
              <a:p>
                <a:pPr algn="r" rtl="1"/>
                <a:r>
                  <a:rPr lang="fa-IR" dirty="0">
                    <a:cs typeface="B Nazanin" panose="00000400000000000000" pitchFamily="2" charset="-78"/>
                  </a:rPr>
                  <a:t>در </a:t>
                </a:r>
                <a14:m>
                  <m:oMath xmlns:m="http://schemas.openxmlformats.org/officeDocument/2006/math">
                    <m:sSub>
                      <m:sSubPr>
                        <m:ctrlPr>
                          <a:rPr lang="fa-IR"/>
                        </m:ctrlPr>
                      </m:sSubPr>
                      <m:e>
                        <m:r>
                          <a:rPr lang="fa-IR" i="1"/>
                          <m:t>𝑅</m:t>
                        </m:r>
                      </m:e>
                      <m:sub>
                        <m:r>
                          <a:rPr lang="fa-IR"/>
                          <m:t>1</m:t>
                        </m:r>
                      </m:sub>
                    </m:sSub>
                    <m:d>
                      <m:dPr>
                        <m:sepChr m:val=","/>
                        <m:ctrlPr>
                          <a:rPr lang="fa-IR" i="1"/>
                        </m:ctrlPr>
                      </m:dPr>
                      <m:e>
                        <m:r>
                          <a:rPr lang="fa-IR" i="1"/>
                          <m:t>𝐴</m:t>
                        </m:r>
                      </m:e>
                      <m:e>
                        <m:r>
                          <a:rPr lang="fa-IR" i="1"/>
                          <m:t>𝐵</m:t>
                        </m:r>
                      </m:e>
                    </m:d>
                  </m:oMath>
                </a14:m>
                <a:r>
                  <a:rPr lang="fa-IR" dirty="0">
                    <a:cs typeface="B Nazanin" panose="00000400000000000000" pitchFamily="2" charset="-78"/>
                  </a:rPr>
                  <a:t>صفت </a:t>
                </a:r>
                <a:r>
                  <a:rPr lang="en-US" b="1" dirty="0">
                    <a:cs typeface="B Nazanin" panose="00000400000000000000" pitchFamily="2" charset="-78"/>
                  </a:rPr>
                  <a:t>C</a:t>
                </a:r>
                <a:r>
                  <a:rPr lang="en-US" dirty="0">
                    <a:cs typeface="B Nazanin" panose="00000400000000000000" pitchFamily="2" charset="-78"/>
                  </a:rPr>
                  <a:t> </a:t>
                </a:r>
                <a:r>
                  <a:rPr lang="fa-IR" dirty="0">
                    <a:cs typeface="B Nazanin" panose="00000400000000000000" pitchFamily="2" charset="-78"/>
                  </a:rPr>
                  <a:t>نیست.</a:t>
                </a:r>
              </a:p>
              <a:p>
                <a:pPr algn="r" rtl="1"/>
                <a:r>
                  <a:rPr lang="fa-IR" dirty="0">
                    <a:cs typeface="B Nazanin" panose="00000400000000000000" pitchFamily="2" charset="-78"/>
                  </a:rPr>
                  <a:t>در </a:t>
                </a:r>
                <a14:m>
                  <m:oMath xmlns:m="http://schemas.openxmlformats.org/officeDocument/2006/math">
                    <m:sSub>
                      <m:sSubPr>
                        <m:ctrlPr>
                          <a:rPr lang="fa-IR"/>
                        </m:ctrlPr>
                      </m:sSubPr>
                      <m:e>
                        <m:r>
                          <a:rPr lang="fa-IR" i="1"/>
                          <m:t>𝑅</m:t>
                        </m:r>
                      </m:e>
                      <m:sub>
                        <m:r>
                          <a:rPr lang="fa-IR"/>
                          <m:t>2</m:t>
                        </m:r>
                      </m:sub>
                    </m:sSub>
                    <m:d>
                      <m:dPr>
                        <m:sepChr m:val=","/>
                        <m:ctrlPr>
                          <a:rPr lang="fa-IR" i="1"/>
                        </m:ctrlPr>
                      </m:dPr>
                      <m:e>
                        <m:r>
                          <a:rPr lang="fa-IR" i="1"/>
                          <m:t>𝐴</m:t>
                        </m:r>
                      </m:e>
                      <m:e>
                        <m:r>
                          <a:rPr lang="fa-IR" i="1"/>
                          <m:t>𝐶</m:t>
                        </m:r>
                      </m:e>
                    </m:d>
                  </m:oMath>
                </a14:m>
                <a:r>
                  <a:rPr lang="fa-IR" dirty="0">
                    <a:cs typeface="B Nazanin" panose="00000400000000000000" pitchFamily="2" charset="-78"/>
                  </a:rPr>
                  <a:t>صفت </a:t>
                </a:r>
                <a:r>
                  <a:rPr lang="en-US" b="1" dirty="0">
                    <a:cs typeface="B Nazanin" panose="00000400000000000000" pitchFamily="2" charset="-78"/>
                  </a:rPr>
                  <a:t>B</a:t>
                </a:r>
                <a:r>
                  <a:rPr lang="en-US" dirty="0">
                    <a:cs typeface="B Nazanin" panose="00000400000000000000" pitchFamily="2" charset="-78"/>
                  </a:rPr>
                  <a:t> </a:t>
                </a:r>
                <a:r>
                  <a:rPr lang="fa-IR" dirty="0">
                    <a:cs typeface="B Nazanin" panose="00000400000000000000" pitchFamily="2" charset="-78"/>
                  </a:rPr>
                  <a:t>نیست.</a:t>
                </a:r>
              </a:p>
              <a:p>
                <a:pPr algn="r" rtl="1"/>
                <a:r>
                  <a:rPr lang="en-US" dirty="0">
                    <a:cs typeface="B Nazanin" panose="00000400000000000000" pitchFamily="2" charset="-78"/>
                  </a:rPr>
                  <a:t>❌ </a:t>
                </a:r>
                <a:r>
                  <a:rPr lang="fa-IR" dirty="0">
                    <a:cs typeface="B Nazanin" panose="00000400000000000000" pitchFamily="2" charset="-78"/>
                  </a:rPr>
                  <a:t>بنابراین </a:t>
                </a:r>
                <a:r>
                  <a:rPr lang="fa-IR" b="1" dirty="0">
                    <a:cs typeface="B Nazanin" panose="00000400000000000000" pitchFamily="2" charset="-78"/>
                  </a:rPr>
                  <a:t>نمی‌توان وابستگی </a:t>
                </a:r>
                <a14:m>
                  <m:oMath xmlns:m="http://schemas.openxmlformats.org/officeDocument/2006/math">
                    <m:r>
                      <a:rPr lang="fa-IR" i="1"/>
                      <m:t>𝐵</m:t>
                    </m:r>
                    <m:r>
                      <a:rPr lang="fa-IR"/>
                      <m:t>→</m:t>
                    </m:r>
                    <m:r>
                      <a:rPr lang="fa-IR" i="1"/>
                      <m:t>𝐶</m:t>
                    </m:r>
                  </m:oMath>
                </a14:m>
                <a:r>
                  <a:rPr lang="fa-IR" b="1" dirty="0">
                    <a:cs typeface="B Nazanin" panose="00000400000000000000" pitchFamily="2" charset="-78"/>
                  </a:rPr>
                  <a:t>را بدون </a:t>
                </a:r>
                <a:r>
                  <a:rPr lang="en-US" b="1" dirty="0">
                    <a:cs typeface="B Nazanin" panose="00000400000000000000" pitchFamily="2" charset="-78"/>
                  </a:rPr>
                  <a:t>Join </a:t>
                </a:r>
                <a:r>
                  <a:rPr lang="fa-IR" b="1" dirty="0">
                    <a:cs typeface="B Nazanin" panose="00000400000000000000" pitchFamily="2" charset="-78"/>
                  </a:rPr>
                  <a:t>گرفتن از </a:t>
                </a:r>
                <a14:m>
                  <m:oMath xmlns:m="http://schemas.openxmlformats.org/officeDocument/2006/math">
                    <m:sSub>
                      <m:sSubPr>
                        <m:ctrlPr>
                          <a:rPr lang="fa-IR"/>
                        </m:ctrlPr>
                      </m:sSubPr>
                      <m:e>
                        <m:r>
                          <a:rPr lang="fa-IR" i="1"/>
                          <m:t>𝑅</m:t>
                        </m:r>
                      </m:e>
                      <m:sub>
                        <m:r>
                          <a:rPr lang="fa-IR"/>
                          <m:t>1</m:t>
                        </m:r>
                      </m:sub>
                    </m:sSub>
                  </m:oMath>
                </a14:m>
                <a:r>
                  <a:rPr lang="fa-IR" b="1" dirty="0">
                    <a:cs typeface="B Nazanin" panose="00000400000000000000" pitchFamily="2" charset="-78"/>
                  </a:rPr>
                  <a:t>و </a:t>
                </a:r>
                <a14:m>
                  <m:oMath xmlns:m="http://schemas.openxmlformats.org/officeDocument/2006/math">
                    <m:sSub>
                      <m:sSubPr>
                        <m:ctrlPr>
                          <a:rPr lang="fa-IR"/>
                        </m:ctrlPr>
                      </m:sSubPr>
                      <m:e>
                        <m:r>
                          <a:rPr lang="fa-IR" i="1"/>
                          <m:t>𝑅</m:t>
                        </m:r>
                      </m:e>
                      <m:sub>
                        <m:r>
                          <a:rPr lang="fa-IR"/>
                          <m:t>2</m:t>
                        </m:r>
                      </m:sub>
                    </m:sSub>
                  </m:oMath>
                </a14:m>
                <a:r>
                  <a:rPr lang="fa-IR" b="1" dirty="0">
                    <a:cs typeface="B Nazanin" panose="00000400000000000000" pitchFamily="2" charset="-78"/>
                  </a:rPr>
                  <a:t>بررسی کرد</a:t>
                </a:r>
                <a:r>
                  <a:rPr lang="fa-IR" dirty="0">
                    <a:cs typeface="B Nazanin" panose="00000400000000000000" pitchFamily="2" charset="-78"/>
                  </a:rPr>
                  <a:t>.</a:t>
                </a:r>
              </a:p>
            </p:txBody>
          </p:sp>
        </mc:Choice>
        <mc:Fallback>
          <p:sp>
            <p:nvSpPr>
              <p:cNvPr id="5" name="TextBox 4">
                <a:extLst>
                  <a:ext uri="{FF2B5EF4-FFF2-40B4-BE49-F238E27FC236}">
                    <a16:creationId xmlns:a16="http://schemas.microsoft.com/office/drawing/2014/main" id="{EFA3F8C0-33EE-0B63-94CA-D55385769DC3}"/>
                  </a:ext>
                </a:extLst>
              </p:cNvPr>
              <p:cNvSpPr txBox="1">
                <a:spLocks noRot="1" noChangeAspect="1" noMove="1" noResize="1" noEditPoints="1" noAdjustHandles="1" noChangeArrowheads="1" noChangeShapeType="1" noTextEdit="1"/>
              </p:cNvSpPr>
              <p:nvPr/>
            </p:nvSpPr>
            <p:spPr>
              <a:xfrm>
                <a:off x="-98475" y="3559126"/>
                <a:ext cx="3587261" cy="2308324"/>
              </a:xfrm>
              <a:prstGeom prst="rect">
                <a:avLst/>
              </a:prstGeom>
              <a:blipFill>
                <a:blip r:embed="rId5"/>
                <a:stretch>
                  <a:fillRect t="-792" r="-1020" b="-2902"/>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7" name="TextBox 6">
                <a:extLst>
                  <a:ext uri="{FF2B5EF4-FFF2-40B4-BE49-F238E27FC236}">
                    <a16:creationId xmlns:a16="http://schemas.microsoft.com/office/drawing/2014/main" id="{9A36F55F-7C12-FF81-5A04-3B76CBD39875}"/>
                  </a:ext>
                </a:extLst>
              </p:cNvPr>
              <p:cNvSpPr txBox="1"/>
              <p:nvPr/>
            </p:nvSpPr>
            <p:spPr>
              <a:xfrm>
                <a:off x="3890206" y="3559126"/>
                <a:ext cx="5148286" cy="1815882"/>
              </a:xfrm>
              <a:prstGeom prst="rect">
                <a:avLst/>
              </a:prstGeom>
              <a:noFill/>
            </p:spPr>
            <p:txBody>
              <a:bodyPr wrap="square">
                <a:spAutoFit/>
              </a:bodyPr>
              <a:lstStyle/>
              <a:p>
                <a:pPr algn="r" rtl="1"/>
                <a:r>
                  <a:rPr lang="fa-IR" b="1" dirty="0">
                    <a:cs typeface="B Nazanin" panose="00000400000000000000" pitchFamily="2" charset="-78"/>
                  </a:rPr>
                  <a:t>1) تجزیه بدون اتلاف پیوست</a:t>
                </a:r>
              </a:p>
              <a:p>
                <a:pPr algn="r" rtl="1"/>
                <a:r>
                  <a:rPr lang="fa-IR" dirty="0">
                    <a:cs typeface="B Nazanin" panose="00000400000000000000" pitchFamily="2" charset="-78"/>
                  </a:rPr>
                  <a:t>اشتراک:</a:t>
                </a:r>
              </a:p>
              <a:p>
                <a:pPr algn="r" rtl="1"/>
                <a14:m>
                  <m:oMathPara xmlns:m="http://schemas.openxmlformats.org/officeDocument/2006/math">
                    <m:oMathParaPr>
                      <m:jc m:val="centerGroup"/>
                    </m:oMathParaPr>
                    <m:oMath xmlns:m="http://schemas.openxmlformats.org/officeDocument/2006/math">
                      <m:sSub>
                        <m:sSubPr>
                          <m:ctrlPr>
                            <a:rPr lang="fa-IR"/>
                          </m:ctrlPr>
                        </m:sSubPr>
                        <m:e>
                          <m:r>
                            <a:rPr lang="fa-IR" i="1"/>
                            <m:t>𝑅</m:t>
                          </m:r>
                        </m:e>
                        <m:sub>
                          <m:r>
                            <a:rPr lang="fa-IR"/>
                            <m:t>1</m:t>
                          </m:r>
                        </m:sub>
                      </m:sSub>
                      <m:r>
                        <a:rPr lang="fa-IR"/>
                        <m:t>∩</m:t>
                      </m:r>
                      <m:sSub>
                        <m:sSubPr>
                          <m:ctrlPr>
                            <a:rPr lang="fa-IR" i="1"/>
                          </m:ctrlPr>
                        </m:sSubPr>
                        <m:e>
                          <m:r>
                            <a:rPr lang="fa-IR" i="1"/>
                            <m:t>𝑅</m:t>
                          </m:r>
                        </m:e>
                        <m:sub>
                          <m:r>
                            <a:rPr lang="fa-IR"/>
                            <m:t>2</m:t>
                          </m:r>
                        </m:sub>
                      </m:sSub>
                      <m:r>
                        <a:rPr lang="fa-IR"/>
                        <m:t>=</m:t>
                      </m:r>
                      <m:d>
                        <m:dPr>
                          <m:begChr m:val="{"/>
                          <m:endChr m:val="}"/>
                          <m:ctrlPr>
                            <a:rPr lang="fa-IR" i="1"/>
                          </m:ctrlPr>
                        </m:dPr>
                        <m:e>
                          <m:r>
                            <a:rPr lang="fa-IR" i="1"/>
                            <m:t>𝐴</m:t>
                          </m:r>
                        </m:e>
                      </m:d>
                    </m:oMath>
                  </m:oMathPara>
                </a14:m>
                <a:endParaRPr lang="fa-IR" dirty="0">
                  <a:cs typeface="B Nazanin" panose="00000400000000000000" pitchFamily="2" charset="-78"/>
                </a:endParaRPr>
              </a:p>
              <a:p>
                <a:pPr algn="r" rtl="1"/>
                <a:r>
                  <a:rPr lang="fa-IR" dirty="0">
                    <a:cs typeface="B Nazanin" panose="00000400000000000000" pitchFamily="2" charset="-78"/>
                  </a:rPr>
                  <a:t>وابستگی:</a:t>
                </a:r>
              </a:p>
              <a:p>
                <a:pPr algn="r" rtl="1"/>
                <a14:m>
                  <m:oMathPara xmlns:m="http://schemas.openxmlformats.org/officeDocument/2006/math">
                    <m:oMathParaPr>
                      <m:jc m:val="centerGroup"/>
                    </m:oMathParaPr>
                    <m:oMath xmlns:m="http://schemas.openxmlformats.org/officeDocument/2006/math">
                      <m:r>
                        <a:rPr lang="fa-IR" i="1"/>
                        <m:t>𝐴</m:t>
                      </m:r>
                      <m:r>
                        <a:rPr lang="fa-IR"/>
                        <m:t>→</m:t>
                      </m:r>
                      <m:r>
                        <a:rPr lang="fa-IR" i="1"/>
                        <m:t>𝐴𝐵</m:t>
                      </m:r>
                    </m:oMath>
                  </m:oMathPara>
                </a14:m>
                <a:endParaRPr lang="fa-IR" dirty="0">
                  <a:cs typeface="B Nazanin" panose="00000400000000000000" pitchFamily="2" charset="-78"/>
                </a:endParaRPr>
              </a:p>
              <a:p>
                <a:pPr algn="r" rtl="1"/>
                <a:r>
                  <a:rPr lang="fa-IR" dirty="0">
                    <a:cs typeface="B Nazanin" panose="00000400000000000000" pitchFamily="2" charset="-78"/>
                  </a:rPr>
                  <a:t>چون </a:t>
                </a:r>
                <a:r>
                  <a:rPr lang="en-US" b="1" dirty="0">
                    <a:cs typeface="B Nazanin" panose="00000400000000000000" pitchFamily="2" charset="-78"/>
                  </a:rPr>
                  <a:t>A </a:t>
                </a:r>
                <a:r>
                  <a:rPr lang="fa-IR" b="1" dirty="0">
                    <a:cs typeface="B Nazanin" panose="00000400000000000000" pitchFamily="2" charset="-78"/>
                  </a:rPr>
                  <a:t>کلید </a:t>
                </a:r>
                <a14:m>
                  <m:oMath xmlns:m="http://schemas.openxmlformats.org/officeDocument/2006/math">
                    <m:sSub>
                      <m:sSubPr>
                        <m:ctrlPr>
                          <a:rPr lang="fa-IR"/>
                        </m:ctrlPr>
                      </m:sSubPr>
                      <m:e>
                        <m:r>
                          <a:rPr lang="fa-IR" i="1"/>
                          <m:t>𝑅</m:t>
                        </m:r>
                      </m:e>
                      <m:sub>
                        <m:r>
                          <a:rPr lang="fa-IR"/>
                          <m:t>1</m:t>
                        </m:r>
                      </m:sub>
                    </m:sSub>
                  </m:oMath>
                </a14:m>
                <a:r>
                  <a:rPr lang="fa-IR" dirty="0">
                    <a:cs typeface="B Nazanin" panose="00000400000000000000" pitchFamily="2" charset="-78"/>
                  </a:rPr>
                  <a:t>است، اتصال طبیعی بدون از دست رفتن داده انجام می‌شود.</a:t>
                </a:r>
              </a:p>
              <a:p>
                <a:pPr algn="r" rtl="1"/>
                <a:r>
                  <a:rPr lang="fa-IR" dirty="0">
                    <a:cs typeface="B Nazanin" panose="00000400000000000000" pitchFamily="2" charset="-78"/>
                  </a:rPr>
                  <a:t>✔ </a:t>
                </a:r>
                <a:r>
                  <a:rPr lang="fa-IR" b="1" dirty="0">
                    <a:cs typeface="B Nazanin" panose="00000400000000000000" pitchFamily="2" charset="-78"/>
                  </a:rPr>
                  <a:t>تجزیه بدون اتلاف</a:t>
                </a:r>
                <a:endParaRPr lang="fa-IR" dirty="0">
                  <a:cs typeface="B Nazanin" panose="00000400000000000000" pitchFamily="2" charset="-78"/>
                </a:endParaRPr>
              </a:p>
            </p:txBody>
          </p:sp>
        </mc:Choice>
        <mc:Fallback>
          <p:sp>
            <p:nvSpPr>
              <p:cNvPr id="7" name="TextBox 6">
                <a:extLst>
                  <a:ext uri="{FF2B5EF4-FFF2-40B4-BE49-F238E27FC236}">
                    <a16:creationId xmlns:a16="http://schemas.microsoft.com/office/drawing/2014/main" id="{9A36F55F-7C12-FF81-5A04-3B76CBD39875}"/>
                  </a:ext>
                </a:extLst>
              </p:cNvPr>
              <p:cNvSpPr txBox="1">
                <a:spLocks noRot="1" noChangeAspect="1" noMove="1" noResize="1" noEditPoints="1" noAdjustHandles="1" noChangeArrowheads="1" noChangeShapeType="1" noTextEdit="1"/>
              </p:cNvSpPr>
              <p:nvPr/>
            </p:nvSpPr>
            <p:spPr>
              <a:xfrm>
                <a:off x="3890206" y="3559126"/>
                <a:ext cx="5148286" cy="1815882"/>
              </a:xfrm>
              <a:prstGeom prst="rect">
                <a:avLst/>
              </a:prstGeom>
              <a:blipFill>
                <a:blip r:embed="rId6"/>
                <a:stretch>
                  <a:fillRect t="-1007" r="-710" b="-4362"/>
                </a:stretch>
              </a:blipFill>
            </p:spPr>
            <p:txBody>
              <a:bodyPr/>
              <a:lstStyle/>
              <a:p>
                <a:r>
                  <a:rPr lang="en-US">
                    <a:noFill/>
                  </a:rPr>
                  <a:t> </a:t>
                </a:r>
              </a:p>
            </p:txBody>
          </p:sp>
        </mc:Fallback>
      </mc:AlternateContent>
    </p:spTree>
    <p:extLst>
      <p:ext uri="{BB962C8B-B14F-4D97-AF65-F5344CB8AC3E}">
        <p14:creationId xmlns:p14="http://schemas.microsoft.com/office/powerpoint/2010/main" val="33084080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fade">
                                      <p:cBhvr>
                                        <p:cTn id="12" dur="500"/>
                                        <p:tgtEl>
                                          <p:spTgt spid="7"/>
                                        </p:tgtEl>
                                      </p:cBhvr>
                                    </p:animEffec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5" grpId="0"/>
      <p:bldP spid="7" grpId="0"/>
    </p:bldLst>
  </p:timing>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85058" name="Rectangle 2"/>
          <p:cNvSpPr>
            <a:spLocks noGrp="1" noChangeArrowheads="1"/>
          </p:cNvSpPr>
          <p:nvPr>
            <p:ph type="title"/>
          </p:nvPr>
        </p:nvSpPr>
        <p:spPr/>
        <p:txBody>
          <a:bodyPr/>
          <a:lstStyle/>
          <a:p>
            <a:pPr>
              <a:defRPr/>
            </a:pPr>
            <a:r>
              <a:rPr lang="en-US" altLang="en-US" sz="2800" dirty="0">
                <a:effectLst>
                  <a:outerShdw blurRad="38100" dist="38100" dir="2700000" algn="tl">
                    <a:srgbClr val="C0C0C0"/>
                  </a:outerShdw>
                </a:effectLst>
                <a:ea typeface="ＭＳ Ｐゴシック" pitchFamily="34" charset="-128"/>
              </a:rPr>
              <a:t>BCNF and Dependency Preservation</a:t>
            </a:r>
          </a:p>
        </p:txBody>
      </p:sp>
      <p:sp>
        <p:nvSpPr>
          <p:cNvPr id="24579" name="Rectangle 3"/>
          <p:cNvSpPr>
            <a:spLocks noGrp="1" noChangeArrowheads="1"/>
          </p:cNvSpPr>
          <p:nvPr>
            <p:ph idx="1"/>
          </p:nvPr>
        </p:nvSpPr>
        <p:spPr>
          <a:xfrm>
            <a:off x="768351" y="1093788"/>
            <a:ext cx="7612170" cy="5075000"/>
          </a:xfrm>
        </p:spPr>
        <p:txBody>
          <a:bodyPr/>
          <a:lstStyle/>
          <a:p>
            <a:pPr algn="r" rtl="1">
              <a:defRPr/>
            </a:pPr>
            <a:r>
              <a:rPr lang="fa-IR" sz="1800" dirty="0"/>
              <a:t>همیشه ممکن نیست که </a:t>
            </a:r>
            <a:r>
              <a:rPr lang="fa-IR" sz="1800" dirty="0" err="1"/>
              <a:t>هم‌زمان</a:t>
            </a:r>
            <a:r>
              <a:rPr lang="fa-IR" sz="1800" dirty="0"/>
              <a:t> به </a:t>
            </a:r>
            <a:r>
              <a:rPr lang="en-US" sz="1800" dirty="0"/>
              <a:t>BCNF </a:t>
            </a:r>
            <a:r>
              <a:rPr lang="fa-IR" sz="1800" dirty="0"/>
              <a:t>و حفظ </a:t>
            </a:r>
            <a:r>
              <a:rPr lang="fa-IR" sz="1800" dirty="0" err="1"/>
              <a:t>وابستگی‌ها</a:t>
            </a:r>
            <a:r>
              <a:rPr lang="fa-IR" sz="1800" dirty="0"/>
              <a:t> برسیم.</a:t>
            </a:r>
            <a:endParaRPr lang="en-US" altLang="en-US" sz="1700" dirty="0"/>
          </a:p>
          <a:p>
            <a:pPr algn="r" rtl="1">
              <a:defRPr/>
            </a:pPr>
            <a:r>
              <a:rPr lang="fa-IR" sz="1800" dirty="0"/>
              <a:t>یک </a:t>
            </a:r>
            <a:r>
              <a:rPr lang="fa-IR" sz="1800" dirty="0" err="1"/>
              <a:t>شِما</a:t>
            </a:r>
            <a:r>
              <a:rPr lang="fa-IR" sz="1800" dirty="0"/>
              <a:t> را در نظر بگیرید:</a:t>
            </a:r>
            <a:endParaRPr lang="en-US" altLang="en-US" sz="1700" dirty="0"/>
          </a:p>
          <a:p>
            <a:pPr algn="r" rtl="1">
              <a:buFont typeface="Monotype Sorts" pitchFamily="-84" charset="2"/>
              <a:buNone/>
              <a:defRPr/>
            </a:pPr>
            <a:r>
              <a:rPr lang="en-US" altLang="en-US" sz="1700" dirty="0"/>
              <a:t>         </a:t>
            </a:r>
            <a:r>
              <a:rPr lang="en-US" altLang="en-US" sz="1700" i="1" dirty="0" err="1"/>
              <a:t>dept_advisor</a:t>
            </a:r>
            <a:r>
              <a:rPr lang="en-US" altLang="en-US" sz="1700" i="1" dirty="0"/>
              <a:t>(</a:t>
            </a:r>
            <a:r>
              <a:rPr lang="en-US" altLang="en-US" sz="1700" i="1" dirty="0" err="1"/>
              <a:t>s_ID</a:t>
            </a:r>
            <a:r>
              <a:rPr lang="en-US" altLang="en-US" sz="1700" i="1" dirty="0"/>
              <a:t>, </a:t>
            </a:r>
            <a:r>
              <a:rPr lang="en-US" altLang="en-US" sz="1700" i="1" dirty="0" err="1"/>
              <a:t>i_ID</a:t>
            </a:r>
            <a:r>
              <a:rPr lang="en-US" altLang="en-US" sz="1700" i="1" dirty="0"/>
              <a:t>, </a:t>
            </a:r>
            <a:r>
              <a:rPr lang="en-US" altLang="en-US" sz="1700" i="1" dirty="0" err="1"/>
              <a:t>department_name</a:t>
            </a:r>
            <a:r>
              <a:rPr lang="en-US" altLang="en-US" sz="1700" dirty="0"/>
              <a:t>)</a:t>
            </a:r>
          </a:p>
          <a:p>
            <a:pPr algn="r" rtl="1">
              <a:defRPr/>
            </a:pPr>
            <a:r>
              <a:rPr lang="fa-IR" sz="1800" dirty="0"/>
              <a:t>با </a:t>
            </a:r>
            <a:r>
              <a:rPr lang="fa-IR" sz="1800" dirty="0" err="1"/>
              <a:t>وابستگی‌های</a:t>
            </a:r>
            <a:r>
              <a:rPr lang="fa-IR" sz="1800" dirty="0"/>
              <a:t> </a:t>
            </a:r>
            <a:r>
              <a:rPr lang="fa-IR" sz="1800" dirty="0" err="1"/>
              <a:t>تابعی</a:t>
            </a:r>
            <a:r>
              <a:rPr lang="fa-IR" sz="1800" dirty="0"/>
              <a:t>:</a:t>
            </a:r>
            <a:endParaRPr lang="en-US" altLang="en-US" sz="1700" dirty="0"/>
          </a:p>
          <a:p>
            <a:pPr algn="r" rtl="1">
              <a:buFont typeface="Monotype Sorts" pitchFamily="-84" charset="2"/>
              <a:buNone/>
              <a:defRPr/>
            </a:pPr>
            <a:r>
              <a:rPr lang="en-US" altLang="en-US" sz="1700" dirty="0"/>
              <a:t>             </a:t>
            </a:r>
            <a:r>
              <a:rPr lang="en-US" altLang="en-US" sz="1700" i="1" dirty="0"/>
              <a:t>i_ID</a:t>
            </a:r>
            <a:r>
              <a:rPr lang="en-US" altLang="en-US" sz="1700" dirty="0"/>
              <a:t> </a:t>
            </a:r>
            <a:r>
              <a:rPr lang="en-US" altLang="en-US" sz="1700" dirty="0">
                <a:sym typeface="Symbol" pitchFamily="18" charset="2"/>
              </a:rPr>
              <a:t> </a:t>
            </a:r>
            <a:r>
              <a:rPr lang="en-US" altLang="en-US" sz="1700" i="1" dirty="0">
                <a:sym typeface="Symbol" pitchFamily="18" charset="2"/>
              </a:rPr>
              <a:t>dept_name</a:t>
            </a:r>
          </a:p>
          <a:p>
            <a:pPr algn="r" rtl="1">
              <a:buFont typeface="Monotype Sorts" pitchFamily="-84" charset="2"/>
              <a:buNone/>
              <a:defRPr/>
            </a:pPr>
            <a:r>
              <a:rPr lang="en-US" altLang="en-US" sz="1700" dirty="0"/>
              <a:t>             </a:t>
            </a:r>
            <a:r>
              <a:rPr lang="en-US" altLang="en-US" sz="1700" i="1" dirty="0"/>
              <a:t>s_ID, </a:t>
            </a:r>
            <a:r>
              <a:rPr lang="en-US" altLang="en-US" sz="1700" i="1" dirty="0">
                <a:sym typeface="Symbol" pitchFamily="18" charset="2"/>
              </a:rPr>
              <a:t>dept_name</a:t>
            </a:r>
            <a:r>
              <a:rPr lang="en-US" altLang="en-US" sz="1700" i="1" dirty="0"/>
              <a:t> </a:t>
            </a:r>
            <a:r>
              <a:rPr lang="en-US" altLang="en-US" sz="1700" dirty="0">
                <a:sym typeface="Symbol" pitchFamily="18" charset="2"/>
              </a:rPr>
              <a:t> </a:t>
            </a:r>
            <a:r>
              <a:rPr lang="en-US" altLang="en-US" sz="1700" i="1" dirty="0">
                <a:sym typeface="Symbol" pitchFamily="18" charset="2"/>
              </a:rPr>
              <a:t>i_ID</a:t>
            </a:r>
          </a:p>
          <a:p>
            <a:pPr algn="r" rtl="1">
              <a:defRPr/>
            </a:pPr>
            <a:r>
              <a:rPr lang="fa-IR" sz="1800" dirty="0"/>
              <a:t>جدول </a:t>
            </a:r>
            <a:r>
              <a:rPr lang="en-US" sz="1800" dirty="0" err="1"/>
              <a:t>dept_advisor</a:t>
            </a:r>
            <a:r>
              <a:rPr lang="en-US" sz="1800" dirty="0"/>
              <a:t> </a:t>
            </a:r>
            <a:r>
              <a:rPr lang="fa-IR" sz="1800" dirty="0"/>
              <a:t>در </a:t>
            </a:r>
            <a:r>
              <a:rPr lang="en-US" sz="1800" dirty="0"/>
              <a:t>BCNF </a:t>
            </a:r>
            <a:r>
              <a:rPr lang="fa-IR" sz="1800" dirty="0"/>
              <a:t>نیست.</a:t>
            </a:r>
            <a:endParaRPr lang="en-US" altLang="en-US" sz="1700" dirty="0"/>
          </a:p>
          <a:p>
            <a:pPr lvl="1" algn="r" rtl="1">
              <a:defRPr/>
            </a:pPr>
            <a:r>
              <a:rPr lang="en-US" altLang="en-US" sz="1700" dirty="0"/>
              <a:t> </a:t>
            </a:r>
            <a:r>
              <a:rPr lang="en-US" sz="1800" dirty="0" err="1"/>
              <a:t>i_ID</a:t>
            </a:r>
            <a:r>
              <a:rPr lang="en-US" sz="1800" dirty="0"/>
              <a:t> </a:t>
            </a:r>
            <a:r>
              <a:rPr lang="fa-IR" sz="1800" dirty="0"/>
              <a:t>یک </a:t>
            </a:r>
            <a:r>
              <a:rPr lang="fa-IR" sz="1800" dirty="0" err="1"/>
              <a:t>ابرکلید</a:t>
            </a:r>
            <a:r>
              <a:rPr lang="fa-IR" sz="1800" dirty="0"/>
              <a:t> نیست.</a:t>
            </a:r>
            <a:endParaRPr lang="en-US" altLang="en-US" sz="1700" dirty="0"/>
          </a:p>
          <a:p>
            <a:pPr marL="0" indent="0" algn="r" rtl="1">
              <a:buNone/>
              <a:defRPr/>
            </a:pPr>
            <a:r>
              <a:rPr lang="fa-IR" sz="1800" dirty="0"/>
              <a:t>هر </a:t>
            </a:r>
            <a:r>
              <a:rPr lang="fa-IR" sz="1800" dirty="0" err="1"/>
              <a:t>تجزیه‌ای</a:t>
            </a:r>
            <a:r>
              <a:rPr lang="fa-IR" sz="1800" dirty="0"/>
              <a:t> از </a:t>
            </a:r>
            <a:r>
              <a:rPr lang="en-US" sz="1800" dirty="0" err="1"/>
              <a:t>dept_advisor</a:t>
            </a:r>
            <a:r>
              <a:rPr lang="en-US" sz="1800" dirty="0"/>
              <a:t> </a:t>
            </a:r>
            <a:r>
              <a:rPr lang="fa-IR" sz="1800" dirty="0"/>
              <a:t>شامل همه صفات موجود در وابستگی</a:t>
            </a:r>
            <a:endParaRPr lang="en-US" altLang="en-US" sz="1700" dirty="0">
              <a:sym typeface="Symbol" pitchFamily="18" charset="2"/>
            </a:endParaRPr>
          </a:p>
          <a:p>
            <a:pPr algn="r" rtl="1">
              <a:buFont typeface="Monotype Sorts" pitchFamily="-84" charset="2"/>
              <a:buNone/>
              <a:defRPr/>
            </a:pPr>
            <a:r>
              <a:rPr lang="en-US" altLang="en-US" sz="1700" dirty="0">
                <a:sym typeface="Symbol" pitchFamily="18" charset="2"/>
              </a:rPr>
              <a:t>            </a:t>
            </a:r>
            <a:r>
              <a:rPr lang="en-US" altLang="en-US" sz="1700" i="1" dirty="0"/>
              <a:t>s_ID, </a:t>
            </a:r>
            <a:r>
              <a:rPr lang="en-US" altLang="en-US" sz="1700" i="1" dirty="0">
                <a:sym typeface="Symbol" pitchFamily="18" charset="2"/>
              </a:rPr>
              <a:t>dept_name</a:t>
            </a:r>
            <a:r>
              <a:rPr lang="en-US" altLang="en-US" sz="1700" i="1" dirty="0"/>
              <a:t> </a:t>
            </a:r>
            <a:r>
              <a:rPr lang="en-US" altLang="en-US" sz="1700" i="1" dirty="0">
                <a:sym typeface="Symbol" pitchFamily="18" charset="2"/>
              </a:rPr>
              <a:t> </a:t>
            </a:r>
            <a:r>
              <a:rPr lang="en-US" altLang="en-US" sz="1700" i="1" dirty="0" err="1">
                <a:sym typeface="Symbol" pitchFamily="18" charset="2"/>
              </a:rPr>
              <a:t>i_ID</a:t>
            </a:r>
            <a:endParaRPr lang="fa-IR" altLang="en-US" sz="1700" i="1" dirty="0">
              <a:sym typeface="Symbol" pitchFamily="18" charset="2"/>
            </a:endParaRPr>
          </a:p>
          <a:p>
            <a:pPr algn="r" rtl="1">
              <a:buFont typeface="Monotype Sorts" pitchFamily="-84" charset="2"/>
              <a:buNone/>
              <a:defRPr/>
            </a:pPr>
            <a:r>
              <a:rPr lang="fa-IR" sz="1800" dirty="0"/>
              <a:t>نخواهد بود.</a:t>
            </a:r>
            <a:endParaRPr lang="en-US" altLang="en-US" sz="1700" i="1" dirty="0">
              <a:sym typeface="Symbol" pitchFamily="18" charset="2"/>
            </a:endParaRPr>
          </a:p>
          <a:p>
            <a:pPr marL="0" indent="0" algn="r" rtl="1">
              <a:buNone/>
              <a:defRPr/>
            </a:pPr>
            <a:r>
              <a:rPr lang="fa-IR" sz="1800" dirty="0"/>
              <a:t>بنابراین این </a:t>
            </a:r>
            <a:r>
              <a:rPr lang="fa-IR" sz="1800" dirty="0" err="1"/>
              <a:t>تجمیع</a:t>
            </a:r>
            <a:r>
              <a:rPr lang="fa-IR" sz="1800" dirty="0"/>
              <a:t> </a:t>
            </a:r>
            <a:r>
              <a:rPr lang="fa-IR" sz="1800" i="1" dirty="0" err="1"/>
              <a:t>وابستگی‌ها</a:t>
            </a:r>
            <a:r>
              <a:rPr lang="fa-IR" sz="1800" i="1" dirty="0"/>
              <a:t> را حفظ </a:t>
            </a:r>
            <a:r>
              <a:rPr lang="fa-IR" sz="1800" i="1" dirty="0" err="1"/>
              <a:t>نمی‌کند</a:t>
            </a:r>
            <a:endParaRPr lang="en-US" altLang="en-US" sz="1700" dirty="0">
              <a:ea typeface="ＭＳ Ｐゴシック" pitchFamily="34" charset="-128"/>
            </a:endParaRPr>
          </a:p>
        </p:txBody>
      </p:sp>
    </p:spTree>
    <p:extLst>
      <p:ext uri="{BB962C8B-B14F-4D97-AF65-F5344CB8AC3E}">
        <p14:creationId xmlns:p14="http://schemas.microsoft.com/office/powerpoint/2010/main" val="2690367184"/>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87106" name="Rectangle 2"/>
          <p:cNvSpPr>
            <a:spLocks noGrp="1" noChangeArrowheads="1"/>
          </p:cNvSpPr>
          <p:nvPr>
            <p:ph type="title"/>
          </p:nvPr>
        </p:nvSpPr>
        <p:spPr/>
        <p:txBody>
          <a:bodyPr/>
          <a:lstStyle/>
          <a:p>
            <a:pPr>
              <a:defRPr/>
            </a:pPr>
            <a:r>
              <a:rPr lang="en-US" altLang="en-US" sz="2800" dirty="0">
                <a:effectLst>
                  <a:outerShdw blurRad="38100" dist="38100" dir="2700000" algn="tl">
                    <a:srgbClr val="C0C0C0"/>
                  </a:outerShdw>
                </a:effectLst>
                <a:ea typeface="ＭＳ Ｐゴシック" pitchFamily="34" charset="-128"/>
              </a:rPr>
              <a:t>Third Normal Form</a:t>
            </a:r>
          </a:p>
        </p:txBody>
      </p:sp>
      <p:sp>
        <p:nvSpPr>
          <p:cNvPr id="32771" name="Rectangle 3"/>
          <p:cNvSpPr>
            <a:spLocks noGrp="1" noChangeArrowheads="1"/>
          </p:cNvSpPr>
          <p:nvPr>
            <p:ph idx="1"/>
          </p:nvPr>
        </p:nvSpPr>
        <p:spPr>
          <a:xfrm>
            <a:off x="768350" y="1093788"/>
            <a:ext cx="7621048" cy="4903787"/>
          </a:xfrm>
        </p:spPr>
        <p:txBody>
          <a:bodyPr/>
          <a:lstStyle/>
          <a:p>
            <a:pPr algn="r" rtl="1">
              <a:tabLst>
                <a:tab pos="2738438" algn="l"/>
              </a:tabLst>
            </a:pPr>
            <a:r>
              <a:rPr lang="fa-IR" dirty="0"/>
              <a:t>یک </a:t>
            </a:r>
            <a:r>
              <a:rPr lang="fa-IR" dirty="0" err="1"/>
              <a:t>شِمای</a:t>
            </a:r>
            <a:r>
              <a:rPr lang="fa-IR" dirty="0"/>
              <a:t> رابطه </a:t>
            </a:r>
            <a:r>
              <a:rPr lang="en-US" dirty="0"/>
              <a:t>R </a:t>
            </a:r>
            <a:r>
              <a:rPr lang="fa-IR" dirty="0"/>
              <a:t>در نرمال‌فرم سوم </a:t>
            </a:r>
            <a:r>
              <a:rPr lang="en-US" dirty="0"/>
              <a:t>3NF</a:t>
            </a:r>
            <a:r>
              <a:rPr lang="fa-IR" dirty="0"/>
              <a:t> </a:t>
            </a:r>
            <a:r>
              <a:rPr lang="en-US" dirty="0"/>
              <a:t> </a:t>
            </a:r>
            <a:r>
              <a:rPr lang="fa-IR" dirty="0"/>
              <a:t>است اگر برای تمام </a:t>
            </a:r>
            <a:r>
              <a:rPr lang="fa-IR" dirty="0" err="1"/>
              <a:t>وابستگی‌های</a:t>
            </a:r>
            <a:r>
              <a:rPr lang="fa-IR" dirty="0"/>
              <a:t> </a:t>
            </a:r>
            <a:r>
              <a:rPr lang="fa-IR" dirty="0" err="1"/>
              <a:t>تابعی</a:t>
            </a:r>
            <a:r>
              <a:rPr lang="fa-IR" dirty="0"/>
              <a:t>:</a:t>
            </a:r>
            <a:endParaRPr lang="en-US" altLang="en-US" sz="1800" dirty="0"/>
          </a:p>
          <a:p>
            <a:pPr algn="r" rtl="1">
              <a:buFont typeface="Monotype Sorts" pitchFamily="-84" charset="2"/>
              <a:buNone/>
              <a:tabLst>
                <a:tab pos="2738438" algn="l"/>
              </a:tabLst>
            </a:pPr>
            <a:r>
              <a:rPr lang="en-US" altLang="en-US" sz="1800" dirty="0"/>
              <a:t>		</a:t>
            </a:r>
            <a:r>
              <a:rPr lang="en-US" altLang="en-US" sz="2400" dirty="0">
                <a:sym typeface="Symbol" panose="05050102010706020507" pitchFamily="18" charset="2"/>
              </a:rPr>
              <a:t></a:t>
            </a:r>
            <a:r>
              <a:rPr lang="en-US" altLang="en-US" sz="2400" dirty="0">
                <a:sym typeface="Greek Symbols"/>
              </a:rPr>
              <a:t> </a:t>
            </a:r>
            <a:r>
              <a:rPr lang="en-US" altLang="en-US" sz="2400" dirty="0">
                <a:sym typeface="Symbol" panose="05050102010706020507" pitchFamily="18" charset="2"/>
              </a:rPr>
              <a:t></a:t>
            </a:r>
            <a:r>
              <a:rPr lang="en-US" altLang="en-US" sz="2400" dirty="0">
                <a:sym typeface="Monotype Sorts" pitchFamily="-84" charset="2"/>
              </a:rPr>
              <a:t> </a:t>
            </a:r>
            <a:r>
              <a:rPr lang="en-US" altLang="en-US" sz="2400" i="1" dirty="0">
                <a:sym typeface="Symbol" panose="05050102010706020507" pitchFamily="18" charset="2"/>
              </a:rPr>
              <a:t></a:t>
            </a:r>
            <a:r>
              <a:rPr lang="en-US" altLang="en-US" sz="2400" dirty="0">
                <a:sym typeface="Monotype Sorts" pitchFamily="-84" charset="2"/>
              </a:rPr>
              <a:t> in </a:t>
            </a:r>
            <a:r>
              <a:rPr lang="en-US" altLang="en-US" sz="2400" i="1" dirty="0">
                <a:sym typeface="Monotype Sorts" pitchFamily="-84" charset="2"/>
              </a:rPr>
              <a:t>F</a:t>
            </a:r>
            <a:r>
              <a:rPr lang="en-US" altLang="en-US" sz="2400" baseline="30000" dirty="0">
                <a:sym typeface="Monotype Sorts" pitchFamily="-84" charset="2"/>
              </a:rPr>
              <a:t>+</a:t>
            </a:r>
          </a:p>
          <a:p>
            <a:pPr algn="r" rtl="1">
              <a:buFont typeface="Monotype Sorts" pitchFamily="-84" charset="2"/>
              <a:buNone/>
              <a:tabLst>
                <a:tab pos="2738438" algn="l"/>
              </a:tabLst>
            </a:pPr>
            <a:r>
              <a:rPr lang="en-US" altLang="en-US" sz="900" dirty="0">
                <a:sym typeface="Monotype Sorts" pitchFamily="-84" charset="2"/>
              </a:rPr>
              <a:t> </a:t>
            </a:r>
            <a:br>
              <a:rPr lang="en-US" altLang="en-US" sz="1800" dirty="0">
                <a:sym typeface="Monotype Sorts" pitchFamily="-84" charset="2"/>
              </a:rPr>
            </a:br>
            <a:r>
              <a:rPr lang="fa-IR" dirty="0"/>
              <a:t>حداقل یکی از شروط زیر برقرار باشد:</a:t>
            </a:r>
            <a:endParaRPr lang="en-US" altLang="en-US" sz="1800" dirty="0">
              <a:sym typeface="Monotype Sorts" pitchFamily="-84" charset="2"/>
            </a:endParaRPr>
          </a:p>
          <a:p>
            <a:pPr lvl="1" algn="r" rtl="1">
              <a:tabLst>
                <a:tab pos="2738438" algn="l"/>
              </a:tabLst>
            </a:pPr>
            <a:r>
              <a:rPr lang="en-US" altLang="en-US" sz="1800" dirty="0">
                <a:sym typeface="Symbol" panose="05050102010706020507" pitchFamily="18" charset="2"/>
              </a:rPr>
              <a:t></a:t>
            </a:r>
            <a:r>
              <a:rPr lang="en-US" altLang="en-US" sz="1800" dirty="0">
                <a:sym typeface="Greek Symbols"/>
              </a:rPr>
              <a:t> </a:t>
            </a:r>
            <a:r>
              <a:rPr lang="en-US" altLang="en-US" sz="1800" dirty="0">
                <a:sym typeface="Symbol" panose="05050102010706020507" pitchFamily="18" charset="2"/>
              </a:rPr>
              <a:t></a:t>
            </a:r>
            <a:r>
              <a:rPr lang="en-US" altLang="en-US" sz="1800" dirty="0">
                <a:sym typeface="Monotype Sorts" pitchFamily="-84" charset="2"/>
              </a:rPr>
              <a:t> </a:t>
            </a:r>
            <a:r>
              <a:rPr lang="en-US" altLang="en-US" sz="1800" i="1" dirty="0">
                <a:sym typeface="Symbol" panose="05050102010706020507" pitchFamily="18" charset="2"/>
              </a:rPr>
              <a:t></a:t>
            </a:r>
            <a:r>
              <a:rPr lang="en-US" altLang="en-US" sz="1800" i="1" dirty="0">
                <a:sym typeface="Greek Symbols"/>
              </a:rPr>
              <a:t> </a:t>
            </a:r>
            <a:r>
              <a:rPr lang="fa-IR" dirty="0"/>
              <a:t>بدیهی است </a:t>
            </a:r>
            <a:r>
              <a:rPr lang="en-US" altLang="en-US" sz="1800" dirty="0">
                <a:sym typeface="Greek Symbols"/>
              </a:rPr>
              <a:t>(i.e., </a:t>
            </a:r>
            <a:r>
              <a:rPr lang="en-US" altLang="en-US" sz="1800" i="1" dirty="0">
                <a:sym typeface="Symbol" panose="05050102010706020507" pitchFamily="18" charset="2"/>
              </a:rPr>
              <a:t></a:t>
            </a:r>
            <a:r>
              <a:rPr lang="en-US" altLang="en-US" sz="1800" i="1" dirty="0">
                <a:sym typeface="Greek Symbols"/>
              </a:rPr>
              <a:t> </a:t>
            </a:r>
            <a:r>
              <a:rPr lang="en-US" altLang="en-US" sz="1800" dirty="0">
                <a:sym typeface="Symbol" panose="05050102010706020507" pitchFamily="18" charset="2"/>
              </a:rPr>
              <a:t> </a:t>
            </a:r>
            <a:r>
              <a:rPr lang="en-US" altLang="en-US" sz="1800" dirty="0">
                <a:sym typeface="Greek Symbols"/>
              </a:rPr>
              <a:t>)</a:t>
            </a:r>
          </a:p>
          <a:p>
            <a:pPr lvl="1" algn="r" rtl="1">
              <a:tabLst>
                <a:tab pos="2738438" algn="l"/>
              </a:tabLst>
            </a:pPr>
            <a:r>
              <a:rPr lang="el-GR" dirty="0"/>
              <a:t>α </a:t>
            </a:r>
            <a:r>
              <a:rPr lang="fa-IR" dirty="0"/>
              <a:t>یک </a:t>
            </a:r>
            <a:r>
              <a:rPr lang="fa-IR" dirty="0" err="1"/>
              <a:t>اَبَرکلید</a:t>
            </a:r>
            <a:r>
              <a:rPr lang="fa-IR" dirty="0"/>
              <a:t> برای </a:t>
            </a:r>
            <a:r>
              <a:rPr lang="en-US" dirty="0"/>
              <a:t>R </a:t>
            </a:r>
            <a:r>
              <a:rPr lang="fa-IR" dirty="0"/>
              <a:t>باشد.</a:t>
            </a:r>
            <a:endParaRPr lang="en-US" altLang="en-US" sz="1800" dirty="0">
              <a:sym typeface="Greek Symbols"/>
            </a:endParaRPr>
          </a:p>
          <a:p>
            <a:pPr marL="457200" lvl="1" indent="0" algn="r" rtl="1">
              <a:buNone/>
              <a:tabLst>
                <a:tab pos="2738438" algn="l"/>
              </a:tabLst>
            </a:pPr>
            <a:r>
              <a:rPr lang="fa-IR" dirty="0"/>
              <a:t>هر ویژگی </a:t>
            </a:r>
            <a:r>
              <a:rPr lang="en-US" dirty="0"/>
              <a:t>A </a:t>
            </a:r>
            <a:r>
              <a:rPr lang="fa-IR" dirty="0"/>
              <a:t>در </a:t>
            </a:r>
            <a:r>
              <a:rPr lang="el-GR" dirty="0"/>
              <a:t>β – α </a:t>
            </a:r>
            <a:r>
              <a:rPr lang="fa-IR" dirty="0"/>
              <a:t>در یکی از کلیدهای کاندیدای </a:t>
            </a:r>
            <a:r>
              <a:rPr lang="en-US" dirty="0"/>
              <a:t>R </a:t>
            </a:r>
            <a:r>
              <a:rPr lang="fa-IR" dirty="0"/>
              <a:t>وجود داشته باشد.</a:t>
            </a:r>
            <a:endParaRPr lang="en-US" altLang="en-US" sz="1800" i="1" dirty="0">
              <a:sym typeface="Greek Symbols"/>
            </a:endParaRPr>
          </a:p>
          <a:p>
            <a:pPr lvl="1" algn="r" rtl="1">
              <a:buFont typeface="Monotype Sorts" pitchFamily="-84" charset="2"/>
              <a:buNone/>
              <a:tabLst>
                <a:tab pos="2738438" algn="l"/>
              </a:tabLst>
            </a:pPr>
            <a:r>
              <a:rPr lang="en-US" altLang="en-US" sz="1800" i="1" dirty="0">
                <a:sym typeface="Greek Symbols"/>
              </a:rPr>
              <a:t>   </a:t>
            </a:r>
            <a:r>
              <a:rPr lang="fa-IR" dirty="0"/>
              <a:t>توجه: هر ویژگی ممکن است در کلید کاندیدای متفاوتی قرار داشته باشد.</a:t>
            </a:r>
            <a:endParaRPr lang="en-US" altLang="en-US" sz="1800" i="1" dirty="0">
              <a:sym typeface="Greek Symbols"/>
            </a:endParaRPr>
          </a:p>
          <a:p>
            <a:pPr algn="r" rtl="1">
              <a:tabLst>
                <a:tab pos="2738438" algn="l"/>
              </a:tabLst>
            </a:pPr>
            <a:r>
              <a:rPr lang="fa-IR" dirty="0"/>
              <a:t>اگر یک رابطه در </a:t>
            </a:r>
            <a:r>
              <a:rPr lang="en-US" dirty="0"/>
              <a:t>BCNF </a:t>
            </a:r>
            <a:r>
              <a:rPr lang="fa-IR" dirty="0"/>
              <a:t>باشد، </a:t>
            </a:r>
            <a:r>
              <a:rPr lang="fa-IR" dirty="0" err="1"/>
              <a:t>به‌طور</a:t>
            </a:r>
            <a:r>
              <a:rPr lang="fa-IR" dirty="0"/>
              <a:t> خودکار در 3</a:t>
            </a:r>
            <a:r>
              <a:rPr lang="en-US" dirty="0"/>
              <a:t>NF </a:t>
            </a:r>
            <a:r>
              <a:rPr lang="fa-IR" dirty="0"/>
              <a:t>هم هست (چون در </a:t>
            </a:r>
            <a:r>
              <a:rPr lang="en-US" dirty="0"/>
              <a:t>BCNF </a:t>
            </a:r>
            <a:r>
              <a:rPr lang="fa-IR" dirty="0"/>
              <a:t>یکی از دو شرط اول همیشه برقرار است).</a:t>
            </a:r>
            <a:endParaRPr lang="en-US" altLang="en-US" sz="1800" dirty="0">
              <a:sym typeface="Greek Symbols"/>
            </a:endParaRPr>
          </a:p>
          <a:p>
            <a:pPr algn="r" rtl="1">
              <a:tabLst>
                <a:tab pos="2738438" algn="l"/>
              </a:tabLst>
            </a:pPr>
            <a:r>
              <a:rPr lang="fa-IR" dirty="0"/>
              <a:t>شرط سوم یک </a:t>
            </a:r>
            <a:r>
              <a:rPr lang="fa-IR" dirty="0" err="1"/>
              <a:t>نرم‌سازی</a:t>
            </a:r>
            <a:r>
              <a:rPr lang="fa-IR" dirty="0"/>
              <a:t> </a:t>
            </a:r>
            <a:r>
              <a:rPr lang="fa-IR" dirty="0" err="1"/>
              <a:t>حداقلی</a:t>
            </a:r>
            <a:r>
              <a:rPr lang="fa-IR" dirty="0"/>
              <a:t> نسبت به </a:t>
            </a:r>
            <a:r>
              <a:rPr lang="en-US" dirty="0"/>
              <a:t>BCNF </a:t>
            </a:r>
            <a:r>
              <a:rPr lang="fa-IR" dirty="0"/>
              <a:t>است تا حفظ </a:t>
            </a:r>
            <a:r>
              <a:rPr lang="fa-IR" dirty="0" err="1"/>
              <a:t>وابستگی‌ها</a:t>
            </a:r>
            <a:r>
              <a:rPr lang="fa-IR" dirty="0"/>
              <a:t> تضمین شود (بعداً </a:t>
            </a:r>
            <a:r>
              <a:rPr lang="fa-IR" dirty="0" err="1"/>
              <a:t>دلیلش</a:t>
            </a:r>
            <a:r>
              <a:rPr lang="fa-IR" dirty="0"/>
              <a:t> را خواهیم دید).</a:t>
            </a:r>
            <a:endParaRPr lang="en-US" altLang="en-US" sz="1800" dirty="0"/>
          </a:p>
          <a:p>
            <a:pPr>
              <a:tabLst>
                <a:tab pos="2738438" algn="l"/>
              </a:tabLst>
            </a:pPr>
            <a:endParaRPr lang="en-US" altLang="en-US" sz="2400" dirty="0">
              <a:sym typeface="Greek Symbols"/>
            </a:endParaRPr>
          </a:p>
        </p:txBody>
      </p:sp>
    </p:spTree>
    <p:extLst>
      <p:ext uri="{BB962C8B-B14F-4D97-AF65-F5344CB8AC3E}">
        <p14:creationId xmlns:p14="http://schemas.microsoft.com/office/powerpoint/2010/main" val="2956966519"/>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28066" name="Rectangle 2"/>
          <p:cNvSpPr>
            <a:spLocks noGrp="1" noChangeArrowheads="1"/>
          </p:cNvSpPr>
          <p:nvPr>
            <p:ph type="title"/>
          </p:nvPr>
        </p:nvSpPr>
        <p:spPr>
          <a:xfrm>
            <a:off x="709613" y="98425"/>
            <a:ext cx="8015287" cy="625475"/>
          </a:xfrm>
        </p:spPr>
        <p:txBody>
          <a:bodyPr/>
          <a:lstStyle/>
          <a:p>
            <a:pPr>
              <a:defRPr/>
            </a:pPr>
            <a:r>
              <a:rPr lang="en-US" sz="2800" dirty="0">
                <a:ea typeface="ＭＳ Ｐゴシック" pitchFamily="34" charset="-128"/>
              </a:rPr>
              <a:t>3NF Example</a:t>
            </a:r>
            <a:endParaRPr lang="en-US" altLang="en-US" sz="2800" dirty="0">
              <a:effectLst>
                <a:outerShdw blurRad="38100" dist="38100" dir="2700000" algn="tl">
                  <a:srgbClr val="C0C0C0"/>
                </a:outerShdw>
              </a:effectLst>
              <a:ea typeface="ＭＳ Ｐゴシック" pitchFamily="34" charset="-128"/>
            </a:endParaRPr>
          </a:p>
        </p:txBody>
      </p:sp>
      <p:sp>
        <p:nvSpPr>
          <p:cNvPr id="33795" name="Rectangle 3"/>
          <p:cNvSpPr>
            <a:spLocks noGrp="1" noChangeArrowheads="1"/>
          </p:cNvSpPr>
          <p:nvPr>
            <p:ph idx="1"/>
          </p:nvPr>
        </p:nvSpPr>
        <p:spPr>
          <a:xfrm>
            <a:off x="762953" y="1093788"/>
            <a:ext cx="8015287" cy="4490148"/>
          </a:xfrm>
        </p:spPr>
        <p:txBody>
          <a:bodyPr/>
          <a:lstStyle/>
          <a:p>
            <a:pPr algn="r" rtl="1"/>
            <a:r>
              <a:rPr lang="fa-IR" sz="1800" dirty="0"/>
              <a:t>یک </a:t>
            </a:r>
            <a:r>
              <a:rPr lang="fa-IR" sz="1800" dirty="0" err="1"/>
              <a:t>شِما</a:t>
            </a:r>
            <a:r>
              <a:rPr lang="fa-IR" sz="1800" dirty="0"/>
              <a:t> را در نظر بگیرید:</a:t>
            </a:r>
            <a:endParaRPr lang="en-US" altLang="en-US" sz="1700" dirty="0"/>
          </a:p>
          <a:p>
            <a:pPr algn="r" rtl="1">
              <a:buFont typeface="Monotype Sorts" pitchFamily="-84" charset="2"/>
              <a:buNone/>
            </a:pPr>
            <a:r>
              <a:rPr lang="en-US" altLang="en-US" sz="1700" dirty="0"/>
              <a:t>         </a:t>
            </a:r>
            <a:r>
              <a:rPr lang="en-US" altLang="en-US" sz="1700" i="1" dirty="0" err="1"/>
              <a:t>dept_advisor</a:t>
            </a:r>
            <a:r>
              <a:rPr lang="en-US" altLang="en-US" sz="1700" i="1" dirty="0"/>
              <a:t>(</a:t>
            </a:r>
            <a:r>
              <a:rPr lang="en-US" altLang="en-US" sz="1700" i="1" dirty="0" err="1"/>
              <a:t>s_ID</a:t>
            </a:r>
            <a:r>
              <a:rPr lang="en-US" altLang="en-US" sz="1700" i="1" dirty="0"/>
              <a:t>, </a:t>
            </a:r>
            <a:r>
              <a:rPr lang="en-US" altLang="en-US" sz="1700" i="1" dirty="0" err="1"/>
              <a:t>i_ID</a:t>
            </a:r>
            <a:r>
              <a:rPr lang="en-US" altLang="en-US" sz="1700" i="1" dirty="0"/>
              <a:t>, </a:t>
            </a:r>
            <a:r>
              <a:rPr lang="en-US" altLang="en-US" sz="1700" i="1" dirty="0" err="1"/>
              <a:t>dept_name</a:t>
            </a:r>
            <a:r>
              <a:rPr lang="en-US" altLang="en-US" sz="1700" dirty="0"/>
              <a:t>)</a:t>
            </a:r>
          </a:p>
          <a:p>
            <a:pPr algn="r" rtl="1"/>
            <a:r>
              <a:rPr lang="fa-IR" sz="1800" dirty="0"/>
              <a:t>با </a:t>
            </a:r>
            <a:r>
              <a:rPr lang="fa-IR" sz="1800" dirty="0" err="1"/>
              <a:t>وابستگی‌های</a:t>
            </a:r>
            <a:r>
              <a:rPr lang="fa-IR" sz="1800" dirty="0"/>
              <a:t> </a:t>
            </a:r>
            <a:r>
              <a:rPr lang="fa-IR" sz="1800" dirty="0" err="1"/>
              <a:t>تابعی</a:t>
            </a:r>
            <a:r>
              <a:rPr lang="fa-IR" sz="1800" dirty="0"/>
              <a:t>:</a:t>
            </a:r>
            <a:endParaRPr lang="en-US" altLang="en-US" sz="1700" dirty="0"/>
          </a:p>
          <a:p>
            <a:pPr algn="r" rtl="1">
              <a:buFont typeface="Monotype Sorts" pitchFamily="-84" charset="2"/>
              <a:buNone/>
            </a:pPr>
            <a:r>
              <a:rPr lang="en-US" altLang="en-US" sz="1700" dirty="0"/>
              <a:t>             </a:t>
            </a:r>
            <a:r>
              <a:rPr lang="en-US" altLang="en-US" sz="1700" i="1" dirty="0" err="1"/>
              <a:t>i_ID</a:t>
            </a:r>
            <a:r>
              <a:rPr lang="en-US" altLang="en-US" sz="1700" dirty="0"/>
              <a:t> </a:t>
            </a:r>
            <a:r>
              <a:rPr lang="en-US" altLang="en-US" sz="1700" dirty="0">
                <a:sym typeface="Symbol" panose="05050102010706020507" pitchFamily="18" charset="2"/>
              </a:rPr>
              <a:t> </a:t>
            </a:r>
            <a:r>
              <a:rPr lang="en-US" altLang="en-US" sz="1700" i="1" dirty="0" err="1">
                <a:sym typeface="Symbol" panose="05050102010706020507" pitchFamily="18" charset="2"/>
              </a:rPr>
              <a:t>dept_name</a:t>
            </a:r>
            <a:endParaRPr lang="en-US" altLang="en-US" sz="1700" i="1" dirty="0">
              <a:sym typeface="Symbol" panose="05050102010706020507" pitchFamily="18" charset="2"/>
            </a:endParaRPr>
          </a:p>
          <a:p>
            <a:pPr algn="r" rtl="1">
              <a:buFont typeface="Monotype Sorts" pitchFamily="-84" charset="2"/>
              <a:buNone/>
            </a:pPr>
            <a:r>
              <a:rPr lang="en-US" altLang="en-US" sz="1700" dirty="0"/>
              <a:t>             </a:t>
            </a:r>
            <a:r>
              <a:rPr lang="en-US" altLang="en-US" sz="1700" i="1" dirty="0" err="1"/>
              <a:t>s_ID</a:t>
            </a:r>
            <a:r>
              <a:rPr lang="en-US" altLang="en-US" sz="1700" i="1" dirty="0"/>
              <a:t>, </a:t>
            </a:r>
            <a:r>
              <a:rPr lang="en-US" altLang="en-US" sz="1700" i="1" dirty="0" err="1">
                <a:sym typeface="Symbol" panose="05050102010706020507" pitchFamily="18" charset="2"/>
              </a:rPr>
              <a:t>dept_name</a:t>
            </a:r>
            <a:r>
              <a:rPr lang="en-US" altLang="en-US" sz="1700" i="1" dirty="0"/>
              <a:t> </a:t>
            </a:r>
            <a:r>
              <a:rPr lang="en-US" altLang="en-US" sz="1700" dirty="0">
                <a:sym typeface="Symbol" panose="05050102010706020507" pitchFamily="18" charset="2"/>
              </a:rPr>
              <a:t> </a:t>
            </a:r>
            <a:r>
              <a:rPr lang="en-US" altLang="en-US" sz="1700" i="1" dirty="0" err="1">
                <a:sym typeface="Symbol" panose="05050102010706020507" pitchFamily="18" charset="2"/>
              </a:rPr>
              <a:t>i_ID</a:t>
            </a:r>
            <a:endParaRPr lang="en-US" altLang="en-US" sz="1700" i="1" dirty="0">
              <a:sym typeface="Symbol" panose="05050102010706020507" pitchFamily="18" charset="2"/>
            </a:endParaRPr>
          </a:p>
          <a:p>
            <a:pPr algn="r" rtl="1"/>
            <a:r>
              <a:rPr lang="en-US" altLang="en-US" sz="1700" dirty="0">
                <a:sym typeface="Monotype Sorts" pitchFamily="-84" charset="2"/>
              </a:rPr>
              <a:t>Two candidate keys =  {</a:t>
            </a:r>
            <a:r>
              <a:rPr lang="en-US" altLang="en-US" sz="1700" i="1" dirty="0" err="1"/>
              <a:t>s_ID</a:t>
            </a:r>
            <a:r>
              <a:rPr lang="en-US" altLang="en-US" sz="1700" i="1" dirty="0"/>
              <a:t>, </a:t>
            </a:r>
            <a:r>
              <a:rPr lang="en-US" altLang="en-US" sz="1700" i="1" dirty="0" err="1">
                <a:sym typeface="Symbol" panose="05050102010706020507" pitchFamily="18" charset="2"/>
              </a:rPr>
              <a:t>dept_name</a:t>
            </a:r>
            <a:r>
              <a:rPr lang="en-US" altLang="en-US" sz="1700" dirty="0">
                <a:sym typeface="Symbol" panose="05050102010706020507" pitchFamily="18" charset="2"/>
              </a:rPr>
              <a:t>}, {</a:t>
            </a:r>
            <a:r>
              <a:rPr lang="en-US" altLang="en-US" sz="1700" i="1" dirty="0" err="1"/>
              <a:t>s_ID</a:t>
            </a:r>
            <a:r>
              <a:rPr lang="en-US" altLang="en-US" sz="1700" i="1" dirty="0"/>
              <a:t>,</a:t>
            </a:r>
            <a:r>
              <a:rPr lang="en-US" altLang="en-US" sz="1700" i="1" dirty="0">
                <a:sym typeface="Symbol" panose="05050102010706020507" pitchFamily="18" charset="2"/>
              </a:rPr>
              <a:t> </a:t>
            </a:r>
            <a:r>
              <a:rPr lang="en-US" altLang="en-US" sz="1700" i="1" dirty="0" err="1">
                <a:sym typeface="Symbol" panose="05050102010706020507" pitchFamily="18" charset="2"/>
              </a:rPr>
              <a:t>i_ID</a:t>
            </a:r>
            <a:r>
              <a:rPr lang="en-US" altLang="en-US" sz="1700" i="1" dirty="0">
                <a:sym typeface="Symbol" panose="05050102010706020507" pitchFamily="18" charset="2"/>
              </a:rPr>
              <a:t> </a:t>
            </a:r>
            <a:r>
              <a:rPr lang="en-US" altLang="en-US" sz="1700" dirty="0">
                <a:sym typeface="Symbol" panose="05050102010706020507" pitchFamily="18" charset="2"/>
              </a:rPr>
              <a:t>}</a:t>
            </a:r>
            <a:endParaRPr lang="en-US" altLang="en-US" sz="1700" dirty="0">
              <a:sym typeface="Monotype Sorts" pitchFamily="-84" charset="2"/>
            </a:endParaRPr>
          </a:p>
          <a:p>
            <a:pPr algn="r" rtl="1"/>
            <a:r>
              <a:rPr lang="fa-IR" sz="1800" dirty="0"/>
              <a:t>قبلاً دیدیم که </a:t>
            </a:r>
            <a:r>
              <a:rPr lang="en-US" sz="1800" dirty="0" err="1"/>
              <a:t>dept_advisor</a:t>
            </a:r>
            <a:r>
              <a:rPr lang="en-US" sz="1800" dirty="0"/>
              <a:t> </a:t>
            </a:r>
            <a:r>
              <a:rPr lang="fa-IR" sz="1800" dirty="0"/>
              <a:t>در </a:t>
            </a:r>
            <a:r>
              <a:rPr lang="en-US" sz="1800" dirty="0"/>
              <a:t>BCNF </a:t>
            </a:r>
            <a:r>
              <a:rPr lang="fa-IR" sz="1800" dirty="0"/>
              <a:t>نیست.</a:t>
            </a:r>
            <a:endParaRPr lang="en-US" altLang="en-US" sz="1700" dirty="0">
              <a:sym typeface="Monotype Sorts" pitchFamily="-84" charset="2"/>
            </a:endParaRPr>
          </a:p>
          <a:p>
            <a:pPr algn="r" rtl="1"/>
            <a:r>
              <a:rPr lang="fa-IR" sz="1800" dirty="0"/>
              <a:t>اما این رابطه در </a:t>
            </a:r>
            <a:r>
              <a:rPr lang="en-US" sz="1800" dirty="0"/>
              <a:t>3NF</a:t>
            </a:r>
            <a:r>
              <a:rPr lang="fa-IR" sz="1800" dirty="0"/>
              <a:t>قرار دارد.</a:t>
            </a:r>
            <a:endParaRPr lang="en-US" altLang="en-US" sz="1700" dirty="0">
              <a:sym typeface="Monotype Sorts" pitchFamily="-84" charset="2"/>
            </a:endParaRPr>
          </a:p>
          <a:p>
            <a:pPr marL="457200" lvl="1" indent="0" algn="r" rtl="1">
              <a:buNone/>
            </a:pPr>
            <a:r>
              <a:rPr lang="fa-IR" sz="1800" dirty="0"/>
              <a:t>ترکیب </a:t>
            </a:r>
            <a:r>
              <a:rPr lang="en-US" sz="1800" dirty="0" err="1"/>
              <a:t>s_ID</a:t>
            </a:r>
            <a:r>
              <a:rPr lang="en-US" sz="1800" dirty="0"/>
              <a:t> </a:t>
            </a:r>
            <a:r>
              <a:rPr lang="fa-IR" sz="1800" dirty="0"/>
              <a:t>و </a:t>
            </a:r>
            <a:r>
              <a:rPr lang="en-US" sz="1800" dirty="0" err="1"/>
              <a:t>dept_name</a:t>
            </a:r>
            <a:r>
              <a:rPr lang="en-US" sz="1800" dirty="0"/>
              <a:t> </a:t>
            </a:r>
            <a:r>
              <a:rPr lang="fa-IR" sz="1800" dirty="0"/>
              <a:t>یک </a:t>
            </a:r>
            <a:r>
              <a:rPr lang="fa-IR" sz="1800" dirty="0" err="1"/>
              <a:t>اَبَرکلید</a:t>
            </a:r>
            <a:r>
              <a:rPr lang="fa-IR" sz="1800" dirty="0"/>
              <a:t> است.</a:t>
            </a:r>
            <a:endParaRPr lang="en-US" altLang="en-US" sz="1700" dirty="0">
              <a:sym typeface="Monotype Sorts" pitchFamily="-84" charset="2"/>
            </a:endParaRPr>
          </a:p>
          <a:p>
            <a:pPr lvl="1" algn="r" rtl="1"/>
            <a:r>
              <a:rPr lang="en-US" altLang="en-US" sz="1700" dirty="0"/>
              <a:t> </a:t>
            </a:r>
            <a:r>
              <a:rPr lang="en-US" altLang="en-US" sz="1700" i="1" dirty="0" err="1"/>
              <a:t>i_ID</a:t>
            </a:r>
            <a:r>
              <a:rPr lang="en-US" altLang="en-US" sz="1700" dirty="0"/>
              <a:t> </a:t>
            </a:r>
            <a:r>
              <a:rPr lang="en-US" altLang="en-US" sz="1700" dirty="0">
                <a:sym typeface="Symbol" panose="05050102010706020507" pitchFamily="18" charset="2"/>
              </a:rPr>
              <a:t> </a:t>
            </a:r>
            <a:r>
              <a:rPr lang="en-US" altLang="en-US" sz="1700" i="1" dirty="0" err="1">
                <a:sym typeface="Symbol" panose="05050102010706020507" pitchFamily="18" charset="2"/>
              </a:rPr>
              <a:t>dept_name</a:t>
            </a:r>
            <a:r>
              <a:rPr lang="en-US" altLang="en-US" sz="1700" dirty="0">
                <a:sym typeface="Monotype Sorts" pitchFamily="-84" charset="2"/>
              </a:rPr>
              <a:t> </a:t>
            </a:r>
            <a:r>
              <a:rPr lang="en-US" altLang="en-US" sz="1700" i="1" dirty="0">
                <a:sym typeface="Monotype Sorts" pitchFamily="-84" charset="2"/>
              </a:rPr>
              <a:t> </a:t>
            </a:r>
            <a:r>
              <a:rPr lang="fa-IR" altLang="en-US" sz="1700" i="1" dirty="0">
                <a:sym typeface="Monotype Sorts" pitchFamily="-84" charset="2"/>
              </a:rPr>
              <a:t>و </a:t>
            </a:r>
            <a:r>
              <a:rPr lang="en-US" sz="1800" dirty="0" err="1"/>
              <a:t>i_ID</a:t>
            </a:r>
            <a:r>
              <a:rPr lang="fa-IR" sz="1800" dirty="0"/>
              <a:t> یک </a:t>
            </a:r>
            <a:r>
              <a:rPr lang="fa-IR" sz="1800" dirty="0" err="1"/>
              <a:t>ابرکلید</a:t>
            </a:r>
            <a:r>
              <a:rPr lang="fa-IR" sz="1800" dirty="0"/>
              <a:t> نیست اما:</a:t>
            </a:r>
          </a:p>
          <a:p>
            <a:pPr lvl="1" algn="r" rtl="1"/>
            <a:r>
              <a:rPr lang="en-US" sz="1800" dirty="0"/>
              <a:t>{ </a:t>
            </a:r>
            <a:r>
              <a:rPr lang="en-US" sz="1800" dirty="0" err="1"/>
              <a:t>dept_name</a:t>
            </a:r>
            <a:r>
              <a:rPr lang="en-US" sz="1800" dirty="0"/>
              <a:t>} – {</a:t>
            </a:r>
            <a:r>
              <a:rPr lang="en-US" sz="1800" dirty="0" err="1"/>
              <a:t>i_ID</a:t>
            </a:r>
            <a:r>
              <a:rPr lang="en-US" sz="1800" dirty="0"/>
              <a:t> } = {</a:t>
            </a:r>
            <a:r>
              <a:rPr lang="en-US" sz="1800" dirty="0" err="1"/>
              <a:t>dept_name</a:t>
            </a:r>
            <a:r>
              <a:rPr lang="en-US" sz="1800" dirty="0"/>
              <a:t> } and</a:t>
            </a:r>
            <a:endParaRPr lang="en-US" altLang="en-US" sz="1700" dirty="0">
              <a:sym typeface="Monotype Sorts" pitchFamily="-84" charset="2"/>
            </a:endParaRPr>
          </a:p>
          <a:p>
            <a:pPr lvl="2" algn="r" rtl="1"/>
            <a:r>
              <a:rPr lang="fa-IR" sz="1800" dirty="0"/>
              <a:t>و </a:t>
            </a:r>
            <a:r>
              <a:rPr lang="en-US" sz="1800" dirty="0" err="1"/>
              <a:t>dept_name</a:t>
            </a:r>
            <a:r>
              <a:rPr lang="en-US" sz="1800" dirty="0"/>
              <a:t> </a:t>
            </a:r>
            <a:r>
              <a:rPr lang="fa-IR" sz="1800" dirty="0"/>
              <a:t>در یک کلید کاندید قرار دارد.</a:t>
            </a:r>
            <a:endParaRPr lang="en-US" altLang="en-US" sz="1700" i="1" dirty="0">
              <a:sym typeface="Greek Symbols"/>
            </a:endParaRPr>
          </a:p>
          <a:p>
            <a:pPr>
              <a:buFont typeface="Monotype Sorts" pitchFamily="-84" charset="2"/>
              <a:buNone/>
            </a:pPr>
            <a:endParaRPr lang="en-US" altLang="en-US" sz="2000" i="1" dirty="0">
              <a:sym typeface="Symbol" panose="05050102010706020507" pitchFamily="18" charset="2"/>
            </a:endParaRPr>
          </a:p>
          <a:p>
            <a:pPr>
              <a:buFont typeface="Monotype Sorts" pitchFamily="-84" charset="2"/>
              <a:buNone/>
            </a:pPr>
            <a:endParaRPr lang="en-US" altLang="en-US" sz="2000" dirty="0">
              <a:sym typeface="Symbol" panose="05050102010706020507" pitchFamily="18" charset="2"/>
            </a:endParaRPr>
          </a:p>
          <a:p>
            <a:endParaRPr lang="en-US" altLang="en-US" sz="2000" dirty="0"/>
          </a:p>
        </p:txBody>
      </p:sp>
    </p:spTree>
    <p:extLst>
      <p:ext uri="{BB962C8B-B14F-4D97-AF65-F5344CB8AC3E}">
        <p14:creationId xmlns:p14="http://schemas.microsoft.com/office/powerpoint/2010/main" val="4253033289"/>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08290" name="Rectangle 2"/>
          <p:cNvSpPr>
            <a:spLocks noGrp="1" noChangeArrowheads="1"/>
          </p:cNvSpPr>
          <p:nvPr>
            <p:ph type="title"/>
          </p:nvPr>
        </p:nvSpPr>
        <p:spPr>
          <a:xfrm>
            <a:off x="781050" y="174963"/>
            <a:ext cx="8077200" cy="609600"/>
          </a:xfrm>
        </p:spPr>
        <p:txBody>
          <a:bodyPr/>
          <a:lstStyle/>
          <a:p>
            <a:pPr>
              <a:defRPr/>
            </a:pPr>
            <a:r>
              <a:rPr lang="en-US" sz="2800" dirty="0">
                <a:ea typeface="ＭＳ Ｐゴシック" pitchFamily="34" charset="-128"/>
              </a:rPr>
              <a:t>Redundancy in 3NF</a:t>
            </a:r>
          </a:p>
        </p:txBody>
      </p:sp>
      <p:sp>
        <p:nvSpPr>
          <p:cNvPr id="34819" name="Rectangle 10"/>
          <p:cNvSpPr>
            <a:spLocks noGrp="1" noChangeArrowheads="1"/>
          </p:cNvSpPr>
          <p:nvPr>
            <p:ph idx="1"/>
          </p:nvPr>
        </p:nvSpPr>
        <p:spPr>
          <a:xfrm>
            <a:off x="781050" y="1130542"/>
            <a:ext cx="7716774" cy="5123954"/>
          </a:xfrm>
        </p:spPr>
        <p:txBody>
          <a:bodyPr/>
          <a:lstStyle/>
          <a:p>
            <a:pPr algn="r" rtl="1"/>
            <a:r>
              <a:rPr lang="fa-IR" sz="1800" dirty="0"/>
              <a:t>به </a:t>
            </a:r>
            <a:r>
              <a:rPr lang="fa-IR" sz="1800" dirty="0" err="1"/>
              <a:t>شِمای</a:t>
            </a:r>
            <a:r>
              <a:rPr lang="fa-IR" sz="1800" dirty="0"/>
              <a:t> </a:t>
            </a:r>
            <a:r>
              <a:rPr lang="en-US" sz="1800" dirty="0"/>
              <a:t>R </a:t>
            </a:r>
            <a:r>
              <a:rPr lang="fa-IR" sz="1800" dirty="0"/>
              <a:t>در زیر توجه کنید که در حالت نرمال سوم </a:t>
            </a:r>
            <a:r>
              <a:rPr lang="en-US" sz="1800" dirty="0"/>
              <a:t>3NF</a:t>
            </a:r>
            <a:r>
              <a:rPr lang="fa-IR" sz="1800" dirty="0"/>
              <a:t>قرار دارد.</a:t>
            </a:r>
            <a:endParaRPr lang="en-US" altLang="en-US" sz="1700" dirty="0"/>
          </a:p>
          <a:p>
            <a:pPr marL="0" indent="0">
              <a:buNone/>
            </a:pPr>
            <a:endParaRPr lang="en-US" altLang="en-US" sz="1700" dirty="0"/>
          </a:p>
          <a:p>
            <a:endParaRPr lang="en-US" altLang="en-US" sz="1700" dirty="0"/>
          </a:p>
          <a:p>
            <a:endParaRPr lang="en-US" altLang="en-US" sz="1700" dirty="0"/>
          </a:p>
          <a:p>
            <a:endParaRPr lang="en-US" altLang="en-US" sz="1700" dirty="0"/>
          </a:p>
          <a:p>
            <a:endParaRPr lang="en-US" altLang="en-US" sz="1700" dirty="0"/>
          </a:p>
          <a:p>
            <a:endParaRPr lang="en-US" altLang="en-US" sz="1700" dirty="0"/>
          </a:p>
          <a:p>
            <a:pPr marL="0" indent="0">
              <a:buNone/>
            </a:pPr>
            <a:endParaRPr lang="en-US" altLang="en-US" sz="1700" dirty="0"/>
          </a:p>
          <a:p>
            <a:pPr algn="r" rtl="1"/>
            <a:r>
              <a:rPr lang="fa-IR" sz="1800" dirty="0"/>
              <a:t>مشکل این جدول چیست؟</a:t>
            </a:r>
            <a:endParaRPr lang="en-US" altLang="en-US" sz="1700" dirty="0"/>
          </a:p>
          <a:p>
            <a:pPr marL="0" indent="0">
              <a:buNone/>
            </a:pPr>
            <a:endParaRPr lang="en-US" altLang="en-US" sz="1700" dirty="0"/>
          </a:p>
        </p:txBody>
      </p:sp>
      <p:sp>
        <p:nvSpPr>
          <p:cNvPr id="34822" name="TextBox 1"/>
          <p:cNvSpPr txBox="1">
            <a:spLocks noChangeArrowheads="1"/>
          </p:cNvSpPr>
          <p:nvPr/>
        </p:nvSpPr>
        <p:spPr bwMode="auto">
          <a:xfrm>
            <a:off x="781051" y="1530989"/>
            <a:ext cx="6717030" cy="89255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marL="342900" indent="-342900">
              <a:defRPr sz="1600">
                <a:solidFill>
                  <a:schemeClr val="tx1"/>
                </a:solidFill>
                <a:latin typeface="Helvetica" panose="020B0604020202020204" pitchFamily="34" charset="0"/>
                <a:ea typeface="MS PGothic" panose="020B0600070205080204" pitchFamily="34" charset="-128"/>
              </a:defRPr>
            </a:lvl1pPr>
            <a:lvl2pPr marL="742950" indent="-285750">
              <a:defRPr sz="1600">
                <a:solidFill>
                  <a:schemeClr val="tx1"/>
                </a:solidFill>
                <a:latin typeface="Helvetica" panose="020B0604020202020204" pitchFamily="34" charset="0"/>
                <a:ea typeface="MS PGothic" panose="020B0600070205080204" pitchFamily="34" charset="-128"/>
              </a:defRPr>
            </a:lvl2pPr>
            <a:lvl3pPr marL="1143000" indent="-228600">
              <a:defRPr sz="1600">
                <a:solidFill>
                  <a:schemeClr val="tx1"/>
                </a:solidFill>
                <a:latin typeface="Helvetica" panose="020B0604020202020204" pitchFamily="34" charset="0"/>
                <a:ea typeface="MS PGothic" panose="020B0600070205080204" pitchFamily="34" charset="-128"/>
              </a:defRPr>
            </a:lvl3pPr>
            <a:lvl4pPr marL="1600200" indent="-228600">
              <a:defRPr sz="1600">
                <a:solidFill>
                  <a:schemeClr val="tx1"/>
                </a:solidFill>
                <a:latin typeface="Helvetica" panose="020B0604020202020204" pitchFamily="34" charset="0"/>
                <a:ea typeface="MS PGothic" panose="020B0600070205080204" pitchFamily="34" charset="-128"/>
              </a:defRPr>
            </a:lvl4pPr>
            <a:lvl5pPr marL="2057400" indent="-228600">
              <a:defRPr sz="16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pPr marL="800100" lvl="1" indent="-342900">
              <a:spcBef>
                <a:spcPts val="0"/>
              </a:spcBef>
              <a:buClr>
                <a:srgbClr val="F5960B"/>
              </a:buClr>
              <a:buSzPct val="110000"/>
              <a:buFont typeface="Arial" panose="020B0604020202020204" pitchFamily="34" charset="0"/>
              <a:buChar char="•"/>
            </a:pPr>
            <a:r>
              <a:rPr lang="en-US" altLang="en-US" sz="1700" i="1" dirty="0"/>
              <a:t>R = </a:t>
            </a:r>
            <a:r>
              <a:rPr lang="en-US" altLang="en-US" sz="1700" dirty="0"/>
              <a:t>(</a:t>
            </a:r>
            <a:r>
              <a:rPr lang="en-US" altLang="en-US" sz="1700" i="1" dirty="0"/>
              <a:t>J, K, L </a:t>
            </a:r>
            <a:r>
              <a:rPr lang="en-US" altLang="en-US" sz="1700" dirty="0"/>
              <a:t>)</a:t>
            </a:r>
            <a:endParaRPr lang="en-US" altLang="en-US" sz="1700" i="1" dirty="0"/>
          </a:p>
          <a:p>
            <a:pPr marL="800100" lvl="1" indent="-342900">
              <a:spcBef>
                <a:spcPts val="0"/>
              </a:spcBef>
              <a:buClr>
                <a:srgbClr val="F5960B"/>
              </a:buClr>
              <a:buSzPct val="110000"/>
              <a:buFont typeface="Arial" panose="020B0604020202020204" pitchFamily="34" charset="0"/>
              <a:buChar char="•"/>
            </a:pPr>
            <a:r>
              <a:rPr lang="en-US" altLang="en-US" sz="1700" i="1" dirty="0"/>
              <a:t>F = </a:t>
            </a:r>
            <a:r>
              <a:rPr lang="en-US" altLang="en-US" sz="1700" dirty="0"/>
              <a:t>{</a:t>
            </a:r>
            <a:r>
              <a:rPr lang="en-US" altLang="en-US" sz="1700" i="1" dirty="0"/>
              <a:t>JK </a:t>
            </a:r>
            <a:r>
              <a:rPr lang="en-US" altLang="en-US" sz="1700" dirty="0">
                <a:sym typeface="Symbol" panose="05050102010706020507" pitchFamily="18" charset="2"/>
              </a:rPr>
              <a:t></a:t>
            </a:r>
            <a:r>
              <a:rPr lang="en-US" altLang="en-US" sz="1700" dirty="0">
                <a:sym typeface="Monotype Sorts" pitchFamily="-84" charset="2"/>
              </a:rPr>
              <a:t> </a:t>
            </a:r>
            <a:r>
              <a:rPr lang="en-US" altLang="en-US" sz="1700" i="1" dirty="0">
                <a:sym typeface="Monotype Sorts" pitchFamily="-84" charset="2"/>
              </a:rPr>
              <a:t>L, L </a:t>
            </a:r>
            <a:r>
              <a:rPr lang="en-US" altLang="en-US" sz="1700" dirty="0">
                <a:sym typeface="Symbol" panose="05050102010706020507" pitchFamily="18" charset="2"/>
              </a:rPr>
              <a:t></a:t>
            </a:r>
            <a:r>
              <a:rPr lang="en-US" altLang="en-US" sz="1700" dirty="0">
                <a:sym typeface="Monotype Sorts" pitchFamily="-84" charset="2"/>
              </a:rPr>
              <a:t> </a:t>
            </a:r>
            <a:r>
              <a:rPr lang="en-US" altLang="en-US" sz="1700" i="1" dirty="0">
                <a:sym typeface="Monotype Sorts" pitchFamily="-84" charset="2"/>
              </a:rPr>
              <a:t>K </a:t>
            </a:r>
            <a:r>
              <a:rPr lang="en-US" altLang="en-US" sz="1700" dirty="0">
                <a:sym typeface="Monotype Sorts" pitchFamily="-84" charset="2"/>
              </a:rPr>
              <a:t>}</a:t>
            </a:r>
          </a:p>
          <a:p>
            <a:pPr marL="800100" lvl="1" indent="-342900">
              <a:spcBef>
                <a:spcPts val="0"/>
              </a:spcBef>
              <a:buClr>
                <a:srgbClr val="F5960B"/>
              </a:buClr>
              <a:buSzPct val="110000"/>
              <a:buFont typeface="Arial" panose="020B0604020202020204" pitchFamily="34" charset="0"/>
              <a:buChar char="•"/>
            </a:pPr>
            <a:r>
              <a:rPr lang="fa-IR" sz="1800" dirty="0"/>
              <a:t>و یک جدول نمونه</a:t>
            </a:r>
            <a:r>
              <a:rPr lang="en-US" sz="1800" dirty="0"/>
              <a:t>:</a:t>
            </a:r>
            <a:endParaRPr lang="en-US" altLang="en-US" sz="1700" dirty="0">
              <a:sym typeface="Monotype Sorts" pitchFamily="-84" charset="2"/>
            </a:endParaRPr>
          </a:p>
        </p:txBody>
      </p:sp>
      <p:sp>
        <p:nvSpPr>
          <p:cNvPr id="4" name="TextBox 3"/>
          <p:cNvSpPr txBox="1">
            <a:spLocks noChangeArrowheads="1"/>
          </p:cNvSpPr>
          <p:nvPr/>
        </p:nvSpPr>
        <p:spPr bwMode="auto">
          <a:xfrm>
            <a:off x="436625" y="4266097"/>
            <a:ext cx="7472935" cy="92333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marL="342900" indent="-342900">
              <a:defRPr sz="1600">
                <a:solidFill>
                  <a:schemeClr val="tx1"/>
                </a:solidFill>
                <a:latin typeface="Helvetica" panose="020B0604020202020204" pitchFamily="34" charset="0"/>
                <a:ea typeface="MS PGothic" panose="020B0600070205080204" pitchFamily="34" charset="-128"/>
              </a:defRPr>
            </a:lvl1pPr>
            <a:lvl2pPr>
              <a:defRPr sz="1600">
                <a:solidFill>
                  <a:schemeClr val="tx1"/>
                </a:solidFill>
                <a:latin typeface="Helvetica" panose="020B0604020202020204" pitchFamily="34" charset="0"/>
                <a:ea typeface="MS PGothic" panose="020B0600070205080204" pitchFamily="34" charset="-128"/>
              </a:defRPr>
            </a:lvl2pPr>
            <a:lvl3pPr marL="1143000" indent="-228600">
              <a:defRPr sz="1600">
                <a:solidFill>
                  <a:schemeClr val="tx1"/>
                </a:solidFill>
                <a:latin typeface="Helvetica" panose="020B0604020202020204" pitchFamily="34" charset="0"/>
                <a:ea typeface="MS PGothic" panose="020B0600070205080204" pitchFamily="34" charset="-128"/>
              </a:defRPr>
            </a:lvl3pPr>
            <a:lvl4pPr marL="1600200" indent="-228600">
              <a:defRPr sz="1600">
                <a:solidFill>
                  <a:schemeClr val="tx1"/>
                </a:solidFill>
                <a:latin typeface="Helvetica" panose="020B0604020202020204" pitchFamily="34" charset="0"/>
                <a:ea typeface="MS PGothic" panose="020B0600070205080204" pitchFamily="34" charset="-128"/>
              </a:defRPr>
            </a:lvl4pPr>
            <a:lvl5pPr marL="2057400" indent="-228600">
              <a:defRPr sz="16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pPr marL="800100" lvl="1" indent="-342900" algn="r" rtl="1">
              <a:buClr>
                <a:srgbClr val="FF9933"/>
              </a:buClr>
              <a:buSzPct val="110000"/>
              <a:buFont typeface="Arial" panose="020B0604020202020204" pitchFamily="34" charset="0"/>
              <a:buChar char="•"/>
            </a:pPr>
            <a:r>
              <a:rPr lang="fa-IR" sz="1800" dirty="0"/>
              <a:t>تکرار اطلاعات</a:t>
            </a:r>
            <a:endParaRPr lang="en-US" altLang="en-US" sz="1700" dirty="0"/>
          </a:p>
          <a:p>
            <a:pPr marL="800100" lvl="1" indent="-342900" algn="r" rtl="1">
              <a:buClr>
                <a:srgbClr val="FF9933"/>
              </a:buClr>
              <a:buSzPct val="110000"/>
              <a:buFont typeface="Arial" panose="020B0604020202020204" pitchFamily="34" charset="0"/>
              <a:buChar char="•"/>
            </a:pPr>
            <a:r>
              <a:rPr lang="fa-IR" sz="1800" dirty="0"/>
              <a:t>نیاز به استفاده از مقدارهای </a:t>
            </a:r>
            <a:r>
              <a:rPr lang="en-US" sz="1800" dirty="0"/>
              <a:t>)NULL </a:t>
            </a:r>
            <a:r>
              <a:rPr lang="fa-IR" sz="1800" dirty="0"/>
              <a:t>برای مثال، برای نمایش </a:t>
            </a:r>
            <a:r>
              <a:rPr lang="fa-IR" sz="1800" dirty="0" err="1"/>
              <a:t>رابطهٔ</a:t>
            </a:r>
            <a:r>
              <a:rPr lang="fa-IR" sz="1800" dirty="0"/>
              <a:t> </a:t>
            </a:r>
            <a:r>
              <a:rPr lang="en-US" sz="1800" dirty="0"/>
              <a:t>l2 </a:t>
            </a:r>
            <a:r>
              <a:rPr lang="fa-IR" sz="1800" dirty="0"/>
              <a:t>و </a:t>
            </a:r>
            <a:r>
              <a:rPr lang="en-US" sz="1800" dirty="0"/>
              <a:t>k2 </a:t>
            </a:r>
            <a:r>
              <a:rPr lang="fa-IR" sz="1800" dirty="0"/>
              <a:t>زمانی که مقدار </a:t>
            </a:r>
            <a:r>
              <a:rPr lang="fa-IR" sz="1800" dirty="0" err="1"/>
              <a:t>متناظر</a:t>
            </a:r>
            <a:r>
              <a:rPr lang="fa-IR" sz="1800" dirty="0"/>
              <a:t> </a:t>
            </a:r>
            <a:r>
              <a:rPr lang="en-US" sz="1800" dirty="0"/>
              <a:t>J </a:t>
            </a:r>
            <a:r>
              <a:rPr lang="fa-IR" sz="1800" dirty="0"/>
              <a:t>وجود ندارد)</a:t>
            </a:r>
            <a:endParaRPr lang="en-US" altLang="en-US" sz="1700" dirty="0"/>
          </a:p>
        </p:txBody>
      </p:sp>
      <p:pic>
        <p:nvPicPr>
          <p:cNvPr id="3" name="Picture 2"/>
          <p:cNvPicPr>
            <a:picLocks noChangeAspect="1"/>
          </p:cNvPicPr>
          <p:nvPr/>
        </p:nvPicPr>
        <p:blipFill>
          <a:blip r:embed="rId3"/>
          <a:stretch>
            <a:fillRect/>
          </a:stretch>
        </p:blipFill>
        <p:spPr>
          <a:xfrm>
            <a:off x="3189539" y="2591903"/>
            <a:ext cx="933450" cy="1190625"/>
          </a:xfrm>
          <a:prstGeom prst="rect">
            <a:avLst/>
          </a:prstGeom>
        </p:spPr>
      </p:pic>
    </p:spTree>
    <p:extLst>
      <p:ext uri="{BB962C8B-B14F-4D97-AF65-F5344CB8AC3E}">
        <p14:creationId xmlns:p14="http://schemas.microsoft.com/office/powerpoint/2010/main" val="3727370911"/>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89154" name="Rectangle 2"/>
          <p:cNvSpPr>
            <a:spLocks noGrp="1" noChangeArrowheads="1"/>
          </p:cNvSpPr>
          <p:nvPr>
            <p:ph type="title"/>
          </p:nvPr>
        </p:nvSpPr>
        <p:spPr>
          <a:xfrm>
            <a:off x="1317625" y="184150"/>
            <a:ext cx="6969125" cy="500063"/>
          </a:xfrm>
        </p:spPr>
        <p:txBody>
          <a:bodyPr/>
          <a:lstStyle/>
          <a:p>
            <a:pPr>
              <a:defRPr/>
            </a:pPr>
            <a:r>
              <a:rPr lang="en-US" altLang="en-US" sz="2800" dirty="0">
                <a:effectLst>
                  <a:outerShdw blurRad="38100" dist="38100" dir="2700000" algn="tl">
                    <a:srgbClr val="C0C0C0"/>
                  </a:outerShdw>
                </a:effectLst>
                <a:ea typeface="ＭＳ Ｐゴシック" pitchFamily="34" charset="-128"/>
              </a:rPr>
              <a:t>Comparison of BCNF and 3NF</a:t>
            </a:r>
          </a:p>
        </p:txBody>
      </p:sp>
      <p:sp>
        <p:nvSpPr>
          <p:cNvPr id="35843" name="Rectangle 3"/>
          <p:cNvSpPr>
            <a:spLocks noGrp="1" noChangeArrowheads="1"/>
          </p:cNvSpPr>
          <p:nvPr>
            <p:ph idx="1"/>
          </p:nvPr>
        </p:nvSpPr>
        <p:spPr>
          <a:xfrm>
            <a:off x="781236" y="1093788"/>
            <a:ext cx="7599285" cy="2661348"/>
          </a:xfrm>
        </p:spPr>
        <p:txBody>
          <a:bodyPr/>
          <a:lstStyle/>
          <a:p>
            <a:pPr algn="r" rtl="1"/>
            <a:r>
              <a:rPr lang="fa-IR" sz="1800" dirty="0" err="1"/>
              <a:t>مزیت‌های</a:t>
            </a:r>
            <a:r>
              <a:rPr lang="fa-IR" sz="1800" dirty="0"/>
              <a:t> </a:t>
            </a:r>
            <a:r>
              <a:rPr lang="fa-IR" sz="1800" dirty="0" err="1"/>
              <a:t>نرمال‌فرم</a:t>
            </a:r>
            <a:r>
              <a:rPr lang="fa-IR" sz="1800" dirty="0"/>
              <a:t> سوم </a:t>
            </a:r>
            <a:r>
              <a:rPr lang="en-US" sz="1800" dirty="0"/>
              <a:t>3NF</a:t>
            </a:r>
            <a:r>
              <a:rPr lang="fa-IR" sz="1800" dirty="0"/>
              <a:t>نسبت به </a:t>
            </a:r>
            <a:r>
              <a:rPr lang="en-US" sz="1800" dirty="0"/>
              <a:t>BCNF.</a:t>
            </a:r>
            <a:r>
              <a:rPr lang="fa-IR" sz="1800" dirty="0"/>
              <a:t> همیشه </a:t>
            </a:r>
            <a:r>
              <a:rPr lang="fa-IR" sz="1800" dirty="0" err="1"/>
              <a:t>می‌توان</a:t>
            </a:r>
            <a:r>
              <a:rPr lang="fa-IR" sz="1800" dirty="0"/>
              <a:t> یک طراحی </a:t>
            </a:r>
            <a:r>
              <a:rPr lang="en-US" sz="1800" dirty="0"/>
              <a:t>3NF</a:t>
            </a:r>
            <a:r>
              <a:rPr lang="fa-IR" sz="1800" dirty="0"/>
              <a:t>به دست آورد بدون اینکه خاصیت </a:t>
            </a:r>
            <a:r>
              <a:rPr lang="fa-IR" sz="1800" dirty="0" err="1"/>
              <a:t>بی‌اتلاف</a:t>
            </a:r>
            <a:r>
              <a:rPr lang="fa-IR" sz="1800" dirty="0"/>
              <a:t> بودن یا حفظ </a:t>
            </a:r>
            <a:r>
              <a:rPr lang="fa-IR" sz="1800" dirty="0" err="1"/>
              <a:t>وابستگی‌ها</a:t>
            </a:r>
            <a:r>
              <a:rPr lang="fa-IR" sz="1800" dirty="0"/>
              <a:t> از بین برود.</a:t>
            </a:r>
            <a:endParaRPr lang="en-US" altLang="en-US" sz="1700" dirty="0"/>
          </a:p>
          <a:p>
            <a:pPr algn="r" rtl="1"/>
            <a:r>
              <a:rPr lang="fa-IR" sz="1800" dirty="0"/>
              <a:t>معایب</a:t>
            </a:r>
            <a:r>
              <a:rPr lang="en-US" sz="1800" dirty="0"/>
              <a:t>3NF</a:t>
            </a:r>
            <a:endParaRPr lang="en-US" altLang="en-US" sz="1700" dirty="0"/>
          </a:p>
          <a:p>
            <a:pPr lvl="1" algn="r" rtl="1"/>
            <a:r>
              <a:rPr lang="fa-IR" sz="1800" dirty="0"/>
              <a:t>ممکن است مجبور شویم از مقدارهای تهی </a:t>
            </a:r>
            <a:r>
              <a:rPr lang="en-US" sz="1800" dirty="0"/>
              <a:t>(NULL) </a:t>
            </a:r>
            <a:r>
              <a:rPr lang="fa-IR" sz="1800" dirty="0"/>
              <a:t>برای نمایش برخی از روابط معنادار میان </a:t>
            </a:r>
            <a:r>
              <a:rPr lang="fa-IR" sz="1800" dirty="0" err="1"/>
              <a:t>داده‌ها</a:t>
            </a:r>
            <a:r>
              <a:rPr lang="fa-IR" sz="1800" dirty="0"/>
              <a:t> استفاده کنیم.</a:t>
            </a:r>
            <a:endParaRPr lang="en-US" altLang="en-US" sz="1700" dirty="0"/>
          </a:p>
          <a:p>
            <a:pPr marL="457200" lvl="1" indent="0" algn="r" rtl="1">
              <a:buNone/>
            </a:pPr>
            <a:r>
              <a:rPr lang="fa-IR" sz="1800" dirty="0"/>
              <a:t>مشکل تکرار اطلاعات وجود دارد.</a:t>
            </a:r>
            <a:endParaRPr lang="en-US" altLang="en-US" sz="1700" dirty="0"/>
          </a:p>
          <a:p>
            <a:pPr algn="r" rtl="1">
              <a:buFont typeface="Monotype Sorts" pitchFamily="-84" charset="2"/>
              <a:buNone/>
            </a:pPr>
            <a:endParaRPr lang="en-US" altLang="en-US" sz="2000" dirty="0"/>
          </a:p>
        </p:txBody>
      </p:sp>
    </p:spTree>
    <p:extLst>
      <p:ext uri="{BB962C8B-B14F-4D97-AF65-F5344CB8AC3E}">
        <p14:creationId xmlns:p14="http://schemas.microsoft.com/office/powerpoint/2010/main" val="2398924445"/>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89154" name="Rectangle 2"/>
          <p:cNvSpPr>
            <a:spLocks noGrp="1" noChangeArrowheads="1"/>
          </p:cNvSpPr>
          <p:nvPr>
            <p:ph type="title"/>
          </p:nvPr>
        </p:nvSpPr>
        <p:spPr>
          <a:xfrm>
            <a:off x="1317625" y="184150"/>
            <a:ext cx="6969125" cy="500063"/>
          </a:xfrm>
        </p:spPr>
        <p:txBody>
          <a:bodyPr/>
          <a:lstStyle/>
          <a:p>
            <a:pPr>
              <a:defRPr/>
            </a:pPr>
            <a:r>
              <a:rPr lang="en-US" altLang="en-US" sz="2800" dirty="0">
                <a:effectLst>
                  <a:outerShdw blurRad="38100" dist="38100" dir="2700000" algn="tl">
                    <a:srgbClr val="C0C0C0"/>
                  </a:outerShdw>
                </a:effectLst>
                <a:ea typeface="ＭＳ Ｐゴシック" pitchFamily="34" charset="-128"/>
              </a:rPr>
              <a:t>Goals of Normalization</a:t>
            </a:r>
          </a:p>
        </p:txBody>
      </p:sp>
      <p:sp>
        <p:nvSpPr>
          <p:cNvPr id="36867" name="Rectangle 3"/>
          <p:cNvSpPr>
            <a:spLocks noGrp="1" noChangeArrowheads="1"/>
          </p:cNvSpPr>
          <p:nvPr>
            <p:ph idx="1"/>
          </p:nvPr>
        </p:nvSpPr>
        <p:spPr>
          <a:xfrm>
            <a:off x="772359" y="1093789"/>
            <a:ext cx="7401846" cy="2844227"/>
          </a:xfrm>
        </p:spPr>
        <p:txBody>
          <a:bodyPr/>
          <a:lstStyle/>
          <a:p>
            <a:pPr algn="r" rtl="1"/>
            <a:r>
              <a:rPr lang="fa-IR" sz="1800" dirty="0"/>
              <a:t>یک رابطه </a:t>
            </a:r>
            <a:r>
              <a:rPr lang="en-US" sz="1800" dirty="0"/>
              <a:t>R </a:t>
            </a:r>
            <a:r>
              <a:rPr lang="fa-IR" sz="1800" dirty="0"/>
              <a:t>با </a:t>
            </a:r>
            <a:r>
              <a:rPr lang="fa-IR" sz="1800" dirty="0" err="1"/>
              <a:t>مجموعه‌ای</a:t>
            </a:r>
            <a:r>
              <a:rPr lang="fa-IR" sz="1800" dirty="0"/>
              <a:t> از </a:t>
            </a:r>
            <a:r>
              <a:rPr lang="fa-IR" sz="1800" dirty="0" err="1"/>
              <a:t>وابستگی‌های</a:t>
            </a:r>
            <a:r>
              <a:rPr lang="fa-IR" sz="1800" dirty="0"/>
              <a:t> </a:t>
            </a:r>
            <a:r>
              <a:rPr lang="fa-IR" sz="1800" dirty="0" err="1"/>
              <a:t>تابعی</a:t>
            </a:r>
            <a:r>
              <a:rPr lang="fa-IR" sz="1800" dirty="0"/>
              <a:t> </a:t>
            </a:r>
            <a:r>
              <a:rPr lang="en-US" sz="1800" dirty="0"/>
              <a:t>F </a:t>
            </a:r>
            <a:r>
              <a:rPr lang="fa-IR" sz="1800" dirty="0"/>
              <a:t>در نظر بگیرید.</a:t>
            </a:r>
          </a:p>
          <a:p>
            <a:pPr algn="r" rtl="1"/>
            <a:r>
              <a:rPr lang="fa-IR" sz="1800" dirty="0"/>
              <a:t>تصمیم بگیر که آیا طرح رابطه </a:t>
            </a:r>
            <a:r>
              <a:rPr lang="en-US" sz="1800" dirty="0"/>
              <a:t>R </a:t>
            </a:r>
            <a:r>
              <a:rPr lang="fa-IR" sz="1800" dirty="0"/>
              <a:t>در «وضعیت خوب» قرار دارد یا نه.</a:t>
            </a:r>
          </a:p>
          <a:p>
            <a:pPr algn="r" rtl="1"/>
            <a:r>
              <a:rPr lang="fa-IR" sz="1800" dirty="0"/>
              <a:t>اگر یک طرح رابطه </a:t>
            </a:r>
            <a:r>
              <a:rPr lang="en-US" sz="1800" dirty="0"/>
              <a:t>R </a:t>
            </a:r>
            <a:r>
              <a:rPr lang="fa-IR" sz="1800" dirty="0"/>
              <a:t>در «وضعیت خوب» نباشد، باید آن را به </a:t>
            </a:r>
            <a:r>
              <a:rPr lang="fa-IR" sz="1800" dirty="0" err="1"/>
              <a:t>مجموعه‌ای</a:t>
            </a:r>
            <a:r>
              <a:rPr lang="fa-IR" sz="1800" dirty="0"/>
              <a:t> از </a:t>
            </a:r>
            <a:r>
              <a:rPr lang="fa-IR" sz="1800" dirty="0" err="1"/>
              <a:t>طرح‌های</a:t>
            </a:r>
            <a:r>
              <a:rPr lang="fa-IR" sz="1800" dirty="0"/>
              <a:t> </a:t>
            </a:r>
            <a:r>
              <a:rPr lang="fa-IR" sz="1800" dirty="0" err="1"/>
              <a:t>رابطه‌ای</a:t>
            </a:r>
            <a:r>
              <a:rPr lang="fa-IR" sz="1800" dirty="0"/>
              <a:t> {</a:t>
            </a:r>
            <a:r>
              <a:rPr lang="en-US" sz="1800" dirty="0"/>
              <a:t>R1 , R2 , … , Rn} </a:t>
            </a:r>
            <a:r>
              <a:rPr lang="fa-IR" sz="1800" dirty="0"/>
              <a:t>تجزیه کنیم </a:t>
            </a:r>
            <a:r>
              <a:rPr lang="fa-IR" sz="1800" dirty="0" err="1"/>
              <a:t>به‌طوری‌که</a:t>
            </a:r>
            <a:r>
              <a:rPr lang="fa-IR" sz="1800" dirty="0"/>
              <a:t>:</a:t>
            </a:r>
          </a:p>
          <a:p>
            <a:pPr algn="r" rtl="1"/>
            <a:r>
              <a:rPr lang="fa-IR" sz="1800" dirty="0"/>
              <a:t>هر طرح </a:t>
            </a:r>
            <a:r>
              <a:rPr lang="fa-IR" sz="1800" dirty="0" err="1"/>
              <a:t>رابطه‌ای</a:t>
            </a:r>
            <a:r>
              <a:rPr lang="fa-IR" sz="1800" dirty="0"/>
              <a:t> در وضعیت خوب باشد.</a:t>
            </a:r>
          </a:p>
          <a:p>
            <a:pPr algn="r" rtl="1"/>
            <a:r>
              <a:rPr lang="fa-IR" sz="1800" dirty="0"/>
              <a:t>تجزیه، یک تجزیه بدون از </a:t>
            </a:r>
            <a:r>
              <a:rPr lang="fa-IR" sz="1800" dirty="0" err="1"/>
              <a:t>دست‌رفتن</a:t>
            </a:r>
            <a:r>
              <a:rPr lang="fa-IR" sz="1800" dirty="0"/>
              <a:t> اطلاعات </a:t>
            </a:r>
            <a:r>
              <a:rPr lang="en-US" sz="1800" dirty="0"/>
              <a:t>(lossless) </a:t>
            </a:r>
            <a:r>
              <a:rPr lang="fa-IR" sz="1800" dirty="0"/>
              <a:t>باشد.</a:t>
            </a:r>
          </a:p>
          <a:p>
            <a:pPr algn="r" rtl="1"/>
            <a:r>
              <a:rPr lang="fa-IR" sz="1800" dirty="0" err="1"/>
              <a:t>ترجیحاً</a:t>
            </a:r>
            <a:r>
              <a:rPr lang="fa-IR" sz="1800" dirty="0"/>
              <a:t> تجزیه باید </a:t>
            </a:r>
            <a:r>
              <a:rPr lang="fa-IR" sz="1800" dirty="0" err="1"/>
              <a:t>وابستگی‌ها</a:t>
            </a:r>
            <a:r>
              <a:rPr lang="fa-IR" sz="1800" dirty="0"/>
              <a:t> را نیز حفظ کند.</a:t>
            </a:r>
          </a:p>
        </p:txBody>
      </p:sp>
    </p:spTree>
    <p:extLst>
      <p:ext uri="{BB962C8B-B14F-4D97-AF65-F5344CB8AC3E}">
        <p14:creationId xmlns:p14="http://schemas.microsoft.com/office/powerpoint/2010/main" val="858938011"/>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91202" name="Rectangle 2"/>
          <p:cNvSpPr>
            <a:spLocks noGrp="1" noChangeArrowheads="1"/>
          </p:cNvSpPr>
          <p:nvPr>
            <p:ph type="title"/>
          </p:nvPr>
        </p:nvSpPr>
        <p:spPr>
          <a:xfrm>
            <a:off x="1422400" y="125766"/>
            <a:ext cx="7124700" cy="635000"/>
          </a:xfrm>
        </p:spPr>
        <p:txBody>
          <a:bodyPr/>
          <a:lstStyle/>
          <a:p>
            <a:pPr>
              <a:defRPr/>
            </a:pPr>
            <a:r>
              <a:rPr lang="en-US" altLang="en-US" sz="2800" dirty="0">
                <a:effectLst>
                  <a:outerShdw blurRad="38100" dist="38100" dir="2700000" algn="tl">
                    <a:srgbClr val="C0C0C0"/>
                  </a:outerShdw>
                </a:effectLst>
                <a:ea typeface="ＭＳ Ｐゴシック" pitchFamily="34" charset="-128"/>
              </a:rPr>
              <a:t>How good is BCNF?</a:t>
            </a:r>
          </a:p>
        </p:txBody>
      </p:sp>
      <p:sp>
        <p:nvSpPr>
          <p:cNvPr id="37891" name="Rectangle 3"/>
          <p:cNvSpPr>
            <a:spLocks noGrp="1" noChangeArrowheads="1"/>
          </p:cNvSpPr>
          <p:nvPr>
            <p:ph idx="1"/>
          </p:nvPr>
        </p:nvSpPr>
        <p:spPr>
          <a:xfrm>
            <a:off x="772357" y="1093789"/>
            <a:ext cx="7469436" cy="2454084"/>
          </a:xfrm>
        </p:spPr>
        <p:txBody>
          <a:bodyPr/>
          <a:lstStyle/>
          <a:p>
            <a:pPr algn="r" rtl="1">
              <a:tabLst>
                <a:tab pos="2976563" algn="ctr"/>
              </a:tabLst>
            </a:pPr>
            <a:r>
              <a:rPr lang="fa-IR" sz="1800" dirty="0"/>
              <a:t>برخی از </a:t>
            </a:r>
            <a:r>
              <a:rPr lang="fa-IR" sz="1800" dirty="0" err="1"/>
              <a:t>طرح‌های</a:t>
            </a:r>
            <a:r>
              <a:rPr lang="fa-IR" sz="1800" dirty="0"/>
              <a:t> </a:t>
            </a:r>
            <a:r>
              <a:rPr lang="fa-IR" sz="1800" dirty="0" err="1"/>
              <a:t>پایگاه‌داده</a:t>
            </a:r>
            <a:r>
              <a:rPr lang="fa-IR" sz="1800" dirty="0"/>
              <a:t> که در </a:t>
            </a:r>
            <a:r>
              <a:rPr lang="en-US" sz="1800" dirty="0"/>
              <a:t>BCNF </a:t>
            </a:r>
            <a:r>
              <a:rPr lang="fa-IR" sz="1800" dirty="0"/>
              <a:t>قرار دارند، ممکن است </a:t>
            </a:r>
            <a:r>
              <a:rPr lang="fa-IR" sz="1800" dirty="0" err="1"/>
              <a:t>به‌نظر</a:t>
            </a:r>
            <a:r>
              <a:rPr lang="fa-IR" sz="1800" dirty="0"/>
              <a:t> نرسد که </a:t>
            </a:r>
            <a:r>
              <a:rPr lang="fa-IR" sz="1800" dirty="0" err="1"/>
              <a:t>به‌طور</a:t>
            </a:r>
            <a:r>
              <a:rPr lang="fa-IR" sz="1800" dirty="0"/>
              <a:t> کافی نرمال </a:t>
            </a:r>
            <a:r>
              <a:rPr lang="fa-IR" sz="1800" dirty="0" err="1"/>
              <a:t>شده‌اند</a:t>
            </a:r>
            <a:r>
              <a:rPr lang="fa-IR" sz="1800" dirty="0"/>
              <a:t>.</a:t>
            </a:r>
            <a:br>
              <a:rPr lang="fa-IR" sz="1800" dirty="0"/>
            </a:br>
            <a:r>
              <a:rPr lang="fa-IR" sz="1800" dirty="0"/>
              <a:t>رابطه زیر را در نظر بگیرید:</a:t>
            </a:r>
            <a:br>
              <a:rPr lang="fa-IR" sz="1800" dirty="0"/>
            </a:br>
            <a:r>
              <a:rPr lang="en-US" sz="1800" dirty="0" err="1"/>
              <a:t>inst_info</a:t>
            </a:r>
            <a:r>
              <a:rPr lang="en-US" sz="1800" dirty="0"/>
              <a:t> (ID, </a:t>
            </a:r>
            <a:r>
              <a:rPr lang="en-US" sz="1800" dirty="0" err="1"/>
              <a:t>child_name</a:t>
            </a:r>
            <a:r>
              <a:rPr lang="en-US" sz="1800" dirty="0"/>
              <a:t>, phone)</a:t>
            </a:r>
            <a:br>
              <a:rPr lang="en-US" sz="1800" dirty="0"/>
            </a:br>
            <a:r>
              <a:rPr lang="fa-IR" sz="1800" dirty="0"/>
              <a:t>در این رابطه ممکن است یک استاد بیش از یک شماره تلفن داشته باشد و همچنین چندین فرزند داشته باشد.</a:t>
            </a:r>
            <a:br>
              <a:rPr lang="fa-IR" sz="1800" dirty="0"/>
            </a:br>
            <a:r>
              <a:rPr lang="fa-IR" sz="1800" dirty="0" err="1"/>
              <a:t>نمونه‌ای</a:t>
            </a:r>
            <a:r>
              <a:rPr lang="fa-IR" sz="1800" dirty="0"/>
              <a:t> از </a:t>
            </a:r>
            <a:r>
              <a:rPr lang="fa-IR" sz="1800" dirty="0" err="1"/>
              <a:t>داده‌ها</a:t>
            </a:r>
            <a:r>
              <a:rPr lang="fa-IR" sz="1800" dirty="0"/>
              <a:t> (</a:t>
            </a:r>
            <a:r>
              <a:rPr lang="en-US" sz="1800" dirty="0"/>
              <a:t>instance) </a:t>
            </a:r>
            <a:r>
              <a:rPr lang="fa-IR" sz="1800" dirty="0"/>
              <a:t>برای </a:t>
            </a:r>
            <a:r>
              <a:rPr lang="en-US" sz="1800" dirty="0" err="1"/>
              <a:t>inst_info</a:t>
            </a:r>
            <a:r>
              <a:rPr lang="en-US" sz="1800" dirty="0"/>
              <a:t>:</a:t>
            </a:r>
            <a:endParaRPr lang="en-US" altLang="en-US" sz="1700" dirty="0"/>
          </a:p>
          <a:p>
            <a:pPr algn="r" rtl="1">
              <a:buFont typeface="Monotype Sorts" pitchFamily="-84" charset="2"/>
              <a:buNone/>
              <a:tabLst>
                <a:tab pos="2976563" algn="ctr"/>
              </a:tabLst>
            </a:pPr>
            <a:endParaRPr lang="en-US" altLang="en-US" sz="1700" dirty="0"/>
          </a:p>
        </p:txBody>
      </p:sp>
      <p:pic>
        <p:nvPicPr>
          <p:cNvPr id="37892" name="Picture 11" descr="C:\Users\as668\Desktop\Judi-Done\7_100.jpg"/>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657855" y="3648464"/>
            <a:ext cx="3536569" cy="15234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589535271"/>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2"/>
          <p:cNvSpPr>
            <a:spLocks noGrp="1" noChangeArrowheads="1"/>
          </p:cNvSpPr>
          <p:nvPr>
            <p:ph type="title"/>
          </p:nvPr>
        </p:nvSpPr>
        <p:spPr/>
        <p:txBody>
          <a:bodyPr/>
          <a:lstStyle/>
          <a:p>
            <a:pPr>
              <a:defRPr/>
            </a:pPr>
            <a:r>
              <a:rPr lang="en-US" altLang="en-US" sz="2800" dirty="0">
                <a:effectLst>
                  <a:outerShdw blurRad="38100" dist="38100" dir="2700000" algn="tl">
                    <a:srgbClr val="C0C0C0"/>
                  </a:outerShdw>
                </a:effectLst>
                <a:ea typeface="ＭＳ Ｐゴシック" pitchFamily="34" charset="-128"/>
              </a:rPr>
              <a:t>How good is BCNF? (Cont.)</a:t>
            </a:r>
          </a:p>
        </p:txBody>
      </p:sp>
      <p:sp>
        <p:nvSpPr>
          <p:cNvPr id="38914" name="Rectangle 2"/>
          <p:cNvSpPr>
            <a:spLocks noGrp="1" noChangeArrowheads="1"/>
          </p:cNvSpPr>
          <p:nvPr>
            <p:ph idx="1"/>
          </p:nvPr>
        </p:nvSpPr>
        <p:spPr>
          <a:xfrm>
            <a:off x="768350" y="1133475"/>
            <a:ext cx="7594415" cy="2314575"/>
          </a:xfrm>
        </p:spPr>
        <p:txBody>
          <a:bodyPr/>
          <a:lstStyle/>
          <a:p>
            <a:pPr algn="r" rtl="1">
              <a:tabLst>
                <a:tab pos="1993900" algn="l"/>
              </a:tabLst>
            </a:pPr>
            <a:r>
              <a:rPr lang="fa-IR" sz="1800" dirty="0"/>
              <a:t>هیچ وابستگی </a:t>
            </a:r>
            <a:r>
              <a:rPr lang="fa-IR" sz="1800" dirty="0" err="1"/>
              <a:t>تابعی</a:t>
            </a:r>
            <a:r>
              <a:rPr lang="fa-IR" sz="1800" dirty="0"/>
              <a:t> </a:t>
            </a:r>
            <a:r>
              <a:rPr lang="fa-IR" sz="1800" dirty="0" err="1"/>
              <a:t>غیر‌بدیهی‌ای</a:t>
            </a:r>
            <a:r>
              <a:rPr lang="fa-IR" sz="1800" dirty="0"/>
              <a:t> وجود ندارد و بنابراین این رابطه در </a:t>
            </a:r>
            <a:r>
              <a:rPr lang="en-US" sz="1800" dirty="0"/>
              <a:t>BCNF </a:t>
            </a:r>
            <a:r>
              <a:rPr lang="fa-IR" sz="1800" dirty="0"/>
              <a:t>قرار دارد.</a:t>
            </a:r>
            <a:endParaRPr kumimoji="0" lang="fa-IR" sz="1700" dirty="0"/>
          </a:p>
          <a:p>
            <a:pPr algn="r" rtl="1">
              <a:tabLst>
                <a:tab pos="1993900" algn="l"/>
              </a:tabLst>
            </a:pPr>
            <a:r>
              <a:rPr lang="fa-IR" sz="1800" dirty="0" err="1"/>
              <a:t>ناهنجاری‌های</a:t>
            </a:r>
            <a:r>
              <a:rPr lang="fa-IR" sz="1800" dirty="0"/>
              <a:t> درج — یعنی، اگر شماره تلفن </a:t>
            </a:r>
            <a:r>
              <a:rPr lang="fa-IR" dirty="0"/>
              <a:t>981-992-3443</a:t>
            </a:r>
            <a:r>
              <a:rPr lang="fa-IR" sz="1800" dirty="0"/>
              <a:t> را به </a:t>
            </a:r>
            <a:r>
              <a:rPr lang="fa-IR" sz="1800" dirty="0" err="1"/>
              <a:t>شناسه</a:t>
            </a:r>
            <a:r>
              <a:rPr lang="fa-IR" sz="1800" dirty="0"/>
              <a:t> </a:t>
            </a:r>
            <a:r>
              <a:rPr lang="fa-IR" dirty="0"/>
              <a:t>99999</a:t>
            </a:r>
            <a:r>
              <a:rPr lang="fa-IR" sz="1800" dirty="0"/>
              <a:t> اضافه کنیم، مجبوریم دو رکورد اضافه کنیم:</a:t>
            </a:r>
            <a:endParaRPr kumimoji="0" lang="en-US" altLang="en-US" sz="1700" dirty="0"/>
          </a:p>
          <a:p>
            <a:pPr algn="r" rtl="1">
              <a:buFont typeface="Monotype Sorts" pitchFamily="-84" charset="2"/>
              <a:buNone/>
              <a:tabLst>
                <a:tab pos="1993900" algn="l"/>
              </a:tabLst>
            </a:pPr>
            <a:r>
              <a:rPr kumimoji="0" lang="en-US" altLang="en-US" sz="1700" dirty="0"/>
              <a:t>		(99999, David,   981-992-3443)</a:t>
            </a:r>
            <a:br>
              <a:rPr kumimoji="0" lang="en-US" altLang="en-US" sz="1700" dirty="0"/>
            </a:br>
            <a:r>
              <a:rPr kumimoji="0" lang="en-US" altLang="en-US" sz="1700" dirty="0"/>
              <a:t>	(99999, William, 981-992-3443)</a:t>
            </a:r>
            <a:br>
              <a:rPr kumimoji="0" lang="en-US" altLang="en-US" sz="1700" dirty="0"/>
            </a:br>
            <a:endParaRPr kumimoji="0" lang="en-US" altLang="en-US" sz="1700" dirty="0"/>
          </a:p>
        </p:txBody>
      </p:sp>
    </p:spTree>
    <p:extLst>
      <p:ext uri="{BB962C8B-B14F-4D97-AF65-F5344CB8AC3E}">
        <p14:creationId xmlns:p14="http://schemas.microsoft.com/office/powerpoint/2010/main" val="223658465"/>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95310" name="Rectangle 14"/>
          <p:cNvSpPr>
            <a:spLocks noGrp="1" noChangeArrowheads="1"/>
          </p:cNvSpPr>
          <p:nvPr>
            <p:ph type="title"/>
          </p:nvPr>
        </p:nvSpPr>
        <p:spPr>
          <a:xfrm>
            <a:off x="958788" y="119063"/>
            <a:ext cx="7804212" cy="576262"/>
          </a:xfrm>
        </p:spPr>
        <p:txBody>
          <a:bodyPr/>
          <a:lstStyle/>
          <a:p>
            <a:pPr>
              <a:defRPr/>
            </a:pPr>
            <a:r>
              <a:rPr lang="en-US" altLang="en-US" sz="2800" dirty="0">
                <a:effectLst>
                  <a:outerShdw blurRad="38100" dist="38100" dir="2700000" algn="tl">
                    <a:srgbClr val="C0C0C0"/>
                  </a:outerShdw>
                </a:effectLst>
                <a:ea typeface="ＭＳ Ｐゴシック" pitchFamily="34" charset="-128"/>
              </a:rPr>
              <a:t>Higher Normal Forms </a:t>
            </a:r>
          </a:p>
        </p:txBody>
      </p:sp>
      <p:sp>
        <p:nvSpPr>
          <p:cNvPr id="39938" name="Rectangle 2"/>
          <p:cNvSpPr>
            <a:spLocks noGrp="1" noChangeArrowheads="1"/>
          </p:cNvSpPr>
          <p:nvPr>
            <p:ph idx="1"/>
          </p:nvPr>
        </p:nvSpPr>
        <p:spPr>
          <a:xfrm>
            <a:off x="772359" y="1020763"/>
            <a:ext cx="7252558" cy="4646612"/>
          </a:xfrm>
        </p:spPr>
        <p:txBody>
          <a:bodyPr/>
          <a:lstStyle/>
          <a:p>
            <a:pPr algn="r" rtl="1"/>
            <a:r>
              <a:rPr lang="fa-IR" sz="1800" dirty="0"/>
              <a:t>بهتر است </a:t>
            </a:r>
            <a:r>
              <a:rPr lang="fa-IR" sz="1800" dirty="0" err="1"/>
              <a:t>رابطهٔ</a:t>
            </a:r>
            <a:r>
              <a:rPr lang="fa-IR" sz="1800" dirty="0"/>
              <a:t> </a:t>
            </a:r>
            <a:r>
              <a:rPr lang="en-US" sz="1800" b="1" dirty="0" err="1"/>
              <a:t>inst_info</a:t>
            </a:r>
            <a:r>
              <a:rPr lang="en-US" sz="1800" dirty="0"/>
              <a:t> </a:t>
            </a:r>
            <a:r>
              <a:rPr lang="fa-IR" sz="1800" dirty="0"/>
              <a:t>را به شکل زیر تجزیه کنیم:</a:t>
            </a:r>
            <a:endParaRPr lang="en-US" altLang="en-US" sz="1700" dirty="0"/>
          </a:p>
          <a:p>
            <a:pPr lvl="1" algn="r" rtl="1"/>
            <a:r>
              <a:rPr lang="en-US" altLang="en-US" sz="1700" i="1" dirty="0" err="1"/>
              <a:t>inst_child</a:t>
            </a:r>
            <a:r>
              <a:rPr lang="en-US" altLang="en-US" sz="1700" dirty="0"/>
              <a:t>:</a:t>
            </a:r>
          </a:p>
          <a:p>
            <a:pPr lvl="1" algn="r" rtl="1"/>
            <a:endParaRPr lang="en-US" altLang="en-US" sz="1700" dirty="0"/>
          </a:p>
          <a:p>
            <a:pPr lvl="1" algn="r" rtl="1">
              <a:buFont typeface="Monotype Sorts" pitchFamily="-84" charset="2"/>
              <a:buNone/>
            </a:pPr>
            <a:endParaRPr lang="en-US" altLang="en-US" sz="1700" dirty="0"/>
          </a:p>
          <a:p>
            <a:pPr lvl="1" algn="r" rtl="1">
              <a:buFont typeface="Monotype Sorts" pitchFamily="-84" charset="2"/>
              <a:buNone/>
            </a:pPr>
            <a:endParaRPr lang="en-US" altLang="en-US" sz="1700" dirty="0"/>
          </a:p>
          <a:p>
            <a:pPr lvl="1" algn="r" rtl="1"/>
            <a:r>
              <a:rPr lang="en-US" altLang="en-US" sz="1700" i="1" dirty="0" err="1"/>
              <a:t>inst_phone</a:t>
            </a:r>
            <a:r>
              <a:rPr lang="en-US" altLang="en-US" sz="1700" i="1" dirty="0"/>
              <a:t>:</a:t>
            </a:r>
          </a:p>
          <a:p>
            <a:pPr algn="r" rtl="1"/>
            <a:endParaRPr lang="en-US" altLang="en-US" sz="1700" dirty="0"/>
          </a:p>
          <a:p>
            <a:pPr algn="r" rtl="1"/>
            <a:endParaRPr lang="en-US" altLang="en-US" sz="1700" dirty="0"/>
          </a:p>
          <a:p>
            <a:pPr marL="0" indent="0" algn="r" rtl="1">
              <a:buNone/>
            </a:pPr>
            <a:endParaRPr lang="en-US" altLang="en-US" sz="1700" dirty="0"/>
          </a:p>
          <a:p>
            <a:pPr algn="r" rtl="1"/>
            <a:r>
              <a:rPr lang="fa-IR" sz="1800" dirty="0"/>
              <a:t>این موضوع نشان </a:t>
            </a:r>
            <a:r>
              <a:rPr lang="fa-IR" sz="1800" dirty="0" err="1"/>
              <a:t>می‌دهد</a:t>
            </a:r>
            <a:r>
              <a:rPr lang="fa-IR" sz="1800" dirty="0"/>
              <a:t> که به </a:t>
            </a:r>
            <a:r>
              <a:rPr lang="fa-IR" sz="1800" dirty="0" err="1"/>
              <a:t>نرمال‌فرم‌های</a:t>
            </a:r>
            <a:r>
              <a:rPr lang="fa-IR" sz="1800" dirty="0"/>
              <a:t> بالاتری مثل </a:t>
            </a:r>
            <a:r>
              <a:rPr lang="fa-IR" sz="1800" dirty="0" err="1"/>
              <a:t>نرمال‌فرم</a:t>
            </a:r>
            <a:r>
              <a:rPr lang="fa-IR" sz="1800" dirty="0"/>
              <a:t> چهارم</a:t>
            </a:r>
            <a:r>
              <a:rPr lang="en-US" sz="1800" dirty="0"/>
              <a:t>4NF </a:t>
            </a:r>
            <a:r>
              <a:rPr lang="fa-IR" sz="1800" dirty="0"/>
              <a:t>نیاز داریم، که در ادامه با آن آشنا خواهیم شد.</a:t>
            </a:r>
            <a:endParaRPr lang="en-US" altLang="en-US" sz="1700" dirty="0"/>
          </a:p>
        </p:txBody>
      </p:sp>
      <p:pic>
        <p:nvPicPr>
          <p:cNvPr id="39940" name="Picture 2"/>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bwMode="auto">
          <a:xfrm>
            <a:off x="2182368" y="1835421"/>
            <a:ext cx="1975676" cy="8281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9941" name="Picture 3"/>
          <p:cNvPicPr>
            <a:picLocks noChangeAspect="1"/>
          </p:cNvPicPr>
          <p:nvPr/>
        </p:nvPicPr>
        <p:blipFill>
          <a:blip r:embed="rId4">
            <a:extLst>
              <a:ext uri="{28A0092B-C50C-407E-A947-70E740481C1C}">
                <a14:useLocalDpi xmlns:a14="http://schemas.microsoft.com/office/drawing/2010/main" val="0"/>
              </a:ext>
            </a:extLst>
          </a:blip>
          <a:srcRect/>
          <a:stretch>
            <a:fillRect/>
          </a:stretch>
        </p:blipFill>
        <p:spPr bwMode="auto">
          <a:xfrm>
            <a:off x="2206752" y="3299428"/>
            <a:ext cx="1939354" cy="78252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2657275202"/>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D32F65-38F2-FEFE-2FDD-F85B2E1D17B7}"/>
            </a:ext>
          </a:extLst>
        </p:cNvPr>
        <p:cNvGrpSpPr/>
        <p:nvPr/>
      </p:nvGrpSpPr>
      <p:grpSpPr>
        <a:xfrm>
          <a:off x="0" y="0"/>
          <a:ext cx="0" cy="0"/>
          <a:chOff x="0" y="0"/>
          <a:chExt cx="0" cy="0"/>
        </a:xfrm>
      </p:grpSpPr>
      <p:sp>
        <p:nvSpPr>
          <p:cNvPr id="6" name="Title 5">
            <a:extLst>
              <a:ext uri="{FF2B5EF4-FFF2-40B4-BE49-F238E27FC236}">
                <a16:creationId xmlns:a16="http://schemas.microsoft.com/office/drawing/2014/main" id="{7AE6B84D-483B-42FE-A663-5A24A3D84638}"/>
              </a:ext>
            </a:extLst>
          </p:cNvPr>
          <p:cNvSpPr>
            <a:spLocks noGrp="1"/>
          </p:cNvSpPr>
          <p:nvPr>
            <p:ph type="title"/>
          </p:nvPr>
        </p:nvSpPr>
        <p:spPr/>
        <p:txBody>
          <a:bodyPr/>
          <a:lstStyle/>
          <a:p>
            <a:r>
              <a:rPr lang="fa-IR" sz="2800" b="1" dirty="0">
                <a:cs typeface="B Nazanin" panose="00000400000000000000" pitchFamily="2" charset="-78"/>
              </a:rPr>
              <a:t>معايب نرمال سازی</a:t>
            </a:r>
            <a:endParaRPr lang="en-US" dirty="0"/>
          </a:p>
        </p:txBody>
      </p:sp>
      <p:sp>
        <p:nvSpPr>
          <p:cNvPr id="3" name="Content Placeholder 2">
            <a:extLst>
              <a:ext uri="{FF2B5EF4-FFF2-40B4-BE49-F238E27FC236}">
                <a16:creationId xmlns:a16="http://schemas.microsoft.com/office/drawing/2014/main" id="{76611E7B-6A14-1A23-B1C1-FABB52DB54E7}"/>
              </a:ext>
            </a:extLst>
          </p:cNvPr>
          <p:cNvSpPr>
            <a:spLocks noGrp="1"/>
          </p:cNvSpPr>
          <p:nvPr>
            <p:ph idx="1"/>
          </p:nvPr>
        </p:nvSpPr>
        <p:spPr/>
        <p:txBody>
          <a:bodyPr>
            <a:normAutofit/>
          </a:bodyPr>
          <a:lstStyle/>
          <a:p>
            <a:pPr algn="r" rtl="1"/>
            <a:r>
              <a:rPr lang="fa-IR" sz="3200" dirty="0">
                <a:cs typeface="B Nazanin" panose="00000400000000000000" pitchFamily="2" charset="-78"/>
              </a:rPr>
              <a:t>نرمال سازی تکنيک مهمی برای طراحی پايگاه داده های کارآمد است اما در ضمنی که افزونگی داده را کاهش می دهد زیرا:</a:t>
            </a:r>
          </a:p>
          <a:p>
            <a:pPr lvl="1" algn="r" rtl="1"/>
            <a:r>
              <a:rPr lang="fa-IR" sz="2800" dirty="0">
                <a:cs typeface="B Nazanin" panose="00000400000000000000" pitchFamily="2" charset="-78"/>
              </a:rPr>
              <a:t> سبب </a:t>
            </a:r>
            <a:r>
              <a:rPr lang="fa-IR" sz="2800" b="1" dirty="0">
                <a:cs typeface="B Nazanin" panose="00000400000000000000" pitchFamily="2" charset="-78"/>
              </a:rPr>
              <a:t>کاهش سرعت اجرای </a:t>
            </a:r>
            <a:r>
              <a:rPr lang="fa-IR" sz="2800" dirty="0">
                <a:cs typeface="B Nazanin" panose="00000400000000000000" pitchFamily="2" charset="-78"/>
              </a:rPr>
              <a:t>سيستم می شود.</a:t>
            </a:r>
          </a:p>
          <a:p>
            <a:pPr lvl="1" algn="r" rtl="1"/>
            <a:r>
              <a:rPr lang="fa-IR" sz="2800" dirty="0">
                <a:cs typeface="B Nazanin" panose="00000400000000000000" pitchFamily="2" charset="-78"/>
              </a:rPr>
              <a:t> درجات بالای نرمال معمولا </a:t>
            </a:r>
            <a:r>
              <a:rPr lang="fa-IR" sz="2800" b="1" dirty="0">
                <a:cs typeface="B Nazanin" panose="00000400000000000000" pitchFamily="2" charset="-78"/>
              </a:rPr>
              <a:t>جدوال بيشتر </a:t>
            </a:r>
            <a:r>
              <a:rPr lang="fa-IR" sz="2800" dirty="0">
                <a:cs typeface="B Nazanin" panose="00000400000000000000" pitchFamily="2" charset="-78"/>
              </a:rPr>
              <a:t>را می </a:t>
            </a:r>
            <a:r>
              <a:rPr lang="fa-IR" sz="2800" dirty="0" err="1">
                <a:cs typeface="B Nazanin" panose="00000400000000000000" pitchFamily="2" charset="-78"/>
              </a:rPr>
              <a:t>طلبند</a:t>
            </a:r>
            <a:r>
              <a:rPr lang="fa-IR" sz="2800" dirty="0">
                <a:cs typeface="B Nazanin" panose="00000400000000000000" pitchFamily="2" charset="-78"/>
              </a:rPr>
              <a:t>.</a:t>
            </a:r>
          </a:p>
          <a:p>
            <a:pPr lvl="1" algn="r" rtl="1"/>
            <a:r>
              <a:rPr lang="fa-IR" sz="2800" dirty="0">
                <a:cs typeface="B Nazanin" panose="00000400000000000000" pitchFamily="2" charset="-78"/>
              </a:rPr>
              <a:t> برای پاسخ به پرس و جوها گاهی بايد </a:t>
            </a:r>
            <a:r>
              <a:rPr lang="fa-IR" sz="2800" b="1" dirty="0">
                <a:cs typeface="B Nazanin" panose="00000400000000000000" pitchFamily="2" charset="-78"/>
              </a:rPr>
              <a:t>کليه جداول تقسيم شده </a:t>
            </a:r>
            <a:r>
              <a:rPr lang="fa-IR" sz="2800" dirty="0">
                <a:cs typeface="B Nazanin" panose="00000400000000000000" pitchFamily="2" charset="-78"/>
              </a:rPr>
              <a:t>دوباره </a:t>
            </a:r>
            <a:r>
              <a:rPr lang="fa-IR" sz="2800" b="1" dirty="0">
                <a:cs typeface="B Nazanin" panose="00000400000000000000" pitchFamily="2" charset="-78"/>
              </a:rPr>
              <a:t>با هم الحاق شوند</a:t>
            </a:r>
          </a:p>
          <a:p>
            <a:pPr lvl="2" algn="r" rtl="1"/>
            <a:r>
              <a:rPr lang="fa-IR" sz="2800" dirty="0">
                <a:cs typeface="B Nazanin" panose="00000400000000000000" pitchFamily="2" charset="-78"/>
              </a:rPr>
              <a:t> در کاربردهائی که زمان پاسخ مهم است (نظير وب) مطلوب نيست.</a:t>
            </a:r>
          </a:p>
          <a:p>
            <a:pPr algn="r"/>
            <a:endParaRPr lang="en-US" sz="3200" dirty="0">
              <a:cs typeface="B Nazanin" panose="00000400000000000000" pitchFamily="2" charset="-78"/>
            </a:endParaRPr>
          </a:p>
        </p:txBody>
      </p:sp>
      <p:sp>
        <p:nvSpPr>
          <p:cNvPr id="5" name="Slide Number Placeholder 4">
            <a:extLst>
              <a:ext uri="{FF2B5EF4-FFF2-40B4-BE49-F238E27FC236}">
                <a16:creationId xmlns:a16="http://schemas.microsoft.com/office/drawing/2014/main" id="{3EE799E7-68C6-C73E-A739-B920ED2D0B5E}"/>
              </a:ext>
            </a:extLst>
          </p:cNvPr>
          <p:cNvSpPr>
            <a:spLocks noGrp="1"/>
          </p:cNvSpPr>
          <p:nvPr>
            <p:ph type="sldNum" sz="quarter" idx="4294967295"/>
          </p:nvPr>
        </p:nvSpPr>
        <p:spPr>
          <a:xfrm>
            <a:off x="7994650" y="6334125"/>
            <a:ext cx="1149350" cy="365125"/>
          </a:xfrm>
        </p:spPr>
        <p:txBody>
          <a:bodyPr/>
          <a:lstStyle/>
          <a:p>
            <a:fld id="{9B1BEC6B-D08C-4686-9D99-35ADA0E9E6CD}" type="slidenum">
              <a:rPr lang="en-US" smtClean="0"/>
              <a:t>76</a:t>
            </a:fld>
            <a:endParaRPr lang="en-US"/>
          </a:p>
        </p:txBody>
      </p:sp>
    </p:spTree>
    <p:extLst>
      <p:ext uri="{BB962C8B-B14F-4D97-AF65-F5344CB8AC3E}">
        <p14:creationId xmlns:p14="http://schemas.microsoft.com/office/powerpoint/2010/main" val="3043837712"/>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CAF647-A6DA-A232-C309-BD94A85C52AF}"/>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D54B16AF-38B1-07DD-F79A-7174DAFFE764}"/>
              </a:ext>
            </a:extLst>
          </p:cNvPr>
          <p:cNvSpPr>
            <a:spLocks noGrp="1"/>
          </p:cNvSpPr>
          <p:nvPr>
            <p:ph type="title"/>
          </p:nvPr>
        </p:nvSpPr>
        <p:spPr/>
        <p:txBody>
          <a:bodyPr/>
          <a:lstStyle/>
          <a:p>
            <a:r>
              <a:rPr lang="fa-IR" sz="2800" b="1" dirty="0">
                <a:cs typeface="B Nazanin" panose="00000400000000000000" pitchFamily="2" charset="-78"/>
              </a:rPr>
              <a:t>معايب نرمال سازی</a:t>
            </a:r>
            <a:endParaRPr lang="en-US" dirty="0"/>
          </a:p>
        </p:txBody>
      </p:sp>
      <p:sp>
        <p:nvSpPr>
          <p:cNvPr id="3" name="Content Placeholder 2">
            <a:extLst>
              <a:ext uri="{FF2B5EF4-FFF2-40B4-BE49-F238E27FC236}">
                <a16:creationId xmlns:a16="http://schemas.microsoft.com/office/drawing/2014/main" id="{A054BA70-E7A3-2FE4-0DE4-6E0618C7F40F}"/>
              </a:ext>
            </a:extLst>
          </p:cNvPr>
          <p:cNvSpPr>
            <a:spLocks noGrp="1"/>
          </p:cNvSpPr>
          <p:nvPr>
            <p:ph idx="1"/>
          </p:nvPr>
        </p:nvSpPr>
        <p:spPr>
          <a:xfrm>
            <a:off x="149225" y="872653"/>
            <a:ext cx="8845549" cy="5315893"/>
          </a:xfrm>
        </p:spPr>
        <p:txBody>
          <a:bodyPr>
            <a:normAutofit/>
          </a:bodyPr>
          <a:lstStyle/>
          <a:p>
            <a:pPr algn="r" rtl="1"/>
            <a:r>
              <a:rPr lang="fa-IR" sz="3200" dirty="0" err="1">
                <a:cs typeface="B Nazanin" panose="00000400000000000000" pitchFamily="2" charset="-78"/>
              </a:rPr>
              <a:t>بالاترين</a:t>
            </a:r>
            <a:r>
              <a:rPr lang="fa-IR" sz="3200" dirty="0">
                <a:cs typeface="B Nazanin" panose="00000400000000000000" pitchFamily="2" charset="-78"/>
              </a:rPr>
              <a:t> سطح نرمال سازی باید با توجه به عمليات کاربردی درنظر گرفته شود:</a:t>
            </a:r>
          </a:p>
          <a:p>
            <a:pPr lvl="1" algn="r" rtl="1"/>
            <a:r>
              <a:rPr lang="fa-IR" sz="2800" dirty="0">
                <a:cs typeface="B Nazanin" panose="00000400000000000000" pitchFamily="2" charset="-78"/>
              </a:rPr>
              <a:t> در پايگاه داده هايی که </a:t>
            </a:r>
            <a:r>
              <a:rPr lang="fa-IR" sz="2800" b="1" dirty="0">
                <a:cs typeface="B Nazanin" panose="00000400000000000000" pitchFamily="2" charset="-78"/>
              </a:rPr>
              <a:t>بيشتر خواندنی </a:t>
            </a:r>
            <a:r>
              <a:rPr lang="fa-IR" sz="2800" dirty="0">
                <a:cs typeface="B Nazanin" panose="00000400000000000000" pitchFamily="2" charset="-78"/>
              </a:rPr>
              <a:t>هستند و افزونگی داده در آنها مشکل </a:t>
            </a:r>
            <a:r>
              <a:rPr lang="fa-IR" sz="2800" b="1" dirty="0">
                <a:cs typeface="B Nazanin" panose="00000400000000000000" pitchFamily="2" charset="-78"/>
              </a:rPr>
              <a:t>حادی</a:t>
            </a:r>
            <a:r>
              <a:rPr lang="fa-IR" sz="2800" dirty="0">
                <a:cs typeface="B Nazanin" panose="00000400000000000000" pitchFamily="2" charset="-78"/>
              </a:rPr>
              <a:t> </a:t>
            </a:r>
            <a:r>
              <a:rPr lang="fa-IR" sz="2800" b="1" dirty="0">
                <a:cs typeface="B Nazanin" panose="00000400000000000000" pitchFamily="2" charset="-78"/>
              </a:rPr>
              <a:t>نيست</a:t>
            </a:r>
            <a:r>
              <a:rPr lang="fa-IR" sz="2800" dirty="0">
                <a:cs typeface="B Nazanin" panose="00000400000000000000" pitchFamily="2" charset="-78"/>
              </a:rPr>
              <a:t>، مانند داده های کاتالوگ يک سايت تجارت الکترونيکی، می توان سطح نرمالسازی را کاهش داد. به اين عمل </a:t>
            </a:r>
            <a:r>
              <a:rPr lang="en-US" sz="2800" b="1" dirty="0">
                <a:cs typeface="B Nazanin" panose="00000400000000000000" pitchFamily="2" charset="-78"/>
              </a:rPr>
              <a:t>denormalization</a:t>
            </a:r>
            <a:r>
              <a:rPr lang="en-US" sz="2800" dirty="0">
                <a:cs typeface="B Nazanin" panose="00000400000000000000" pitchFamily="2" charset="-78"/>
              </a:rPr>
              <a:t> </a:t>
            </a:r>
            <a:r>
              <a:rPr lang="fa-IR" sz="2800" dirty="0">
                <a:cs typeface="B Nazanin" panose="00000400000000000000" pitchFamily="2" charset="-78"/>
              </a:rPr>
              <a:t>می </a:t>
            </a:r>
            <a:r>
              <a:rPr lang="fa-IR" sz="2800" dirty="0" err="1">
                <a:cs typeface="B Nazanin" panose="00000400000000000000" pitchFamily="2" charset="-78"/>
              </a:rPr>
              <a:t>گويند</a:t>
            </a:r>
            <a:r>
              <a:rPr lang="fa-IR" sz="2800" dirty="0">
                <a:cs typeface="B Nazanin" panose="00000400000000000000" pitchFamily="2" charset="-78"/>
              </a:rPr>
              <a:t>.</a:t>
            </a:r>
          </a:p>
          <a:p>
            <a:pPr lvl="1" algn="r" rtl="1"/>
            <a:r>
              <a:rPr lang="fa-IR" sz="2800" dirty="0">
                <a:cs typeface="B Nazanin" panose="00000400000000000000" pitchFamily="2" charset="-78"/>
              </a:rPr>
              <a:t>در کاربردهائی که درگير </a:t>
            </a:r>
            <a:r>
              <a:rPr lang="fa-IR" sz="2800" b="1" dirty="0">
                <a:cs typeface="B Nazanin" panose="00000400000000000000" pitchFamily="2" charset="-78"/>
              </a:rPr>
              <a:t>داده های مهم </a:t>
            </a:r>
            <a:r>
              <a:rPr lang="fa-IR" sz="2800" dirty="0">
                <a:cs typeface="B Nazanin" panose="00000400000000000000" pitchFamily="2" charset="-78"/>
              </a:rPr>
              <a:t>مانند داده های مالی هستند که </a:t>
            </a:r>
            <a:r>
              <a:rPr lang="fa-IR" sz="2800" b="1" dirty="0">
                <a:cs typeface="B Nazanin" panose="00000400000000000000" pitchFamily="2" charset="-78"/>
              </a:rPr>
              <a:t>دائما</a:t>
            </a:r>
            <a:r>
              <a:rPr lang="fa-IR" sz="2800" dirty="0">
                <a:cs typeface="B Nazanin" panose="00000400000000000000" pitchFamily="2" charset="-78"/>
              </a:rPr>
              <a:t> در حال </a:t>
            </a:r>
            <a:r>
              <a:rPr lang="fa-IR" sz="2800" b="1" dirty="0">
                <a:cs typeface="B Nazanin" panose="00000400000000000000" pitchFamily="2" charset="-78"/>
              </a:rPr>
              <a:t>تغييرند</a:t>
            </a:r>
            <a:r>
              <a:rPr lang="fa-IR" sz="2800" dirty="0">
                <a:cs typeface="B Nazanin" panose="00000400000000000000" pitchFamily="2" charset="-78"/>
              </a:rPr>
              <a:t> و بايد سازگار باقی بمانند، احتمالا سعی می شود </a:t>
            </a:r>
            <a:r>
              <a:rPr lang="fa-IR" sz="2800" b="1" dirty="0">
                <a:cs typeface="B Nazanin" panose="00000400000000000000" pitchFamily="2" charset="-78"/>
              </a:rPr>
              <a:t>به سطوح بالاتر نرمال برسند حتی</a:t>
            </a:r>
            <a:r>
              <a:rPr lang="fa-IR" sz="2800" dirty="0">
                <a:cs typeface="B Nazanin" panose="00000400000000000000" pitchFamily="2" charset="-78"/>
              </a:rPr>
              <a:t> </a:t>
            </a:r>
            <a:r>
              <a:rPr lang="fa-IR" sz="2800" b="1" dirty="0">
                <a:cs typeface="B Nazanin" panose="00000400000000000000" pitchFamily="2" charset="-78"/>
              </a:rPr>
              <a:t>اگر سرعت پايگاه داده کم </a:t>
            </a:r>
            <a:r>
              <a:rPr lang="fa-IR" sz="2800" dirty="0">
                <a:cs typeface="B Nazanin" panose="00000400000000000000" pitchFamily="2" charset="-78"/>
              </a:rPr>
              <a:t>شود.</a:t>
            </a:r>
          </a:p>
          <a:p>
            <a:pPr algn="r"/>
            <a:endParaRPr lang="en-US" sz="3200" dirty="0">
              <a:cs typeface="B Nazanin" panose="00000400000000000000" pitchFamily="2" charset="-78"/>
            </a:endParaRPr>
          </a:p>
        </p:txBody>
      </p:sp>
      <p:sp>
        <p:nvSpPr>
          <p:cNvPr id="6" name="Slide Number Placeholder 5">
            <a:extLst>
              <a:ext uri="{FF2B5EF4-FFF2-40B4-BE49-F238E27FC236}">
                <a16:creationId xmlns:a16="http://schemas.microsoft.com/office/drawing/2014/main" id="{D597C497-0696-69D7-93FF-33DE47FB9446}"/>
              </a:ext>
            </a:extLst>
          </p:cNvPr>
          <p:cNvSpPr>
            <a:spLocks noGrp="1"/>
          </p:cNvSpPr>
          <p:nvPr>
            <p:ph type="sldNum" sz="quarter" idx="4294967295"/>
          </p:nvPr>
        </p:nvSpPr>
        <p:spPr>
          <a:xfrm>
            <a:off x="7994650" y="6334125"/>
            <a:ext cx="1149350" cy="365125"/>
          </a:xfrm>
        </p:spPr>
        <p:txBody>
          <a:bodyPr/>
          <a:lstStyle/>
          <a:p>
            <a:fld id="{9B1BEC6B-D08C-4686-9D99-35ADA0E9E6CD}" type="slidenum">
              <a:rPr lang="en-US" smtClean="0"/>
              <a:t>77</a:t>
            </a:fld>
            <a:endParaRPr lang="en-US"/>
          </a:p>
        </p:txBody>
      </p:sp>
    </p:spTree>
    <p:extLst>
      <p:ext uri="{BB962C8B-B14F-4D97-AF65-F5344CB8AC3E}">
        <p14:creationId xmlns:p14="http://schemas.microsoft.com/office/powerpoint/2010/main" val="2226740938"/>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5F50BD-E0FF-CD04-2CDB-1F5C163283F5}"/>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04B9DCB2-D89E-C33B-8949-8C4271E62C61}"/>
              </a:ext>
            </a:extLst>
          </p:cNvPr>
          <p:cNvSpPr>
            <a:spLocks noGrp="1"/>
          </p:cNvSpPr>
          <p:nvPr>
            <p:ph type="title"/>
          </p:nvPr>
        </p:nvSpPr>
        <p:spPr/>
        <p:txBody>
          <a:bodyPr/>
          <a:lstStyle/>
          <a:p>
            <a:r>
              <a:rPr lang="fa-IR" sz="2800" b="1" dirty="0">
                <a:cs typeface="B Nazanin" panose="00000400000000000000" pitchFamily="2" charset="-78"/>
              </a:rPr>
              <a:t>معايب نرمال سازی</a:t>
            </a:r>
            <a:endParaRPr lang="en-US" dirty="0"/>
          </a:p>
        </p:txBody>
      </p:sp>
      <p:sp>
        <p:nvSpPr>
          <p:cNvPr id="3" name="Content Placeholder 2">
            <a:extLst>
              <a:ext uri="{FF2B5EF4-FFF2-40B4-BE49-F238E27FC236}">
                <a16:creationId xmlns:a16="http://schemas.microsoft.com/office/drawing/2014/main" id="{8EEA3A2C-413E-E533-B56F-4CD726F78D25}"/>
              </a:ext>
            </a:extLst>
          </p:cNvPr>
          <p:cNvSpPr>
            <a:spLocks noGrp="1"/>
          </p:cNvSpPr>
          <p:nvPr>
            <p:ph idx="1"/>
          </p:nvPr>
        </p:nvSpPr>
        <p:spPr>
          <a:xfrm>
            <a:off x="320191" y="1295400"/>
            <a:ext cx="8555839" cy="5288905"/>
          </a:xfrm>
        </p:spPr>
        <p:txBody>
          <a:bodyPr>
            <a:normAutofit/>
          </a:bodyPr>
          <a:lstStyle/>
          <a:p>
            <a:pPr algn="r" rtl="1"/>
            <a:r>
              <a:rPr lang="fa-IR" sz="3200" dirty="0">
                <a:cs typeface="B Nazanin" panose="00000400000000000000" pitchFamily="2" charset="-78"/>
              </a:rPr>
              <a:t>گاهی با توجه به وضعيت ممکن است داده ها از چند پايگاه داده نرمال شده استخراج شوند و در يک انبار داده غير نرمال قرار گيرد. </a:t>
            </a:r>
          </a:p>
          <a:p>
            <a:pPr lvl="1" algn="r" rtl="1"/>
            <a:r>
              <a:rPr lang="fa-IR" sz="3000" dirty="0" err="1">
                <a:cs typeface="B Nazanin" panose="00000400000000000000" pitchFamily="2" charset="-78"/>
              </a:rPr>
              <a:t>اين</a:t>
            </a:r>
            <a:r>
              <a:rPr lang="fa-IR" sz="3000" dirty="0">
                <a:cs typeface="B Nazanin" panose="00000400000000000000" pitchFamily="2" charset="-78"/>
              </a:rPr>
              <a:t> روش برای مخزن داده </a:t>
            </a:r>
            <a:r>
              <a:rPr lang="en-US" sz="3000" b="1" dirty="0">
                <a:cs typeface="B Nazanin" panose="00000400000000000000" pitchFamily="2" charset="-78"/>
              </a:rPr>
              <a:t>Data warehouse </a:t>
            </a:r>
            <a:r>
              <a:rPr lang="fa-IR" sz="3000" dirty="0">
                <a:cs typeface="B Nazanin" panose="00000400000000000000" pitchFamily="2" charset="-78"/>
              </a:rPr>
              <a:t>استاندارد خوبی است.</a:t>
            </a:r>
          </a:p>
          <a:p>
            <a:pPr algn="r"/>
            <a:endParaRPr lang="en-US" sz="3200" dirty="0">
              <a:cs typeface="B Nazanin" panose="00000400000000000000" pitchFamily="2" charset="-78"/>
            </a:endParaRPr>
          </a:p>
        </p:txBody>
      </p:sp>
      <p:sp>
        <p:nvSpPr>
          <p:cNvPr id="8" name="Slide Number Placeholder 7">
            <a:extLst>
              <a:ext uri="{FF2B5EF4-FFF2-40B4-BE49-F238E27FC236}">
                <a16:creationId xmlns:a16="http://schemas.microsoft.com/office/drawing/2014/main" id="{DA1B48FD-C04A-504D-43A5-F7BA530AD6B5}"/>
              </a:ext>
            </a:extLst>
          </p:cNvPr>
          <p:cNvSpPr>
            <a:spLocks noGrp="1"/>
          </p:cNvSpPr>
          <p:nvPr>
            <p:ph type="sldNum" sz="quarter" idx="4294967295"/>
          </p:nvPr>
        </p:nvSpPr>
        <p:spPr>
          <a:xfrm>
            <a:off x="7994650" y="6334125"/>
            <a:ext cx="1149350" cy="365125"/>
          </a:xfrm>
        </p:spPr>
        <p:txBody>
          <a:bodyPr/>
          <a:lstStyle/>
          <a:p>
            <a:fld id="{9B1BEC6B-D08C-4686-9D99-35ADA0E9E6CD}" type="slidenum">
              <a:rPr lang="en-US" smtClean="0"/>
              <a:t>78</a:t>
            </a:fld>
            <a:endParaRPr lang="en-US"/>
          </a:p>
        </p:txBody>
      </p:sp>
    </p:spTree>
    <p:extLst>
      <p:ext uri="{BB962C8B-B14F-4D97-AF65-F5344CB8AC3E}">
        <p14:creationId xmlns:p14="http://schemas.microsoft.com/office/powerpoint/2010/main" val="3938407191"/>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0B1BE9-F25C-3D5E-AFB1-C605DEBC33C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3B4E320-1881-FBE2-6EC9-AFF3A5144695}"/>
              </a:ext>
            </a:extLst>
          </p:cNvPr>
          <p:cNvSpPr>
            <a:spLocks noGrp="1"/>
          </p:cNvSpPr>
          <p:nvPr>
            <p:ph type="title"/>
          </p:nvPr>
        </p:nvSpPr>
        <p:spPr/>
        <p:txBody>
          <a:bodyPr/>
          <a:lstStyle/>
          <a:p>
            <a:r>
              <a:rPr lang="fa-IR" dirty="0"/>
              <a:t>غیرنرمال سازی</a:t>
            </a:r>
            <a:endParaRPr lang="en-US" dirty="0"/>
          </a:p>
        </p:txBody>
      </p:sp>
      <p:sp>
        <p:nvSpPr>
          <p:cNvPr id="3" name="Content Placeholder 2">
            <a:extLst>
              <a:ext uri="{FF2B5EF4-FFF2-40B4-BE49-F238E27FC236}">
                <a16:creationId xmlns:a16="http://schemas.microsoft.com/office/drawing/2014/main" id="{EF77271E-8D9E-312F-677E-19E0EA25AA98}"/>
              </a:ext>
            </a:extLst>
          </p:cNvPr>
          <p:cNvSpPr>
            <a:spLocks noGrp="1"/>
          </p:cNvSpPr>
          <p:nvPr>
            <p:ph idx="1"/>
          </p:nvPr>
        </p:nvSpPr>
        <p:spPr/>
        <p:txBody>
          <a:bodyPr/>
          <a:lstStyle/>
          <a:p>
            <a:pPr marL="0" marR="0" algn="r" rtl="1">
              <a:lnSpc>
                <a:spcPct val="107000"/>
              </a:lnSpc>
              <a:spcBef>
                <a:spcPts val="0"/>
              </a:spcBef>
              <a:spcAft>
                <a:spcPts val="800"/>
              </a:spcAft>
            </a:pPr>
            <a:r>
              <a:rPr lang="ar-SA" sz="1800" b="1" dirty="0">
                <a:effectLst/>
                <a:latin typeface="Calibri" panose="020F0502020204030204" pitchFamily="34" charset="0"/>
                <a:ea typeface="Times New Roman" panose="02020603050405020304" pitchFamily="18" charset="0"/>
              </a:rPr>
              <a:t>سناریو: برنامه تجارت الکترونیک</a:t>
            </a:r>
            <a:endParaRPr lang="en-US" sz="1800" dirty="0">
              <a:effectLst/>
              <a:latin typeface="Calibri" panose="020F0502020204030204" pitchFamily="34" charset="0"/>
              <a:ea typeface="Calibri" panose="020F0502020204030204" pitchFamily="34" charset="0"/>
            </a:endParaRPr>
          </a:p>
          <a:p>
            <a:pPr marL="0" marR="0" algn="r" rtl="1">
              <a:lnSpc>
                <a:spcPct val="107000"/>
              </a:lnSpc>
              <a:spcBef>
                <a:spcPts val="0"/>
              </a:spcBef>
              <a:spcAft>
                <a:spcPts val="800"/>
              </a:spcAft>
            </a:pPr>
            <a:r>
              <a:rPr lang="ar-SA" sz="1800" dirty="0">
                <a:effectLst/>
                <a:latin typeface="Calibri" panose="020F0502020204030204" pitchFamily="34" charset="0"/>
                <a:ea typeface="Times New Roman" panose="02020603050405020304" pitchFamily="18" charset="0"/>
              </a:rPr>
              <a:t>فرض کنید یک پایگاه داده برای یک پلتفرم تجارت الکترونیک طراحی می‌کنید با ساختار عادی‌شده زیر</a:t>
            </a:r>
            <a:r>
              <a:rPr lang="en-US" sz="1800" dirty="0">
                <a:effectLst/>
                <a:latin typeface="Times New Roman" panose="02020603050405020304" pitchFamily="18" charset="0"/>
                <a:ea typeface="Times New Roman" panose="02020603050405020304" pitchFamily="18" charset="0"/>
              </a:rPr>
              <a:t>:</a:t>
            </a:r>
            <a:endParaRPr lang="en-US" sz="1800" dirty="0">
              <a:effectLst/>
              <a:latin typeface="Calibri" panose="020F0502020204030204" pitchFamily="34" charset="0"/>
              <a:ea typeface="Calibri" panose="020F0502020204030204" pitchFamily="34" charset="0"/>
            </a:endParaRPr>
          </a:p>
          <a:p>
            <a:pPr marL="342900" marR="0" lvl="0" indent="-342900" algn="r" rtl="1">
              <a:lnSpc>
                <a:spcPct val="107000"/>
              </a:lnSpc>
              <a:spcBef>
                <a:spcPts val="0"/>
              </a:spcBef>
              <a:spcAft>
                <a:spcPts val="800"/>
              </a:spcAft>
              <a:buFont typeface="+mj-lt"/>
              <a:buAutoNum type="arabicPeriod"/>
              <a:tabLst>
                <a:tab pos="457200" algn="l"/>
              </a:tabLst>
            </a:pPr>
            <a:r>
              <a:rPr lang="ar-SA" sz="1800" b="1" dirty="0">
                <a:effectLst/>
                <a:latin typeface="Calibri" panose="020F0502020204030204" pitchFamily="34" charset="0"/>
                <a:ea typeface="Times New Roman" panose="02020603050405020304" pitchFamily="18" charset="0"/>
              </a:rPr>
              <a:t>جدول محصولات</a:t>
            </a:r>
            <a:r>
              <a:rPr lang="en-US" sz="1800" dirty="0">
                <a:effectLst/>
                <a:latin typeface="Times New Roman" panose="02020603050405020304" pitchFamily="18" charset="0"/>
                <a:ea typeface="Times New Roman" panose="02020603050405020304" pitchFamily="18" charset="0"/>
              </a:rPr>
              <a:t>:</a:t>
            </a:r>
          </a:p>
          <a:p>
            <a:pPr algn="r" rtl="1">
              <a:lnSpc>
                <a:spcPct val="107000"/>
              </a:lnSpc>
              <a:spcBef>
                <a:spcPts val="0"/>
              </a:spcBef>
              <a:spcAft>
                <a:spcPts val="800"/>
              </a:spcAft>
              <a:buFont typeface="+mj-lt"/>
              <a:buAutoNum type="arabicPeriod"/>
              <a:tabLst>
                <a:tab pos="457200" algn="l"/>
              </a:tabLst>
            </a:pPr>
            <a:endParaRPr lang="en-US" sz="1800" b="1" dirty="0">
              <a:latin typeface="Calibri" panose="020F0502020204030204" pitchFamily="34" charset="0"/>
              <a:ea typeface="Times New Roman" panose="02020603050405020304" pitchFamily="18" charset="0"/>
            </a:endParaRPr>
          </a:p>
          <a:p>
            <a:pPr algn="r" rtl="1">
              <a:lnSpc>
                <a:spcPct val="107000"/>
              </a:lnSpc>
              <a:spcBef>
                <a:spcPts val="0"/>
              </a:spcBef>
              <a:spcAft>
                <a:spcPts val="800"/>
              </a:spcAft>
              <a:buFont typeface="+mj-lt"/>
              <a:buAutoNum type="arabicPeriod"/>
              <a:tabLst>
                <a:tab pos="457200" algn="l"/>
              </a:tabLst>
            </a:pPr>
            <a:r>
              <a:rPr lang="ar-SA" sz="1800" b="1" dirty="0">
                <a:effectLst/>
                <a:latin typeface="Calibri" panose="020F0502020204030204" pitchFamily="34" charset="0"/>
                <a:ea typeface="Times New Roman" panose="02020603050405020304" pitchFamily="18" charset="0"/>
              </a:rPr>
              <a:t>جدول دسته‌بندی‌ها</a:t>
            </a:r>
            <a:r>
              <a:rPr lang="en-US" sz="1800" dirty="0">
                <a:effectLst/>
                <a:latin typeface="Times New Roman" panose="02020603050405020304" pitchFamily="18" charset="0"/>
                <a:ea typeface="Times New Roman" panose="02020603050405020304" pitchFamily="18" charset="0"/>
              </a:rPr>
              <a:t>:</a:t>
            </a:r>
          </a:p>
          <a:p>
            <a:pPr algn="r" rtl="1">
              <a:lnSpc>
                <a:spcPct val="107000"/>
              </a:lnSpc>
              <a:spcBef>
                <a:spcPts val="0"/>
              </a:spcBef>
              <a:spcAft>
                <a:spcPts val="800"/>
              </a:spcAft>
              <a:buFont typeface="+mj-lt"/>
              <a:buAutoNum type="arabicPeriod"/>
              <a:tabLst>
                <a:tab pos="457200" algn="l"/>
              </a:tabLst>
            </a:pPr>
            <a:endParaRPr lang="en-US" sz="1800" b="1" dirty="0">
              <a:effectLst/>
              <a:latin typeface="Calibri" panose="020F0502020204030204" pitchFamily="34" charset="0"/>
              <a:ea typeface="Times New Roman" panose="02020603050405020304" pitchFamily="18" charset="0"/>
            </a:endParaRPr>
          </a:p>
          <a:p>
            <a:pPr algn="r" rtl="1">
              <a:lnSpc>
                <a:spcPct val="107000"/>
              </a:lnSpc>
              <a:spcBef>
                <a:spcPts val="0"/>
              </a:spcBef>
              <a:spcAft>
                <a:spcPts val="800"/>
              </a:spcAft>
              <a:buFont typeface="+mj-lt"/>
              <a:buAutoNum type="arabicPeriod"/>
              <a:tabLst>
                <a:tab pos="457200" algn="l"/>
              </a:tabLst>
            </a:pPr>
            <a:r>
              <a:rPr lang="ar-SA" sz="1800" b="1" dirty="0">
                <a:effectLst/>
                <a:latin typeface="Calibri" panose="020F0502020204030204" pitchFamily="34" charset="0"/>
                <a:ea typeface="Times New Roman" panose="02020603050405020304" pitchFamily="18" charset="0"/>
              </a:rPr>
              <a:t>جدول سفارش‌ها</a:t>
            </a:r>
            <a:r>
              <a:rPr lang="en-US" sz="1800" dirty="0">
                <a:effectLst/>
                <a:latin typeface="Times New Roman" panose="02020603050405020304" pitchFamily="18" charset="0"/>
                <a:ea typeface="Times New Roman" panose="02020603050405020304" pitchFamily="18" charset="0"/>
              </a:rPr>
              <a:t>:</a:t>
            </a:r>
            <a:endParaRPr lang="en-US" sz="1800" dirty="0">
              <a:effectLst/>
              <a:latin typeface="Calibri" panose="020F0502020204030204" pitchFamily="34" charset="0"/>
              <a:ea typeface="Calibri" panose="020F0502020204030204" pitchFamily="34" charset="0"/>
            </a:endParaRPr>
          </a:p>
          <a:p>
            <a:pPr marL="0" marR="0" algn="r" rtl="1">
              <a:lnSpc>
                <a:spcPct val="107000"/>
              </a:lnSpc>
              <a:spcBef>
                <a:spcPts val="0"/>
              </a:spcBef>
              <a:spcAft>
                <a:spcPts val="800"/>
              </a:spcAft>
            </a:pPr>
            <a:r>
              <a:rPr lang="ar-SA" sz="1800" b="1" dirty="0">
                <a:effectLst/>
                <a:latin typeface="Calibri" panose="020F0502020204030204" pitchFamily="34" charset="0"/>
                <a:ea typeface="Times New Roman" panose="02020603050405020304" pitchFamily="18" charset="0"/>
              </a:rPr>
              <a:t>کوئری در ساختار عادی‌شده</a:t>
            </a:r>
            <a:r>
              <a:rPr lang="en-US" sz="1800" b="1" dirty="0">
                <a:effectLst/>
                <a:latin typeface="Times New Roman" panose="02020603050405020304" pitchFamily="18" charset="0"/>
                <a:ea typeface="Times New Roman" panose="02020603050405020304" pitchFamily="18" charset="0"/>
              </a:rPr>
              <a:t>:</a:t>
            </a:r>
            <a:endParaRPr lang="en-US" sz="1800" dirty="0">
              <a:effectLst/>
              <a:latin typeface="Calibri" panose="020F0502020204030204" pitchFamily="34" charset="0"/>
              <a:ea typeface="Calibri" panose="020F0502020204030204" pitchFamily="34" charset="0"/>
            </a:endParaRPr>
          </a:p>
          <a:p>
            <a:pPr marL="0" marR="0" algn="r" rtl="1">
              <a:lnSpc>
                <a:spcPct val="107000"/>
              </a:lnSpc>
              <a:spcBef>
                <a:spcPts val="0"/>
              </a:spcBef>
              <a:spcAft>
                <a:spcPts val="800"/>
              </a:spcAft>
            </a:pPr>
            <a:r>
              <a:rPr lang="ar-SA" sz="1800" dirty="0">
                <a:effectLst/>
                <a:latin typeface="Calibri" panose="020F0502020204030204" pitchFamily="34" charset="0"/>
                <a:ea typeface="Times New Roman" panose="02020603050405020304" pitchFamily="18" charset="0"/>
              </a:rPr>
              <a:t>برای تولید گزارشی از سفارش‌ها به همراه نام محصولات و دسته‌بندی آن‌ها، به چندین اتصال نیاز دارید</a:t>
            </a:r>
            <a:r>
              <a:rPr lang="en-US" sz="1800" dirty="0">
                <a:effectLst/>
                <a:latin typeface="Times New Roman" panose="02020603050405020304" pitchFamily="18" charset="0"/>
                <a:ea typeface="Times New Roman" panose="02020603050405020304" pitchFamily="18" charset="0"/>
              </a:rPr>
              <a:t>:</a:t>
            </a:r>
            <a:endParaRPr lang="en-US" sz="1800" dirty="0">
              <a:effectLst/>
              <a:latin typeface="Calibri" panose="020F0502020204030204" pitchFamily="34" charset="0"/>
              <a:ea typeface="Calibri" panose="020F0502020204030204" pitchFamily="34" charset="0"/>
            </a:endParaRPr>
          </a:p>
          <a:p>
            <a:pPr marL="0" marR="0" algn="r" rtl="1">
              <a:lnSpc>
                <a:spcPct val="107000"/>
              </a:lnSpc>
              <a:spcBef>
                <a:spcPts val="0"/>
              </a:spcBef>
              <a:spcAft>
                <a:spcPts val="0"/>
              </a:spcAft>
              <a:tabLst>
                <a:tab pos="581660" algn="l"/>
                <a:tab pos="1163320" algn="l"/>
                <a:tab pos="1744980" algn="l"/>
                <a:tab pos="2326640" algn="l"/>
                <a:tab pos="2908300" algn="l"/>
                <a:tab pos="3489960" algn="l"/>
                <a:tab pos="4071620" algn="l"/>
                <a:tab pos="4653280" algn="l"/>
                <a:tab pos="5234940" algn="l"/>
                <a:tab pos="5816600" algn="l"/>
                <a:tab pos="6398260" algn="l"/>
                <a:tab pos="6979920" algn="l"/>
                <a:tab pos="7561580" algn="l"/>
                <a:tab pos="8143240" algn="l"/>
                <a:tab pos="8724900" algn="l"/>
                <a:tab pos="9306560" algn="l"/>
              </a:tabLst>
            </a:pPr>
            <a:r>
              <a:rPr lang="en-US" sz="1800" dirty="0">
                <a:effectLst/>
                <a:latin typeface="Courier New" panose="02070309020205020404" pitchFamily="49" charset="0"/>
                <a:ea typeface="Times New Roman" panose="02020603050405020304" pitchFamily="18" charset="0"/>
              </a:rPr>
              <a:t> </a:t>
            </a:r>
            <a:endParaRPr lang="en-US" sz="1800" dirty="0">
              <a:effectLst/>
              <a:latin typeface="Calibri" panose="020F0502020204030204" pitchFamily="34" charset="0"/>
              <a:ea typeface="Calibri" panose="020F0502020204030204" pitchFamily="34" charset="0"/>
            </a:endParaRPr>
          </a:p>
          <a:p>
            <a:pPr marL="0" marR="0" indent="0">
              <a:lnSpc>
                <a:spcPct val="107000"/>
              </a:lnSpc>
              <a:spcBef>
                <a:spcPts val="0"/>
              </a:spcBef>
              <a:spcAft>
                <a:spcPts val="0"/>
              </a:spcAft>
              <a:buNone/>
              <a:tabLst>
                <a:tab pos="581660" algn="l"/>
                <a:tab pos="1163320" algn="l"/>
                <a:tab pos="1744980" algn="l"/>
                <a:tab pos="2326640" algn="l"/>
                <a:tab pos="2908300" algn="l"/>
                <a:tab pos="3489960" algn="l"/>
                <a:tab pos="4071620" algn="l"/>
                <a:tab pos="4653280" algn="l"/>
                <a:tab pos="5234940" algn="l"/>
                <a:tab pos="5816600" algn="l"/>
                <a:tab pos="6398260" algn="l"/>
                <a:tab pos="6979920" algn="l"/>
                <a:tab pos="7561580" algn="l"/>
                <a:tab pos="8143240" algn="l"/>
                <a:tab pos="8724900" algn="l"/>
                <a:tab pos="9306560" algn="l"/>
              </a:tabLst>
            </a:pPr>
            <a:r>
              <a:rPr lang="en-US" sz="1800" dirty="0">
                <a:effectLst/>
                <a:latin typeface="Courier New" panose="02070309020205020404" pitchFamily="49" charset="0"/>
                <a:ea typeface="Times New Roman" panose="02020603050405020304" pitchFamily="18" charset="0"/>
              </a:rPr>
              <a:t>SELECT </a:t>
            </a:r>
            <a:r>
              <a:rPr lang="en-US" sz="1800" dirty="0" err="1">
                <a:effectLst/>
                <a:latin typeface="Courier New" panose="02070309020205020404" pitchFamily="49" charset="0"/>
                <a:ea typeface="Times New Roman" panose="02020603050405020304" pitchFamily="18" charset="0"/>
              </a:rPr>
              <a:t>o.OrderID</a:t>
            </a:r>
            <a:r>
              <a:rPr lang="en-US" sz="1800" dirty="0">
                <a:effectLst/>
                <a:latin typeface="Courier New" panose="02070309020205020404" pitchFamily="49" charset="0"/>
                <a:ea typeface="Times New Roman" panose="02020603050405020304" pitchFamily="18" charset="0"/>
              </a:rPr>
              <a:t>, </a:t>
            </a:r>
            <a:r>
              <a:rPr lang="en-US" sz="1800" dirty="0" err="1">
                <a:effectLst/>
                <a:latin typeface="Courier New" panose="02070309020205020404" pitchFamily="49" charset="0"/>
                <a:ea typeface="Times New Roman" panose="02020603050405020304" pitchFamily="18" charset="0"/>
              </a:rPr>
              <a:t>o.CustomerID</a:t>
            </a:r>
            <a:r>
              <a:rPr lang="en-US" sz="1800" dirty="0">
                <a:effectLst/>
                <a:latin typeface="Courier New" panose="02070309020205020404" pitchFamily="49" charset="0"/>
                <a:ea typeface="Times New Roman" panose="02020603050405020304" pitchFamily="18" charset="0"/>
              </a:rPr>
              <a:t>, </a:t>
            </a:r>
            <a:r>
              <a:rPr lang="en-US" sz="1800" dirty="0" err="1">
                <a:effectLst/>
                <a:latin typeface="Courier New" panose="02070309020205020404" pitchFamily="49" charset="0"/>
                <a:ea typeface="Times New Roman" panose="02020603050405020304" pitchFamily="18" charset="0"/>
              </a:rPr>
              <a:t>p.ProductName</a:t>
            </a:r>
            <a:r>
              <a:rPr lang="en-US" sz="1800" dirty="0">
                <a:effectLst/>
                <a:latin typeface="Courier New" panose="02070309020205020404" pitchFamily="49" charset="0"/>
                <a:ea typeface="Times New Roman" panose="02020603050405020304" pitchFamily="18" charset="0"/>
              </a:rPr>
              <a:t>, </a:t>
            </a:r>
            <a:r>
              <a:rPr lang="en-US" sz="1800" dirty="0" err="1">
                <a:effectLst/>
                <a:latin typeface="Courier New" panose="02070309020205020404" pitchFamily="49" charset="0"/>
                <a:ea typeface="Times New Roman" panose="02020603050405020304" pitchFamily="18" charset="0"/>
              </a:rPr>
              <a:t>c.CategoryName</a:t>
            </a:r>
            <a:r>
              <a:rPr lang="en-US" sz="1800" dirty="0">
                <a:effectLst/>
                <a:latin typeface="Courier New" panose="02070309020205020404" pitchFamily="49" charset="0"/>
                <a:ea typeface="Times New Roman" panose="02020603050405020304" pitchFamily="18" charset="0"/>
              </a:rPr>
              <a:t>, </a:t>
            </a:r>
            <a:r>
              <a:rPr lang="en-US" sz="1800" dirty="0" err="1">
                <a:effectLst/>
                <a:latin typeface="Courier New" panose="02070309020205020404" pitchFamily="49" charset="0"/>
                <a:ea typeface="Times New Roman" panose="02020603050405020304" pitchFamily="18" charset="0"/>
              </a:rPr>
              <a:t>o.OrderDate</a:t>
            </a:r>
            <a:endParaRPr lang="en-US" sz="1800" dirty="0">
              <a:effectLst/>
              <a:latin typeface="Calibri" panose="020F0502020204030204" pitchFamily="34" charset="0"/>
              <a:ea typeface="Calibri" panose="020F0502020204030204" pitchFamily="34" charset="0"/>
            </a:endParaRPr>
          </a:p>
          <a:p>
            <a:pPr marL="0" marR="0" indent="0">
              <a:lnSpc>
                <a:spcPct val="107000"/>
              </a:lnSpc>
              <a:spcBef>
                <a:spcPts val="0"/>
              </a:spcBef>
              <a:spcAft>
                <a:spcPts val="0"/>
              </a:spcAft>
              <a:buNone/>
              <a:tabLst>
                <a:tab pos="581660" algn="l"/>
                <a:tab pos="1163320" algn="l"/>
                <a:tab pos="1744980" algn="l"/>
                <a:tab pos="2326640" algn="l"/>
                <a:tab pos="2908300" algn="l"/>
                <a:tab pos="3489960" algn="l"/>
                <a:tab pos="4071620" algn="l"/>
                <a:tab pos="4653280" algn="l"/>
                <a:tab pos="5234940" algn="l"/>
                <a:tab pos="5816600" algn="l"/>
                <a:tab pos="6398260" algn="l"/>
                <a:tab pos="6979920" algn="l"/>
                <a:tab pos="7561580" algn="l"/>
                <a:tab pos="8143240" algn="l"/>
                <a:tab pos="8724900" algn="l"/>
                <a:tab pos="9306560" algn="l"/>
              </a:tabLst>
            </a:pPr>
            <a:r>
              <a:rPr lang="en-US" sz="1800" dirty="0">
                <a:effectLst/>
                <a:latin typeface="Courier New" panose="02070309020205020404" pitchFamily="49" charset="0"/>
                <a:ea typeface="Times New Roman" panose="02020603050405020304" pitchFamily="18" charset="0"/>
              </a:rPr>
              <a:t>FROM Orders o</a:t>
            </a:r>
            <a:endParaRPr lang="en-US" sz="1800" dirty="0">
              <a:effectLst/>
              <a:latin typeface="Calibri" panose="020F0502020204030204" pitchFamily="34" charset="0"/>
              <a:ea typeface="Calibri" panose="020F0502020204030204" pitchFamily="34" charset="0"/>
            </a:endParaRPr>
          </a:p>
          <a:p>
            <a:pPr marL="0" marR="0" indent="0">
              <a:lnSpc>
                <a:spcPct val="107000"/>
              </a:lnSpc>
              <a:spcBef>
                <a:spcPts val="0"/>
              </a:spcBef>
              <a:spcAft>
                <a:spcPts val="0"/>
              </a:spcAft>
              <a:buNone/>
              <a:tabLst>
                <a:tab pos="581660" algn="l"/>
                <a:tab pos="1163320" algn="l"/>
                <a:tab pos="1744980" algn="l"/>
                <a:tab pos="2326640" algn="l"/>
                <a:tab pos="2908300" algn="l"/>
                <a:tab pos="3489960" algn="l"/>
                <a:tab pos="4071620" algn="l"/>
                <a:tab pos="4653280" algn="l"/>
                <a:tab pos="5234940" algn="l"/>
                <a:tab pos="5816600" algn="l"/>
                <a:tab pos="6398260" algn="l"/>
                <a:tab pos="6979920" algn="l"/>
                <a:tab pos="7561580" algn="l"/>
                <a:tab pos="8143240" algn="l"/>
                <a:tab pos="8724900" algn="l"/>
                <a:tab pos="9306560" algn="l"/>
              </a:tabLst>
            </a:pPr>
            <a:r>
              <a:rPr lang="en-US" sz="1800" dirty="0">
                <a:effectLst/>
                <a:latin typeface="Courier New" panose="02070309020205020404" pitchFamily="49" charset="0"/>
                <a:ea typeface="Times New Roman" panose="02020603050405020304" pitchFamily="18" charset="0"/>
              </a:rPr>
              <a:t>JOIN Products p ON </a:t>
            </a:r>
            <a:r>
              <a:rPr lang="en-US" sz="1800" dirty="0" err="1">
                <a:effectLst/>
                <a:latin typeface="Courier New" panose="02070309020205020404" pitchFamily="49" charset="0"/>
                <a:ea typeface="Times New Roman" panose="02020603050405020304" pitchFamily="18" charset="0"/>
              </a:rPr>
              <a:t>o.ProductID</a:t>
            </a:r>
            <a:r>
              <a:rPr lang="en-US" sz="1800" dirty="0">
                <a:effectLst/>
                <a:latin typeface="Courier New" panose="02070309020205020404" pitchFamily="49" charset="0"/>
                <a:ea typeface="Times New Roman" panose="02020603050405020304" pitchFamily="18" charset="0"/>
              </a:rPr>
              <a:t> = </a:t>
            </a:r>
            <a:r>
              <a:rPr lang="en-US" sz="1800" dirty="0" err="1">
                <a:effectLst/>
                <a:latin typeface="Courier New" panose="02070309020205020404" pitchFamily="49" charset="0"/>
                <a:ea typeface="Times New Roman" panose="02020603050405020304" pitchFamily="18" charset="0"/>
              </a:rPr>
              <a:t>p.ProductID</a:t>
            </a:r>
            <a:endParaRPr lang="en-US" sz="1800" dirty="0">
              <a:effectLst/>
              <a:latin typeface="Calibri" panose="020F0502020204030204" pitchFamily="34" charset="0"/>
              <a:ea typeface="Calibri" panose="020F0502020204030204" pitchFamily="34" charset="0"/>
            </a:endParaRPr>
          </a:p>
          <a:p>
            <a:pPr marL="0" marR="0" indent="0">
              <a:lnSpc>
                <a:spcPct val="107000"/>
              </a:lnSpc>
              <a:spcBef>
                <a:spcPts val="0"/>
              </a:spcBef>
              <a:spcAft>
                <a:spcPts val="0"/>
              </a:spcAft>
              <a:buNone/>
              <a:tabLst>
                <a:tab pos="581660" algn="l"/>
                <a:tab pos="1163320" algn="l"/>
                <a:tab pos="1744980" algn="l"/>
                <a:tab pos="2326640" algn="l"/>
                <a:tab pos="2908300" algn="l"/>
                <a:tab pos="3489960" algn="l"/>
                <a:tab pos="4071620" algn="l"/>
                <a:tab pos="4653280" algn="l"/>
                <a:tab pos="5234940" algn="l"/>
                <a:tab pos="5816600" algn="l"/>
                <a:tab pos="6398260" algn="l"/>
                <a:tab pos="6979920" algn="l"/>
                <a:tab pos="7561580" algn="l"/>
                <a:tab pos="8143240" algn="l"/>
                <a:tab pos="8724900" algn="l"/>
                <a:tab pos="9306560" algn="l"/>
              </a:tabLst>
            </a:pPr>
            <a:r>
              <a:rPr lang="en-US" sz="1800" dirty="0">
                <a:effectLst/>
                <a:latin typeface="Courier New" panose="02070309020205020404" pitchFamily="49" charset="0"/>
                <a:ea typeface="Times New Roman" panose="02020603050405020304" pitchFamily="18" charset="0"/>
              </a:rPr>
              <a:t>JOIN Categories c ON </a:t>
            </a:r>
            <a:r>
              <a:rPr lang="en-US" sz="1800" dirty="0" err="1">
                <a:effectLst/>
                <a:latin typeface="Courier New" panose="02070309020205020404" pitchFamily="49" charset="0"/>
                <a:ea typeface="Times New Roman" panose="02020603050405020304" pitchFamily="18" charset="0"/>
              </a:rPr>
              <a:t>p.CategoryID</a:t>
            </a:r>
            <a:r>
              <a:rPr lang="en-US" sz="1800" dirty="0">
                <a:effectLst/>
                <a:latin typeface="Courier New" panose="02070309020205020404" pitchFamily="49" charset="0"/>
                <a:ea typeface="Times New Roman" panose="02020603050405020304" pitchFamily="18" charset="0"/>
              </a:rPr>
              <a:t> = </a:t>
            </a:r>
            <a:r>
              <a:rPr lang="en-US" sz="1800" dirty="0" err="1">
                <a:effectLst/>
                <a:latin typeface="Courier New" panose="02070309020205020404" pitchFamily="49" charset="0"/>
                <a:ea typeface="Times New Roman" panose="02020603050405020304" pitchFamily="18" charset="0"/>
              </a:rPr>
              <a:t>c.CategoryID</a:t>
            </a:r>
            <a:r>
              <a:rPr lang="en-US" sz="1800" dirty="0">
                <a:effectLst/>
                <a:latin typeface="Courier New" panose="02070309020205020404" pitchFamily="49" charset="0"/>
                <a:ea typeface="Times New Roman" panose="02020603050405020304" pitchFamily="18" charset="0"/>
              </a:rPr>
              <a:t>;</a:t>
            </a:r>
            <a:endParaRPr lang="en-US" sz="1800" dirty="0">
              <a:effectLst/>
              <a:latin typeface="Calibri" panose="020F0502020204030204" pitchFamily="34" charset="0"/>
              <a:ea typeface="Calibri" panose="020F0502020204030204" pitchFamily="34" charset="0"/>
            </a:endParaRPr>
          </a:p>
          <a:p>
            <a:pPr marL="0" indent="0" algn="r" rtl="1">
              <a:lnSpc>
                <a:spcPct val="107000"/>
              </a:lnSpc>
              <a:spcBef>
                <a:spcPts val="0"/>
              </a:spcBef>
              <a:spcAft>
                <a:spcPts val="800"/>
              </a:spcAft>
              <a:buNone/>
              <a:tabLst>
                <a:tab pos="457200" algn="l"/>
              </a:tabLst>
            </a:pPr>
            <a:endParaRPr lang="en-US" sz="1800" dirty="0">
              <a:effectLst/>
              <a:latin typeface="Calibri" panose="020F0502020204030204" pitchFamily="34" charset="0"/>
              <a:ea typeface="Calibri" panose="020F0502020204030204" pitchFamily="34" charset="0"/>
            </a:endParaRPr>
          </a:p>
          <a:p>
            <a:pPr marL="342900" marR="0" lvl="0" indent="-342900" algn="r" rtl="1">
              <a:lnSpc>
                <a:spcPct val="107000"/>
              </a:lnSpc>
              <a:spcBef>
                <a:spcPts val="0"/>
              </a:spcBef>
              <a:spcAft>
                <a:spcPts val="800"/>
              </a:spcAft>
              <a:buFont typeface="+mj-lt"/>
              <a:buAutoNum type="arabicPeriod"/>
              <a:tabLst>
                <a:tab pos="457200" algn="l"/>
              </a:tabLst>
            </a:pPr>
            <a:endParaRPr lang="en-US" sz="1800" dirty="0">
              <a:effectLst/>
              <a:latin typeface="Calibri" panose="020F0502020204030204" pitchFamily="34" charset="0"/>
              <a:ea typeface="Calibri" panose="020F0502020204030204" pitchFamily="34" charset="0"/>
            </a:endParaRPr>
          </a:p>
          <a:p>
            <a:endParaRPr lang="en-US" dirty="0"/>
          </a:p>
        </p:txBody>
      </p:sp>
      <p:graphicFrame>
        <p:nvGraphicFramePr>
          <p:cNvPr id="12" name="Table 11">
            <a:extLst>
              <a:ext uri="{FF2B5EF4-FFF2-40B4-BE49-F238E27FC236}">
                <a16:creationId xmlns:a16="http://schemas.microsoft.com/office/drawing/2014/main" id="{3412E0A7-B815-0502-B6AC-F2EA0F659FEA}"/>
              </a:ext>
            </a:extLst>
          </p:cNvPr>
          <p:cNvGraphicFramePr>
            <a:graphicFrameLocks noGrp="1"/>
          </p:cNvGraphicFramePr>
          <p:nvPr/>
        </p:nvGraphicFramePr>
        <p:xfrm>
          <a:off x="111124" y="1993679"/>
          <a:ext cx="3546477" cy="557595"/>
        </p:xfrm>
        <a:graphic>
          <a:graphicData uri="http://schemas.openxmlformats.org/drawingml/2006/table">
            <a:tbl>
              <a:tblPr firstRow="1" firstCol="1" bandRow="1">
                <a:tableStyleId>{ED083AE6-46FA-4A59-8FB0-9F97EB10719F}</a:tableStyleId>
              </a:tblPr>
              <a:tblGrid>
                <a:gridCol w="1182159">
                  <a:extLst>
                    <a:ext uri="{9D8B030D-6E8A-4147-A177-3AD203B41FA5}">
                      <a16:colId xmlns:a16="http://schemas.microsoft.com/office/drawing/2014/main" val="1235473423"/>
                    </a:ext>
                  </a:extLst>
                </a:gridCol>
                <a:gridCol w="1182159">
                  <a:extLst>
                    <a:ext uri="{9D8B030D-6E8A-4147-A177-3AD203B41FA5}">
                      <a16:colId xmlns:a16="http://schemas.microsoft.com/office/drawing/2014/main" val="1202750622"/>
                    </a:ext>
                  </a:extLst>
                </a:gridCol>
                <a:gridCol w="1182159">
                  <a:extLst>
                    <a:ext uri="{9D8B030D-6E8A-4147-A177-3AD203B41FA5}">
                      <a16:colId xmlns:a16="http://schemas.microsoft.com/office/drawing/2014/main" val="4198869385"/>
                    </a:ext>
                  </a:extLst>
                </a:gridCol>
              </a:tblGrid>
              <a:tr h="152400">
                <a:tc>
                  <a:txBody>
                    <a:bodyPr/>
                    <a:lstStyle/>
                    <a:p>
                      <a:pPr marL="0" marR="0" algn="ctr" rtl="1">
                        <a:lnSpc>
                          <a:spcPct val="107000"/>
                        </a:lnSpc>
                        <a:spcBef>
                          <a:spcPts val="0"/>
                        </a:spcBef>
                        <a:spcAft>
                          <a:spcPts val="0"/>
                        </a:spcAft>
                      </a:pPr>
                      <a:r>
                        <a:rPr lang="en-US" sz="1200" dirty="0" err="1">
                          <a:effectLst/>
                        </a:rPr>
                        <a:t>ProductID</a:t>
                      </a:r>
                      <a:endParaRPr lang="en-US" sz="1100"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tc>
                <a:tc>
                  <a:txBody>
                    <a:bodyPr/>
                    <a:lstStyle/>
                    <a:p>
                      <a:pPr marL="0" marR="0" algn="ctr" rtl="1">
                        <a:lnSpc>
                          <a:spcPct val="107000"/>
                        </a:lnSpc>
                        <a:spcBef>
                          <a:spcPts val="0"/>
                        </a:spcBef>
                        <a:spcAft>
                          <a:spcPts val="0"/>
                        </a:spcAft>
                      </a:pPr>
                      <a:r>
                        <a:rPr lang="en-US" sz="1200">
                          <a:effectLst/>
                        </a:rPr>
                        <a:t>ProductName</a:t>
                      </a:r>
                      <a:endParaRPr lang="en-US" sz="110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tc>
                <a:tc>
                  <a:txBody>
                    <a:bodyPr/>
                    <a:lstStyle/>
                    <a:p>
                      <a:pPr marL="0" marR="0" algn="ctr" rtl="1">
                        <a:lnSpc>
                          <a:spcPct val="107000"/>
                        </a:lnSpc>
                        <a:spcBef>
                          <a:spcPts val="0"/>
                        </a:spcBef>
                        <a:spcAft>
                          <a:spcPts val="0"/>
                        </a:spcAft>
                      </a:pPr>
                      <a:r>
                        <a:rPr lang="en-US" sz="1200" dirty="0" err="1">
                          <a:effectLst/>
                        </a:rPr>
                        <a:t>CategoryID</a:t>
                      </a:r>
                      <a:endParaRPr lang="en-US" sz="1100"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tc>
                <a:extLst>
                  <a:ext uri="{0D108BD9-81ED-4DB2-BD59-A6C34878D82A}">
                    <a16:rowId xmlns:a16="http://schemas.microsoft.com/office/drawing/2014/main" val="4218030473"/>
                  </a:ext>
                </a:extLst>
              </a:tr>
              <a:tr h="152400">
                <a:tc>
                  <a:txBody>
                    <a:bodyPr/>
                    <a:lstStyle/>
                    <a:p>
                      <a:pPr marL="0" marR="0" algn="ctr" rtl="1">
                        <a:lnSpc>
                          <a:spcPct val="107000"/>
                        </a:lnSpc>
                        <a:spcBef>
                          <a:spcPts val="0"/>
                        </a:spcBef>
                        <a:spcAft>
                          <a:spcPts val="0"/>
                        </a:spcAft>
                      </a:pPr>
                      <a:r>
                        <a:rPr lang="en-US" sz="1200" dirty="0">
                          <a:effectLst/>
                        </a:rPr>
                        <a:t>101</a:t>
                      </a:r>
                      <a:endParaRPr lang="en-US" sz="1100"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tc>
                <a:tc>
                  <a:txBody>
                    <a:bodyPr/>
                    <a:lstStyle/>
                    <a:p>
                      <a:pPr marL="0" marR="0" algn="ctr" rtl="1">
                        <a:lnSpc>
                          <a:spcPct val="107000"/>
                        </a:lnSpc>
                        <a:spcBef>
                          <a:spcPts val="0"/>
                        </a:spcBef>
                        <a:spcAft>
                          <a:spcPts val="0"/>
                        </a:spcAft>
                      </a:pPr>
                      <a:r>
                        <a:rPr lang="en-US" sz="1200" dirty="0">
                          <a:effectLst/>
                        </a:rPr>
                        <a:t>Laptop</a:t>
                      </a:r>
                      <a:endParaRPr lang="en-US" sz="1100"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tc>
                <a:tc>
                  <a:txBody>
                    <a:bodyPr/>
                    <a:lstStyle/>
                    <a:p>
                      <a:pPr marL="0" marR="0" algn="ctr" rtl="1">
                        <a:lnSpc>
                          <a:spcPct val="107000"/>
                        </a:lnSpc>
                        <a:spcBef>
                          <a:spcPts val="0"/>
                        </a:spcBef>
                        <a:spcAft>
                          <a:spcPts val="0"/>
                        </a:spcAft>
                      </a:pPr>
                      <a:r>
                        <a:rPr lang="en-US" sz="1200" dirty="0">
                          <a:effectLst/>
                        </a:rPr>
                        <a:t>1</a:t>
                      </a:r>
                      <a:endParaRPr lang="en-US" sz="1100"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tc>
                <a:extLst>
                  <a:ext uri="{0D108BD9-81ED-4DB2-BD59-A6C34878D82A}">
                    <a16:rowId xmlns:a16="http://schemas.microsoft.com/office/drawing/2014/main" val="2699340066"/>
                  </a:ext>
                </a:extLst>
              </a:tr>
              <a:tr h="152400">
                <a:tc>
                  <a:txBody>
                    <a:bodyPr/>
                    <a:lstStyle/>
                    <a:p>
                      <a:pPr marL="0" marR="0" algn="ctr" rtl="1">
                        <a:lnSpc>
                          <a:spcPct val="107000"/>
                        </a:lnSpc>
                        <a:spcBef>
                          <a:spcPts val="0"/>
                        </a:spcBef>
                        <a:spcAft>
                          <a:spcPts val="0"/>
                        </a:spcAft>
                      </a:pPr>
                      <a:r>
                        <a:rPr lang="en-US" sz="1200">
                          <a:effectLst/>
                        </a:rPr>
                        <a:t>102</a:t>
                      </a:r>
                      <a:endParaRPr lang="en-US" sz="110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tc>
                <a:tc>
                  <a:txBody>
                    <a:bodyPr/>
                    <a:lstStyle/>
                    <a:p>
                      <a:pPr marL="0" marR="0" algn="ctr" rtl="1">
                        <a:lnSpc>
                          <a:spcPct val="107000"/>
                        </a:lnSpc>
                        <a:spcBef>
                          <a:spcPts val="0"/>
                        </a:spcBef>
                        <a:spcAft>
                          <a:spcPts val="0"/>
                        </a:spcAft>
                      </a:pPr>
                      <a:r>
                        <a:rPr lang="en-US" sz="1200" dirty="0">
                          <a:effectLst/>
                        </a:rPr>
                        <a:t>Smartphone</a:t>
                      </a:r>
                      <a:endParaRPr lang="en-US" sz="1100"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tc>
                <a:tc>
                  <a:txBody>
                    <a:bodyPr/>
                    <a:lstStyle/>
                    <a:p>
                      <a:pPr marL="0" marR="0" algn="ctr" rtl="1">
                        <a:lnSpc>
                          <a:spcPct val="107000"/>
                        </a:lnSpc>
                        <a:spcBef>
                          <a:spcPts val="0"/>
                        </a:spcBef>
                        <a:spcAft>
                          <a:spcPts val="0"/>
                        </a:spcAft>
                      </a:pPr>
                      <a:r>
                        <a:rPr lang="en-US" sz="1200" dirty="0">
                          <a:effectLst/>
                        </a:rPr>
                        <a:t>2</a:t>
                      </a:r>
                      <a:endParaRPr lang="en-US" sz="1100"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tc>
                <a:extLst>
                  <a:ext uri="{0D108BD9-81ED-4DB2-BD59-A6C34878D82A}">
                    <a16:rowId xmlns:a16="http://schemas.microsoft.com/office/drawing/2014/main" val="1723662244"/>
                  </a:ext>
                </a:extLst>
              </a:tr>
            </a:tbl>
          </a:graphicData>
        </a:graphic>
      </p:graphicFrame>
      <p:graphicFrame>
        <p:nvGraphicFramePr>
          <p:cNvPr id="13" name="Table 12">
            <a:extLst>
              <a:ext uri="{FF2B5EF4-FFF2-40B4-BE49-F238E27FC236}">
                <a16:creationId xmlns:a16="http://schemas.microsoft.com/office/drawing/2014/main" id="{3515C590-C099-4A24-7176-0E0AB9524266}"/>
              </a:ext>
            </a:extLst>
          </p:cNvPr>
          <p:cNvGraphicFramePr>
            <a:graphicFrameLocks noGrp="1"/>
          </p:cNvGraphicFramePr>
          <p:nvPr/>
        </p:nvGraphicFramePr>
        <p:xfrm>
          <a:off x="111124" y="2639189"/>
          <a:ext cx="3546476" cy="557595"/>
        </p:xfrm>
        <a:graphic>
          <a:graphicData uri="http://schemas.openxmlformats.org/drawingml/2006/table">
            <a:tbl>
              <a:tblPr firstRow="1" firstCol="1" bandRow="1">
                <a:tableStyleId>{ED083AE6-46FA-4A59-8FB0-9F97EB10719F}</a:tableStyleId>
              </a:tblPr>
              <a:tblGrid>
                <a:gridCol w="1184276">
                  <a:extLst>
                    <a:ext uri="{9D8B030D-6E8A-4147-A177-3AD203B41FA5}">
                      <a16:colId xmlns:a16="http://schemas.microsoft.com/office/drawing/2014/main" val="1622456379"/>
                    </a:ext>
                  </a:extLst>
                </a:gridCol>
                <a:gridCol w="2362200">
                  <a:extLst>
                    <a:ext uri="{9D8B030D-6E8A-4147-A177-3AD203B41FA5}">
                      <a16:colId xmlns:a16="http://schemas.microsoft.com/office/drawing/2014/main" val="61613750"/>
                    </a:ext>
                  </a:extLst>
                </a:gridCol>
              </a:tblGrid>
              <a:tr h="139362">
                <a:tc>
                  <a:txBody>
                    <a:bodyPr/>
                    <a:lstStyle/>
                    <a:p>
                      <a:pPr marL="0" marR="0" algn="ctr" rtl="1">
                        <a:lnSpc>
                          <a:spcPct val="107000"/>
                        </a:lnSpc>
                        <a:spcBef>
                          <a:spcPts val="0"/>
                        </a:spcBef>
                        <a:spcAft>
                          <a:spcPts val="0"/>
                        </a:spcAft>
                      </a:pPr>
                      <a:r>
                        <a:rPr lang="en-US" sz="1200">
                          <a:effectLst/>
                        </a:rPr>
                        <a:t>CategoryID</a:t>
                      </a:r>
                      <a:endParaRPr lang="en-US" sz="110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tc>
                <a:tc>
                  <a:txBody>
                    <a:bodyPr/>
                    <a:lstStyle/>
                    <a:p>
                      <a:pPr marL="0" marR="0" algn="ctr" rtl="1">
                        <a:lnSpc>
                          <a:spcPct val="107000"/>
                        </a:lnSpc>
                        <a:spcBef>
                          <a:spcPts val="0"/>
                        </a:spcBef>
                        <a:spcAft>
                          <a:spcPts val="0"/>
                        </a:spcAft>
                      </a:pPr>
                      <a:r>
                        <a:rPr lang="en-US" sz="1200" dirty="0" err="1">
                          <a:effectLst/>
                        </a:rPr>
                        <a:t>CategoryName</a:t>
                      </a:r>
                      <a:endParaRPr lang="en-US" sz="1100"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tc>
                <a:extLst>
                  <a:ext uri="{0D108BD9-81ED-4DB2-BD59-A6C34878D82A}">
                    <a16:rowId xmlns:a16="http://schemas.microsoft.com/office/drawing/2014/main" val="187068640"/>
                  </a:ext>
                </a:extLst>
              </a:tr>
              <a:tr h="176443">
                <a:tc>
                  <a:txBody>
                    <a:bodyPr/>
                    <a:lstStyle/>
                    <a:p>
                      <a:pPr marL="0" marR="0" algn="l" rtl="1">
                        <a:lnSpc>
                          <a:spcPct val="107000"/>
                        </a:lnSpc>
                        <a:spcBef>
                          <a:spcPts val="0"/>
                        </a:spcBef>
                        <a:spcAft>
                          <a:spcPts val="0"/>
                        </a:spcAft>
                      </a:pPr>
                      <a:r>
                        <a:rPr lang="en-US" sz="1200">
                          <a:effectLst/>
                        </a:rPr>
                        <a:t>1</a:t>
                      </a:r>
                      <a:endParaRPr lang="en-US" sz="110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tc>
                <a:tc>
                  <a:txBody>
                    <a:bodyPr/>
                    <a:lstStyle/>
                    <a:p>
                      <a:pPr marL="0" marR="0" algn="ctr" rtl="1">
                        <a:lnSpc>
                          <a:spcPct val="107000"/>
                        </a:lnSpc>
                        <a:spcBef>
                          <a:spcPts val="0"/>
                        </a:spcBef>
                        <a:spcAft>
                          <a:spcPts val="0"/>
                        </a:spcAft>
                      </a:pPr>
                      <a:r>
                        <a:rPr lang="en-US" sz="1200" dirty="0">
                          <a:effectLst/>
                        </a:rPr>
                        <a:t>Electronics</a:t>
                      </a:r>
                      <a:endParaRPr lang="en-US" sz="1100"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tc>
                <a:extLst>
                  <a:ext uri="{0D108BD9-81ED-4DB2-BD59-A6C34878D82A}">
                    <a16:rowId xmlns:a16="http://schemas.microsoft.com/office/drawing/2014/main" val="1924559959"/>
                  </a:ext>
                </a:extLst>
              </a:tr>
              <a:tr h="139362">
                <a:tc>
                  <a:txBody>
                    <a:bodyPr/>
                    <a:lstStyle/>
                    <a:p>
                      <a:pPr marL="0" marR="0" algn="l" rtl="1">
                        <a:lnSpc>
                          <a:spcPct val="107000"/>
                        </a:lnSpc>
                        <a:spcBef>
                          <a:spcPts val="0"/>
                        </a:spcBef>
                        <a:spcAft>
                          <a:spcPts val="0"/>
                        </a:spcAft>
                      </a:pPr>
                      <a:r>
                        <a:rPr lang="en-US" sz="1200">
                          <a:effectLst/>
                        </a:rPr>
                        <a:t>2</a:t>
                      </a:r>
                      <a:endParaRPr lang="en-US" sz="110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tc>
                <a:tc>
                  <a:txBody>
                    <a:bodyPr/>
                    <a:lstStyle/>
                    <a:p>
                      <a:pPr marL="0" marR="0" algn="ctr" rtl="1">
                        <a:lnSpc>
                          <a:spcPct val="107000"/>
                        </a:lnSpc>
                        <a:spcBef>
                          <a:spcPts val="0"/>
                        </a:spcBef>
                        <a:spcAft>
                          <a:spcPts val="0"/>
                        </a:spcAft>
                      </a:pPr>
                      <a:r>
                        <a:rPr lang="en-US" sz="1200" dirty="0">
                          <a:effectLst/>
                        </a:rPr>
                        <a:t>Mobile Phones</a:t>
                      </a:r>
                      <a:endParaRPr lang="en-US" sz="1100"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tc>
                <a:extLst>
                  <a:ext uri="{0D108BD9-81ED-4DB2-BD59-A6C34878D82A}">
                    <a16:rowId xmlns:a16="http://schemas.microsoft.com/office/drawing/2014/main" val="1571630733"/>
                  </a:ext>
                </a:extLst>
              </a:tr>
            </a:tbl>
          </a:graphicData>
        </a:graphic>
      </p:graphicFrame>
      <p:graphicFrame>
        <p:nvGraphicFramePr>
          <p:cNvPr id="14" name="Table 13">
            <a:extLst>
              <a:ext uri="{FF2B5EF4-FFF2-40B4-BE49-F238E27FC236}">
                <a16:creationId xmlns:a16="http://schemas.microsoft.com/office/drawing/2014/main" id="{5ED08A43-A064-4FB5-7E84-84076662FD64}"/>
              </a:ext>
            </a:extLst>
          </p:cNvPr>
          <p:cNvGraphicFramePr>
            <a:graphicFrameLocks noGrp="1"/>
          </p:cNvGraphicFramePr>
          <p:nvPr/>
        </p:nvGraphicFramePr>
        <p:xfrm>
          <a:off x="111124" y="3307837"/>
          <a:ext cx="3546476" cy="763144"/>
        </p:xfrm>
        <a:graphic>
          <a:graphicData uri="http://schemas.openxmlformats.org/drawingml/2006/table">
            <a:tbl>
              <a:tblPr firstRow="1" firstCol="1" bandRow="1">
                <a:tableStyleId>{616DA210-FB5B-4158-B5E0-FEB733F419BA}</a:tableStyleId>
              </a:tblPr>
              <a:tblGrid>
                <a:gridCol w="886619">
                  <a:extLst>
                    <a:ext uri="{9D8B030D-6E8A-4147-A177-3AD203B41FA5}">
                      <a16:colId xmlns:a16="http://schemas.microsoft.com/office/drawing/2014/main" val="3146431108"/>
                    </a:ext>
                  </a:extLst>
                </a:gridCol>
                <a:gridCol w="886619">
                  <a:extLst>
                    <a:ext uri="{9D8B030D-6E8A-4147-A177-3AD203B41FA5}">
                      <a16:colId xmlns:a16="http://schemas.microsoft.com/office/drawing/2014/main" val="3946736539"/>
                    </a:ext>
                  </a:extLst>
                </a:gridCol>
                <a:gridCol w="886619">
                  <a:extLst>
                    <a:ext uri="{9D8B030D-6E8A-4147-A177-3AD203B41FA5}">
                      <a16:colId xmlns:a16="http://schemas.microsoft.com/office/drawing/2014/main" val="3160786388"/>
                    </a:ext>
                  </a:extLst>
                </a:gridCol>
                <a:gridCol w="886619">
                  <a:extLst>
                    <a:ext uri="{9D8B030D-6E8A-4147-A177-3AD203B41FA5}">
                      <a16:colId xmlns:a16="http://schemas.microsoft.com/office/drawing/2014/main" val="1968294350"/>
                    </a:ext>
                  </a:extLst>
                </a:gridCol>
              </a:tblGrid>
              <a:tr h="278797">
                <a:tc>
                  <a:txBody>
                    <a:bodyPr/>
                    <a:lstStyle/>
                    <a:p>
                      <a:pPr marL="0" marR="0" algn="ctr" rtl="1">
                        <a:lnSpc>
                          <a:spcPct val="107000"/>
                        </a:lnSpc>
                        <a:spcBef>
                          <a:spcPts val="0"/>
                        </a:spcBef>
                        <a:spcAft>
                          <a:spcPts val="0"/>
                        </a:spcAft>
                      </a:pPr>
                      <a:r>
                        <a:rPr lang="en-US" sz="1200">
                          <a:effectLst/>
                        </a:rPr>
                        <a:t>OrderID</a:t>
                      </a:r>
                      <a:endParaRPr lang="en-US" sz="110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tc>
                <a:tc>
                  <a:txBody>
                    <a:bodyPr/>
                    <a:lstStyle/>
                    <a:p>
                      <a:pPr marL="0" marR="0" algn="ctr" rtl="1">
                        <a:lnSpc>
                          <a:spcPct val="107000"/>
                        </a:lnSpc>
                        <a:spcBef>
                          <a:spcPts val="0"/>
                        </a:spcBef>
                        <a:spcAft>
                          <a:spcPts val="0"/>
                        </a:spcAft>
                      </a:pPr>
                      <a:r>
                        <a:rPr lang="en-US" sz="1200">
                          <a:effectLst/>
                        </a:rPr>
                        <a:t>CustomerID</a:t>
                      </a:r>
                      <a:endParaRPr lang="en-US" sz="110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tc>
                <a:tc>
                  <a:txBody>
                    <a:bodyPr/>
                    <a:lstStyle/>
                    <a:p>
                      <a:pPr marL="0" marR="0" algn="ctr" rtl="1">
                        <a:lnSpc>
                          <a:spcPct val="107000"/>
                        </a:lnSpc>
                        <a:spcBef>
                          <a:spcPts val="0"/>
                        </a:spcBef>
                        <a:spcAft>
                          <a:spcPts val="0"/>
                        </a:spcAft>
                      </a:pPr>
                      <a:r>
                        <a:rPr lang="en-US" sz="1200" dirty="0" err="1">
                          <a:effectLst/>
                        </a:rPr>
                        <a:t>ProductID</a:t>
                      </a:r>
                      <a:endParaRPr lang="en-US" sz="1100"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tc>
                <a:tc>
                  <a:txBody>
                    <a:bodyPr/>
                    <a:lstStyle/>
                    <a:p>
                      <a:pPr marL="0" marR="0" algn="ctr" rtl="1">
                        <a:lnSpc>
                          <a:spcPct val="107000"/>
                        </a:lnSpc>
                        <a:spcBef>
                          <a:spcPts val="0"/>
                        </a:spcBef>
                        <a:spcAft>
                          <a:spcPts val="0"/>
                        </a:spcAft>
                      </a:pPr>
                      <a:r>
                        <a:rPr lang="en-US" sz="1200" dirty="0" err="1">
                          <a:effectLst/>
                        </a:rPr>
                        <a:t>OrderDate</a:t>
                      </a:r>
                      <a:endParaRPr lang="en-US" sz="1100"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tc>
                <a:extLst>
                  <a:ext uri="{0D108BD9-81ED-4DB2-BD59-A6C34878D82A}">
                    <a16:rowId xmlns:a16="http://schemas.microsoft.com/office/drawing/2014/main" val="3970366617"/>
                  </a:ext>
                </a:extLst>
              </a:tr>
              <a:tr h="278797">
                <a:tc>
                  <a:txBody>
                    <a:bodyPr/>
                    <a:lstStyle/>
                    <a:p>
                      <a:pPr marL="0" marR="0" algn="ctr" rtl="1">
                        <a:lnSpc>
                          <a:spcPct val="107000"/>
                        </a:lnSpc>
                        <a:spcBef>
                          <a:spcPts val="0"/>
                        </a:spcBef>
                        <a:spcAft>
                          <a:spcPts val="0"/>
                        </a:spcAft>
                      </a:pPr>
                      <a:r>
                        <a:rPr lang="en-US" sz="1200">
                          <a:effectLst/>
                        </a:rPr>
                        <a:t>1</a:t>
                      </a:r>
                      <a:endParaRPr lang="en-US" sz="110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tc>
                <a:tc>
                  <a:txBody>
                    <a:bodyPr/>
                    <a:lstStyle/>
                    <a:p>
                      <a:pPr marL="0" marR="0" algn="ctr" rtl="1">
                        <a:lnSpc>
                          <a:spcPct val="107000"/>
                        </a:lnSpc>
                        <a:spcBef>
                          <a:spcPts val="0"/>
                        </a:spcBef>
                        <a:spcAft>
                          <a:spcPts val="0"/>
                        </a:spcAft>
                      </a:pPr>
                      <a:r>
                        <a:rPr lang="en-US" sz="1200">
                          <a:effectLst/>
                        </a:rPr>
                        <a:t>201</a:t>
                      </a:r>
                      <a:endParaRPr lang="en-US" sz="110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tc>
                <a:tc>
                  <a:txBody>
                    <a:bodyPr/>
                    <a:lstStyle/>
                    <a:p>
                      <a:pPr marL="0" marR="0" algn="ctr" rtl="1">
                        <a:lnSpc>
                          <a:spcPct val="107000"/>
                        </a:lnSpc>
                        <a:spcBef>
                          <a:spcPts val="0"/>
                        </a:spcBef>
                        <a:spcAft>
                          <a:spcPts val="0"/>
                        </a:spcAft>
                      </a:pPr>
                      <a:r>
                        <a:rPr lang="en-US" sz="1200">
                          <a:effectLst/>
                        </a:rPr>
                        <a:t>101</a:t>
                      </a:r>
                      <a:endParaRPr lang="en-US" sz="110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tc>
                <a:tc>
                  <a:txBody>
                    <a:bodyPr/>
                    <a:lstStyle/>
                    <a:p>
                      <a:pPr marL="0" marR="0" algn="ctr" rtl="1">
                        <a:lnSpc>
                          <a:spcPct val="107000"/>
                        </a:lnSpc>
                        <a:spcBef>
                          <a:spcPts val="0"/>
                        </a:spcBef>
                        <a:spcAft>
                          <a:spcPts val="0"/>
                        </a:spcAft>
                      </a:pPr>
                      <a:r>
                        <a:rPr lang="en-US" sz="1200" dirty="0">
                          <a:effectLst/>
                        </a:rPr>
                        <a:t>2024-12-01</a:t>
                      </a:r>
                      <a:endParaRPr lang="en-US" sz="1100"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tc>
                <a:extLst>
                  <a:ext uri="{0D108BD9-81ED-4DB2-BD59-A6C34878D82A}">
                    <a16:rowId xmlns:a16="http://schemas.microsoft.com/office/drawing/2014/main" val="1383058912"/>
                  </a:ext>
                </a:extLst>
              </a:tr>
            </a:tbl>
          </a:graphicData>
        </a:graphic>
      </p:graphicFrame>
    </p:spTree>
    <p:extLst>
      <p:ext uri="{BB962C8B-B14F-4D97-AF65-F5344CB8AC3E}">
        <p14:creationId xmlns:p14="http://schemas.microsoft.com/office/powerpoint/2010/main" val="2711727078"/>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5531D9-C5AC-FFF0-8FEB-90158B81FCF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C310F2D-B0E5-443E-5871-F42227BD1DF7}"/>
              </a:ext>
            </a:extLst>
          </p:cNvPr>
          <p:cNvSpPr>
            <a:spLocks noGrp="1"/>
          </p:cNvSpPr>
          <p:nvPr>
            <p:ph type="title"/>
          </p:nvPr>
        </p:nvSpPr>
        <p:spPr/>
        <p:txBody>
          <a:bodyPr/>
          <a:lstStyle/>
          <a:p>
            <a:r>
              <a:rPr lang="fa-IR" dirty="0"/>
              <a:t>غیرنرمال سازی</a:t>
            </a:r>
            <a:endParaRPr lang="en-US" dirty="0"/>
          </a:p>
        </p:txBody>
      </p:sp>
      <p:sp>
        <p:nvSpPr>
          <p:cNvPr id="3" name="Content Placeholder 2">
            <a:extLst>
              <a:ext uri="{FF2B5EF4-FFF2-40B4-BE49-F238E27FC236}">
                <a16:creationId xmlns:a16="http://schemas.microsoft.com/office/drawing/2014/main" id="{B4C7C578-4025-B0D4-F808-6AFA6BC4BF76}"/>
              </a:ext>
            </a:extLst>
          </p:cNvPr>
          <p:cNvSpPr>
            <a:spLocks noGrp="1"/>
          </p:cNvSpPr>
          <p:nvPr>
            <p:ph idx="1"/>
          </p:nvPr>
        </p:nvSpPr>
        <p:spPr>
          <a:xfrm>
            <a:off x="76200" y="1066800"/>
            <a:ext cx="8915400" cy="5334000"/>
          </a:xfrm>
        </p:spPr>
        <p:txBody>
          <a:bodyPr/>
          <a:lstStyle/>
          <a:p>
            <a:pPr marL="0" marR="0" algn="r" rtl="1">
              <a:lnSpc>
                <a:spcPct val="107000"/>
              </a:lnSpc>
              <a:spcBef>
                <a:spcPts val="0"/>
              </a:spcBef>
              <a:spcAft>
                <a:spcPts val="800"/>
              </a:spcAft>
            </a:pPr>
            <a:r>
              <a:rPr lang="ar-SA" sz="1800" dirty="0">
                <a:effectLst/>
                <a:latin typeface="Calibri" panose="020F0502020204030204" pitchFamily="34" charset="0"/>
                <a:ea typeface="Times New Roman" panose="02020603050405020304" pitchFamily="18" charset="0"/>
              </a:rPr>
              <a:t>برای بهینه‌سازی عملکرد، می‌توانید داده‌های دسته‌بندی را مستقیماً در جدول </a:t>
            </a:r>
            <a:r>
              <a:rPr lang="ar-SA" sz="1800" b="1" dirty="0">
                <a:effectLst/>
                <a:latin typeface="Calibri" panose="020F0502020204030204" pitchFamily="34" charset="0"/>
                <a:ea typeface="Times New Roman" panose="02020603050405020304" pitchFamily="18" charset="0"/>
              </a:rPr>
              <a:t>محصولات</a:t>
            </a:r>
            <a:r>
              <a:rPr lang="ar-SA" sz="1800" dirty="0">
                <a:effectLst/>
                <a:latin typeface="Calibri" panose="020F0502020204030204" pitchFamily="34" charset="0"/>
                <a:ea typeface="Times New Roman" panose="02020603050405020304" pitchFamily="18" charset="0"/>
              </a:rPr>
              <a:t> ذخیره کنید و جزئیات محصول و دسته‌بندی را به جدول </a:t>
            </a:r>
            <a:r>
              <a:rPr lang="ar-SA" sz="1800" b="1" dirty="0">
                <a:effectLst/>
                <a:latin typeface="Calibri" panose="020F0502020204030204" pitchFamily="34" charset="0"/>
                <a:ea typeface="Times New Roman" panose="02020603050405020304" pitchFamily="18" charset="0"/>
              </a:rPr>
              <a:t>سفارش‌ها</a:t>
            </a:r>
            <a:r>
              <a:rPr lang="ar-SA" sz="1800" dirty="0">
                <a:effectLst/>
                <a:latin typeface="Calibri" panose="020F0502020204030204" pitchFamily="34" charset="0"/>
                <a:ea typeface="Times New Roman" panose="02020603050405020304" pitchFamily="18" charset="0"/>
              </a:rPr>
              <a:t> اضافه کنید</a:t>
            </a:r>
            <a:r>
              <a:rPr lang="en-US" sz="1800" dirty="0">
                <a:effectLst/>
                <a:latin typeface="Times New Roman" panose="02020603050405020304" pitchFamily="18" charset="0"/>
                <a:ea typeface="Times New Roman" panose="02020603050405020304" pitchFamily="18" charset="0"/>
              </a:rPr>
              <a:t>:</a:t>
            </a:r>
            <a:endParaRPr lang="en-US" sz="1800" dirty="0">
              <a:effectLst/>
              <a:latin typeface="Calibri" panose="020F0502020204030204" pitchFamily="34" charset="0"/>
              <a:ea typeface="Calibri" panose="020F0502020204030204" pitchFamily="34" charset="0"/>
            </a:endParaRPr>
          </a:p>
          <a:p>
            <a:pPr marL="342900" marR="0" lvl="0" indent="-342900" algn="r" rtl="1">
              <a:lnSpc>
                <a:spcPct val="107000"/>
              </a:lnSpc>
              <a:spcBef>
                <a:spcPts val="0"/>
              </a:spcBef>
              <a:spcAft>
                <a:spcPts val="800"/>
              </a:spcAft>
              <a:buFont typeface="+mj-lt"/>
              <a:buAutoNum type="arabicPeriod"/>
              <a:tabLst>
                <a:tab pos="457200" algn="l"/>
              </a:tabLst>
            </a:pPr>
            <a:r>
              <a:rPr lang="ar-SA" sz="1800" b="1" dirty="0">
                <a:effectLst/>
                <a:latin typeface="Calibri" panose="020F0502020204030204" pitchFamily="34" charset="0"/>
                <a:ea typeface="Times New Roman" panose="02020603050405020304" pitchFamily="18" charset="0"/>
              </a:rPr>
              <a:t>جدول محصولات </a:t>
            </a:r>
            <a:r>
              <a:rPr lang="fa-IR" sz="1800" b="1" dirty="0">
                <a:effectLst/>
                <a:latin typeface="Calibri" panose="020F0502020204030204" pitchFamily="34" charset="0"/>
                <a:ea typeface="Times New Roman" panose="02020603050405020304" pitchFamily="18" charset="0"/>
              </a:rPr>
              <a:t>غیرنرمال شده</a:t>
            </a:r>
            <a:r>
              <a:rPr lang="en-US" sz="1800" dirty="0">
                <a:effectLst/>
                <a:latin typeface="Times New Roman" panose="02020603050405020304" pitchFamily="18" charset="0"/>
                <a:ea typeface="Times New Roman" panose="02020603050405020304" pitchFamily="18" charset="0"/>
              </a:rPr>
              <a:t>:</a:t>
            </a:r>
            <a:endParaRPr lang="fa-IR" sz="1800" dirty="0">
              <a:effectLst/>
              <a:latin typeface="Times New Roman" panose="02020603050405020304" pitchFamily="18" charset="0"/>
              <a:ea typeface="Times New Roman" panose="02020603050405020304" pitchFamily="18" charset="0"/>
            </a:endParaRPr>
          </a:p>
          <a:p>
            <a:pPr algn="r" rtl="1">
              <a:lnSpc>
                <a:spcPct val="107000"/>
              </a:lnSpc>
              <a:spcBef>
                <a:spcPts val="0"/>
              </a:spcBef>
              <a:spcAft>
                <a:spcPts val="800"/>
              </a:spcAft>
              <a:buFont typeface="+mj-lt"/>
              <a:buAutoNum type="arabicPeriod"/>
              <a:tabLst>
                <a:tab pos="457200" algn="l"/>
              </a:tabLst>
            </a:pPr>
            <a:r>
              <a:rPr lang="ar-SA" sz="1800" b="1" dirty="0">
                <a:effectLst/>
                <a:latin typeface="Calibri" panose="020F0502020204030204" pitchFamily="34" charset="0"/>
                <a:ea typeface="Times New Roman" panose="02020603050405020304" pitchFamily="18" charset="0"/>
              </a:rPr>
              <a:t>جدول سفارش‌ها </a:t>
            </a:r>
            <a:r>
              <a:rPr lang="fa-IR" sz="1800" b="1" dirty="0">
                <a:latin typeface="Calibri" panose="020F0502020204030204" pitchFamily="34" charset="0"/>
                <a:ea typeface="Times New Roman" panose="02020603050405020304" pitchFamily="18" charset="0"/>
              </a:rPr>
              <a:t>غیرنرمال‌شده</a:t>
            </a:r>
            <a:r>
              <a:rPr lang="en-US" sz="1800" dirty="0">
                <a:effectLst/>
                <a:latin typeface="Times New Roman" panose="02020603050405020304" pitchFamily="18" charset="0"/>
                <a:ea typeface="Times New Roman" panose="02020603050405020304" pitchFamily="18" charset="0"/>
              </a:rPr>
              <a:t>:</a:t>
            </a:r>
            <a:endParaRPr lang="en-US" sz="1800" dirty="0">
              <a:effectLst/>
              <a:latin typeface="Calibri" panose="020F0502020204030204" pitchFamily="34" charset="0"/>
              <a:ea typeface="Calibri" panose="020F0502020204030204" pitchFamily="34" charset="0"/>
            </a:endParaRPr>
          </a:p>
          <a:p>
            <a:pPr marL="0" marR="0" algn="r" rtl="1">
              <a:lnSpc>
                <a:spcPct val="107000"/>
              </a:lnSpc>
              <a:spcBef>
                <a:spcPts val="0"/>
              </a:spcBef>
              <a:spcAft>
                <a:spcPts val="800"/>
              </a:spcAft>
            </a:pPr>
            <a:r>
              <a:rPr lang="ar-SA" sz="1800" b="1" dirty="0">
                <a:effectLst/>
                <a:latin typeface="Calibri" panose="020F0502020204030204" pitchFamily="34" charset="0"/>
                <a:ea typeface="Times New Roman" panose="02020603050405020304" pitchFamily="18" charset="0"/>
              </a:rPr>
              <a:t>مزایای غیرعادی‌سازی</a:t>
            </a:r>
            <a:r>
              <a:rPr lang="en-US" sz="1800" b="1" dirty="0">
                <a:effectLst/>
                <a:latin typeface="Times New Roman" panose="02020603050405020304" pitchFamily="18" charset="0"/>
                <a:ea typeface="Times New Roman" panose="02020603050405020304" pitchFamily="18" charset="0"/>
              </a:rPr>
              <a:t>:</a:t>
            </a:r>
            <a:endParaRPr lang="en-US" sz="1800" dirty="0">
              <a:effectLst/>
              <a:latin typeface="Calibri" panose="020F0502020204030204" pitchFamily="34" charset="0"/>
              <a:ea typeface="Calibri" panose="020F0502020204030204" pitchFamily="34" charset="0"/>
            </a:endParaRPr>
          </a:p>
          <a:p>
            <a:pPr marL="342900" marR="0" lvl="0" indent="-342900" algn="r" rtl="1">
              <a:lnSpc>
                <a:spcPct val="107000"/>
              </a:lnSpc>
              <a:spcBef>
                <a:spcPts val="0"/>
              </a:spcBef>
              <a:spcAft>
                <a:spcPts val="800"/>
              </a:spcAft>
              <a:buFont typeface="+mj-lt"/>
              <a:buAutoNum type="arabicPeriod"/>
              <a:tabLst>
                <a:tab pos="457200" algn="l"/>
              </a:tabLst>
            </a:pPr>
            <a:r>
              <a:rPr lang="ar-SA" sz="1800" b="1" dirty="0">
                <a:effectLst/>
                <a:latin typeface="Calibri" panose="020F0502020204030204" pitchFamily="34" charset="0"/>
                <a:ea typeface="Times New Roman" panose="02020603050405020304" pitchFamily="18" charset="0"/>
              </a:rPr>
              <a:t>کوئری‌های ساده‌تر</a:t>
            </a:r>
            <a:r>
              <a:rPr lang="en-US" sz="1800" dirty="0">
                <a:effectLst/>
                <a:latin typeface="Times New Roman" panose="02020603050405020304" pitchFamily="18" charset="0"/>
                <a:ea typeface="Times New Roman" panose="02020603050405020304" pitchFamily="18" charset="0"/>
              </a:rPr>
              <a:t>:</a:t>
            </a:r>
            <a:endParaRPr lang="en-US" sz="1800" dirty="0">
              <a:effectLst/>
              <a:latin typeface="Calibri" panose="020F0502020204030204" pitchFamily="34" charset="0"/>
              <a:ea typeface="Calibri" panose="020F0502020204030204" pitchFamily="34" charset="0"/>
            </a:endParaRPr>
          </a:p>
          <a:p>
            <a:pPr marL="457200" marR="0">
              <a:lnSpc>
                <a:spcPct val="107000"/>
              </a:lnSpc>
              <a:spcBef>
                <a:spcPts val="0"/>
              </a:spcBef>
              <a:spcAft>
                <a:spcPts val="0"/>
              </a:spcAft>
              <a:tabLst>
                <a:tab pos="581660" algn="l"/>
                <a:tab pos="1163320" algn="l"/>
                <a:tab pos="1744980" algn="l"/>
                <a:tab pos="2326640" algn="l"/>
                <a:tab pos="2908300" algn="l"/>
                <a:tab pos="3489960" algn="l"/>
                <a:tab pos="4071620" algn="l"/>
                <a:tab pos="4653280" algn="l"/>
                <a:tab pos="5234940" algn="l"/>
                <a:tab pos="5816600" algn="l"/>
                <a:tab pos="6398260" algn="l"/>
                <a:tab pos="6979920" algn="l"/>
                <a:tab pos="7561580" algn="l"/>
                <a:tab pos="8143240" algn="l"/>
                <a:tab pos="8724900" algn="l"/>
                <a:tab pos="9306560" algn="l"/>
              </a:tabLst>
            </a:pPr>
            <a:r>
              <a:rPr lang="en-US" sz="1800" dirty="0">
                <a:effectLst/>
                <a:latin typeface="Courier New" panose="02070309020205020404" pitchFamily="49" charset="0"/>
                <a:ea typeface="Times New Roman" panose="02020603050405020304" pitchFamily="18" charset="0"/>
              </a:rPr>
              <a:t>SELECT </a:t>
            </a:r>
            <a:r>
              <a:rPr lang="en-US" sz="1800" dirty="0" err="1">
                <a:effectLst/>
                <a:latin typeface="Courier New" panose="02070309020205020404" pitchFamily="49" charset="0"/>
                <a:ea typeface="Times New Roman" panose="02020603050405020304" pitchFamily="18" charset="0"/>
              </a:rPr>
              <a:t>OrderID</a:t>
            </a:r>
            <a:r>
              <a:rPr lang="en-US" sz="1800" dirty="0">
                <a:effectLst/>
                <a:latin typeface="Courier New" panose="02070309020205020404" pitchFamily="49" charset="0"/>
                <a:ea typeface="Times New Roman" panose="02020603050405020304" pitchFamily="18" charset="0"/>
              </a:rPr>
              <a:t>, </a:t>
            </a:r>
            <a:r>
              <a:rPr lang="en-US" sz="1800" dirty="0" err="1">
                <a:effectLst/>
                <a:latin typeface="Courier New" panose="02070309020205020404" pitchFamily="49" charset="0"/>
                <a:ea typeface="Times New Roman" panose="02020603050405020304" pitchFamily="18" charset="0"/>
              </a:rPr>
              <a:t>CustomerID</a:t>
            </a:r>
            <a:r>
              <a:rPr lang="en-US" sz="1800" dirty="0">
                <a:effectLst/>
                <a:latin typeface="Courier New" panose="02070309020205020404" pitchFamily="49" charset="0"/>
                <a:ea typeface="Times New Roman" panose="02020603050405020304" pitchFamily="18" charset="0"/>
              </a:rPr>
              <a:t>, ProductName, </a:t>
            </a:r>
            <a:r>
              <a:rPr lang="en-US" sz="1800" dirty="0" err="1">
                <a:effectLst/>
                <a:latin typeface="Courier New" panose="02070309020205020404" pitchFamily="49" charset="0"/>
                <a:ea typeface="Times New Roman" panose="02020603050405020304" pitchFamily="18" charset="0"/>
              </a:rPr>
              <a:t>CategoryName</a:t>
            </a:r>
            <a:r>
              <a:rPr lang="en-US" sz="1800" dirty="0">
                <a:effectLst/>
                <a:latin typeface="Courier New" panose="02070309020205020404" pitchFamily="49" charset="0"/>
                <a:ea typeface="Times New Roman" panose="02020603050405020304" pitchFamily="18" charset="0"/>
              </a:rPr>
              <a:t>, </a:t>
            </a:r>
            <a:r>
              <a:rPr lang="en-US" sz="1800" dirty="0" err="1">
                <a:effectLst/>
                <a:latin typeface="Courier New" panose="02070309020205020404" pitchFamily="49" charset="0"/>
                <a:ea typeface="Times New Roman" panose="02020603050405020304" pitchFamily="18" charset="0"/>
              </a:rPr>
              <a:t>OrderDate</a:t>
            </a:r>
            <a:r>
              <a:rPr lang="en-US" sz="1800" dirty="0">
                <a:effectLst/>
                <a:latin typeface="Courier New" panose="02070309020205020404" pitchFamily="49" charset="0"/>
                <a:ea typeface="Times New Roman" panose="02020603050405020304" pitchFamily="18" charset="0"/>
              </a:rPr>
              <a:t> FROM Orders;</a:t>
            </a:r>
            <a:endParaRPr lang="en-US" sz="1800" dirty="0">
              <a:effectLst/>
              <a:latin typeface="Calibri" panose="020F0502020204030204" pitchFamily="34" charset="0"/>
              <a:ea typeface="Calibri" panose="020F0502020204030204" pitchFamily="34" charset="0"/>
            </a:endParaRPr>
          </a:p>
          <a:p>
            <a:pPr marL="457200" marR="0" algn="r" rtl="1">
              <a:lnSpc>
                <a:spcPct val="107000"/>
              </a:lnSpc>
              <a:spcBef>
                <a:spcPts val="0"/>
              </a:spcBef>
              <a:spcAft>
                <a:spcPts val="800"/>
              </a:spcAft>
            </a:pPr>
            <a:r>
              <a:rPr lang="ar-SA" sz="1800" dirty="0">
                <a:effectLst/>
                <a:latin typeface="Calibri" panose="020F0502020204030204" pitchFamily="34" charset="0"/>
                <a:ea typeface="Times New Roman" panose="02020603050405020304" pitchFamily="18" charset="0"/>
              </a:rPr>
              <a:t>این کوئری هیچ </a:t>
            </a:r>
            <a:r>
              <a:rPr lang="fa-IR" sz="1800" dirty="0">
                <a:effectLst/>
                <a:latin typeface="Calibri" panose="020F0502020204030204" pitchFamily="34" charset="0"/>
                <a:ea typeface="Times New Roman" panose="02020603050405020304" pitchFamily="18" charset="0"/>
              </a:rPr>
              <a:t>پیوندی</a:t>
            </a:r>
            <a:r>
              <a:rPr lang="ar-SA" sz="1800" dirty="0">
                <a:effectLst/>
                <a:latin typeface="Calibri" panose="020F0502020204030204" pitchFamily="34" charset="0"/>
                <a:ea typeface="Times New Roman" panose="02020603050405020304" pitchFamily="18" charset="0"/>
              </a:rPr>
              <a:t> ندارد</a:t>
            </a:r>
            <a:r>
              <a:rPr lang="en-US" sz="1800" dirty="0">
                <a:effectLst/>
                <a:latin typeface="Times New Roman" panose="02020603050405020304" pitchFamily="18" charset="0"/>
                <a:ea typeface="Times New Roman" panose="02020603050405020304" pitchFamily="18" charset="0"/>
              </a:rPr>
              <a:t>.</a:t>
            </a:r>
            <a:endParaRPr lang="en-US" sz="1800" dirty="0">
              <a:effectLst/>
              <a:latin typeface="Calibri" panose="020F0502020204030204" pitchFamily="34" charset="0"/>
              <a:ea typeface="Calibri" panose="020F0502020204030204" pitchFamily="34" charset="0"/>
            </a:endParaRPr>
          </a:p>
          <a:p>
            <a:pPr marL="342900" marR="0" lvl="0" indent="-342900" algn="r" rtl="1">
              <a:lnSpc>
                <a:spcPct val="107000"/>
              </a:lnSpc>
              <a:spcBef>
                <a:spcPts val="0"/>
              </a:spcBef>
              <a:spcAft>
                <a:spcPts val="800"/>
              </a:spcAft>
              <a:buFont typeface="+mj-lt"/>
              <a:buAutoNum type="arabicPeriod" startAt="2"/>
              <a:tabLst>
                <a:tab pos="457200" algn="l"/>
              </a:tabLst>
            </a:pPr>
            <a:r>
              <a:rPr lang="ar-SA" sz="1800" b="1" dirty="0">
                <a:effectLst/>
                <a:latin typeface="Calibri" panose="020F0502020204030204" pitchFamily="34" charset="0"/>
                <a:ea typeface="Times New Roman" panose="02020603050405020304" pitchFamily="18" charset="0"/>
              </a:rPr>
              <a:t>بهبود عملکرد کوئری</a:t>
            </a:r>
            <a:r>
              <a:rPr lang="en-US" sz="1800" dirty="0">
                <a:effectLst/>
                <a:latin typeface="Times New Roman" panose="02020603050405020304" pitchFamily="18" charset="0"/>
                <a:ea typeface="Times New Roman" panose="02020603050405020304" pitchFamily="18" charset="0"/>
              </a:rPr>
              <a:t>: </a:t>
            </a:r>
            <a:r>
              <a:rPr lang="ar-SA" sz="1800" dirty="0">
                <a:effectLst/>
                <a:latin typeface="Calibri" panose="020F0502020204030204" pitchFamily="34" charset="0"/>
                <a:ea typeface="Times New Roman" panose="02020603050405020304" pitchFamily="18" charset="0"/>
              </a:rPr>
              <a:t>از آنجا که اتصالات حذف شده‌اند، بازیابی داده‌ها سریع‌تر انجام می‌شود، به‌ویژه برای مجموعه داده‌های بزرگ در محیط‌های پرترافیک</a:t>
            </a:r>
            <a:r>
              <a:rPr lang="en-US" sz="1800" dirty="0">
                <a:effectLst/>
                <a:latin typeface="Times New Roman" panose="02020603050405020304" pitchFamily="18" charset="0"/>
                <a:ea typeface="Times New Roman" panose="02020603050405020304" pitchFamily="18" charset="0"/>
              </a:rPr>
              <a:t>.</a:t>
            </a:r>
            <a:endParaRPr lang="en-US" sz="1800" dirty="0">
              <a:effectLst/>
              <a:latin typeface="Calibri" panose="020F0502020204030204" pitchFamily="34" charset="0"/>
              <a:ea typeface="Calibri" panose="020F0502020204030204" pitchFamily="34" charset="0"/>
            </a:endParaRPr>
          </a:p>
          <a:p>
            <a:pPr marL="0" marR="0" algn="r" rtl="1">
              <a:lnSpc>
                <a:spcPct val="107000"/>
              </a:lnSpc>
              <a:spcBef>
                <a:spcPts val="0"/>
              </a:spcBef>
              <a:spcAft>
                <a:spcPts val="800"/>
              </a:spcAft>
            </a:pPr>
            <a:r>
              <a:rPr lang="ar-SA" sz="1800" b="1" dirty="0">
                <a:effectLst/>
                <a:latin typeface="Calibri" panose="020F0502020204030204" pitchFamily="34" charset="0"/>
                <a:ea typeface="Times New Roman" panose="02020603050405020304" pitchFamily="18" charset="0"/>
              </a:rPr>
              <a:t>معایب</a:t>
            </a:r>
            <a:r>
              <a:rPr lang="en-US" sz="1800" b="1" dirty="0">
                <a:effectLst/>
                <a:latin typeface="Times New Roman" panose="02020603050405020304" pitchFamily="18" charset="0"/>
                <a:ea typeface="Times New Roman" panose="02020603050405020304" pitchFamily="18" charset="0"/>
              </a:rPr>
              <a:t>:</a:t>
            </a:r>
            <a:endParaRPr lang="en-US" sz="1800" dirty="0">
              <a:effectLst/>
              <a:latin typeface="Calibri" panose="020F0502020204030204" pitchFamily="34" charset="0"/>
              <a:ea typeface="Calibri" panose="020F0502020204030204" pitchFamily="34" charset="0"/>
            </a:endParaRPr>
          </a:p>
          <a:p>
            <a:pPr marL="342900" marR="0" lvl="0" indent="-342900" algn="r" rtl="1">
              <a:lnSpc>
                <a:spcPct val="107000"/>
              </a:lnSpc>
              <a:spcBef>
                <a:spcPts val="0"/>
              </a:spcBef>
              <a:spcAft>
                <a:spcPts val="800"/>
              </a:spcAft>
              <a:buFont typeface="+mj-lt"/>
              <a:buAutoNum type="arabicPeriod"/>
              <a:tabLst>
                <a:tab pos="457200" algn="l"/>
              </a:tabLst>
            </a:pPr>
            <a:r>
              <a:rPr lang="ar-SA" sz="1800" b="1" dirty="0">
                <a:effectLst/>
                <a:latin typeface="Calibri" panose="020F0502020204030204" pitchFamily="34" charset="0"/>
                <a:ea typeface="Times New Roman" panose="02020603050405020304" pitchFamily="18" charset="0"/>
              </a:rPr>
              <a:t>افزونگی</a:t>
            </a:r>
            <a:r>
              <a:rPr lang="en-US" sz="1800" dirty="0">
                <a:effectLst/>
                <a:latin typeface="Times New Roman" panose="02020603050405020304" pitchFamily="18" charset="0"/>
                <a:ea typeface="Times New Roman" panose="02020603050405020304" pitchFamily="18" charset="0"/>
              </a:rPr>
              <a:t>: </a:t>
            </a:r>
            <a:r>
              <a:rPr lang="ar-SA" sz="1800" dirty="0">
                <a:effectLst/>
                <a:latin typeface="Calibri" panose="020F0502020204030204" pitchFamily="34" charset="0"/>
                <a:ea typeface="Times New Roman" panose="02020603050405020304" pitchFamily="18" charset="0"/>
              </a:rPr>
              <a:t>اگر نام دسته‌بندی تغییر کند</a:t>
            </a:r>
            <a:r>
              <a:rPr lang="en-US" sz="1800">
                <a:effectLst/>
                <a:latin typeface="Times New Roman" panose="02020603050405020304" pitchFamily="18" charset="0"/>
                <a:ea typeface="Times New Roman" panose="02020603050405020304" pitchFamily="18" charset="0"/>
              </a:rPr>
              <a:t> </a:t>
            </a:r>
            <a:r>
              <a:rPr lang="ar-SA" sz="1800">
                <a:effectLst/>
                <a:latin typeface="Calibri" panose="020F0502020204030204" pitchFamily="34" charset="0"/>
                <a:ea typeface="Times New Roman" panose="02020603050405020304" pitchFamily="18" charset="0"/>
              </a:rPr>
              <a:t>مثلاً</a:t>
            </a:r>
            <a:r>
              <a:rPr lang="en-US" sz="1800" dirty="0">
                <a:effectLst/>
                <a:latin typeface="Times New Roman" panose="02020603050405020304" pitchFamily="18" charset="0"/>
                <a:ea typeface="Times New Roman" panose="02020603050405020304" pitchFamily="18" charset="0"/>
              </a:rPr>
              <a:t> "Electronics" </a:t>
            </a:r>
            <a:r>
              <a:rPr lang="ar-SA" sz="1800" dirty="0">
                <a:effectLst/>
                <a:latin typeface="Calibri" panose="020F0502020204030204" pitchFamily="34" charset="0"/>
                <a:ea typeface="Times New Roman" panose="02020603050405020304" pitchFamily="18" charset="0"/>
              </a:rPr>
              <a:t>به</a:t>
            </a:r>
            <a:r>
              <a:rPr lang="en-US" sz="1800" dirty="0">
                <a:effectLst/>
                <a:latin typeface="Times New Roman" panose="02020603050405020304" pitchFamily="18" charset="0"/>
                <a:ea typeface="Times New Roman" panose="02020603050405020304" pitchFamily="18" charset="0"/>
              </a:rPr>
              <a:t> "Electronic Devices“ </a:t>
            </a:r>
            <a:r>
              <a:rPr lang="ar-SA" sz="1800" dirty="0">
                <a:effectLst/>
                <a:latin typeface="Calibri" panose="020F0502020204030204" pitchFamily="34" charset="0"/>
                <a:ea typeface="Times New Roman" panose="02020603050405020304" pitchFamily="18" charset="0"/>
              </a:rPr>
              <a:t>، باید در مکان‌های مختلف به‌روزرسانی شود</a:t>
            </a:r>
            <a:r>
              <a:rPr lang="en-US" sz="1800" dirty="0">
                <a:effectLst/>
                <a:latin typeface="Times New Roman" panose="02020603050405020304" pitchFamily="18" charset="0"/>
                <a:ea typeface="Times New Roman" panose="02020603050405020304" pitchFamily="18" charset="0"/>
              </a:rPr>
              <a:t>.</a:t>
            </a:r>
            <a:endParaRPr lang="en-US" sz="1800" dirty="0">
              <a:effectLst/>
              <a:latin typeface="Calibri" panose="020F0502020204030204" pitchFamily="34" charset="0"/>
              <a:ea typeface="Calibri" panose="020F0502020204030204" pitchFamily="34" charset="0"/>
            </a:endParaRPr>
          </a:p>
          <a:p>
            <a:pPr marL="342900" marR="0" lvl="0" indent="-342900" algn="r" rtl="1">
              <a:lnSpc>
                <a:spcPct val="107000"/>
              </a:lnSpc>
              <a:spcBef>
                <a:spcPts val="0"/>
              </a:spcBef>
              <a:spcAft>
                <a:spcPts val="800"/>
              </a:spcAft>
              <a:buFont typeface="+mj-lt"/>
              <a:buAutoNum type="arabicPeriod"/>
              <a:tabLst>
                <a:tab pos="457200" algn="l"/>
              </a:tabLst>
            </a:pPr>
            <a:r>
              <a:rPr lang="ar-SA" sz="1800" b="1" dirty="0">
                <a:effectLst/>
                <a:latin typeface="Calibri" panose="020F0502020204030204" pitchFamily="34" charset="0"/>
                <a:ea typeface="Times New Roman" panose="02020603050405020304" pitchFamily="18" charset="0"/>
              </a:rPr>
              <a:t>احتمال ناسازگاری داده‌ها</a:t>
            </a:r>
            <a:r>
              <a:rPr lang="en-US" sz="1800" dirty="0">
                <a:effectLst/>
                <a:latin typeface="Times New Roman" panose="02020603050405020304" pitchFamily="18" charset="0"/>
                <a:ea typeface="Times New Roman" panose="02020603050405020304" pitchFamily="18" charset="0"/>
              </a:rPr>
              <a:t>: </a:t>
            </a:r>
            <a:r>
              <a:rPr lang="ar-SA" sz="1800" dirty="0">
                <a:effectLst/>
                <a:latin typeface="Calibri" panose="020F0502020204030204" pitchFamily="34" charset="0"/>
                <a:ea typeface="Times New Roman" panose="02020603050405020304" pitchFamily="18" charset="0"/>
              </a:rPr>
              <a:t>اگر به‌درستی مدیریت نشود، غیرعادی‌سازی ممکن است منجر به داده‌های ناسازگار شود</a:t>
            </a:r>
            <a:r>
              <a:rPr lang="en-US" sz="1800" dirty="0">
                <a:effectLst/>
                <a:latin typeface="Times New Roman" panose="02020603050405020304" pitchFamily="18" charset="0"/>
                <a:ea typeface="Times New Roman" panose="02020603050405020304" pitchFamily="18" charset="0"/>
              </a:rPr>
              <a:t>.</a:t>
            </a:r>
            <a:endParaRPr lang="en-US" sz="1800" dirty="0">
              <a:effectLst/>
              <a:latin typeface="Calibri" panose="020F0502020204030204" pitchFamily="34" charset="0"/>
              <a:ea typeface="Calibri" panose="020F0502020204030204" pitchFamily="34" charset="0"/>
            </a:endParaRPr>
          </a:p>
          <a:p>
            <a:pPr marL="0" marR="0" algn="r" rtl="1">
              <a:lnSpc>
                <a:spcPct val="107000"/>
              </a:lnSpc>
              <a:spcBef>
                <a:spcPts val="0"/>
              </a:spcBef>
              <a:spcAft>
                <a:spcPts val="0"/>
              </a:spcAft>
            </a:pPr>
            <a:r>
              <a:rPr lang="en-US" sz="1800" dirty="0">
                <a:effectLst/>
                <a:latin typeface="Times New Roman" panose="02020603050405020304" pitchFamily="18" charset="0"/>
                <a:ea typeface="Times New Roman" panose="02020603050405020304" pitchFamily="18" charset="0"/>
              </a:rPr>
              <a:t> </a:t>
            </a:r>
            <a:endParaRPr lang="en-US" sz="1800" dirty="0">
              <a:effectLst/>
              <a:latin typeface="Calibri" panose="020F0502020204030204" pitchFamily="34" charset="0"/>
              <a:ea typeface="Calibri" panose="020F0502020204030204" pitchFamily="34" charset="0"/>
            </a:endParaRPr>
          </a:p>
          <a:p>
            <a:pPr marL="342900" marR="0" lvl="0" indent="-342900" algn="r" rtl="1">
              <a:lnSpc>
                <a:spcPct val="107000"/>
              </a:lnSpc>
              <a:spcBef>
                <a:spcPts val="0"/>
              </a:spcBef>
              <a:spcAft>
                <a:spcPts val="800"/>
              </a:spcAft>
              <a:buFont typeface="+mj-lt"/>
              <a:buAutoNum type="arabicPeriod"/>
              <a:tabLst>
                <a:tab pos="457200" algn="l"/>
              </a:tabLst>
            </a:pPr>
            <a:endParaRPr lang="en-US" sz="1800" dirty="0">
              <a:effectLst/>
              <a:latin typeface="Calibri" panose="020F0502020204030204" pitchFamily="34" charset="0"/>
              <a:ea typeface="Calibri" panose="020F0502020204030204" pitchFamily="34" charset="0"/>
            </a:endParaRPr>
          </a:p>
        </p:txBody>
      </p:sp>
      <p:graphicFrame>
        <p:nvGraphicFramePr>
          <p:cNvPr id="4" name="Table 3">
            <a:extLst>
              <a:ext uri="{FF2B5EF4-FFF2-40B4-BE49-F238E27FC236}">
                <a16:creationId xmlns:a16="http://schemas.microsoft.com/office/drawing/2014/main" id="{19D23A43-D1A8-2B9B-C83B-0FDC96D8B335}"/>
              </a:ext>
            </a:extLst>
          </p:cNvPr>
          <p:cNvGraphicFramePr>
            <a:graphicFrameLocks noGrp="1"/>
          </p:cNvGraphicFramePr>
          <p:nvPr/>
        </p:nvGraphicFramePr>
        <p:xfrm>
          <a:off x="426720" y="1665096"/>
          <a:ext cx="3812616" cy="722886"/>
        </p:xfrm>
        <a:graphic>
          <a:graphicData uri="http://schemas.openxmlformats.org/drawingml/2006/table">
            <a:tbl>
              <a:tblPr firstRow="1" firstCol="1" bandRow="1">
                <a:tableStyleId>{616DA210-FB5B-4158-B5E0-FEB733F419BA}</a:tableStyleId>
              </a:tblPr>
              <a:tblGrid>
                <a:gridCol w="1005690">
                  <a:extLst>
                    <a:ext uri="{9D8B030D-6E8A-4147-A177-3AD203B41FA5}">
                      <a16:colId xmlns:a16="http://schemas.microsoft.com/office/drawing/2014/main" val="2715011988"/>
                    </a:ext>
                  </a:extLst>
                </a:gridCol>
                <a:gridCol w="1536054">
                  <a:extLst>
                    <a:ext uri="{9D8B030D-6E8A-4147-A177-3AD203B41FA5}">
                      <a16:colId xmlns:a16="http://schemas.microsoft.com/office/drawing/2014/main" val="2671341726"/>
                    </a:ext>
                  </a:extLst>
                </a:gridCol>
                <a:gridCol w="1270872">
                  <a:extLst>
                    <a:ext uri="{9D8B030D-6E8A-4147-A177-3AD203B41FA5}">
                      <a16:colId xmlns:a16="http://schemas.microsoft.com/office/drawing/2014/main" val="4063200182"/>
                    </a:ext>
                  </a:extLst>
                </a:gridCol>
              </a:tblGrid>
              <a:tr h="240962">
                <a:tc>
                  <a:txBody>
                    <a:bodyPr/>
                    <a:lstStyle/>
                    <a:p>
                      <a:pPr marL="0" marR="0" algn="ctr" rtl="1">
                        <a:lnSpc>
                          <a:spcPct val="107000"/>
                        </a:lnSpc>
                        <a:spcBef>
                          <a:spcPts val="0"/>
                        </a:spcBef>
                        <a:spcAft>
                          <a:spcPts val="0"/>
                        </a:spcAft>
                      </a:pPr>
                      <a:r>
                        <a:rPr lang="en-US" sz="1200">
                          <a:effectLst/>
                        </a:rPr>
                        <a:t>ProductID</a:t>
                      </a:r>
                      <a:endParaRPr lang="en-US" sz="110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tc>
                <a:tc>
                  <a:txBody>
                    <a:bodyPr/>
                    <a:lstStyle/>
                    <a:p>
                      <a:pPr marL="0" marR="0" algn="ctr" rtl="1">
                        <a:lnSpc>
                          <a:spcPct val="107000"/>
                        </a:lnSpc>
                        <a:spcBef>
                          <a:spcPts val="0"/>
                        </a:spcBef>
                        <a:spcAft>
                          <a:spcPts val="0"/>
                        </a:spcAft>
                      </a:pPr>
                      <a:r>
                        <a:rPr lang="en-US" sz="1200">
                          <a:effectLst/>
                        </a:rPr>
                        <a:t>ProductName</a:t>
                      </a:r>
                      <a:endParaRPr lang="en-US" sz="110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tc>
                <a:tc>
                  <a:txBody>
                    <a:bodyPr/>
                    <a:lstStyle/>
                    <a:p>
                      <a:pPr marL="0" marR="0" algn="ctr" rtl="1">
                        <a:lnSpc>
                          <a:spcPct val="107000"/>
                        </a:lnSpc>
                        <a:spcBef>
                          <a:spcPts val="0"/>
                        </a:spcBef>
                        <a:spcAft>
                          <a:spcPts val="0"/>
                        </a:spcAft>
                      </a:pPr>
                      <a:r>
                        <a:rPr lang="en-US" sz="1200">
                          <a:effectLst/>
                        </a:rPr>
                        <a:t>CategoryName</a:t>
                      </a:r>
                      <a:endParaRPr lang="en-US" sz="110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tc>
                <a:extLst>
                  <a:ext uri="{0D108BD9-81ED-4DB2-BD59-A6C34878D82A}">
                    <a16:rowId xmlns:a16="http://schemas.microsoft.com/office/drawing/2014/main" val="1033665246"/>
                  </a:ext>
                </a:extLst>
              </a:tr>
              <a:tr h="240962">
                <a:tc>
                  <a:txBody>
                    <a:bodyPr/>
                    <a:lstStyle/>
                    <a:p>
                      <a:pPr marL="0" marR="0" algn="r" rtl="1">
                        <a:lnSpc>
                          <a:spcPct val="107000"/>
                        </a:lnSpc>
                        <a:spcBef>
                          <a:spcPts val="0"/>
                        </a:spcBef>
                        <a:spcAft>
                          <a:spcPts val="0"/>
                        </a:spcAft>
                      </a:pPr>
                      <a:r>
                        <a:rPr lang="en-US" sz="1200">
                          <a:effectLst/>
                        </a:rPr>
                        <a:t>101</a:t>
                      </a:r>
                      <a:endParaRPr lang="en-US" sz="110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tc>
                <a:tc>
                  <a:txBody>
                    <a:bodyPr/>
                    <a:lstStyle/>
                    <a:p>
                      <a:pPr marL="0" marR="0" algn="r" rtl="1">
                        <a:lnSpc>
                          <a:spcPct val="107000"/>
                        </a:lnSpc>
                        <a:spcBef>
                          <a:spcPts val="0"/>
                        </a:spcBef>
                        <a:spcAft>
                          <a:spcPts val="0"/>
                        </a:spcAft>
                      </a:pPr>
                      <a:r>
                        <a:rPr lang="en-US" sz="1200" dirty="0">
                          <a:effectLst/>
                        </a:rPr>
                        <a:t>Laptop</a:t>
                      </a:r>
                      <a:endParaRPr lang="en-US" sz="1100"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tc>
                <a:tc>
                  <a:txBody>
                    <a:bodyPr/>
                    <a:lstStyle/>
                    <a:p>
                      <a:pPr marL="0" marR="0" algn="r" rtl="1">
                        <a:lnSpc>
                          <a:spcPct val="107000"/>
                        </a:lnSpc>
                        <a:spcBef>
                          <a:spcPts val="0"/>
                        </a:spcBef>
                        <a:spcAft>
                          <a:spcPts val="0"/>
                        </a:spcAft>
                      </a:pPr>
                      <a:r>
                        <a:rPr lang="en-US" sz="1200">
                          <a:effectLst/>
                        </a:rPr>
                        <a:t>Electronics</a:t>
                      </a:r>
                      <a:endParaRPr lang="en-US" sz="110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tc>
                <a:extLst>
                  <a:ext uri="{0D108BD9-81ED-4DB2-BD59-A6C34878D82A}">
                    <a16:rowId xmlns:a16="http://schemas.microsoft.com/office/drawing/2014/main" val="8281518"/>
                  </a:ext>
                </a:extLst>
              </a:tr>
              <a:tr h="240962">
                <a:tc>
                  <a:txBody>
                    <a:bodyPr/>
                    <a:lstStyle/>
                    <a:p>
                      <a:pPr marL="0" marR="0" algn="r" rtl="1">
                        <a:lnSpc>
                          <a:spcPct val="107000"/>
                        </a:lnSpc>
                        <a:spcBef>
                          <a:spcPts val="0"/>
                        </a:spcBef>
                        <a:spcAft>
                          <a:spcPts val="0"/>
                        </a:spcAft>
                      </a:pPr>
                      <a:r>
                        <a:rPr lang="en-US" sz="1200">
                          <a:effectLst/>
                        </a:rPr>
                        <a:t>102</a:t>
                      </a:r>
                      <a:endParaRPr lang="en-US" sz="110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tc>
                <a:tc>
                  <a:txBody>
                    <a:bodyPr/>
                    <a:lstStyle/>
                    <a:p>
                      <a:pPr marL="0" marR="0" algn="r" rtl="1">
                        <a:lnSpc>
                          <a:spcPct val="107000"/>
                        </a:lnSpc>
                        <a:spcBef>
                          <a:spcPts val="0"/>
                        </a:spcBef>
                        <a:spcAft>
                          <a:spcPts val="0"/>
                        </a:spcAft>
                      </a:pPr>
                      <a:r>
                        <a:rPr lang="en-US" sz="1200">
                          <a:effectLst/>
                        </a:rPr>
                        <a:t>Smartphone</a:t>
                      </a:r>
                      <a:endParaRPr lang="en-US" sz="110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tc>
                <a:tc>
                  <a:txBody>
                    <a:bodyPr/>
                    <a:lstStyle/>
                    <a:p>
                      <a:pPr marL="0" marR="0" algn="r" rtl="1">
                        <a:lnSpc>
                          <a:spcPct val="107000"/>
                        </a:lnSpc>
                        <a:spcBef>
                          <a:spcPts val="0"/>
                        </a:spcBef>
                        <a:spcAft>
                          <a:spcPts val="0"/>
                        </a:spcAft>
                      </a:pPr>
                      <a:r>
                        <a:rPr lang="en-US" sz="1200" dirty="0">
                          <a:effectLst/>
                        </a:rPr>
                        <a:t>Mobile Phones</a:t>
                      </a:r>
                      <a:endParaRPr lang="en-US" sz="1100"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tc>
                <a:extLst>
                  <a:ext uri="{0D108BD9-81ED-4DB2-BD59-A6C34878D82A}">
                    <a16:rowId xmlns:a16="http://schemas.microsoft.com/office/drawing/2014/main" val="4293629095"/>
                  </a:ext>
                </a:extLst>
              </a:tr>
            </a:tbl>
          </a:graphicData>
        </a:graphic>
      </p:graphicFrame>
      <p:graphicFrame>
        <p:nvGraphicFramePr>
          <p:cNvPr id="5" name="Table 4">
            <a:extLst>
              <a:ext uri="{FF2B5EF4-FFF2-40B4-BE49-F238E27FC236}">
                <a16:creationId xmlns:a16="http://schemas.microsoft.com/office/drawing/2014/main" id="{E65FDF57-3A6C-F7EA-47E1-74FBA47EE17A}"/>
              </a:ext>
            </a:extLst>
          </p:cNvPr>
          <p:cNvGraphicFramePr>
            <a:graphicFrameLocks noGrp="1"/>
          </p:cNvGraphicFramePr>
          <p:nvPr/>
        </p:nvGraphicFramePr>
        <p:xfrm>
          <a:off x="426720" y="2440585"/>
          <a:ext cx="5029200" cy="567691"/>
        </p:xfrm>
        <a:graphic>
          <a:graphicData uri="http://schemas.openxmlformats.org/drawingml/2006/table">
            <a:tbl>
              <a:tblPr firstRow="1" firstCol="1" bandRow="1">
                <a:tableStyleId>{616DA210-FB5B-4158-B5E0-FEB733F419BA}</a:tableStyleId>
              </a:tblPr>
              <a:tblGrid>
                <a:gridCol w="1005840">
                  <a:extLst>
                    <a:ext uri="{9D8B030D-6E8A-4147-A177-3AD203B41FA5}">
                      <a16:colId xmlns:a16="http://schemas.microsoft.com/office/drawing/2014/main" val="3793962895"/>
                    </a:ext>
                  </a:extLst>
                </a:gridCol>
                <a:gridCol w="1005840">
                  <a:extLst>
                    <a:ext uri="{9D8B030D-6E8A-4147-A177-3AD203B41FA5}">
                      <a16:colId xmlns:a16="http://schemas.microsoft.com/office/drawing/2014/main" val="3845221951"/>
                    </a:ext>
                  </a:extLst>
                </a:gridCol>
                <a:gridCol w="1005840">
                  <a:extLst>
                    <a:ext uri="{9D8B030D-6E8A-4147-A177-3AD203B41FA5}">
                      <a16:colId xmlns:a16="http://schemas.microsoft.com/office/drawing/2014/main" val="238199953"/>
                    </a:ext>
                  </a:extLst>
                </a:gridCol>
                <a:gridCol w="1005840">
                  <a:extLst>
                    <a:ext uri="{9D8B030D-6E8A-4147-A177-3AD203B41FA5}">
                      <a16:colId xmlns:a16="http://schemas.microsoft.com/office/drawing/2014/main" val="2746223179"/>
                    </a:ext>
                  </a:extLst>
                </a:gridCol>
                <a:gridCol w="1005840">
                  <a:extLst>
                    <a:ext uri="{9D8B030D-6E8A-4147-A177-3AD203B41FA5}">
                      <a16:colId xmlns:a16="http://schemas.microsoft.com/office/drawing/2014/main" val="1675421290"/>
                    </a:ext>
                  </a:extLst>
                </a:gridCol>
              </a:tblGrid>
              <a:tr h="186119">
                <a:tc>
                  <a:txBody>
                    <a:bodyPr/>
                    <a:lstStyle/>
                    <a:p>
                      <a:pPr marL="0" marR="0" algn="ctr" rtl="1">
                        <a:lnSpc>
                          <a:spcPct val="107000"/>
                        </a:lnSpc>
                        <a:spcBef>
                          <a:spcPts val="0"/>
                        </a:spcBef>
                        <a:spcAft>
                          <a:spcPts val="0"/>
                        </a:spcAft>
                      </a:pPr>
                      <a:r>
                        <a:rPr lang="en-US" sz="1200">
                          <a:effectLst/>
                        </a:rPr>
                        <a:t>OrderID</a:t>
                      </a:r>
                      <a:endParaRPr lang="en-US" sz="110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tc>
                <a:tc>
                  <a:txBody>
                    <a:bodyPr/>
                    <a:lstStyle/>
                    <a:p>
                      <a:pPr marL="0" marR="0" algn="ctr" rtl="1">
                        <a:lnSpc>
                          <a:spcPct val="107000"/>
                        </a:lnSpc>
                        <a:spcBef>
                          <a:spcPts val="0"/>
                        </a:spcBef>
                        <a:spcAft>
                          <a:spcPts val="0"/>
                        </a:spcAft>
                      </a:pPr>
                      <a:r>
                        <a:rPr lang="en-US" sz="1200">
                          <a:effectLst/>
                        </a:rPr>
                        <a:t>CustomerID</a:t>
                      </a:r>
                      <a:endParaRPr lang="en-US" sz="110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tc>
                <a:tc>
                  <a:txBody>
                    <a:bodyPr/>
                    <a:lstStyle/>
                    <a:p>
                      <a:pPr marL="0" marR="0" algn="ctr" rtl="1">
                        <a:lnSpc>
                          <a:spcPct val="107000"/>
                        </a:lnSpc>
                        <a:spcBef>
                          <a:spcPts val="0"/>
                        </a:spcBef>
                        <a:spcAft>
                          <a:spcPts val="0"/>
                        </a:spcAft>
                      </a:pPr>
                      <a:r>
                        <a:rPr lang="en-US" sz="1200" dirty="0">
                          <a:effectLst/>
                        </a:rPr>
                        <a:t>ProductName</a:t>
                      </a:r>
                      <a:endParaRPr lang="en-US" sz="1100"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tc>
                <a:tc>
                  <a:txBody>
                    <a:bodyPr/>
                    <a:lstStyle/>
                    <a:p>
                      <a:pPr marL="0" marR="0" algn="ctr" rtl="1">
                        <a:lnSpc>
                          <a:spcPct val="107000"/>
                        </a:lnSpc>
                        <a:spcBef>
                          <a:spcPts val="0"/>
                        </a:spcBef>
                        <a:spcAft>
                          <a:spcPts val="0"/>
                        </a:spcAft>
                      </a:pPr>
                      <a:r>
                        <a:rPr lang="en-US" sz="1200">
                          <a:effectLst/>
                        </a:rPr>
                        <a:t>CategoryName</a:t>
                      </a:r>
                      <a:endParaRPr lang="en-US" sz="110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tc>
                <a:tc>
                  <a:txBody>
                    <a:bodyPr/>
                    <a:lstStyle/>
                    <a:p>
                      <a:pPr marL="0" marR="0" algn="ctr" rtl="1">
                        <a:lnSpc>
                          <a:spcPct val="107000"/>
                        </a:lnSpc>
                        <a:spcBef>
                          <a:spcPts val="0"/>
                        </a:spcBef>
                        <a:spcAft>
                          <a:spcPts val="0"/>
                        </a:spcAft>
                      </a:pPr>
                      <a:r>
                        <a:rPr lang="en-US" sz="1200">
                          <a:effectLst/>
                        </a:rPr>
                        <a:t>OrderDate</a:t>
                      </a:r>
                      <a:endParaRPr lang="en-US" sz="110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tc>
                <a:extLst>
                  <a:ext uri="{0D108BD9-81ED-4DB2-BD59-A6C34878D82A}">
                    <a16:rowId xmlns:a16="http://schemas.microsoft.com/office/drawing/2014/main" val="4022269398"/>
                  </a:ext>
                </a:extLst>
              </a:tr>
              <a:tr h="186119">
                <a:tc>
                  <a:txBody>
                    <a:bodyPr/>
                    <a:lstStyle/>
                    <a:p>
                      <a:pPr marL="0" marR="0" algn="r" rtl="1">
                        <a:lnSpc>
                          <a:spcPct val="107000"/>
                        </a:lnSpc>
                        <a:spcBef>
                          <a:spcPts val="0"/>
                        </a:spcBef>
                        <a:spcAft>
                          <a:spcPts val="0"/>
                        </a:spcAft>
                      </a:pPr>
                      <a:r>
                        <a:rPr lang="en-US" sz="1200">
                          <a:effectLst/>
                        </a:rPr>
                        <a:t>1</a:t>
                      </a:r>
                      <a:endParaRPr lang="en-US" sz="110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tc>
                <a:tc>
                  <a:txBody>
                    <a:bodyPr/>
                    <a:lstStyle/>
                    <a:p>
                      <a:pPr marL="0" marR="0" algn="r" rtl="1">
                        <a:lnSpc>
                          <a:spcPct val="107000"/>
                        </a:lnSpc>
                        <a:spcBef>
                          <a:spcPts val="0"/>
                        </a:spcBef>
                        <a:spcAft>
                          <a:spcPts val="0"/>
                        </a:spcAft>
                      </a:pPr>
                      <a:r>
                        <a:rPr lang="en-US" sz="1200">
                          <a:effectLst/>
                        </a:rPr>
                        <a:t>201</a:t>
                      </a:r>
                      <a:endParaRPr lang="en-US" sz="110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tc>
                <a:tc>
                  <a:txBody>
                    <a:bodyPr/>
                    <a:lstStyle/>
                    <a:p>
                      <a:pPr marL="0" marR="0" algn="r" rtl="1">
                        <a:lnSpc>
                          <a:spcPct val="107000"/>
                        </a:lnSpc>
                        <a:spcBef>
                          <a:spcPts val="0"/>
                        </a:spcBef>
                        <a:spcAft>
                          <a:spcPts val="0"/>
                        </a:spcAft>
                      </a:pPr>
                      <a:r>
                        <a:rPr lang="en-US" sz="1200">
                          <a:effectLst/>
                        </a:rPr>
                        <a:t>Laptop</a:t>
                      </a:r>
                      <a:endParaRPr lang="en-US" sz="110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tc>
                <a:tc>
                  <a:txBody>
                    <a:bodyPr/>
                    <a:lstStyle/>
                    <a:p>
                      <a:pPr marL="0" marR="0" algn="r" rtl="1">
                        <a:lnSpc>
                          <a:spcPct val="107000"/>
                        </a:lnSpc>
                        <a:spcBef>
                          <a:spcPts val="0"/>
                        </a:spcBef>
                        <a:spcAft>
                          <a:spcPts val="0"/>
                        </a:spcAft>
                      </a:pPr>
                      <a:r>
                        <a:rPr lang="en-US" sz="1200">
                          <a:effectLst/>
                        </a:rPr>
                        <a:t>Electronics</a:t>
                      </a:r>
                      <a:endParaRPr lang="en-US" sz="110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tc>
                <a:tc>
                  <a:txBody>
                    <a:bodyPr/>
                    <a:lstStyle/>
                    <a:p>
                      <a:pPr marL="0" marR="0" algn="r" rtl="1">
                        <a:lnSpc>
                          <a:spcPct val="107000"/>
                        </a:lnSpc>
                        <a:spcBef>
                          <a:spcPts val="0"/>
                        </a:spcBef>
                        <a:spcAft>
                          <a:spcPts val="0"/>
                        </a:spcAft>
                      </a:pPr>
                      <a:r>
                        <a:rPr lang="en-US" sz="1200" dirty="0">
                          <a:effectLst/>
                        </a:rPr>
                        <a:t>2024-12-01</a:t>
                      </a:r>
                      <a:endParaRPr lang="en-US" sz="1100"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tc>
                <a:extLst>
                  <a:ext uri="{0D108BD9-81ED-4DB2-BD59-A6C34878D82A}">
                    <a16:rowId xmlns:a16="http://schemas.microsoft.com/office/drawing/2014/main" val="443415204"/>
                  </a:ext>
                </a:extLst>
              </a:tr>
            </a:tbl>
          </a:graphicData>
        </a:graphic>
      </p:graphicFrame>
    </p:spTree>
    <p:extLst>
      <p:ext uri="{BB962C8B-B14F-4D97-AF65-F5344CB8AC3E}">
        <p14:creationId xmlns:p14="http://schemas.microsoft.com/office/powerpoint/2010/main" val="4275780110"/>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8195" name="Rectangle 3"/>
          <p:cNvSpPr>
            <a:spLocks noGrp="1" noChangeArrowheads="1"/>
          </p:cNvSpPr>
          <p:nvPr>
            <p:ph idx="1"/>
          </p:nvPr>
        </p:nvSpPr>
        <p:spPr>
          <a:xfrm>
            <a:off x="1670067" y="2927700"/>
            <a:ext cx="6364461" cy="607980"/>
          </a:xfrm>
        </p:spPr>
        <p:txBody>
          <a:bodyPr/>
          <a:lstStyle/>
          <a:p>
            <a:pPr algn="ctr">
              <a:buFont typeface="Monotype Sorts" charset="2"/>
              <a:buNone/>
              <a:defRPr/>
            </a:pPr>
            <a:r>
              <a:rPr lang="fa-IR" sz="3200" dirty="0"/>
              <a:t>نظریه وابستگی </a:t>
            </a:r>
            <a:r>
              <a:rPr lang="fa-IR" sz="3200" dirty="0" err="1"/>
              <a:t>تابعی</a:t>
            </a:r>
            <a:endParaRPr lang="en-US" altLang="en-US" sz="3200" b="1" dirty="0">
              <a:solidFill>
                <a:srgbClr val="002060"/>
              </a:solidFill>
              <a:effectLst>
                <a:outerShdw blurRad="38100" dist="38100" dir="2700000" algn="tl">
                  <a:srgbClr val="C0C0C0"/>
                </a:outerShdw>
              </a:effectLst>
              <a:latin typeface="+mj-lt"/>
              <a:ea typeface="ＭＳ Ｐゴシック" pitchFamily="34" charset="-128"/>
              <a:cs typeface="+mj-cs"/>
            </a:endParaRPr>
          </a:p>
        </p:txBody>
      </p:sp>
    </p:spTree>
    <p:extLst>
      <p:ext uri="{BB962C8B-B14F-4D97-AF65-F5344CB8AC3E}">
        <p14:creationId xmlns:p14="http://schemas.microsoft.com/office/powerpoint/2010/main" val="2254219019"/>
      </p:ext>
    </p:extLst>
  </p:cSld>
  <p:clrMapOvr>
    <a:masterClrMapping/>
  </p:clrMapOvr>
  <p:transition spd="slow"/>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97346" name="Rectangle 2"/>
          <p:cNvSpPr>
            <a:spLocks noGrp="1" noChangeArrowheads="1"/>
          </p:cNvSpPr>
          <p:nvPr>
            <p:ph type="title"/>
          </p:nvPr>
        </p:nvSpPr>
        <p:spPr/>
        <p:txBody>
          <a:bodyPr/>
          <a:lstStyle/>
          <a:p>
            <a:pPr>
              <a:defRPr/>
            </a:pPr>
            <a:r>
              <a:rPr lang="en-US" altLang="en-US" sz="2800" dirty="0">
                <a:effectLst>
                  <a:outerShdw blurRad="38100" dist="38100" dir="2700000" algn="tl">
                    <a:srgbClr val="C0C0C0"/>
                  </a:outerShdw>
                </a:effectLst>
                <a:ea typeface="ＭＳ Ｐゴシック" pitchFamily="34" charset="-128"/>
              </a:rPr>
              <a:t>Functional-Dependency Theory Roadmap</a:t>
            </a:r>
          </a:p>
        </p:txBody>
      </p:sp>
      <p:sp>
        <p:nvSpPr>
          <p:cNvPr id="41987" name="Rectangle 3"/>
          <p:cNvSpPr>
            <a:spLocks noGrp="1" noChangeArrowheads="1"/>
          </p:cNvSpPr>
          <p:nvPr>
            <p:ph idx="1"/>
          </p:nvPr>
        </p:nvSpPr>
        <p:spPr>
          <a:xfrm>
            <a:off x="768351" y="1123950"/>
            <a:ext cx="7523394" cy="2365208"/>
          </a:xfrm>
        </p:spPr>
        <p:txBody>
          <a:bodyPr/>
          <a:lstStyle/>
          <a:p>
            <a:pPr algn="r" rtl="1"/>
            <a:r>
              <a:rPr lang="fa-IR" dirty="0"/>
              <a:t>حالا به نظریه رسمی </a:t>
            </a:r>
            <a:r>
              <a:rPr lang="fa-IR" dirty="0" err="1"/>
              <a:t>می‌پردازیم</a:t>
            </a:r>
            <a:r>
              <a:rPr lang="fa-IR" dirty="0"/>
              <a:t> که مشخص </a:t>
            </a:r>
            <a:r>
              <a:rPr lang="fa-IR" dirty="0" err="1"/>
              <a:t>می‌کند</a:t>
            </a:r>
            <a:r>
              <a:rPr lang="fa-IR" dirty="0"/>
              <a:t> کدام </a:t>
            </a:r>
            <a:r>
              <a:rPr lang="fa-IR" dirty="0" err="1"/>
              <a:t>وابستگی‌های</a:t>
            </a:r>
            <a:r>
              <a:rPr lang="fa-IR" dirty="0"/>
              <a:t> </a:t>
            </a:r>
            <a:r>
              <a:rPr lang="fa-IR" dirty="0" err="1"/>
              <a:t>تابعی</a:t>
            </a:r>
            <a:r>
              <a:rPr lang="fa-IR" dirty="0"/>
              <a:t> </a:t>
            </a:r>
            <a:r>
              <a:rPr lang="fa-IR" dirty="0" err="1"/>
              <a:t>به‌صورت</a:t>
            </a:r>
            <a:r>
              <a:rPr lang="fa-IR" dirty="0"/>
              <a:t> منطقی از یک مجموعه وابستگی </a:t>
            </a:r>
            <a:r>
              <a:rPr lang="fa-IR" dirty="0" err="1"/>
              <a:t>تابعی</a:t>
            </a:r>
            <a:r>
              <a:rPr lang="fa-IR" dirty="0"/>
              <a:t> نتیجه </a:t>
            </a:r>
            <a:r>
              <a:rPr lang="fa-IR" dirty="0" err="1"/>
              <a:t>می‌شوند</a:t>
            </a:r>
            <a:r>
              <a:rPr lang="fa-IR" dirty="0"/>
              <a:t>.</a:t>
            </a:r>
            <a:endParaRPr lang="en-US" altLang="en-US" dirty="0"/>
          </a:p>
          <a:p>
            <a:pPr algn="r" rtl="1"/>
            <a:r>
              <a:rPr lang="fa-IR" dirty="0"/>
              <a:t>سپس </a:t>
            </a:r>
            <a:r>
              <a:rPr lang="fa-IR" dirty="0" err="1"/>
              <a:t>الگوریتم‌هایی</a:t>
            </a:r>
            <a:r>
              <a:rPr lang="fa-IR" dirty="0"/>
              <a:t> را ارائه </a:t>
            </a:r>
            <a:r>
              <a:rPr lang="fa-IR" dirty="0" err="1"/>
              <a:t>می‌کنیم</a:t>
            </a:r>
            <a:r>
              <a:rPr lang="fa-IR" dirty="0"/>
              <a:t> که </a:t>
            </a:r>
            <a:r>
              <a:rPr lang="fa-IR" dirty="0" err="1"/>
              <a:t>تجزیه‌های</a:t>
            </a:r>
            <a:r>
              <a:rPr lang="fa-IR" dirty="0"/>
              <a:t> </a:t>
            </a:r>
            <a:r>
              <a:rPr lang="fa-IR" dirty="0" err="1"/>
              <a:t>بی‌اتلاف</a:t>
            </a:r>
            <a:r>
              <a:rPr lang="fa-IR" dirty="0"/>
              <a:t> به </a:t>
            </a:r>
            <a:r>
              <a:rPr lang="en-US" dirty="0"/>
              <a:t>BCNF </a:t>
            </a:r>
            <a:r>
              <a:rPr lang="fa-IR" dirty="0"/>
              <a:t>و</a:t>
            </a:r>
            <a:r>
              <a:rPr lang="en-US" dirty="0"/>
              <a:t>3NF </a:t>
            </a:r>
            <a:r>
              <a:rPr lang="fa-IR" dirty="0"/>
              <a:t>تولید </a:t>
            </a:r>
            <a:r>
              <a:rPr lang="fa-IR" dirty="0" err="1"/>
              <a:t>می‌کنند</a:t>
            </a:r>
            <a:r>
              <a:rPr lang="fa-IR" dirty="0"/>
              <a:t>.</a:t>
            </a:r>
            <a:endParaRPr lang="en-US" dirty="0"/>
          </a:p>
          <a:p>
            <a:pPr algn="r" rtl="1"/>
            <a:r>
              <a:rPr lang="fa-IR" dirty="0"/>
              <a:t>سپس </a:t>
            </a:r>
            <a:r>
              <a:rPr lang="fa-IR" dirty="0" err="1"/>
              <a:t>الگوریتم‌هایی</a:t>
            </a:r>
            <a:r>
              <a:rPr lang="fa-IR" dirty="0"/>
              <a:t> را ارائه </a:t>
            </a:r>
            <a:r>
              <a:rPr lang="fa-IR" dirty="0" err="1"/>
              <a:t>می‌کنیم</a:t>
            </a:r>
            <a:r>
              <a:rPr lang="fa-IR" dirty="0"/>
              <a:t> تا بررسی کنیم آیا یک تجزیه، </a:t>
            </a:r>
            <a:r>
              <a:rPr lang="fa-IR" dirty="0" err="1"/>
              <a:t>وابستگی‌ها</a:t>
            </a:r>
            <a:r>
              <a:rPr lang="fa-IR" dirty="0"/>
              <a:t> را حفظ </a:t>
            </a:r>
            <a:r>
              <a:rPr lang="fa-IR" dirty="0" err="1"/>
              <a:t>می‌کند</a:t>
            </a:r>
            <a:r>
              <a:rPr lang="fa-IR" dirty="0"/>
              <a:t> یا نه.</a:t>
            </a:r>
            <a:endParaRPr lang="en-US" alt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99394" name="Rectangle 2"/>
          <p:cNvSpPr>
            <a:spLocks noGrp="1" noChangeArrowheads="1"/>
          </p:cNvSpPr>
          <p:nvPr>
            <p:ph type="title"/>
          </p:nvPr>
        </p:nvSpPr>
        <p:spPr>
          <a:xfrm>
            <a:off x="882234" y="302796"/>
            <a:ext cx="7924800" cy="457200"/>
          </a:xfrm>
        </p:spPr>
        <p:txBody>
          <a:bodyPr/>
          <a:lstStyle/>
          <a:p>
            <a:pPr>
              <a:defRPr/>
            </a:pPr>
            <a:r>
              <a:rPr lang="en-US" altLang="en-US" sz="2800" dirty="0">
                <a:effectLst>
                  <a:outerShdw blurRad="38100" dist="38100" dir="2700000" algn="tl">
                    <a:srgbClr val="C0C0C0"/>
                  </a:outerShdw>
                </a:effectLst>
                <a:ea typeface="ＭＳ Ｐゴシック" pitchFamily="34" charset="-128"/>
              </a:rPr>
              <a:t>Closure of a Set of Functional Dependencies</a:t>
            </a:r>
          </a:p>
        </p:txBody>
      </p:sp>
      <p:sp>
        <p:nvSpPr>
          <p:cNvPr id="43011" name="Rectangle 3"/>
          <p:cNvSpPr>
            <a:spLocks noGrp="1" noChangeArrowheads="1"/>
          </p:cNvSpPr>
          <p:nvPr>
            <p:ph idx="1"/>
          </p:nvPr>
        </p:nvSpPr>
        <p:spPr>
          <a:xfrm>
            <a:off x="772357" y="1137711"/>
            <a:ext cx="7705817" cy="3008404"/>
          </a:xfrm>
        </p:spPr>
        <p:txBody>
          <a:bodyPr/>
          <a:lstStyle/>
          <a:p>
            <a:pPr algn="r" rtl="1"/>
            <a:r>
              <a:rPr lang="fa-IR" dirty="0"/>
              <a:t>اگر </a:t>
            </a:r>
            <a:r>
              <a:rPr lang="fa-IR" dirty="0" err="1"/>
              <a:t>مجموعه‌ای</a:t>
            </a:r>
            <a:r>
              <a:rPr lang="fa-IR" dirty="0"/>
              <a:t> </a:t>
            </a:r>
            <a:r>
              <a:rPr lang="en-US" dirty="0"/>
              <a:t>F </a:t>
            </a:r>
            <a:r>
              <a:rPr lang="fa-IR" dirty="0"/>
              <a:t>از </a:t>
            </a:r>
            <a:r>
              <a:rPr lang="fa-IR" dirty="0" err="1"/>
              <a:t>وابستگی‌های</a:t>
            </a:r>
            <a:r>
              <a:rPr lang="fa-IR" dirty="0"/>
              <a:t> </a:t>
            </a:r>
            <a:r>
              <a:rPr lang="fa-IR" dirty="0" err="1"/>
              <a:t>تابعی</a:t>
            </a:r>
            <a:r>
              <a:rPr lang="fa-IR" dirty="0"/>
              <a:t> داشته باشیم، </a:t>
            </a:r>
            <a:r>
              <a:rPr lang="fa-IR" dirty="0" err="1"/>
              <a:t>یک‌سری</a:t>
            </a:r>
            <a:r>
              <a:rPr lang="fa-IR" dirty="0"/>
              <a:t> </a:t>
            </a:r>
            <a:r>
              <a:rPr lang="fa-IR" dirty="0" err="1"/>
              <a:t>وابستگی‌های</a:t>
            </a:r>
            <a:r>
              <a:rPr lang="fa-IR" dirty="0"/>
              <a:t> </a:t>
            </a:r>
            <a:r>
              <a:rPr lang="fa-IR" dirty="0" err="1"/>
              <a:t>تابعی</a:t>
            </a:r>
            <a:r>
              <a:rPr lang="fa-IR" dirty="0"/>
              <a:t> دیگر هم وجود دارند که </a:t>
            </a:r>
            <a:r>
              <a:rPr lang="fa-IR" dirty="0" err="1"/>
              <a:t>به‌صورت</a:t>
            </a:r>
            <a:r>
              <a:rPr lang="fa-IR" dirty="0"/>
              <a:t> منطقی از </a:t>
            </a:r>
            <a:r>
              <a:rPr lang="en-US" dirty="0"/>
              <a:t>F </a:t>
            </a:r>
            <a:r>
              <a:rPr lang="fa-IR" dirty="0"/>
              <a:t>نتیجه </a:t>
            </a:r>
            <a:r>
              <a:rPr lang="fa-IR" dirty="0" err="1"/>
              <a:t>می‌شوند</a:t>
            </a:r>
            <a:r>
              <a:rPr lang="fa-IR" dirty="0"/>
              <a:t>.</a:t>
            </a:r>
            <a:endParaRPr lang="en-US" altLang="en-US" dirty="0"/>
          </a:p>
          <a:p>
            <a:pPr lvl="1" algn="r" rtl="1"/>
            <a:r>
              <a:rPr lang="en-US" altLang="en-US" dirty="0"/>
              <a:t> </a:t>
            </a:r>
            <a:r>
              <a:rPr lang="fa-IR" altLang="en-US" dirty="0"/>
              <a:t>اگر</a:t>
            </a:r>
            <a:r>
              <a:rPr lang="en-US" altLang="en-US" dirty="0"/>
              <a:t> </a:t>
            </a:r>
            <a:r>
              <a:rPr lang="en-US" altLang="en-US" i="1" dirty="0"/>
              <a:t>A</a:t>
            </a:r>
            <a:r>
              <a:rPr lang="en-US" altLang="en-US" dirty="0"/>
              <a:t> </a:t>
            </a:r>
            <a:r>
              <a:rPr lang="en-US" altLang="en-US" dirty="0">
                <a:sym typeface="Symbol" panose="05050102010706020507" pitchFamily="18" charset="2"/>
              </a:rPr>
              <a:t></a:t>
            </a:r>
            <a:r>
              <a:rPr lang="en-US" altLang="en-US" dirty="0">
                <a:sym typeface="Monotype Sorts" pitchFamily="-84" charset="2"/>
              </a:rPr>
              <a:t> </a:t>
            </a:r>
            <a:r>
              <a:rPr lang="en-US" altLang="en-US" i="1" dirty="0">
                <a:sym typeface="Monotype Sorts" pitchFamily="-84" charset="2"/>
              </a:rPr>
              <a:t>B</a:t>
            </a:r>
            <a:r>
              <a:rPr lang="en-US" altLang="en-US" dirty="0">
                <a:sym typeface="Monotype Sorts" pitchFamily="-84" charset="2"/>
              </a:rPr>
              <a:t> and  </a:t>
            </a:r>
            <a:r>
              <a:rPr lang="en-US" altLang="en-US" i="1" dirty="0">
                <a:sym typeface="Monotype Sorts" pitchFamily="-84" charset="2"/>
              </a:rPr>
              <a:t>B</a:t>
            </a:r>
            <a:r>
              <a:rPr lang="en-US" altLang="en-US" dirty="0">
                <a:sym typeface="Monotype Sorts" pitchFamily="-84" charset="2"/>
              </a:rPr>
              <a:t> </a:t>
            </a:r>
            <a:r>
              <a:rPr lang="en-US" altLang="en-US" dirty="0">
                <a:sym typeface="Symbol" panose="05050102010706020507" pitchFamily="18" charset="2"/>
              </a:rPr>
              <a:t></a:t>
            </a:r>
            <a:r>
              <a:rPr lang="en-US" altLang="en-US" dirty="0">
                <a:sym typeface="Monotype Sorts" pitchFamily="-84" charset="2"/>
              </a:rPr>
              <a:t> </a:t>
            </a:r>
            <a:r>
              <a:rPr lang="en-US" altLang="en-US" i="1" dirty="0">
                <a:sym typeface="Monotype Sorts" pitchFamily="-84" charset="2"/>
              </a:rPr>
              <a:t>C</a:t>
            </a:r>
            <a:r>
              <a:rPr lang="en-US" altLang="en-US" dirty="0">
                <a:sym typeface="Monotype Sorts" pitchFamily="-84" charset="2"/>
              </a:rPr>
              <a:t>, </a:t>
            </a:r>
            <a:r>
              <a:rPr lang="fa-IR" dirty="0" err="1"/>
              <a:t>می‌توان</a:t>
            </a:r>
            <a:r>
              <a:rPr lang="fa-IR" dirty="0"/>
              <a:t> نتیجه گرفت که</a:t>
            </a:r>
            <a:r>
              <a:rPr lang="en-US" altLang="en-US" i="1" dirty="0">
                <a:sym typeface="Monotype Sorts" pitchFamily="-84" charset="2"/>
              </a:rPr>
              <a:t>A</a:t>
            </a:r>
            <a:r>
              <a:rPr lang="en-US" altLang="en-US" dirty="0">
                <a:sym typeface="Monotype Sorts" pitchFamily="-84" charset="2"/>
              </a:rPr>
              <a:t> </a:t>
            </a:r>
            <a:r>
              <a:rPr lang="en-US" altLang="en-US" dirty="0">
                <a:sym typeface="Symbol" panose="05050102010706020507" pitchFamily="18" charset="2"/>
              </a:rPr>
              <a:t></a:t>
            </a:r>
            <a:r>
              <a:rPr lang="en-US" altLang="en-US" dirty="0">
                <a:sym typeface="Monotype Sorts" pitchFamily="-84" charset="2"/>
              </a:rPr>
              <a:t> C</a:t>
            </a:r>
          </a:p>
          <a:p>
            <a:pPr lvl="1" algn="r" rtl="1"/>
            <a:r>
              <a:rPr lang="fa-IR" altLang="en-US" dirty="0">
                <a:sym typeface="Monotype Sorts" pitchFamily="-84" charset="2"/>
              </a:rPr>
              <a:t>و…</a:t>
            </a:r>
            <a:endParaRPr lang="en-US" altLang="en-US" dirty="0"/>
          </a:p>
          <a:p>
            <a:pPr algn="r" rtl="1"/>
            <a:r>
              <a:rPr lang="fa-IR" dirty="0"/>
              <a:t>مجموعه تمام </a:t>
            </a:r>
            <a:r>
              <a:rPr lang="fa-IR" dirty="0" err="1"/>
              <a:t>وابستگی‌های</a:t>
            </a:r>
            <a:r>
              <a:rPr lang="fa-IR" dirty="0"/>
              <a:t> </a:t>
            </a:r>
            <a:r>
              <a:rPr lang="fa-IR" dirty="0" err="1"/>
              <a:t>تابعی</a:t>
            </a:r>
            <a:r>
              <a:rPr lang="fa-IR" dirty="0"/>
              <a:t> که </a:t>
            </a:r>
            <a:r>
              <a:rPr lang="fa-IR" dirty="0" err="1"/>
              <a:t>به‌صورت</a:t>
            </a:r>
            <a:r>
              <a:rPr lang="fa-IR" dirty="0"/>
              <a:t> منطقی از </a:t>
            </a:r>
            <a:r>
              <a:rPr lang="en-US" dirty="0"/>
              <a:t>F </a:t>
            </a:r>
            <a:r>
              <a:rPr lang="fa-IR" dirty="0" err="1"/>
              <a:t>به‌دست</a:t>
            </a:r>
            <a:r>
              <a:rPr lang="fa-IR" dirty="0"/>
              <a:t> </a:t>
            </a:r>
            <a:r>
              <a:rPr lang="fa-IR" dirty="0" err="1"/>
              <a:t>می‌آیند</a:t>
            </a:r>
            <a:r>
              <a:rPr lang="fa-IR" dirty="0"/>
              <a:t>، </a:t>
            </a:r>
            <a:r>
              <a:rPr lang="fa-IR" dirty="0" err="1"/>
              <a:t>بستارِ</a:t>
            </a:r>
            <a:r>
              <a:rPr lang="fa-IR" dirty="0"/>
              <a:t> </a:t>
            </a:r>
            <a:r>
              <a:rPr lang="en-US" dirty="0"/>
              <a:t>F </a:t>
            </a:r>
            <a:r>
              <a:rPr lang="fa-IR" dirty="0"/>
              <a:t>نامیده </a:t>
            </a:r>
            <a:r>
              <a:rPr lang="fa-IR" dirty="0" err="1"/>
              <a:t>می‌شود</a:t>
            </a:r>
            <a:r>
              <a:rPr lang="fa-IR" dirty="0"/>
              <a:t>.</a:t>
            </a:r>
          </a:p>
          <a:p>
            <a:pPr algn="r" rtl="1"/>
            <a:r>
              <a:rPr lang="fa-IR" dirty="0" err="1"/>
              <a:t>بستارِ</a:t>
            </a:r>
            <a:r>
              <a:rPr lang="fa-IR" dirty="0"/>
              <a:t> </a:t>
            </a:r>
            <a:r>
              <a:rPr lang="en-US" dirty="0"/>
              <a:t>F </a:t>
            </a:r>
            <a:r>
              <a:rPr lang="fa-IR" dirty="0"/>
              <a:t>را با نماد </a:t>
            </a:r>
            <a:r>
              <a:rPr lang="en-US" b="1" dirty="0"/>
              <a:t>F+</a:t>
            </a:r>
            <a:r>
              <a:rPr lang="en-US" dirty="0"/>
              <a:t> </a:t>
            </a:r>
            <a:r>
              <a:rPr lang="fa-IR" dirty="0"/>
              <a:t>نمایش </a:t>
            </a:r>
            <a:r>
              <a:rPr lang="fa-IR" dirty="0" err="1"/>
              <a:t>می‌دهیم</a:t>
            </a:r>
            <a:r>
              <a:rPr lang="fa-IR" dirty="0"/>
              <a:t>.</a:t>
            </a:r>
            <a:endParaRPr lang="en-US" altLang="en-US" i="1" dirty="0">
              <a:solidFill>
                <a:srgbClr val="000099"/>
              </a:solidFill>
            </a:endParaRPr>
          </a:p>
          <a:p>
            <a:pPr algn="r" rtl="1"/>
            <a:endParaRPr lang="en-US" altLang="en-US" dirty="0">
              <a:sym typeface="Greek Symbols"/>
            </a:endParaRPr>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49922" name="Rectangle 2"/>
          <p:cNvSpPr>
            <a:spLocks noGrp="1" noChangeArrowheads="1"/>
          </p:cNvSpPr>
          <p:nvPr>
            <p:ph type="title"/>
          </p:nvPr>
        </p:nvSpPr>
        <p:spPr>
          <a:xfrm>
            <a:off x="977900" y="304800"/>
            <a:ext cx="7924800" cy="457200"/>
          </a:xfrm>
        </p:spPr>
        <p:txBody>
          <a:bodyPr/>
          <a:lstStyle/>
          <a:p>
            <a:pPr>
              <a:defRPr/>
            </a:pPr>
            <a:r>
              <a:rPr lang="en-US" altLang="en-US" sz="2800" dirty="0">
                <a:effectLst>
                  <a:outerShdw blurRad="38100" dist="38100" dir="2700000" algn="tl">
                    <a:srgbClr val="C0C0C0"/>
                  </a:outerShdw>
                </a:effectLst>
                <a:ea typeface="ＭＳ Ｐゴシック" pitchFamily="34" charset="-128"/>
              </a:rPr>
              <a:t>Closure of a Set of Functional Dependencies</a:t>
            </a:r>
          </a:p>
        </p:txBody>
      </p:sp>
      <p:sp>
        <p:nvSpPr>
          <p:cNvPr id="44035" name="Rectangle 3"/>
          <p:cNvSpPr>
            <a:spLocks noGrp="1" noChangeArrowheads="1"/>
          </p:cNvSpPr>
          <p:nvPr>
            <p:ph idx="1"/>
          </p:nvPr>
        </p:nvSpPr>
        <p:spPr>
          <a:xfrm>
            <a:off x="772358" y="1124904"/>
            <a:ext cx="7741327" cy="3105654"/>
          </a:xfrm>
        </p:spPr>
        <p:txBody>
          <a:bodyPr/>
          <a:lstStyle/>
          <a:p>
            <a:pPr algn="r" rtl="1"/>
            <a:r>
              <a:rPr lang="fa-IR" dirty="0" err="1"/>
              <a:t>می‌توانیم</a:t>
            </a:r>
            <a:r>
              <a:rPr lang="fa-IR" dirty="0"/>
              <a:t> </a:t>
            </a:r>
            <a:r>
              <a:rPr lang="en-US" dirty="0"/>
              <a:t>)F+ </a:t>
            </a:r>
            <a:r>
              <a:rPr lang="fa-IR" dirty="0" err="1"/>
              <a:t>بستار</a:t>
            </a:r>
            <a:r>
              <a:rPr lang="fa-IR" dirty="0"/>
              <a:t> مجموعه </a:t>
            </a:r>
            <a:r>
              <a:rPr lang="en-US" dirty="0"/>
              <a:t>F</a:t>
            </a:r>
            <a:r>
              <a:rPr lang="fa-IR" dirty="0"/>
              <a:t> </a:t>
            </a:r>
            <a:r>
              <a:rPr lang="en-US" dirty="0"/>
              <a:t>( </a:t>
            </a:r>
            <a:r>
              <a:rPr lang="fa-IR" dirty="0"/>
              <a:t>را با اعمال مکرر اصول </a:t>
            </a:r>
            <a:r>
              <a:rPr lang="fa-IR" dirty="0" err="1"/>
              <a:t>آرمسترانگ</a:t>
            </a:r>
            <a:r>
              <a:rPr lang="fa-IR" dirty="0"/>
              <a:t> محاسبه کنیم.</a:t>
            </a:r>
            <a:endParaRPr lang="en-US" altLang="ja-JP" b="1" dirty="0">
              <a:solidFill>
                <a:srgbClr val="000099"/>
              </a:solidFill>
            </a:endParaRPr>
          </a:p>
          <a:p>
            <a:pPr lvl="1" algn="r" rtl="1"/>
            <a:r>
              <a:rPr lang="fa-IR" dirty="0"/>
              <a:t>قاعده بازتابی: </a:t>
            </a:r>
            <a:r>
              <a:rPr lang="en-US" altLang="en-US" dirty="0"/>
              <a:t>if </a:t>
            </a:r>
            <a:r>
              <a:rPr lang="en-US" altLang="en-US" i="1" dirty="0">
                <a:sym typeface="Symbol" panose="05050102010706020507" pitchFamily="18" charset="2"/>
              </a:rPr>
              <a:t></a:t>
            </a:r>
            <a:r>
              <a:rPr lang="en-US" altLang="en-US" dirty="0">
                <a:sym typeface="Symbol" panose="05050102010706020507" pitchFamily="18" charset="2"/>
              </a:rPr>
              <a:t>  , then  </a:t>
            </a:r>
            <a:r>
              <a:rPr lang="en-US" altLang="en-US" dirty="0">
                <a:sym typeface="Monotype Sorts" pitchFamily="-84" charset="2"/>
              </a:rPr>
              <a:t> </a:t>
            </a:r>
            <a:r>
              <a:rPr lang="en-US" altLang="en-US" i="1" dirty="0">
                <a:sym typeface="Symbol" panose="05050102010706020507" pitchFamily="18" charset="2"/>
              </a:rPr>
              <a:t>  </a:t>
            </a:r>
            <a:endParaRPr lang="en-US" altLang="en-US" dirty="0">
              <a:sym typeface="Symbol" panose="05050102010706020507" pitchFamily="18" charset="2"/>
            </a:endParaRPr>
          </a:p>
          <a:p>
            <a:pPr lvl="1" algn="r" rtl="1"/>
            <a:r>
              <a:rPr lang="fa-IR" dirty="0"/>
              <a:t>قاعده تقویت (گسترش): </a:t>
            </a:r>
            <a:r>
              <a:rPr lang="en-US" altLang="en-US" dirty="0">
                <a:sym typeface="Symbol" panose="05050102010706020507" pitchFamily="18" charset="2"/>
              </a:rPr>
              <a:t>if  </a:t>
            </a:r>
            <a:r>
              <a:rPr lang="en-US" altLang="en-US" dirty="0">
                <a:sym typeface="Monotype Sorts" pitchFamily="-84" charset="2"/>
              </a:rPr>
              <a:t> </a:t>
            </a:r>
            <a:r>
              <a:rPr lang="en-US" altLang="en-US" i="1" dirty="0">
                <a:sym typeface="Symbol" panose="05050102010706020507" pitchFamily="18" charset="2"/>
              </a:rPr>
              <a:t>, </a:t>
            </a:r>
            <a:r>
              <a:rPr lang="en-US" altLang="en-US" dirty="0">
                <a:sym typeface="Symbol" panose="05050102010706020507" pitchFamily="18" charset="2"/>
              </a:rPr>
              <a:t>then </a:t>
            </a:r>
            <a:r>
              <a:rPr lang="en-US" altLang="en-US" dirty="0">
                <a:sym typeface="Greek Symbols"/>
              </a:rPr>
              <a:t> </a:t>
            </a:r>
            <a:r>
              <a:rPr lang="en-US" altLang="en-US" dirty="0">
                <a:sym typeface="Symbol" panose="05050102010706020507" pitchFamily="18" charset="2"/>
              </a:rPr>
              <a:t> </a:t>
            </a:r>
            <a:r>
              <a:rPr lang="en-US" altLang="en-US" dirty="0">
                <a:sym typeface="Monotype Sorts" pitchFamily="-84" charset="2"/>
              </a:rPr>
              <a:t> </a:t>
            </a:r>
            <a:r>
              <a:rPr lang="en-US" altLang="en-US" dirty="0">
                <a:sym typeface="Symbol" panose="05050102010706020507" pitchFamily="18" charset="2"/>
              </a:rPr>
              <a:t> </a:t>
            </a:r>
            <a:r>
              <a:rPr lang="en-US" altLang="en-US" dirty="0">
                <a:sym typeface="Monotype Sorts" pitchFamily="-84" charset="2"/>
              </a:rPr>
              <a:t> </a:t>
            </a:r>
            <a:r>
              <a:rPr lang="en-US" altLang="en-US" i="1" dirty="0">
                <a:sym typeface="Symbol" panose="05050102010706020507" pitchFamily="18" charset="2"/>
              </a:rPr>
              <a:t></a:t>
            </a:r>
            <a:endParaRPr lang="en-US" altLang="en-US" dirty="0">
              <a:sym typeface="Symbol" panose="05050102010706020507" pitchFamily="18" charset="2"/>
            </a:endParaRPr>
          </a:p>
          <a:p>
            <a:pPr lvl="1" algn="r" rtl="1"/>
            <a:r>
              <a:rPr lang="fa-IR" dirty="0"/>
              <a:t>قاعده تعدی: </a:t>
            </a:r>
            <a:r>
              <a:rPr lang="en-US" altLang="en-US" dirty="0">
                <a:sym typeface="Symbol" panose="05050102010706020507" pitchFamily="18" charset="2"/>
              </a:rPr>
              <a:t>if  </a:t>
            </a:r>
            <a:r>
              <a:rPr lang="en-US" altLang="en-US" dirty="0">
                <a:sym typeface="Monotype Sorts" pitchFamily="-84" charset="2"/>
              </a:rPr>
              <a:t> </a:t>
            </a:r>
            <a:r>
              <a:rPr lang="en-US" altLang="en-US" i="1" dirty="0">
                <a:sym typeface="Symbol" panose="05050102010706020507" pitchFamily="18" charset="2"/>
              </a:rPr>
              <a:t>, </a:t>
            </a:r>
            <a:r>
              <a:rPr lang="en-US" altLang="en-US" dirty="0">
                <a:sym typeface="Symbol" panose="05050102010706020507" pitchFamily="18" charset="2"/>
              </a:rPr>
              <a:t>and </a:t>
            </a:r>
            <a:r>
              <a:rPr lang="en-US" altLang="en-US" i="1" dirty="0">
                <a:sym typeface="Symbol" panose="05050102010706020507" pitchFamily="18" charset="2"/>
              </a:rPr>
              <a:t> </a:t>
            </a:r>
            <a:r>
              <a:rPr lang="en-US" altLang="en-US" dirty="0">
                <a:sym typeface="Symbol" panose="05050102010706020507" pitchFamily="18" charset="2"/>
              </a:rPr>
              <a:t> </a:t>
            </a:r>
            <a:r>
              <a:rPr lang="en-US" altLang="en-US" dirty="0">
                <a:sym typeface="Monotype Sorts" pitchFamily="-84" charset="2"/>
              </a:rPr>
              <a:t>, then </a:t>
            </a:r>
            <a:r>
              <a:rPr lang="en-US" altLang="en-US" dirty="0">
                <a:sym typeface="Symbol" panose="05050102010706020507" pitchFamily="18" charset="2"/>
              </a:rPr>
              <a:t> </a:t>
            </a:r>
            <a:r>
              <a:rPr lang="en-US" altLang="en-US" dirty="0">
                <a:sym typeface="Monotype Sorts" pitchFamily="-84" charset="2"/>
              </a:rPr>
              <a:t> </a:t>
            </a:r>
            <a:r>
              <a:rPr lang="en-US" altLang="en-US" dirty="0">
                <a:sym typeface="Symbol" panose="05050102010706020507" pitchFamily="18" charset="2"/>
              </a:rPr>
              <a:t> </a:t>
            </a:r>
            <a:endParaRPr lang="en-US" altLang="en-US" b="1" dirty="0">
              <a:sym typeface="Greek Symbols"/>
            </a:endParaRPr>
          </a:p>
          <a:p>
            <a:pPr algn="r" rtl="1"/>
            <a:r>
              <a:rPr lang="fa-IR" dirty="0"/>
              <a:t>این قواعد «درست» هستند</a:t>
            </a:r>
            <a:endParaRPr lang="en-US" altLang="en-US" dirty="0">
              <a:sym typeface="Greek Symbols"/>
            </a:endParaRPr>
          </a:p>
          <a:p>
            <a:pPr lvl="1" algn="r" rtl="1"/>
            <a:r>
              <a:rPr lang="fa-IR" dirty="0"/>
              <a:t>یعنی فقط </a:t>
            </a:r>
            <a:r>
              <a:rPr lang="fa-IR" dirty="0" err="1"/>
              <a:t>وابستگی‌هایی</a:t>
            </a:r>
            <a:r>
              <a:rPr lang="fa-IR" dirty="0"/>
              <a:t> را تولید </a:t>
            </a:r>
            <a:r>
              <a:rPr lang="fa-IR" dirty="0" err="1"/>
              <a:t>می‌کنند</a:t>
            </a:r>
            <a:r>
              <a:rPr lang="fa-IR" dirty="0"/>
              <a:t> که واقعاً </a:t>
            </a:r>
            <a:r>
              <a:rPr lang="fa-IR" dirty="0" err="1"/>
              <a:t>برقرارند</a:t>
            </a:r>
            <a:r>
              <a:rPr lang="fa-IR" dirty="0"/>
              <a:t>.</a:t>
            </a:r>
            <a:endParaRPr lang="en-US" dirty="0"/>
          </a:p>
          <a:p>
            <a:pPr lvl="1" algn="r" rtl="1"/>
            <a:r>
              <a:rPr lang="fa-IR" dirty="0"/>
              <a:t>و «کامل» هستند — یعنی همه </a:t>
            </a:r>
            <a:r>
              <a:rPr lang="fa-IR" dirty="0" err="1"/>
              <a:t>وابستگی‌های</a:t>
            </a:r>
            <a:r>
              <a:rPr lang="fa-IR" dirty="0"/>
              <a:t> </a:t>
            </a:r>
            <a:r>
              <a:rPr lang="fa-IR" dirty="0" err="1"/>
              <a:t>تابعی‌ای</a:t>
            </a:r>
            <a:r>
              <a:rPr lang="fa-IR" dirty="0"/>
              <a:t> را که برقرار </a:t>
            </a:r>
            <a:r>
              <a:rPr lang="fa-IR" dirty="0" err="1"/>
              <a:t>می‌شوند</a:t>
            </a:r>
            <a:r>
              <a:rPr lang="fa-IR" dirty="0"/>
              <a:t> تولید </a:t>
            </a:r>
            <a:r>
              <a:rPr lang="fa-IR" dirty="0" err="1"/>
              <a:t>می‌کنند</a:t>
            </a:r>
            <a:r>
              <a:rPr lang="fa-IR" dirty="0"/>
              <a:t>.</a:t>
            </a:r>
            <a:endParaRPr lang="en-US" altLang="en-US" dirty="0">
              <a:sym typeface="Greek Symbols"/>
            </a:endParaRPr>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01442" name="Rectangle 2"/>
          <p:cNvSpPr>
            <a:spLocks noGrp="1" noChangeArrowheads="1"/>
          </p:cNvSpPr>
          <p:nvPr>
            <p:ph type="title"/>
          </p:nvPr>
        </p:nvSpPr>
        <p:spPr/>
        <p:txBody>
          <a:bodyPr/>
          <a:lstStyle/>
          <a:p>
            <a:pPr>
              <a:defRPr/>
            </a:pPr>
            <a:r>
              <a:rPr lang="en-US" altLang="en-US" dirty="0">
                <a:effectLst>
                  <a:outerShdw blurRad="38100" dist="38100" dir="2700000" algn="tl">
                    <a:srgbClr val="C0C0C0"/>
                  </a:outerShdw>
                </a:effectLst>
                <a:ea typeface="ＭＳ Ｐゴシック" pitchFamily="34" charset="-128"/>
              </a:rPr>
              <a:t>Example of </a:t>
            </a:r>
            <a:r>
              <a:rPr lang="en-US" altLang="en-US" dirty="0">
                <a:sym typeface="MS LineDraw"/>
              </a:rPr>
              <a:t> </a:t>
            </a:r>
            <a:r>
              <a:rPr lang="en-US" altLang="en-US" i="1" dirty="0">
                <a:sym typeface="MS LineDraw"/>
              </a:rPr>
              <a:t>F</a:t>
            </a:r>
            <a:r>
              <a:rPr lang="en-US" altLang="en-US" baseline="30000" dirty="0">
                <a:sym typeface="MS LineDraw"/>
              </a:rPr>
              <a:t>+</a:t>
            </a:r>
            <a:endParaRPr lang="en-US" altLang="en-US" dirty="0">
              <a:effectLst>
                <a:outerShdw blurRad="38100" dist="38100" dir="2700000" algn="tl">
                  <a:srgbClr val="C0C0C0"/>
                </a:outerShdw>
              </a:effectLst>
              <a:ea typeface="ＭＳ Ｐゴシック" pitchFamily="34" charset="-128"/>
            </a:endParaRPr>
          </a:p>
        </p:txBody>
      </p:sp>
      <p:sp>
        <p:nvSpPr>
          <p:cNvPr id="701443" name="Rectangle 3"/>
          <p:cNvSpPr>
            <a:spLocks noGrp="1" noChangeArrowheads="1"/>
          </p:cNvSpPr>
          <p:nvPr>
            <p:ph idx="1"/>
          </p:nvPr>
        </p:nvSpPr>
        <p:spPr>
          <a:xfrm>
            <a:off x="768350" y="1107803"/>
            <a:ext cx="7873858" cy="4975225"/>
          </a:xfrm>
        </p:spPr>
        <p:txBody>
          <a:bodyPr/>
          <a:lstStyle/>
          <a:p>
            <a:pPr>
              <a:tabLst>
                <a:tab pos="803275" algn="l"/>
              </a:tabLst>
            </a:pPr>
            <a:r>
              <a:rPr lang="en-US" altLang="en-US" i="1" dirty="0"/>
              <a:t>R = (A, B, C, G, H, I)</a:t>
            </a:r>
            <a:br>
              <a:rPr lang="en-US" altLang="en-US" i="1" dirty="0"/>
            </a:br>
            <a:r>
              <a:rPr lang="en-US" altLang="en-US" i="1" dirty="0"/>
              <a:t>F = </a:t>
            </a:r>
            <a:r>
              <a:rPr lang="en-US" altLang="en-US" dirty="0"/>
              <a:t>{ </a:t>
            </a:r>
            <a:r>
              <a:rPr lang="en-US" altLang="en-US" i="1" dirty="0">
                <a:sym typeface="Iconic Symbols Ext"/>
              </a:rPr>
              <a:t>A </a:t>
            </a:r>
            <a:r>
              <a:rPr lang="en-US" altLang="en-US" dirty="0">
                <a:sym typeface="Symbol" panose="05050102010706020507" pitchFamily="18" charset="2"/>
              </a:rPr>
              <a:t></a:t>
            </a:r>
            <a:r>
              <a:rPr lang="en-US" altLang="en-US" dirty="0">
                <a:sym typeface="Monotype Sorts" pitchFamily="-84" charset="2"/>
              </a:rPr>
              <a:t> </a:t>
            </a:r>
            <a:r>
              <a:rPr lang="en-US" altLang="en-US" i="1" dirty="0">
                <a:sym typeface="Monotype Sorts" pitchFamily="-84" charset="2"/>
              </a:rPr>
              <a:t>B</a:t>
            </a:r>
            <a:br>
              <a:rPr lang="en-US" altLang="en-US" i="1" dirty="0">
                <a:sym typeface="Monotype Sorts" pitchFamily="-84" charset="2"/>
              </a:rPr>
            </a:br>
            <a:r>
              <a:rPr lang="en-US" altLang="en-US" i="1" dirty="0">
                <a:sym typeface="Monotype Sorts" pitchFamily="-84" charset="2"/>
              </a:rPr>
              <a:t>	 </a:t>
            </a:r>
            <a:r>
              <a:rPr lang="en-US" altLang="en-US" i="1" dirty="0">
                <a:sym typeface="Iconic Symbols Ext"/>
              </a:rPr>
              <a:t>A </a:t>
            </a:r>
            <a:r>
              <a:rPr lang="en-US" altLang="en-US" dirty="0">
                <a:sym typeface="Symbol" panose="05050102010706020507" pitchFamily="18" charset="2"/>
              </a:rPr>
              <a:t></a:t>
            </a:r>
            <a:r>
              <a:rPr lang="en-US" altLang="en-US" dirty="0">
                <a:sym typeface="Monotype Sorts" pitchFamily="-84" charset="2"/>
              </a:rPr>
              <a:t> </a:t>
            </a:r>
            <a:r>
              <a:rPr lang="en-US" altLang="en-US" i="1" dirty="0">
                <a:sym typeface="Monotype Sorts" pitchFamily="-84" charset="2"/>
              </a:rPr>
              <a:t>C</a:t>
            </a:r>
            <a:br>
              <a:rPr lang="en-US" altLang="en-US" i="1" dirty="0">
                <a:sym typeface="Monotype Sorts" pitchFamily="-84" charset="2"/>
              </a:rPr>
            </a:br>
            <a:r>
              <a:rPr lang="en-US" altLang="en-US" i="1" dirty="0">
                <a:sym typeface="Monotype Sorts" pitchFamily="-84" charset="2"/>
              </a:rPr>
              <a:t>	</a:t>
            </a:r>
            <a:r>
              <a:rPr lang="en-US" altLang="en-US" i="1" dirty="0">
                <a:sym typeface="Iconic Symbols Ext"/>
              </a:rPr>
              <a:t>CG </a:t>
            </a:r>
            <a:r>
              <a:rPr lang="en-US" altLang="en-US" dirty="0">
                <a:sym typeface="Symbol" panose="05050102010706020507" pitchFamily="18" charset="2"/>
              </a:rPr>
              <a:t></a:t>
            </a:r>
            <a:r>
              <a:rPr lang="en-US" altLang="en-US" dirty="0">
                <a:sym typeface="Monotype Sorts" pitchFamily="-84" charset="2"/>
              </a:rPr>
              <a:t> </a:t>
            </a:r>
            <a:r>
              <a:rPr lang="en-US" altLang="en-US" i="1" dirty="0">
                <a:sym typeface="Monotype Sorts" pitchFamily="-84" charset="2"/>
              </a:rPr>
              <a:t>H</a:t>
            </a:r>
            <a:br>
              <a:rPr lang="en-US" altLang="en-US" i="1" dirty="0">
                <a:sym typeface="Monotype Sorts" pitchFamily="-84" charset="2"/>
              </a:rPr>
            </a:br>
            <a:r>
              <a:rPr lang="en-US" altLang="en-US" i="1" dirty="0">
                <a:sym typeface="Monotype Sorts" pitchFamily="-84" charset="2"/>
              </a:rPr>
              <a:t>	</a:t>
            </a:r>
            <a:r>
              <a:rPr lang="en-US" altLang="en-US" i="1" dirty="0">
                <a:sym typeface="Iconic Symbols Ext"/>
              </a:rPr>
              <a:t>CG </a:t>
            </a:r>
            <a:r>
              <a:rPr lang="en-US" altLang="en-US" dirty="0">
                <a:sym typeface="Symbol" panose="05050102010706020507" pitchFamily="18" charset="2"/>
              </a:rPr>
              <a:t></a:t>
            </a:r>
            <a:r>
              <a:rPr lang="en-US" altLang="en-US" dirty="0">
                <a:sym typeface="Monotype Sorts" pitchFamily="-84" charset="2"/>
              </a:rPr>
              <a:t> </a:t>
            </a:r>
            <a:r>
              <a:rPr lang="en-US" altLang="en-US" i="1" dirty="0">
                <a:sym typeface="Monotype Sorts" pitchFamily="-84" charset="2"/>
              </a:rPr>
              <a:t>I</a:t>
            </a:r>
            <a:br>
              <a:rPr lang="en-US" altLang="en-US" i="1" dirty="0">
                <a:sym typeface="Monotype Sorts" pitchFamily="-84" charset="2"/>
              </a:rPr>
            </a:br>
            <a:r>
              <a:rPr lang="en-US" altLang="en-US" i="1" dirty="0">
                <a:sym typeface="Monotype Sorts" pitchFamily="-84" charset="2"/>
              </a:rPr>
              <a:t>	 </a:t>
            </a:r>
            <a:r>
              <a:rPr lang="en-US" altLang="en-US" i="1" dirty="0">
                <a:sym typeface="Iconic Symbols Ext"/>
              </a:rPr>
              <a:t>B </a:t>
            </a:r>
            <a:r>
              <a:rPr lang="en-US" altLang="en-US" dirty="0">
                <a:sym typeface="Symbol" panose="05050102010706020507" pitchFamily="18" charset="2"/>
              </a:rPr>
              <a:t></a:t>
            </a:r>
            <a:r>
              <a:rPr lang="en-US" altLang="en-US" dirty="0">
                <a:sym typeface="Monotype Sorts" pitchFamily="-84" charset="2"/>
              </a:rPr>
              <a:t> </a:t>
            </a:r>
            <a:r>
              <a:rPr lang="en-US" altLang="en-US" i="1" dirty="0">
                <a:sym typeface="Monotype Sorts" pitchFamily="-84" charset="2"/>
              </a:rPr>
              <a:t>H</a:t>
            </a:r>
            <a:r>
              <a:rPr lang="en-US" altLang="en-US" dirty="0">
                <a:sym typeface="Monotype Sorts" pitchFamily="-84" charset="2"/>
              </a:rPr>
              <a:t>}</a:t>
            </a:r>
            <a:endParaRPr lang="en-US" altLang="en-US" dirty="0">
              <a:sym typeface="MS LineDraw"/>
            </a:endParaRPr>
          </a:p>
          <a:p>
            <a:pPr algn="r" rtl="1">
              <a:tabLst>
                <a:tab pos="803275" algn="l"/>
              </a:tabLst>
            </a:pPr>
            <a:r>
              <a:rPr lang="fa-IR" dirty="0"/>
              <a:t>برخی اعضای </a:t>
            </a:r>
            <a:r>
              <a:rPr lang="en-US" dirty="0"/>
              <a:t>F⁺ </a:t>
            </a:r>
            <a:r>
              <a:rPr lang="fa-IR" dirty="0" err="1"/>
              <a:t>عبارت‌اند</a:t>
            </a:r>
            <a:r>
              <a:rPr lang="fa-IR" dirty="0"/>
              <a:t> از:</a:t>
            </a:r>
            <a:endParaRPr lang="en-US" altLang="en-US" dirty="0">
              <a:sym typeface="MS LineDraw"/>
            </a:endParaRPr>
          </a:p>
          <a:p>
            <a:pPr lvl="1">
              <a:tabLst>
                <a:tab pos="803275" algn="l"/>
              </a:tabLst>
            </a:pPr>
            <a:r>
              <a:rPr lang="en-US" altLang="en-US" i="1" dirty="0">
                <a:sym typeface="Monotype Sorts" pitchFamily="-84" charset="2"/>
              </a:rPr>
              <a:t>A </a:t>
            </a:r>
            <a:r>
              <a:rPr lang="en-US" altLang="en-US" dirty="0">
                <a:sym typeface="Symbol" panose="05050102010706020507" pitchFamily="18" charset="2"/>
              </a:rPr>
              <a:t></a:t>
            </a:r>
            <a:r>
              <a:rPr lang="en-US" altLang="en-US" dirty="0">
                <a:sym typeface="Monotype Sorts" pitchFamily="-84" charset="2"/>
              </a:rPr>
              <a:t> </a:t>
            </a:r>
            <a:r>
              <a:rPr lang="en-US" altLang="en-US" i="1" dirty="0">
                <a:sym typeface="Monotype Sorts" pitchFamily="-84" charset="2"/>
              </a:rPr>
              <a:t>H        </a:t>
            </a:r>
          </a:p>
          <a:p>
            <a:pPr lvl="2">
              <a:tabLst>
                <a:tab pos="803275" algn="l"/>
              </a:tabLst>
            </a:pPr>
            <a:r>
              <a:rPr lang="fa-IR" altLang="en-US" dirty="0">
                <a:sym typeface="Monotype Sorts" pitchFamily="-84" charset="2"/>
              </a:rPr>
              <a:t>از این ها نتیجه میگیریم</a:t>
            </a:r>
            <a:r>
              <a:rPr lang="en-US" altLang="en-US" i="1" dirty="0">
                <a:sym typeface="Iconic Symbols Ext"/>
              </a:rPr>
              <a:t>A </a:t>
            </a:r>
            <a:r>
              <a:rPr lang="en-US" altLang="en-US" dirty="0">
                <a:sym typeface="Symbol" panose="05050102010706020507" pitchFamily="18" charset="2"/>
              </a:rPr>
              <a:t></a:t>
            </a:r>
            <a:r>
              <a:rPr lang="en-US" altLang="en-US" dirty="0">
                <a:sym typeface="Monotype Sorts" pitchFamily="-84" charset="2"/>
              </a:rPr>
              <a:t> </a:t>
            </a:r>
            <a:r>
              <a:rPr lang="en-US" altLang="en-US" i="1" dirty="0">
                <a:sym typeface="Monotype Sorts" pitchFamily="-84" charset="2"/>
              </a:rPr>
              <a:t>B and </a:t>
            </a:r>
            <a:r>
              <a:rPr lang="en-US" altLang="en-US" i="1" dirty="0">
                <a:sym typeface="Iconic Symbols Ext"/>
              </a:rPr>
              <a:t>B </a:t>
            </a:r>
            <a:r>
              <a:rPr lang="en-US" altLang="en-US" dirty="0">
                <a:sym typeface="Symbol" panose="05050102010706020507" pitchFamily="18" charset="2"/>
              </a:rPr>
              <a:t></a:t>
            </a:r>
            <a:r>
              <a:rPr lang="en-US" altLang="en-US" dirty="0">
                <a:sym typeface="Monotype Sorts" pitchFamily="-84" charset="2"/>
              </a:rPr>
              <a:t> </a:t>
            </a:r>
            <a:r>
              <a:rPr lang="en-US" altLang="en-US" i="1" dirty="0">
                <a:sym typeface="Monotype Sorts" pitchFamily="-84" charset="2"/>
              </a:rPr>
              <a:t>H</a:t>
            </a:r>
          </a:p>
          <a:p>
            <a:pPr lvl="1">
              <a:tabLst>
                <a:tab pos="803275" algn="l"/>
              </a:tabLst>
            </a:pPr>
            <a:r>
              <a:rPr lang="en-US" altLang="en-US" i="1" dirty="0">
                <a:sym typeface="Monotype Sorts" pitchFamily="-84" charset="2"/>
              </a:rPr>
              <a:t>AG </a:t>
            </a:r>
            <a:r>
              <a:rPr lang="en-US" altLang="en-US" dirty="0">
                <a:sym typeface="Symbol" panose="05050102010706020507" pitchFamily="18" charset="2"/>
              </a:rPr>
              <a:t></a:t>
            </a:r>
            <a:r>
              <a:rPr lang="en-US" altLang="en-US" dirty="0">
                <a:sym typeface="Monotype Sorts" pitchFamily="-84" charset="2"/>
              </a:rPr>
              <a:t> </a:t>
            </a:r>
            <a:r>
              <a:rPr lang="en-US" altLang="en-US" i="1" dirty="0">
                <a:sym typeface="Monotype Sorts" pitchFamily="-84" charset="2"/>
              </a:rPr>
              <a:t>I       </a:t>
            </a:r>
            <a:endParaRPr lang="en-US" altLang="en-US" dirty="0">
              <a:sym typeface="Monotype Sorts" pitchFamily="-84" charset="2"/>
            </a:endParaRPr>
          </a:p>
          <a:p>
            <a:pPr lvl="2">
              <a:tabLst>
                <a:tab pos="803275" algn="l"/>
              </a:tabLst>
            </a:pPr>
            <a:r>
              <a:rPr lang="fa-IR" dirty="0"/>
              <a:t>با افزودن</a:t>
            </a:r>
            <a:r>
              <a:rPr lang="en-US" altLang="en-US" i="1" dirty="0">
                <a:sym typeface="Iconic Symbols Ext"/>
              </a:rPr>
              <a:t>A </a:t>
            </a:r>
            <a:r>
              <a:rPr lang="en-US" altLang="en-US" dirty="0">
                <a:sym typeface="Symbol" panose="05050102010706020507" pitchFamily="18" charset="2"/>
              </a:rPr>
              <a:t></a:t>
            </a:r>
            <a:r>
              <a:rPr lang="en-US" altLang="en-US" dirty="0">
                <a:sym typeface="Monotype Sorts" pitchFamily="-84" charset="2"/>
              </a:rPr>
              <a:t> </a:t>
            </a:r>
            <a:r>
              <a:rPr lang="en-US" altLang="en-US" i="1" dirty="0">
                <a:sym typeface="Monotype Sorts" pitchFamily="-84" charset="2"/>
              </a:rPr>
              <a:t>C </a:t>
            </a:r>
            <a:r>
              <a:rPr lang="fa-IR" altLang="en-US" dirty="0">
                <a:sym typeface="Monotype Sorts" pitchFamily="-84" charset="2"/>
              </a:rPr>
              <a:t>به</a:t>
            </a:r>
            <a:r>
              <a:rPr lang="en-US" altLang="en-US" dirty="0">
                <a:sym typeface="Monotype Sorts" pitchFamily="-84" charset="2"/>
              </a:rPr>
              <a:t> G, </a:t>
            </a:r>
            <a:r>
              <a:rPr lang="fa-IR" dirty="0"/>
              <a:t>نتیجه </a:t>
            </a:r>
            <a:r>
              <a:rPr lang="fa-IR" dirty="0" err="1"/>
              <a:t>می‌گیریم</a:t>
            </a:r>
            <a:r>
              <a:rPr lang="en-US" altLang="en-US" i="1" dirty="0">
                <a:sym typeface="Iconic Symbols Ext"/>
              </a:rPr>
              <a:t>AG </a:t>
            </a:r>
            <a:r>
              <a:rPr lang="en-US" altLang="en-US" dirty="0">
                <a:sym typeface="Symbol" panose="05050102010706020507" pitchFamily="18" charset="2"/>
              </a:rPr>
              <a:t></a:t>
            </a:r>
            <a:r>
              <a:rPr lang="en-US" altLang="en-US" dirty="0">
                <a:sym typeface="Monotype Sorts" pitchFamily="-84" charset="2"/>
              </a:rPr>
              <a:t> </a:t>
            </a:r>
            <a:r>
              <a:rPr lang="en-US" altLang="en-US" i="1" dirty="0">
                <a:sym typeface="Monotype Sorts" pitchFamily="-84" charset="2"/>
              </a:rPr>
              <a:t>CG </a:t>
            </a:r>
            <a:br>
              <a:rPr lang="en-US" altLang="en-US" i="1" dirty="0">
                <a:sym typeface="Monotype Sorts" pitchFamily="-84" charset="2"/>
              </a:rPr>
            </a:br>
            <a:r>
              <a:rPr lang="en-US" altLang="en-US" i="1" dirty="0">
                <a:sym typeface="Monotype Sorts" pitchFamily="-84" charset="2"/>
              </a:rPr>
              <a:t>                   </a:t>
            </a:r>
            <a:r>
              <a:rPr lang="fa-IR" dirty="0"/>
              <a:t>سپس با</a:t>
            </a:r>
            <a:r>
              <a:rPr lang="en-US" altLang="en-US" i="1" dirty="0">
                <a:sym typeface="Iconic Symbols Ext"/>
              </a:rPr>
              <a:t>CG </a:t>
            </a:r>
            <a:r>
              <a:rPr lang="en-US" altLang="en-US" dirty="0">
                <a:sym typeface="Symbol" panose="05050102010706020507" pitchFamily="18" charset="2"/>
              </a:rPr>
              <a:t></a:t>
            </a:r>
            <a:r>
              <a:rPr lang="en-US" altLang="en-US" dirty="0">
                <a:sym typeface="Monotype Sorts" pitchFamily="-84" charset="2"/>
              </a:rPr>
              <a:t> </a:t>
            </a:r>
            <a:r>
              <a:rPr lang="en-US" altLang="en-US" i="1" dirty="0">
                <a:sym typeface="Monotype Sorts" pitchFamily="-84" charset="2"/>
              </a:rPr>
              <a:t>I </a:t>
            </a:r>
          </a:p>
          <a:p>
            <a:pPr lvl="1">
              <a:tabLst>
                <a:tab pos="803275" algn="l"/>
              </a:tabLst>
            </a:pPr>
            <a:r>
              <a:rPr lang="en-US" altLang="en-US" i="1" dirty="0">
                <a:sym typeface="Monotype Sorts" pitchFamily="-84" charset="2"/>
              </a:rPr>
              <a:t>CG </a:t>
            </a:r>
            <a:r>
              <a:rPr lang="en-US" altLang="en-US" dirty="0">
                <a:sym typeface="Symbol" panose="05050102010706020507" pitchFamily="18" charset="2"/>
              </a:rPr>
              <a:t></a:t>
            </a:r>
            <a:r>
              <a:rPr lang="en-US" altLang="en-US" dirty="0">
                <a:sym typeface="Monotype Sorts" pitchFamily="-84" charset="2"/>
              </a:rPr>
              <a:t> </a:t>
            </a:r>
            <a:r>
              <a:rPr lang="en-US" altLang="en-US" i="1" dirty="0">
                <a:sym typeface="Monotype Sorts" pitchFamily="-84" charset="2"/>
              </a:rPr>
              <a:t>HI     </a:t>
            </a:r>
            <a:endParaRPr lang="en-US" altLang="en-US" dirty="0">
              <a:sym typeface="Monotype Sorts" pitchFamily="-84" charset="2"/>
            </a:endParaRPr>
          </a:p>
          <a:p>
            <a:pPr lvl="2">
              <a:tabLst>
                <a:tab pos="803275" algn="l"/>
              </a:tabLst>
            </a:pPr>
            <a:r>
              <a:rPr lang="fa-IR" altLang="en-US" dirty="0">
                <a:sym typeface="Monotype Sorts" pitchFamily="-84" charset="2"/>
              </a:rPr>
              <a:t>با افزودن</a:t>
            </a:r>
            <a:r>
              <a:rPr lang="en-US" altLang="en-US" i="1" dirty="0">
                <a:sym typeface="Iconic Symbols Ext"/>
              </a:rPr>
              <a:t>CG </a:t>
            </a:r>
            <a:r>
              <a:rPr lang="en-US" altLang="en-US" dirty="0">
                <a:sym typeface="Symbol" panose="05050102010706020507" pitchFamily="18" charset="2"/>
              </a:rPr>
              <a:t></a:t>
            </a:r>
            <a:r>
              <a:rPr lang="en-US" altLang="en-US" dirty="0">
                <a:sym typeface="Monotype Sorts" pitchFamily="-84" charset="2"/>
              </a:rPr>
              <a:t> </a:t>
            </a:r>
            <a:r>
              <a:rPr lang="en-US" altLang="en-US" i="1" dirty="0">
                <a:sym typeface="Monotype Sorts" pitchFamily="-84" charset="2"/>
              </a:rPr>
              <a:t>I </a:t>
            </a:r>
            <a:r>
              <a:rPr lang="fa-IR" altLang="en-US" dirty="0">
                <a:sym typeface="Monotype Sorts" pitchFamily="-84" charset="2"/>
              </a:rPr>
              <a:t>نتیجه میگیریم</a:t>
            </a:r>
            <a:r>
              <a:rPr lang="en-US" altLang="en-US" i="1" dirty="0">
                <a:sym typeface="Iconic Symbols Ext"/>
              </a:rPr>
              <a:t>CG </a:t>
            </a:r>
            <a:r>
              <a:rPr lang="en-US" altLang="en-US" dirty="0">
                <a:sym typeface="Symbol" panose="05050102010706020507" pitchFamily="18" charset="2"/>
              </a:rPr>
              <a:t></a:t>
            </a:r>
            <a:r>
              <a:rPr lang="en-US" altLang="en-US" dirty="0">
                <a:sym typeface="Monotype Sorts" pitchFamily="-84" charset="2"/>
              </a:rPr>
              <a:t> CG</a:t>
            </a:r>
            <a:r>
              <a:rPr lang="en-US" altLang="en-US" i="1" dirty="0">
                <a:sym typeface="Monotype Sorts" pitchFamily="-84" charset="2"/>
              </a:rPr>
              <a:t>I, </a:t>
            </a:r>
          </a:p>
          <a:p>
            <a:pPr lvl="2">
              <a:buFont typeface="Webdings" panose="05030102010509060703" pitchFamily="18" charset="2"/>
              <a:buNone/>
              <a:tabLst>
                <a:tab pos="803275" algn="l"/>
              </a:tabLst>
            </a:pPr>
            <a:r>
              <a:rPr lang="en-US" altLang="en-US" dirty="0">
                <a:sym typeface="Monotype Sorts" pitchFamily="-84" charset="2"/>
              </a:rPr>
              <a:t>    </a:t>
            </a:r>
            <a:r>
              <a:rPr lang="fa-IR" altLang="en-US" dirty="0">
                <a:sym typeface="Monotype Sorts" pitchFamily="-84" charset="2"/>
              </a:rPr>
              <a:t>و افزودن</a:t>
            </a:r>
            <a:r>
              <a:rPr lang="en-US" altLang="en-US" i="1" dirty="0">
                <a:sym typeface="Iconic Symbols Ext"/>
              </a:rPr>
              <a:t>CG </a:t>
            </a:r>
            <a:r>
              <a:rPr lang="en-US" altLang="en-US" dirty="0">
                <a:sym typeface="Symbol" panose="05050102010706020507" pitchFamily="18" charset="2"/>
              </a:rPr>
              <a:t></a:t>
            </a:r>
            <a:r>
              <a:rPr lang="en-US" altLang="en-US" dirty="0">
                <a:sym typeface="Monotype Sorts" pitchFamily="-84" charset="2"/>
              </a:rPr>
              <a:t> </a:t>
            </a:r>
            <a:r>
              <a:rPr lang="en-US" altLang="en-US" i="1" dirty="0">
                <a:sym typeface="Monotype Sorts" pitchFamily="-84" charset="2"/>
              </a:rPr>
              <a:t>H </a:t>
            </a:r>
            <a:r>
              <a:rPr lang="fa-IR" altLang="en-US" dirty="0">
                <a:sym typeface="Monotype Sorts" pitchFamily="-84" charset="2"/>
              </a:rPr>
              <a:t>نتیجه میگیریم</a:t>
            </a:r>
            <a:r>
              <a:rPr lang="en-US" altLang="en-US" i="1" dirty="0">
                <a:sym typeface="Iconic Symbols Ext"/>
              </a:rPr>
              <a:t>CGI </a:t>
            </a:r>
            <a:r>
              <a:rPr lang="en-US" altLang="en-US" dirty="0">
                <a:sym typeface="Symbol" panose="05050102010706020507" pitchFamily="18" charset="2"/>
              </a:rPr>
              <a:t></a:t>
            </a:r>
            <a:r>
              <a:rPr lang="en-US" altLang="en-US" dirty="0">
                <a:sym typeface="Monotype Sorts" pitchFamily="-84" charset="2"/>
              </a:rPr>
              <a:t> </a:t>
            </a:r>
            <a:r>
              <a:rPr lang="en-US" altLang="en-US" i="1" dirty="0">
                <a:sym typeface="Monotype Sorts" pitchFamily="-84" charset="2"/>
              </a:rPr>
              <a:t>HI, </a:t>
            </a:r>
          </a:p>
          <a:p>
            <a:pPr lvl="2">
              <a:buFont typeface="Webdings" panose="05030102010509060703" pitchFamily="18" charset="2"/>
              <a:buNone/>
              <a:tabLst>
                <a:tab pos="803275" algn="l"/>
              </a:tabLst>
            </a:pPr>
            <a:r>
              <a:rPr lang="en-US" altLang="en-US" i="1" dirty="0">
                <a:sym typeface="Monotype Sorts" pitchFamily="-84" charset="2"/>
              </a:rPr>
              <a:t>                         </a:t>
            </a:r>
            <a:endParaRPr lang="en-US" altLang="en-US" dirty="0">
              <a:sym typeface="Monotype Sorts" pitchFamily="-84" charset="2"/>
            </a:endParaRPr>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grpId="0" nodeType="clickEffect">
                                  <p:stCondLst>
                                    <p:cond delay="0"/>
                                  </p:stCondLst>
                                  <p:childTnLst>
                                    <p:set>
                                      <p:cBhvr>
                                        <p:cTn id="6" dur="1" fill="hold">
                                          <p:stCondLst>
                                            <p:cond delay="499"/>
                                          </p:stCondLst>
                                        </p:cTn>
                                        <p:tgtEl>
                                          <p:spTgt spid="70144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499"/>
                                          </p:stCondLst>
                                        </p:cTn>
                                        <p:tgtEl>
                                          <p:spTgt spid="701443">
                                            <p:txEl>
                                              <p:pRg st="1" end="1"/>
                                            </p:txEl>
                                          </p:spTgt>
                                        </p:tgtEl>
                                        <p:attrNameLst>
                                          <p:attrName>style.visibility</p:attrName>
                                        </p:attrNameLst>
                                      </p:cBhvr>
                                      <p:to>
                                        <p:strVal val="visible"/>
                                      </p:to>
                                    </p:set>
                                  </p:childTnLst>
                                </p:cTn>
                              </p:par>
                            </p:childTnLst>
                          </p:cTn>
                        </p:par>
                      </p:childTnLst>
                    </p:cTn>
                  </p:par>
                  <p:par>
                    <p:cTn id="11" fill="hold" nodeType="clickPar">
                      <p:stCondLst>
                        <p:cond delay="indefinite"/>
                      </p:stCondLst>
                      <p:childTnLst>
                        <p:par>
                          <p:cTn id="12" fill="hold" nodeType="withGroup">
                            <p:stCondLst>
                              <p:cond delay="0"/>
                            </p:stCondLst>
                            <p:childTnLst>
                              <p:par>
                                <p:cTn id="13" presetID="1" presetClass="entr" presetSubtype="0" fill="hold" grpId="0" nodeType="clickEffect">
                                  <p:stCondLst>
                                    <p:cond delay="0"/>
                                  </p:stCondLst>
                                  <p:childTnLst>
                                    <p:set>
                                      <p:cBhvr>
                                        <p:cTn id="14" dur="1" fill="hold">
                                          <p:stCondLst>
                                            <p:cond delay="499"/>
                                          </p:stCondLst>
                                        </p:cTn>
                                        <p:tgtEl>
                                          <p:spTgt spid="701443">
                                            <p:txEl>
                                              <p:pRg st="2" end="2"/>
                                            </p:txEl>
                                          </p:spTgt>
                                        </p:tgtEl>
                                        <p:attrNameLst>
                                          <p:attrName>style.visibility</p:attrName>
                                        </p:attrNameLst>
                                      </p:cBhvr>
                                      <p:to>
                                        <p:strVal val="visible"/>
                                      </p:to>
                                    </p:set>
                                  </p:childTnLst>
                                </p:cTn>
                              </p:par>
                            </p:childTnLst>
                          </p:cTn>
                        </p:par>
                      </p:childTnLst>
                    </p:cTn>
                  </p:par>
                  <p:par>
                    <p:cTn id="15" fill="hold" nodeType="clickPar">
                      <p:stCondLst>
                        <p:cond delay="indefinite"/>
                      </p:stCondLst>
                      <p:childTnLst>
                        <p:par>
                          <p:cTn id="16" fill="hold" nodeType="withGroup">
                            <p:stCondLst>
                              <p:cond delay="0"/>
                            </p:stCondLst>
                            <p:childTnLst>
                              <p:par>
                                <p:cTn id="17" presetID="1" presetClass="entr" presetSubtype="0" fill="hold" grpId="0" nodeType="clickEffect">
                                  <p:stCondLst>
                                    <p:cond delay="0"/>
                                  </p:stCondLst>
                                  <p:childTnLst>
                                    <p:set>
                                      <p:cBhvr>
                                        <p:cTn id="18" dur="1" fill="hold">
                                          <p:stCondLst>
                                            <p:cond delay="499"/>
                                          </p:stCondLst>
                                        </p:cTn>
                                        <p:tgtEl>
                                          <p:spTgt spid="701443">
                                            <p:txEl>
                                              <p:pRg st="3" end="3"/>
                                            </p:txEl>
                                          </p:spTgt>
                                        </p:tgtEl>
                                        <p:attrNameLst>
                                          <p:attrName>style.visibility</p:attrName>
                                        </p:attrNameLst>
                                      </p:cBhvr>
                                      <p:to>
                                        <p:strVal val="visible"/>
                                      </p:to>
                                    </p:set>
                                  </p:childTnLst>
                                </p:cTn>
                              </p:par>
                            </p:childTnLst>
                          </p:cTn>
                        </p:par>
                      </p:childTnLst>
                    </p:cTn>
                  </p:par>
                  <p:par>
                    <p:cTn id="19" fill="hold" nodeType="clickPar">
                      <p:stCondLst>
                        <p:cond delay="indefinite"/>
                      </p:stCondLst>
                      <p:childTnLst>
                        <p:par>
                          <p:cTn id="20" fill="hold" nodeType="withGroup">
                            <p:stCondLst>
                              <p:cond delay="0"/>
                            </p:stCondLst>
                            <p:childTnLst>
                              <p:par>
                                <p:cTn id="21" presetID="1" presetClass="entr" presetSubtype="0" fill="hold" grpId="0" nodeType="clickEffect">
                                  <p:stCondLst>
                                    <p:cond delay="0"/>
                                  </p:stCondLst>
                                  <p:childTnLst>
                                    <p:set>
                                      <p:cBhvr>
                                        <p:cTn id="22" dur="1" fill="hold">
                                          <p:stCondLst>
                                            <p:cond delay="499"/>
                                          </p:stCondLst>
                                        </p:cTn>
                                        <p:tgtEl>
                                          <p:spTgt spid="701443">
                                            <p:txEl>
                                              <p:pRg st="4" end="4"/>
                                            </p:txEl>
                                          </p:spTgt>
                                        </p:tgtEl>
                                        <p:attrNameLst>
                                          <p:attrName>style.visibility</p:attrName>
                                        </p:attrNameLst>
                                      </p:cBhvr>
                                      <p:to>
                                        <p:strVal val="visible"/>
                                      </p:to>
                                    </p:set>
                                  </p:childTnLst>
                                </p:cTn>
                              </p:par>
                            </p:childTnLst>
                          </p:cTn>
                        </p:par>
                      </p:childTnLst>
                    </p:cTn>
                  </p:par>
                  <p:par>
                    <p:cTn id="23" fill="hold" nodeType="clickPar">
                      <p:stCondLst>
                        <p:cond delay="indefinite"/>
                      </p:stCondLst>
                      <p:childTnLst>
                        <p:par>
                          <p:cTn id="24" fill="hold" nodeType="withGroup">
                            <p:stCondLst>
                              <p:cond delay="0"/>
                            </p:stCondLst>
                            <p:childTnLst>
                              <p:par>
                                <p:cTn id="25" presetID="1" presetClass="entr" presetSubtype="0" fill="hold" grpId="0" nodeType="clickEffect">
                                  <p:stCondLst>
                                    <p:cond delay="0"/>
                                  </p:stCondLst>
                                  <p:childTnLst>
                                    <p:set>
                                      <p:cBhvr>
                                        <p:cTn id="26" dur="1" fill="hold">
                                          <p:stCondLst>
                                            <p:cond delay="499"/>
                                          </p:stCondLst>
                                        </p:cTn>
                                        <p:tgtEl>
                                          <p:spTgt spid="701443">
                                            <p:txEl>
                                              <p:pRg st="5" end="5"/>
                                            </p:txEl>
                                          </p:spTgt>
                                        </p:tgtEl>
                                        <p:attrNameLst>
                                          <p:attrName>style.visibility</p:attrName>
                                        </p:attrNameLst>
                                      </p:cBhvr>
                                      <p:to>
                                        <p:strVal val="visible"/>
                                      </p:to>
                                    </p:set>
                                  </p:childTnLst>
                                </p:cTn>
                              </p:par>
                            </p:childTnLst>
                          </p:cTn>
                        </p:par>
                      </p:childTnLst>
                    </p:cTn>
                  </p:par>
                  <p:par>
                    <p:cTn id="27" fill="hold" nodeType="clickPar">
                      <p:stCondLst>
                        <p:cond delay="indefinite"/>
                      </p:stCondLst>
                      <p:childTnLst>
                        <p:par>
                          <p:cTn id="28" fill="hold" nodeType="withGroup">
                            <p:stCondLst>
                              <p:cond delay="0"/>
                            </p:stCondLst>
                            <p:childTnLst>
                              <p:par>
                                <p:cTn id="29" presetID="1" presetClass="entr" presetSubtype="0" fill="hold" grpId="0" nodeType="clickEffect">
                                  <p:stCondLst>
                                    <p:cond delay="0"/>
                                  </p:stCondLst>
                                  <p:childTnLst>
                                    <p:set>
                                      <p:cBhvr>
                                        <p:cTn id="30" dur="1" fill="hold">
                                          <p:stCondLst>
                                            <p:cond delay="499"/>
                                          </p:stCondLst>
                                        </p:cTn>
                                        <p:tgtEl>
                                          <p:spTgt spid="701443">
                                            <p:txEl>
                                              <p:pRg st="6" end="6"/>
                                            </p:txEl>
                                          </p:spTgt>
                                        </p:tgtEl>
                                        <p:attrNameLst>
                                          <p:attrName>style.visibility</p:attrName>
                                        </p:attrNameLst>
                                      </p:cBhvr>
                                      <p:to>
                                        <p:strVal val="visible"/>
                                      </p:to>
                                    </p:set>
                                  </p:childTnLst>
                                </p:cTn>
                              </p:par>
                            </p:childTnLst>
                          </p:cTn>
                        </p:par>
                      </p:childTnLst>
                    </p:cTn>
                  </p:par>
                  <p:par>
                    <p:cTn id="31" fill="hold" nodeType="clickPar">
                      <p:stCondLst>
                        <p:cond delay="indefinite"/>
                      </p:stCondLst>
                      <p:childTnLst>
                        <p:par>
                          <p:cTn id="32" fill="hold" nodeType="withGroup">
                            <p:stCondLst>
                              <p:cond delay="0"/>
                            </p:stCondLst>
                            <p:childTnLst>
                              <p:par>
                                <p:cTn id="33" presetID="1" presetClass="entr" presetSubtype="0" fill="hold" grpId="0" nodeType="clickEffect">
                                  <p:stCondLst>
                                    <p:cond delay="0"/>
                                  </p:stCondLst>
                                  <p:childTnLst>
                                    <p:set>
                                      <p:cBhvr>
                                        <p:cTn id="34" dur="1" fill="hold">
                                          <p:stCondLst>
                                            <p:cond delay="499"/>
                                          </p:stCondLst>
                                        </p:cTn>
                                        <p:tgtEl>
                                          <p:spTgt spid="701443">
                                            <p:txEl>
                                              <p:pRg st="7" end="7"/>
                                            </p:txEl>
                                          </p:spTgt>
                                        </p:tgtEl>
                                        <p:attrNameLst>
                                          <p:attrName>style.visibility</p:attrName>
                                        </p:attrNameLst>
                                      </p:cBhvr>
                                      <p:to>
                                        <p:strVal val="visible"/>
                                      </p:to>
                                    </p:set>
                                  </p:childTnLst>
                                </p:cTn>
                              </p:par>
                            </p:childTnLst>
                          </p:cTn>
                        </p:par>
                      </p:childTnLst>
                    </p:cTn>
                  </p:par>
                  <p:par>
                    <p:cTn id="35" fill="hold" nodeType="clickPar">
                      <p:stCondLst>
                        <p:cond delay="indefinite"/>
                      </p:stCondLst>
                      <p:childTnLst>
                        <p:par>
                          <p:cTn id="36" fill="hold" nodeType="withGroup">
                            <p:stCondLst>
                              <p:cond delay="0"/>
                            </p:stCondLst>
                            <p:childTnLst>
                              <p:par>
                                <p:cTn id="37" presetID="1" presetClass="entr" presetSubtype="0" fill="hold" grpId="0" nodeType="clickEffect">
                                  <p:stCondLst>
                                    <p:cond delay="0"/>
                                  </p:stCondLst>
                                  <p:childTnLst>
                                    <p:set>
                                      <p:cBhvr>
                                        <p:cTn id="38" dur="1" fill="hold">
                                          <p:stCondLst>
                                            <p:cond delay="499"/>
                                          </p:stCondLst>
                                        </p:cTn>
                                        <p:tgtEl>
                                          <p:spTgt spid="701443">
                                            <p:txEl>
                                              <p:pRg st="8" end="8"/>
                                            </p:txEl>
                                          </p:spTgt>
                                        </p:tgtEl>
                                        <p:attrNameLst>
                                          <p:attrName>style.visibility</p:attrName>
                                        </p:attrNameLst>
                                      </p:cBhvr>
                                      <p:to>
                                        <p:strVal val="visible"/>
                                      </p:to>
                                    </p:set>
                                  </p:childTnLst>
                                </p:cTn>
                              </p:par>
                            </p:childTnLst>
                          </p:cTn>
                        </p:par>
                      </p:childTnLst>
                    </p:cTn>
                  </p:par>
                  <p:par>
                    <p:cTn id="39" fill="hold" nodeType="clickPar">
                      <p:stCondLst>
                        <p:cond delay="indefinite"/>
                      </p:stCondLst>
                      <p:childTnLst>
                        <p:par>
                          <p:cTn id="40" fill="hold" nodeType="withGroup">
                            <p:stCondLst>
                              <p:cond delay="0"/>
                            </p:stCondLst>
                            <p:childTnLst>
                              <p:par>
                                <p:cTn id="41" presetID="1" presetClass="entr" presetSubtype="0" fill="hold" grpId="0" nodeType="clickEffect">
                                  <p:stCondLst>
                                    <p:cond delay="0"/>
                                  </p:stCondLst>
                                  <p:childTnLst>
                                    <p:set>
                                      <p:cBhvr>
                                        <p:cTn id="42" dur="1" fill="hold">
                                          <p:stCondLst>
                                            <p:cond delay="499"/>
                                          </p:stCondLst>
                                        </p:cTn>
                                        <p:tgtEl>
                                          <p:spTgt spid="701443">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01443" grpId="0" build="p" bldLvl="3" autoUpdateAnimBg="0"/>
    </p:bldLst>
  </p:timing>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05538" name="Rectangle 2"/>
          <p:cNvSpPr>
            <a:spLocks noGrp="1" noChangeArrowheads="1"/>
          </p:cNvSpPr>
          <p:nvPr>
            <p:ph type="title"/>
          </p:nvPr>
        </p:nvSpPr>
        <p:spPr>
          <a:xfrm>
            <a:off x="863600" y="161925"/>
            <a:ext cx="8077200" cy="609600"/>
          </a:xfrm>
        </p:spPr>
        <p:txBody>
          <a:bodyPr/>
          <a:lstStyle/>
          <a:p>
            <a:pPr>
              <a:defRPr/>
            </a:pPr>
            <a:r>
              <a:rPr lang="en-US" altLang="en-US" sz="2800" dirty="0">
                <a:effectLst>
                  <a:outerShdw blurRad="38100" dist="38100" dir="2700000" algn="tl">
                    <a:srgbClr val="C0C0C0"/>
                  </a:outerShdw>
                </a:effectLst>
                <a:ea typeface="ＭＳ Ｐゴシック" pitchFamily="34" charset="-128"/>
              </a:rPr>
              <a:t>Closure of Functional Dependencies (Cont.)</a:t>
            </a:r>
          </a:p>
        </p:txBody>
      </p:sp>
      <p:sp>
        <p:nvSpPr>
          <p:cNvPr id="46083" name="Rectangle 3"/>
          <p:cNvSpPr>
            <a:spLocks noGrp="1" noChangeArrowheads="1"/>
          </p:cNvSpPr>
          <p:nvPr>
            <p:ph idx="1"/>
          </p:nvPr>
        </p:nvSpPr>
        <p:spPr>
          <a:xfrm>
            <a:off x="772358" y="1118693"/>
            <a:ext cx="7285646" cy="4004451"/>
          </a:xfrm>
        </p:spPr>
        <p:txBody>
          <a:bodyPr/>
          <a:lstStyle/>
          <a:p>
            <a:pPr algn="r" rtl="1"/>
            <a:r>
              <a:rPr lang="fa-IR" altLang="en-US" dirty="0"/>
              <a:t>قوانین اضافی:</a:t>
            </a:r>
            <a:endParaRPr lang="en-US" altLang="en-US" dirty="0"/>
          </a:p>
          <a:p>
            <a:pPr lvl="1" algn="r" rtl="1"/>
            <a:r>
              <a:rPr lang="fa-IR" dirty="0"/>
              <a:t>قانون اتحاد:</a:t>
            </a:r>
            <a:r>
              <a:rPr lang="en-US" altLang="en-US" dirty="0">
                <a:sym typeface="Symbol" panose="05050102010706020507" pitchFamily="18" charset="2"/>
              </a:rPr>
              <a:t> </a:t>
            </a:r>
            <a:r>
              <a:rPr lang="fa-IR" dirty="0"/>
              <a:t>گر </a:t>
            </a:r>
            <a:r>
              <a:rPr lang="el-GR" dirty="0"/>
              <a:t>α → β </a:t>
            </a:r>
            <a:r>
              <a:rPr lang="fa-IR" dirty="0"/>
              <a:t>برقرار باشد و </a:t>
            </a:r>
            <a:r>
              <a:rPr lang="el-GR" dirty="0"/>
              <a:t>α → γ </a:t>
            </a:r>
            <a:r>
              <a:rPr lang="fa-IR" dirty="0"/>
              <a:t>برقرار باشد، آنگاه </a:t>
            </a:r>
            <a:r>
              <a:rPr lang="el-GR" dirty="0"/>
              <a:t>α → βγ </a:t>
            </a:r>
            <a:r>
              <a:rPr lang="fa-IR" dirty="0"/>
              <a:t>برقرار است.</a:t>
            </a:r>
            <a:endParaRPr lang="en-US" altLang="en-US" dirty="0">
              <a:sym typeface="Greek Symbols"/>
            </a:endParaRPr>
          </a:p>
          <a:p>
            <a:pPr lvl="1" algn="r" rtl="1"/>
            <a:r>
              <a:rPr lang="fa-IR" dirty="0"/>
              <a:t>قانون تجزیه: اگر </a:t>
            </a:r>
            <a:r>
              <a:rPr lang="el-GR" dirty="0"/>
              <a:t>α → βγ </a:t>
            </a:r>
            <a:r>
              <a:rPr lang="fa-IR" dirty="0"/>
              <a:t>برقرار باشد، آنگاه </a:t>
            </a:r>
            <a:r>
              <a:rPr lang="el-GR" dirty="0"/>
              <a:t>α → β </a:t>
            </a:r>
            <a:r>
              <a:rPr lang="fa-IR" dirty="0"/>
              <a:t>برقرار است و </a:t>
            </a:r>
            <a:r>
              <a:rPr lang="el-GR" dirty="0"/>
              <a:t>α → γ </a:t>
            </a:r>
            <a:r>
              <a:rPr lang="fa-IR" dirty="0"/>
              <a:t>نیز برقرار است.</a:t>
            </a:r>
            <a:endParaRPr lang="en-US" altLang="en-US" dirty="0">
              <a:sym typeface="Monotype Sorts" pitchFamily="-84" charset="2"/>
            </a:endParaRPr>
          </a:p>
          <a:p>
            <a:pPr lvl="1" algn="r" rtl="1"/>
            <a:r>
              <a:rPr lang="fa-IR" dirty="0"/>
              <a:t>قانون </a:t>
            </a:r>
            <a:r>
              <a:rPr lang="fa-IR" dirty="0" err="1"/>
              <a:t>شبه‌تراگذری</a:t>
            </a:r>
            <a:r>
              <a:rPr lang="fa-IR" dirty="0"/>
              <a:t>: اگر </a:t>
            </a:r>
            <a:r>
              <a:rPr lang="el-GR" dirty="0"/>
              <a:t>α → β </a:t>
            </a:r>
            <a:r>
              <a:rPr lang="fa-IR" dirty="0"/>
              <a:t>برقرار باشد و </a:t>
            </a:r>
            <a:r>
              <a:rPr lang="el-GR" dirty="0"/>
              <a:t>γβ → δ </a:t>
            </a:r>
            <a:r>
              <a:rPr lang="fa-IR" dirty="0"/>
              <a:t>برقرار باشد، آنگاه </a:t>
            </a:r>
            <a:r>
              <a:rPr lang="el-GR" dirty="0"/>
              <a:t>αγ → δ </a:t>
            </a:r>
            <a:r>
              <a:rPr lang="fa-IR" dirty="0"/>
              <a:t>برقرار است.</a:t>
            </a:r>
            <a:endParaRPr lang="en-US" altLang="en-US" dirty="0">
              <a:sym typeface="Greek Symbols"/>
            </a:endParaRPr>
          </a:p>
          <a:p>
            <a:pPr algn="r" rtl="1"/>
            <a:r>
              <a:rPr lang="fa-IR" dirty="0"/>
              <a:t>قوانین بالا را </a:t>
            </a:r>
            <a:r>
              <a:rPr lang="fa-IR" dirty="0" err="1"/>
              <a:t>می‌توان</a:t>
            </a:r>
            <a:r>
              <a:rPr lang="fa-IR" dirty="0"/>
              <a:t> از روی اصول </a:t>
            </a:r>
            <a:r>
              <a:rPr lang="fa-IR" dirty="0" err="1"/>
              <a:t>آرمسترانگ</a:t>
            </a:r>
            <a:r>
              <a:rPr lang="fa-IR" dirty="0"/>
              <a:t> استنتاج کرد.</a:t>
            </a:r>
            <a:endParaRPr lang="en-US" altLang="en-US" dirty="0">
              <a:sym typeface="Greek Symbols"/>
            </a:endParaRPr>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707586" name="Rectangle 2"/>
          <p:cNvSpPr>
            <a:spLocks noGrp="1" noChangeArrowheads="1"/>
          </p:cNvSpPr>
          <p:nvPr>
            <p:ph type="title"/>
          </p:nvPr>
        </p:nvSpPr>
        <p:spPr/>
        <p:txBody>
          <a:bodyPr/>
          <a:lstStyle/>
          <a:p>
            <a:pPr>
              <a:defRPr/>
            </a:pPr>
            <a:r>
              <a:rPr lang="en-US" altLang="en-US" dirty="0">
                <a:effectLst>
                  <a:outerShdw blurRad="38100" dist="38100" dir="2700000" algn="tl">
                    <a:srgbClr val="C0C0C0"/>
                  </a:outerShdw>
                </a:effectLst>
                <a:ea typeface="ＭＳ Ｐゴシック" pitchFamily="34" charset="-128"/>
              </a:rPr>
              <a:t>Procedure for Computing F</a:t>
            </a:r>
            <a:r>
              <a:rPr lang="en-US" altLang="en-US" baseline="30000" dirty="0">
                <a:effectLst>
                  <a:outerShdw blurRad="38100" dist="38100" dir="2700000" algn="tl">
                    <a:srgbClr val="C0C0C0"/>
                  </a:outerShdw>
                </a:effectLst>
                <a:ea typeface="ＭＳ Ｐゴシック" pitchFamily="34" charset="-128"/>
              </a:rPr>
              <a:t>+</a:t>
            </a:r>
            <a:endParaRPr lang="en-US" altLang="en-US" dirty="0">
              <a:effectLst>
                <a:outerShdw blurRad="38100" dist="38100" dir="2700000" algn="tl">
                  <a:srgbClr val="C0C0C0"/>
                </a:outerShdw>
              </a:effectLst>
              <a:ea typeface="ＭＳ Ｐゴシック" pitchFamily="34" charset="-128"/>
            </a:endParaRPr>
          </a:p>
        </p:txBody>
      </p:sp>
      <p:sp>
        <p:nvSpPr>
          <p:cNvPr id="707587" name="Rectangle 3"/>
          <p:cNvSpPr>
            <a:spLocks noGrp="1" noChangeArrowheads="1"/>
          </p:cNvSpPr>
          <p:nvPr>
            <p:ph idx="1"/>
          </p:nvPr>
        </p:nvSpPr>
        <p:spPr>
          <a:xfrm>
            <a:off x="768351" y="1152525"/>
            <a:ext cx="7709824" cy="3720264"/>
          </a:xfrm>
        </p:spPr>
        <p:txBody>
          <a:bodyPr/>
          <a:lstStyle/>
          <a:p>
            <a:pPr algn="r" rtl="1">
              <a:tabLst>
                <a:tab pos="1027113" algn="l"/>
                <a:tab pos="1547813" algn="l"/>
                <a:tab pos="1771650" algn="l"/>
                <a:tab pos="2054225" algn="l"/>
                <a:tab pos="3140075" algn="ctr"/>
              </a:tabLst>
            </a:pPr>
            <a:r>
              <a:rPr lang="fa-IR" dirty="0"/>
              <a:t>برای محاسبه </a:t>
            </a:r>
            <a:r>
              <a:rPr lang="fa-IR" dirty="0" err="1"/>
              <a:t>بسته‌ی</a:t>
            </a:r>
            <a:r>
              <a:rPr lang="fa-IR" dirty="0"/>
              <a:t> </a:t>
            </a:r>
            <a:r>
              <a:rPr lang="fa-IR" dirty="0" err="1"/>
              <a:t>مجموعه‌ای</a:t>
            </a:r>
            <a:r>
              <a:rPr lang="fa-IR" dirty="0"/>
              <a:t> از </a:t>
            </a:r>
            <a:r>
              <a:rPr lang="fa-IR" dirty="0" err="1"/>
              <a:t>وابستگی‌های</a:t>
            </a:r>
            <a:r>
              <a:rPr lang="fa-IR" dirty="0"/>
              <a:t> </a:t>
            </a:r>
            <a:r>
              <a:rPr lang="fa-IR" dirty="0" err="1"/>
              <a:t>تابعی</a:t>
            </a:r>
            <a:r>
              <a:rPr lang="en-US" dirty="0"/>
              <a:t>F</a:t>
            </a:r>
            <a:r>
              <a:rPr lang="fa-IR" dirty="0"/>
              <a:t> </a:t>
            </a:r>
            <a:r>
              <a:rPr lang="en-US" dirty="0"/>
              <a:t>:</a:t>
            </a:r>
            <a:endParaRPr lang="en-US" altLang="en-US" i="1" dirty="0"/>
          </a:p>
          <a:p>
            <a:pPr algn="r" rtl="1">
              <a:buFont typeface="Monotype Sorts" pitchFamily="-84" charset="2"/>
              <a:buNone/>
            </a:pPr>
            <a:r>
              <a:rPr lang="en-US" altLang="en-US" i="1" dirty="0"/>
              <a:t>         F </a:t>
            </a:r>
            <a:r>
              <a:rPr lang="en-US" altLang="en-US" baseline="30000" dirty="0"/>
              <a:t>+</a:t>
            </a:r>
            <a:r>
              <a:rPr lang="en-US" altLang="en-US" dirty="0"/>
              <a:t> = </a:t>
            </a:r>
            <a:r>
              <a:rPr lang="en-US" altLang="en-US" i="1" dirty="0"/>
              <a:t>F</a:t>
            </a:r>
            <a:br>
              <a:rPr lang="en-US" altLang="en-US" dirty="0"/>
            </a:br>
            <a:r>
              <a:rPr lang="en-US" altLang="en-US" dirty="0"/>
              <a:t>    </a:t>
            </a:r>
            <a:r>
              <a:rPr lang="fa-IR" altLang="en-US" b="1" dirty="0"/>
              <a:t>تکرار کن:</a:t>
            </a:r>
            <a:br>
              <a:rPr lang="en-US" altLang="en-US" dirty="0"/>
            </a:br>
            <a:r>
              <a:rPr lang="en-US" altLang="en-US" dirty="0"/>
              <a:t>	</a:t>
            </a:r>
            <a:r>
              <a:rPr lang="fa-IR" dirty="0"/>
              <a:t>برای هر وابستگی </a:t>
            </a:r>
            <a:r>
              <a:rPr lang="fa-IR" dirty="0" err="1"/>
              <a:t>تابعی</a:t>
            </a:r>
            <a:r>
              <a:rPr lang="fa-IR" dirty="0"/>
              <a:t> </a:t>
            </a:r>
            <a:r>
              <a:rPr lang="en-US" dirty="0"/>
              <a:t>f </a:t>
            </a:r>
            <a:r>
              <a:rPr lang="fa-IR" dirty="0"/>
              <a:t>در </a:t>
            </a:r>
            <a:r>
              <a:rPr lang="en-US" dirty="0"/>
              <a:t>F+،</a:t>
            </a:r>
            <a:br>
              <a:rPr lang="en-US" altLang="en-US" baseline="30000" dirty="0"/>
            </a:br>
            <a:r>
              <a:rPr lang="en-US" altLang="en-US" baseline="30000" dirty="0"/>
              <a:t>	</a:t>
            </a:r>
            <a:r>
              <a:rPr lang="en-US" altLang="en-US" dirty="0"/>
              <a:t>       </a:t>
            </a:r>
            <a:r>
              <a:rPr lang="fa-IR" dirty="0"/>
              <a:t>قوانین بازتابی و بسط (افزایشی) را روی </a:t>
            </a:r>
            <a:r>
              <a:rPr lang="en-US" dirty="0"/>
              <a:t>f </a:t>
            </a:r>
            <a:r>
              <a:rPr lang="fa-IR" dirty="0"/>
              <a:t>اعمال کن،</a:t>
            </a:r>
            <a:br>
              <a:rPr lang="en-US" altLang="en-US" i="1" dirty="0"/>
            </a:br>
            <a:r>
              <a:rPr lang="en-US" altLang="en-US" i="1" dirty="0"/>
              <a:t>	       </a:t>
            </a:r>
            <a:r>
              <a:rPr lang="fa-IR" dirty="0" err="1"/>
              <a:t>وابستگی‌های</a:t>
            </a:r>
            <a:r>
              <a:rPr lang="fa-IR" dirty="0"/>
              <a:t> </a:t>
            </a:r>
            <a:r>
              <a:rPr lang="fa-IR" dirty="0" err="1"/>
              <a:t>تابعی</a:t>
            </a:r>
            <a:r>
              <a:rPr lang="fa-IR" dirty="0"/>
              <a:t> </a:t>
            </a:r>
            <a:r>
              <a:rPr lang="fa-IR" dirty="0" err="1"/>
              <a:t>به‌دست‌آمده</a:t>
            </a:r>
            <a:r>
              <a:rPr lang="fa-IR" dirty="0"/>
              <a:t> را به </a:t>
            </a:r>
            <a:r>
              <a:rPr lang="en-US" dirty="0"/>
              <a:t>F+ </a:t>
            </a:r>
            <a:r>
              <a:rPr lang="fa-IR" dirty="0"/>
              <a:t>اضافه کن.</a:t>
            </a:r>
            <a:br>
              <a:rPr lang="en-US" altLang="en-US" baseline="30000" dirty="0"/>
            </a:br>
            <a:r>
              <a:rPr lang="en-US" altLang="en-US" baseline="30000" dirty="0"/>
              <a:t>	</a:t>
            </a:r>
            <a:r>
              <a:rPr lang="fa-IR" dirty="0"/>
              <a:t>برای هر جفت وابستگی </a:t>
            </a:r>
            <a:r>
              <a:rPr lang="fa-IR" dirty="0" err="1"/>
              <a:t>تابعی</a:t>
            </a:r>
            <a:r>
              <a:rPr lang="fa-IR" dirty="0"/>
              <a:t> </a:t>
            </a:r>
            <a:r>
              <a:rPr lang="en-US" dirty="0"/>
              <a:t>f1 </a:t>
            </a:r>
            <a:r>
              <a:rPr lang="fa-IR" dirty="0"/>
              <a:t>و </a:t>
            </a:r>
            <a:r>
              <a:rPr lang="en-US" dirty="0"/>
              <a:t>f2 </a:t>
            </a:r>
            <a:r>
              <a:rPr lang="fa-IR" dirty="0"/>
              <a:t>در </a:t>
            </a:r>
            <a:r>
              <a:rPr lang="en-US" dirty="0"/>
              <a:t>F+،</a:t>
            </a:r>
            <a:br>
              <a:rPr lang="en-US" altLang="en-US" baseline="30000" dirty="0"/>
            </a:br>
            <a:r>
              <a:rPr lang="en-US" altLang="en-US" baseline="30000" dirty="0"/>
              <a:t>	</a:t>
            </a:r>
            <a:r>
              <a:rPr lang="en-US" altLang="en-US" dirty="0"/>
              <a:t>       </a:t>
            </a:r>
            <a:r>
              <a:rPr lang="fa-IR" dirty="0"/>
              <a:t>اگر </a:t>
            </a:r>
            <a:r>
              <a:rPr lang="en-US" dirty="0"/>
              <a:t>f1 </a:t>
            </a:r>
            <a:r>
              <a:rPr lang="fa-IR" dirty="0"/>
              <a:t>و </a:t>
            </a:r>
            <a:r>
              <a:rPr lang="en-US" dirty="0"/>
              <a:t>f2 </a:t>
            </a:r>
            <a:r>
              <a:rPr lang="fa-IR" dirty="0"/>
              <a:t>با استفاده از قانون </a:t>
            </a:r>
            <a:r>
              <a:rPr lang="fa-IR" dirty="0" err="1"/>
              <a:t>گذارایی</a:t>
            </a:r>
            <a:r>
              <a:rPr lang="fa-IR" dirty="0"/>
              <a:t> قابل ترکیب باشند،</a:t>
            </a:r>
            <a:br>
              <a:rPr lang="en-US" altLang="en-US" dirty="0"/>
            </a:br>
            <a:r>
              <a:rPr lang="en-US" altLang="en-US" dirty="0"/>
              <a:t>	             </a:t>
            </a:r>
            <a:r>
              <a:rPr lang="fa-IR" dirty="0"/>
              <a:t>پس وابستگی </a:t>
            </a:r>
            <a:r>
              <a:rPr lang="fa-IR" dirty="0" err="1"/>
              <a:t>تابعی</a:t>
            </a:r>
            <a:r>
              <a:rPr lang="fa-IR" dirty="0"/>
              <a:t> </a:t>
            </a:r>
            <a:r>
              <a:rPr lang="fa-IR" dirty="0" err="1"/>
              <a:t>به‌دست‌آمده</a:t>
            </a:r>
            <a:r>
              <a:rPr lang="fa-IR" dirty="0"/>
              <a:t> را به </a:t>
            </a:r>
            <a:r>
              <a:rPr lang="en-US" dirty="0"/>
              <a:t>F+ </a:t>
            </a:r>
            <a:r>
              <a:rPr lang="fa-IR" dirty="0"/>
              <a:t>اضافه کن.</a:t>
            </a:r>
            <a:br>
              <a:rPr lang="en-US" altLang="en-US" baseline="30000" dirty="0"/>
            </a:br>
            <a:r>
              <a:rPr lang="en-US" altLang="en-US" baseline="30000" dirty="0"/>
              <a:t>       </a:t>
            </a:r>
            <a:r>
              <a:rPr lang="fa-IR" dirty="0"/>
              <a:t>تا زمانی که </a:t>
            </a:r>
            <a:r>
              <a:rPr lang="en-US" dirty="0"/>
              <a:t>F+ </a:t>
            </a:r>
            <a:r>
              <a:rPr lang="fa-IR" dirty="0"/>
              <a:t>دیگر تغییری نکند.</a:t>
            </a:r>
            <a:endParaRPr lang="en-US" altLang="en-US" dirty="0"/>
          </a:p>
          <a:p>
            <a:pPr algn="r" rtl="1">
              <a:buFont typeface="Monotype Sorts" pitchFamily="-84" charset="2"/>
              <a:buNone/>
            </a:pPr>
            <a:endParaRPr lang="en-US" altLang="en-US" dirty="0"/>
          </a:p>
          <a:p>
            <a:pPr algn="r" rtl="1"/>
            <a:r>
              <a:rPr lang="en-US" altLang="en-US" b="1" dirty="0"/>
              <a:t> </a:t>
            </a:r>
            <a:r>
              <a:rPr lang="fa-IR" dirty="0"/>
              <a:t>توجه: بعداً یک روش جایگزین برای این کار خواهیم دید.</a:t>
            </a:r>
            <a:endParaRPr lang="en-US" altLang="en-US" i="1" baseline="-25000" dirty="0"/>
          </a:p>
          <a:p>
            <a:pPr algn="r" rtl="1">
              <a:tabLst>
                <a:tab pos="1027113" algn="l"/>
                <a:tab pos="1547813" algn="l"/>
                <a:tab pos="1771650" algn="l"/>
                <a:tab pos="2054225" algn="l"/>
                <a:tab pos="3140075" algn="ctr"/>
              </a:tabLst>
            </a:pPr>
            <a:endParaRPr lang="en-US" altLang="en-US" i="1" dirty="0">
              <a:sym typeface="Greek Symbols"/>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499"/>
                                          </p:stCondLst>
                                        </p:cTn>
                                        <p:tgtEl>
                                          <p:spTgt spid="70758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499"/>
                                          </p:stCondLst>
                                        </p:cTn>
                                        <p:tgtEl>
                                          <p:spTgt spid="707587">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499"/>
                                          </p:stCondLst>
                                        </p:cTn>
                                        <p:tgtEl>
                                          <p:spTgt spid="707587">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07587" grpId="0" build="p" autoUpdateAnimBg="0"/>
    </p:bldLst>
  </p:timing>
</p:sld>
</file>

<file path=ppt/slides/slide88.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707586" name="Rectangle 2"/>
          <p:cNvSpPr>
            <a:spLocks noGrp="1" noChangeArrowheads="1"/>
          </p:cNvSpPr>
          <p:nvPr>
            <p:ph type="title"/>
          </p:nvPr>
        </p:nvSpPr>
        <p:spPr/>
        <p:txBody>
          <a:bodyPr/>
          <a:lstStyle/>
          <a:p>
            <a:pPr>
              <a:defRPr/>
            </a:pPr>
            <a:r>
              <a:rPr lang="en-US" altLang="en-US">
                <a:effectLst>
                  <a:outerShdw blurRad="38100" dist="38100" dir="2700000" algn="tl">
                    <a:srgbClr val="C0C0C0"/>
                  </a:outerShdw>
                </a:effectLst>
                <a:ea typeface="ＭＳ Ｐゴシック" pitchFamily="34" charset="-128"/>
              </a:rPr>
              <a:t>Closure of Attribute Sets</a:t>
            </a:r>
          </a:p>
        </p:txBody>
      </p:sp>
      <p:sp>
        <p:nvSpPr>
          <p:cNvPr id="707587" name="Rectangle 3"/>
          <p:cNvSpPr>
            <a:spLocks noGrp="1" noChangeArrowheads="1"/>
          </p:cNvSpPr>
          <p:nvPr>
            <p:ph idx="1"/>
          </p:nvPr>
        </p:nvSpPr>
        <p:spPr>
          <a:xfrm>
            <a:off x="768350" y="1152526"/>
            <a:ext cx="7674313" cy="2938212"/>
          </a:xfrm>
        </p:spPr>
        <p:txBody>
          <a:bodyPr/>
          <a:lstStyle/>
          <a:p>
            <a:pPr algn="r" rtl="1">
              <a:tabLst>
                <a:tab pos="1027113" algn="l"/>
                <a:tab pos="1547813" algn="l"/>
                <a:tab pos="1771650" algn="l"/>
                <a:tab pos="2054225" algn="l"/>
                <a:tab pos="3140075" algn="ctr"/>
              </a:tabLst>
            </a:pPr>
            <a:r>
              <a:rPr lang="fa-IR" dirty="0"/>
              <a:t>با داشتن یک مجموعه ویژگی </a:t>
            </a:r>
            <a:r>
              <a:rPr lang="en-US" b="1" dirty="0"/>
              <a:t>a</a:t>
            </a:r>
            <a:r>
              <a:rPr lang="en-US" dirty="0"/>
              <a:t>، </a:t>
            </a:r>
            <a:r>
              <a:rPr lang="fa-IR" dirty="0"/>
              <a:t>بسته </a:t>
            </a:r>
            <a:r>
              <a:rPr lang="en-US" dirty="0"/>
              <a:t>a </a:t>
            </a:r>
            <a:r>
              <a:rPr lang="fa-IR" dirty="0"/>
              <a:t>تحت </a:t>
            </a:r>
            <a:r>
              <a:rPr lang="en-US" dirty="0"/>
              <a:t>)F </a:t>
            </a:r>
            <a:r>
              <a:rPr lang="fa-IR" dirty="0"/>
              <a:t>که با </a:t>
            </a:r>
            <a:r>
              <a:rPr lang="en-US" dirty="0"/>
              <a:t>a⁺ </a:t>
            </a:r>
            <a:r>
              <a:rPr lang="fa-IR" dirty="0"/>
              <a:t>نشان داده </a:t>
            </a:r>
            <a:r>
              <a:rPr lang="fa-IR" dirty="0" err="1"/>
              <a:t>می‌شود</a:t>
            </a:r>
            <a:r>
              <a:rPr lang="fa-IR" dirty="0"/>
              <a:t>) </a:t>
            </a:r>
            <a:r>
              <a:rPr lang="fa-IR" dirty="0" err="1"/>
              <a:t>مجموعه‌ای</a:t>
            </a:r>
            <a:r>
              <a:rPr lang="fa-IR" dirty="0"/>
              <a:t> از </a:t>
            </a:r>
            <a:r>
              <a:rPr lang="fa-IR" dirty="0" err="1"/>
              <a:t>ویژگی‌ها</a:t>
            </a:r>
            <a:r>
              <a:rPr lang="fa-IR" dirty="0"/>
              <a:t> است که </a:t>
            </a:r>
            <a:r>
              <a:rPr lang="fa-IR" dirty="0" err="1"/>
              <a:t>به‌صورت</a:t>
            </a:r>
            <a:r>
              <a:rPr lang="fa-IR" dirty="0"/>
              <a:t> </a:t>
            </a:r>
            <a:r>
              <a:rPr lang="fa-IR" dirty="0" err="1"/>
              <a:t>تابعی</a:t>
            </a:r>
            <a:r>
              <a:rPr lang="fa-IR" dirty="0"/>
              <a:t> توسط </a:t>
            </a:r>
            <a:r>
              <a:rPr lang="en-US" b="1" dirty="0"/>
              <a:t>a</a:t>
            </a:r>
            <a:r>
              <a:rPr lang="en-US" dirty="0"/>
              <a:t> </a:t>
            </a:r>
            <a:r>
              <a:rPr lang="fa-IR" dirty="0"/>
              <a:t>تحت </a:t>
            </a:r>
            <a:r>
              <a:rPr lang="en-US" dirty="0"/>
              <a:t>F </a:t>
            </a:r>
            <a:r>
              <a:rPr lang="fa-IR" dirty="0"/>
              <a:t>تعیین </a:t>
            </a:r>
            <a:r>
              <a:rPr lang="fa-IR" dirty="0" err="1"/>
              <a:t>می‌شوند</a:t>
            </a:r>
            <a:r>
              <a:rPr lang="fa-IR" dirty="0"/>
              <a:t>.</a:t>
            </a:r>
            <a:endParaRPr lang="en-US" altLang="en-US" i="1" dirty="0">
              <a:sym typeface="Greek Symbols"/>
            </a:endParaRPr>
          </a:p>
          <a:p>
            <a:pPr algn="r" rtl="1">
              <a:tabLst>
                <a:tab pos="1027113" algn="l"/>
                <a:tab pos="1547813" algn="l"/>
                <a:tab pos="1771650" algn="l"/>
                <a:tab pos="2054225" algn="l"/>
                <a:tab pos="3140075" algn="ctr"/>
              </a:tabLst>
            </a:pPr>
            <a:r>
              <a:rPr lang="en-US" altLang="en-US" dirty="0">
                <a:sym typeface="Greek Symbols"/>
              </a:rPr>
              <a:t> </a:t>
            </a:r>
            <a:r>
              <a:rPr lang="fa-IR" dirty="0" err="1"/>
              <a:t>الگوریتم</a:t>
            </a:r>
            <a:r>
              <a:rPr lang="fa-IR" dirty="0"/>
              <a:t> محاسبه </a:t>
            </a:r>
            <a:r>
              <a:rPr lang="en-US" dirty="0"/>
              <a:t>a⁺ ، </a:t>
            </a:r>
            <a:r>
              <a:rPr lang="fa-IR" dirty="0"/>
              <a:t>یعنی بسته </a:t>
            </a:r>
            <a:r>
              <a:rPr lang="en-US" dirty="0"/>
              <a:t>a </a:t>
            </a:r>
            <a:r>
              <a:rPr lang="fa-IR" dirty="0"/>
              <a:t>تحت</a:t>
            </a:r>
            <a:r>
              <a:rPr lang="en-US" dirty="0"/>
              <a:t>F</a:t>
            </a:r>
            <a:r>
              <a:rPr lang="fa-IR" dirty="0"/>
              <a:t> </a:t>
            </a:r>
            <a:r>
              <a:rPr lang="en-US" dirty="0"/>
              <a:t>:</a:t>
            </a:r>
            <a:endParaRPr lang="en-US" altLang="en-US" i="1" dirty="0">
              <a:sym typeface="Greek Symbols"/>
            </a:endParaRPr>
          </a:p>
          <a:p>
            <a:pPr algn="r" rtl="1">
              <a:buFont typeface="Monotype Sorts" pitchFamily="-84" charset="2"/>
              <a:buNone/>
              <a:tabLst>
                <a:tab pos="1027113" algn="l"/>
                <a:tab pos="1547813" algn="l"/>
                <a:tab pos="1771650" algn="l"/>
                <a:tab pos="2054225" algn="l"/>
                <a:tab pos="3140075" algn="ctr"/>
              </a:tabLst>
            </a:pPr>
            <a:r>
              <a:rPr lang="en-US" altLang="en-US" i="1" dirty="0">
                <a:sym typeface="Greek Symbols"/>
              </a:rPr>
              <a:t>      	result </a:t>
            </a:r>
            <a:r>
              <a:rPr lang="en-US" altLang="en-US" dirty="0">
                <a:sym typeface="Greek Symbols"/>
              </a:rPr>
              <a:t>:= </a:t>
            </a:r>
            <a:r>
              <a:rPr lang="en-US" altLang="en-US" dirty="0">
                <a:latin typeface="Symbol" panose="05050102010706020507" pitchFamily="18" charset="2"/>
                <a:sym typeface="Greek Symbols"/>
              </a:rPr>
              <a:t>a</a:t>
            </a:r>
            <a:r>
              <a:rPr lang="en-US" altLang="en-US" dirty="0">
                <a:sym typeface="Greek Symbols"/>
              </a:rPr>
              <a:t>;</a:t>
            </a:r>
            <a:br>
              <a:rPr lang="en-US" altLang="en-US" dirty="0">
                <a:sym typeface="Greek Symbols"/>
              </a:rPr>
            </a:br>
            <a:r>
              <a:rPr lang="en-US" altLang="en-US" dirty="0">
                <a:sym typeface="Greek Symbols"/>
              </a:rPr>
              <a:t>	</a:t>
            </a:r>
            <a:r>
              <a:rPr lang="en-US" altLang="en-US" b="1" dirty="0">
                <a:sym typeface="Greek Symbols"/>
              </a:rPr>
              <a:t>while</a:t>
            </a:r>
            <a:r>
              <a:rPr lang="en-US" altLang="en-US" dirty="0">
                <a:sym typeface="Greek Symbols"/>
              </a:rPr>
              <a:t> (changes to </a:t>
            </a:r>
            <a:r>
              <a:rPr lang="en-US" altLang="en-US" i="1" dirty="0">
                <a:sym typeface="Greek Symbols"/>
              </a:rPr>
              <a:t>result</a:t>
            </a:r>
            <a:r>
              <a:rPr lang="en-US" altLang="en-US" dirty="0">
                <a:sym typeface="Greek Symbols"/>
              </a:rPr>
              <a:t>) </a:t>
            </a:r>
            <a:r>
              <a:rPr lang="en-US" altLang="en-US" b="1" dirty="0">
                <a:sym typeface="Greek Symbols"/>
              </a:rPr>
              <a:t>do</a:t>
            </a:r>
            <a:br>
              <a:rPr lang="en-US" altLang="en-US" b="1" dirty="0">
                <a:sym typeface="Greek Symbols"/>
              </a:rPr>
            </a:br>
            <a:r>
              <a:rPr lang="en-US" altLang="en-US" b="1" dirty="0">
                <a:sym typeface="Greek Symbols"/>
              </a:rPr>
              <a:t>		for each </a:t>
            </a:r>
            <a:r>
              <a:rPr lang="en-US" altLang="en-US" dirty="0">
                <a:sym typeface="Symbol" panose="05050102010706020507" pitchFamily="18" charset="2"/>
              </a:rPr>
              <a:t></a:t>
            </a:r>
            <a:r>
              <a:rPr lang="en-US" altLang="en-US" i="1" dirty="0">
                <a:sym typeface="Greek Symbols"/>
              </a:rPr>
              <a:t> </a:t>
            </a:r>
            <a:r>
              <a:rPr lang="en-US" altLang="en-US" dirty="0">
                <a:sym typeface="Symbol" panose="05050102010706020507" pitchFamily="18" charset="2"/>
              </a:rPr>
              <a:t></a:t>
            </a:r>
            <a:r>
              <a:rPr lang="en-US" altLang="en-US" dirty="0">
                <a:sym typeface="Monotype Sorts" pitchFamily="-84" charset="2"/>
              </a:rPr>
              <a:t> </a:t>
            </a:r>
            <a:r>
              <a:rPr lang="en-US" altLang="en-US" dirty="0">
                <a:sym typeface="Symbol" panose="05050102010706020507" pitchFamily="18" charset="2"/>
              </a:rPr>
              <a:t></a:t>
            </a:r>
            <a:r>
              <a:rPr lang="en-US" altLang="en-US" dirty="0">
                <a:sym typeface="Greek Symbols"/>
              </a:rPr>
              <a:t> </a:t>
            </a:r>
            <a:r>
              <a:rPr lang="en-US" altLang="en-US" b="1" dirty="0">
                <a:sym typeface="Greek Symbols"/>
              </a:rPr>
              <a:t>in</a:t>
            </a:r>
            <a:r>
              <a:rPr lang="en-US" altLang="en-US" i="1" dirty="0">
                <a:sym typeface="Greek Symbols"/>
              </a:rPr>
              <a:t> F</a:t>
            </a:r>
            <a:r>
              <a:rPr lang="en-US" altLang="en-US" b="1" dirty="0">
                <a:sym typeface="Greek Symbols"/>
              </a:rPr>
              <a:t> do</a:t>
            </a:r>
            <a:br>
              <a:rPr lang="en-US" altLang="en-US" b="1" dirty="0">
                <a:sym typeface="Greek Symbols"/>
              </a:rPr>
            </a:br>
            <a:r>
              <a:rPr lang="en-US" altLang="en-US" b="1" dirty="0">
                <a:sym typeface="Greek Symbols"/>
              </a:rPr>
              <a:t>			begin</a:t>
            </a:r>
            <a:br>
              <a:rPr lang="en-US" altLang="en-US" b="1" dirty="0">
                <a:sym typeface="Greek Symbols"/>
              </a:rPr>
            </a:br>
            <a:r>
              <a:rPr lang="en-US" altLang="en-US" b="1" dirty="0">
                <a:sym typeface="Greek Symbols"/>
              </a:rPr>
              <a:t>				if </a:t>
            </a:r>
            <a:r>
              <a:rPr lang="en-US" altLang="en-US" dirty="0">
                <a:sym typeface="Symbol" panose="05050102010706020507" pitchFamily="18" charset="2"/>
              </a:rPr>
              <a:t></a:t>
            </a:r>
            <a:r>
              <a:rPr lang="en-US" altLang="en-US" i="1" dirty="0">
                <a:sym typeface="Greek Symbols"/>
              </a:rPr>
              <a:t> </a:t>
            </a:r>
            <a:r>
              <a:rPr lang="en-US" altLang="en-US" dirty="0">
                <a:sym typeface="Symbol" panose="05050102010706020507" pitchFamily="18" charset="2"/>
              </a:rPr>
              <a:t> </a:t>
            </a:r>
            <a:r>
              <a:rPr lang="en-US" altLang="en-US" i="1" dirty="0">
                <a:sym typeface="Symbol" panose="05050102010706020507" pitchFamily="18" charset="2"/>
              </a:rPr>
              <a:t>result</a:t>
            </a:r>
            <a:r>
              <a:rPr lang="en-US" altLang="en-US" b="1" dirty="0">
                <a:sym typeface="Symbol" panose="05050102010706020507" pitchFamily="18" charset="2"/>
              </a:rPr>
              <a:t> then </a:t>
            </a:r>
            <a:r>
              <a:rPr lang="en-US" altLang="en-US" i="1" dirty="0">
                <a:sym typeface="Symbol" panose="05050102010706020507" pitchFamily="18" charset="2"/>
              </a:rPr>
              <a:t> result </a:t>
            </a:r>
            <a:r>
              <a:rPr lang="en-US" altLang="en-US" dirty="0">
                <a:sym typeface="Symbol" panose="05050102010706020507" pitchFamily="18" charset="2"/>
              </a:rPr>
              <a:t>:= </a:t>
            </a:r>
            <a:r>
              <a:rPr lang="en-US" altLang="en-US" i="1" dirty="0">
                <a:sym typeface="Symbol" panose="05050102010706020507" pitchFamily="18" charset="2"/>
              </a:rPr>
              <a:t>result </a:t>
            </a:r>
            <a:r>
              <a:rPr lang="en-US" altLang="en-US" dirty="0">
                <a:sym typeface="Symbol" panose="05050102010706020507" pitchFamily="18" charset="2"/>
              </a:rPr>
              <a:t></a:t>
            </a:r>
            <a:r>
              <a:rPr lang="en-US" altLang="en-US" dirty="0">
                <a:sym typeface="Greek Symbols"/>
              </a:rPr>
              <a:t> </a:t>
            </a:r>
            <a:r>
              <a:rPr lang="en-US" altLang="en-US" dirty="0">
                <a:sym typeface="Symbol" panose="05050102010706020507" pitchFamily="18" charset="2"/>
              </a:rPr>
              <a:t></a:t>
            </a:r>
            <a:r>
              <a:rPr lang="en-US" altLang="en-US" dirty="0">
                <a:sym typeface="Greek Symbols"/>
              </a:rPr>
              <a:t> </a:t>
            </a:r>
            <a:br>
              <a:rPr lang="en-US" altLang="en-US" dirty="0">
                <a:sym typeface="Greek Symbols"/>
              </a:rPr>
            </a:br>
            <a:r>
              <a:rPr lang="en-US" altLang="en-US" dirty="0">
                <a:sym typeface="Greek Symbols"/>
              </a:rPr>
              <a:t>			</a:t>
            </a:r>
            <a:r>
              <a:rPr lang="en-US" altLang="en-US" b="1" dirty="0">
                <a:sym typeface="Greek Symbols"/>
              </a:rPr>
              <a:t>end</a:t>
            </a:r>
          </a:p>
          <a:p>
            <a:pPr algn="r" rtl="1">
              <a:buFont typeface="Monotype Sorts" pitchFamily="-84" charset="2"/>
              <a:buNone/>
              <a:tabLst>
                <a:tab pos="1027113" algn="l"/>
                <a:tab pos="1547813" algn="l"/>
                <a:tab pos="1771650" algn="l"/>
                <a:tab pos="2054225" algn="l"/>
                <a:tab pos="3140075" algn="ctr"/>
              </a:tabLst>
            </a:pPr>
            <a:endParaRPr lang="en-US" altLang="en-US" b="1" dirty="0">
              <a:sym typeface="Greek Symbols"/>
            </a:endParaRPr>
          </a:p>
          <a:p>
            <a:pPr algn="r" rtl="1">
              <a:buFont typeface="Monotype Sorts" pitchFamily="-84" charset="2"/>
              <a:buNone/>
              <a:tabLst>
                <a:tab pos="1027113" algn="l"/>
                <a:tab pos="1547813" algn="l"/>
                <a:tab pos="1771650" algn="l"/>
                <a:tab pos="2054225" algn="l"/>
                <a:tab pos="3140075" algn="ctr"/>
              </a:tabLst>
            </a:pPr>
            <a:endParaRPr lang="en-US" altLang="en-US" b="1" dirty="0">
              <a:sym typeface="Greek Symbols"/>
            </a:endParaRPr>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grpId="0" nodeType="clickEffect">
                                  <p:stCondLst>
                                    <p:cond delay="0"/>
                                  </p:stCondLst>
                                  <p:childTnLst>
                                    <p:set>
                                      <p:cBhvr>
                                        <p:cTn id="6" dur="1" fill="hold">
                                          <p:stCondLst>
                                            <p:cond delay="499"/>
                                          </p:stCondLst>
                                        </p:cTn>
                                        <p:tgtEl>
                                          <p:spTgt spid="70758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499"/>
                                          </p:stCondLst>
                                        </p:cTn>
                                        <p:tgtEl>
                                          <p:spTgt spid="707587">
                                            <p:txEl>
                                              <p:pRg st="1" end="1"/>
                                            </p:txEl>
                                          </p:spTgt>
                                        </p:tgtEl>
                                        <p:attrNameLst>
                                          <p:attrName>style.visibility</p:attrName>
                                        </p:attrNameLst>
                                      </p:cBhvr>
                                      <p:to>
                                        <p:strVal val="visible"/>
                                      </p:to>
                                    </p:set>
                                  </p:childTnLst>
                                </p:cTn>
                              </p:par>
                            </p:childTnLst>
                          </p:cTn>
                        </p:par>
                      </p:childTnLst>
                    </p:cTn>
                  </p:par>
                  <p:par>
                    <p:cTn id="11" fill="hold" nodeType="clickPar">
                      <p:stCondLst>
                        <p:cond delay="indefinite"/>
                      </p:stCondLst>
                      <p:childTnLst>
                        <p:par>
                          <p:cTn id="12" fill="hold" nodeType="withGroup">
                            <p:stCondLst>
                              <p:cond delay="0"/>
                            </p:stCondLst>
                            <p:childTnLst>
                              <p:par>
                                <p:cTn id="13" presetID="1" presetClass="entr" presetSubtype="0" fill="hold" grpId="0" nodeType="clickEffect">
                                  <p:stCondLst>
                                    <p:cond delay="0"/>
                                  </p:stCondLst>
                                  <p:childTnLst>
                                    <p:set>
                                      <p:cBhvr>
                                        <p:cTn id="14" dur="1" fill="hold">
                                          <p:stCondLst>
                                            <p:cond delay="499"/>
                                          </p:stCondLst>
                                        </p:cTn>
                                        <p:tgtEl>
                                          <p:spTgt spid="707587">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07587" grpId="0" build="p" autoUpdateAnimBg="0"/>
    </p:bldLst>
  </p:timing>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09634" name="Rectangle 2"/>
          <p:cNvSpPr>
            <a:spLocks noGrp="1" noChangeArrowheads="1"/>
          </p:cNvSpPr>
          <p:nvPr>
            <p:ph type="title"/>
          </p:nvPr>
        </p:nvSpPr>
        <p:spPr/>
        <p:txBody>
          <a:bodyPr/>
          <a:lstStyle/>
          <a:p>
            <a:pPr>
              <a:defRPr/>
            </a:pPr>
            <a:r>
              <a:rPr lang="en-US" altLang="en-US">
                <a:effectLst>
                  <a:outerShdw blurRad="38100" dist="38100" dir="2700000" algn="tl">
                    <a:srgbClr val="C0C0C0"/>
                  </a:outerShdw>
                </a:effectLst>
                <a:ea typeface="ＭＳ Ｐゴシック" pitchFamily="34" charset="-128"/>
              </a:rPr>
              <a:t>Example of Attribute Set Closure</a:t>
            </a:r>
          </a:p>
        </p:txBody>
      </p:sp>
      <p:sp>
        <p:nvSpPr>
          <p:cNvPr id="709635" name="Rectangle 3"/>
          <p:cNvSpPr>
            <a:spLocks noGrp="1" noChangeArrowheads="1"/>
          </p:cNvSpPr>
          <p:nvPr>
            <p:ph idx="1"/>
          </p:nvPr>
        </p:nvSpPr>
        <p:spPr>
          <a:xfrm>
            <a:off x="768351" y="1056443"/>
            <a:ext cx="7136402" cy="5296231"/>
          </a:xfrm>
        </p:spPr>
        <p:txBody>
          <a:bodyPr/>
          <a:lstStyle/>
          <a:p>
            <a:pPr>
              <a:lnSpc>
                <a:spcPct val="90000"/>
              </a:lnSpc>
              <a:tabLst>
                <a:tab pos="803275" algn="l"/>
                <a:tab pos="2633663" algn="l"/>
                <a:tab pos="3140075" algn="l"/>
              </a:tabLst>
            </a:pPr>
            <a:r>
              <a:rPr lang="en-US" altLang="en-US" sz="1600" i="1" dirty="0"/>
              <a:t>R = (A, B, C, G, H, I)</a:t>
            </a:r>
          </a:p>
          <a:p>
            <a:pPr>
              <a:lnSpc>
                <a:spcPct val="90000"/>
              </a:lnSpc>
              <a:tabLst>
                <a:tab pos="803275" algn="l"/>
                <a:tab pos="2633663" algn="l"/>
                <a:tab pos="3140075" algn="l"/>
              </a:tabLst>
            </a:pPr>
            <a:r>
              <a:rPr lang="en-US" altLang="en-US" sz="1600" i="1" dirty="0"/>
              <a:t>F = </a:t>
            </a:r>
            <a:r>
              <a:rPr lang="en-US" altLang="en-US" sz="1600" dirty="0"/>
              <a:t>{</a:t>
            </a:r>
            <a:r>
              <a:rPr lang="en-US" altLang="en-US" sz="1600" i="1" dirty="0">
                <a:sym typeface="Iconic Symbols Ext"/>
              </a:rPr>
              <a:t>A </a:t>
            </a:r>
            <a:r>
              <a:rPr lang="en-US" altLang="en-US" sz="1600" dirty="0">
                <a:sym typeface="Symbol" panose="05050102010706020507" pitchFamily="18" charset="2"/>
              </a:rPr>
              <a:t></a:t>
            </a:r>
            <a:r>
              <a:rPr lang="en-US" altLang="en-US" sz="1600" dirty="0">
                <a:sym typeface="Monotype Sorts" pitchFamily="-84" charset="2"/>
              </a:rPr>
              <a:t> </a:t>
            </a:r>
            <a:r>
              <a:rPr lang="en-US" altLang="en-US" sz="1600" i="1" dirty="0">
                <a:sym typeface="Monotype Sorts" pitchFamily="-84" charset="2"/>
              </a:rPr>
              <a:t>B</a:t>
            </a:r>
            <a:br>
              <a:rPr lang="en-US" altLang="en-US" sz="1600" i="1" dirty="0">
                <a:sym typeface="Monotype Sorts" pitchFamily="-84" charset="2"/>
              </a:rPr>
            </a:br>
            <a:r>
              <a:rPr lang="en-US" altLang="en-US" sz="1600" i="1" dirty="0">
                <a:sym typeface="Monotype Sorts" pitchFamily="-84" charset="2"/>
              </a:rPr>
              <a:t>	</a:t>
            </a:r>
            <a:r>
              <a:rPr lang="en-US" altLang="en-US" sz="1600" i="1" dirty="0">
                <a:sym typeface="Iconic Symbols Ext"/>
              </a:rPr>
              <a:t>A </a:t>
            </a:r>
            <a:r>
              <a:rPr lang="en-US" altLang="en-US" sz="1600" dirty="0">
                <a:sym typeface="Symbol" panose="05050102010706020507" pitchFamily="18" charset="2"/>
              </a:rPr>
              <a:t></a:t>
            </a:r>
            <a:r>
              <a:rPr lang="en-US" altLang="en-US" sz="1600" dirty="0">
                <a:sym typeface="Monotype Sorts" pitchFamily="-84" charset="2"/>
              </a:rPr>
              <a:t> </a:t>
            </a:r>
            <a:r>
              <a:rPr lang="en-US" altLang="en-US" sz="1600" i="1" dirty="0">
                <a:sym typeface="Monotype Sorts" pitchFamily="-84" charset="2"/>
              </a:rPr>
              <a:t>C </a:t>
            </a:r>
            <a:br>
              <a:rPr lang="en-US" altLang="en-US" sz="1600" i="1" dirty="0">
                <a:sym typeface="Monotype Sorts" pitchFamily="-84" charset="2"/>
              </a:rPr>
            </a:br>
            <a:r>
              <a:rPr lang="en-US" altLang="en-US" sz="1600" i="1" dirty="0">
                <a:sym typeface="Monotype Sorts" pitchFamily="-84" charset="2"/>
              </a:rPr>
              <a:t>	</a:t>
            </a:r>
            <a:r>
              <a:rPr lang="en-US" altLang="en-US" sz="1600" i="1" dirty="0">
                <a:sym typeface="Iconic Symbols Ext"/>
              </a:rPr>
              <a:t>CG </a:t>
            </a:r>
            <a:r>
              <a:rPr lang="en-US" altLang="en-US" sz="1600" dirty="0">
                <a:sym typeface="Symbol" panose="05050102010706020507" pitchFamily="18" charset="2"/>
              </a:rPr>
              <a:t></a:t>
            </a:r>
            <a:r>
              <a:rPr lang="en-US" altLang="en-US" sz="1600" dirty="0">
                <a:sym typeface="Monotype Sorts" pitchFamily="-84" charset="2"/>
              </a:rPr>
              <a:t> </a:t>
            </a:r>
            <a:r>
              <a:rPr lang="en-US" altLang="en-US" sz="1600" i="1" dirty="0">
                <a:sym typeface="Monotype Sorts" pitchFamily="-84" charset="2"/>
              </a:rPr>
              <a:t>H</a:t>
            </a:r>
            <a:br>
              <a:rPr lang="en-US" altLang="en-US" sz="1600" i="1" dirty="0">
                <a:sym typeface="Monotype Sorts" pitchFamily="-84" charset="2"/>
              </a:rPr>
            </a:br>
            <a:r>
              <a:rPr lang="en-US" altLang="en-US" sz="1600" i="1" dirty="0">
                <a:sym typeface="Monotype Sorts" pitchFamily="-84" charset="2"/>
              </a:rPr>
              <a:t>	</a:t>
            </a:r>
            <a:r>
              <a:rPr lang="en-US" altLang="en-US" sz="1600" i="1" dirty="0">
                <a:sym typeface="Iconic Symbols Ext"/>
              </a:rPr>
              <a:t>CG </a:t>
            </a:r>
            <a:r>
              <a:rPr lang="en-US" altLang="en-US" sz="1600" dirty="0">
                <a:sym typeface="Symbol" panose="05050102010706020507" pitchFamily="18" charset="2"/>
              </a:rPr>
              <a:t></a:t>
            </a:r>
            <a:r>
              <a:rPr lang="en-US" altLang="en-US" sz="1600" dirty="0">
                <a:sym typeface="Monotype Sorts" pitchFamily="-84" charset="2"/>
              </a:rPr>
              <a:t> </a:t>
            </a:r>
            <a:r>
              <a:rPr lang="en-US" altLang="en-US" sz="1600" i="1" dirty="0">
                <a:sym typeface="Monotype Sorts" pitchFamily="-84" charset="2"/>
              </a:rPr>
              <a:t>I</a:t>
            </a:r>
            <a:br>
              <a:rPr lang="en-US" altLang="en-US" sz="1600" i="1" dirty="0">
                <a:sym typeface="Monotype Sorts" pitchFamily="-84" charset="2"/>
              </a:rPr>
            </a:br>
            <a:r>
              <a:rPr lang="en-US" altLang="en-US" sz="1600" i="1" dirty="0">
                <a:sym typeface="Monotype Sorts" pitchFamily="-84" charset="2"/>
              </a:rPr>
              <a:t>	</a:t>
            </a:r>
            <a:r>
              <a:rPr lang="en-US" altLang="en-US" sz="1600" i="1" dirty="0">
                <a:sym typeface="Iconic Symbols Ext"/>
              </a:rPr>
              <a:t>B </a:t>
            </a:r>
            <a:r>
              <a:rPr lang="en-US" altLang="en-US" sz="1600" dirty="0">
                <a:sym typeface="Symbol" panose="05050102010706020507" pitchFamily="18" charset="2"/>
              </a:rPr>
              <a:t></a:t>
            </a:r>
            <a:r>
              <a:rPr lang="en-US" altLang="en-US" sz="1600" dirty="0">
                <a:sym typeface="Monotype Sorts" pitchFamily="-84" charset="2"/>
              </a:rPr>
              <a:t> </a:t>
            </a:r>
            <a:r>
              <a:rPr lang="en-US" altLang="en-US" sz="1600" i="1" dirty="0">
                <a:sym typeface="Monotype Sorts" pitchFamily="-84" charset="2"/>
              </a:rPr>
              <a:t>H</a:t>
            </a:r>
            <a:r>
              <a:rPr lang="en-US" altLang="en-US" sz="1600" dirty="0">
                <a:sym typeface="Monotype Sorts" pitchFamily="-84" charset="2"/>
              </a:rPr>
              <a:t>}</a:t>
            </a:r>
            <a:endParaRPr lang="en-US" altLang="en-US" sz="1600" dirty="0">
              <a:sym typeface="MS LineDraw"/>
            </a:endParaRPr>
          </a:p>
          <a:p>
            <a:pPr>
              <a:lnSpc>
                <a:spcPct val="90000"/>
              </a:lnSpc>
              <a:tabLst>
                <a:tab pos="803275" algn="l"/>
                <a:tab pos="2633663" algn="l"/>
                <a:tab pos="3140075" algn="l"/>
              </a:tabLst>
            </a:pPr>
            <a:r>
              <a:rPr lang="en-US" altLang="en-US" sz="1600" dirty="0">
                <a:sym typeface="MS LineDraw"/>
              </a:rPr>
              <a:t>(</a:t>
            </a:r>
            <a:r>
              <a:rPr lang="en-US" altLang="en-US" sz="1600" i="1" dirty="0">
                <a:sym typeface="MS LineDraw"/>
              </a:rPr>
              <a:t>AG)</a:t>
            </a:r>
            <a:r>
              <a:rPr lang="en-US" altLang="en-US" sz="1600" baseline="30000" dirty="0">
                <a:sym typeface="MS LineDraw"/>
              </a:rPr>
              <a:t>+</a:t>
            </a:r>
            <a:endParaRPr lang="en-US" altLang="en-US" sz="1600" dirty="0">
              <a:sym typeface="MS LineDraw"/>
            </a:endParaRPr>
          </a:p>
          <a:p>
            <a:pPr marL="762000" lvl="1" indent="-304800">
              <a:lnSpc>
                <a:spcPct val="90000"/>
              </a:lnSpc>
              <a:buFont typeface="Monotype Sorts" pitchFamily="-84" charset="2"/>
              <a:buNone/>
              <a:tabLst>
                <a:tab pos="803275" algn="l"/>
                <a:tab pos="2633663" algn="l"/>
                <a:tab pos="3140075" algn="l"/>
              </a:tabLst>
            </a:pPr>
            <a:r>
              <a:rPr lang="en-US" altLang="en-US" sz="1600" dirty="0">
                <a:sym typeface="MS LineDraw"/>
              </a:rPr>
              <a:t>1.	</a:t>
            </a:r>
            <a:r>
              <a:rPr lang="en-US" altLang="en-US" sz="1600" i="1" dirty="0">
                <a:sym typeface="MS LineDraw"/>
              </a:rPr>
              <a:t>result = AG</a:t>
            </a:r>
            <a:endParaRPr lang="en-US" altLang="en-US" sz="1600" dirty="0">
              <a:sym typeface="MS LineDraw"/>
            </a:endParaRPr>
          </a:p>
          <a:p>
            <a:pPr marL="762000" lvl="1" indent="-304800">
              <a:lnSpc>
                <a:spcPct val="90000"/>
              </a:lnSpc>
              <a:buFont typeface="Monotype Sorts" pitchFamily="-84" charset="2"/>
              <a:buNone/>
              <a:tabLst>
                <a:tab pos="803275" algn="l"/>
                <a:tab pos="2633663" algn="l"/>
                <a:tab pos="3140075" algn="l"/>
              </a:tabLst>
            </a:pPr>
            <a:r>
              <a:rPr lang="en-US" altLang="en-US" sz="1600" dirty="0">
                <a:sym typeface="MS LineDraw"/>
              </a:rPr>
              <a:t>2.	</a:t>
            </a:r>
            <a:r>
              <a:rPr lang="en-US" altLang="en-US" sz="1600" i="1" dirty="0">
                <a:sym typeface="MS LineDraw"/>
              </a:rPr>
              <a:t>result = ABCG	(A </a:t>
            </a:r>
            <a:r>
              <a:rPr lang="en-US" altLang="en-US" sz="1600" dirty="0">
                <a:sym typeface="Symbol" panose="05050102010706020507" pitchFamily="18" charset="2"/>
              </a:rPr>
              <a:t></a:t>
            </a:r>
            <a:r>
              <a:rPr lang="en-US" altLang="en-US" sz="1600" dirty="0">
                <a:sym typeface="Monotype Sorts" pitchFamily="-84" charset="2"/>
              </a:rPr>
              <a:t> </a:t>
            </a:r>
            <a:r>
              <a:rPr lang="en-US" altLang="en-US" sz="1600" i="1" dirty="0">
                <a:sym typeface="Monotype Sorts" pitchFamily="-84" charset="2"/>
              </a:rPr>
              <a:t>C </a:t>
            </a:r>
            <a:r>
              <a:rPr lang="en-US" altLang="en-US" sz="1600" dirty="0">
                <a:sym typeface="Monotype Sorts" pitchFamily="-84" charset="2"/>
              </a:rPr>
              <a:t>and </a:t>
            </a:r>
            <a:r>
              <a:rPr lang="en-US" altLang="en-US" sz="1600" i="1" dirty="0">
                <a:sym typeface="Monotype Sorts" pitchFamily="-84" charset="2"/>
              </a:rPr>
              <a:t>A </a:t>
            </a:r>
            <a:r>
              <a:rPr lang="en-US" altLang="en-US" sz="1600" dirty="0">
                <a:sym typeface="Symbol" panose="05050102010706020507" pitchFamily="18" charset="2"/>
              </a:rPr>
              <a:t></a:t>
            </a:r>
            <a:r>
              <a:rPr lang="en-US" altLang="en-US" sz="1600" i="1" dirty="0">
                <a:sym typeface="Symbol" panose="05050102010706020507" pitchFamily="18" charset="2"/>
              </a:rPr>
              <a:t> B)</a:t>
            </a:r>
            <a:endParaRPr lang="en-US" altLang="en-US" sz="1600" dirty="0">
              <a:sym typeface="Symbol" panose="05050102010706020507" pitchFamily="18" charset="2"/>
            </a:endParaRPr>
          </a:p>
          <a:p>
            <a:pPr marL="762000" lvl="1" indent="-304800">
              <a:lnSpc>
                <a:spcPct val="90000"/>
              </a:lnSpc>
              <a:buFont typeface="Monotype Sorts" pitchFamily="-84" charset="2"/>
              <a:buNone/>
              <a:tabLst>
                <a:tab pos="803275" algn="l"/>
                <a:tab pos="2633663" algn="l"/>
                <a:tab pos="3140075" algn="l"/>
              </a:tabLst>
            </a:pPr>
            <a:r>
              <a:rPr lang="en-US" altLang="en-US" sz="1600" dirty="0">
                <a:sym typeface="Symbol" panose="05050102010706020507" pitchFamily="18" charset="2"/>
              </a:rPr>
              <a:t>3.	</a:t>
            </a:r>
            <a:r>
              <a:rPr lang="en-US" altLang="en-US" sz="1600" i="1" dirty="0">
                <a:sym typeface="MS LineDraw"/>
              </a:rPr>
              <a:t>result = ABCG</a:t>
            </a:r>
            <a:r>
              <a:rPr lang="en-US" altLang="en-US" sz="1600" i="1" dirty="0">
                <a:sym typeface="Monotype Sorts" pitchFamily="-84" charset="2"/>
              </a:rPr>
              <a:t>H	(CG </a:t>
            </a:r>
            <a:r>
              <a:rPr lang="en-US" altLang="en-US" sz="1600" dirty="0">
                <a:sym typeface="Symbol" panose="05050102010706020507" pitchFamily="18" charset="2"/>
              </a:rPr>
              <a:t></a:t>
            </a:r>
            <a:r>
              <a:rPr lang="en-US" altLang="en-US" sz="1600" dirty="0">
                <a:sym typeface="Monotype Sorts" pitchFamily="-84" charset="2"/>
              </a:rPr>
              <a:t> </a:t>
            </a:r>
            <a:r>
              <a:rPr lang="en-US" altLang="en-US" sz="1600" i="1" dirty="0">
                <a:sym typeface="Monotype Sorts" pitchFamily="-84" charset="2"/>
              </a:rPr>
              <a:t>H</a:t>
            </a:r>
            <a:r>
              <a:rPr lang="en-US" altLang="en-US" sz="1600" dirty="0">
                <a:sym typeface="Monotype Sorts" pitchFamily="-84" charset="2"/>
              </a:rPr>
              <a:t> and </a:t>
            </a:r>
            <a:r>
              <a:rPr lang="en-US" altLang="en-US" sz="1600" i="1" dirty="0">
                <a:sym typeface="Monotype Sorts" pitchFamily="-84" charset="2"/>
              </a:rPr>
              <a:t>CG </a:t>
            </a:r>
            <a:r>
              <a:rPr lang="en-US" altLang="en-US" sz="1600" dirty="0">
                <a:sym typeface="Symbol" panose="05050102010706020507" pitchFamily="18" charset="2"/>
              </a:rPr>
              <a:t> </a:t>
            </a:r>
            <a:r>
              <a:rPr lang="en-US" altLang="en-US" sz="1600" i="1" dirty="0">
                <a:sym typeface="Symbol" panose="05050102010706020507" pitchFamily="18" charset="2"/>
              </a:rPr>
              <a:t>AGBC)</a:t>
            </a:r>
          </a:p>
          <a:p>
            <a:pPr marL="762000" lvl="1" indent="-304800">
              <a:lnSpc>
                <a:spcPct val="90000"/>
              </a:lnSpc>
              <a:buFont typeface="Monotype Sorts" pitchFamily="-84" charset="2"/>
              <a:buNone/>
              <a:tabLst>
                <a:tab pos="803275" algn="l"/>
                <a:tab pos="2633663" algn="l"/>
                <a:tab pos="3140075" algn="l"/>
              </a:tabLst>
            </a:pPr>
            <a:r>
              <a:rPr lang="en-US" altLang="en-US" sz="1600" dirty="0">
                <a:sym typeface="Symbol" panose="05050102010706020507" pitchFamily="18" charset="2"/>
              </a:rPr>
              <a:t>4.	</a:t>
            </a:r>
            <a:r>
              <a:rPr lang="en-US" altLang="en-US" sz="1600" i="1" dirty="0">
                <a:sym typeface="MS LineDraw"/>
              </a:rPr>
              <a:t>result = ABCG</a:t>
            </a:r>
            <a:r>
              <a:rPr lang="en-US" altLang="en-US" sz="1600" i="1" dirty="0">
                <a:sym typeface="Monotype Sorts" pitchFamily="-84" charset="2"/>
              </a:rPr>
              <a:t>HI	(CG </a:t>
            </a:r>
            <a:r>
              <a:rPr lang="en-US" altLang="en-US" sz="1600" dirty="0">
                <a:sym typeface="Symbol" panose="05050102010706020507" pitchFamily="18" charset="2"/>
              </a:rPr>
              <a:t></a:t>
            </a:r>
            <a:r>
              <a:rPr lang="en-US" altLang="en-US" sz="1600" dirty="0">
                <a:sym typeface="Monotype Sorts" pitchFamily="-84" charset="2"/>
              </a:rPr>
              <a:t> </a:t>
            </a:r>
            <a:r>
              <a:rPr lang="en-US" altLang="en-US" sz="1600" i="1" dirty="0">
                <a:sym typeface="Monotype Sorts" pitchFamily="-84" charset="2"/>
              </a:rPr>
              <a:t>I</a:t>
            </a:r>
            <a:r>
              <a:rPr lang="en-US" altLang="en-US" sz="1600" dirty="0">
                <a:sym typeface="Monotype Sorts" pitchFamily="-84" charset="2"/>
              </a:rPr>
              <a:t> and </a:t>
            </a:r>
            <a:r>
              <a:rPr lang="en-US" altLang="en-US" sz="1600" i="1" dirty="0">
                <a:sym typeface="Monotype Sorts" pitchFamily="-84" charset="2"/>
              </a:rPr>
              <a:t>CG </a:t>
            </a:r>
            <a:r>
              <a:rPr lang="en-US" altLang="en-US" sz="1600" dirty="0">
                <a:sym typeface="Symbol" panose="05050102010706020507" pitchFamily="18" charset="2"/>
              </a:rPr>
              <a:t> </a:t>
            </a:r>
            <a:r>
              <a:rPr lang="en-US" altLang="en-US" sz="1600" i="1" dirty="0">
                <a:sym typeface="Symbol" panose="05050102010706020507" pitchFamily="18" charset="2"/>
              </a:rPr>
              <a:t>AGBCH)</a:t>
            </a:r>
          </a:p>
          <a:p>
            <a:pPr>
              <a:lnSpc>
                <a:spcPct val="90000"/>
              </a:lnSpc>
              <a:tabLst>
                <a:tab pos="803275" algn="l"/>
                <a:tab pos="2633663" algn="l"/>
                <a:tab pos="3140075" algn="l"/>
              </a:tabLst>
            </a:pPr>
            <a:r>
              <a:rPr lang="en-US" altLang="en-US" sz="1600" dirty="0">
                <a:sym typeface="Symbol" panose="05050102010706020507" pitchFamily="18" charset="2"/>
              </a:rPr>
              <a:t>Is </a:t>
            </a:r>
            <a:r>
              <a:rPr lang="en-US" altLang="en-US" sz="1600" i="1" dirty="0">
                <a:sym typeface="Symbol" panose="05050102010706020507" pitchFamily="18" charset="2"/>
              </a:rPr>
              <a:t>AG</a:t>
            </a:r>
            <a:r>
              <a:rPr lang="en-US" altLang="en-US" sz="1600" dirty="0">
                <a:sym typeface="Symbol" panose="05050102010706020507" pitchFamily="18" charset="2"/>
              </a:rPr>
              <a:t> a candidate key?  </a:t>
            </a:r>
          </a:p>
          <a:p>
            <a:pPr marL="762000" lvl="1" indent="-304800">
              <a:lnSpc>
                <a:spcPct val="90000"/>
              </a:lnSpc>
              <a:buFont typeface="Monotype Sorts" pitchFamily="-84" charset="2"/>
              <a:buAutoNum type="arabicPeriod"/>
              <a:tabLst>
                <a:tab pos="803275" algn="l"/>
                <a:tab pos="2633663" algn="l"/>
                <a:tab pos="3140075" algn="l"/>
              </a:tabLst>
            </a:pPr>
            <a:r>
              <a:rPr lang="en-US" altLang="en-US" sz="1600" dirty="0">
                <a:sym typeface="Symbol" panose="05050102010706020507" pitchFamily="18" charset="2"/>
              </a:rPr>
              <a:t>Is AG a super key?</a:t>
            </a:r>
          </a:p>
          <a:p>
            <a:pPr marL="1163638" lvl="2" indent="-304800">
              <a:lnSpc>
                <a:spcPct val="90000"/>
              </a:lnSpc>
              <a:buFont typeface="Monotype Sorts" pitchFamily="-84" charset="2"/>
              <a:buAutoNum type="arabicPeriod"/>
              <a:tabLst>
                <a:tab pos="803275" algn="l"/>
                <a:tab pos="2633663" algn="l"/>
                <a:tab pos="3140075" algn="l"/>
              </a:tabLst>
            </a:pPr>
            <a:r>
              <a:rPr lang="en-US" altLang="en-US" sz="1600" dirty="0">
                <a:sym typeface="Symbol" panose="05050102010706020507" pitchFamily="18" charset="2"/>
              </a:rPr>
              <a:t>Does </a:t>
            </a:r>
            <a:r>
              <a:rPr lang="en-US" altLang="en-US" sz="1600" i="1" dirty="0">
                <a:sym typeface="Symbol" panose="05050102010706020507" pitchFamily="18" charset="2"/>
              </a:rPr>
              <a:t>AG </a:t>
            </a:r>
            <a:r>
              <a:rPr lang="en-US" altLang="en-US" sz="1600" dirty="0">
                <a:sym typeface="Symbol" panose="05050102010706020507" pitchFamily="18" charset="2"/>
              </a:rPr>
              <a:t></a:t>
            </a:r>
            <a:r>
              <a:rPr lang="en-US" altLang="en-US" sz="1600" dirty="0">
                <a:sym typeface="Monotype Sorts" pitchFamily="-84" charset="2"/>
              </a:rPr>
              <a:t> </a:t>
            </a:r>
            <a:r>
              <a:rPr lang="en-US" altLang="en-US" sz="1600" i="1" dirty="0">
                <a:sym typeface="Monotype Sorts" pitchFamily="-84" charset="2"/>
              </a:rPr>
              <a:t>R? == </a:t>
            </a:r>
            <a:r>
              <a:rPr lang="en-US" altLang="en-US" sz="1600" dirty="0">
                <a:sym typeface="Monotype Sorts" pitchFamily="-84" charset="2"/>
              </a:rPr>
              <a:t>Is </a:t>
            </a:r>
            <a:r>
              <a:rPr lang="en-US" altLang="en-US" sz="1600" dirty="0">
                <a:sym typeface="Symbol" panose="05050102010706020507" pitchFamily="18" charset="2"/>
              </a:rPr>
              <a:t>R</a:t>
            </a:r>
            <a:r>
              <a:rPr lang="en-US" altLang="en-US" sz="1600" dirty="0">
                <a:sym typeface="Monotype Sorts" pitchFamily="-84" charset="2"/>
              </a:rPr>
              <a:t> </a:t>
            </a:r>
            <a:r>
              <a:rPr lang="en-US" altLang="en-US" sz="1600" dirty="0">
                <a:sym typeface="Symbol" panose="05050102010706020507" pitchFamily="18" charset="2"/>
              </a:rPr>
              <a:t> </a:t>
            </a:r>
            <a:r>
              <a:rPr lang="en-US" altLang="en-US" sz="1600" dirty="0">
                <a:sym typeface="Monotype Sorts" pitchFamily="-84" charset="2"/>
              </a:rPr>
              <a:t>(AG)</a:t>
            </a:r>
            <a:r>
              <a:rPr lang="en-US" altLang="en-US" sz="1600" baseline="30000" dirty="0">
                <a:sym typeface="Monotype Sorts" pitchFamily="-84" charset="2"/>
              </a:rPr>
              <a:t>+ </a:t>
            </a:r>
            <a:endParaRPr lang="en-US" altLang="en-US" sz="1600" i="1" dirty="0">
              <a:sym typeface="Monotype Sorts" pitchFamily="-84" charset="2"/>
            </a:endParaRPr>
          </a:p>
          <a:p>
            <a:pPr marL="762000" lvl="1" indent="-304800">
              <a:lnSpc>
                <a:spcPct val="90000"/>
              </a:lnSpc>
              <a:buFont typeface="Monotype Sorts" pitchFamily="-84" charset="2"/>
              <a:buAutoNum type="arabicPeriod" startAt="2"/>
              <a:tabLst>
                <a:tab pos="803275" algn="l"/>
                <a:tab pos="2633663" algn="l"/>
                <a:tab pos="3140075" algn="l"/>
              </a:tabLst>
            </a:pPr>
            <a:r>
              <a:rPr lang="en-US" altLang="en-US" sz="1600" dirty="0">
                <a:sym typeface="Monotype Sorts" pitchFamily="-84" charset="2"/>
              </a:rPr>
              <a:t>Is any subset of AG a </a:t>
            </a:r>
            <a:r>
              <a:rPr lang="en-US" altLang="en-US" sz="1600" dirty="0" err="1">
                <a:sym typeface="Monotype Sorts" pitchFamily="-84" charset="2"/>
              </a:rPr>
              <a:t>superkey</a:t>
            </a:r>
            <a:r>
              <a:rPr lang="en-US" altLang="en-US" sz="1600" dirty="0">
                <a:sym typeface="Monotype Sorts" pitchFamily="-84" charset="2"/>
              </a:rPr>
              <a:t>?</a:t>
            </a:r>
          </a:p>
          <a:p>
            <a:pPr marL="1163638" lvl="2" indent="-304800">
              <a:lnSpc>
                <a:spcPct val="90000"/>
              </a:lnSpc>
              <a:buFont typeface="Monotype Sorts" pitchFamily="-84" charset="2"/>
              <a:buAutoNum type="arabicPeriod"/>
              <a:tabLst>
                <a:tab pos="803275" algn="l"/>
                <a:tab pos="2633663" algn="l"/>
                <a:tab pos="3140075" algn="l"/>
              </a:tabLst>
            </a:pPr>
            <a:r>
              <a:rPr lang="en-US" altLang="en-US" sz="1600" dirty="0">
                <a:sym typeface="Monotype Sorts" pitchFamily="-84" charset="2"/>
              </a:rPr>
              <a:t>Does </a:t>
            </a:r>
            <a:r>
              <a:rPr lang="en-US" altLang="en-US" sz="1600" i="1" dirty="0">
                <a:sym typeface="Monotype Sorts" pitchFamily="-84" charset="2"/>
              </a:rPr>
              <a:t>A</a:t>
            </a:r>
            <a:r>
              <a:rPr lang="en-US" altLang="en-US" sz="1600" dirty="0">
                <a:sym typeface="Monotype Sorts" pitchFamily="-84" charset="2"/>
              </a:rPr>
              <a:t> </a:t>
            </a:r>
            <a:r>
              <a:rPr lang="en-US" altLang="en-US" sz="1600" dirty="0">
                <a:sym typeface="Symbol" panose="05050102010706020507" pitchFamily="18" charset="2"/>
              </a:rPr>
              <a:t></a:t>
            </a:r>
            <a:r>
              <a:rPr lang="en-US" altLang="en-US" sz="1600" dirty="0">
                <a:sym typeface="Monotype Sorts" pitchFamily="-84" charset="2"/>
              </a:rPr>
              <a:t> </a:t>
            </a:r>
            <a:r>
              <a:rPr lang="en-US" altLang="en-US" sz="1600" i="1" dirty="0">
                <a:sym typeface="Monotype Sorts" pitchFamily="-84" charset="2"/>
              </a:rPr>
              <a:t>R</a:t>
            </a:r>
            <a:r>
              <a:rPr lang="en-US" altLang="en-US" sz="1600" dirty="0">
                <a:sym typeface="Monotype Sorts" pitchFamily="-84" charset="2"/>
              </a:rPr>
              <a:t>? </a:t>
            </a:r>
            <a:r>
              <a:rPr lang="en-US" altLang="en-US" sz="1600" i="1" dirty="0">
                <a:sym typeface="Monotype Sorts" pitchFamily="-84" charset="2"/>
              </a:rPr>
              <a:t>== </a:t>
            </a:r>
            <a:r>
              <a:rPr lang="en-US" altLang="en-US" sz="1600" dirty="0">
                <a:sym typeface="Monotype Sorts" pitchFamily="-84" charset="2"/>
              </a:rPr>
              <a:t>Is </a:t>
            </a:r>
            <a:r>
              <a:rPr lang="en-US" altLang="en-US" sz="1600" dirty="0">
                <a:sym typeface="Symbol" panose="05050102010706020507" pitchFamily="18" charset="2"/>
              </a:rPr>
              <a:t>R</a:t>
            </a:r>
            <a:r>
              <a:rPr lang="en-US" altLang="en-US" sz="1600" dirty="0">
                <a:sym typeface="Monotype Sorts" pitchFamily="-84" charset="2"/>
              </a:rPr>
              <a:t> </a:t>
            </a:r>
            <a:r>
              <a:rPr lang="en-US" altLang="en-US" sz="1600" dirty="0">
                <a:sym typeface="Symbol" panose="05050102010706020507" pitchFamily="18" charset="2"/>
              </a:rPr>
              <a:t> </a:t>
            </a:r>
            <a:r>
              <a:rPr lang="en-US" altLang="en-US" sz="1600" dirty="0">
                <a:sym typeface="Monotype Sorts" pitchFamily="-84" charset="2"/>
              </a:rPr>
              <a:t>(A)</a:t>
            </a:r>
            <a:r>
              <a:rPr lang="en-US" altLang="en-US" sz="1600" baseline="30000" dirty="0">
                <a:sym typeface="Monotype Sorts" pitchFamily="-84" charset="2"/>
              </a:rPr>
              <a:t>+   </a:t>
            </a:r>
            <a:endParaRPr lang="en-US" altLang="en-US" sz="1600" dirty="0">
              <a:sym typeface="Monotype Sorts" pitchFamily="-84" charset="2"/>
            </a:endParaRPr>
          </a:p>
          <a:p>
            <a:pPr marL="1163638" lvl="2" indent="-304800">
              <a:lnSpc>
                <a:spcPct val="90000"/>
              </a:lnSpc>
              <a:buFont typeface="Monotype Sorts" pitchFamily="-84" charset="2"/>
              <a:buAutoNum type="arabicPeriod"/>
              <a:tabLst>
                <a:tab pos="803275" algn="l"/>
                <a:tab pos="2633663" algn="l"/>
                <a:tab pos="3140075" algn="l"/>
              </a:tabLst>
            </a:pPr>
            <a:r>
              <a:rPr lang="en-US" altLang="en-US" sz="1600" dirty="0">
                <a:sym typeface="Monotype Sorts" pitchFamily="-84" charset="2"/>
              </a:rPr>
              <a:t>Does </a:t>
            </a:r>
            <a:r>
              <a:rPr lang="en-US" altLang="en-US" sz="1600" i="1" dirty="0">
                <a:sym typeface="Monotype Sorts" pitchFamily="-84" charset="2"/>
              </a:rPr>
              <a:t>G</a:t>
            </a:r>
            <a:r>
              <a:rPr lang="en-US" altLang="en-US" sz="1600" dirty="0">
                <a:sym typeface="Monotype Sorts" pitchFamily="-84" charset="2"/>
              </a:rPr>
              <a:t> </a:t>
            </a:r>
            <a:r>
              <a:rPr lang="en-US" altLang="en-US" sz="1600" dirty="0">
                <a:sym typeface="Symbol" panose="05050102010706020507" pitchFamily="18" charset="2"/>
              </a:rPr>
              <a:t></a:t>
            </a:r>
            <a:r>
              <a:rPr lang="en-US" altLang="en-US" sz="1600" dirty="0">
                <a:sym typeface="Monotype Sorts" pitchFamily="-84" charset="2"/>
              </a:rPr>
              <a:t> </a:t>
            </a:r>
            <a:r>
              <a:rPr lang="en-US" altLang="en-US" sz="1600" i="1" dirty="0">
                <a:sym typeface="Monotype Sorts" pitchFamily="-84" charset="2"/>
              </a:rPr>
              <a:t>R</a:t>
            </a:r>
            <a:r>
              <a:rPr lang="en-US" altLang="en-US" sz="1600" dirty="0">
                <a:sym typeface="Monotype Sorts" pitchFamily="-84" charset="2"/>
              </a:rPr>
              <a:t>? == Is </a:t>
            </a:r>
            <a:r>
              <a:rPr lang="en-US" altLang="en-US" sz="1600" dirty="0">
                <a:sym typeface="Symbol" panose="05050102010706020507" pitchFamily="18" charset="2"/>
              </a:rPr>
              <a:t>R  </a:t>
            </a:r>
            <a:r>
              <a:rPr lang="en-US" altLang="en-US" sz="1600" dirty="0">
                <a:sym typeface="Monotype Sorts" pitchFamily="-84" charset="2"/>
              </a:rPr>
              <a:t>(G)</a:t>
            </a:r>
            <a:r>
              <a:rPr lang="en-US" altLang="en-US" sz="1600" baseline="30000" dirty="0">
                <a:sym typeface="Monotype Sorts" pitchFamily="-84" charset="2"/>
              </a:rPr>
              <a:t>+ </a:t>
            </a:r>
          </a:p>
          <a:p>
            <a:pPr marL="1163638" lvl="2" indent="-304800">
              <a:lnSpc>
                <a:spcPct val="90000"/>
              </a:lnSpc>
              <a:buFont typeface="Monotype Sorts" pitchFamily="-84" charset="2"/>
              <a:buAutoNum type="arabicPeriod"/>
              <a:tabLst>
                <a:tab pos="803275" algn="l"/>
                <a:tab pos="2633663" algn="l"/>
                <a:tab pos="3140075" algn="l"/>
              </a:tabLst>
            </a:pPr>
            <a:r>
              <a:rPr lang="en-US" altLang="en-US" sz="1600" dirty="0">
                <a:sym typeface="Monotype Sorts" pitchFamily="-84" charset="2"/>
              </a:rPr>
              <a:t>In general: check for each subset of size </a:t>
            </a:r>
            <a:r>
              <a:rPr lang="en-US" altLang="en-US" sz="1600" i="1" dirty="0">
                <a:sym typeface="Monotype Sorts" pitchFamily="-84" charset="2"/>
              </a:rPr>
              <a:t>n-1</a:t>
            </a:r>
            <a:endParaRPr lang="en-US" altLang="en-US" sz="1600" i="1" dirty="0">
              <a:sym typeface="Symbol" panose="05050102010706020507" pitchFamily="18" charset="2"/>
            </a:endParaRPr>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grpId="0" nodeType="clickEffect">
                                  <p:stCondLst>
                                    <p:cond delay="0"/>
                                  </p:stCondLst>
                                  <p:childTnLst>
                                    <p:set>
                                      <p:cBhvr>
                                        <p:cTn id="6" dur="1" fill="hold">
                                          <p:stCondLst>
                                            <p:cond delay="499"/>
                                          </p:stCondLst>
                                        </p:cTn>
                                        <p:tgtEl>
                                          <p:spTgt spid="709635">
                                            <p:txEl>
                                              <p:pRg st="0" end="0"/>
                                            </p:txEl>
                                          </p:spTgt>
                                        </p:tgtEl>
                                        <p:attrNameLst>
                                          <p:attrName>style.visibility</p:attrName>
                                        </p:attrNameLst>
                                      </p:cBhvr>
                                      <p:to>
                                        <p:strVal val="visible"/>
                                      </p:to>
                                    </p:set>
                                  </p:childTnLst>
                                </p:cTn>
                              </p:par>
                            </p:childTnLst>
                          </p:cTn>
                        </p:par>
                      </p:childTnLst>
                    </p:cTn>
                  </p:par>
                  <p:par>
                    <p:cTn id="7" fill="hold" nodeType="clickPar">
                      <p:stCondLst>
                        <p:cond delay="indefinite"/>
                      </p:stCondLst>
                      <p:childTnLst>
                        <p:par>
                          <p:cTn id="8" fill="hold" nodeType="withGroup">
                            <p:stCondLst>
                              <p:cond delay="0"/>
                            </p:stCondLst>
                            <p:childTnLst>
                              <p:par>
                                <p:cTn id="9" presetID="1" presetClass="entr" presetSubtype="0" fill="hold" grpId="0" nodeType="clickEffect">
                                  <p:stCondLst>
                                    <p:cond delay="0"/>
                                  </p:stCondLst>
                                  <p:childTnLst>
                                    <p:set>
                                      <p:cBhvr>
                                        <p:cTn id="10" dur="1" fill="hold">
                                          <p:stCondLst>
                                            <p:cond delay="499"/>
                                          </p:stCondLst>
                                        </p:cTn>
                                        <p:tgtEl>
                                          <p:spTgt spid="709635">
                                            <p:txEl>
                                              <p:pRg st="1" end="1"/>
                                            </p:txEl>
                                          </p:spTgt>
                                        </p:tgtEl>
                                        <p:attrNameLst>
                                          <p:attrName>style.visibility</p:attrName>
                                        </p:attrNameLst>
                                      </p:cBhvr>
                                      <p:to>
                                        <p:strVal val="visible"/>
                                      </p:to>
                                    </p:set>
                                  </p:childTnLst>
                                </p:cTn>
                              </p:par>
                            </p:childTnLst>
                          </p:cTn>
                        </p:par>
                      </p:childTnLst>
                    </p:cTn>
                  </p:par>
                  <p:par>
                    <p:cTn id="11" fill="hold" nodeType="clickPar">
                      <p:stCondLst>
                        <p:cond delay="indefinite"/>
                      </p:stCondLst>
                      <p:childTnLst>
                        <p:par>
                          <p:cTn id="12" fill="hold" nodeType="withGroup">
                            <p:stCondLst>
                              <p:cond delay="0"/>
                            </p:stCondLst>
                            <p:childTnLst>
                              <p:par>
                                <p:cTn id="13" presetID="1" presetClass="entr" presetSubtype="0" fill="hold" grpId="0" nodeType="clickEffect">
                                  <p:stCondLst>
                                    <p:cond delay="0"/>
                                  </p:stCondLst>
                                  <p:childTnLst>
                                    <p:set>
                                      <p:cBhvr>
                                        <p:cTn id="14" dur="1" fill="hold">
                                          <p:stCondLst>
                                            <p:cond delay="499"/>
                                          </p:stCondLst>
                                        </p:cTn>
                                        <p:tgtEl>
                                          <p:spTgt spid="709635">
                                            <p:txEl>
                                              <p:pRg st="2" end="2"/>
                                            </p:txEl>
                                          </p:spTgt>
                                        </p:tgtEl>
                                        <p:attrNameLst>
                                          <p:attrName>style.visibility</p:attrName>
                                        </p:attrNameLst>
                                      </p:cBhvr>
                                      <p:to>
                                        <p:strVal val="visible"/>
                                      </p:to>
                                    </p:set>
                                  </p:childTnLst>
                                </p:cTn>
                              </p:par>
                            </p:childTnLst>
                          </p:cTn>
                        </p:par>
                      </p:childTnLst>
                    </p:cTn>
                  </p:par>
                  <p:par>
                    <p:cTn id="15" fill="hold" nodeType="clickPar">
                      <p:stCondLst>
                        <p:cond delay="indefinite"/>
                      </p:stCondLst>
                      <p:childTnLst>
                        <p:par>
                          <p:cTn id="16" fill="hold" nodeType="withGroup">
                            <p:stCondLst>
                              <p:cond delay="0"/>
                            </p:stCondLst>
                            <p:childTnLst>
                              <p:par>
                                <p:cTn id="17" presetID="1" presetClass="entr" presetSubtype="0" fill="hold" grpId="0" nodeType="clickEffect">
                                  <p:stCondLst>
                                    <p:cond delay="0"/>
                                  </p:stCondLst>
                                  <p:childTnLst>
                                    <p:set>
                                      <p:cBhvr>
                                        <p:cTn id="18" dur="1" fill="hold">
                                          <p:stCondLst>
                                            <p:cond delay="499"/>
                                          </p:stCondLst>
                                        </p:cTn>
                                        <p:tgtEl>
                                          <p:spTgt spid="709635">
                                            <p:txEl>
                                              <p:pRg st="3" end="3"/>
                                            </p:txEl>
                                          </p:spTgt>
                                        </p:tgtEl>
                                        <p:attrNameLst>
                                          <p:attrName>style.visibility</p:attrName>
                                        </p:attrNameLst>
                                      </p:cBhvr>
                                      <p:to>
                                        <p:strVal val="visible"/>
                                      </p:to>
                                    </p:set>
                                  </p:childTnLst>
                                </p:cTn>
                              </p:par>
                            </p:childTnLst>
                          </p:cTn>
                        </p:par>
                      </p:childTnLst>
                    </p:cTn>
                  </p:par>
                  <p:par>
                    <p:cTn id="19" fill="hold" nodeType="clickPar">
                      <p:stCondLst>
                        <p:cond delay="indefinite"/>
                      </p:stCondLst>
                      <p:childTnLst>
                        <p:par>
                          <p:cTn id="20" fill="hold" nodeType="withGroup">
                            <p:stCondLst>
                              <p:cond delay="0"/>
                            </p:stCondLst>
                            <p:childTnLst>
                              <p:par>
                                <p:cTn id="21" presetID="1" presetClass="entr" presetSubtype="0" fill="hold" grpId="0" nodeType="clickEffect">
                                  <p:stCondLst>
                                    <p:cond delay="0"/>
                                  </p:stCondLst>
                                  <p:childTnLst>
                                    <p:set>
                                      <p:cBhvr>
                                        <p:cTn id="22" dur="1" fill="hold">
                                          <p:stCondLst>
                                            <p:cond delay="499"/>
                                          </p:stCondLst>
                                        </p:cTn>
                                        <p:tgtEl>
                                          <p:spTgt spid="709635">
                                            <p:txEl>
                                              <p:pRg st="4" end="4"/>
                                            </p:txEl>
                                          </p:spTgt>
                                        </p:tgtEl>
                                        <p:attrNameLst>
                                          <p:attrName>style.visibility</p:attrName>
                                        </p:attrNameLst>
                                      </p:cBhvr>
                                      <p:to>
                                        <p:strVal val="visible"/>
                                      </p:to>
                                    </p:set>
                                  </p:childTnLst>
                                </p:cTn>
                              </p:par>
                            </p:childTnLst>
                          </p:cTn>
                        </p:par>
                      </p:childTnLst>
                    </p:cTn>
                  </p:par>
                  <p:par>
                    <p:cTn id="23" fill="hold" nodeType="clickPar">
                      <p:stCondLst>
                        <p:cond delay="indefinite"/>
                      </p:stCondLst>
                      <p:childTnLst>
                        <p:par>
                          <p:cTn id="24" fill="hold" nodeType="withGroup">
                            <p:stCondLst>
                              <p:cond delay="0"/>
                            </p:stCondLst>
                            <p:childTnLst>
                              <p:par>
                                <p:cTn id="25" presetID="1" presetClass="entr" presetSubtype="0" fill="hold" grpId="0" nodeType="clickEffect">
                                  <p:stCondLst>
                                    <p:cond delay="0"/>
                                  </p:stCondLst>
                                  <p:childTnLst>
                                    <p:set>
                                      <p:cBhvr>
                                        <p:cTn id="26" dur="1" fill="hold">
                                          <p:stCondLst>
                                            <p:cond delay="499"/>
                                          </p:stCondLst>
                                        </p:cTn>
                                        <p:tgtEl>
                                          <p:spTgt spid="709635">
                                            <p:txEl>
                                              <p:pRg st="5" end="5"/>
                                            </p:txEl>
                                          </p:spTgt>
                                        </p:tgtEl>
                                        <p:attrNameLst>
                                          <p:attrName>style.visibility</p:attrName>
                                        </p:attrNameLst>
                                      </p:cBhvr>
                                      <p:to>
                                        <p:strVal val="visible"/>
                                      </p:to>
                                    </p:set>
                                  </p:childTnLst>
                                </p:cTn>
                              </p:par>
                            </p:childTnLst>
                          </p:cTn>
                        </p:par>
                      </p:childTnLst>
                    </p:cTn>
                  </p:par>
                  <p:par>
                    <p:cTn id="27" fill="hold" nodeType="clickPar">
                      <p:stCondLst>
                        <p:cond delay="indefinite"/>
                      </p:stCondLst>
                      <p:childTnLst>
                        <p:par>
                          <p:cTn id="28" fill="hold" nodeType="withGroup">
                            <p:stCondLst>
                              <p:cond delay="0"/>
                            </p:stCondLst>
                            <p:childTnLst>
                              <p:par>
                                <p:cTn id="29" presetID="1" presetClass="entr" presetSubtype="0" fill="hold" grpId="0" nodeType="clickEffect">
                                  <p:stCondLst>
                                    <p:cond delay="0"/>
                                  </p:stCondLst>
                                  <p:childTnLst>
                                    <p:set>
                                      <p:cBhvr>
                                        <p:cTn id="30" dur="1" fill="hold">
                                          <p:stCondLst>
                                            <p:cond delay="499"/>
                                          </p:stCondLst>
                                        </p:cTn>
                                        <p:tgtEl>
                                          <p:spTgt spid="709635">
                                            <p:txEl>
                                              <p:pRg st="6" end="6"/>
                                            </p:txEl>
                                          </p:spTgt>
                                        </p:tgtEl>
                                        <p:attrNameLst>
                                          <p:attrName>style.visibility</p:attrName>
                                        </p:attrNameLst>
                                      </p:cBhvr>
                                      <p:to>
                                        <p:strVal val="visible"/>
                                      </p:to>
                                    </p:set>
                                  </p:childTnLst>
                                </p:cTn>
                              </p:par>
                            </p:childTnLst>
                          </p:cTn>
                        </p:par>
                      </p:childTnLst>
                    </p:cTn>
                  </p:par>
                  <p:par>
                    <p:cTn id="31" fill="hold" nodeType="clickPar">
                      <p:stCondLst>
                        <p:cond delay="indefinite"/>
                      </p:stCondLst>
                      <p:childTnLst>
                        <p:par>
                          <p:cTn id="32" fill="hold" nodeType="withGroup">
                            <p:stCondLst>
                              <p:cond delay="0"/>
                            </p:stCondLst>
                            <p:childTnLst>
                              <p:par>
                                <p:cTn id="33" presetID="1" presetClass="entr" presetSubtype="0" fill="hold" grpId="0" nodeType="clickEffect">
                                  <p:stCondLst>
                                    <p:cond delay="0"/>
                                  </p:stCondLst>
                                  <p:childTnLst>
                                    <p:set>
                                      <p:cBhvr>
                                        <p:cTn id="34" dur="1" fill="hold">
                                          <p:stCondLst>
                                            <p:cond delay="499"/>
                                          </p:stCondLst>
                                        </p:cTn>
                                        <p:tgtEl>
                                          <p:spTgt spid="709635">
                                            <p:txEl>
                                              <p:pRg st="7" end="7"/>
                                            </p:txEl>
                                          </p:spTgt>
                                        </p:tgtEl>
                                        <p:attrNameLst>
                                          <p:attrName>style.visibility</p:attrName>
                                        </p:attrNameLst>
                                      </p:cBhvr>
                                      <p:to>
                                        <p:strVal val="visible"/>
                                      </p:to>
                                    </p:set>
                                  </p:childTnLst>
                                </p:cTn>
                              </p:par>
                            </p:childTnLst>
                          </p:cTn>
                        </p:par>
                      </p:childTnLst>
                    </p:cTn>
                  </p:par>
                  <p:par>
                    <p:cTn id="35" fill="hold" nodeType="clickPar">
                      <p:stCondLst>
                        <p:cond delay="indefinite"/>
                      </p:stCondLst>
                      <p:childTnLst>
                        <p:par>
                          <p:cTn id="36" fill="hold" nodeType="withGroup">
                            <p:stCondLst>
                              <p:cond delay="0"/>
                            </p:stCondLst>
                            <p:childTnLst>
                              <p:par>
                                <p:cTn id="37" presetID="1" presetClass="entr" presetSubtype="0" fill="hold" grpId="0" nodeType="clickEffect">
                                  <p:stCondLst>
                                    <p:cond delay="0"/>
                                  </p:stCondLst>
                                  <p:childTnLst>
                                    <p:set>
                                      <p:cBhvr>
                                        <p:cTn id="38" dur="1" fill="hold">
                                          <p:stCondLst>
                                            <p:cond delay="499"/>
                                          </p:stCondLst>
                                        </p:cTn>
                                        <p:tgtEl>
                                          <p:spTgt spid="709635">
                                            <p:txEl>
                                              <p:pRg st="8" end="8"/>
                                            </p:txEl>
                                          </p:spTgt>
                                        </p:tgtEl>
                                        <p:attrNameLst>
                                          <p:attrName>style.visibility</p:attrName>
                                        </p:attrNameLst>
                                      </p:cBhvr>
                                      <p:to>
                                        <p:strVal val="visible"/>
                                      </p:to>
                                    </p:set>
                                  </p:childTnLst>
                                </p:cTn>
                              </p:par>
                            </p:childTnLst>
                          </p:cTn>
                        </p:par>
                      </p:childTnLst>
                    </p:cTn>
                  </p:par>
                  <p:par>
                    <p:cTn id="39" fill="hold" nodeType="clickPar">
                      <p:stCondLst>
                        <p:cond delay="indefinite"/>
                      </p:stCondLst>
                      <p:childTnLst>
                        <p:par>
                          <p:cTn id="40" fill="hold" nodeType="withGroup">
                            <p:stCondLst>
                              <p:cond delay="0"/>
                            </p:stCondLst>
                            <p:childTnLst>
                              <p:par>
                                <p:cTn id="41" presetID="1" presetClass="entr" presetSubtype="0" fill="hold" grpId="0" nodeType="clickEffect">
                                  <p:stCondLst>
                                    <p:cond delay="0"/>
                                  </p:stCondLst>
                                  <p:childTnLst>
                                    <p:set>
                                      <p:cBhvr>
                                        <p:cTn id="42" dur="1" fill="hold">
                                          <p:stCondLst>
                                            <p:cond delay="499"/>
                                          </p:stCondLst>
                                        </p:cTn>
                                        <p:tgtEl>
                                          <p:spTgt spid="709635">
                                            <p:txEl>
                                              <p:pRg st="9" end="9"/>
                                            </p:txEl>
                                          </p:spTgt>
                                        </p:tgtEl>
                                        <p:attrNameLst>
                                          <p:attrName>style.visibility</p:attrName>
                                        </p:attrNameLst>
                                      </p:cBhvr>
                                      <p:to>
                                        <p:strVal val="visible"/>
                                      </p:to>
                                    </p:set>
                                  </p:childTnLst>
                                </p:cTn>
                              </p:par>
                            </p:childTnLst>
                          </p:cTn>
                        </p:par>
                      </p:childTnLst>
                    </p:cTn>
                  </p:par>
                  <p:par>
                    <p:cTn id="43" fill="hold" nodeType="clickPar">
                      <p:stCondLst>
                        <p:cond delay="indefinite"/>
                      </p:stCondLst>
                      <p:childTnLst>
                        <p:par>
                          <p:cTn id="44" fill="hold" nodeType="withGroup">
                            <p:stCondLst>
                              <p:cond delay="0"/>
                            </p:stCondLst>
                            <p:childTnLst>
                              <p:par>
                                <p:cTn id="45" presetID="1" presetClass="entr" presetSubtype="0" fill="hold" grpId="0" nodeType="clickEffect">
                                  <p:stCondLst>
                                    <p:cond delay="0"/>
                                  </p:stCondLst>
                                  <p:childTnLst>
                                    <p:set>
                                      <p:cBhvr>
                                        <p:cTn id="46" dur="1" fill="hold">
                                          <p:stCondLst>
                                            <p:cond delay="499"/>
                                          </p:stCondLst>
                                        </p:cTn>
                                        <p:tgtEl>
                                          <p:spTgt spid="709635">
                                            <p:txEl>
                                              <p:pRg st="10" end="10"/>
                                            </p:txEl>
                                          </p:spTgt>
                                        </p:tgtEl>
                                        <p:attrNameLst>
                                          <p:attrName>style.visibility</p:attrName>
                                        </p:attrNameLst>
                                      </p:cBhvr>
                                      <p:to>
                                        <p:strVal val="visible"/>
                                      </p:to>
                                    </p:set>
                                  </p:childTnLst>
                                </p:cTn>
                              </p:par>
                            </p:childTnLst>
                          </p:cTn>
                        </p:par>
                      </p:childTnLst>
                    </p:cTn>
                  </p:par>
                  <p:par>
                    <p:cTn id="47" fill="hold" nodeType="clickPar">
                      <p:stCondLst>
                        <p:cond delay="indefinite"/>
                      </p:stCondLst>
                      <p:childTnLst>
                        <p:par>
                          <p:cTn id="48" fill="hold" nodeType="withGroup">
                            <p:stCondLst>
                              <p:cond delay="0"/>
                            </p:stCondLst>
                            <p:childTnLst>
                              <p:par>
                                <p:cTn id="49" presetID="1" presetClass="entr" presetSubtype="0" fill="hold" grpId="0" nodeType="clickEffect">
                                  <p:stCondLst>
                                    <p:cond delay="0"/>
                                  </p:stCondLst>
                                  <p:childTnLst>
                                    <p:set>
                                      <p:cBhvr>
                                        <p:cTn id="50" dur="1" fill="hold">
                                          <p:stCondLst>
                                            <p:cond delay="499"/>
                                          </p:stCondLst>
                                        </p:cTn>
                                        <p:tgtEl>
                                          <p:spTgt spid="709635">
                                            <p:txEl>
                                              <p:pRg st="11" end="11"/>
                                            </p:txEl>
                                          </p:spTgt>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499"/>
                                          </p:stCondLst>
                                        </p:cTn>
                                        <p:tgtEl>
                                          <p:spTgt spid="709635">
                                            <p:txEl>
                                              <p:pRg st="12" end="12"/>
                                            </p:txEl>
                                          </p:spTgt>
                                        </p:tgtEl>
                                        <p:attrNameLst>
                                          <p:attrName>style.visibility</p:attrName>
                                        </p:attrNameLst>
                                      </p:cBhvr>
                                      <p:to>
                                        <p:strVal val="visible"/>
                                      </p:to>
                                    </p:set>
                                  </p:childTnLst>
                                </p:cTn>
                              </p:par>
                            </p:childTnLst>
                          </p:cTn>
                        </p:par>
                      </p:childTnLst>
                    </p:cTn>
                  </p:par>
                  <p:par>
                    <p:cTn id="53" fill="hold" nodeType="clickPar">
                      <p:stCondLst>
                        <p:cond delay="indefinite"/>
                      </p:stCondLst>
                      <p:childTnLst>
                        <p:par>
                          <p:cTn id="54" fill="hold" nodeType="withGroup">
                            <p:stCondLst>
                              <p:cond delay="0"/>
                            </p:stCondLst>
                            <p:childTnLst>
                              <p:par>
                                <p:cTn id="55" presetID="1" presetClass="entr" presetSubtype="0" fill="hold" grpId="0" nodeType="clickEffect">
                                  <p:stCondLst>
                                    <p:cond delay="0"/>
                                  </p:stCondLst>
                                  <p:childTnLst>
                                    <p:set>
                                      <p:cBhvr>
                                        <p:cTn id="56" dur="1" fill="hold">
                                          <p:stCondLst>
                                            <p:cond delay="499"/>
                                          </p:stCondLst>
                                        </p:cTn>
                                        <p:tgtEl>
                                          <p:spTgt spid="709635">
                                            <p:txEl>
                                              <p:pRg st="13" end="1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09635" grpId="0" build="p" bldLvl="2" autoUpdateAnimBg="0"/>
    </p:bldLst>
  </p:timing>
</p:sld>
</file>

<file path=ppt/slides/slide90.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711682" name="Rectangle 2"/>
          <p:cNvSpPr>
            <a:spLocks noGrp="1" noChangeArrowheads="1"/>
          </p:cNvSpPr>
          <p:nvPr>
            <p:ph type="title"/>
          </p:nvPr>
        </p:nvSpPr>
        <p:spPr>
          <a:xfrm>
            <a:off x="952500" y="153988"/>
            <a:ext cx="8077200" cy="609600"/>
          </a:xfrm>
        </p:spPr>
        <p:txBody>
          <a:bodyPr/>
          <a:lstStyle/>
          <a:p>
            <a:pPr>
              <a:defRPr/>
            </a:pPr>
            <a:r>
              <a:rPr lang="en-US" altLang="en-US" dirty="0">
                <a:effectLst>
                  <a:outerShdw blurRad="38100" dist="38100" dir="2700000" algn="tl">
                    <a:srgbClr val="C0C0C0"/>
                  </a:outerShdw>
                </a:effectLst>
                <a:ea typeface="ＭＳ Ｐゴシック" pitchFamily="34" charset="-128"/>
              </a:rPr>
              <a:t>Uses of Attribute Closure</a:t>
            </a:r>
          </a:p>
        </p:txBody>
      </p:sp>
      <p:sp>
        <p:nvSpPr>
          <p:cNvPr id="3" name="Text Placeholder 2">
            <a:extLst>
              <a:ext uri="{FF2B5EF4-FFF2-40B4-BE49-F238E27FC236}">
                <a16:creationId xmlns:a16="http://schemas.microsoft.com/office/drawing/2014/main" id="{3F69F363-EE6B-3A30-66F8-DA755F7B6164}"/>
              </a:ext>
            </a:extLst>
          </p:cNvPr>
          <p:cNvSpPr>
            <a:spLocks noGrp="1" noChangeArrowheads="1"/>
          </p:cNvSpPr>
          <p:nvPr>
            <p:ph type="body" idx="4294967295"/>
          </p:nvPr>
        </p:nvSpPr>
        <p:spPr bwMode="auto">
          <a:xfrm>
            <a:off x="206679" y="1291212"/>
            <a:ext cx="8730641" cy="526297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r" defTabSz="914400" rtl="1" eaLnBrk="0" fontAlgn="base" latinLnBrk="0" hangingPunct="0">
              <a:lnSpc>
                <a:spcPct val="100000"/>
              </a:lnSpc>
              <a:spcBef>
                <a:spcPct val="0"/>
              </a:spcBef>
              <a:spcAft>
                <a:spcPct val="0"/>
              </a:spcAft>
              <a:buClrTx/>
              <a:buSzTx/>
              <a:buFontTx/>
              <a:buChar char="•"/>
              <a:tabLst/>
            </a:pPr>
            <a:r>
              <a:rPr kumimoji="0" lang="ar-SA" altLang="en-US" sz="2400" b="0" i="0" u="none" strike="noStrike" cap="none" normalizeH="0" baseline="0" dirty="0">
                <a:ln>
                  <a:noFill/>
                </a:ln>
                <a:solidFill>
                  <a:schemeClr val="tx1"/>
                </a:solidFill>
                <a:effectLst/>
                <a:latin typeface="Arial" panose="020B0604020202020204" pitchFamily="34" charset="0"/>
                <a:cs typeface="Arial" panose="020B0604020202020204" pitchFamily="34" charset="0"/>
              </a:rPr>
              <a:t>چند کاربرد برای الگوریتم بستارِ صفت‌ها وجود دارد</a:t>
            </a:r>
            <a:r>
              <a:rPr kumimoji="0" lang="en-US" altLang="en-US" sz="2400" b="0" i="0" u="none" strike="noStrike" cap="none" normalizeH="0" baseline="0" dirty="0">
                <a:ln>
                  <a:noFill/>
                </a:ln>
                <a:solidFill>
                  <a:schemeClr val="tx1"/>
                </a:solidFill>
                <a:effectLst/>
                <a:latin typeface="Arial" panose="020B0604020202020204" pitchFamily="34" charset="0"/>
                <a:cs typeface="Arial" panose="020B0604020202020204" pitchFamily="34" charset="0"/>
              </a:rPr>
              <a:t>:</a:t>
            </a:r>
            <a:endParaRPr kumimoji="0" lang="en-US" altLang="en-US" sz="2400" b="0" i="0" u="none" strike="noStrike" cap="none" normalizeH="0" baseline="0" dirty="0">
              <a:ln>
                <a:noFill/>
              </a:ln>
              <a:solidFill>
                <a:schemeClr val="tx1"/>
              </a:solidFill>
              <a:effectLst/>
              <a:latin typeface="Arial" panose="020B0604020202020204" pitchFamily="34" charset="0"/>
            </a:endParaRPr>
          </a:p>
          <a:p>
            <a:pPr marL="0" marR="0" lvl="0" indent="0" algn="r" defTabSz="914400" rtl="1" eaLnBrk="0" fontAlgn="base" latinLnBrk="0" hangingPunct="0">
              <a:lnSpc>
                <a:spcPct val="100000"/>
              </a:lnSpc>
              <a:spcBef>
                <a:spcPct val="0"/>
              </a:spcBef>
              <a:spcAft>
                <a:spcPct val="0"/>
              </a:spcAft>
              <a:buClrTx/>
              <a:buSzTx/>
              <a:buFontTx/>
              <a:buChar char="•"/>
              <a:tabLst/>
            </a:pPr>
            <a:r>
              <a:rPr kumimoji="0" lang="ar-SA" altLang="en-US" sz="2400" b="1" i="0" u="none" strike="noStrike" cap="none" normalizeH="0" baseline="0" dirty="0">
                <a:ln>
                  <a:noFill/>
                </a:ln>
                <a:solidFill>
                  <a:schemeClr val="tx1"/>
                </a:solidFill>
                <a:effectLst/>
                <a:latin typeface="Arial" panose="020B0604020202020204" pitchFamily="34" charset="0"/>
                <a:cs typeface="Arial" panose="020B0604020202020204" pitchFamily="34" charset="0"/>
              </a:rPr>
              <a:t>برای آزمون اَبَرکلید بودن</a:t>
            </a:r>
            <a:r>
              <a:rPr kumimoji="0" lang="en-US" altLang="en-US" sz="2400" b="1" i="0" u="none" strike="noStrike" cap="none" normalizeH="0" baseline="0" dirty="0">
                <a:ln>
                  <a:noFill/>
                </a:ln>
                <a:solidFill>
                  <a:schemeClr val="tx1"/>
                </a:solidFill>
                <a:effectLst/>
                <a:latin typeface="Arial" panose="020B0604020202020204" pitchFamily="34" charset="0"/>
                <a:cs typeface="Arial" panose="020B0604020202020204" pitchFamily="34" charset="0"/>
              </a:rPr>
              <a:t>:</a:t>
            </a:r>
            <a:br>
              <a:rPr kumimoji="0" lang="en-US" altLang="en-US" sz="2400" b="0" i="0" u="none" strike="noStrike" cap="none" normalizeH="0" baseline="0" dirty="0">
                <a:ln>
                  <a:noFill/>
                </a:ln>
                <a:solidFill>
                  <a:schemeClr val="tx1"/>
                </a:solidFill>
                <a:effectLst/>
                <a:latin typeface="Arial" panose="020B0604020202020204" pitchFamily="34" charset="0"/>
              </a:rPr>
            </a:br>
            <a:r>
              <a:rPr kumimoji="0" lang="ar-SA" altLang="en-US" sz="2400" b="0" i="0" u="none" strike="noStrike" cap="none" normalizeH="0" baseline="0" dirty="0">
                <a:ln>
                  <a:noFill/>
                </a:ln>
                <a:solidFill>
                  <a:schemeClr val="tx1"/>
                </a:solidFill>
                <a:effectLst/>
                <a:latin typeface="Arial" panose="020B0604020202020204" pitchFamily="34" charset="0"/>
                <a:cs typeface="Arial" panose="020B0604020202020204" pitchFamily="34" charset="0"/>
              </a:rPr>
              <a:t>برای اینکه ببینیم یک مجموعهٔ صفت</a:t>
            </a:r>
            <a:r>
              <a:rPr kumimoji="0" lang="en-US" altLang="en-US" sz="2400" b="0" i="0" u="none" strike="noStrike" cap="none" normalizeH="0" baseline="0" dirty="0">
                <a:ln>
                  <a:noFill/>
                </a:ln>
                <a:solidFill>
                  <a:schemeClr val="tx1"/>
                </a:solidFill>
                <a:effectLst/>
                <a:latin typeface="Arial" panose="020B0604020202020204" pitchFamily="34" charset="0"/>
              </a:rPr>
              <a:t> α </a:t>
            </a:r>
            <a:r>
              <a:rPr kumimoji="0" lang="ar-SA" altLang="en-US" sz="2400" b="0" i="0" u="none" strike="noStrike" cap="none" normalizeH="0" baseline="0" dirty="0">
                <a:ln>
                  <a:noFill/>
                </a:ln>
                <a:solidFill>
                  <a:schemeClr val="tx1"/>
                </a:solidFill>
                <a:effectLst/>
                <a:latin typeface="Arial" panose="020B0604020202020204" pitchFamily="34" charset="0"/>
                <a:cs typeface="Arial" panose="020B0604020202020204" pitchFamily="34" charset="0"/>
              </a:rPr>
              <a:t>اَبَرکلید هست یا نه، بستار</a:t>
            </a:r>
            <a:r>
              <a:rPr kumimoji="0" lang="en-US" altLang="en-US" sz="2400" b="0" i="0" u="none" strike="noStrike" cap="none" normalizeH="0" baseline="0" dirty="0">
                <a:ln>
                  <a:noFill/>
                </a:ln>
                <a:solidFill>
                  <a:schemeClr val="tx1"/>
                </a:solidFill>
                <a:effectLst/>
                <a:latin typeface="Arial" panose="020B0604020202020204" pitchFamily="34" charset="0"/>
              </a:rPr>
              <a:t> α </a:t>
            </a:r>
            <a:r>
              <a:rPr kumimoji="0" lang="ar-SA" altLang="en-US" sz="2400" b="0" i="0" u="none" strike="noStrike" cap="none" normalizeH="0" baseline="0" dirty="0">
                <a:ln>
                  <a:noFill/>
                </a:ln>
                <a:solidFill>
                  <a:schemeClr val="tx1"/>
                </a:solidFill>
                <a:effectLst/>
                <a:latin typeface="Arial" panose="020B0604020202020204" pitchFamily="34" charset="0"/>
                <a:cs typeface="Arial" panose="020B0604020202020204" pitchFamily="34" charset="0"/>
              </a:rPr>
              <a:t>را حساب می‌کنیم</a:t>
            </a:r>
            <a:r>
              <a:rPr kumimoji="0" lang="en-US" altLang="en-US" sz="2400" b="0" i="0" u="none" strike="noStrike" cap="none" normalizeH="0" baseline="0" dirty="0">
                <a:ln>
                  <a:noFill/>
                </a:ln>
                <a:solidFill>
                  <a:schemeClr val="tx1"/>
                </a:solidFill>
                <a:effectLst/>
                <a:latin typeface="Arial" panose="020B0604020202020204" pitchFamily="34" charset="0"/>
              </a:rPr>
              <a:t> (α⁺)، </a:t>
            </a:r>
            <a:r>
              <a:rPr kumimoji="0" lang="ar-SA" altLang="en-US" sz="2400" b="0" i="0" u="none" strike="noStrike" cap="none" normalizeH="0" baseline="0" dirty="0">
                <a:ln>
                  <a:noFill/>
                </a:ln>
                <a:solidFill>
                  <a:schemeClr val="tx1"/>
                </a:solidFill>
                <a:effectLst/>
                <a:latin typeface="Arial" panose="020B0604020202020204" pitchFamily="34" charset="0"/>
                <a:cs typeface="Arial" panose="020B0604020202020204" pitchFamily="34" charset="0"/>
              </a:rPr>
              <a:t>و بررسی می‌کنیم که آیا</a:t>
            </a:r>
            <a:r>
              <a:rPr kumimoji="0" lang="en-US" altLang="en-US" sz="2400" b="0" i="0" u="none" strike="noStrike" cap="none" normalizeH="0" baseline="0" dirty="0">
                <a:ln>
                  <a:noFill/>
                </a:ln>
                <a:solidFill>
                  <a:schemeClr val="tx1"/>
                </a:solidFill>
                <a:effectLst/>
                <a:latin typeface="Arial" panose="020B0604020202020204" pitchFamily="34" charset="0"/>
              </a:rPr>
              <a:t> α⁺ </a:t>
            </a:r>
            <a:r>
              <a:rPr kumimoji="0" lang="ar-SA" altLang="en-US" sz="2400" b="0" i="0" u="none" strike="noStrike" cap="none" normalizeH="0" baseline="0" dirty="0">
                <a:ln>
                  <a:noFill/>
                </a:ln>
                <a:solidFill>
                  <a:schemeClr val="tx1"/>
                </a:solidFill>
                <a:effectLst/>
                <a:latin typeface="Arial" panose="020B0604020202020204" pitchFamily="34" charset="0"/>
                <a:cs typeface="Arial" panose="020B0604020202020204" pitchFamily="34" charset="0"/>
              </a:rPr>
              <a:t>شامل تمام صفات</a:t>
            </a:r>
            <a:r>
              <a:rPr kumimoji="0" lang="en-US" altLang="en-US" sz="2400" b="0" i="0" u="none" strike="noStrike" cap="none" normalizeH="0" baseline="0" dirty="0">
                <a:ln>
                  <a:noFill/>
                </a:ln>
                <a:solidFill>
                  <a:schemeClr val="tx1"/>
                </a:solidFill>
                <a:effectLst/>
                <a:latin typeface="Arial" panose="020B0604020202020204" pitchFamily="34" charset="0"/>
              </a:rPr>
              <a:t> R </a:t>
            </a:r>
            <a:r>
              <a:rPr kumimoji="0" lang="ar-SA" altLang="en-US" sz="2400" b="0" i="0" u="none" strike="noStrike" cap="none" normalizeH="0" baseline="0" dirty="0">
                <a:ln>
                  <a:noFill/>
                </a:ln>
                <a:solidFill>
                  <a:schemeClr val="tx1"/>
                </a:solidFill>
                <a:effectLst/>
                <a:latin typeface="Arial" panose="020B0604020202020204" pitchFamily="34" charset="0"/>
                <a:cs typeface="Arial" panose="020B0604020202020204" pitchFamily="34" charset="0"/>
              </a:rPr>
              <a:t>هست یا نه</a:t>
            </a:r>
            <a:r>
              <a:rPr kumimoji="0" lang="en-US" altLang="en-US" sz="2400" b="0" i="0" u="none" strike="noStrike" cap="none" normalizeH="0" baseline="0" dirty="0">
                <a:ln>
                  <a:noFill/>
                </a:ln>
                <a:solidFill>
                  <a:schemeClr val="tx1"/>
                </a:solidFill>
                <a:effectLst/>
                <a:latin typeface="Arial" panose="020B0604020202020204" pitchFamily="34" charset="0"/>
              </a:rPr>
              <a:t>.</a:t>
            </a:r>
          </a:p>
          <a:p>
            <a:pPr marL="0" marR="0" lvl="0" indent="0" algn="r" defTabSz="914400" rtl="1" eaLnBrk="0" fontAlgn="base" latinLnBrk="0" hangingPunct="0">
              <a:lnSpc>
                <a:spcPct val="100000"/>
              </a:lnSpc>
              <a:spcBef>
                <a:spcPct val="0"/>
              </a:spcBef>
              <a:spcAft>
                <a:spcPct val="0"/>
              </a:spcAft>
              <a:buClrTx/>
              <a:buSzTx/>
              <a:buFontTx/>
              <a:buChar char="•"/>
              <a:tabLst/>
            </a:pPr>
            <a:r>
              <a:rPr kumimoji="0" lang="ar-SA" altLang="en-US" sz="2400" b="1" i="0" u="none" strike="noStrike" cap="none" normalizeH="0" baseline="0" dirty="0">
                <a:ln>
                  <a:noFill/>
                </a:ln>
                <a:solidFill>
                  <a:schemeClr val="tx1"/>
                </a:solidFill>
                <a:effectLst/>
                <a:latin typeface="Arial" panose="020B0604020202020204" pitchFamily="34" charset="0"/>
                <a:cs typeface="Arial" panose="020B0604020202020204" pitchFamily="34" charset="0"/>
              </a:rPr>
              <a:t>برای آزمون وابستگی تابعی</a:t>
            </a:r>
            <a:r>
              <a:rPr kumimoji="0" lang="en-US" altLang="en-US" sz="2400" b="1" i="0" u="none" strike="noStrike" cap="none" normalizeH="0" baseline="0" dirty="0">
                <a:ln>
                  <a:noFill/>
                </a:ln>
                <a:solidFill>
                  <a:schemeClr val="tx1"/>
                </a:solidFill>
                <a:effectLst/>
                <a:latin typeface="Arial" panose="020B0604020202020204" pitchFamily="34" charset="0"/>
                <a:cs typeface="Arial" panose="020B0604020202020204" pitchFamily="34" charset="0"/>
              </a:rPr>
              <a:t>:</a:t>
            </a:r>
            <a:br>
              <a:rPr kumimoji="0" lang="en-US" altLang="en-US" sz="2400" b="0" i="0" u="none" strike="noStrike" cap="none" normalizeH="0" baseline="0" dirty="0">
                <a:ln>
                  <a:noFill/>
                </a:ln>
                <a:solidFill>
                  <a:schemeClr val="tx1"/>
                </a:solidFill>
                <a:effectLst/>
                <a:latin typeface="Arial" panose="020B0604020202020204" pitchFamily="34" charset="0"/>
              </a:rPr>
            </a:br>
            <a:r>
              <a:rPr kumimoji="0" lang="ar-SA" altLang="en-US" sz="2400" b="0" i="0" u="none" strike="noStrike" cap="none" normalizeH="0" baseline="0" dirty="0">
                <a:ln>
                  <a:noFill/>
                </a:ln>
                <a:solidFill>
                  <a:schemeClr val="tx1"/>
                </a:solidFill>
                <a:effectLst/>
                <a:latin typeface="Arial" panose="020B0604020202020204" pitchFamily="34" charset="0"/>
                <a:cs typeface="Arial" panose="020B0604020202020204" pitchFamily="34" charset="0"/>
              </a:rPr>
              <a:t>برای بررسی اینکه یک وابستگی تابعی</a:t>
            </a:r>
            <a:r>
              <a:rPr kumimoji="0" lang="en-US" altLang="en-US" sz="2400" b="0" i="0" u="none" strike="noStrike" cap="none" normalizeH="0" baseline="0" dirty="0">
                <a:ln>
                  <a:noFill/>
                </a:ln>
                <a:solidFill>
                  <a:schemeClr val="tx1"/>
                </a:solidFill>
                <a:effectLst/>
                <a:latin typeface="Arial" panose="020B0604020202020204" pitchFamily="34" charset="0"/>
              </a:rPr>
              <a:t> α → β </a:t>
            </a:r>
            <a:r>
              <a:rPr kumimoji="0" lang="ar-SA" altLang="en-US" sz="2400" b="0" i="0" u="none" strike="noStrike" cap="none" normalizeH="0" baseline="0" dirty="0">
                <a:ln>
                  <a:noFill/>
                </a:ln>
                <a:solidFill>
                  <a:schemeClr val="tx1"/>
                </a:solidFill>
                <a:effectLst/>
                <a:latin typeface="Arial" panose="020B0604020202020204" pitchFamily="34" charset="0"/>
                <a:cs typeface="Arial" panose="020B0604020202020204" pitchFamily="34" charset="0"/>
              </a:rPr>
              <a:t>برقرار است</a:t>
            </a:r>
            <a:r>
              <a:rPr kumimoji="0" lang="en-US" altLang="en-US" sz="2400" b="0" i="0" u="none" strike="noStrike" cap="none" normalizeH="0" baseline="0" dirty="0">
                <a:ln>
                  <a:noFill/>
                </a:ln>
                <a:solidFill>
                  <a:schemeClr val="tx1"/>
                </a:solidFill>
                <a:effectLst/>
                <a:latin typeface="Arial" panose="020B0604020202020204" pitchFamily="34" charset="0"/>
              </a:rPr>
              <a:t> (</a:t>
            </a:r>
            <a:r>
              <a:rPr kumimoji="0" lang="ar-SA" altLang="en-US" sz="2400" b="0" i="0" u="none" strike="noStrike" cap="none" normalizeH="0" baseline="0" dirty="0">
                <a:ln>
                  <a:noFill/>
                </a:ln>
                <a:solidFill>
                  <a:schemeClr val="tx1"/>
                </a:solidFill>
                <a:effectLst/>
                <a:latin typeface="Arial" panose="020B0604020202020204" pitchFamily="34" charset="0"/>
                <a:cs typeface="Arial" panose="020B0604020202020204" pitchFamily="34" charset="0"/>
              </a:rPr>
              <a:t>یا به عبارتی در</a:t>
            </a:r>
            <a:r>
              <a:rPr kumimoji="0" lang="en-US" altLang="en-US" sz="2400" b="0" i="0" u="none" strike="noStrike" cap="none" normalizeH="0" baseline="0" dirty="0">
                <a:ln>
                  <a:noFill/>
                </a:ln>
                <a:solidFill>
                  <a:schemeClr val="tx1"/>
                </a:solidFill>
                <a:effectLst/>
                <a:latin typeface="Arial" panose="020B0604020202020204" pitchFamily="34" charset="0"/>
              </a:rPr>
              <a:t> F⁺ </a:t>
            </a:r>
            <a:r>
              <a:rPr kumimoji="0" lang="ar-SA" altLang="en-US" sz="2400" b="0" i="0" u="none" strike="noStrike" cap="none" normalizeH="0" baseline="0" dirty="0">
                <a:ln>
                  <a:noFill/>
                </a:ln>
                <a:solidFill>
                  <a:schemeClr val="tx1"/>
                </a:solidFill>
                <a:effectLst/>
                <a:latin typeface="Arial" panose="020B0604020202020204" pitchFamily="34" charset="0"/>
                <a:cs typeface="Arial" panose="020B0604020202020204" pitchFamily="34" charset="0"/>
              </a:rPr>
              <a:t>قرار دارد</a:t>
            </a:r>
            <a:r>
              <a:rPr kumimoji="0" lang="en-US" altLang="en-US" sz="2400" b="0" i="0" u="none" strike="noStrike" cap="none" normalizeH="0" baseline="0" dirty="0">
                <a:ln>
                  <a:noFill/>
                </a:ln>
                <a:solidFill>
                  <a:schemeClr val="tx1"/>
                </a:solidFill>
                <a:effectLst/>
                <a:latin typeface="Arial" panose="020B0604020202020204" pitchFamily="34" charset="0"/>
              </a:rPr>
              <a:t>)، </a:t>
            </a:r>
            <a:r>
              <a:rPr kumimoji="0" lang="ar-SA" altLang="en-US" sz="2400" b="0" i="0" u="none" strike="noStrike" cap="none" normalizeH="0" baseline="0" dirty="0">
                <a:ln>
                  <a:noFill/>
                </a:ln>
                <a:solidFill>
                  <a:schemeClr val="tx1"/>
                </a:solidFill>
                <a:effectLst/>
                <a:latin typeface="Arial" panose="020B0604020202020204" pitchFamily="34" charset="0"/>
                <a:cs typeface="Arial" panose="020B0604020202020204" pitchFamily="34" charset="0"/>
              </a:rPr>
              <a:t>کافی است ببینیم</a:t>
            </a:r>
            <a:r>
              <a:rPr kumimoji="0" lang="en-US" altLang="en-US" sz="2400" b="0" i="0" u="none" strike="noStrike" cap="none" normalizeH="0" baseline="0" dirty="0">
                <a:ln>
                  <a:noFill/>
                </a:ln>
                <a:solidFill>
                  <a:schemeClr val="tx1"/>
                </a:solidFill>
                <a:effectLst/>
                <a:latin typeface="Arial" panose="020B0604020202020204" pitchFamily="34" charset="0"/>
              </a:rPr>
              <a:t> β </a:t>
            </a:r>
            <a:r>
              <a:rPr kumimoji="0" lang="ar-SA" altLang="en-US" sz="2400" b="0" i="0" u="none" strike="noStrike" cap="none" normalizeH="0" baseline="0" dirty="0">
                <a:ln>
                  <a:noFill/>
                </a:ln>
                <a:solidFill>
                  <a:schemeClr val="tx1"/>
                </a:solidFill>
                <a:effectLst/>
                <a:latin typeface="Arial" panose="020B0604020202020204" pitchFamily="34" charset="0"/>
                <a:cs typeface="Arial" panose="020B0604020202020204" pitchFamily="34" charset="0"/>
              </a:rPr>
              <a:t>زیرمجموعه‌ای از</a:t>
            </a:r>
            <a:r>
              <a:rPr kumimoji="0" lang="en-US" altLang="en-US" sz="2400" b="0" i="0" u="none" strike="noStrike" cap="none" normalizeH="0" baseline="0" dirty="0">
                <a:ln>
                  <a:noFill/>
                </a:ln>
                <a:solidFill>
                  <a:schemeClr val="tx1"/>
                </a:solidFill>
                <a:effectLst/>
                <a:latin typeface="Arial" panose="020B0604020202020204" pitchFamily="34" charset="0"/>
              </a:rPr>
              <a:t> α⁺ </a:t>
            </a:r>
            <a:r>
              <a:rPr kumimoji="0" lang="ar-SA" altLang="en-US" sz="2400" b="0" i="0" u="none" strike="noStrike" cap="none" normalizeH="0" baseline="0" dirty="0">
                <a:ln>
                  <a:noFill/>
                </a:ln>
                <a:solidFill>
                  <a:schemeClr val="tx1"/>
                </a:solidFill>
                <a:effectLst/>
                <a:latin typeface="Arial" panose="020B0604020202020204" pitchFamily="34" charset="0"/>
                <a:cs typeface="Arial" panose="020B0604020202020204" pitchFamily="34" charset="0"/>
              </a:rPr>
              <a:t>باشد.</a:t>
            </a:r>
            <a:br>
              <a:rPr kumimoji="0" lang="en-US" altLang="en-US" sz="2400" b="0" i="0" u="none" strike="noStrike" cap="none" normalizeH="0" baseline="0" dirty="0">
                <a:ln>
                  <a:noFill/>
                </a:ln>
                <a:solidFill>
                  <a:schemeClr val="tx1"/>
                </a:solidFill>
                <a:effectLst/>
                <a:latin typeface="Arial" panose="020B0604020202020204" pitchFamily="34" charset="0"/>
              </a:rPr>
            </a:br>
            <a:r>
              <a:rPr kumimoji="0" lang="ar-SA" altLang="en-US" sz="2400" b="0" i="0" u="none" strike="noStrike" cap="none" normalizeH="0" baseline="0" dirty="0">
                <a:ln>
                  <a:noFill/>
                </a:ln>
                <a:solidFill>
                  <a:schemeClr val="tx1"/>
                </a:solidFill>
                <a:effectLst/>
                <a:latin typeface="Arial" panose="020B0604020202020204" pitchFamily="34" charset="0"/>
                <a:cs typeface="Arial" panose="020B0604020202020204" pitchFamily="34" charset="0"/>
              </a:rPr>
              <a:t>یعنی</a:t>
            </a:r>
            <a:r>
              <a:rPr kumimoji="0" lang="en-US" altLang="en-US" sz="2400" b="0" i="0" u="none" strike="noStrike" cap="none" normalizeH="0" baseline="0" dirty="0">
                <a:ln>
                  <a:noFill/>
                </a:ln>
                <a:solidFill>
                  <a:schemeClr val="tx1"/>
                </a:solidFill>
                <a:effectLst/>
                <a:latin typeface="Arial" panose="020B0604020202020204" pitchFamily="34" charset="0"/>
              </a:rPr>
              <a:t> α⁺ </a:t>
            </a:r>
            <a:r>
              <a:rPr kumimoji="0" lang="ar-SA" altLang="en-US" sz="2400" b="0" i="0" u="none" strike="noStrike" cap="none" normalizeH="0" baseline="0" dirty="0">
                <a:ln>
                  <a:noFill/>
                </a:ln>
                <a:solidFill>
                  <a:schemeClr val="tx1"/>
                </a:solidFill>
                <a:effectLst/>
                <a:latin typeface="Arial" panose="020B0604020202020204" pitchFamily="34" charset="0"/>
                <a:cs typeface="Arial" panose="020B0604020202020204" pitchFamily="34" charset="0"/>
              </a:rPr>
              <a:t>را با استفاده از الگوریتم بستارِ صفت‌ها محاسبه می‌کنیم، و بعد بررسی می‌کنیم که آیا شامل</a:t>
            </a:r>
            <a:r>
              <a:rPr kumimoji="0" lang="en-US" altLang="en-US" sz="2400" b="0" i="0" u="none" strike="noStrike" cap="none" normalizeH="0" baseline="0" dirty="0">
                <a:ln>
                  <a:noFill/>
                </a:ln>
                <a:solidFill>
                  <a:schemeClr val="tx1"/>
                </a:solidFill>
                <a:effectLst/>
                <a:latin typeface="Arial" panose="020B0604020202020204" pitchFamily="34" charset="0"/>
              </a:rPr>
              <a:t> β </a:t>
            </a:r>
            <a:r>
              <a:rPr kumimoji="0" lang="ar-SA" altLang="en-US" sz="2400" b="0" i="0" u="none" strike="noStrike" cap="none" normalizeH="0" baseline="0" dirty="0">
                <a:ln>
                  <a:noFill/>
                </a:ln>
                <a:solidFill>
                  <a:schemeClr val="tx1"/>
                </a:solidFill>
                <a:effectLst/>
                <a:latin typeface="Arial" panose="020B0604020202020204" pitchFamily="34" charset="0"/>
                <a:cs typeface="Arial" panose="020B0604020202020204" pitchFamily="34" charset="0"/>
              </a:rPr>
              <a:t>هست یا نه.</a:t>
            </a:r>
            <a:br>
              <a:rPr kumimoji="0" lang="en-US" altLang="en-US" sz="2400" b="0" i="0" u="none" strike="noStrike" cap="none" normalizeH="0" baseline="0" dirty="0">
                <a:ln>
                  <a:noFill/>
                </a:ln>
                <a:solidFill>
                  <a:schemeClr val="tx1"/>
                </a:solidFill>
                <a:effectLst/>
                <a:latin typeface="Arial" panose="020B0604020202020204" pitchFamily="34" charset="0"/>
              </a:rPr>
            </a:br>
            <a:r>
              <a:rPr kumimoji="0" lang="ar-SA" altLang="en-US" sz="2400" b="0" i="0" u="none" strike="noStrike" cap="none" normalizeH="0" baseline="0" dirty="0">
                <a:ln>
                  <a:noFill/>
                </a:ln>
                <a:solidFill>
                  <a:schemeClr val="tx1"/>
                </a:solidFill>
                <a:effectLst/>
                <a:latin typeface="Arial" panose="020B0604020202020204" pitchFamily="34" charset="0"/>
                <a:cs typeface="Arial" panose="020B0604020202020204" pitchFamily="34" charset="0"/>
              </a:rPr>
              <a:t>این یک تست ساده، سریع و بسیار کاربردی است</a:t>
            </a:r>
            <a:r>
              <a:rPr kumimoji="0" lang="en-US" altLang="en-US" sz="2400" b="0" i="0" u="none" strike="noStrike" cap="none" normalizeH="0" baseline="0" dirty="0">
                <a:ln>
                  <a:noFill/>
                </a:ln>
                <a:solidFill>
                  <a:schemeClr val="tx1"/>
                </a:solidFill>
                <a:effectLst/>
                <a:latin typeface="Arial" panose="020B0604020202020204" pitchFamily="34" charset="0"/>
              </a:rPr>
              <a:t>.</a:t>
            </a:r>
          </a:p>
          <a:p>
            <a:pPr marL="0" marR="0" lvl="0" indent="0" algn="r" defTabSz="914400" rtl="1" eaLnBrk="0" fontAlgn="base" latinLnBrk="0" hangingPunct="0">
              <a:lnSpc>
                <a:spcPct val="100000"/>
              </a:lnSpc>
              <a:spcBef>
                <a:spcPct val="0"/>
              </a:spcBef>
              <a:spcAft>
                <a:spcPct val="0"/>
              </a:spcAft>
              <a:buClrTx/>
              <a:buSzTx/>
              <a:buFontTx/>
              <a:buChar char="•"/>
              <a:tabLst/>
            </a:pPr>
            <a:r>
              <a:rPr kumimoji="0" lang="ar-SA" altLang="en-US" sz="2400" b="1" i="0" u="none" strike="noStrike" cap="none" normalizeH="0" baseline="0" dirty="0">
                <a:ln>
                  <a:noFill/>
                </a:ln>
                <a:solidFill>
                  <a:schemeClr val="tx1"/>
                </a:solidFill>
                <a:effectLst/>
                <a:latin typeface="Arial" panose="020B0604020202020204" pitchFamily="34" charset="0"/>
                <a:cs typeface="Arial" panose="020B0604020202020204" pitchFamily="34" charset="0"/>
              </a:rPr>
              <a:t>برای محاسبهٔ بستار</a:t>
            </a:r>
            <a:r>
              <a:rPr kumimoji="0" lang="en-US" altLang="en-US" sz="2400" b="1" i="0" u="none" strike="noStrike" cap="none" normalizeH="0" baseline="0" dirty="0">
                <a:ln>
                  <a:noFill/>
                </a:ln>
                <a:solidFill>
                  <a:schemeClr val="tx1"/>
                </a:solidFill>
                <a:effectLst/>
                <a:latin typeface="Arial" panose="020B0604020202020204" pitchFamily="34" charset="0"/>
                <a:cs typeface="Arial" panose="020B0604020202020204" pitchFamily="34" charset="0"/>
              </a:rPr>
              <a:t> F:</a:t>
            </a:r>
            <a:br>
              <a:rPr kumimoji="0" lang="en-US" altLang="en-US" sz="2400" b="0" i="0" u="none" strike="noStrike" cap="none" normalizeH="0" baseline="0" dirty="0">
                <a:ln>
                  <a:noFill/>
                </a:ln>
                <a:solidFill>
                  <a:schemeClr val="tx1"/>
                </a:solidFill>
                <a:effectLst/>
                <a:latin typeface="Arial" panose="020B0604020202020204" pitchFamily="34" charset="0"/>
              </a:rPr>
            </a:br>
            <a:r>
              <a:rPr kumimoji="0" lang="ar-SA" altLang="en-US" sz="2400" b="0" i="0" u="none" strike="noStrike" cap="none" normalizeH="0" baseline="0" dirty="0">
                <a:ln>
                  <a:noFill/>
                </a:ln>
                <a:solidFill>
                  <a:schemeClr val="tx1"/>
                </a:solidFill>
                <a:effectLst/>
                <a:latin typeface="Arial" panose="020B0604020202020204" pitchFamily="34" charset="0"/>
                <a:cs typeface="Arial" panose="020B0604020202020204" pitchFamily="34" charset="0"/>
              </a:rPr>
              <a:t>برای هر مجموعهٔ صفت</a:t>
            </a:r>
            <a:r>
              <a:rPr kumimoji="0" lang="en-US" altLang="en-US" sz="2400" b="0" i="0" u="none" strike="noStrike" cap="none" normalizeH="0" baseline="0" dirty="0">
                <a:ln>
                  <a:noFill/>
                </a:ln>
                <a:solidFill>
                  <a:schemeClr val="tx1"/>
                </a:solidFill>
                <a:effectLst/>
                <a:latin typeface="Arial" panose="020B0604020202020204" pitchFamily="34" charset="0"/>
              </a:rPr>
              <a:t> γ </a:t>
            </a:r>
            <a:r>
              <a:rPr kumimoji="0" lang="ar-SA" altLang="en-US" sz="2400" b="0" i="0" u="none" strike="noStrike" cap="none" normalizeH="0" baseline="0" dirty="0">
                <a:ln>
                  <a:noFill/>
                </a:ln>
                <a:solidFill>
                  <a:schemeClr val="tx1"/>
                </a:solidFill>
                <a:effectLst/>
                <a:latin typeface="Arial" panose="020B0604020202020204" pitchFamily="34" charset="0"/>
                <a:cs typeface="Arial" panose="020B0604020202020204" pitchFamily="34" charset="0"/>
              </a:rPr>
              <a:t>که زیرمجموعه‌ای از</a:t>
            </a:r>
            <a:r>
              <a:rPr kumimoji="0" lang="en-US" altLang="en-US" sz="2400" b="0" i="0" u="none" strike="noStrike" cap="none" normalizeH="0" baseline="0" dirty="0">
                <a:ln>
                  <a:noFill/>
                </a:ln>
                <a:solidFill>
                  <a:schemeClr val="tx1"/>
                </a:solidFill>
                <a:effectLst/>
                <a:latin typeface="Arial" panose="020B0604020202020204" pitchFamily="34" charset="0"/>
              </a:rPr>
              <a:t> R </a:t>
            </a:r>
            <a:r>
              <a:rPr kumimoji="0" lang="ar-SA" altLang="en-US" sz="2400" b="0" i="0" u="none" strike="noStrike" cap="none" normalizeH="0" baseline="0" dirty="0">
                <a:ln>
                  <a:noFill/>
                </a:ln>
                <a:solidFill>
                  <a:schemeClr val="tx1"/>
                </a:solidFill>
                <a:effectLst/>
                <a:latin typeface="Arial" panose="020B0604020202020204" pitchFamily="34" charset="0"/>
                <a:cs typeface="Arial" panose="020B0604020202020204" pitchFamily="34" charset="0"/>
              </a:rPr>
              <a:t>است</a:t>
            </a:r>
            <a:r>
              <a:rPr kumimoji="0" lang="en-US" altLang="en-US" sz="2400" b="0" i="0" u="none" strike="noStrike" cap="none" normalizeH="0" baseline="0" dirty="0">
                <a:ln>
                  <a:noFill/>
                </a:ln>
                <a:solidFill>
                  <a:schemeClr val="tx1"/>
                </a:solidFill>
                <a:effectLst/>
                <a:latin typeface="Arial" panose="020B0604020202020204" pitchFamily="34" charset="0"/>
              </a:rPr>
              <a:t>، γ⁺ </a:t>
            </a:r>
            <a:r>
              <a:rPr kumimoji="0" lang="ar-SA" altLang="en-US" sz="2400" b="0" i="0" u="none" strike="noStrike" cap="none" normalizeH="0" baseline="0" dirty="0">
                <a:ln>
                  <a:noFill/>
                </a:ln>
                <a:solidFill>
                  <a:schemeClr val="tx1"/>
                </a:solidFill>
                <a:effectLst/>
                <a:latin typeface="Arial" panose="020B0604020202020204" pitchFamily="34" charset="0"/>
                <a:cs typeface="Arial" panose="020B0604020202020204" pitchFamily="34" charset="0"/>
              </a:rPr>
              <a:t>را حساب می‌کنیم، و برای هر</a:t>
            </a:r>
            <a:r>
              <a:rPr kumimoji="0" lang="en-US" altLang="en-US" sz="2400" b="0" i="0" u="none" strike="noStrike" cap="none" normalizeH="0" baseline="0" dirty="0">
                <a:ln>
                  <a:noFill/>
                </a:ln>
                <a:solidFill>
                  <a:schemeClr val="tx1"/>
                </a:solidFill>
                <a:effectLst/>
                <a:latin typeface="Arial" panose="020B0604020202020204" pitchFamily="34" charset="0"/>
              </a:rPr>
              <a:t> S </a:t>
            </a:r>
            <a:r>
              <a:rPr kumimoji="0" lang="ar-SA" altLang="en-US" sz="2400" b="0" i="0" u="none" strike="noStrike" cap="none" normalizeH="0" baseline="0" dirty="0">
                <a:ln>
                  <a:noFill/>
                </a:ln>
                <a:solidFill>
                  <a:schemeClr val="tx1"/>
                </a:solidFill>
                <a:effectLst/>
                <a:latin typeface="Arial" panose="020B0604020202020204" pitchFamily="34" charset="0"/>
                <a:cs typeface="Arial" panose="020B0604020202020204" pitchFamily="34" charset="0"/>
              </a:rPr>
              <a:t>که زیرمجموعه‌ای از</a:t>
            </a:r>
            <a:r>
              <a:rPr kumimoji="0" lang="en-US" altLang="en-US" sz="2400" b="0" i="0" u="none" strike="noStrike" cap="none" normalizeH="0" baseline="0" dirty="0">
                <a:ln>
                  <a:noFill/>
                </a:ln>
                <a:solidFill>
                  <a:schemeClr val="tx1"/>
                </a:solidFill>
                <a:effectLst/>
                <a:latin typeface="Arial" panose="020B0604020202020204" pitchFamily="34" charset="0"/>
              </a:rPr>
              <a:t> γ⁺ </a:t>
            </a:r>
            <a:r>
              <a:rPr kumimoji="0" lang="ar-SA" altLang="en-US" sz="2400" b="0" i="0" u="none" strike="noStrike" cap="none" normalizeH="0" baseline="0" dirty="0">
                <a:ln>
                  <a:noFill/>
                </a:ln>
                <a:solidFill>
                  <a:schemeClr val="tx1"/>
                </a:solidFill>
                <a:effectLst/>
                <a:latin typeface="Arial" panose="020B0604020202020204" pitchFamily="34" charset="0"/>
                <a:cs typeface="Arial" panose="020B0604020202020204" pitchFamily="34" charset="0"/>
              </a:rPr>
              <a:t>باشد، وابستگی تابعی</a:t>
            </a:r>
            <a:r>
              <a:rPr kumimoji="0" lang="en-US" altLang="en-US" sz="2400" b="0" i="0" u="none" strike="noStrike" cap="none" normalizeH="0" baseline="0" dirty="0">
                <a:ln>
                  <a:noFill/>
                </a:ln>
                <a:solidFill>
                  <a:schemeClr val="tx1"/>
                </a:solidFill>
                <a:effectLst/>
                <a:latin typeface="Arial" panose="020B0604020202020204" pitchFamily="34" charset="0"/>
              </a:rPr>
              <a:t> γ → S </a:t>
            </a:r>
            <a:r>
              <a:rPr kumimoji="0" lang="ar-SA" altLang="en-US" sz="2400" b="0" i="0" u="none" strike="noStrike" cap="none" normalizeH="0" baseline="0" dirty="0">
                <a:ln>
                  <a:noFill/>
                </a:ln>
                <a:solidFill>
                  <a:schemeClr val="tx1"/>
                </a:solidFill>
                <a:effectLst/>
                <a:latin typeface="Arial" panose="020B0604020202020204" pitchFamily="34" charset="0"/>
                <a:cs typeface="Arial" panose="020B0604020202020204" pitchFamily="34" charset="0"/>
              </a:rPr>
              <a:t>را به عنوان نتیجه تولید می‌کنیم</a:t>
            </a:r>
            <a:r>
              <a:rPr kumimoji="0" lang="en-US" altLang="en-US" sz="2400" b="0" i="0" u="none" strike="noStrike" cap="none" normalizeH="0" baseline="0" dirty="0">
                <a:ln>
                  <a:noFill/>
                </a:ln>
                <a:solidFill>
                  <a:schemeClr val="tx1"/>
                </a:solidFill>
                <a:effectLst/>
                <a:latin typeface="Arial" panose="020B0604020202020204" pitchFamily="34" charset="0"/>
              </a:rPr>
              <a:t>.</a:t>
            </a:r>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713730" name="Rectangle 2"/>
          <p:cNvSpPr>
            <a:spLocks noGrp="1" noChangeArrowheads="1"/>
          </p:cNvSpPr>
          <p:nvPr>
            <p:ph type="title"/>
          </p:nvPr>
        </p:nvSpPr>
        <p:spPr/>
        <p:txBody>
          <a:bodyPr/>
          <a:lstStyle/>
          <a:p>
            <a:pPr>
              <a:defRPr/>
            </a:pPr>
            <a:r>
              <a:rPr lang="en-US" altLang="en-US">
                <a:effectLst>
                  <a:outerShdw blurRad="38100" dist="38100" dir="2700000" algn="tl">
                    <a:srgbClr val="C0C0C0"/>
                  </a:outerShdw>
                </a:effectLst>
                <a:ea typeface="ＭＳ Ｐゴシック" pitchFamily="34" charset="-128"/>
              </a:rPr>
              <a:t>Canonical Cover</a:t>
            </a:r>
          </a:p>
        </p:txBody>
      </p:sp>
      <p:sp>
        <p:nvSpPr>
          <p:cNvPr id="18435" name="Rectangle 3"/>
          <p:cNvSpPr>
            <a:spLocks noGrp="1" noChangeArrowheads="1"/>
          </p:cNvSpPr>
          <p:nvPr>
            <p:ph idx="1"/>
          </p:nvPr>
        </p:nvSpPr>
        <p:spPr>
          <a:xfrm>
            <a:off x="768351" y="1084910"/>
            <a:ext cx="7647680" cy="4425553"/>
          </a:xfrm>
        </p:spPr>
        <p:txBody>
          <a:bodyPr/>
          <a:lstStyle/>
          <a:p>
            <a:pPr algn="r" rtl="1">
              <a:defRPr/>
            </a:pPr>
            <a:r>
              <a:rPr lang="fa-IR" dirty="0"/>
              <a:t>فرض کنید </a:t>
            </a:r>
            <a:r>
              <a:rPr lang="fa-IR" dirty="0" err="1"/>
              <a:t>مجموعه‌ای</a:t>
            </a:r>
            <a:r>
              <a:rPr lang="fa-IR" dirty="0"/>
              <a:t> از </a:t>
            </a:r>
            <a:r>
              <a:rPr lang="fa-IR" dirty="0" err="1"/>
              <a:t>وابستگی‌های</a:t>
            </a:r>
            <a:r>
              <a:rPr lang="fa-IR" dirty="0"/>
              <a:t> </a:t>
            </a:r>
            <a:r>
              <a:rPr lang="fa-IR" dirty="0" err="1"/>
              <a:t>تابعی</a:t>
            </a:r>
            <a:r>
              <a:rPr lang="fa-IR" dirty="0"/>
              <a:t> </a:t>
            </a:r>
            <a:r>
              <a:rPr lang="en-US" dirty="0"/>
              <a:t>F </a:t>
            </a:r>
            <a:r>
              <a:rPr lang="fa-IR" dirty="0"/>
              <a:t>روی یک </a:t>
            </a:r>
            <a:r>
              <a:rPr lang="fa-IR" dirty="0" err="1"/>
              <a:t>شِمای</a:t>
            </a:r>
            <a:r>
              <a:rPr lang="fa-IR" dirty="0"/>
              <a:t> رابطه داشته باشیم.</a:t>
            </a:r>
            <a:br>
              <a:rPr lang="fa-IR" dirty="0"/>
            </a:br>
            <a:r>
              <a:rPr lang="fa-IR" dirty="0"/>
              <a:t>هر زمان که کاربری یک </a:t>
            </a:r>
            <a:r>
              <a:rPr lang="fa-IR" dirty="0" err="1"/>
              <a:t>به‌روزرسانی</a:t>
            </a:r>
            <a:r>
              <a:rPr lang="fa-IR" dirty="0"/>
              <a:t> روی رابطه انجام </a:t>
            </a:r>
            <a:r>
              <a:rPr lang="fa-IR" dirty="0" err="1"/>
              <a:t>می‌دهد</a:t>
            </a:r>
            <a:r>
              <a:rPr lang="fa-IR" dirty="0"/>
              <a:t>، سیستم پایگاه داده باید مطمئن شود که این </a:t>
            </a:r>
            <a:r>
              <a:rPr lang="fa-IR" dirty="0" err="1"/>
              <a:t>به‌روزرسانی</a:t>
            </a:r>
            <a:r>
              <a:rPr lang="fa-IR" dirty="0"/>
              <a:t> هیچ وابستگی </a:t>
            </a:r>
            <a:r>
              <a:rPr lang="fa-IR" dirty="0" err="1"/>
              <a:t>تابعی</a:t>
            </a:r>
            <a:r>
              <a:rPr lang="fa-IR" dirty="0"/>
              <a:t> را نقض </a:t>
            </a:r>
            <a:r>
              <a:rPr lang="fa-IR" dirty="0" err="1"/>
              <a:t>نمی‌کند</a:t>
            </a:r>
            <a:r>
              <a:rPr lang="fa-IR" dirty="0"/>
              <a:t>؛ یعنی تمام </a:t>
            </a:r>
            <a:r>
              <a:rPr lang="fa-IR" dirty="0" err="1"/>
              <a:t>وابستگی‌های</a:t>
            </a:r>
            <a:r>
              <a:rPr lang="fa-IR" dirty="0"/>
              <a:t> </a:t>
            </a:r>
            <a:r>
              <a:rPr lang="fa-IR" dirty="0" err="1"/>
              <a:t>تابعی</a:t>
            </a:r>
            <a:r>
              <a:rPr lang="fa-IR" dirty="0"/>
              <a:t> در </a:t>
            </a:r>
            <a:r>
              <a:rPr lang="en-US" dirty="0"/>
              <a:t>F </a:t>
            </a:r>
            <a:r>
              <a:rPr lang="fa-IR" dirty="0"/>
              <a:t>در وضعیت جدید پایگاه داده برقرار باشند.</a:t>
            </a:r>
            <a:br>
              <a:rPr lang="fa-IR" dirty="0"/>
            </a:br>
            <a:r>
              <a:rPr lang="fa-IR" dirty="0"/>
              <a:t>اگر یک </a:t>
            </a:r>
            <a:r>
              <a:rPr lang="fa-IR" dirty="0" err="1"/>
              <a:t>به‌روزرسانی</a:t>
            </a:r>
            <a:r>
              <a:rPr lang="fa-IR" dirty="0"/>
              <a:t> هر یک از </a:t>
            </a:r>
            <a:r>
              <a:rPr lang="fa-IR" dirty="0" err="1"/>
              <a:t>وابستگی‌های</a:t>
            </a:r>
            <a:r>
              <a:rPr lang="fa-IR" dirty="0"/>
              <a:t> </a:t>
            </a:r>
            <a:r>
              <a:rPr lang="fa-IR" dirty="0" err="1"/>
              <a:t>تابعی</a:t>
            </a:r>
            <a:r>
              <a:rPr lang="fa-IR" dirty="0"/>
              <a:t> موجود در </a:t>
            </a:r>
            <a:r>
              <a:rPr lang="en-US" dirty="0"/>
              <a:t>F </a:t>
            </a:r>
            <a:r>
              <a:rPr lang="fa-IR" dirty="0"/>
              <a:t>را نقض کند، سیستم باید آن </a:t>
            </a:r>
            <a:r>
              <a:rPr lang="fa-IR" dirty="0" err="1"/>
              <a:t>به‌روزرسانی</a:t>
            </a:r>
            <a:r>
              <a:rPr lang="fa-IR" dirty="0"/>
              <a:t> را برگرداند (</a:t>
            </a:r>
            <a:r>
              <a:rPr lang="en-US" dirty="0"/>
              <a:t>rollback </a:t>
            </a:r>
            <a:r>
              <a:rPr lang="fa-IR" dirty="0"/>
              <a:t>کند).</a:t>
            </a:r>
            <a:br>
              <a:rPr lang="fa-IR" dirty="0"/>
            </a:br>
            <a:r>
              <a:rPr lang="fa-IR" dirty="0" err="1"/>
              <a:t>می‌توانیم</a:t>
            </a:r>
            <a:r>
              <a:rPr lang="fa-IR" dirty="0"/>
              <a:t> تلاش لازم برای بررسی </a:t>
            </a:r>
            <a:r>
              <a:rPr lang="fa-IR" dirty="0" err="1"/>
              <a:t>نقض‌ها</a:t>
            </a:r>
            <a:r>
              <a:rPr lang="fa-IR" dirty="0"/>
              <a:t> را با آزمودن یک مجموعه </a:t>
            </a:r>
            <a:r>
              <a:rPr lang="fa-IR" dirty="0" err="1"/>
              <a:t>ساده‌شده</a:t>
            </a:r>
            <a:r>
              <a:rPr lang="fa-IR" dirty="0"/>
              <a:t> از </a:t>
            </a:r>
            <a:r>
              <a:rPr lang="fa-IR" dirty="0" err="1"/>
              <a:t>وابستگی‌های</a:t>
            </a:r>
            <a:r>
              <a:rPr lang="fa-IR" dirty="0"/>
              <a:t> </a:t>
            </a:r>
            <a:r>
              <a:rPr lang="fa-IR" dirty="0" err="1"/>
              <a:t>تابعی</a:t>
            </a:r>
            <a:r>
              <a:rPr lang="fa-IR" dirty="0"/>
              <a:t> که همان </a:t>
            </a:r>
            <a:r>
              <a:rPr lang="fa-IR" dirty="0" err="1"/>
              <a:t>بستار</a:t>
            </a:r>
            <a:r>
              <a:rPr lang="fa-IR" dirty="0"/>
              <a:t> مجموعه اولیه را دارد کاهش دهیم.</a:t>
            </a:r>
            <a:br>
              <a:rPr lang="fa-IR" dirty="0"/>
            </a:br>
            <a:r>
              <a:rPr lang="fa-IR" dirty="0"/>
              <a:t>این مجموعه </a:t>
            </a:r>
            <a:r>
              <a:rPr lang="fa-IR" dirty="0" err="1"/>
              <a:t>ساده‌شده</a:t>
            </a:r>
            <a:r>
              <a:rPr lang="fa-IR" dirty="0"/>
              <a:t> «پوشش </a:t>
            </a:r>
            <a:r>
              <a:rPr lang="fa-IR" dirty="0" err="1"/>
              <a:t>کانُکُنیکال</a:t>
            </a:r>
            <a:r>
              <a:rPr lang="fa-IR" dirty="0"/>
              <a:t>» (</a:t>
            </a:r>
            <a:r>
              <a:rPr lang="en-US" dirty="0"/>
              <a:t>canonical cover) </a:t>
            </a:r>
            <a:r>
              <a:rPr lang="fa-IR" dirty="0"/>
              <a:t>نامیده </a:t>
            </a:r>
            <a:r>
              <a:rPr lang="fa-IR" dirty="0" err="1"/>
              <a:t>می‌شود</a:t>
            </a:r>
            <a:r>
              <a:rPr lang="fa-IR" dirty="0"/>
              <a:t>.</a:t>
            </a:r>
            <a:br>
              <a:rPr lang="fa-IR" dirty="0"/>
            </a:br>
            <a:r>
              <a:rPr lang="fa-IR" dirty="0"/>
              <a:t>برای تعریف پوشش </a:t>
            </a:r>
            <a:r>
              <a:rPr lang="fa-IR" dirty="0" err="1"/>
              <a:t>کانُنیکال</a:t>
            </a:r>
            <a:r>
              <a:rPr lang="fa-IR" dirty="0"/>
              <a:t>، ابتدا باید </a:t>
            </a:r>
            <a:r>
              <a:rPr lang="fa-IR" dirty="0" err="1"/>
              <a:t>ویژگی‌های</a:t>
            </a:r>
            <a:r>
              <a:rPr lang="fa-IR" dirty="0"/>
              <a:t> اضافی (</a:t>
            </a:r>
            <a:r>
              <a:rPr lang="en-US" dirty="0"/>
              <a:t>extraneous attributes) </a:t>
            </a:r>
            <a:r>
              <a:rPr lang="fa-IR" dirty="0"/>
              <a:t>را تعریف کنیم.</a:t>
            </a:r>
            <a:br>
              <a:rPr lang="fa-IR" dirty="0"/>
            </a:br>
            <a:r>
              <a:rPr lang="fa-IR" dirty="0"/>
              <a:t>یک ویژگی در یک وابستگی </a:t>
            </a:r>
            <a:r>
              <a:rPr lang="fa-IR" dirty="0" err="1"/>
              <a:t>تابعیِ</a:t>
            </a:r>
            <a:r>
              <a:rPr lang="fa-IR" dirty="0"/>
              <a:t> موجود در </a:t>
            </a:r>
            <a:r>
              <a:rPr lang="en-US" dirty="0"/>
              <a:t>F </a:t>
            </a:r>
            <a:r>
              <a:rPr lang="fa-IR" dirty="0"/>
              <a:t>اضافی محسوب </a:t>
            </a:r>
            <a:r>
              <a:rPr lang="fa-IR" dirty="0" err="1"/>
              <a:t>می‌شود</a:t>
            </a:r>
            <a:r>
              <a:rPr lang="fa-IR" dirty="0"/>
              <a:t> اگر بتوانیم آن را حذف کنیم بدون اینکه </a:t>
            </a:r>
            <a:r>
              <a:rPr lang="en-US" dirty="0"/>
              <a:t>F⁺ </a:t>
            </a:r>
            <a:r>
              <a:rPr lang="fa-IR" dirty="0"/>
              <a:t>تغییر کند.</a:t>
            </a:r>
            <a:endParaRPr lang="en-US" alt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5778" name="Rectangle 2"/>
          <p:cNvSpPr>
            <a:spLocks noGrp="1" noChangeArrowheads="1"/>
          </p:cNvSpPr>
          <p:nvPr>
            <p:ph type="title"/>
          </p:nvPr>
        </p:nvSpPr>
        <p:spPr/>
        <p:txBody>
          <a:bodyPr/>
          <a:lstStyle/>
          <a:p>
            <a:pPr>
              <a:defRPr/>
            </a:pPr>
            <a:r>
              <a:rPr lang="en-US" altLang="en-US" dirty="0">
                <a:effectLst>
                  <a:outerShdw blurRad="38100" dist="38100" dir="2700000" algn="tl">
                    <a:srgbClr val="C0C0C0"/>
                  </a:outerShdw>
                </a:effectLst>
                <a:ea typeface="ＭＳ Ｐゴシック" pitchFamily="34" charset="-128"/>
              </a:rPr>
              <a:t>Extraneous Attributes</a:t>
            </a:r>
          </a:p>
        </p:txBody>
      </p:sp>
      <p:sp>
        <p:nvSpPr>
          <p:cNvPr id="2" name="Content Placeholder 1">
            <a:extLst>
              <a:ext uri="{FF2B5EF4-FFF2-40B4-BE49-F238E27FC236}">
                <a16:creationId xmlns:a16="http://schemas.microsoft.com/office/drawing/2014/main" id="{B6C30A22-1DDF-10DA-4901-3FD5748A7FC6}"/>
              </a:ext>
            </a:extLst>
          </p:cNvPr>
          <p:cNvSpPr>
            <a:spLocks noGrp="1" noChangeArrowheads="1"/>
          </p:cNvSpPr>
          <p:nvPr>
            <p:ph idx="1"/>
          </p:nvPr>
        </p:nvSpPr>
        <p:spPr bwMode="auto">
          <a:xfrm>
            <a:off x="922362" y="779021"/>
            <a:ext cx="8077199" cy="489364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r" defTabSz="914400" rtl="1" eaLnBrk="0" fontAlgn="base" latinLnBrk="0" hangingPunct="0">
              <a:lnSpc>
                <a:spcPct val="100000"/>
              </a:lnSpc>
              <a:spcBef>
                <a:spcPct val="0"/>
              </a:spcBef>
              <a:spcAft>
                <a:spcPct val="0"/>
              </a:spcAft>
              <a:buClrTx/>
              <a:buSzTx/>
              <a:buFontTx/>
              <a:buChar char="•"/>
              <a:tabLst/>
            </a:pPr>
            <a:r>
              <a:rPr kumimoji="0" lang="ar-SA" altLang="en-US" sz="2400" i="0" u="none" strike="noStrike" cap="none" normalizeH="0" baseline="0" dirty="0">
                <a:ln>
                  <a:noFill/>
                </a:ln>
                <a:solidFill>
                  <a:schemeClr val="tx1"/>
                </a:solidFill>
                <a:effectLst/>
                <a:latin typeface="Arial" panose="020B0604020202020204" pitchFamily="34" charset="0"/>
              </a:rPr>
              <a:t>حذف یک صفت از سمت چپ یک وابستگی تابعی می‌تواند آن را به یک محدودیت قوی‌تر تبدیل کند</a:t>
            </a:r>
            <a:r>
              <a:rPr kumimoji="0" lang="en-US" altLang="en-US" sz="2400" i="0" u="none" strike="noStrike" cap="none" normalizeH="0" baseline="0" dirty="0">
                <a:ln>
                  <a:noFill/>
                </a:ln>
                <a:solidFill>
                  <a:schemeClr val="tx1"/>
                </a:solidFill>
                <a:effectLst/>
                <a:latin typeface="Arial" panose="020B0604020202020204" pitchFamily="34" charset="0"/>
              </a:rPr>
              <a:t>.</a:t>
            </a:r>
          </a:p>
          <a:p>
            <a:pPr marL="0" marR="0" lvl="0" indent="0" algn="r" defTabSz="914400" rtl="1" eaLnBrk="0" fontAlgn="base" latinLnBrk="0" hangingPunct="0">
              <a:lnSpc>
                <a:spcPct val="100000"/>
              </a:lnSpc>
              <a:spcBef>
                <a:spcPct val="0"/>
              </a:spcBef>
              <a:spcAft>
                <a:spcPct val="0"/>
              </a:spcAft>
              <a:buClrTx/>
              <a:buSzTx/>
              <a:buFontTx/>
              <a:buChar char="•"/>
              <a:tabLst/>
            </a:pPr>
            <a:r>
              <a:rPr kumimoji="0" lang="ar-SA" altLang="en-US" sz="2400" i="0" u="none" strike="noStrike" cap="none" normalizeH="0" baseline="0" dirty="0">
                <a:ln>
                  <a:noFill/>
                </a:ln>
                <a:solidFill>
                  <a:schemeClr val="tx1"/>
                </a:solidFill>
                <a:effectLst/>
                <a:latin typeface="Arial" panose="020B0604020202020204" pitchFamily="34" charset="0"/>
              </a:rPr>
              <a:t>برای مثال، اگر وابستگی</a:t>
            </a:r>
            <a:r>
              <a:rPr kumimoji="0" lang="en-US" altLang="en-US" sz="2400" i="0" u="none" strike="noStrike" cap="none" normalizeH="0" baseline="0" dirty="0">
                <a:ln>
                  <a:noFill/>
                </a:ln>
                <a:solidFill>
                  <a:schemeClr val="tx1"/>
                </a:solidFill>
                <a:effectLst/>
                <a:latin typeface="Arial" panose="020B0604020202020204" pitchFamily="34" charset="0"/>
              </a:rPr>
              <a:t> AB → C </a:t>
            </a:r>
            <a:r>
              <a:rPr kumimoji="0" lang="ar-SA" altLang="en-US" sz="2400" i="0" u="none" strike="noStrike" cap="none" normalizeH="0" baseline="0" dirty="0">
                <a:ln>
                  <a:noFill/>
                </a:ln>
                <a:solidFill>
                  <a:schemeClr val="tx1"/>
                </a:solidFill>
                <a:effectLst/>
                <a:latin typeface="Arial" panose="020B0604020202020204" pitchFamily="34" charset="0"/>
              </a:rPr>
              <a:t>را داشته باشیم و</a:t>
            </a:r>
            <a:r>
              <a:rPr kumimoji="0" lang="en-US" altLang="en-US" sz="2400" i="0" u="none" strike="noStrike" cap="none" normalizeH="0" baseline="0" dirty="0">
                <a:ln>
                  <a:noFill/>
                </a:ln>
                <a:solidFill>
                  <a:schemeClr val="tx1"/>
                </a:solidFill>
                <a:effectLst/>
                <a:latin typeface="Arial" panose="020B0604020202020204" pitchFamily="34" charset="0"/>
              </a:rPr>
              <a:t> B </a:t>
            </a:r>
            <a:r>
              <a:rPr kumimoji="0" lang="ar-SA" altLang="en-US" sz="2400" i="0" u="none" strike="noStrike" cap="none" normalizeH="0" baseline="0" dirty="0">
                <a:ln>
                  <a:noFill/>
                </a:ln>
                <a:solidFill>
                  <a:schemeClr val="tx1"/>
                </a:solidFill>
                <a:effectLst/>
                <a:latin typeface="Arial" panose="020B0604020202020204" pitchFamily="34" charset="0"/>
              </a:rPr>
              <a:t>را حذف کنیم، نتیجهٔ جدید</a:t>
            </a:r>
            <a:r>
              <a:rPr kumimoji="0" lang="en-US" altLang="en-US" sz="2400" i="0" u="none" strike="noStrike" cap="none" normalizeH="0" baseline="0" dirty="0">
                <a:ln>
                  <a:noFill/>
                </a:ln>
                <a:solidFill>
                  <a:schemeClr val="tx1"/>
                </a:solidFill>
                <a:effectLst/>
                <a:latin typeface="Arial" panose="020B0604020202020204" pitchFamily="34" charset="0"/>
              </a:rPr>
              <a:t> A → C </a:t>
            </a:r>
            <a:r>
              <a:rPr kumimoji="0" lang="ar-SA" altLang="en-US" sz="2400" i="0" u="none" strike="noStrike" cap="none" normalizeH="0" baseline="0" dirty="0">
                <a:ln>
                  <a:noFill/>
                </a:ln>
                <a:solidFill>
                  <a:schemeClr val="tx1"/>
                </a:solidFill>
                <a:effectLst/>
                <a:latin typeface="Arial" panose="020B0604020202020204" pitchFamily="34" charset="0"/>
              </a:rPr>
              <a:t>ممکن است قوی‌تر باشد</a:t>
            </a:r>
            <a:r>
              <a:rPr kumimoji="0" lang="en-US" altLang="en-US" sz="2400" i="0" u="none" strike="noStrike" cap="none" normalizeH="0" baseline="0" dirty="0">
                <a:ln>
                  <a:noFill/>
                </a:ln>
                <a:solidFill>
                  <a:schemeClr val="tx1"/>
                </a:solidFill>
                <a:effectLst/>
                <a:latin typeface="Arial" panose="020B0604020202020204" pitchFamily="34" charset="0"/>
              </a:rPr>
              <a:t>.</a:t>
            </a:r>
          </a:p>
          <a:p>
            <a:pPr marL="0" marR="0" lvl="0" indent="0" algn="r" defTabSz="914400" rtl="1" eaLnBrk="0" fontAlgn="base" latinLnBrk="0" hangingPunct="0">
              <a:lnSpc>
                <a:spcPct val="100000"/>
              </a:lnSpc>
              <a:spcBef>
                <a:spcPct val="0"/>
              </a:spcBef>
              <a:spcAft>
                <a:spcPct val="0"/>
              </a:spcAft>
              <a:buClrTx/>
              <a:buSzTx/>
              <a:buFontTx/>
              <a:buChar char="•"/>
              <a:tabLst/>
            </a:pPr>
            <a:r>
              <a:rPr kumimoji="0" lang="ar-SA" altLang="en-US" sz="2400" i="0" u="none" strike="noStrike" cap="none" normalizeH="0" baseline="0" dirty="0">
                <a:ln>
                  <a:noFill/>
                </a:ln>
                <a:solidFill>
                  <a:schemeClr val="tx1"/>
                </a:solidFill>
                <a:effectLst/>
                <a:latin typeface="Arial" panose="020B0604020202020204" pitchFamily="34" charset="0"/>
              </a:rPr>
              <a:t>این نتیجه قوی‌تر است چون</a:t>
            </a:r>
            <a:r>
              <a:rPr kumimoji="0" lang="en-US" altLang="en-US" sz="2400" i="0" u="none" strike="noStrike" cap="none" normalizeH="0" baseline="0" dirty="0">
                <a:ln>
                  <a:noFill/>
                </a:ln>
                <a:solidFill>
                  <a:schemeClr val="tx1"/>
                </a:solidFill>
                <a:effectLst/>
                <a:latin typeface="Arial" panose="020B0604020202020204" pitchFamily="34" charset="0"/>
              </a:rPr>
              <a:t> A → C </a:t>
            </a:r>
            <a:r>
              <a:rPr kumimoji="0" lang="ar-SA" altLang="en-US" sz="2400" i="0" u="none" strike="noStrike" cap="none" normalizeH="0" baseline="0" dirty="0">
                <a:ln>
                  <a:noFill/>
                </a:ln>
                <a:solidFill>
                  <a:schemeClr val="tx1"/>
                </a:solidFill>
                <a:effectLst/>
                <a:latin typeface="Arial" panose="020B0604020202020204" pitchFamily="34" charset="0"/>
              </a:rPr>
              <a:t>به‌صورت منطقی</a:t>
            </a:r>
            <a:r>
              <a:rPr kumimoji="0" lang="en-US" altLang="en-US" sz="2400" i="0" u="none" strike="noStrike" cap="none" normalizeH="0" baseline="0" dirty="0">
                <a:ln>
                  <a:noFill/>
                </a:ln>
                <a:solidFill>
                  <a:schemeClr val="tx1"/>
                </a:solidFill>
                <a:effectLst/>
                <a:latin typeface="Arial" panose="020B0604020202020204" pitchFamily="34" charset="0"/>
              </a:rPr>
              <a:t>، AB → C </a:t>
            </a:r>
            <a:r>
              <a:rPr kumimoji="0" lang="ar-SA" altLang="en-US" sz="2400" i="0" u="none" strike="noStrike" cap="none" normalizeH="0" baseline="0" dirty="0">
                <a:ln>
                  <a:noFill/>
                </a:ln>
                <a:solidFill>
                  <a:schemeClr val="tx1"/>
                </a:solidFill>
                <a:effectLst/>
                <a:latin typeface="Arial" panose="020B0604020202020204" pitchFamily="34" charset="0"/>
              </a:rPr>
              <a:t>را نیز نتیجه می‌دهد، اما</a:t>
            </a:r>
            <a:r>
              <a:rPr kumimoji="0" lang="en-US" altLang="en-US" sz="2400" i="0" u="none" strike="noStrike" cap="none" normalizeH="0" baseline="0" dirty="0">
                <a:ln>
                  <a:noFill/>
                </a:ln>
                <a:solidFill>
                  <a:schemeClr val="tx1"/>
                </a:solidFill>
                <a:effectLst/>
                <a:latin typeface="Arial" panose="020B0604020202020204" pitchFamily="34" charset="0"/>
              </a:rPr>
              <a:t> AB → C </a:t>
            </a:r>
            <a:r>
              <a:rPr kumimoji="0" lang="ar-SA" altLang="en-US" sz="2400" i="0" u="none" strike="noStrike" cap="none" normalizeH="0" baseline="0" dirty="0">
                <a:ln>
                  <a:noFill/>
                </a:ln>
                <a:solidFill>
                  <a:schemeClr val="tx1"/>
                </a:solidFill>
                <a:effectLst/>
                <a:latin typeface="Arial" panose="020B0604020202020204" pitchFamily="34" charset="0"/>
              </a:rPr>
              <a:t>به‌تنهایی الزاماً</a:t>
            </a:r>
            <a:r>
              <a:rPr kumimoji="0" lang="en-US" altLang="en-US" sz="2400" i="0" u="none" strike="noStrike" cap="none" normalizeH="0" baseline="0" dirty="0">
                <a:ln>
                  <a:noFill/>
                </a:ln>
                <a:solidFill>
                  <a:schemeClr val="tx1"/>
                </a:solidFill>
                <a:effectLst/>
                <a:latin typeface="Arial" panose="020B0604020202020204" pitchFamily="34" charset="0"/>
              </a:rPr>
              <a:t> A → C </a:t>
            </a:r>
            <a:r>
              <a:rPr kumimoji="0" lang="ar-SA" altLang="en-US" sz="2400" i="0" u="none" strike="noStrike" cap="none" normalizeH="0" baseline="0" dirty="0">
                <a:ln>
                  <a:noFill/>
                </a:ln>
                <a:solidFill>
                  <a:schemeClr val="tx1"/>
                </a:solidFill>
                <a:effectLst/>
                <a:latin typeface="Arial" panose="020B0604020202020204" pitchFamily="34" charset="0"/>
              </a:rPr>
              <a:t>را نتیجه نمی‌دهد</a:t>
            </a:r>
            <a:r>
              <a:rPr kumimoji="0" lang="en-US" altLang="en-US" sz="2400" i="0" u="none" strike="noStrike" cap="none" normalizeH="0" baseline="0" dirty="0">
                <a:ln>
                  <a:noFill/>
                </a:ln>
                <a:solidFill>
                  <a:schemeClr val="tx1"/>
                </a:solidFill>
                <a:effectLst/>
                <a:latin typeface="Arial" panose="020B0604020202020204" pitchFamily="34" charset="0"/>
              </a:rPr>
              <a:t>.</a:t>
            </a:r>
          </a:p>
          <a:p>
            <a:pPr marL="0" marR="0" lvl="0" indent="0" algn="r" defTabSz="914400" rtl="1" eaLnBrk="0" fontAlgn="base" latinLnBrk="0" hangingPunct="0">
              <a:lnSpc>
                <a:spcPct val="100000"/>
              </a:lnSpc>
              <a:spcBef>
                <a:spcPct val="0"/>
              </a:spcBef>
              <a:spcAft>
                <a:spcPct val="0"/>
              </a:spcAft>
              <a:buClrTx/>
              <a:buSzTx/>
              <a:buFontTx/>
              <a:buChar char="•"/>
              <a:tabLst/>
            </a:pPr>
            <a:r>
              <a:rPr kumimoji="0" lang="ar-SA" altLang="en-US" sz="2400" i="0" u="none" strike="noStrike" cap="none" normalizeH="0" baseline="0" dirty="0">
                <a:ln>
                  <a:noFill/>
                </a:ln>
                <a:solidFill>
                  <a:schemeClr val="tx1"/>
                </a:solidFill>
                <a:effectLst/>
                <a:latin typeface="Arial" panose="020B0604020202020204" pitchFamily="34" charset="0"/>
              </a:rPr>
              <a:t>اما بسته به این‌که مجموعهٔ وابستگی‌های تابعی</a:t>
            </a:r>
            <a:r>
              <a:rPr kumimoji="0" lang="en-US" altLang="en-US" sz="2400" i="0" u="none" strike="noStrike" cap="none" normalizeH="0" baseline="0" dirty="0">
                <a:ln>
                  <a:noFill/>
                </a:ln>
                <a:solidFill>
                  <a:schemeClr val="tx1"/>
                </a:solidFill>
                <a:effectLst/>
                <a:latin typeface="Arial" panose="020B0604020202020204" pitchFamily="34" charset="0"/>
              </a:rPr>
              <a:t> F </a:t>
            </a:r>
            <a:r>
              <a:rPr kumimoji="0" lang="ar-SA" altLang="en-US" sz="2400" i="0" u="none" strike="noStrike" cap="none" normalizeH="0" baseline="0" dirty="0">
                <a:ln>
                  <a:noFill/>
                </a:ln>
                <a:solidFill>
                  <a:schemeClr val="tx1"/>
                </a:solidFill>
                <a:effectLst/>
                <a:latin typeface="Arial" panose="020B0604020202020204" pitchFamily="34" charset="0"/>
              </a:rPr>
              <a:t>چه چیزهایی هستند، ممکن است بتوانیم</a:t>
            </a:r>
            <a:r>
              <a:rPr kumimoji="0" lang="en-US" altLang="en-US" sz="2400" i="0" u="none" strike="noStrike" cap="none" normalizeH="0" baseline="0" dirty="0">
                <a:ln>
                  <a:noFill/>
                </a:ln>
                <a:solidFill>
                  <a:schemeClr val="tx1"/>
                </a:solidFill>
                <a:effectLst/>
                <a:latin typeface="Arial" panose="020B0604020202020204" pitchFamily="34" charset="0"/>
              </a:rPr>
              <a:t> B </a:t>
            </a:r>
            <a:r>
              <a:rPr kumimoji="0" lang="ar-SA" altLang="en-US" sz="2400" i="0" u="none" strike="noStrike" cap="none" normalizeH="0" baseline="0" dirty="0">
                <a:ln>
                  <a:noFill/>
                </a:ln>
                <a:solidFill>
                  <a:schemeClr val="tx1"/>
                </a:solidFill>
                <a:effectLst/>
                <a:latin typeface="Arial" panose="020B0604020202020204" pitchFamily="34" charset="0"/>
              </a:rPr>
              <a:t>را بدون مشکل از</a:t>
            </a:r>
            <a:r>
              <a:rPr kumimoji="0" lang="en-US" altLang="en-US" sz="2400" i="0" u="none" strike="noStrike" cap="none" normalizeH="0" baseline="0" dirty="0">
                <a:ln>
                  <a:noFill/>
                </a:ln>
                <a:solidFill>
                  <a:schemeClr val="tx1"/>
                </a:solidFill>
                <a:effectLst/>
                <a:latin typeface="Arial" panose="020B0604020202020204" pitchFamily="34" charset="0"/>
              </a:rPr>
              <a:t> AB → C </a:t>
            </a:r>
            <a:r>
              <a:rPr kumimoji="0" lang="ar-SA" altLang="en-US" sz="2400" i="0" u="none" strike="noStrike" cap="none" normalizeH="0" baseline="0" dirty="0">
                <a:ln>
                  <a:noFill/>
                </a:ln>
                <a:solidFill>
                  <a:schemeClr val="tx1"/>
                </a:solidFill>
                <a:effectLst/>
                <a:latin typeface="Arial" panose="020B0604020202020204" pitchFamily="34" charset="0"/>
              </a:rPr>
              <a:t>حذف کنیم</a:t>
            </a:r>
            <a:r>
              <a:rPr kumimoji="0" lang="en-US" altLang="en-US" sz="2400" i="0" u="none" strike="noStrike" cap="none" normalizeH="0" baseline="0" dirty="0">
                <a:ln>
                  <a:noFill/>
                </a:ln>
                <a:solidFill>
                  <a:schemeClr val="tx1"/>
                </a:solidFill>
                <a:effectLst/>
                <a:latin typeface="Arial" panose="020B0604020202020204" pitchFamily="34" charset="0"/>
              </a:rPr>
              <a:t>.</a:t>
            </a:r>
          </a:p>
          <a:p>
            <a:pPr marL="0" marR="0" lvl="0" indent="0" algn="r" defTabSz="914400" rtl="1" eaLnBrk="0" fontAlgn="base" latinLnBrk="0" hangingPunct="0">
              <a:lnSpc>
                <a:spcPct val="100000"/>
              </a:lnSpc>
              <a:spcBef>
                <a:spcPct val="0"/>
              </a:spcBef>
              <a:spcAft>
                <a:spcPct val="0"/>
              </a:spcAft>
              <a:buClrTx/>
              <a:buSzTx/>
              <a:buFontTx/>
              <a:buChar char="•"/>
              <a:tabLst/>
            </a:pPr>
            <a:r>
              <a:rPr kumimoji="0" lang="ar-SA" altLang="en-US" sz="2400" i="0" u="none" strike="noStrike" cap="none" normalizeH="0" baseline="0" dirty="0">
                <a:ln>
                  <a:noFill/>
                </a:ln>
                <a:solidFill>
                  <a:schemeClr val="tx1"/>
                </a:solidFill>
                <a:effectLst/>
                <a:latin typeface="Arial" panose="020B0604020202020204" pitchFamily="34" charset="0"/>
              </a:rPr>
              <a:t>برای مثال، فرض کنید</a:t>
            </a:r>
            <a:r>
              <a:rPr kumimoji="0" lang="en-US" altLang="en-US" sz="2400" i="0" u="none" strike="noStrike" cap="none" normalizeH="0" baseline="0" dirty="0">
                <a:ln>
                  <a:noFill/>
                </a:ln>
                <a:solidFill>
                  <a:schemeClr val="tx1"/>
                </a:solidFill>
                <a:effectLst/>
                <a:latin typeface="Arial" panose="020B0604020202020204" pitchFamily="34" charset="0"/>
              </a:rPr>
              <a:t>:</a:t>
            </a:r>
            <a:br>
              <a:rPr kumimoji="0" lang="en-US" altLang="en-US" sz="2400" i="0" u="none" strike="noStrike" cap="none" normalizeH="0" baseline="0" dirty="0">
                <a:ln>
                  <a:noFill/>
                </a:ln>
                <a:solidFill>
                  <a:schemeClr val="tx1"/>
                </a:solidFill>
                <a:effectLst/>
                <a:latin typeface="Arial" panose="020B0604020202020204" pitchFamily="34" charset="0"/>
              </a:rPr>
            </a:br>
            <a:r>
              <a:rPr kumimoji="0" lang="en-US" altLang="en-US" sz="2400" i="0" u="none" strike="noStrike" cap="none" normalizeH="0" baseline="0" dirty="0">
                <a:ln>
                  <a:noFill/>
                </a:ln>
                <a:solidFill>
                  <a:schemeClr val="tx1"/>
                </a:solidFill>
                <a:effectLst/>
                <a:latin typeface="Arial" panose="020B0604020202020204" pitchFamily="34" charset="0"/>
              </a:rPr>
              <a:t>F = { AB → C , A → D , D → C }</a:t>
            </a:r>
          </a:p>
          <a:p>
            <a:pPr marL="0" marR="0" lvl="0" indent="0" algn="r" defTabSz="914400" rtl="1" eaLnBrk="0" fontAlgn="base" latinLnBrk="0" hangingPunct="0">
              <a:lnSpc>
                <a:spcPct val="100000"/>
              </a:lnSpc>
              <a:spcBef>
                <a:spcPct val="0"/>
              </a:spcBef>
              <a:spcAft>
                <a:spcPct val="0"/>
              </a:spcAft>
              <a:buClrTx/>
              <a:buSzTx/>
              <a:buFontTx/>
              <a:buChar char="•"/>
              <a:tabLst/>
            </a:pPr>
            <a:r>
              <a:rPr kumimoji="0" lang="ar-SA" altLang="en-US" sz="2400" i="0" u="none" strike="noStrike" cap="none" normalizeH="0" baseline="0" dirty="0">
                <a:ln>
                  <a:noFill/>
                </a:ln>
                <a:solidFill>
                  <a:schemeClr val="tx1"/>
                </a:solidFill>
                <a:effectLst/>
                <a:latin typeface="Arial" panose="020B0604020202020204" pitchFamily="34" charset="0"/>
              </a:rPr>
              <a:t>در این صورت می‌توانیم نشان دهیم که</a:t>
            </a:r>
            <a:r>
              <a:rPr kumimoji="0" lang="en-US" altLang="en-US" sz="2400" i="0" u="none" strike="noStrike" cap="none" normalizeH="0" baseline="0" dirty="0">
                <a:ln>
                  <a:noFill/>
                </a:ln>
                <a:solidFill>
                  <a:schemeClr val="tx1"/>
                </a:solidFill>
                <a:effectLst/>
                <a:latin typeface="Arial" panose="020B0604020202020204" pitchFamily="34" charset="0"/>
              </a:rPr>
              <a:t> F </a:t>
            </a:r>
            <a:r>
              <a:rPr kumimoji="0" lang="ar-SA" altLang="en-US" sz="2400" i="0" u="none" strike="noStrike" cap="none" normalizeH="0" baseline="0" dirty="0">
                <a:ln>
                  <a:noFill/>
                </a:ln>
                <a:solidFill>
                  <a:schemeClr val="tx1"/>
                </a:solidFill>
                <a:effectLst/>
                <a:latin typeface="Arial" panose="020B0604020202020204" pitchFamily="34" charset="0"/>
              </a:rPr>
              <a:t>به‌صورت منطقی</a:t>
            </a:r>
            <a:r>
              <a:rPr kumimoji="0" lang="en-US" altLang="en-US" sz="2400" i="0" u="none" strike="noStrike" cap="none" normalizeH="0" baseline="0" dirty="0">
                <a:ln>
                  <a:noFill/>
                </a:ln>
                <a:solidFill>
                  <a:schemeClr val="tx1"/>
                </a:solidFill>
                <a:effectLst/>
                <a:latin typeface="Arial" panose="020B0604020202020204" pitchFamily="34" charset="0"/>
              </a:rPr>
              <a:t> A → C </a:t>
            </a:r>
            <a:r>
              <a:rPr kumimoji="0" lang="ar-SA" altLang="en-US" sz="2400" i="0" u="none" strike="noStrike" cap="none" normalizeH="0" baseline="0" dirty="0">
                <a:ln>
                  <a:noFill/>
                </a:ln>
                <a:solidFill>
                  <a:schemeClr val="tx1"/>
                </a:solidFill>
                <a:effectLst/>
                <a:latin typeface="Arial" panose="020B0604020202020204" pitchFamily="34" charset="0"/>
              </a:rPr>
              <a:t>را نتیجه می‌دهد، بنابراین</a:t>
            </a:r>
            <a:r>
              <a:rPr kumimoji="0" lang="en-US" altLang="en-US" sz="2400" i="0" u="none" strike="noStrike" cap="none" normalizeH="0" baseline="0" dirty="0">
                <a:ln>
                  <a:noFill/>
                </a:ln>
                <a:solidFill>
                  <a:schemeClr val="tx1"/>
                </a:solidFill>
                <a:effectLst/>
                <a:latin typeface="Arial" panose="020B0604020202020204" pitchFamily="34" charset="0"/>
              </a:rPr>
              <a:t> B </a:t>
            </a:r>
            <a:r>
              <a:rPr kumimoji="0" lang="ar-SA" altLang="en-US" sz="2400" i="0" u="none" strike="noStrike" cap="none" normalizeH="0" baseline="0" dirty="0">
                <a:ln>
                  <a:noFill/>
                </a:ln>
                <a:solidFill>
                  <a:schemeClr val="tx1"/>
                </a:solidFill>
                <a:effectLst/>
                <a:latin typeface="Arial" panose="020B0604020202020204" pitchFamily="34" charset="0"/>
              </a:rPr>
              <a:t>در وابستگی</a:t>
            </a:r>
            <a:r>
              <a:rPr kumimoji="0" lang="en-US" altLang="en-US" sz="2400" i="0" u="none" strike="noStrike" cap="none" normalizeH="0" baseline="0" dirty="0">
                <a:ln>
                  <a:noFill/>
                </a:ln>
                <a:solidFill>
                  <a:schemeClr val="tx1"/>
                </a:solidFill>
                <a:effectLst/>
                <a:latin typeface="Arial" panose="020B0604020202020204" pitchFamily="34" charset="0"/>
              </a:rPr>
              <a:t> AB → C </a:t>
            </a:r>
            <a:r>
              <a:rPr kumimoji="0" lang="ar-SA" altLang="en-US" sz="2400" i="0" u="none" strike="noStrike" cap="none" normalizeH="0" baseline="0" dirty="0">
                <a:ln>
                  <a:noFill/>
                </a:ln>
                <a:solidFill>
                  <a:schemeClr val="tx1"/>
                </a:solidFill>
                <a:effectLst/>
                <a:latin typeface="Arial" panose="020B0604020202020204" pitchFamily="34" charset="0"/>
              </a:rPr>
              <a:t>یک صفت زائد</a:t>
            </a:r>
            <a:r>
              <a:rPr kumimoji="0" lang="en-US" altLang="en-US" sz="2400" i="0" u="none" strike="noStrike" cap="none" normalizeH="0" baseline="0" dirty="0">
                <a:ln>
                  <a:noFill/>
                </a:ln>
                <a:solidFill>
                  <a:schemeClr val="tx1"/>
                </a:solidFill>
                <a:effectLst/>
                <a:latin typeface="Arial" panose="020B0604020202020204" pitchFamily="34" charset="0"/>
              </a:rPr>
              <a:t> (Extraneous) </a:t>
            </a:r>
            <a:r>
              <a:rPr kumimoji="0" lang="ar-SA" altLang="en-US" sz="2400" i="0" u="none" strike="noStrike" cap="none" normalizeH="0" baseline="0" dirty="0">
                <a:ln>
                  <a:noFill/>
                </a:ln>
                <a:solidFill>
                  <a:schemeClr val="tx1"/>
                </a:solidFill>
                <a:effectLst/>
                <a:latin typeface="Arial" panose="020B0604020202020204" pitchFamily="34" charset="0"/>
              </a:rPr>
              <a:t>است</a:t>
            </a:r>
            <a:r>
              <a:rPr kumimoji="0" lang="en-US" altLang="en-US" sz="2400" i="0" u="none" strike="noStrike" cap="none" normalizeH="0" baseline="0" dirty="0">
                <a:ln>
                  <a:noFill/>
                </a:ln>
                <a:solidFill>
                  <a:schemeClr val="tx1"/>
                </a:solidFill>
                <a:effectLst/>
                <a:latin typeface="Arial" panose="020B0604020202020204" pitchFamily="34" charset="0"/>
              </a:rPr>
              <a:t>.</a:t>
            </a:r>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5778" name="Rectangle 2"/>
          <p:cNvSpPr>
            <a:spLocks noGrp="1" noChangeArrowheads="1"/>
          </p:cNvSpPr>
          <p:nvPr>
            <p:ph type="title"/>
          </p:nvPr>
        </p:nvSpPr>
        <p:spPr/>
        <p:txBody>
          <a:bodyPr/>
          <a:lstStyle/>
          <a:p>
            <a:pPr>
              <a:defRPr/>
            </a:pPr>
            <a:r>
              <a:rPr lang="en-US" altLang="en-US" dirty="0">
                <a:effectLst>
                  <a:outerShdw blurRad="38100" dist="38100" dir="2700000" algn="tl">
                    <a:srgbClr val="C0C0C0"/>
                  </a:outerShdw>
                </a:effectLst>
                <a:ea typeface="ＭＳ Ｐゴシック" pitchFamily="34" charset="-128"/>
              </a:rPr>
              <a:t>Extraneous Attributes (Cont.)</a:t>
            </a:r>
          </a:p>
        </p:txBody>
      </p:sp>
      <p:sp>
        <p:nvSpPr>
          <p:cNvPr id="53251" name="Rectangle 3"/>
          <p:cNvSpPr>
            <a:spLocks noGrp="1" noChangeArrowheads="1"/>
          </p:cNvSpPr>
          <p:nvPr>
            <p:ph idx="1"/>
          </p:nvPr>
        </p:nvSpPr>
        <p:spPr>
          <a:xfrm>
            <a:off x="488515" y="1163638"/>
            <a:ext cx="8357035" cy="3384299"/>
          </a:xfrm>
        </p:spPr>
        <p:txBody>
          <a:bodyPr/>
          <a:lstStyle/>
          <a:p>
            <a:pPr algn="r" rtl="1"/>
            <a:r>
              <a:rPr lang="fa-IR" sz="2400" dirty="0"/>
              <a:t>حذف یک صفت از سمت راست یک وابستگی </a:t>
            </a:r>
            <a:r>
              <a:rPr lang="fa-IR" sz="2400" dirty="0" err="1"/>
              <a:t>تابعی</a:t>
            </a:r>
            <a:r>
              <a:rPr lang="fa-IR" sz="2400" dirty="0"/>
              <a:t> </a:t>
            </a:r>
            <a:r>
              <a:rPr lang="fa-IR" sz="2400" dirty="0" err="1"/>
              <a:t>می‌تواند</a:t>
            </a:r>
            <a:r>
              <a:rPr lang="fa-IR" sz="2400" dirty="0"/>
              <a:t> آن را به یک محدودیت </a:t>
            </a:r>
            <a:r>
              <a:rPr lang="fa-IR" sz="2400" dirty="0" err="1"/>
              <a:t>ضعیف‌تر</a:t>
            </a:r>
            <a:r>
              <a:rPr lang="fa-IR" sz="2400" dirty="0"/>
              <a:t> تبدیل کند.</a:t>
            </a:r>
          </a:p>
          <a:p>
            <a:pPr algn="r" rtl="1"/>
            <a:r>
              <a:rPr lang="fa-IR" sz="2400" dirty="0"/>
              <a:t>برای مثال، اگر داشته باشیم </a:t>
            </a:r>
            <a:r>
              <a:rPr lang="en-US" sz="2400" dirty="0"/>
              <a:t>AB → CD </a:t>
            </a:r>
            <a:r>
              <a:rPr lang="fa-IR" sz="2400" dirty="0"/>
              <a:t>و </a:t>
            </a:r>
            <a:r>
              <a:rPr lang="en-US" sz="2400" dirty="0"/>
              <a:t>C </a:t>
            </a:r>
            <a:r>
              <a:rPr lang="fa-IR" sz="2400" dirty="0"/>
              <a:t>را حذف کنیم، نتیجه ممکن است </a:t>
            </a:r>
            <a:r>
              <a:rPr lang="fa-IR" sz="2400" dirty="0" err="1"/>
              <a:t>ضعیف‌تر</a:t>
            </a:r>
            <a:r>
              <a:rPr lang="fa-IR" sz="2400" dirty="0"/>
              <a:t> باشد: </a:t>
            </a:r>
            <a:r>
              <a:rPr lang="en-US" sz="2400" dirty="0"/>
              <a:t>AB → D.</a:t>
            </a:r>
          </a:p>
          <a:p>
            <a:pPr algn="r" rtl="1"/>
            <a:r>
              <a:rPr lang="fa-IR" sz="2400" dirty="0"/>
              <a:t>ممکن است </a:t>
            </a:r>
            <a:r>
              <a:rPr lang="fa-IR" sz="2400" dirty="0" err="1"/>
              <a:t>ضعیف‌تر</a:t>
            </a:r>
            <a:r>
              <a:rPr lang="fa-IR" sz="2400" dirty="0"/>
              <a:t> باشد زیرا با استفاده از فقط </a:t>
            </a:r>
            <a:r>
              <a:rPr lang="en-US" sz="2400" dirty="0"/>
              <a:t>AB → D، </a:t>
            </a:r>
            <a:r>
              <a:rPr lang="fa-IR" sz="2400" dirty="0"/>
              <a:t>دیگر </a:t>
            </a:r>
            <a:r>
              <a:rPr lang="fa-IR" sz="2400" dirty="0" err="1"/>
              <a:t>نمی‌توانیم</a:t>
            </a:r>
            <a:r>
              <a:rPr lang="fa-IR" sz="2400" dirty="0"/>
              <a:t> </a:t>
            </a:r>
            <a:r>
              <a:rPr lang="en-US" sz="2400" dirty="0"/>
              <a:t>AB → C </a:t>
            </a:r>
            <a:r>
              <a:rPr lang="fa-IR" sz="2400" dirty="0"/>
              <a:t>را </a:t>
            </a:r>
            <a:r>
              <a:rPr lang="fa-IR" sz="2400" dirty="0" err="1"/>
              <a:t>نتیجه‌گیری</a:t>
            </a:r>
            <a:r>
              <a:rPr lang="fa-IR" sz="2400" dirty="0"/>
              <a:t> کنیم.</a:t>
            </a:r>
          </a:p>
          <a:p>
            <a:pPr algn="r" rtl="1"/>
            <a:r>
              <a:rPr lang="fa-IR" sz="2400" dirty="0"/>
              <a:t>اما، بسته به اینکه مجموعه </a:t>
            </a:r>
            <a:r>
              <a:rPr lang="en-US" sz="2400" dirty="0"/>
              <a:t>F </a:t>
            </a:r>
            <a:r>
              <a:rPr lang="fa-IR" sz="2400" dirty="0"/>
              <a:t>از </a:t>
            </a:r>
            <a:r>
              <a:rPr lang="fa-IR" sz="2400" dirty="0" err="1"/>
              <a:t>وابستگی‌های</a:t>
            </a:r>
            <a:r>
              <a:rPr lang="fa-IR" sz="2400" dirty="0"/>
              <a:t> </a:t>
            </a:r>
            <a:r>
              <a:rPr lang="fa-IR" sz="2400" dirty="0" err="1"/>
              <a:t>تابعی</a:t>
            </a:r>
            <a:r>
              <a:rPr lang="fa-IR" sz="2400" dirty="0"/>
              <a:t> چه باشد، ممکن است بتوانیم </a:t>
            </a:r>
            <a:r>
              <a:rPr lang="en-US" sz="2400" dirty="0"/>
              <a:t>C </a:t>
            </a:r>
            <a:r>
              <a:rPr lang="fa-IR" sz="2400" dirty="0"/>
              <a:t>را از </a:t>
            </a:r>
            <a:r>
              <a:rPr lang="en-US" sz="2400" dirty="0"/>
              <a:t>AB → CD </a:t>
            </a:r>
            <a:r>
              <a:rPr lang="fa-IR" sz="2400" dirty="0" err="1"/>
              <a:t>به‌طور</a:t>
            </a:r>
            <a:r>
              <a:rPr lang="fa-IR" sz="2400" dirty="0"/>
              <a:t> ایمن حذف کنیم.</a:t>
            </a:r>
          </a:p>
          <a:p>
            <a:pPr algn="r" rtl="1"/>
            <a:r>
              <a:rPr lang="fa-IR" sz="2400" dirty="0"/>
              <a:t>برای مثال، فرض کنید که</a:t>
            </a:r>
            <a:br>
              <a:rPr lang="fa-IR" sz="2400" dirty="0"/>
            </a:br>
            <a:r>
              <a:rPr lang="en-US" sz="2400" dirty="0"/>
              <a:t>F = { AB → CD, A → C }</a:t>
            </a:r>
          </a:p>
          <a:p>
            <a:pPr algn="r" rtl="1"/>
            <a:r>
              <a:rPr lang="fa-IR" sz="2400" dirty="0"/>
              <a:t>سپس </a:t>
            </a:r>
            <a:r>
              <a:rPr lang="fa-IR" sz="2400" dirty="0" err="1"/>
              <a:t>می‌توانیم</a:t>
            </a:r>
            <a:r>
              <a:rPr lang="fa-IR" sz="2400" dirty="0"/>
              <a:t> نشان دهیم که حتی پس از جایگزینی </a:t>
            </a:r>
            <a:r>
              <a:rPr lang="en-US" sz="2400" dirty="0"/>
              <a:t>AB → CD </a:t>
            </a:r>
            <a:r>
              <a:rPr lang="fa-IR" sz="2400" dirty="0"/>
              <a:t>با </a:t>
            </a:r>
            <a:r>
              <a:rPr lang="en-US" sz="2400" dirty="0"/>
              <a:t>AB → D، </a:t>
            </a:r>
            <a:r>
              <a:rPr lang="fa-IR" sz="2400" dirty="0"/>
              <a:t>هنوز </a:t>
            </a:r>
            <a:r>
              <a:rPr lang="fa-IR" sz="2400" dirty="0" err="1"/>
              <a:t>می‌توانیم</a:t>
            </a:r>
            <a:r>
              <a:rPr lang="fa-IR" sz="2400" dirty="0"/>
              <a:t> </a:t>
            </a:r>
            <a:r>
              <a:rPr lang="en-US" sz="2400" dirty="0"/>
              <a:t>AB → C </a:t>
            </a:r>
            <a:r>
              <a:rPr lang="fa-IR" sz="2400" dirty="0"/>
              <a:t>را </a:t>
            </a:r>
            <a:r>
              <a:rPr lang="fa-IR" sz="2400" dirty="0" err="1"/>
              <a:t>نتیجه‌گیری</a:t>
            </a:r>
            <a:r>
              <a:rPr lang="fa-IR" sz="2400" dirty="0"/>
              <a:t> کنیم و در نتیجه </a:t>
            </a:r>
            <a:r>
              <a:rPr lang="en-US" sz="2400" dirty="0"/>
              <a:t>AB → CD.</a:t>
            </a:r>
          </a:p>
          <a:p>
            <a:pPr algn="r" rtl="1"/>
            <a:endParaRPr lang="en-US" altLang="en-US" sz="2400"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5778" name="Rectangle 2"/>
          <p:cNvSpPr>
            <a:spLocks noGrp="1" noChangeArrowheads="1"/>
          </p:cNvSpPr>
          <p:nvPr>
            <p:ph type="title"/>
          </p:nvPr>
        </p:nvSpPr>
        <p:spPr/>
        <p:txBody>
          <a:bodyPr/>
          <a:lstStyle/>
          <a:p>
            <a:pPr>
              <a:defRPr/>
            </a:pPr>
            <a:r>
              <a:rPr lang="en-US" altLang="en-US" dirty="0">
                <a:effectLst>
                  <a:outerShdw blurRad="38100" dist="38100" dir="2700000" algn="tl">
                    <a:srgbClr val="C0C0C0"/>
                  </a:outerShdw>
                </a:effectLst>
                <a:ea typeface="ＭＳ Ｐゴシック" pitchFamily="34" charset="-128"/>
              </a:rPr>
              <a:t>Extraneous Attributes</a:t>
            </a:r>
          </a:p>
        </p:txBody>
      </p:sp>
      <mc:AlternateContent xmlns:mc="http://schemas.openxmlformats.org/markup-compatibility/2006" xmlns:a14="http://schemas.microsoft.com/office/drawing/2010/main">
        <mc:Choice Requires="a14">
          <p:sp>
            <p:nvSpPr>
              <p:cNvPr id="715779" name="Rectangle 3"/>
              <p:cNvSpPr>
                <a:spLocks noGrp="1" noChangeArrowheads="1"/>
              </p:cNvSpPr>
              <p:nvPr>
                <p:ph idx="1"/>
              </p:nvPr>
            </p:nvSpPr>
            <p:spPr>
              <a:xfrm>
                <a:off x="254000" y="1092199"/>
                <a:ext cx="8591550" cy="5648325"/>
              </a:xfrm>
            </p:spPr>
            <p:txBody>
              <a:bodyPr/>
              <a:lstStyle/>
              <a:p>
                <a:pPr algn="r" rtl="1"/>
                <a:r>
                  <a:rPr lang="fa-IR" dirty="0"/>
                  <a:t>یک صفت از یک وابستگی </a:t>
                </a:r>
                <a:r>
                  <a:rPr lang="fa-IR" dirty="0" err="1"/>
                  <a:t>تابعی</a:t>
                </a:r>
                <a:r>
                  <a:rPr lang="fa-IR" dirty="0"/>
                  <a:t> در </a:t>
                </a:r>
                <a:r>
                  <a:rPr lang="en-US" dirty="0"/>
                  <a:t>F </a:t>
                </a:r>
                <a:r>
                  <a:rPr lang="fa-IR" dirty="0" err="1"/>
                  <a:t>غیرضروری</a:t>
                </a:r>
                <a:r>
                  <a:rPr lang="fa-IR" dirty="0"/>
                  <a:t> است اگر بتوانیم آن را حذف کنیم بدون اینکه </a:t>
                </a:r>
                <a14:m>
                  <m:oMath xmlns:m="http://schemas.openxmlformats.org/officeDocument/2006/math">
                    <m:sSup>
                      <m:sSupPr>
                        <m:ctrlPr>
                          <a:rPr lang="fa-IR" i="1">
                            <a:latin typeface="Cambria Math" panose="02040503050406030204" pitchFamily="18" charset="0"/>
                          </a:rPr>
                        </m:ctrlPr>
                      </m:sSupPr>
                      <m:e>
                        <m:r>
                          <a:rPr lang="fa-IR" i="1">
                            <a:latin typeface="Cambria Math" panose="02040503050406030204" pitchFamily="18" charset="0"/>
                          </a:rPr>
                          <m:t>𝐹</m:t>
                        </m:r>
                      </m:e>
                      <m:sup>
                        <m:r>
                          <a:rPr lang="fa-IR">
                            <a:latin typeface="Cambria Math" panose="02040503050406030204" pitchFamily="18" charset="0"/>
                          </a:rPr>
                          <m:t>+</m:t>
                        </m:r>
                      </m:sup>
                    </m:sSup>
                  </m:oMath>
                </a14:m>
                <a:r>
                  <a:rPr lang="fa-IR" dirty="0"/>
                  <a:t>تغییر کند.</a:t>
                </a:r>
              </a:p>
              <a:p>
                <a:pPr algn="r" rtl="1"/>
                <a:r>
                  <a:rPr lang="fa-IR" dirty="0"/>
                  <a:t>یک مجموعه از </a:t>
                </a:r>
                <a:r>
                  <a:rPr lang="fa-IR" dirty="0" err="1"/>
                  <a:t>وابستگی‌های</a:t>
                </a:r>
                <a:r>
                  <a:rPr lang="fa-IR" dirty="0"/>
                  <a:t> </a:t>
                </a:r>
                <a:r>
                  <a:rPr lang="fa-IR" dirty="0" err="1"/>
                  <a:t>تابعی</a:t>
                </a:r>
                <a:r>
                  <a:rPr lang="fa-IR" dirty="0"/>
                  <a:t> </a:t>
                </a:r>
                <a:r>
                  <a:rPr lang="en-US" dirty="0"/>
                  <a:t>F </a:t>
                </a:r>
                <a:r>
                  <a:rPr lang="fa-IR" dirty="0"/>
                  <a:t>و وابستگی </a:t>
                </a:r>
                <a:r>
                  <a:rPr lang="fa-IR" dirty="0" err="1"/>
                  <a:t>تابعی</a:t>
                </a:r>
                <a:r>
                  <a:rPr lang="fa-IR" dirty="0"/>
                  <a:t> </a:t>
                </a:r>
                <a:r>
                  <a:rPr lang="el-GR" dirty="0"/>
                  <a:t>α → β </a:t>
                </a:r>
                <a:r>
                  <a:rPr lang="fa-IR" dirty="0"/>
                  <a:t>در </a:t>
                </a:r>
                <a:r>
                  <a:rPr lang="en-US" dirty="0"/>
                  <a:t>F </a:t>
                </a:r>
                <a:r>
                  <a:rPr lang="fa-IR" dirty="0"/>
                  <a:t>را در نظر بگیرید.</a:t>
                </a:r>
              </a:p>
              <a:p>
                <a:pPr algn="r" rtl="1"/>
                <a:r>
                  <a:rPr lang="fa-IR" dirty="0"/>
                  <a:t>حذف از سمت چپ: صفت </a:t>
                </a:r>
                <a:r>
                  <a:rPr lang="en-US" dirty="0"/>
                  <a:t>A </a:t>
                </a:r>
                <a:r>
                  <a:rPr lang="fa-IR" dirty="0"/>
                  <a:t>در </a:t>
                </a:r>
                <a:r>
                  <a:rPr lang="el-GR" dirty="0"/>
                  <a:t>α </a:t>
                </a:r>
                <a:r>
                  <a:rPr lang="fa-IR" dirty="0" err="1"/>
                  <a:t>غیرضروری</a:t>
                </a:r>
                <a:r>
                  <a:rPr lang="fa-IR" dirty="0"/>
                  <a:t> است اگر</a:t>
                </a:r>
                <a:br>
                  <a:rPr lang="fa-IR" dirty="0"/>
                </a:br>
                <a:r>
                  <a:rPr lang="en-US" dirty="0"/>
                  <a:t>A ∈ </a:t>
                </a:r>
                <a:r>
                  <a:rPr lang="el-GR" dirty="0"/>
                  <a:t>α </a:t>
                </a:r>
                <a:r>
                  <a:rPr lang="fa-IR" dirty="0"/>
                  <a:t>و</a:t>
                </a:r>
                <a:br>
                  <a:rPr lang="fa-IR" dirty="0"/>
                </a:br>
                <a:r>
                  <a:rPr lang="en-US" dirty="0"/>
                  <a:t>F </a:t>
                </a:r>
                <a:r>
                  <a:rPr lang="fa-IR" dirty="0" err="1"/>
                  <a:t>به‌طور</a:t>
                </a:r>
                <a:r>
                  <a:rPr lang="fa-IR" dirty="0"/>
                  <a:t> منطقی نتیجه </a:t>
                </a:r>
                <a:r>
                  <a:rPr lang="fa-IR" dirty="0" err="1"/>
                  <a:t>می‌دهد</a:t>
                </a:r>
                <a:r>
                  <a:rPr lang="fa-IR" dirty="0"/>
                  <a:t> که </a:t>
                </a:r>
                <a14:m>
                  <m:oMath xmlns:m="http://schemas.openxmlformats.org/officeDocument/2006/math">
                    <m:d>
                      <m:dPr>
                        <m:ctrlPr>
                          <a:rPr lang="fa-IR" i="1">
                            <a:latin typeface="Cambria Math" panose="02040503050406030204" pitchFamily="18" charset="0"/>
                          </a:rPr>
                        </m:ctrlPr>
                      </m:dPr>
                      <m:e>
                        <m:r>
                          <a:rPr lang="fa-IR" i="1">
                            <a:latin typeface="Cambria Math" panose="02040503050406030204" pitchFamily="18" charset="0"/>
                          </a:rPr>
                          <m:t>𝐹</m:t>
                        </m:r>
                        <m:r>
                          <m:rPr>
                            <m:nor/>
                          </m:rPr>
                          <a:rPr lang="fa-IR" i="1"/>
                          <m:t>–</m:t>
                        </m:r>
                        <m:d>
                          <m:dPr>
                            <m:begChr m:val="{"/>
                            <m:endChr m:val="}"/>
                            <m:ctrlPr>
                              <a:rPr lang="fa-IR" i="1">
                                <a:latin typeface="Cambria Math" panose="02040503050406030204" pitchFamily="18" charset="0"/>
                              </a:rPr>
                            </m:ctrlPr>
                          </m:dPr>
                          <m:e>
                            <m:r>
                              <a:rPr lang="fa-IR" i="1">
                                <a:latin typeface="Cambria Math" panose="02040503050406030204" pitchFamily="18" charset="0"/>
                              </a:rPr>
                              <m:t>𝛼</m:t>
                            </m:r>
                            <m:r>
                              <a:rPr lang="fa-IR">
                                <a:latin typeface="Cambria Math" panose="02040503050406030204" pitchFamily="18" charset="0"/>
                              </a:rPr>
                              <m:t>→</m:t>
                            </m:r>
                            <m:r>
                              <a:rPr lang="fa-IR" i="1">
                                <a:latin typeface="Cambria Math" panose="02040503050406030204" pitchFamily="18" charset="0"/>
                              </a:rPr>
                              <m:t>𝛽</m:t>
                            </m:r>
                          </m:e>
                        </m:d>
                      </m:e>
                    </m:d>
                    <m:r>
                      <a:rPr lang="fa-IR">
                        <a:latin typeface="Cambria Math" panose="02040503050406030204" pitchFamily="18" charset="0"/>
                      </a:rPr>
                      <m:t>∪</m:t>
                    </m:r>
                    <m:d>
                      <m:dPr>
                        <m:begChr m:val="{"/>
                        <m:endChr m:val="}"/>
                        <m:ctrlPr>
                          <a:rPr lang="fa-IR" i="1">
                            <a:latin typeface="Cambria Math" panose="02040503050406030204" pitchFamily="18" charset="0"/>
                          </a:rPr>
                        </m:ctrlPr>
                      </m:dPr>
                      <m:e>
                        <m:d>
                          <m:dPr>
                            <m:ctrlPr>
                              <a:rPr lang="fa-IR" i="1">
                                <a:latin typeface="Cambria Math" panose="02040503050406030204" pitchFamily="18" charset="0"/>
                              </a:rPr>
                            </m:ctrlPr>
                          </m:dPr>
                          <m:e>
                            <m:r>
                              <a:rPr lang="fa-IR" i="1">
                                <a:latin typeface="Cambria Math" panose="02040503050406030204" pitchFamily="18" charset="0"/>
                              </a:rPr>
                              <m:t>𝛼</m:t>
                            </m:r>
                            <m:r>
                              <m:rPr>
                                <m:nor/>
                              </m:rPr>
                              <a:rPr lang="fa-IR" i="1"/>
                              <m:t>–</m:t>
                            </m:r>
                            <m:r>
                              <a:rPr lang="fa-IR" i="1">
                                <a:latin typeface="Cambria Math" panose="02040503050406030204" pitchFamily="18" charset="0"/>
                              </a:rPr>
                              <m:t>𝐴</m:t>
                            </m:r>
                          </m:e>
                        </m:d>
                        <m:r>
                          <a:rPr lang="fa-IR">
                            <a:latin typeface="Cambria Math" panose="02040503050406030204" pitchFamily="18" charset="0"/>
                          </a:rPr>
                          <m:t>→</m:t>
                        </m:r>
                        <m:r>
                          <a:rPr lang="fa-IR" i="1">
                            <a:latin typeface="Cambria Math" panose="02040503050406030204" pitchFamily="18" charset="0"/>
                          </a:rPr>
                          <m:t>𝛽</m:t>
                        </m:r>
                      </m:e>
                    </m:d>
                  </m:oMath>
                </a14:m>
                <a:r>
                  <a:rPr lang="fa-IR" dirty="0"/>
                  <a:t>.</a:t>
                </a:r>
              </a:p>
              <a:p>
                <a:pPr algn="r" rtl="1"/>
                <a:r>
                  <a:rPr lang="fa-IR" dirty="0"/>
                  <a:t>حذف از سمت راست: صفت </a:t>
                </a:r>
                <a:r>
                  <a:rPr lang="en-US" dirty="0"/>
                  <a:t>A </a:t>
                </a:r>
                <a:r>
                  <a:rPr lang="fa-IR" dirty="0"/>
                  <a:t>در </a:t>
                </a:r>
                <a:r>
                  <a:rPr lang="el-GR" dirty="0"/>
                  <a:t>β </a:t>
                </a:r>
                <a:r>
                  <a:rPr lang="fa-IR" dirty="0" err="1"/>
                  <a:t>غیرضروری</a:t>
                </a:r>
                <a:r>
                  <a:rPr lang="fa-IR" dirty="0"/>
                  <a:t> است اگر</a:t>
                </a:r>
                <a:br>
                  <a:rPr lang="fa-IR" dirty="0"/>
                </a:br>
                <a:r>
                  <a:rPr lang="en-US" dirty="0"/>
                  <a:t>A ∈ </a:t>
                </a:r>
                <a:r>
                  <a:rPr lang="el-GR" dirty="0"/>
                  <a:t>β </a:t>
                </a:r>
                <a:r>
                  <a:rPr lang="fa-IR" dirty="0"/>
                  <a:t>و</a:t>
                </a:r>
                <a:br>
                  <a:rPr lang="fa-IR" dirty="0"/>
                </a:br>
                <a:r>
                  <a:rPr lang="fa-IR" dirty="0"/>
                  <a:t>مجموعه </a:t>
                </a:r>
                <a:r>
                  <a:rPr lang="fa-IR" dirty="0" err="1"/>
                  <a:t>وابستگی‌های</a:t>
                </a:r>
                <a:r>
                  <a:rPr lang="fa-IR" dirty="0"/>
                  <a:t> </a:t>
                </a:r>
                <a:r>
                  <a:rPr lang="fa-IR" dirty="0" err="1"/>
                  <a:t>تابعی</a:t>
                </a:r>
                <a:br>
                  <a:rPr lang="fa-IR" dirty="0"/>
                </a:br>
                <a14:m>
                  <m:oMath xmlns:m="http://schemas.openxmlformats.org/officeDocument/2006/math">
                    <m:d>
                      <m:dPr>
                        <m:ctrlPr>
                          <a:rPr lang="fa-IR" i="1">
                            <a:latin typeface="Cambria Math" panose="02040503050406030204" pitchFamily="18" charset="0"/>
                          </a:rPr>
                        </m:ctrlPr>
                      </m:dPr>
                      <m:e>
                        <m:r>
                          <a:rPr lang="fa-IR" i="1">
                            <a:latin typeface="Cambria Math" panose="02040503050406030204" pitchFamily="18" charset="0"/>
                          </a:rPr>
                          <m:t>𝐹</m:t>
                        </m:r>
                        <m:r>
                          <m:rPr>
                            <m:nor/>
                          </m:rPr>
                          <a:rPr lang="fa-IR" i="1"/>
                          <m:t>–</m:t>
                        </m:r>
                        <m:d>
                          <m:dPr>
                            <m:begChr m:val="{"/>
                            <m:endChr m:val="}"/>
                            <m:ctrlPr>
                              <a:rPr lang="fa-IR" i="1">
                                <a:latin typeface="Cambria Math" panose="02040503050406030204" pitchFamily="18" charset="0"/>
                              </a:rPr>
                            </m:ctrlPr>
                          </m:dPr>
                          <m:e>
                            <m:r>
                              <a:rPr lang="fa-IR" i="1">
                                <a:latin typeface="Cambria Math" panose="02040503050406030204" pitchFamily="18" charset="0"/>
                              </a:rPr>
                              <m:t>𝛼</m:t>
                            </m:r>
                            <m:r>
                              <a:rPr lang="fa-IR">
                                <a:latin typeface="Cambria Math" panose="02040503050406030204" pitchFamily="18" charset="0"/>
                              </a:rPr>
                              <m:t>→</m:t>
                            </m:r>
                            <m:r>
                              <a:rPr lang="fa-IR" i="1">
                                <a:latin typeface="Cambria Math" panose="02040503050406030204" pitchFamily="18" charset="0"/>
                              </a:rPr>
                              <m:t>𝛽</m:t>
                            </m:r>
                          </m:e>
                        </m:d>
                      </m:e>
                    </m:d>
                    <m:r>
                      <a:rPr lang="fa-IR">
                        <a:latin typeface="Cambria Math" panose="02040503050406030204" pitchFamily="18" charset="0"/>
                      </a:rPr>
                      <m:t>∪</m:t>
                    </m:r>
                    <m:d>
                      <m:dPr>
                        <m:begChr m:val="{"/>
                        <m:endChr m:val="}"/>
                        <m:ctrlPr>
                          <a:rPr lang="fa-IR" i="1">
                            <a:latin typeface="Cambria Math" panose="02040503050406030204" pitchFamily="18" charset="0"/>
                          </a:rPr>
                        </m:ctrlPr>
                      </m:dPr>
                      <m:e>
                        <m:r>
                          <a:rPr lang="fa-IR" i="1">
                            <a:latin typeface="Cambria Math" panose="02040503050406030204" pitchFamily="18" charset="0"/>
                          </a:rPr>
                          <m:t>𝛼</m:t>
                        </m:r>
                        <m:r>
                          <a:rPr lang="fa-IR">
                            <a:latin typeface="Cambria Math" panose="02040503050406030204" pitchFamily="18" charset="0"/>
                          </a:rPr>
                          <m:t>→</m:t>
                        </m:r>
                        <m:d>
                          <m:dPr>
                            <m:ctrlPr>
                              <a:rPr lang="fa-IR" i="1">
                                <a:latin typeface="Cambria Math" panose="02040503050406030204" pitchFamily="18" charset="0"/>
                              </a:rPr>
                            </m:ctrlPr>
                          </m:dPr>
                          <m:e>
                            <m:r>
                              <a:rPr lang="fa-IR" i="1">
                                <a:latin typeface="Cambria Math" panose="02040503050406030204" pitchFamily="18" charset="0"/>
                              </a:rPr>
                              <m:t>𝛽</m:t>
                            </m:r>
                            <m:r>
                              <m:rPr>
                                <m:nor/>
                              </m:rPr>
                              <a:rPr lang="fa-IR" i="1"/>
                              <m:t>–</m:t>
                            </m:r>
                            <m:r>
                              <a:rPr lang="fa-IR" i="1">
                                <a:latin typeface="Cambria Math" panose="02040503050406030204" pitchFamily="18" charset="0"/>
                              </a:rPr>
                              <m:t>𝐴</m:t>
                            </m:r>
                          </m:e>
                        </m:d>
                      </m:e>
                    </m:d>
                  </m:oMath>
                </a14:m>
                <a:r>
                  <a:rPr lang="fa-IR" dirty="0" err="1"/>
                  <a:t>به‌طور</a:t>
                </a:r>
                <a:r>
                  <a:rPr lang="fa-IR" dirty="0"/>
                  <a:t> منطقی </a:t>
                </a:r>
                <a:r>
                  <a:rPr lang="en-US" dirty="0"/>
                  <a:t>F </a:t>
                </a:r>
                <a:r>
                  <a:rPr lang="fa-IR" dirty="0"/>
                  <a:t>را نتیجه دهد.</a:t>
                </a:r>
              </a:p>
              <a:p>
                <a:pPr algn="r" rtl="1"/>
                <a:r>
                  <a:rPr lang="fa-IR" dirty="0"/>
                  <a:t>توجه: </a:t>
                </a:r>
                <a:r>
                  <a:rPr lang="fa-IR" dirty="0" err="1"/>
                  <a:t>نتیجه‌گیری</a:t>
                </a:r>
                <a:r>
                  <a:rPr lang="fa-IR" dirty="0"/>
                  <a:t> در جهت مخالف در هر یک از موارد بالا بدیهی است، زیرا یک وابستگی </a:t>
                </a:r>
                <a:r>
                  <a:rPr lang="fa-IR" dirty="0" err="1"/>
                  <a:t>تابعی</a:t>
                </a:r>
                <a:r>
                  <a:rPr lang="fa-IR" dirty="0"/>
                  <a:t> «</a:t>
                </a:r>
                <a:r>
                  <a:rPr lang="fa-IR" dirty="0" err="1"/>
                  <a:t>قوی‌تر</a:t>
                </a:r>
                <a:r>
                  <a:rPr lang="fa-IR" dirty="0"/>
                  <a:t>» همیشه یک وابستگی </a:t>
                </a:r>
                <a:r>
                  <a:rPr lang="fa-IR" dirty="0" err="1"/>
                  <a:t>ضعیف‌تر</a:t>
                </a:r>
                <a:r>
                  <a:rPr lang="fa-IR" dirty="0"/>
                  <a:t> را نتیجه </a:t>
                </a:r>
                <a:r>
                  <a:rPr lang="fa-IR" dirty="0" err="1"/>
                  <a:t>می‌دهد</a:t>
                </a:r>
                <a:r>
                  <a:rPr lang="fa-IR" dirty="0"/>
                  <a:t>.</a:t>
                </a:r>
              </a:p>
              <a:p>
                <a:pPr algn="r" rtl="1"/>
                <a:endParaRPr lang="en-US" altLang="ja-JP" dirty="0">
                  <a:sym typeface="Greek Symbols"/>
                </a:endParaRPr>
              </a:p>
            </p:txBody>
          </p:sp>
        </mc:Choice>
        <mc:Fallback xmlns="">
          <p:sp>
            <p:nvSpPr>
              <p:cNvPr id="715779" name="Rectangle 3"/>
              <p:cNvSpPr>
                <a:spLocks noGrp="1" noRot="1" noChangeAspect="1" noMove="1" noResize="1" noEditPoints="1" noAdjustHandles="1" noChangeArrowheads="1" noChangeShapeType="1" noTextEdit="1"/>
              </p:cNvSpPr>
              <p:nvPr>
                <p:ph idx="1"/>
              </p:nvPr>
            </p:nvSpPr>
            <p:spPr>
              <a:xfrm>
                <a:off x="254000" y="1092199"/>
                <a:ext cx="8591550" cy="5648325"/>
              </a:xfrm>
              <a:blipFill>
                <a:blip r:embed="rId3"/>
                <a:stretch>
                  <a:fillRect l="-710" t="-1294" r="-852"/>
                </a:stretch>
              </a:blipFill>
            </p:spPr>
            <p:txBody>
              <a:bodyPr/>
              <a:lstStyle/>
              <a:p>
                <a:r>
                  <a:rPr lang="en-US">
                    <a:noFill/>
                  </a:rPr>
                  <a:t> </a:t>
                </a:r>
              </a:p>
            </p:txBody>
          </p:sp>
        </mc:Fallback>
      </mc:AlternateContent>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717826" name="Rectangle 2"/>
          <p:cNvSpPr>
            <a:spLocks noGrp="1" noChangeArrowheads="1"/>
          </p:cNvSpPr>
          <p:nvPr>
            <p:ph type="title"/>
          </p:nvPr>
        </p:nvSpPr>
        <p:spPr>
          <a:xfrm>
            <a:off x="1123950" y="128821"/>
            <a:ext cx="7685088" cy="609600"/>
          </a:xfrm>
        </p:spPr>
        <p:txBody>
          <a:bodyPr/>
          <a:lstStyle/>
          <a:p>
            <a:pPr>
              <a:defRPr/>
            </a:pPr>
            <a:r>
              <a:rPr lang="en-US" altLang="en-US" dirty="0">
                <a:effectLst>
                  <a:outerShdw blurRad="38100" dist="38100" dir="2700000" algn="tl">
                    <a:srgbClr val="C0C0C0"/>
                  </a:outerShdw>
                </a:effectLst>
                <a:ea typeface="ＭＳ Ｐゴシック" pitchFamily="34" charset="-128"/>
              </a:rPr>
              <a:t>Testing if an Attribute is Extraneous</a:t>
            </a:r>
          </a:p>
        </p:txBody>
      </p:sp>
      <mc:AlternateContent xmlns:mc="http://schemas.openxmlformats.org/markup-compatibility/2006" xmlns:a14="http://schemas.microsoft.com/office/drawing/2010/main">
        <mc:Choice Requires="a14">
          <p:sp>
            <p:nvSpPr>
              <p:cNvPr id="55299" name="Rectangle 3"/>
              <p:cNvSpPr>
                <a:spLocks noGrp="1" noChangeArrowheads="1"/>
              </p:cNvSpPr>
              <p:nvPr>
                <p:ph idx="1"/>
              </p:nvPr>
            </p:nvSpPr>
            <p:spPr>
              <a:xfrm>
                <a:off x="772357" y="1093789"/>
                <a:ext cx="7493339" cy="3706811"/>
              </a:xfrm>
            </p:spPr>
            <p:txBody>
              <a:bodyPr/>
              <a:lstStyle/>
              <a:p>
                <a:pPr algn="r" rtl="1"/>
                <a:r>
                  <a:rPr lang="fa-IR" sz="2400" dirty="0"/>
                  <a:t>فرض کنید </a:t>
                </a:r>
                <a14:m>
                  <m:oMath xmlns:m="http://schemas.openxmlformats.org/officeDocument/2006/math">
                    <m:r>
                      <a:rPr lang="fa-IR" sz="2400" i="1">
                        <a:latin typeface="Cambria Math" panose="02040503050406030204" pitchFamily="18" charset="0"/>
                      </a:rPr>
                      <m:t>𝑅</m:t>
                    </m:r>
                  </m:oMath>
                </a14:m>
                <a:r>
                  <a:rPr lang="fa-IR" sz="2400" dirty="0"/>
                  <a:t>یک طرح </a:t>
                </a:r>
                <a:r>
                  <a:rPr lang="fa-IR" sz="2400" dirty="0" err="1"/>
                  <a:t>رابطه‌ای</a:t>
                </a:r>
                <a:r>
                  <a:rPr lang="fa-IR" sz="2400" dirty="0"/>
                  <a:t> باشد و </a:t>
                </a:r>
                <a14:m>
                  <m:oMath xmlns:m="http://schemas.openxmlformats.org/officeDocument/2006/math">
                    <m:r>
                      <a:rPr lang="fa-IR" sz="2400" i="1">
                        <a:latin typeface="Cambria Math" panose="02040503050406030204" pitchFamily="18" charset="0"/>
                      </a:rPr>
                      <m:t>𝐹</m:t>
                    </m:r>
                  </m:oMath>
                </a14:m>
                <a:r>
                  <a:rPr lang="fa-IR" sz="2400" dirty="0" err="1"/>
                  <a:t>مجموعه‌ای</a:t>
                </a:r>
                <a:r>
                  <a:rPr lang="fa-IR" sz="2400" dirty="0"/>
                  <a:t> از </a:t>
                </a:r>
                <a:r>
                  <a:rPr lang="fa-IR" sz="2400" dirty="0" err="1"/>
                  <a:t>وابستگی‌های</a:t>
                </a:r>
                <a:r>
                  <a:rPr lang="fa-IR" sz="2400" dirty="0"/>
                  <a:t> </a:t>
                </a:r>
                <a:r>
                  <a:rPr lang="fa-IR" sz="2400" dirty="0" err="1"/>
                  <a:t>تابعی</a:t>
                </a:r>
                <a:r>
                  <a:rPr lang="fa-IR" sz="2400" dirty="0"/>
                  <a:t> باشد که روی </a:t>
                </a:r>
                <a14:m>
                  <m:oMath xmlns:m="http://schemas.openxmlformats.org/officeDocument/2006/math">
                    <m:r>
                      <a:rPr lang="fa-IR" sz="2400" i="1">
                        <a:latin typeface="Cambria Math" panose="02040503050406030204" pitchFamily="18" charset="0"/>
                      </a:rPr>
                      <m:t>𝑅</m:t>
                    </m:r>
                  </m:oMath>
                </a14:m>
                <a:r>
                  <a:rPr lang="fa-IR" sz="2400" dirty="0" err="1"/>
                  <a:t>برقرارند</a:t>
                </a:r>
                <a:r>
                  <a:rPr lang="fa-IR" sz="2400" dirty="0"/>
                  <a:t>.</a:t>
                </a:r>
                <a:br>
                  <a:rPr lang="fa-IR" sz="2400" dirty="0"/>
                </a:br>
                <a:r>
                  <a:rPr lang="fa-IR" sz="2400" dirty="0"/>
                  <a:t>یک صفت در وابستگی </a:t>
                </a:r>
                <a:r>
                  <a:rPr lang="fa-IR" sz="2400" dirty="0" err="1"/>
                  <a:t>تابعی</a:t>
                </a:r>
                <a:r>
                  <a:rPr lang="fa-IR" sz="2400" dirty="0"/>
                  <a:t> </a:t>
                </a:r>
                <a:r>
                  <a:rPr lang="el-GR" sz="2400" dirty="0"/>
                  <a:t>α → β </a:t>
                </a:r>
                <a:r>
                  <a:rPr lang="fa-IR" sz="2400" dirty="0"/>
                  <a:t>را در نظر بگیرید.</a:t>
                </a:r>
              </a:p>
              <a:p>
                <a:pPr algn="r" rtl="1"/>
                <a:r>
                  <a:rPr lang="fa-IR" sz="2400" dirty="0"/>
                  <a:t>برای آزمایش اینکه آیا صفت </a:t>
                </a:r>
                <a:r>
                  <a:rPr lang="en-US" sz="2400" dirty="0"/>
                  <a:t>A ∈ </a:t>
                </a:r>
                <a:r>
                  <a:rPr lang="el-GR" sz="2400" dirty="0"/>
                  <a:t>β </a:t>
                </a:r>
                <a:r>
                  <a:rPr lang="fa-IR" sz="2400" dirty="0"/>
                  <a:t>در </a:t>
                </a:r>
                <a:r>
                  <a:rPr lang="el-GR" sz="2400" dirty="0"/>
                  <a:t>β </a:t>
                </a:r>
                <a:r>
                  <a:rPr lang="fa-IR" sz="2400" dirty="0" err="1"/>
                  <a:t>غیرضروری</a:t>
                </a:r>
                <a:r>
                  <a:rPr lang="fa-IR" sz="2400" dirty="0"/>
                  <a:t> است:</a:t>
                </a:r>
                <a:br>
                  <a:rPr lang="fa-IR" sz="2400" dirty="0"/>
                </a:br>
                <a:r>
                  <a:rPr lang="fa-IR" sz="2400" dirty="0"/>
                  <a:t>مجموعه زیر را در نظر بگیرید:</a:t>
                </a:r>
                <a:br>
                  <a:rPr lang="fa-IR" sz="2400" dirty="0"/>
                </a:br>
                <a14:m>
                  <m:oMath xmlns:m="http://schemas.openxmlformats.org/officeDocument/2006/math">
                    <m:sSup>
                      <m:sSupPr>
                        <m:ctrlPr>
                          <a:rPr lang="fa-IR" sz="2400" i="1">
                            <a:latin typeface="Cambria Math" panose="02040503050406030204" pitchFamily="18" charset="0"/>
                          </a:rPr>
                        </m:ctrlPr>
                      </m:sSupPr>
                      <m:e>
                        <m:r>
                          <a:rPr lang="fa-IR" sz="2400" i="1">
                            <a:latin typeface="Cambria Math" panose="02040503050406030204" pitchFamily="18" charset="0"/>
                          </a:rPr>
                          <m:t>𝐹</m:t>
                        </m:r>
                      </m:e>
                      <m:sup>
                        <m:r>
                          <a:rPr lang="fa-IR" sz="2400">
                            <a:latin typeface="Cambria Math" panose="02040503050406030204" pitchFamily="18" charset="0"/>
                          </a:rPr>
                          <m:t>′</m:t>
                        </m:r>
                      </m:sup>
                    </m:sSup>
                    <m:r>
                      <a:rPr lang="fa-IR" sz="2400">
                        <a:latin typeface="Cambria Math" panose="02040503050406030204" pitchFamily="18" charset="0"/>
                      </a:rPr>
                      <m:t>=</m:t>
                    </m:r>
                    <m:d>
                      <m:dPr>
                        <m:ctrlPr>
                          <a:rPr lang="fa-IR" sz="2400" i="1">
                            <a:latin typeface="Cambria Math" panose="02040503050406030204" pitchFamily="18" charset="0"/>
                          </a:rPr>
                        </m:ctrlPr>
                      </m:dPr>
                      <m:e>
                        <m:r>
                          <a:rPr lang="fa-IR" sz="2400" i="1">
                            <a:latin typeface="Cambria Math" panose="02040503050406030204" pitchFamily="18" charset="0"/>
                          </a:rPr>
                          <m:t>𝐹</m:t>
                        </m:r>
                        <m:r>
                          <m:rPr>
                            <m:nor/>
                          </m:rPr>
                          <a:rPr lang="fa-IR" sz="2400" i="1"/>
                          <m:t>–</m:t>
                        </m:r>
                        <m:d>
                          <m:dPr>
                            <m:begChr m:val="{"/>
                            <m:endChr m:val="}"/>
                            <m:ctrlPr>
                              <a:rPr lang="fa-IR" sz="2400" i="1">
                                <a:latin typeface="Cambria Math" panose="02040503050406030204" pitchFamily="18" charset="0"/>
                              </a:rPr>
                            </m:ctrlPr>
                          </m:dPr>
                          <m:e>
                            <m:r>
                              <a:rPr lang="fa-IR" sz="2400" i="1">
                                <a:latin typeface="Cambria Math" panose="02040503050406030204" pitchFamily="18" charset="0"/>
                              </a:rPr>
                              <m:t>𝛼</m:t>
                            </m:r>
                            <m:r>
                              <a:rPr lang="fa-IR" sz="2400">
                                <a:latin typeface="Cambria Math" panose="02040503050406030204" pitchFamily="18" charset="0"/>
                              </a:rPr>
                              <m:t>→</m:t>
                            </m:r>
                            <m:r>
                              <a:rPr lang="fa-IR" sz="2400" i="1">
                                <a:latin typeface="Cambria Math" panose="02040503050406030204" pitchFamily="18" charset="0"/>
                              </a:rPr>
                              <m:t>𝛽</m:t>
                            </m:r>
                          </m:e>
                        </m:d>
                      </m:e>
                    </m:d>
                    <m:r>
                      <a:rPr lang="fa-IR" sz="2400">
                        <a:latin typeface="Cambria Math" panose="02040503050406030204" pitchFamily="18" charset="0"/>
                      </a:rPr>
                      <m:t>∪</m:t>
                    </m:r>
                    <m:d>
                      <m:dPr>
                        <m:begChr m:val="{"/>
                        <m:endChr m:val="}"/>
                        <m:ctrlPr>
                          <a:rPr lang="fa-IR" sz="2400" i="1">
                            <a:latin typeface="Cambria Math" panose="02040503050406030204" pitchFamily="18" charset="0"/>
                          </a:rPr>
                        </m:ctrlPr>
                      </m:dPr>
                      <m:e>
                        <m:r>
                          <a:rPr lang="fa-IR" sz="2400" i="1">
                            <a:latin typeface="Cambria Math" panose="02040503050406030204" pitchFamily="18" charset="0"/>
                          </a:rPr>
                          <m:t>𝛼</m:t>
                        </m:r>
                        <m:r>
                          <a:rPr lang="fa-IR" sz="2400">
                            <a:latin typeface="Cambria Math" panose="02040503050406030204" pitchFamily="18" charset="0"/>
                          </a:rPr>
                          <m:t>→</m:t>
                        </m:r>
                        <m:d>
                          <m:dPr>
                            <m:ctrlPr>
                              <a:rPr lang="fa-IR" sz="2400" i="1">
                                <a:latin typeface="Cambria Math" panose="02040503050406030204" pitchFamily="18" charset="0"/>
                              </a:rPr>
                            </m:ctrlPr>
                          </m:dPr>
                          <m:e>
                            <m:r>
                              <a:rPr lang="fa-IR" sz="2400" i="1">
                                <a:latin typeface="Cambria Math" panose="02040503050406030204" pitchFamily="18" charset="0"/>
                              </a:rPr>
                              <m:t>𝛽</m:t>
                            </m:r>
                            <m:r>
                              <m:rPr>
                                <m:nor/>
                              </m:rPr>
                              <a:rPr lang="fa-IR" sz="2400" i="1"/>
                              <m:t>–</m:t>
                            </m:r>
                            <m:r>
                              <a:rPr lang="fa-IR" sz="2400" i="1">
                                <a:latin typeface="Cambria Math" panose="02040503050406030204" pitchFamily="18" charset="0"/>
                              </a:rPr>
                              <m:t>𝐴</m:t>
                            </m:r>
                          </m:e>
                        </m:d>
                      </m:e>
                    </m:d>
                  </m:oMath>
                </a14:m>
                <a:br>
                  <a:rPr lang="fa-IR" sz="2400" dirty="0"/>
                </a:br>
                <a:r>
                  <a:rPr lang="fa-IR" sz="2400" dirty="0"/>
                  <a:t>بررسی کنید که آیا </a:t>
                </a:r>
                <a:r>
                  <a:rPr lang="el-GR" sz="2400" dirty="0"/>
                  <a:t>α⁺ </a:t>
                </a:r>
                <a:r>
                  <a:rPr lang="fa-IR" sz="2400" dirty="0"/>
                  <a:t>شامل </a:t>
                </a:r>
                <a:r>
                  <a:rPr lang="en-US" sz="2400" dirty="0"/>
                  <a:t>A </a:t>
                </a:r>
                <a:r>
                  <a:rPr lang="fa-IR" sz="2400" dirty="0"/>
                  <a:t>است یا خیر؛ اگر شامل باشد، </a:t>
                </a:r>
                <a:r>
                  <a:rPr lang="en-US" sz="2400" dirty="0"/>
                  <a:t>A </a:t>
                </a:r>
                <a:r>
                  <a:rPr lang="fa-IR" sz="2400" dirty="0"/>
                  <a:t>در </a:t>
                </a:r>
                <a:r>
                  <a:rPr lang="el-GR" sz="2400" dirty="0"/>
                  <a:t>β </a:t>
                </a:r>
                <a:r>
                  <a:rPr lang="fa-IR" sz="2400" dirty="0" err="1"/>
                  <a:t>غیرضروری</a:t>
                </a:r>
                <a:r>
                  <a:rPr lang="fa-IR" sz="2400" dirty="0"/>
                  <a:t> است.</a:t>
                </a:r>
              </a:p>
              <a:p>
                <a:pPr algn="r" rtl="1"/>
                <a:r>
                  <a:rPr lang="fa-IR" sz="2400" dirty="0"/>
                  <a:t>برای آزمایش اینکه آیا صفت </a:t>
                </a:r>
                <a:r>
                  <a:rPr lang="en-US" sz="2400" dirty="0"/>
                  <a:t>A ∈ </a:t>
                </a:r>
                <a:r>
                  <a:rPr lang="el-GR" sz="2400" dirty="0"/>
                  <a:t>α </a:t>
                </a:r>
                <a:r>
                  <a:rPr lang="fa-IR" sz="2400" dirty="0"/>
                  <a:t>در </a:t>
                </a:r>
                <a:r>
                  <a:rPr lang="el-GR" sz="2400" dirty="0"/>
                  <a:t>α </a:t>
                </a:r>
                <a:r>
                  <a:rPr lang="fa-IR" sz="2400" dirty="0" err="1"/>
                  <a:t>غیرضروری</a:t>
                </a:r>
                <a:r>
                  <a:rPr lang="fa-IR" sz="2400" dirty="0"/>
                  <a:t> است:</a:t>
                </a:r>
                <a:br>
                  <a:rPr lang="fa-IR" sz="2400" dirty="0"/>
                </a:br>
                <a:r>
                  <a:rPr lang="fa-IR" sz="2400" dirty="0"/>
                  <a:t>بگذارید </a:t>
                </a:r>
                <a:r>
                  <a:rPr lang="el-GR" sz="2400" dirty="0"/>
                  <a:t>γ = α – {</a:t>
                </a:r>
                <a:r>
                  <a:rPr lang="en-US" sz="2400" dirty="0"/>
                  <a:t>A}. </a:t>
                </a:r>
                <a:r>
                  <a:rPr lang="fa-IR" sz="2400" dirty="0"/>
                  <a:t>بررسی کنید که آیا </a:t>
                </a:r>
                <a:r>
                  <a:rPr lang="el-GR" sz="2400" dirty="0"/>
                  <a:t>γ → β </a:t>
                </a:r>
                <a:r>
                  <a:rPr lang="fa-IR" sz="2400" dirty="0"/>
                  <a:t>را </a:t>
                </a:r>
                <a:r>
                  <a:rPr lang="fa-IR" sz="2400" dirty="0" err="1"/>
                  <a:t>می‌توان</a:t>
                </a:r>
                <a:r>
                  <a:rPr lang="fa-IR" sz="2400" dirty="0"/>
                  <a:t> از </a:t>
                </a:r>
                <a:r>
                  <a:rPr lang="en-US" sz="2400" dirty="0"/>
                  <a:t>F </a:t>
                </a:r>
                <a:r>
                  <a:rPr lang="fa-IR" sz="2400" dirty="0"/>
                  <a:t>نتیجه گرفت یا خیر.</a:t>
                </a:r>
                <a:br>
                  <a:rPr lang="fa-IR" sz="2400" dirty="0"/>
                </a:br>
                <a:r>
                  <a:rPr lang="el-GR" sz="2400" dirty="0"/>
                  <a:t>γ⁺ </a:t>
                </a:r>
                <a:r>
                  <a:rPr lang="fa-IR" sz="2400" dirty="0"/>
                  <a:t>را با استفاده از </a:t>
                </a:r>
                <a:r>
                  <a:rPr lang="fa-IR" sz="2400" dirty="0" err="1"/>
                  <a:t>وابستگی‌های</a:t>
                </a:r>
                <a:r>
                  <a:rPr lang="fa-IR" sz="2400" dirty="0"/>
                  <a:t> موجود در </a:t>
                </a:r>
                <a:r>
                  <a:rPr lang="en-US" sz="2400" dirty="0"/>
                  <a:t>F </a:t>
                </a:r>
                <a:r>
                  <a:rPr lang="fa-IR" sz="2400" dirty="0"/>
                  <a:t>محاسبه کنید.</a:t>
                </a:r>
                <a:br>
                  <a:rPr lang="fa-IR" sz="2400" dirty="0"/>
                </a:br>
                <a:r>
                  <a:rPr lang="fa-IR" sz="2400" dirty="0"/>
                  <a:t>اگر </a:t>
                </a:r>
                <a:r>
                  <a:rPr lang="el-GR" sz="2400" dirty="0"/>
                  <a:t>γ⁺ </a:t>
                </a:r>
                <a:r>
                  <a:rPr lang="fa-IR" sz="2400" dirty="0"/>
                  <a:t>شامل تمام </a:t>
                </a:r>
                <a:r>
                  <a:rPr lang="fa-IR" sz="2400" dirty="0" err="1"/>
                  <a:t>صفت‌های</a:t>
                </a:r>
                <a:r>
                  <a:rPr lang="fa-IR" sz="2400" dirty="0"/>
                  <a:t> </a:t>
                </a:r>
                <a:r>
                  <a:rPr lang="el-GR" sz="2400" dirty="0"/>
                  <a:t>β </a:t>
                </a:r>
                <a:r>
                  <a:rPr lang="fa-IR" sz="2400" dirty="0"/>
                  <a:t>باشد، آنگاه </a:t>
                </a:r>
                <a:r>
                  <a:rPr lang="en-US" sz="2400" dirty="0"/>
                  <a:t>A </a:t>
                </a:r>
                <a:r>
                  <a:rPr lang="fa-IR" sz="2400" dirty="0"/>
                  <a:t>در </a:t>
                </a:r>
                <a:r>
                  <a:rPr lang="el-GR" sz="2400" dirty="0"/>
                  <a:t>α </a:t>
                </a:r>
                <a:r>
                  <a:rPr lang="fa-IR" sz="2400" dirty="0" err="1"/>
                  <a:t>غیرضروری</a:t>
                </a:r>
                <a:r>
                  <a:rPr lang="fa-IR" sz="2400" dirty="0"/>
                  <a:t> است.</a:t>
                </a:r>
              </a:p>
              <a:p>
                <a:pPr marL="381000" indent="-381000" algn="r" rtl="1">
                  <a:buFont typeface="Monotype Sorts" pitchFamily="-84" charset="2"/>
                  <a:buNone/>
                </a:pPr>
                <a:endParaRPr lang="en-US" altLang="en-US" sz="2400" dirty="0">
                  <a:sym typeface="Greek Symbols"/>
                </a:endParaRPr>
              </a:p>
            </p:txBody>
          </p:sp>
        </mc:Choice>
        <mc:Fallback xmlns="">
          <p:sp>
            <p:nvSpPr>
              <p:cNvPr id="55299" name="Rectangle 3"/>
              <p:cNvSpPr>
                <a:spLocks noGrp="1" noRot="1" noChangeAspect="1" noMove="1" noResize="1" noEditPoints="1" noAdjustHandles="1" noChangeArrowheads="1" noChangeShapeType="1" noTextEdit="1"/>
              </p:cNvSpPr>
              <p:nvPr>
                <p:ph idx="1"/>
              </p:nvPr>
            </p:nvSpPr>
            <p:spPr>
              <a:xfrm>
                <a:off x="772357" y="1093789"/>
                <a:ext cx="7493339" cy="3706811"/>
              </a:xfrm>
              <a:blipFill>
                <a:blip r:embed="rId3"/>
                <a:stretch>
                  <a:fillRect l="-488" t="-2463" r="-1383" b="-43678"/>
                </a:stretch>
              </a:blipFill>
            </p:spPr>
            <p:txBody>
              <a:bodyPr/>
              <a:lstStyle/>
              <a:p>
                <a:r>
                  <a:rPr lang="en-US">
                    <a:noFill/>
                  </a:rPr>
                  <a:t> </a:t>
                </a:r>
              </a:p>
            </p:txBody>
          </p:sp>
        </mc:Fallback>
      </mc:AlternateContent>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8FE004-DF96-D4B7-8428-65DD39EFD994}"/>
              </a:ext>
            </a:extLst>
          </p:cNvPr>
          <p:cNvSpPr>
            <a:spLocks noGrp="1"/>
          </p:cNvSpPr>
          <p:nvPr>
            <p:ph type="ctrTitle"/>
          </p:nvPr>
        </p:nvSpPr>
        <p:spPr/>
        <p:txBody>
          <a:bodyPr/>
          <a:lstStyle/>
          <a:p>
            <a:endParaRPr lang="en-US"/>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719874" name="Rectangle 2"/>
          <p:cNvSpPr>
            <a:spLocks noGrp="1" noChangeArrowheads="1"/>
          </p:cNvSpPr>
          <p:nvPr>
            <p:ph type="title"/>
          </p:nvPr>
        </p:nvSpPr>
        <p:spPr/>
        <p:txBody>
          <a:bodyPr/>
          <a:lstStyle/>
          <a:p>
            <a:pPr>
              <a:defRPr/>
            </a:pPr>
            <a:r>
              <a:rPr lang="en-US" altLang="en-US" dirty="0">
                <a:effectLst>
                  <a:outerShdw blurRad="38100" dist="38100" dir="2700000" algn="tl">
                    <a:srgbClr val="C0C0C0"/>
                  </a:outerShdw>
                </a:effectLst>
                <a:ea typeface="ＭＳ Ｐゴシック" pitchFamily="34" charset="-128"/>
              </a:rPr>
              <a:t>Canonical Cover</a:t>
            </a:r>
          </a:p>
        </p:txBody>
      </p:sp>
      <mc:AlternateContent xmlns:mc="http://schemas.openxmlformats.org/markup-compatibility/2006" xmlns:a14="http://schemas.microsoft.com/office/drawing/2010/main">
        <mc:Choice Requires="a14">
          <p:sp>
            <p:nvSpPr>
              <p:cNvPr id="719875" name="Rectangle 3"/>
              <p:cNvSpPr>
                <a:spLocks noGrp="1" noChangeArrowheads="1"/>
              </p:cNvSpPr>
              <p:nvPr>
                <p:ph idx="1"/>
              </p:nvPr>
            </p:nvSpPr>
            <p:spPr>
              <a:xfrm>
                <a:off x="187890" y="1612268"/>
                <a:ext cx="8657660" cy="2505993"/>
              </a:xfrm>
            </p:spPr>
            <p:txBody>
              <a:bodyPr/>
              <a:lstStyle/>
              <a:p>
                <a:pPr algn="r" rtl="1">
                  <a:lnSpc>
                    <a:spcPct val="90000"/>
                  </a:lnSpc>
                </a:pPr>
                <a:r>
                  <a:rPr lang="en-US" sz="2800" dirty="0"/>
                  <a:t>F </a:t>
                </a:r>
                <a:r>
                  <a:rPr lang="fa-IR" sz="2800" dirty="0" err="1"/>
                  <a:t>به‌طور</a:t>
                </a:r>
                <a:r>
                  <a:rPr lang="fa-IR" sz="2800" dirty="0"/>
                  <a:t> منطقی تمام </a:t>
                </a:r>
                <a:r>
                  <a:rPr lang="fa-IR" sz="2800" dirty="0" err="1"/>
                  <a:t>وابستگی‌های</a:t>
                </a:r>
                <a:r>
                  <a:rPr lang="fa-IR" sz="2800" dirty="0"/>
                  <a:t> موجود در </a:t>
                </a:r>
                <a14:m>
                  <m:oMath xmlns:m="http://schemas.openxmlformats.org/officeDocument/2006/math">
                    <m:sSub>
                      <m:sSubPr>
                        <m:ctrlPr>
                          <a:rPr lang="fa-IR" sz="2800" i="1">
                            <a:latin typeface="Cambria Math" panose="02040503050406030204" pitchFamily="18" charset="0"/>
                          </a:rPr>
                        </m:ctrlPr>
                      </m:sSubPr>
                      <m:e>
                        <m:r>
                          <a:rPr lang="fa-IR" sz="2800" i="1">
                            <a:latin typeface="Cambria Math" panose="02040503050406030204" pitchFamily="18" charset="0"/>
                          </a:rPr>
                          <m:t>𝐹</m:t>
                        </m:r>
                      </m:e>
                      <m:sub>
                        <m:r>
                          <a:rPr lang="fa-IR" sz="2800" i="1">
                            <a:latin typeface="Cambria Math" panose="02040503050406030204" pitchFamily="18" charset="0"/>
                          </a:rPr>
                          <m:t>𝑐</m:t>
                        </m:r>
                      </m:sub>
                    </m:sSub>
                  </m:oMath>
                </a14:m>
                <a:r>
                  <a:rPr lang="fa-IR" sz="2800" dirty="0"/>
                  <a:t>را نتیجه </a:t>
                </a:r>
                <a:r>
                  <a:rPr lang="fa-IR" sz="2800" dirty="0" err="1"/>
                  <a:t>می‌دهد</a:t>
                </a:r>
                <a:r>
                  <a:rPr lang="fa-IR" sz="2800" dirty="0"/>
                  <a:t>، و</a:t>
                </a:r>
                <a:br>
                  <a:rPr lang="fa-IR" sz="2800" dirty="0"/>
                </a:br>
                <a14:m>
                  <m:oMath xmlns:m="http://schemas.openxmlformats.org/officeDocument/2006/math">
                    <m:sSub>
                      <m:sSubPr>
                        <m:ctrlPr>
                          <a:rPr lang="fa-IR" sz="2800" i="1">
                            <a:latin typeface="Cambria Math" panose="02040503050406030204" pitchFamily="18" charset="0"/>
                          </a:rPr>
                        </m:ctrlPr>
                      </m:sSubPr>
                      <m:e>
                        <m:r>
                          <a:rPr lang="fa-IR" sz="2800" i="1">
                            <a:latin typeface="Cambria Math" panose="02040503050406030204" pitchFamily="18" charset="0"/>
                          </a:rPr>
                          <m:t>𝐹</m:t>
                        </m:r>
                      </m:e>
                      <m:sub>
                        <m:r>
                          <a:rPr lang="fa-IR" sz="2800" i="1">
                            <a:latin typeface="Cambria Math" panose="02040503050406030204" pitchFamily="18" charset="0"/>
                          </a:rPr>
                          <m:t>𝑐</m:t>
                        </m:r>
                      </m:sub>
                    </m:sSub>
                  </m:oMath>
                </a14:m>
                <a:r>
                  <a:rPr lang="fa-IR" sz="2800" dirty="0" err="1"/>
                  <a:t>به‌طور</a:t>
                </a:r>
                <a:r>
                  <a:rPr lang="fa-IR" sz="2800" dirty="0"/>
                  <a:t> منطقی تمام </a:t>
                </a:r>
                <a:r>
                  <a:rPr lang="fa-IR" sz="2800" dirty="0" err="1"/>
                  <a:t>وابستگی‌های</a:t>
                </a:r>
                <a:r>
                  <a:rPr lang="fa-IR" sz="2800" dirty="0"/>
                  <a:t> موجود در </a:t>
                </a:r>
                <a14:m>
                  <m:oMath xmlns:m="http://schemas.openxmlformats.org/officeDocument/2006/math">
                    <m:r>
                      <a:rPr lang="fa-IR" sz="2800" i="1">
                        <a:latin typeface="Cambria Math" panose="02040503050406030204" pitchFamily="18" charset="0"/>
                      </a:rPr>
                      <m:t>𝐹</m:t>
                    </m:r>
                  </m:oMath>
                </a14:m>
                <a:r>
                  <a:rPr lang="fa-IR" sz="2800" dirty="0"/>
                  <a:t>را نتیجه </a:t>
                </a:r>
                <a:r>
                  <a:rPr lang="fa-IR" sz="2800" dirty="0" err="1"/>
                  <a:t>می‌دهد</a:t>
                </a:r>
                <a:r>
                  <a:rPr lang="fa-IR" sz="2800" dirty="0"/>
                  <a:t>، و</a:t>
                </a:r>
                <a:br>
                  <a:rPr lang="fa-IR" sz="2800" dirty="0"/>
                </a:br>
                <a:r>
                  <a:rPr lang="fa-IR" sz="2800" dirty="0"/>
                  <a:t>هیچ وابستگی </a:t>
                </a:r>
                <a:r>
                  <a:rPr lang="fa-IR" sz="2800" dirty="0" err="1"/>
                  <a:t>تابعی</a:t>
                </a:r>
                <a:r>
                  <a:rPr lang="fa-IR" sz="2800" dirty="0"/>
                  <a:t> در </a:t>
                </a:r>
                <a14:m>
                  <m:oMath xmlns:m="http://schemas.openxmlformats.org/officeDocument/2006/math">
                    <m:sSub>
                      <m:sSubPr>
                        <m:ctrlPr>
                          <a:rPr lang="fa-IR" sz="2800" i="1">
                            <a:latin typeface="Cambria Math" panose="02040503050406030204" pitchFamily="18" charset="0"/>
                          </a:rPr>
                        </m:ctrlPr>
                      </m:sSubPr>
                      <m:e>
                        <m:r>
                          <a:rPr lang="fa-IR" sz="2800" i="1">
                            <a:latin typeface="Cambria Math" panose="02040503050406030204" pitchFamily="18" charset="0"/>
                          </a:rPr>
                          <m:t>𝐹</m:t>
                        </m:r>
                      </m:e>
                      <m:sub>
                        <m:r>
                          <a:rPr lang="fa-IR" sz="2800" i="1">
                            <a:latin typeface="Cambria Math" panose="02040503050406030204" pitchFamily="18" charset="0"/>
                          </a:rPr>
                          <m:t>𝑐</m:t>
                        </m:r>
                      </m:sub>
                    </m:sSub>
                  </m:oMath>
                </a14:m>
                <a:r>
                  <a:rPr lang="fa-IR" sz="2800" dirty="0"/>
                  <a:t>شامل صفت </a:t>
                </a:r>
                <a:r>
                  <a:rPr lang="fa-IR" sz="2800" dirty="0" err="1"/>
                  <a:t>غیرضروری</a:t>
                </a:r>
                <a:r>
                  <a:rPr lang="fa-IR" sz="2800" dirty="0"/>
                  <a:t> نیست، و</a:t>
                </a:r>
                <a:br>
                  <a:rPr lang="fa-IR" sz="2800" dirty="0"/>
                </a:br>
                <a:r>
                  <a:rPr lang="fa-IR" sz="2800" dirty="0"/>
                  <a:t>هر سمت چپ وابستگی </a:t>
                </a:r>
                <a:r>
                  <a:rPr lang="fa-IR" sz="2800" dirty="0" err="1"/>
                  <a:t>تابعی</a:t>
                </a:r>
                <a:r>
                  <a:rPr lang="fa-IR" sz="2800" dirty="0"/>
                  <a:t> در </a:t>
                </a:r>
                <a14:m>
                  <m:oMath xmlns:m="http://schemas.openxmlformats.org/officeDocument/2006/math">
                    <m:sSub>
                      <m:sSubPr>
                        <m:ctrlPr>
                          <a:rPr lang="fa-IR" sz="2800" i="1">
                            <a:latin typeface="Cambria Math" panose="02040503050406030204" pitchFamily="18" charset="0"/>
                          </a:rPr>
                        </m:ctrlPr>
                      </m:sSubPr>
                      <m:e>
                        <m:r>
                          <a:rPr lang="fa-IR" sz="2800" i="1">
                            <a:latin typeface="Cambria Math" panose="02040503050406030204" pitchFamily="18" charset="0"/>
                          </a:rPr>
                          <m:t>𝐹</m:t>
                        </m:r>
                      </m:e>
                      <m:sub>
                        <m:r>
                          <a:rPr lang="fa-IR" sz="2800" i="1">
                            <a:latin typeface="Cambria Math" panose="02040503050406030204" pitchFamily="18" charset="0"/>
                          </a:rPr>
                          <m:t>𝑐</m:t>
                        </m:r>
                      </m:sub>
                    </m:sSub>
                  </m:oMath>
                </a14:m>
                <a:r>
                  <a:rPr lang="fa-IR" sz="2800" dirty="0"/>
                  <a:t>یکتا است. یعنی، هیچ دو وابستگی در </a:t>
                </a:r>
                <a14:m>
                  <m:oMath xmlns:m="http://schemas.openxmlformats.org/officeDocument/2006/math">
                    <m:sSub>
                      <m:sSubPr>
                        <m:ctrlPr>
                          <a:rPr lang="fa-IR" sz="2800" i="1">
                            <a:latin typeface="Cambria Math" panose="02040503050406030204" pitchFamily="18" charset="0"/>
                          </a:rPr>
                        </m:ctrlPr>
                      </m:sSubPr>
                      <m:e>
                        <m:r>
                          <a:rPr lang="fa-IR" sz="2800" i="1">
                            <a:latin typeface="Cambria Math" panose="02040503050406030204" pitchFamily="18" charset="0"/>
                          </a:rPr>
                          <m:t>𝐹</m:t>
                        </m:r>
                      </m:e>
                      <m:sub>
                        <m:r>
                          <a:rPr lang="fa-IR" sz="2800" i="1">
                            <a:latin typeface="Cambria Math" panose="02040503050406030204" pitchFamily="18" charset="0"/>
                          </a:rPr>
                          <m:t>𝑐</m:t>
                        </m:r>
                      </m:sub>
                    </m:sSub>
                  </m:oMath>
                </a14:m>
                <a:r>
                  <a:rPr lang="fa-IR" sz="2800" dirty="0"/>
                  <a:t>وجود ندارد</a:t>
                </a:r>
                <a:br>
                  <a:rPr lang="fa-IR" sz="2800" dirty="0"/>
                </a:br>
                <a:r>
                  <a:rPr lang="el-GR" sz="2800" dirty="0"/>
                  <a:t>α₁ → β₁ </a:t>
                </a:r>
                <a:r>
                  <a:rPr lang="fa-IR" sz="2800" dirty="0"/>
                  <a:t>و </a:t>
                </a:r>
                <a:r>
                  <a:rPr lang="el-GR" sz="2800" dirty="0"/>
                  <a:t>α₂ → β₂ </a:t>
                </a:r>
                <a:r>
                  <a:rPr lang="fa-IR" sz="2800" dirty="0" err="1"/>
                  <a:t>به‌گونه‌ای</a:t>
                </a:r>
                <a:r>
                  <a:rPr lang="fa-IR" sz="2800" dirty="0"/>
                  <a:t> که</a:t>
                </a:r>
                <a:br>
                  <a:rPr lang="fa-IR" sz="2800" dirty="0"/>
                </a:br>
                <a:r>
                  <a:rPr lang="el-GR" sz="2800" dirty="0"/>
                  <a:t>α₁ = α₂ </a:t>
                </a:r>
                <a:r>
                  <a:rPr lang="fa-IR" sz="2800" dirty="0"/>
                  <a:t>باشد.</a:t>
                </a:r>
                <a:endParaRPr lang="en-US" altLang="en-US" sz="2800" dirty="0"/>
              </a:p>
            </p:txBody>
          </p:sp>
        </mc:Choice>
        <mc:Fallback xmlns="">
          <p:sp>
            <p:nvSpPr>
              <p:cNvPr id="719875" name="Rectangle 3"/>
              <p:cNvSpPr>
                <a:spLocks noGrp="1" noRot="1" noChangeAspect="1" noMove="1" noResize="1" noEditPoints="1" noAdjustHandles="1" noChangeArrowheads="1" noChangeShapeType="1" noTextEdit="1"/>
              </p:cNvSpPr>
              <p:nvPr>
                <p:ph idx="1"/>
              </p:nvPr>
            </p:nvSpPr>
            <p:spPr>
              <a:xfrm>
                <a:off x="187890" y="1612268"/>
                <a:ext cx="8657660" cy="2505993"/>
              </a:xfrm>
              <a:blipFill>
                <a:blip r:embed="rId3"/>
                <a:stretch>
                  <a:fillRect t="-6068" r="-1549" b="-1868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 name="TextBox 1"/>
              <p:cNvSpPr txBox="1"/>
              <p:nvPr/>
            </p:nvSpPr>
            <p:spPr>
              <a:xfrm>
                <a:off x="516145" y="1068830"/>
                <a:ext cx="8077199" cy="461665"/>
              </a:xfrm>
              <a:prstGeom prst="rect">
                <a:avLst/>
              </a:prstGeom>
              <a:noFill/>
            </p:spPr>
            <p:txBody>
              <a:bodyPr wrap="square" rtlCol="0">
                <a:spAutoFit/>
              </a:bodyPr>
              <a:lstStyle/>
              <a:p>
                <a:pPr algn="r" rtl="1"/>
                <a:r>
                  <a:rPr lang="fa-IR" sz="2400" dirty="0"/>
                  <a:t>یک پوشش کانونی برای </a:t>
                </a:r>
                <a14:m>
                  <m:oMath xmlns:m="http://schemas.openxmlformats.org/officeDocument/2006/math">
                    <m:r>
                      <a:rPr lang="fa-IR" sz="2400" i="1">
                        <a:latin typeface="Cambria Math" panose="02040503050406030204" pitchFamily="18" charset="0"/>
                      </a:rPr>
                      <m:t>𝐹</m:t>
                    </m:r>
                  </m:oMath>
                </a14:m>
                <a:r>
                  <a:rPr lang="fa-IR" sz="2400" dirty="0" err="1"/>
                  <a:t>مجموعه‌ای</a:t>
                </a:r>
                <a:r>
                  <a:rPr lang="fa-IR" sz="2400" dirty="0"/>
                  <a:t> از </a:t>
                </a:r>
                <a:r>
                  <a:rPr lang="fa-IR" sz="2400" dirty="0" err="1"/>
                  <a:t>وابستگی‌ها</a:t>
                </a:r>
                <a:r>
                  <a:rPr lang="fa-IR" sz="2400" dirty="0"/>
                  <a:t> </a:t>
                </a:r>
                <a14:m>
                  <m:oMath xmlns:m="http://schemas.openxmlformats.org/officeDocument/2006/math">
                    <m:sSub>
                      <m:sSubPr>
                        <m:ctrlPr>
                          <a:rPr lang="fa-IR" sz="2400" i="1">
                            <a:latin typeface="Cambria Math" panose="02040503050406030204" pitchFamily="18" charset="0"/>
                          </a:rPr>
                        </m:ctrlPr>
                      </m:sSubPr>
                      <m:e>
                        <m:r>
                          <a:rPr lang="fa-IR" sz="2400" i="1">
                            <a:latin typeface="Cambria Math" panose="02040503050406030204" pitchFamily="18" charset="0"/>
                          </a:rPr>
                          <m:t>𝐹</m:t>
                        </m:r>
                      </m:e>
                      <m:sub>
                        <m:r>
                          <a:rPr lang="fa-IR" sz="2400" i="1">
                            <a:latin typeface="Cambria Math" panose="02040503050406030204" pitchFamily="18" charset="0"/>
                          </a:rPr>
                          <m:t>𝑐</m:t>
                        </m:r>
                      </m:sub>
                    </m:sSub>
                  </m:oMath>
                </a14:m>
                <a:r>
                  <a:rPr lang="fa-IR" sz="2400" dirty="0"/>
                  <a:t>است </a:t>
                </a:r>
                <a:r>
                  <a:rPr lang="fa-IR" sz="2400" dirty="0" err="1"/>
                  <a:t>به‌گونه‌ای</a:t>
                </a:r>
                <a:r>
                  <a:rPr lang="fa-IR" sz="2400" dirty="0"/>
                  <a:t> که:</a:t>
                </a:r>
                <a:endParaRPr lang="en-US" sz="2400" dirty="0"/>
              </a:p>
            </p:txBody>
          </p:sp>
        </mc:Choice>
        <mc:Fallback xmlns="">
          <p:sp>
            <p:nvSpPr>
              <p:cNvPr id="2" name="TextBox 1"/>
              <p:cNvSpPr txBox="1">
                <a:spLocks noRot="1" noChangeAspect="1" noMove="1" noResize="1" noEditPoints="1" noAdjustHandles="1" noChangeArrowheads="1" noChangeShapeType="1" noTextEdit="1"/>
              </p:cNvSpPr>
              <p:nvPr/>
            </p:nvSpPr>
            <p:spPr>
              <a:xfrm>
                <a:off x="516145" y="1068830"/>
                <a:ext cx="8077199" cy="461665"/>
              </a:xfrm>
              <a:prstGeom prst="rect">
                <a:avLst/>
              </a:prstGeom>
              <a:blipFill>
                <a:blip r:embed="rId4"/>
                <a:stretch>
                  <a:fillRect t="-9211" r="-1132" b="-30263"/>
                </a:stretch>
              </a:blipFill>
            </p:spPr>
            <p:txBody>
              <a:bodyPr/>
              <a:lstStyle/>
              <a:p>
                <a:r>
                  <a:rPr lang="en-US">
                    <a:noFill/>
                  </a:rPr>
                  <a:t> </a:t>
                </a:r>
              </a:p>
            </p:txBody>
          </p:sp>
        </mc:Fallback>
      </mc:AlternateContent>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719874" name="Rectangle 2"/>
          <p:cNvSpPr>
            <a:spLocks noGrp="1" noChangeArrowheads="1"/>
          </p:cNvSpPr>
          <p:nvPr>
            <p:ph type="title"/>
          </p:nvPr>
        </p:nvSpPr>
        <p:spPr/>
        <p:txBody>
          <a:bodyPr/>
          <a:lstStyle/>
          <a:p>
            <a:pPr>
              <a:defRPr/>
            </a:pPr>
            <a:r>
              <a:rPr lang="en-US" altLang="en-US" dirty="0">
                <a:effectLst>
                  <a:outerShdw blurRad="38100" dist="38100" dir="2700000" algn="tl">
                    <a:srgbClr val="C0C0C0"/>
                  </a:outerShdw>
                </a:effectLst>
                <a:ea typeface="ＭＳ Ｐゴシック" pitchFamily="34" charset="-128"/>
              </a:rPr>
              <a:t>Canonical Cover</a:t>
            </a:r>
          </a:p>
        </p:txBody>
      </p:sp>
      <mc:AlternateContent xmlns:mc="http://schemas.openxmlformats.org/markup-compatibility/2006" xmlns:a14="http://schemas.microsoft.com/office/drawing/2010/main">
        <mc:Choice Requires="a14">
          <p:sp>
            <p:nvSpPr>
              <p:cNvPr id="719875" name="Rectangle 3"/>
              <p:cNvSpPr>
                <a:spLocks noGrp="1" noChangeArrowheads="1"/>
              </p:cNvSpPr>
              <p:nvPr>
                <p:ph idx="1"/>
              </p:nvPr>
            </p:nvSpPr>
            <p:spPr>
              <a:xfrm>
                <a:off x="768350" y="1154098"/>
                <a:ext cx="7603293" cy="4139797"/>
              </a:xfrm>
            </p:spPr>
            <p:txBody>
              <a:bodyPr/>
              <a:lstStyle/>
              <a:p>
                <a:pPr algn="r" rtl="1"/>
                <a:r>
                  <a:rPr lang="fa-IR" dirty="0"/>
                  <a:t>برای محاسبه یک پوشش کانونی برای </a:t>
                </a:r>
                <a14:m>
                  <m:oMath xmlns:m="http://schemas.openxmlformats.org/officeDocument/2006/math">
                    <m:r>
                      <a:rPr lang="fa-IR" i="1">
                        <a:latin typeface="Cambria Math" panose="02040503050406030204" pitchFamily="18" charset="0"/>
                      </a:rPr>
                      <m:t>𝐹</m:t>
                    </m:r>
                  </m:oMath>
                </a14:m>
                <a:r>
                  <a:rPr lang="fa-IR" dirty="0"/>
                  <a:t>:</a:t>
                </a:r>
                <a:br>
                  <a:rPr lang="fa-IR" dirty="0"/>
                </a:br>
                <a:r>
                  <a:rPr lang="fa-IR" dirty="0"/>
                  <a:t>تکرار کن:</a:t>
                </a:r>
              </a:p>
              <a:p>
                <a:pPr algn="r" rtl="1"/>
                <a:r>
                  <a:rPr lang="fa-IR" dirty="0"/>
                  <a:t>از قاعده اجتماع استفاده کن تا هر وابستگی در </a:t>
                </a:r>
                <a14:m>
                  <m:oMath xmlns:m="http://schemas.openxmlformats.org/officeDocument/2006/math">
                    <m:r>
                      <a:rPr lang="fa-IR" i="1">
                        <a:latin typeface="Cambria Math" panose="02040503050406030204" pitchFamily="18" charset="0"/>
                      </a:rPr>
                      <m:t>𝐹</m:t>
                    </m:r>
                  </m:oMath>
                </a14:m>
                <a:r>
                  <a:rPr lang="fa-IR" dirty="0"/>
                  <a:t>به شکل</a:t>
                </a:r>
                <a:br>
                  <a:rPr lang="fa-IR" dirty="0"/>
                </a:br>
                <a:r>
                  <a:rPr lang="el-GR" dirty="0"/>
                  <a:t>α₁ → β₁ </a:t>
                </a:r>
                <a:r>
                  <a:rPr lang="fa-IR" dirty="0"/>
                  <a:t>و </a:t>
                </a:r>
                <a:r>
                  <a:rPr lang="el-GR" dirty="0"/>
                  <a:t>α₁ → β₂ </a:t>
                </a:r>
                <a:r>
                  <a:rPr lang="fa-IR" dirty="0"/>
                  <a:t>را با </a:t>
                </a:r>
                <a:r>
                  <a:rPr lang="el-GR" dirty="0"/>
                  <a:t>α₁ → β₁β₂ </a:t>
                </a:r>
                <a:r>
                  <a:rPr lang="fa-IR" dirty="0"/>
                  <a:t>جایگزین کنی.</a:t>
                </a:r>
              </a:p>
              <a:p>
                <a:pPr algn="r" rtl="1"/>
                <a:r>
                  <a:rPr lang="fa-IR" dirty="0"/>
                  <a:t>یک وابستگی </a:t>
                </a:r>
                <a:r>
                  <a:rPr lang="fa-IR" dirty="0" err="1"/>
                  <a:t>تابعی</a:t>
                </a:r>
                <a:r>
                  <a:rPr lang="fa-IR" dirty="0"/>
                  <a:t> </a:t>
                </a:r>
                <a:r>
                  <a:rPr lang="el-GR" dirty="0"/>
                  <a:t>α → β </a:t>
                </a:r>
                <a:r>
                  <a:rPr lang="fa-IR" dirty="0"/>
                  <a:t>در </a:t>
                </a:r>
                <a14:m>
                  <m:oMath xmlns:m="http://schemas.openxmlformats.org/officeDocument/2006/math">
                    <m:sSub>
                      <m:sSubPr>
                        <m:ctrlPr>
                          <a:rPr lang="fa-IR" i="1">
                            <a:latin typeface="Cambria Math" panose="02040503050406030204" pitchFamily="18" charset="0"/>
                          </a:rPr>
                        </m:ctrlPr>
                      </m:sSubPr>
                      <m:e>
                        <m:r>
                          <a:rPr lang="fa-IR" i="1">
                            <a:latin typeface="Cambria Math" panose="02040503050406030204" pitchFamily="18" charset="0"/>
                          </a:rPr>
                          <m:t>𝐹</m:t>
                        </m:r>
                      </m:e>
                      <m:sub>
                        <m:r>
                          <a:rPr lang="fa-IR" i="1">
                            <a:latin typeface="Cambria Math" panose="02040503050406030204" pitchFamily="18" charset="0"/>
                          </a:rPr>
                          <m:t>𝑐</m:t>
                        </m:r>
                      </m:sub>
                    </m:sSub>
                  </m:oMath>
                </a14:m>
                <a:r>
                  <a:rPr lang="fa-IR" dirty="0"/>
                  <a:t>پیدا کن که دارای یک صفت </a:t>
                </a:r>
                <a:r>
                  <a:rPr lang="fa-IR" dirty="0" err="1"/>
                  <a:t>غیرضروری</a:t>
                </a:r>
                <a:r>
                  <a:rPr lang="fa-IR" dirty="0"/>
                  <a:t> در </a:t>
                </a:r>
                <a:r>
                  <a:rPr lang="el-GR" dirty="0"/>
                  <a:t>α </a:t>
                </a:r>
                <a:r>
                  <a:rPr lang="fa-IR" dirty="0"/>
                  <a:t>یا </a:t>
                </a:r>
                <a:r>
                  <a:rPr lang="el-GR" dirty="0"/>
                  <a:t>β </a:t>
                </a:r>
                <a:r>
                  <a:rPr lang="fa-IR" dirty="0"/>
                  <a:t>باشد.</a:t>
                </a:r>
                <a:br>
                  <a:rPr lang="fa-IR" dirty="0"/>
                </a:br>
                <a:r>
                  <a:rPr lang="fa-IR" dirty="0"/>
                  <a:t>/* توجه: آزمایش برای صفات </a:t>
                </a:r>
                <a:r>
                  <a:rPr lang="fa-IR" dirty="0" err="1"/>
                  <a:t>غیرضروری</a:t>
                </a:r>
                <a:r>
                  <a:rPr lang="fa-IR" dirty="0"/>
                  <a:t> با استفاده از </a:t>
                </a:r>
                <a14:m>
                  <m:oMath xmlns:m="http://schemas.openxmlformats.org/officeDocument/2006/math">
                    <m:sSub>
                      <m:sSubPr>
                        <m:ctrlPr>
                          <a:rPr lang="fa-IR" i="1">
                            <a:latin typeface="Cambria Math" panose="02040503050406030204" pitchFamily="18" charset="0"/>
                          </a:rPr>
                        </m:ctrlPr>
                      </m:sSubPr>
                      <m:e>
                        <m:r>
                          <a:rPr lang="fa-IR" i="1">
                            <a:latin typeface="Cambria Math" panose="02040503050406030204" pitchFamily="18" charset="0"/>
                          </a:rPr>
                          <m:t>𝐹</m:t>
                        </m:r>
                      </m:e>
                      <m:sub>
                        <m:r>
                          <a:rPr lang="fa-IR" i="1">
                            <a:latin typeface="Cambria Math" panose="02040503050406030204" pitchFamily="18" charset="0"/>
                          </a:rPr>
                          <m:t>𝑐</m:t>
                        </m:r>
                      </m:sub>
                    </m:sSub>
                  </m:oMath>
                </a14:m>
                <a:r>
                  <a:rPr lang="fa-IR" dirty="0"/>
                  <a:t>، نه </a:t>
                </a:r>
                <a14:m>
                  <m:oMath xmlns:m="http://schemas.openxmlformats.org/officeDocument/2006/math">
                    <m:r>
                      <a:rPr lang="fa-IR" i="1">
                        <a:latin typeface="Cambria Math" panose="02040503050406030204" pitchFamily="18" charset="0"/>
                      </a:rPr>
                      <m:t>𝐹</m:t>
                    </m:r>
                  </m:oMath>
                </a14:m>
                <a:r>
                  <a:rPr lang="fa-IR" dirty="0"/>
                  <a:t>انجام </a:t>
                </a:r>
                <a:r>
                  <a:rPr lang="fa-IR" dirty="0" err="1"/>
                  <a:t>می‌شود</a:t>
                </a:r>
                <a:r>
                  <a:rPr lang="fa-IR" dirty="0"/>
                  <a:t> */</a:t>
                </a:r>
              </a:p>
              <a:p>
                <a:pPr algn="r" rtl="1"/>
                <a:r>
                  <a:rPr lang="fa-IR" dirty="0"/>
                  <a:t>اگر صفت </a:t>
                </a:r>
                <a:r>
                  <a:rPr lang="fa-IR" dirty="0" err="1"/>
                  <a:t>غیرضروری</a:t>
                </a:r>
                <a:r>
                  <a:rPr lang="fa-IR" dirty="0"/>
                  <a:t> پیدا شد، آن را از </a:t>
                </a:r>
                <a:r>
                  <a:rPr lang="el-GR" dirty="0"/>
                  <a:t>α → β </a:t>
                </a:r>
                <a:r>
                  <a:rPr lang="fa-IR" dirty="0"/>
                  <a:t>حذف کن.</a:t>
                </a:r>
              </a:p>
              <a:p>
                <a:pPr algn="r" rtl="1"/>
                <a:r>
                  <a:rPr lang="fa-IR" dirty="0"/>
                  <a:t>تا زمانی که </a:t>
                </a:r>
                <a14:m>
                  <m:oMath xmlns:m="http://schemas.openxmlformats.org/officeDocument/2006/math">
                    <m:sSub>
                      <m:sSubPr>
                        <m:ctrlPr>
                          <a:rPr lang="fa-IR" i="1">
                            <a:latin typeface="Cambria Math" panose="02040503050406030204" pitchFamily="18" charset="0"/>
                          </a:rPr>
                        </m:ctrlPr>
                      </m:sSubPr>
                      <m:e>
                        <m:r>
                          <a:rPr lang="fa-IR" i="1">
                            <a:latin typeface="Cambria Math" panose="02040503050406030204" pitchFamily="18" charset="0"/>
                          </a:rPr>
                          <m:t>𝐹</m:t>
                        </m:r>
                      </m:e>
                      <m:sub>
                        <m:r>
                          <a:rPr lang="fa-IR" i="1">
                            <a:latin typeface="Cambria Math" panose="02040503050406030204" pitchFamily="18" charset="0"/>
                          </a:rPr>
                          <m:t>𝑐</m:t>
                        </m:r>
                      </m:sub>
                    </m:sSub>
                  </m:oMath>
                </a14:m>
                <a:r>
                  <a:rPr lang="fa-IR" dirty="0"/>
                  <a:t>تغییر نکند، ادامه بده.</a:t>
                </a:r>
              </a:p>
              <a:p>
                <a:pPr algn="r" rtl="1"/>
                <a:r>
                  <a:rPr lang="fa-IR" dirty="0"/>
                  <a:t>توجه: پس از حذف برخی از صفات </a:t>
                </a:r>
                <a:r>
                  <a:rPr lang="fa-IR" dirty="0" err="1"/>
                  <a:t>غیرضروری</a:t>
                </a:r>
                <a:r>
                  <a:rPr lang="fa-IR" dirty="0"/>
                  <a:t>، ممکن است قاعده اجتماع دوباره قابل اعمال شود، بنابراین باید دوباره اعمال شود.</a:t>
                </a:r>
              </a:p>
              <a:p>
                <a:pPr algn="r" rtl="1">
                  <a:lnSpc>
                    <a:spcPct val="90000"/>
                  </a:lnSpc>
                </a:pPr>
                <a:endParaRPr lang="en-US" altLang="en-US" dirty="0">
                  <a:sym typeface="Greek Symbols"/>
                </a:endParaRPr>
              </a:p>
            </p:txBody>
          </p:sp>
        </mc:Choice>
        <mc:Fallback xmlns="">
          <p:sp>
            <p:nvSpPr>
              <p:cNvPr id="719875" name="Rectangle 3"/>
              <p:cNvSpPr>
                <a:spLocks noGrp="1" noRot="1" noChangeAspect="1" noMove="1" noResize="1" noEditPoints="1" noAdjustHandles="1" noChangeArrowheads="1" noChangeShapeType="1" noTextEdit="1"/>
              </p:cNvSpPr>
              <p:nvPr>
                <p:ph idx="1"/>
              </p:nvPr>
            </p:nvSpPr>
            <p:spPr>
              <a:xfrm>
                <a:off x="768350" y="1154098"/>
                <a:ext cx="7603293" cy="4139797"/>
              </a:xfrm>
              <a:blipFill>
                <a:blip r:embed="rId3"/>
                <a:stretch>
                  <a:fillRect l="-160" t="-1620" r="-962"/>
                </a:stretch>
              </a:blipFill>
            </p:spPr>
            <p:txBody>
              <a:bodyPr/>
              <a:lstStyle/>
              <a:p>
                <a:r>
                  <a:rPr lang="en-US">
                    <a:noFill/>
                  </a:rPr>
                  <a:t> </a:t>
                </a:r>
              </a:p>
            </p:txBody>
          </p:sp>
        </mc:Fallback>
      </mc:AlternateContent>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D88EA31-9CC9-9CBB-2FDD-57A541A9E5A2}"/>
              </a:ext>
            </a:extLst>
          </p:cNvPr>
          <p:cNvSpPr>
            <a:spLocks noGrp="1"/>
          </p:cNvSpPr>
          <p:nvPr>
            <p:ph type="ctrTitle"/>
          </p:nvPr>
        </p:nvSpPr>
        <p:spPr/>
        <p:txBody>
          <a:bodyPr/>
          <a:lstStyle/>
          <a:p>
            <a:endParaRPr lang="en-US"/>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28066" name="Rectangle 2"/>
          <p:cNvSpPr>
            <a:spLocks noGrp="1" noChangeArrowheads="1"/>
          </p:cNvSpPr>
          <p:nvPr>
            <p:ph type="title"/>
          </p:nvPr>
        </p:nvSpPr>
        <p:spPr>
          <a:xfrm>
            <a:off x="709613" y="212725"/>
            <a:ext cx="7993062" cy="441325"/>
          </a:xfrm>
        </p:spPr>
        <p:txBody>
          <a:bodyPr/>
          <a:lstStyle/>
          <a:p>
            <a:pPr>
              <a:defRPr/>
            </a:pPr>
            <a:r>
              <a:rPr lang="en-US" altLang="en-US">
                <a:effectLst>
                  <a:outerShdw blurRad="38100" dist="38100" dir="2700000" algn="tl">
                    <a:srgbClr val="C0C0C0"/>
                  </a:outerShdw>
                </a:effectLst>
                <a:ea typeface="ＭＳ Ｐゴシック" pitchFamily="34" charset="-128"/>
              </a:rPr>
              <a:t>Dependency Preservation</a:t>
            </a:r>
          </a:p>
        </p:txBody>
      </p:sp>
      <mc:AlternateContent xmlns:mc="http://schemas.openxmlformats.org/markup-compatibility/2006" xmlns:a14="http://schemas.microsoft.com/office/drawing/2010/main">
        <mc:Choice Requires="a14">
          <p:sp>
            <p:nvSpPr>
              <p:cNvPr id="60419" name="Rectangle 3"/>
              <p:cNvSpPr>
                <a:spLocks noGrp="1" noChangeArrowheads="1"/>
              </p:cNvSpPr>
              <p:nvPr>
                <p:ph idx="1"/>
              </p:nvPr>
            </p:nvSpPr>
            <p:spPr>
              <a:xfrm>
                <a:off x="772357" y="1093788"/>
                <a:ext cx="7818190" cy="2696159"/>
              </a:xfrm>
            </p:spPr>
            <p:txBody>
              <a:bodyPr/>
              <a:lstStyle/>
              <a:p>
                <a:pPr algn="r" rtl="1"/>
                <a:r>
                  <a:rPr lang="fa-IR" dirty="0"/>
                  <a:t>فرض کنید </a:t>
                </a:r>
                <a14:m>
                  <m:oMath xmlns:m="http://schemas.openxmlformats.org/officeDocument/2006/math">
                    <m:sSub>
                      <m:sSubPr>
                        <m:ctrlPr>
                          <a:rPr lang="fa-IR" i="1">
                            <a:latin typeface="Cambria Math" panose="02040503050406030204" pitchFamily="18" charset="0"/>
                          </a:rPr>
                        </m:ctrlPr>
                      </m:sSubPr>
                      <m:e>
                        <m:r>
                          <a:rPr lang="fa-IR" i="1">
                            <a:latin typeface="Cambria Math" panose="02040503050406030204" pitchFamily="18" charset="0"/>
                          </a:rPr>
                          <m:t>𝐹</m:t>
                        </m:r>
                      </m:e>
                      <m:sub>
                        <m:r>
                          <a:rPr lang="fa-IR" i="1">
                            <a:latin typeface="Cambria Math" panose="02040503050406030204" pitchFamily="18" charset="0"/>
                          </a:rPr>
                          <m:t>𝑖</m:t>
                        </m:r>
                      </m:sub>
                    </m:sSub>
                  </m:oMath>
                </a14:m>
                <a:r>
                  <a:rPr lang="fa-IR" dirty="0" err="1"/>
                  <a:t>مجموعه‌ای</a:t>
                </a:r>
                <a:r>
                  <a:rPr lang="fa-IR" dirty="0"/>
                  <a:t> از </a:t>
                </a:r>
                <a:r>
                  <a:rPr lang="fa-IR" dirty="0" err="1"/>
                  <a:t>وابستگی‌ها</a:t>
                </a:r>
                <a:r>
                  <a:rPr lang="fa-IR" dirty="0"/>
                  <a:t> در </a:t>
                </a:r>
                <a14:m>
                  <m:oMath xmlns:m="http://schemas.openxmlformats.org/officeDocument/2006/math">
                    <m:sSup>
                      <m:sSupPr>
                        <m:ctrlPr>
                          <a:rPr lang="fa-IR" i="1">
                            <a:latin typeface="Cambria Math" panose="02040503050406030204" pitchFamily="18" charset="0"/>
                          </a:rPr>
                        </m:ctrlPr>
                      </m:sSupPr>
                      <m:e>
                        <m:r>
                          <a:rPr lang="fa-IR" i="1">
                            <a:latin typeface="Cambria Math" panose="02040503050406030204" pitchFamily="18" charset="0"/>
                          </a:rPr>
                          <m:t>𝐹</m:t>
                        </m:r>
                      </m:e>
                      <m:sup>
                        <m:r>
                          <a:rPr lang="fa-IR">
                            <a:latin typeface="Cambria Math" panose="02040503050406030204" pitchFamily="18" charset="0"/>
                          </a:rPr>
                          <m:t>+</m:t>
                        </m:r>
                      </m:sup>
                    </m:sSup>
                  </m:oMath>
                </a14:m>
                <a:r>
                  <a:rPr lang="fa-IR" dirty="0"/>
                  <a:t>باشد که فقط شامل صفات موجود در </a:t>
                </a:r>
                <a14:m>
                  <m:oMath xmlns:m="http://schemas.openxmlformats.org/officeDocument/2006/math">
                    <m:sSub>
                      <m:sSubPr>
                        <m:ctrlPr>
                          <a:rPr lang="fa-IR" i="1">
                            <a:latin typeface="Cambria Math" panose="02040503050406030204" pitchFamily="18" charset="0"/>
                          </a:rPr>
                        </m:ctrlPr>
                      </m:sSubPr>
                      <m:e>
                        <m:r>
                          <a:rPr lang="fa-IR" i="1">
                            <a:latin typeface="Cambria Math" panose="02040503050406030204" pitchFamily="18" charset="0"/>
                          </a:rPr>
                          <m:t>𝑅</m:t>
                        </m:r>
                      </m:e>
                      <m:sub>
                        <m:r>
                          <a:rPr lang="fa-IR" i="1">
                            <a:latin typeface="Cambria Math" panose="02040503050406030204" pitchFamily="18" charset="0"/>
                          </a:rPr>
                          <m:t>𝑖</m:t>
                        </m:r>
                      </m:sub>
                    </m:sSub>
                  </m:oMath>
                </a14:m>
                <a:r>
                  <a:rPr lang="fa-IR" dirty="0"/>
                  <a:t>هستند.</a:t>
                </a:r>
              </a:p>
              <a:p>
                <a:pPr algn="r" rtl="1"/>
                <a:r>
                  <a:rPr lang="fa-IR" dirty="0"/>
                  <a:t>یک تجزیه </a:t>
                </a:r>
                <a:r>
                  <a:rPr lang="fa-IR" dirty="0" err="1"/>
                  <a:t>وابستگی‌ها</a:t>
                </a:r>
                <a:r>
                  <a:rPr lang="fa-IR" dirty="0"/>
                  <a:t> </a:t>
                </a:r>
                <a:r>
                  <a:rPr lang="fa-IR" b="1" dirty="0" err="1"/>
                  <a:t>حفظ‌کننده</a:t>
                </a:r>
                <a:r>
                  <a:rPr lang="fa-IR" b="1" dirty="0"/>
                  <a:t> وابستگی</a:t>
                </a:r>
                <a:r>
                  <a:rPr lang="fa-IR" dirty="0"/>
                  <a:t> است، اگر</a:t>
                </a:r>
                <a:br>
                  <a:rPr lang="fa-IR" dirty="0"/>
                </a:br>
                <a14:m>
                  <m:oMath xmlns:m="http://schemas.openxmlformats.org/officeDocument/2006/math">
                    <m:d>
                      <m:dPr>
                        <m:endChr m:val=""/>
                        <m:ctrlPr>
                          <a:rPr lang="fa-IR" i="1">
                            <a:latin typeface="Cambria Math" panose="02040503050406030204" pitchFamily="18" charset="0"/>
                          </a:rPr>
                        </m:ctrlPr>
                      </m:dPr>
                      <m:e>
                        <m:sSub>
                          <m:sSubPr>
                            <m:ctrlPr>
                              <a:rPr lang="fa-IR" i="1">
                                <a:latin typeface="Cambria Math" panose="02040503050406030204" pitchFamily="18" charset="0"/>
                              </a:rPr>
                            </m:ctrlPr>
                          </m:sSubPr>
                          <m:e>
                            <m:r>
                              <a:rPr lang="fa-IR" i="1">
                                <a:latin typeface="Cambria Math" panose="02040503050406030204" pitchFamily="18" charset="0"/>
                              </a:rPr>
                              <m:t>𝐹</m:t>
                            </m:r>
                          </m:e>
                          <m:sub>
                            <m:r>
                              <a:rPr lang="fa-IR">
                                <a:latin typeface="Cambria Math" panose="02040503050406030204" pitchFamily="18" charset="0"/>
                              </a:rPr>
                              <m:t>1</m:t>
                            </m:r>
                          </m:sub>
                        </m:sSub>
                        <m:r>
                          <a:rPr lang="fa-IR">
                            <a:latin typeface="Cambria Math" panose="02040503050406030204" pitchFamily="18" charset="0"/>
                          </a:rPr>
                          <m:t>∪</m:t>
                        </m:r>
                        <m:sSub>
                          <m:sSubPr>
                            <m:ctrlPr>
                              <a:rPr lang="fa-IR" i="1">
                                <a:latin typeface="Cambria Math" panose="02040503050406030204" pitchFamily="18" charset="0"/>
                              </a:rPr>
                            </m:ctrlPr>
                          </m:sSubPr>
                          <m:e>
                            <m:r>
                              <a:rPr lang="fa-IR" i="1">
                                <a:latin typeface="Cambria Math" panose="02040503050406030204" pitchFamily="18" charset="0"/>
                              </a:rPr>
                              <m:t>𝐹</m:t>
                            </m:r>
                          </m:e>
                          <m:sub>
                            <m:r>
                              <a:rPr lang="fa-IR">
                                <a:latin typeface="Cambria Math" panose="02040503050406030204" pitchFamily="18" charset="0"/>
                              </a:rPr>
                              <m:t>2</m:t>
                            </m:r>
                          </m:sub>
                        </m:sSub>
                        <m:r>
                          <a:rPr lang="fa-IR">
                            <a:latin typeface="Cambria Math" panose="02040503050406030204" pitchFamily="18" charset="0"/>
                          </a:rPr>
                          <m:t>∪…∪</m:t>
                        </m:r>
                        <m:sSub>
                          <m:sSubPr>
                            <m:ctrlPr>
                              <a:rPr lang="fa-IR" i="1">
                                <a:latin typeface="Cambria Math" panose="02040503050406030204" pitchFamily="18" charset="0"/>
                              </a:rPr>
                            </m:ctrlPr>
                          </m:sSubPr>
                          <m:e>
                            <m:r>
                              <a:rPr lang="fa-IR" i="1">
                                <a:latin typeface="Cambria Math" panose="02040503050406030204" pitchFamily="18" charset="0"/>
                              </a:rPr>
                              <m:t>𝐹</m:t>
                            </m:r>
                          </m:e>
                          <m:sub>
                            <m:r>
                              <a:rPr lang="fa-IR" i="1">
                                <a:latin typeface="Cambria Math" panose="02040503050406030204" pitchFamily="18" charset="0"/>
                              </a:rPr>
                              <m:t>𝑛</m:t>
                            </m:r>
                          </m:sub>
                        </m:sSub>
                        <m:sSup>
                          <m:sSupPr>
                            <m:ctrlPr>
                              <a:rPr lang="fa-IR" i="1">
                                <a:latin typeface="Cambria Math" panose="02040503050406030204" pitchFamily="18" charset="0"/>
                              </a:rPr>
                            </m:ctrlPr>
                          </m:sSupPr>
                          <m:e>
                            <m:d>
                              <m:dPr>
                                <m:begChr m:val=""/>
                                <m:endChr m:val=""/>
                                <m:ctrlPr>
                                  <a:rPr lang="fa-IR" i="1">
                                    <a:latin typeface="Cambria Math" panose="02040503050406030204" pitchFamily="18" charset="0"/>
                                  </a:rPr>
                                </m:ctrlPr>
                              </m:dPr>
                              <m:e>
                                <m:r>
                                  <a:rPr lang="fa-IR">
                                    <a:latin typeface="Cambria Math" panose="02040503050406030204" pitchFamily="18" charset="0"/>
                                  </a:rPr>
                                  <m:t>)</m:t>
                                </m:r>
                              </m:e>
                            </m:d>
                          </m:e>
                          <m:sup>
                            <m:r>
                              <a:rPr lang="fa-IR">
                                <a:latin typeface="Cambria Math" panose="02040503050406030204" pitchFamily="18" charset="0"/>
                              </a:rPr>
                              <m:t>+</m:t>
                            </m:r>
                          </m:sup>
                        </m:sSup>
                        <m:r>
                          <a:rPr lang="fa-IR">
                            <a:latin typeface="Cambria Math" panose="02040503050406030204" pitchFamily="18" charset="0"/>
                          </a:rPr>
                          <m:t>=</m:t>
                        </m:r>
                        <m:sSup>
                          <m:sSupPr>
                            <m:ctrlPr>
                              <a:rPr lang="fa-IR" i="1">
                                <a:latin typeface="Cambria Math" panose="02040503050406030204" pitchFamily="18" charset="0"/>
                              </a:rPr>
                            </m:ctrlPr>
                          </m:sSupPr>
                          <m:e>
                            <m:r>
                              <a:rPr lang="fa-IR" i="1">
                                <a:latin typeface="Cambria Math" panose="02040503050406030204" pitchFamily="18" charset="0"/>
                              </a:rPr>
                              <m:t>𝐹</m:t>
                            </m:r>
                          </m:e>
                          <m:sup>
                            <m:r>
                              <a:rPr lang="fa-IR">
                                <a:latin typeface="Cambria Math" panose="02040503050406030204" pitchFamily="18" charset="0"/>
                              </a:rPr>
                              <m:t>+</m:t>
                            </m:r>
                          </m:sup>
                        </m:sSup>
                      </m:e>
                    </m:d>
                  </m:oMath>
                </a14:m>
                <a:endParaRPr lang="fa-IR" dirty="0"/>
              </a:p>
              <a:p>
                <a:pPr algn="r" rtl="1"/>
                <a:r>
                  <a:rPr lang="fa-IR" dirty="0"/>
                  <a:t>با استفاده از تعریف بالا، آزمایش برای حفظ وابستگی </a:t>
                </a:r>
                <a:r>
                  <a:rPr lang="fa-IR" b="1" dirty="0"/>
                  <a:t>زمان نمایی</a:t>
                </a:r>
                <a:r>
                  <a:rPr lang="fa-IR" dirty="0"/>
                  <a:t> </a:t>
                </a:r>
                <a:r>
                  <a:rPr lang="fa-IR" dirty="0" err="1"/>
                  <a:t>می‌برد</a:t>
                </a:r>
                <a:r>
                  <a:rPr lang="fa-IR" dirty="0"/>
                  <a:t>.</a:t>
                </a:r>
              </a:p>
              <a:p>
                <a:pPr algn="r" rtl="1"/>
                <a:r>
                  <a:rPr lang="fa-IR" dirty="0"/>
                  <a:t>توجه داشته باشید که اگر یک تجزیه </a:t>
                </a:r>
                <a:r>
                  <a:rPr lang="fa-IR" dirty="0" err="1"/>
                  <a:t>وابستگی‌ها</a:t>
                </a:r>
                <a:r>
                  <a:rPr lang="fa-IR" dirty="0"/>
                  <a:t> </a:t>
                </a:r>
                <a:r>
                  <a:rPr lang="fa-IR" b="1" dirty="0" err="1"/>
                  <a:t>حفظ‌کننده</a:t>
                </a:r>
                <a:r>
                  <a:rPr lang="fa-IR" b="1" dirty="0"/>
                  <a:t> وابستگی نباشد</a:t>
                </a:r>
                <a:r>
                  <a:rPr lang="fa-IR" dirty="0"/>
                  <a:t>، آنگاه بررسی </a:t>
                </a:r>
                <a:r>
                  <a:rPr lang="fa-IR" dirty="0" err="1"/>
                  <a:t>به‌روزرسانی‌ها</a:t>
                </a:r>
                <a:r>
                  <a:rPr lang="fa-IR" dirty="0"/>
                  <a:t> برای نقض </a:t>
                </a:r>
                <a:r>
                  <a:rPr lang="fa-IR" dirty="0" err="1"/>
                  <a:t>وابستگی‌های</a:t>
                </a:r>
                <a:r>
                  <a:rPr lang="fa-IR" dirty="0"/>
                  <a:t> </a:t>
                </a:r>
                <a:r>
                  <a:rPr lang="fa-IR" dirty="0" err="1"/>
                  <a:t>تابعی</a:t>
                </a:r>
                <a:r>
                  <a:rPr lang="fa-IR" dirty="0"/>
                  <a:t> ممکن است نیازمند محاسبه </a:t>
                </a:r>
                <a:r>
                  <a:rPr lang="fa-IR" dirty="0" err="1"/>
                  <a:t>جوین‌ها</a:t>
                </a:r>
                <a:r>
                  <a:rPr lang="fa-IR" dirty="0"/>
                  <a:t> باشد، که </a:t>
                </a:r>
                <a:r>
                  <a:rPr lang="fa-IR" dirty="0" err="1"/>
                  <a:t>هزینه‌بر</a:t>
                </a:r>
                <a:r>
                  <a:rPr lang="fa-IR" dirty="0"/>
                  <a:t> است.</a:t>
                </a:r>
              </a:p>
              <a:p>
                <a:pPr algn="r" rtl="1"/>
                <a:endParaRPr lang="en-US" altLang="en-US" dirty="0"/>
              </a:p>
            </p:txBody>
          </p:sp>
        </mc:Choice>
        <mc:Fallback xmlns="">
          <p:sp>
            <p:nvSpPr>
              <p:cNvPr id="60419" name="Rectangle 3"/>
              <p:cNvSpPr>
                <a:spLocks noGrp="1" noRot="1" noChangeAspect="1" noMove="1" noResize="1" noEditPoints="1" noAdjustHandles="1" noChangeArrowheads="1" noChangeShapeType="1" noTextEdit="1"/>
              </p:cNvSpPr>
              <p:nvPr>
                <p:ph idx="1"/>
              </p:nvPr>
            </p:nvSpPr>
            <p:spPr>
              <a:xfrm>
                <a:off x="772357" y="1093788"/>
                <a:ext cx="7818190" cy="2696159"/>
              </a:xfrm>
              <a:blipFill>
                <a:blip r:embed="rId3"/>
                <a:stretch>
                  <a:fillRect l="-546" t="-2483" r="-936" b="-3837"/>
                </a:stretch>
              </a:blipFill>
            </p:spPr>
            <p:txBody>
              <a:bodyPr/>
              <a:lstStyle/>
              <a:p>
                <a:r>
                  <a:rPr lang="en-US">
                    <a:noFill/>
                  </a:rPr>
                  <a:t> </a:t>
                </a:r>
              </a:p>
            </p:txBody>
          </p:sp>
        </mc:Fallback>
      </mc:AlternateContent>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28066" name="Rectangle 2"/>
          <p:cNvSpPr>
            <a:spLocks noGrp="1" noChangeArrowheads="1"/>
          </p:cNvSpPr>
          <p:nvPr>
            <p:ph type="title"/>
          </p:nvPr>
        </p:nvSpPr>
        <p:spPr>
          <a:xfrm>
            <a:off x="709613" y="212725"/>
            <a:ext cx="7993062" cy="441325"/>
          </a:xfrm>
        </p:spPr>
        <p:txBody>
          <a:bodyPr/>
          <a:lstStyle/>
          <a:p>
            <a:pPr>
              <a:defRPr/>
            </a:pPr>
            <a:r>
              <a:rPr lang="en-US" altLang="en-US" dirty="0">
                <a:effectLst>
                  <a:outerShdw blurRad="38100" dist="38100" dir="2700000" algn="tl">
                    <a:srgbClr val="C0C0C0"/>
                  </a:outerShdw>
                </a:effectLst>
                <a:ea typeface="ＭＳ Ｐゴシック" pitchFamily="34" charset="-128"/>
              </a:rPr>
              <a:t>Dependency Preservation (Cont.)</a:t>
            </a:r>
          </a:p>
        </p:txBody>
      </p:sp>
      <mc:AlternateContent xmlns:mc="http://schemas.openxmlformats.org/markup-compatibility/2006" xmlns:a14="http://schemas.microsoft.com/office/drawing/2010/main">
        <mc:Choice Requires="a14">
          <p:sp>
            <p:nvSpPr>
              <p:cNvPr id="61443" name="Rectangle 3"/>
              <p:cNvSpPr>
                <a:spLocks noGrp="1" noChangeArrowheads="1"/>
              </p:cNvSpPr>
              <p:nvPr>
                <p:ph idx="1"/>
              </p:nvPr>
            </p:nvSpPr>
            <p:spPr>
              <a:xfrm>
                <a:off x="781235" y="1093788"/>
                <a:ext cx="7688998" cy="3466180"/>
              </a:xfrm>
            </p:spPr>
            <p:txBody>
              <a:bodyPr/>
              <a:lstStyle/>
              <a:p>
                <a:pPr algn="r" rtl="1"/>
                <a:r>
                  <a:rPr lang="fa-IR" dirty="0"/>
                  <a:t>فرض کنید </a:t>
                </a:r>
                <a14:m>
                  <m:oMath xmlns:m="http://schemas.openxmlformats.org/officeDocument/2006/math">
                    <m:r>
                      <a:rPr lang="fa-IR" i="1">
                        <a:latin typeface="Cambria Math" panose="02040503050406030204" pitchFamily="18" charset="0"/>
                      </a:rPr>
                      <m:t>𝐹</m:t>
                    </m:r>
                  </m:oMath>
                </a14:m>
                <a:r>
                  <a:rPr lang="fa-IR" dirty="0"/>
                  <a:t>مجموعه </a:t>
                </a:r>
                <a:r>
                  <a:rPr lang="fa-IR" dirty="0" err="1"/>
                  <a:t>وابستگی‌ها</a:t>
                </a:r>
                <a:r>
                  <a:rPr lang="fa-IR" dirty="0"/>
                  <a:t> روی طرح </a:t>
                </a:r>
                <a:r>
                  <a:rPr lang="fa-IR" dirty="0" err="1"/>
                  <a:t>رابطه‌ای</a:t>
                </a:r>
                <a:r>
                  <a:rPr lang="fa-IR" dirty="0"/>
                  <a:t> </a:t>
                </a:r>
                <a14:m>
                  <m:oMath xmlns:m="http://schemas.openxmlformats.org/officeDocument/2006/math">
                    <m:r>
                      <a:rPr lang="fa-IR" i="1">
                        <a:latin typeface="Cambria Math" panose="02040503050406030204" pitchFamily="18" charset="0"/>
                      </a:rPr>
                      <m:t>𝑅</m:t>
                    </m:r>
                  </m:oMath>
                </a14:m>
                <a:r>
                  <a:rPr lang="fa-IR" dirty="0"/>
                  <a:t>باشد و </a:t>
                </a:r>
                <a14:m>
                  <m:oMath xmlns:m="http://schemas.openxmlformats.org/officeDocument/2006/math">
                    <m:sSub>
                      <m:sSubPr>
                        <m:ctrlPr>
                          <a:rPr lang="fa-IR" i="1">
                            <a:latin typeface="Cambria Math" panose="02040503050406030204" pitchFamily="18" charset="0"/>
                          </a:rPr>
                        </m:ctrlPr>
                      </m:sSubPr>
                      <m:e>
                        <m:r>
                          <a:rPr lang="fa-IR" i="1">
                            <a:latin typeface="Cambria Math" panose="02040503050406030204" pitchFamily="18" charset="0"/>
                          </a:rPr>
                          <m:t>𝑅</m:t>
                        </m:r>
                      </m:e>
                      <m:sub>
                        <m:r>
                          <a:rPr lang="fa-IR">
                            <a:latin typeface="Cambria Math" panose="02040503050406030204" pitchFamily="18" charset="0"/>
                          </a:rPr>
                          <m:t>1</m:t>
                        </m:r>
                      </m:sub>
                    </m:sSub>
                    <m:r>
                      <a:rPr lang="fa-IR">
                        <a:latin typeface="Cambria Math" panose="02040503050406030204" pitchFamily="18" charset="0"/>
                      </a:rPr>
                      <m:t>,</m:t>
                    </m:r>
                    <m:sSub>
                      <m:sSubPr>
                        <m:ctrlPr>
                          <a:rPr lang="fa-IR" i="1">
                            <a:latin typeface="Cambria Math" panose="02040503050406030204" pitchFamily="18" charset="0"/>
                          </a:rPr>
                        </m:ctrlPr>
                      </m:sSubPr>
                      <m:e>
                        <m:r>
                          <a:rPr lang="fa-IR" i="1">
                            <a:latin typeface="Cambria Math" panose="02040503050406030204" pitchFamily="18" charset="0"/>
                          </a:rPr>
                          <m:t>𝑅</m:t>
                        </m:r>
                      </m:e>
                      <m:sub>
                        <m:r>
                          <a:rPr lang="fa-IR">
                            <a:latin typeface="Cambria Math" panose="02040503050406030204" pitchFamily="18" charset="0"/>
                          </a:rPr>
                          <m:t>2</m:t>
                        </m:r>
                      </m:sub>
                    </m:sSub>
                    <m:r>
                      <a:rPr lang="fa-IR">
                        <a:latin typeface="Cambria Math" panose="02040503050406030204" pitchFamily="18" charset="0"/>
                      </a:rPr>
                      <m:t>,…,</m:t>
                    </m:r>
                    <m:sSub>
                      <m:sSubPr>
                        <m:ctrlPr>
                          <a:rPr lang="fa-IR" i="1">
                            <a:latin typeface="Cambria Math" panose="02040503050406030204" pitchFamily="18" charset="0"/>
                          </a:rPr>
                        </m:ctrlPr>
                      </m:sSubPr>
                      <m:e>
                        <m:r>
                          <a:rPr lang="fa-IR" i="1">
                            <a:latin typeface="Cambria Math" panose="02040503050406030204" pitchFamily="18" charset="0"/>
                          </a:rPr>
                          <m:t>𝑅</m:t>
                        </m:r>
                      </m:e>
                      <m:sub>
                        <m:r>
                          <a:rPr lang="fa-IR" i="1">
                            <a:latin typeface="Cambria Math" panose="02040503050406030204" pitchFamily="18" charset="0"/>
                          </a:rPr>
                          <m:t>𝑛</m:t>
                        </m:r>
                      </m:sub>
                    </m:sSub>
                  </m:oMath>
                </a14:m>
                <a:r>
                  <a:rPr lang="fa-IR" dirty="0"/>
                  <a:t>یک تجزیه از </a:t>
                </a:r>
                <a14:m>
                  <m:oMath xmlns:m="http://schemas.openxmlformats.org/officeDocument/2006/math">
                    <m:r>
                      <a:rPr lang="fa-IR" i="1">
                        <a:latin typeface="Cambria Math" panose="02040503050406030204" pitchFamily="18" charset="0"/>
                      </a:rPr>
                      <m:t>𝑅</m:t>
                    </m:r>
                  </m:oMath>
                </a14:m>
                <a:r>
                  <a:rPr lang="fa-IR" dirty="0"/>
                  <a:t>باشد.</a:t>
                </a:r>
              </a:p>
              <a:p>
                <a:pPr algn="r" rtl="1"/>
                <a:r>
                  <a:rPr lang="fa-IR" dirty="0" err="1"/>
                  <a:t>محدودسازی</a:t>
                </a:r>
                <a:r>
                  <a:rPr lang="fa-IR" dirty="0"/>
                  <a:t> </a:t>
                </a:r>
                <a14:m>
                  <m:oMath xmlns:m="http://schemas.openxmlformats.org/officeDocument/2006/math">
                    <m:r>
                      <a:rPr lang="fa-IR" i="1">
                        <a:latin typeface="Cambria Math" panose="02040503050406030204" pitchFamily="18" charset="0"/>
                      </a:rPr>
                      <m:t>𝐹</m:t>
                    </m:r>
                  </m:oMath>
                </a14:m>
                <a:r>
                  <a:rPr lang="fa-IR" dirty="0"/>
                  <a:t>به </a:t>
                </a:r>
                <a14:m>
                  <m:oMath xmlns:m="http://schemas.openxmlformats.org/officeDocument/2006/math">
                    <m:sSub>
                      <m:sSubPr>
                        <m:ctrlPr>
                          <a:rPr lang="fa-IR" i="1">
                            <a:latin typeface="Cambria Math" panose="02040503050406030204" pitchFamily="18" charset="0"/>
                          </a:rPr>
                        </m:ctrlPr>
                      </m:sSubPr>
                      <m:e>
                        <m:r>
                          <a:rPr lang="fa-IR" i="1">
                            <a:latin typeface="Cambria Math" panose="02040503050406030204" pitchFamily="18" charset="0"/>
                          </a:rPr>
                          <m:t>𝑅</m:t>
                        </m:r>
                      </m:e>
                      <m:sub>
                        <m:r>
                          <a:rPr lang="fa-IR" i="1">
                            <a:latin typeface="Cambria Math" panose="02040503050406030204" pitchFamily="18" charset="0"/>
                          </a:rPr>
                          <m:t>𝑖</m:t>
                        </m:r>
                      </m:sub>
                    </m:sSub>
                  </m:oMath>
                </a14:m>
                <a:r>
                  <a:rPr lang="fa-IR" dirty="0" err="1"/>
                  <a:t>مجموعه‌ای</a:t>
                </a:r>
                <a:r>
                  <a:rPr lang="fa-IR" dirty="0"/>
                  <a:t> </a:t>
                </a:r>
                <a14:m>
                  <m:oMath xmlns:m="http://schemas.openxmlformats.org/officeDocument/2006/math">
                    <m:sSub>
                      <m:sSubPr>
                        <m:ctrlPr>
                          <a:rPr lang="fa-IR" i="1">
                            <a:latin typeface="Cambria Math" panose="02040503050406030204" pitchFamily="18" charset="0"/>
                          </a:rPr>
                        </m:ctrlPr>
                      </m:sSubPr>
                      <m:e>
                        <m:r>
                          <a:rPr lang="fa-IR" i="1">
                            <a:latin typeface="Cambria Math" panose="02040503050406030204" pitchFamily="18" charset="0"/>
                          </a:rPr>
                          <m:t>𝐹</m:t>
                        </m:r>
                      </m:e>
                      <m:sub>
                        <m:r>
                          <a:rPr lang="fa-IR" i="1">
                            <a:latin typeface="Cambria Math" panose="02040503050406030204" pitchFamily="18" charset="0"/>
                          </a:rPr>
                          <m:t>𝑖</m:t>
                        </m:r>
                      </m:sub>
                    </m:sSub>
                  </m:oMath>
                </a14:m>
                <a:r>
                  <a:rPr lang="fa-IR" dirty="0"/>
                  <a:t>است از تمام </a:t>
                </a:r>
                <a:r>
                  <a:rPr lang="fa-IR" dirty="0" err="1"/>
                  <a:t>وابستگی‌های</a:t>
                </a:r>
                <a:r>
                  <a:rPr lang="fa-IR" dirty="0"/>
                  <a:t> </a:t>
                </a:r>
                <a:r>
                  <a:rPr lang="fa-IR" dirty="0" err="1"/>
                  <a:t>تابعی</a:t>
                </a:r>
                <a:r>
                  <a:rPr lang="fa-IR" dirty="0"/>
                  <a:t> در </a:t>
                </a:r>
                <a14:m>
                  <m:oMath xmlns:m="http://schemas.openxmlformats.org/officeDocument/2006/math">
                    <m:sSup>
                      <m:sSupPr>
                        <m:ctrlPr>
                          <a:rPr lang="fa-IR" i="1">
                            <a:latin typeface="Cambria Math" panose="02040503050406030204" pitchFamily="18" charset="0"/>
                          </a:rPr>
                        </m:ctrlPr>
                      </m:sSupPr>
                      <m:e>
                        <m:r>
                          <a:rPr lang="fa-IR" i="1">
                            <a:latin typeface="Cambria Math" panose="02040503050406030204" pitchFamily="18" charset="0"/>
                          </a:rPr>
                          <m:t>𝐹</m:t>
                        </m:r>
                      </m:e>
                      <m:sup>
                        <m:r>
                          <a:rPr lang="fa-IR">
                            <a:latin typeface="Cambria Math" panose="02040503050406030204" pitchFamily="18" charset="0"/>
                          </a:rPr>
                          <m:t>+</m:t>
                        </m:r>
                      </m:sup>
                    </m:sSup>
                  </m:oMath>
                </a14:m>
                <a:r>
                  <a:rPr lang="fa-IR" dirty="0"/>
                  <a:t>که فقط شامل صفات </a:t>
                </a:r>
                <a14:m>
                  <m:oMath xmlns:m="http://schemas.openxmlformats.org/officeDocument/2006/math">
                    <m:sSub>
                      <m:sSubPr>
                        <m:ctrlPr>
                          <a:rPr lang="fa-IR" i="1">
                            <a:latin typeface="Cambria Math" panose="02040503050406030204" pitchFamily="18" charset="0"/>
                          </a:rPr>
                        </m:ctrlPr>
                      </m:sSubPr>
                      <m:e>
                        <m:r>
                          <a:rPr lang="fa-IR" i="1">
                            <a:latin typeface="Cambria Math" panose="02040503050406030204" pitchFamily="18" charset="0"/>
                          </a:rPr>
                          <m:t>𝑅</m:t>
                        </m:r>
                      </m:e>
                      <m:sub>
                        <m:r>
                          <a:rPr lang="fa-IR" i="1">
                            <a:latin typeface="Cambria Math" panose="02040503050406030204" pitchFamily="18" charset="0"/>
                          </a:rPr>
                          <m:t>𝑖</m:t>
                        </m:r>
                      </m:sub>
                    </m:sSub>
                  </m:oMath>
                </a14:m>
                <a:r>
                  <a:rPr lang="fa-IR" dirty="0"/>
                  <a:t>هستند.</a:t>
                </a:r>
              </a:p>
              <a:p>
                <a:pPr algn="r" rtl="1"/>
                <a:r>
                  <a:rPr lang="fa-IR" dirty="0"/>
                  <a:t>از آنجا که تمام </a:t>
                </a:r>
                <a:r>
                  <a:rPr lang="fa-IR" dirty="0" err="1"/>
                  <a:t>وابستگی‌های</a:t>
                </a:r>
                <a:r>
                  <a:rPr lang="fa-IR" dirty="0"/>
                  <a:t> </a:t>
                </a:r>
                <a:r>
                  <a:rPr lang="fa-IR" dirty="0" err="1"/>
                  <a:t>تابعی</a:t>
                </a:r>
                <a:r>
                  <a:rPr lang="fa-IR" dirty="0"/>
                  <a:t> در یک </a:t>
                </a:r>
                <a:r>
                  <a:rPr lang="fa-IR" dirty="0" err="1"/>
                  <a:t>محدودسازی</a:t>
                </a:r>
                <a:r>
                  <a:rPr lang="fa-IR" dirty="0"/>
                  <a:t> فقط شامل صفات یک طرح </a:t>
                </a:r>
                <a:r>
                  <a:rPr lang="fa-IR" dirty="0" err="1"/>
                  <a:t>رابطه‌ای</a:t>
                </a:r>
                <a:r>
                  <a:rPr lang="fa-IR" dirty="0"/>
                  <a:t> هستند، امکان بررسی برآورده شدن چنین </a:t>
                </a:r>
                <a:r>
                  <a:rPr lang="fa-IR" dirty="0" err="1"/>
                  <a:t>وابستگی‌ای</a:t>
                </a:r>
                <a:r>
                  <a:rPr lang="fa-IR" dirty="0"/>
                  <a:t> تنها با بررسی همان رابطه وجود دارد.</a:t>
                </a:r>
              </a:p>
              <a:p>
                <a:pPr algn="r" rtl="1"/>
                <a:r>
                  <a:rPr lang="fa-IR" dirty="0"/>
                  <a:t>توجه داشته باشید که تعریف </a:t>
                </a:r>
                <a:r>
                  <a:rPr lang="fa-IR" dirty="0" err="1"/>
                  <a:t>محدودسازی</a:t>
                </a:r>
                <a:r>
                  <a:rPr lang="fa-IR" dirty="0"/>
                  <a:t> از تمام </a:t>
                </a:r>
                <a:r>
                  <a:rPr lang="fa-IR" dirty="0" err="1"/>
                  <a:t>وابستگی‌ها</a:t>
                </a:r>
                <a:r>
                  <a:rPr lang="fa-IR" dirty="0"/>
                  <a:t> در </a:t>
                </a:r>
                <a14:m>
                  <m:oMath xmlns:m="http://schemas.openxmlformats.org/officeDocument/2006/math">
                    <m:sSup>
                      <m:sSupPr>
                        <m:ctrlPr>
                          <a:rPr lang="fa-IR" i="1">
                            <a:latin typeface="Cambria Math" panose="02040503050406030204" pitchFamily="18" charset="0"/>
                          </a:rPr>
                        </m:ctrlPr>
                      </m:sSupPr>
                      <m:e>
                        <m:r>
                          <a:rPr lang="fa-IR" i="1">
                            <a:latin typeface="Cambria Math" panose="02040503050406030204" pitchFamily="18" charset="0"/>
                          </a:rPr>
                          <m:t>𝐹</m:t>
                        </m:r>
                      </m:e>
                      <m:sup>
                        <m:r>
                          <a:rPr lang="fa-IR">
                            <a:latin typeface="Cambria Math" panose="02040503050406030204" pitchFamily="18" charset="0"/>
                          </a:rPr>
                          <m:t>+</m:t>
                        </m:r>
                      </m:sup>
                    </m:sSup>
                  </m:oMath>
                </a14:m>
                <a:r>
                  <a:rPr lang="fa-IR" dirty="0"/>
                  <a:t>استفاده </a:t>
                </a:r>
                <a:r>
                  <a:rPr lang="fa-IR" dirty="0" err="1"/>
                  <a:t>می‌کند</a:t>
                </a:r>
                <a:r>
                  <a:rPr lang="fa-IR" dirty="0"/>
                  <a:t>، نه فقط </a:t>
                </a:r>
                <a:r>
                  <a:rPr lang="fa-IR" dirty="0" err="1"/>
                  <a:t>وابستگی‌های</a:t>
                </a:r>
                <a:r>
                  <a:rPr lang="fa-IR" dirty="0"/>
                  <a:t> موجود در </a:t>
                </a:r>
                <a14:m>
                  <m:oMath xmlns:m="http://schemas.openxmlformats.org/officeDocument/2006/math">
                    <m:r>
                      <a:rPr lang="fa-IR" i="1">
                        <a:latin typeface="Cambria Math" panose="02040503050406030204" pitchFamily="18" charset="0"/>
                      </a:rPr>
                      <m:t>𝐹</m:t>
                    </m:r>
                  </m:oMath>
                </a14:m>
                <a:r>
                  <a:rPr lang="fa-IR" dirty="0"/>
                  <a:t>.</a:t>
                </a:r>
              </a:p>
              <a:p>
                <a:pPr algn="r" rtl="1"/>
                <a:r>
                  <a:rPr lang="fa-IR" dirty="0"/>
                  <a:t>مجموعه </a:t>
                </a:r>
                <a:r>
                  <a:rPr lang="fa-IR" dirty="0" err="1"/>
                  <a:t>محدودسازی‌ها</a:t>
                </a:r>
                <a:r>
                  <a:rPr lang="fa-IR" dirty="0"/>
                  <a:t> </a:t>
                </a:r>
                <a14:m>
                  <m:oMath xmlns:m="http://schemas.openxmlformats.org/officeDocument/2006/math">
                    <m:sSub>
                      <m:sSubPr>
                        <m:ctrlPr>
                          <a:rPr lang="fa-IR" i="1">
                            <a:latin typeface="Cambria Math" panose="02040503050406030204" pitchFamily="18" charset="0"/>
                          </a:rPr>
                        </m:ctrlPr>
                      </m:sSubPr>
                      <m:e>
                        <m:r>
                          <a:rPr lang="fa-IR" i="1">
                            <a:latin typeface="Cambria Math" panose="02040503050406030204" pitchFamily="18" charset="0"/>
                          </a:rPr>
                          <m:t>𝐹</m:t>
                        </m:r>
                      </m:e>
                      <m:sub>
                        <m:r>
                          <a:rPr lang="fa-IR">
                            <a:latin typeface="Cambria Math" panose="02040503050406030204" pitchFamily="18" charset="0"/>
                          </a:rPr>
                          <m:t>1</m:t>
                        </m:r>
                      </m:sub>
                    </m:sSub>
                    <m:r>
                      <a:rPr lang="fa-IR">
                        <a:latin typeface="Cambria Math" panose="02040503050406030204" pitchFamily="18" charset="0"/>
                      </a:rPr>
                      <m:t>,</m:t>
                    </m:r>
                    <m:sSub>
                      <m:sSubPr>
                        <m:ctrlPr>
                          <a:rPr lang="fa-IR" i="1">
                            <a:latin typeface="Cambria Math" panose="02040503050406030204" pitchFamily="18" charset="0"/>
                          </a:rPr>
                        </m:ctrlPr>
                      </m:sSubPr>
                      <m:e>
                        <m:r>
                          <a:rPr lang="fa-IR" i="1">
                            <a:latin typeface="Cambria Math" panose="02040503050406030204" pitchFamily="18" charset="0"/>
                          </a:rPr>
                          <m:t>𝐹</m:t>
                        </m:r>
                      </m:e>
                      <m:sub>
                        <m:r>
                          <a:rPr lang="fa-IR">
                            <a:latin typeface="Cambria Math" panose="02040503050406030204" pitchFamily="18" charset="0"/>
                          </a:rPr>
                          <m:t>2</m:t>
                        </m:r>
                      </m:sub>
                    </m:sSub>
                    <m:r>
                      <a:rPr lang="fa-IR">
                        <a:latin typeface="Cambria Math" panose="02040503050406030204" pitchFamily="18" charset="0"/>
                      </a:rPr>
                      <m:t>,…,</m:t>
                    </m:r>
                    <m:sSub>
                      <m:sSubPr>
                        <m:ctrlPr>
                          <a:rPr lang="fa-IR" i="1">
                            <a:latin typeface="Cambria Math" panose="02040503050406030204" pitchFamily="18" charset="0"/>
                          </a:rPr>
                        </m:ctrlPr>
                      </m:sSubPr>
                      <m:e>
                        <m:r>
                          <a:rPr lang="fa-IR" i="1">
                            <a:latin typeface="Cambria Math" panose="02040503050406030204" pitchFamily="18" charset="0"/>
                          </a:rPr>
                          <m:t>𝐹</m:t>
                        </m:r>
                      </m:e>
                      <m:sub>
                        <m:r>
                          <a:rPr lang="fa-IR" i="1">
                            <a:latin typeface="Cambria Math" panose="02040503050406030204" pitchFamily="18" charset="0"/>
                          </a:rPr>
                          <m:t>𝑛</m:t>
                        </m:r>
                      </m:sub>
                    </m:sSub>
                  </m:oMath>
                </a14:m>
                <a:r>
                  <a:rPr lang="fa-IR" dirty="0" err="1"/>
                  <a:t>مجموعه‌ای</a:t>
                </a:r>
                <a:r>
                  <a:rPr lang="fa-IR" dirty="0"/>
                  <a:t> از </a:t>
                </a:r>
                <a:r>
                  <a:rPr lang="fa-IR" dirty="0" err="1"/>
                  <a:t>وابستگی‌های</a:t>
                </a:r>
                <a:r>
                  <a:rPr lang="fa-IR" dirty="0"/>
                  <a:t> </a:t>
                </a:r>
                <a:r>
                  <a:rPr lang="fa-IR" dirty="0" err="1"/>
                  <a:t>تابعی</a:t>
                </a:r>
                <a:r>
                  <a:rPr lang="fa-IR" dirty="0"/>
                  <a:t> است که </a:t>
                </a:r>
                <a:r>
                  <a:rPr lang="fa-IR" dirty="0" err="1"/>
                  <a:t>می‌توان</a:t>
                </a:r>
                <a:r>
                  <a:rPr lang="fa-IR" dirty="0"/>
                  <a:t> </a:t>
                </a:r>
                <a:r>
                  <a:rPr lang="fa-IR" dirty="0" err="1"/>
                  <a:t>آن‌ها</a:t>
                </a:r>
                <a:r>
                  <a:rPr lang="fa-IR" dirty="0"/>
                  <a:t> را </a:t>
                </a:r>
                <a:r>
                  <a:rPr lang="fa-IR" dirty="0" err="1"/>
                  <a:t>به‌طور</a:t>
                </a:r>
                <a:r>
                  <a:rPr lang="fa-IR" dirty="0"/>
                  <a:t> مؤثر بررسی کرد.</a:t>
                </a:r>
              </a:p>
              <a:p>
                <a:pPr algn="r" rtl="1"/>
                <a:endParaRPr lang="en-US" altLang="en-US" dirty="0"/>
              </a:p>
            </p:txBody>
          </p:sp>
        </mc:Choice>
        <mc:Fallback xmlns="">
          <p:sp>
            <p:nvSpPr>
              <p:cNvPr id="61443" name="Rectangle 3"/>
              <p:cNvSpPr>
                <a:spLocks noGrp="1" noRot="1" noChangeAspect="1" noMove="1" noResize="1" noEditPoints="1" noAdjustHandles="1" noChangeArrowheads="1" noChangeShapeType="1" noTextEdit="1"/>
              </p:cNvSpPr>
              <p:nvPr>
                <p:ph idx="1"/>
              </p:nvPr>
            </p:nvSpPr>
            <p:spPr>
              <a:xfrm>
                <a:off x="781235" y="1093788"/>
                <a:ext cx="7688998" cy="3466180"/>
              </a:xfrm>
              <a:blipFill>
                <a:blip r:embed="rId3"/>
                <a:stretch>
                  <a:fillRect l="-397" t="-1933" r="-952" b="-5975"/>
                </a:stretch>
              </a:blipFill>
            </p:spPr>
            <p:txBody>
              <a:bodyPr/>
              <a:lstStyle/>
              <a:p>
                <a:r>
                  <a:rPr lang="en-US">
                    <a:noFill/>
                  </a:rPr>
                  <a:t> </a:t>
                </a:r>
              </a:p>
            </p:txBody>
          </p:sp>
        </mc:Fallback>
      </mc:AlternateContent>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30114" name="Rectangle 2"/>
          <p:cNvSpPr>
            <a:spLocks noGrp="1" noChangeArrowheads="1"/>
          </p:cNvSpPr>
          <p:nvPr>
            <p:ph type="title"/>
          </p:nvPr>
        </p:nvSpPr>
        <p:spPr>
          <a:xfrm>
            <a:off x="766763" y="100013"/>
            <a:ext cx="8077200" cy="609600"/>
          </a:xfrm>
        </p:spPr>
        <p:txBody>
          <a:bodyPr/>
          <a:lstStyle/>
          <a:p>
            <a:pPr>
              <a:defRPr/>
            </a:pPr>
            <a:r>
              <a:rPr lang="en-US" altLang="en-US" dirty="0">
                <a:effectLst>
                  <a:outerShdw blurRad="38100" dist="38100" dir="2700000" algn="tl">
                    <a:srgbClr val="C0C0C0"/>
                  </a:outerShdw>
                </a:effectLst>
                <a:ea typeface="ＭＳ Ｐゴシック" pitchFamily="34" charset="-128"/>
              </a:rPr>
              <a:t>Testing for Dependency Preservation</a:t>
            </a:r>
          </a:p>
        </p:txBody>
      </p:sp>
      <mc:AlternateContent xmlns:mc="http://schemas.openxmlformats.org/markup-compatibility/2006" xmlns:a14="http://schemas.microsoft.com/office/drawing/2010/main">
        <mc:Choice Requires="a14">
          <p:sp>
            <p:nvSpPr>
              <p:cNvPr id="62467" name="Rectangle 3"/>
              <p:cNvSpPr>
                <a:spLocks noGrp="1" noChangeArrowheads="1"/>
              </p:cNvSpPr>
              <p:nvPr>
                <p:ph type="body" idx="4294967295"/>
              </p:nvPr>
            </p:nvSpPr>
            <p:spPr>
              <a:xfrm>
                <a:off x="1404938" y="1100138"/>
                <a:ext cx="7739062" cy="4591050"/>
              </a:xfrm>
            </p:spPr>
            <p:txBody>
              <a:bodyPr/>
              <a:lstStyle/>
              <a:p>
                <a:pPr algn="r" rtl="1"/>
                <a:r>
                  <a:rPr lang="fa-IR" dirty="0"/>
                  <a:t>برای بررسی اینکه آیا یک وابستگی </a:t>
                </a:r>
                <a:r>
                  <a:rPr lang="el-GR" dirty="0"/>
                  <a:t>α → β </a:t>
                </a:r>
                <a:r>
                  <a:rPr lang="fa-IR" dirty="0"/>
                  <a:t>در </a:t>
                </a:r>
                <a:r>
                  <a:rPr lang="fa-IR" dirty="0" err="1"/>
                  <a:t>تجزیه‌ای</a:t>
                </a:r>
                <a:r>
                  <a:rPr lang="fa-IR" dirty="0"/>
                  <a:t> از </a:t>
                </a:r>
                <a14:m>
                  <m:oMath xmlns:m="http://schemas.openxmlformats.org/officeDocument/2006/math">
                    <m:r>
                      <a:rPr lang="fa-IR" i="1">
                        <a:latin typeface="Cambria Math" panose="02040503050406030204" pitchFamily="18" charset="0"/>
                      </a:rPr>
                      <m:t>𝑅</m:t>
                    </m:r>
                  </m:oMath>
                </a14:m>
                <a:r>
                  <a:rPr lang="fa-IR" dirty="0"/>
                  <a:t>به </a:t>
                </a:r>
                <a14:m>
                  <m:oMath xmlns:m="http://schemas.openxmlformats.org/officeDocument/2006/math">
                    <m:sSub>
                      <m:sSubPr>
                        <m:ctrlPr>
                          <a:rPr lang="fa-IR" i="1">
                            <a:latin typeface="Cambria Math" panose="02040503050406030204" pitchFamily="18" charset="0"/>
                          </a:rPr>
                        </m:ctrlPr>
                      </m:sSubPr>
                      <m:e>
                        <m:r>
                          <a:rPr lang="fa-IR" i="1">
                            <a:latin typeface="Cambria Math" panose="02040503050406030204" pitchFamily="18" charset="0"/>
                          </a:rPr>
                          <m:t>𝑅</m:t>
                        </m:r>
                      </m:e>
                      <m:sub>
                        <m:r>
                          <a:rPr lang="fa-IR">
                            <a:latin typeface="Cambria Math" panose="02040503050406030204" pitchFamily="18" charset="0"/>
                          </a:rPr>
                          <m:t>1</m:t>
                        </m:r>
                      </m:sub>
                    </m:sSub>
                    <m:r>
                      <a:rPr lang="fa-IR">
                        <a:latin typeface="Cambria Math" panose="02040503050406030204" pitchFamily="18" charset="0"/>
                      </a:rPr>
                      <m:t>,</m:t>
                    </m:r>
                    <m:sSub>
                      <m:sSubPr>
                        <m:ctrlPr>
                          <a:rPr lang="fa-IR" i="1">
                            <a:latin typeface="Cambria Math" panose="02040503050406030204" pitchFamily="18" charset="0"/>
                          </a:rPr>
                        </m:ctrlPr>
                      </m:sSubPr>
                      <m:e>
                        <m:r>
                          <a:rPr lang="fa-IR" i="1">
                            <a:latin typeface="Cambria Math" panose="02040503050406030204" pitchFamily="18" charset="0"/>
                          </a:rPr>
                          <m:t>𝑅</m:t>
                        </m:r>
                      </m:e>
                      <m:sub>
                        <m:r>
                          <a:rPr lang="fa-IR">
                            <a:latin typeface="Cambria Math" panose="02040503050406030204" pitchFamily="18" charset="0"/>
                          </a:rPr>
                          <m:t>2</m:t>
                        </m:r>
                      </m:sub>
                    </m:sSub>
                    <m:r>
                      <a:rPr lang="fa-IR">
                        <a:latin typeface="Cambria Math" panose="02040503050406030204" pitchFamily="18" charset="0"/>
                      </a:rPr>
                      <m:t>,…,</m:t>
                    </m:r>
                    <m:sSub>
                      <m:sSubPr>
                        <m:ctrlPr>
                          <a:rPr lang="fa-IR" i="1">
                            <a:latin typeface="Cambria Math" panose="02040503050406030204" pitchFamily="18" charset="0"/>
                          </a:rPr>
                        </m:ctrlPr>
                      </m:sSubPr>
                      <m:e>
                        <m:r>
                          <a:rPr lang="fa-IR" i="1">
                            <a:latin typeface="Cambria Math" panose="02040503050406030204" pitchFamily="18" charset="0"/>
                          </a:rPr>
                          <m:t>𝑅</m:t>
                        </m:r>
                      </m:e>
                      <m:sub>
                        <m:r>
                          <a:rPr lang="fa-IR" i="1">
                            <a:latin typeface="Cambria Math" panose="02040503050406030204" pitchFamily="18" charset="0"/>
                          </a:rPr>
                          <m:t>𝑛</m:t>
                        </m:r>
                      </m:sub>
                    </m:sSub>
                  </m:oMath>
                </a14:m>
                <a:r>
                  <a:rPr lang="fa-IR" dirty="0"/>
                  <a:t>حفظ شده است، از آزمون زیر استفاده </a:t>
                </a:r>
                <a:r>
                  <a:rPr lang="fa-IR" dirty="0" err="1"/>
                  <a:t>می‌کنیم</a:t>
                </a:r>
                <a:r>
                  <a:rPr lang="fa-IR" dirty="0"/>
                  <a:t> (بسته </a:t>
                </a:r>
                <a:r>
                  <a:rPr lang="fa-IR" dirty="0" err="1"/>
                  <a:t>صفت‌ها</a:t>
                </a:r>
                <a:r>
                  <a:rPr lang="fa-IR" dirty="0"/>
                  <a:t> با توجه به </a:t>
                </a:r>
                <a14:m>
                  <m:oMath xmlns:m="http://schemas.openxmlformats.org/officeDocument/2006/math">
                    <m:r>
                      <a:rPr lang="fa-IR" i="1">
                        <a:latin typeface="Cambria Math" panose="02040503050406030204" pitchFamily="18" charset="0"/>
                      </a:rPr>
                      <m:t>𝐹</m:t>
                    </m:r>
                  </m:oMath>
                </a14:m>
                <a:r>
                  <a:rPr lang="fa-IR" dirty="0"/>
                  <a:t>محاسبه </a:t>
                </a:r>
                <a:r>
                  <a:rPr lang="fa-IR" dirty="0" err="1"/>
                  <a:t>می‌شود</a:t>
                </a:r>
                <a:r>
                  <a:rPr lang="fa-IR" dirty="0"/>
                  <a:t>):</a:t>
                </a:r>
              </a:p>
              <a:p>
                <a:pPr algn="r" rtl="1"/>
                <a:r>
                  <a:rPr lang="en-US" dirty="0"/>
                  <a:t>result = </a:t>
                </a:r>
                <a:r>
                  <a:rPr lang="el-GR" dirty="0"/>
                  <a:t>α  </a:t>
                </a:r>
              </a:p>
              <a:p>
                <a:pPr algn="r" rtl="1"/>
                <a:r>
                  <a:rPr lang="fa-IR" dirty="0"/>
                  <a:t>تکرار کن:  </a:t>
                </a:r>
              </a:p>
              <a:p>
                <a:pPr algn="r" rtl="1"/>
                <a:r>
                  <a:rPr lang="fa-IR" dirty="0"/>
                  <a:t>    برای هر </a:t>
                </a:r>
                <a:r>
                  <a:rPr lang="en-US" dirty="0"/>
                  <a:t>Ri </a:t>
                </a:r>
                <a:r>
                  <a:rPr lang="fa-IR" dirty="0"/>
                  <a:t>در تجزیه:  </a:t>
                </a:r>
              </a:p>
              <a:p>
                <a:pPr algn="r" rtl="1"/>
                <a:r>
                  <a:rPr lang="fa-IR" dirty="0"/>
                  <a:t>        </a:t>
                </a:r>
                <a:r>
                  <a:rPr lang="en-US" dirty="0"/>
                  <a:t>t = (result ∩ Ri)^+ ∩ Ri  </a:t>
                </a:r>
              </a:p>
              <a:p>
                <a:pPr algn="r" rtl="1"/>
                <a:r>
                  <a:rPr lang="en-US" dirty="0"/>
                  <a:t>        result = result ∪ t  </a:t>
                </a:r>
              </a:p>
              <a:p>
                <a:pPr algn="r" rtl="1"/>
                <a:r>
                  <a:rPr lang="fa-IR" dirty="0"/>
                  <a:t>تا زمانی که </a:t>
                </a:r>
                <a:r>
                  <a:rPr lang="en-US" dirty="0"/>
                  <a:t>result </a:t>
                </a:r>
                <a:r>
                  <a:rPr lang="fa-IR" dirty="0"/>
                  <a:t>تغییر نکند  </a:t>
                </a:r>
              </a:p>
              <a:p>
                <a:pPr algn="r" rtl="1"/>
                <a:r>
                  <a:rPr lang="fa-IR" dirty="0"/>
                  <a:t>اگر </a:t>
                </a:r>
                <a:r>
                  <a:rPr lang="en-US" dirty="0"/>
                  <a:t>result </a:t>
                </a:r>
                <a:r>
                  <a:rPr lang="fa-IR" dirty="0"/>
                  <a:t>شامل تمام صفات </a:t>
                </a:r>
                <a:r>
                  <a:rPr lang="el-GR" dirty="0"/>
                  <a:t>β </a:t>
                </a:r>
                <a:r>
                  <a:rPr lang="fa-IR" dirty="0"/>
                  <a:t>باشد، آنگاه وابستگی </a:t>
                </a:r>
                <a:r>
                  <a:rPr lang="fa-IR" dirty="0" err="1"/>
                  <a:t>تابعی</a:t>
                </a:r>
                <a:r>
                  <a:rPr lang="fa-IR" dirty="0"/>
                  <a:t> </a:t>
                </a:r>
                <a:r>
                  <a:rPr lang="el-GR" dirty="0"/>
                  <a:t>α → β </a:t>
                </a:r>
                <a:r>
                  <a:rPr lang="fa-IR" dirty="0"/>
                  <a:t>حفظ شده است.</a:t>
                </a:r>
              </a:p>
              <a:p>
                <a:pPr algn="r" rtl="1"/>
                <a:r>
                  <a:rPr lang="fa-IR" dirty="0"/>
                  <a:t>این آزمون را روی تمام </a:t>
                </a:r>
                <a:r>
                  <a:rPr lang="fa-IR" dirty="0" err="1"/>
                  <a:t>وابستگی‌های</a:t>
                </a:r>
                <a:r>
                  <a:rPr lang="fa-IR" dirty="0"/>
                  <a:t> موجود در </a:t>
                </a:r>
                <a:r>
                  <a:rPr lang="en-US" dirty="0"/>
                  <a:t>F </a:t>
                </a:r>
                <a:r>
                  <a:rPr lang="fa-IR" dirty="0"/>
                  <a:t>اعمال </a:t>
                </a:r>
                <a:r>
                  <a:rPr lang="fa-IR" dirty="0" err="1"/>
                  <a:t>می‌کنیم</a:t>
                </a:r>
                <a:r>
                  <a:rPr lang="fa-IR" dirty="0"/>
                  <a:t> تا بررسی کنیم آیا یک تجزیه </a:t>
                </a:r>
                <a:r>
                  <a:rPr lang="fa-IR" b="1" dirty="0" err="1"/>
                  <a:t>حفظ‌کننده</a:t>
                </a:r>
                <a:r>
                  <a:rPr lang="fa-IR" b="1" dirty="0"/>
                  <a:t> وابستگی</a:t>
                </a:r>
                <a:r>
                  <a:rPr lang="fa-IR" dirty="0"/>
                  <a:t> است یا خیر.</a:t>
                </a:r>
              </a:p>
              <a:p>
                <a:pPr algn="r" rtl="1"/>
                <a:r>
                  <a:rPr lang="fa-IR" dirty="0"/>
                  <a:t>این روش زمان </a:t>
                </a:r>
                <a:r>
                  <a:rPr lang="fa-IR" dirty="0" err="1"/>
                  <a:t>چندجمله‌ای</a:t>
                </a:r>
                <a:r>
                  <a:rPr lang="fa-IR" dirty="0"/>
                  <a:t> </a:t>
                </a:r>
                <a:r>
                  <a:rPr lang="fa-IR" dirty="0" err="1"/>
                  <a:t>می‌برد</a:t>
                </a:r>
                <a:r>
                  <a:rPr lang="fa-IR" dirty="0"/>
                  <a:t>، برخلاف زمان نمایی مورد نیاز برای محاسبه </a:t>
                </a:r>
                <a:r>
                  <a:rPr lang="en-US" dirty="0"/>
                  <a:t>F⁺ </a:t>
                </a:r>
                <a:r>
                  <a:rPr lang="fa-IR" dirty="0"/>
                  <a:t>و </a:t>
                </a:r>
                <a14:m>
                  <m:oMath xmlns:m="http://schemas.openxmlformats.org/officeDocument/2006/math">
                    <m:d>
                      <m:dPr>
                        <m:endChr m:val=""/>
                        <m:ctrlPr>
                          <a:rPr lang="fa-IR" i="1">
                            <a:latin typeface="Cambria Math" panose="02040503050406030204" pitchFamily="18" charset="0"/>
                          </a:rPr>
                        </m:ctrlPr>
                      </m:dPr>
                      <m:e>
                        <m:sSub>
                          <m:sSubPr>
                            <m:ctrlPr>
                              <a:rPr lang="fa-IR" i="1">
                                <a:latin typeface="Cambria Math" panose="02040503050406030204" pitchFamily="18" charset="0"/>
                              </a:rPr>
                            </m:ctrlPr>
                          </m:sSubPr>
                          <m:e>
                            <m:r>
                              <a:rPr lang="fa-IR" i="1">
                                <a:latin typeface="Cambria Math" panose="02040503050406030204" pitchFamily="18" charset="0"/>
                              </a:rPr>
                              <m:t>𝐹</m:t>
                            </m:r>
                          </m:e>
                          <m:sub>
                            <m:r>
                              <a:rPr lang="fa-IR">
                                <a:latin typeface="Cambria Math" panose="02040503050406030204" pitchFamily="18" charset="0"/>
                              </a:rPr>
                              <m:t>1</m:t>
                            </m:r>
                          </m:sub>
                        </m:sSub>
                        <m:r>
                          <a:rPr lang="fa-IR">
                            <a:latin typeface="Cambria Math" panose="02040503050406030204" pitchFamily="18" charset="0"/>
                          </a:rPr>
                          <m:t>∪</m:t>
                        </m:r>
                        <m:sSub>
                          <m:sSubPr>
                            <m:ctrlPr>
                              <a:rPr lang="fa-IR" i="1">
                                <a:latin typeface="Cambria Math" panose="02040503050406030204" pitchFamily="18" charset="0"/>
                              </a:rPr>
                            </m:ctrlPr>
                          </m:sSubPr>
                          <m:e>
                            <m:r>
                              <a:rPr lang="fa-IR" i="1">
                                <a:latin typeface="Cambria Math" panose="02040503050406030204" pitchFamily="18" charset="0"/>
                              </a:rPr>
                              <m:t>𝐹</m:t>
                            </m:r>
                          </m:e>
                          <m:sub>
                            <m:r>
                              <a:rPr lang="fa-IR">
                                <a:latin typeface="Cambria Math" panose="02040503050406030204" pitchFamily="18" charset="0"/>
                              </a:rPr>
                              <m:t>2</m:t>
                            </m:r>
                          </m:sub>
                        </m:sSub>
                        <m:r>
                          <a:rPr lang="fa-IR">
                            <a:latin typeface="Cambria Math" panose="02040503050406030204" pitchFamily="18" charset="0"/>
                          </a:rPr>
                          <m:t>∪…∪</m:t>
                        </m:r>
                        <m:sSub>
                          <m:sSubPr>
                            <m:ctrlPr>
                              <a:rPr lang="fa-IR" i="1">
                                <a:latin typeface="Cambria Math" panose="02040503050406030204" pitchFamily="18" charset="0"/>
                              </a:rPr>
                            </m:ctrlPr>
                          </m:sSubPr>
                          <m:e>
                            <m:r>
                              <a:rPr lang="fa-IR" i="1">
                                <a:latin typeface="Cambria Math" panose="02040503050406030204" pitchFamily="18" charset="0"/>
                              </a:rPr>
                              <m:t>𝐹</m:t>
                            </m:r>
                          </m:e>
                          <m:sub>
                            <m:r>
                              <a:rPr lang="fa-IR" i="1">
                                <a:latin typeface="Cambria Math" panose="02040503050406030204" pitchFamily="18" charset="0"/>
                              </a:rPr>
                              <m:t>𝑛</m:t>
                            </m:r>
                          </m:sub>
                        </m:sSub>
                        <m:sSup>
                          <m:sSupPr>
                            <m:ctrlPr>
                              <a:rPr lang="fa-IR" i="1">
                                <a:latin typeface="Cambria Math" panose="02040503050406030204" pitchFamily="18" charset="0"/>
                              </a:rPr>
                            </m:ctrlPr>
                          </m:sSupPr>
                          <m:e>
                            <m:d>
                              <m:dPr>
                                <m:begChr m:val=""/>
                                <m:endChr m:val=""/>
                                <m:ctrlPr>
                                  <a:rPr lang="fa-IR" i="1">
                                    <a:latin typeface="Cambria Math" panose="02040503050406030204" pitchFamily="18" charset="0"/>
                                  </a:rPr>
                                </m:ctrlPr>
                              </m:dPr>
                              <m:e>
                                <m:r>
                                  <a:rPr lang="fa-IR">
                                    <a:latin typeface="Cambria Math" panose="02040503050406030204" pitchFamily="18" charset="0"/>
                                  </a:rPr>
                                  <m:t>)</m:t>
                                </m:r>
                              </m:e>
                            </m:d>
                          </m:e>
                          <m:sup>
                            <m:r>
                              <a:rPr lang="fa-IR">
                                <a:latin typeface="Cambria Math" panose="02040503050406030204" pitchFamily="18" charset="0"/>
                              </a:rPr>
                              <m:t>+</m:t>
                            </m:r>
                          </m:sup>
                        </m:sSup>
                      </m:e>
                    </m:d>
                  </m:oMath>
                </a14:m>
                <a:r>
                  <a:rPr lang="fa-IR" dirty="0"/>
                  <a:t>.</a:t>
                </a:r>
              </a:p>
              <a:p>
                <a:pPr algn="r" rtl="1">
                  <a:buSzPct val="110000"/>
                  <a:buFont typeface="Wingdings" panose="05000000000000000000" pitchFamily="2" charset="2"/>
                  <a:buChar char="§"/>
                </a:pPr>
                <a:endParaRPr lang="en-US" altLang="en-US" dirty="0">
                  <a:sym typeface="Symbol" panose="05050102010706020507" pitchFamily="18" charset="2"/>
                </a:endParaRPr>
              </a:p>
            </p:txBody>
          </p:sp>
        </mc:Choice>
        <mc:Fallback xmlns="">
          <p:sp>
            <p:nvSpPr>
              <p:cNvPr id="62467" name="Rectangle 3"/>
              <p:cNvSpPr>
                <a:spLocks noGrp="1" noRot="1" noChangeAspect="1" noMove="1" noResize="1" noEditPoints="1" noAdjustHandles="1" noChangeArrowheads="1" noChangeShapeType="1" noTextEdit="1"/>
              </p:cNvSpPr>
              <p:nvPr>
                <p:ph type="body" idx="4294967295"/>
              </p:nvPr>
            </p:nvSpPr>
            <p:spPr>
              <a:xfrm>
                <a:off x="1404938" y="1100138"/>
                <a:ext cx="7739062" cy="4591050"/>
              </a:xfrm>
              <a:blipFill>
                <a:blip r:embed="rId3"/>
                <a:stretch>
                  <a:fillRect t="-2255" r="-1102" b="-14058"/>
                </a:stretch>
              </a:blipFill>
            </p:spPr>
            <p:txBody>
              <a:bodyPr/>
              <a:lstStyle/>
              <a:p>
                <a:r>
                  <a:rPr lang="en-US">
                    <a:noFill/>
                  </a:rPr>
                  <a:t> </a:t>
                </a:r>
              </a:p>
            </p:txBody>
          </p:sp>
        </mc:Fallback>
      </mc:AlternateContent>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657CEEA-CA95-4DAE-A350-48CCC0B76C94}"/>
              </a:ext>
            </a:extLst>
          </p:cNvPr>
          <p:cNvSpPr>
            <a:spLocks noGrp="1"/>
          </p:cNvSpPr>
          <p:nvPr>
            <p:ph type="ctrTitle"/>
          </p:nvPr>
        </p:nvSpPr>
        <p:spPr/>
        <p:txBody>
          <a:bodyPr/>
          <a:lstStyle/>
          <a:p>
            <a:endParaRPr lang="en-US"/>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8195" name="Rectangle 3"/>
          <p:cNvSpPr>
            <a:spLocks noGrp="1" noChangeArrowheads="1"/>
          </p:cNvSpPr>
          <p:nvPr>
            <p:ph idx="1"/>
          </p:nvPr>
        </p:nvSpPr>
        <p:spPr>
          <a:xfrm>
            <a:off x="1091953" y="2255838"/>
            <a:ext cx="7378947" cy="1638300"/>
          </a:xfrm>
        </p:spPr>
        <p:txBody>
          <a:bodyPr/>
          <a:lstStyle/>
          <a:p>
            <a:pPr algn="ctr">
              <a:buFont typeface="Monotype Sorts" charset="2"/>
              <a:buNone/>
              <a:defRPr/>
            </a:pPr>
            <a:r>
              <a:rPr lang="fa-IR" sz="3200" dirty="0" err="1"/>
              <a:t>الگوریتم</a:t>
            </a:r>
            <a:r>
              <a:rPr lang="fa-IR" sz="3200" dirty="0"/>
              <a:t> تجزیه با استفاده از </a:t>
            </a:r>
            <a:r>
              <a:rPr lang="fa-IR" sz="3200" dirty="0" err="1"/>
              <a:t>وابستگی‌های</a:t>
            </a:r>
            <a:r>
              <a:rPr lang="fa-IR" sz="3200" dirty="0"/>
              <a:t> </a:t>
            </a:r>
            <a:r>
              <a:rPr lang="fa-IR" sz="3200" dirty="0" err="1"/>
              <a:t>تابعی</a:t>
            </a:r>
            <a:endParaRPr lang="en-US" altLang="en-US" sz="3200" b="1" dirty="0">
              <a:solidFill>
                <a:srgbClr val="002060"/>
              </a:solidFill>
              <a:effectLst>
                <a:outerShdw blurRad="38100" dist="38100" dir="2700000" algn="tl">
                  <a:srgbClr val="C0C0C0"/>
                </a:outerShdw>
              </a:effectLst>
              <a:latin typeface="+mj-lt"/>
              <a:ea typeface="ＭＳ Ｐゴシック" pitchFamily="34" charset="-128"/>
              <a:cs typeface="+mj-cs"/>
            </a:endParaRPr>
          </a:p>
        </p:txBody>
      </p:sp>
    </p:spTree>
  </p:cSld>
  <p:clrMapOvr>
    <a:masterClrMapping/>
  </p:clrMapOvr>
  <p:transition spd="slow"/>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34210" name="Rectangle 2"/>
          <p:cNvSpPr>
            <a:spLocks noGrp="1" noChangeArrowheads="1"/>
          </p:cNvSpPr>
          <p:nvPr>
            <p:ph type="title"/>
          </p:nvPr>
        </p:nvSpPr>
        <p:spPr/>
        <p:txBody>
          <a:bodyPr/>
          <a:lstStyle/>
          <a:p>
            <a:pPr>
              <a:defRPr/>
            </a:pPr>
            <a:r>
              <a:rPr lang="en-US" altLang="en-US">
                <a:effectLst>
                  <a:outerShdw blurRad="38100" dist="38100" dir="2700000" algn="tl">
                    <a:srgbClr val="C0C0C0"/>
                  </a:outerShdw>
                </a:effectLst>
                <a:ea typeface="ＭＳ Ｐゴシック" pitchFamily="34" charset="-128"/>
              </a:rPr>
              <a:t>Testing for BCNF</a:t>
            </a:r>
          </a:p>
        </p:txBody>
      </p:sp>
      <p:sp>
        <p:nvSpPr>
          <p:cNvPr id="734211" name="Rectangle 3"/>
          <p:cNvSpPr>
            <a:spLocks noGrp="1" noChangeArrowheads="1"/>
          </p:cNvSpPr>
          <p:nvPr>
            <p:ph idx="1"/>
          </p:nvPr>
        </p:nvSpPr>
        <p:spPr>
          <a:xfrm>
            <a:off x="0" y="727075"/>
            <a:ext cx="9029700" cy="4871453"/>
          </a:xfrm>
        </p:spPr>
        <p:txBody>
          <a:bodyPr/>
          <a:lstStyle/>
          <a:p>
            <a:pPr algn="r" rtl="1"/>
            <a:r>
              <a:rPr lang="fa-IR" sz="1800" dirty="0"/>
              <a:t>برای بررسی اینکه آیا یک وابستگی </a:t>
            </a:r>
            <a:r>
              <a:rPr lang="fa-IR" sz="1800" dirty="0" err="1"/>
              <a:t>غیرتبیینی</a:t>
            </a:r>
            <a:r>
              <a:rPr lang="fa-IR" sz="1800" dirty="0"/>
              <a:t> </a:t>
            </a:r>
            <a:r>
              <a:rPr lang="el-GR" sz="1800" dirty="0"/>
              <a:t>α → β </a:t>
            </a:r>
            <a:r>
              <a:rPr lang="fa-IR" sz="1800" dirty="0"/>
              <a:t>باعث نقض </a:t>
            </a:r>
            <a:r>
              <a:rPr lang="en-US" sz="1800" dirty="0"/>
              <a:t>BCNF </a:t>
            </a:r>
            <a:r>
              <a:rPr lang="fa-IR" sz="1800" dirty="0" err="1"/>
              <a:t>می‌شود</a:t>
            </a:r>
            <a:r>
              <a:rPr lang="fa-IR" sz="1800" dirty="0"/>
              <a:t>:</a:t>
            </a:r>
          </a:p>
          <a:p>
            <a:pPr algn="r" rtl="1"/>
            <a:r>
              <a:rPr lang="fa-IR" sz="1800" dirty="0"/>
              <a:t>بسته </a:t>
            </a:r>
            <a:r>
              <a:rPr lang="fa-IR" sz="1800" dirty="0" err="1"/>
              <a:t>صفت‌های</a:t>
            </a:r>
            <a:r>
              <a:rPr lang="fa-IR" sz="1800" dirty="0"/>
              <a:t> </a:t>
            </a:r>
            <a:r>
              <a:rPr lang="el-GR" sz="1800" dirty="0"/>
              <a:t>α، </a:t>
            </a:r>
            <a:r>
              <a:rPr lang="fa-IR" sz="1800" dirty="0"/>
              <a:t>یعنی </a:t>
            </a:r>
            <a:r>
              <a:rPr lang="el-GR" sz="1800" dirty="0"/>
              <a:t>α⁺، </a:t>
            </a:r>
            <a:r>
              <a:rPr lang="fa-IR" sz="1800" dirty="0"/>
              <a:t>را محاسبه کنید، و</a:t>
            </a:r>
          </a:p>
          <a:p>
            <a:pPr algn="r" rtl="1"/>
            <a:r>
              <a:rPr lang="fa-IR" sz="1800" dirty="0"/>
              <a:t>بررسی کنید که آیا شامل تمام صفات </a:t>
            </a:r>
            <a:r>
              <a:rPr lang="en-US" sz="1800" dirty="0"/>
              <a:t>R </a:t>
            </a:r>
            <a:r>
              <a:rPr lang="fa-IR" sz="1800" dirty="0"/>
              <a:t>است یا خیر، یعنی آیا </a:t>
            </a:r>
            <a:r>
              <a:rPr lang="el-GR" sz="1800" dirty="0"/>
              <a:t>α </a:t>
            </a:r>
            <a:r>
              <a:rPr lang="fa-IR" sz="1800" dirty="0"/>
              <a:t>یک </a:t>
            </a:r>
            <a:r>
              <a:rPr lang="fa-IR" sz="1800" b="1" dirty="0" err="1"/>
              <a:t>ابرکلید</a:t>
            </a:r>
            <a:r>
              <a:rPr lang="fa-IR" sz="1800" dirty="0"/>
              <a:t> برای </a:t>
            </a:r>
            <a:r>
              <a:rPr lang="en-US" sz="1800" dirty="0"/>
              <a:t>R </a:t>
            </a:r>
            <a:r>
              <a:rPr lang="fa-IR" sz="1800" dirty="0"/>
              <a:t>است.</a:t>
            </a:r>
          </a:p>
          <a:p>
            <a:pPr algn="r" rtl="1"/>
            <a:r>
              <a:rPr lang="fa-IR" sz="1800" b="1" dirty="0"/>
              <a:t>آزمون </a:t>
            </a:r>
            <a:r>
              <a:rPr lang="fa-IR" sz="1800" b="1" dirty="0" err="1"/>
              <a:t>ساده‌شده</a:t>
            </a:r>
            <a:r>
              <a:rPr lang="fa-IR" sz="1800" b="1" dirty="0"/>
              <a:t>:</a:t>
            </a:r>
            <a:r>
              <a:rPr lang="fa-IR" sz="1800" dirty="0"/>
              <a:t> برای بررسی اینکه آیا یک طرح </a:t>
            </a:r>
            <a:r>
              <a:rPr lang="fa-IR" sz="1800" dirty="0" err="1"/>
              <a:t>رابطه‌ای</a:t>
            </a:r>
            <a:r>
              <a:rPr lang="fa-IR" sz="1800" dirty="0"/>
              <a:t> </a:t>
            </a:r>
            <a:r>
              <a:rPr lang="en-US" sz="1800" dirty="0"/>
              <a:t>R </a:t>
            </a:r>
            <a:r>
              <a:rPr lang="fa-IR" sz="1800" dirty="0"/>
              <a:t>در </a:t>
            </a:r>
            <a:r>
              <a:rPr lang="en-US" sz="1800" dirty="0"/>
              <a:t>BCNF </a:t>
            </a:r>
            <a:r>
              <a:rPr lang="fa-IR" sz="1800" dirty="0"/>
              <a:t>است، کافی است فقط </a:t>
            </a:r>
            <a:r>
              <a:rPr lang="fa-IR" sz="1800" dirty="0" err="1"/>
              <a:t>وابستگی‌های</a:t>
            </a:r>
            <a:r>
              <a:rPr lang="fa-IR" sz="1800" dirty="0"/>
              <a:t> موجود در مجموعه </a:t>
            </a:r>
            <a:r>
              <a:rPr lang="fa-IR" sz="1800" dirty="0" err="1"/>
              <a:t>داده‌شده</a:t>
            </a:r>
            <a:r>
              <a:rPr lang="fa-IR" sz="1800" dirty="0"/>
              <a:t> </a:t>
            </a:r>
            <a:r>
              <a:rPr lang="en-US" sz="1800" dirty="0"/>
              <a:t>F </a:t>
            </a:r>
            <a:r>
              <a:rPr lang="fa-IR" sz="1800" dirty="0"/>
              <a:t>را برای نقض </a:t>
            </a:r>
            <a:r>
              <a:rPr lang="en-US" sz="1800" dirty="0"/>
              <a:t>BCNF </a:t>
            </a:r>
            <a:r>
              <a:rPr lang="fa-IR" sz="1800" dirty="0"/>
              <a:t>بررسی کنیم، به جای اینکه تمام </a:t>
            </a:r>
            <a:r>
              <a:rPr lang="fa-IR" sz="1800" dirty="0" err="1"/>
              <a:t>وابستگی‌ها</a:t>
            </a:r>
            <a:r>
              <a:rPr lang="fa-IR" sz="1800" dirty="0"/>
              <a:t> در </a:t>
            </a:r>
            <a:r>
              <a:rPr lang="en-US" sz="1800" dirty="0"/>
              <a:t>F⁺ </a:t>
            </a:r>
            <a:r>
              <a:rPr lang="fa-IR" sz="1800" dirty="0"/>
              <a:t>را بررسی کنیم.</a:t>
            </a:r>
          </a:p>
          <a:p>
            <a:pPr algn="r" rtl="1"/>
            <a:r>
              <a:rPr lang="fa-IR" sz="1800" dirty="0"/>
              <a:t>اگر هیچ یک از </a:t>
            </a:r>
            <a:r>
              <a:rPr lang="fa-IR" sz="1800" dirty="0" err="1"/>
              <a:t>وابستگی‌های</a:t>
            </a:r>
            <a:r>
              <a:rPr lang="fa-IR" sz="1800" dirty="0"/>
              <a:t> موجود در </a:t>
            </a:r>
            <a:r>
              <a:rPr lang="en-US" sz="1800" dirty="0"/>
              <a:t>F </a:t>
            </a:r>
            <a:r>
              <a:rPr lang="fa-IR" sz="1800" dirty="0"/>
              <a:t>باعث نقض </a:t>
            </a:r>
            <a:r>
              <a:rPr lang="en-US" sz="1800" dirty="0"/>
              <a:t>BCNF </a:t>
            </a:r>
            <a:r>
              <a:rPr lang="fa-IR" sz="1800" dirty="0"/>
              <a:t>نشود، آنگاه هیچ یک از </a:t>
            </a:r>
            <a:r>
              <a:rPr lang="fa-IR" sz="1800" dirty="0" err="1"/>
              <a:t>وابستگی‌های</a:t>
            </a:r>
            <a:r>
              <a:rPr lang="fa-IR" sz="1800" dirty="0"/>
              <a:t> موجود در </a:t>
            </a:r>
            <a:r>
              <a:rPr lang="en-US" sz="1800" dirty="0"/>
              <a:t>F⁺ </a:t>
            </a:r>
            <a:r>
              <a:rPr lang="fa-IR" sz="1800" dirty="0"/>
              <a:t>نیز باعث نقض </a:t>
            </a:r>
            <a:r>
              <a:rPr lang="en-US" sz="1800" dirty="0"/>
              <a:t>BCNF </a:t>
            </a:r>
            <a:r>
              <a:rPr lang="fa-IR" sz="1800" dirty="0"/>
              <a:t>نخواهند شد.</a:t>
            </a:r>
          </a:p>
          <a:p>
            <a:pPr algn="r" rtl="1"/>
            <a:r>
              <a:rPr lang="fa-IR" sz="1800" dirty="0"/>
              <a:t>با این حال، آزمون </a:t>
            </a:r>
            <a:r>
              <a:rPr lang="fa-IR" sz="1800" dirty="0" err="1"/>
              <a:t>ساده‌شده</a:t>
            </a:r>
            <a:r>
              <a:rPr lang="fa-IR" sz="1800" dirty="0"/>
              <a:t> با استفاده از </a:t>
            </a:r>
            <a:r>
              <a:rPr lang="en-US" sz="1800" dirty="0"/>
              <a:t>F </a:t>
            </a:r>
            <a:r>
              <a:rPr lang="fa-IR" sz="1800" dirty="0"/>
              <a:t>تنها، هنگام بررسی یک رابطه در </a:t>
            </a:r>
            <a:r>
              <a:rPr lang="fa-IR" sz="1800" b="1" dirty="0"/>
              <a:t>تجزیه </a:t>
            </a:r>
            <a:r>
              <a:rPr lang="en-US" sz="1800" b="1" dirty="0"/>
              <a:t>R</a:t>
            </a:r>
            <a:r>
              <a:rPr lang="en-US" sz="1800" dirty="0"/>
              <a:t> </a:t>
            </a:r>
            <a:r>
              <a:rPr lang="fa-IR" sz="1800" dirty="0"/>
              <a:t>درست نیست.</a:t>
            </a:r>
          </a:p>
          <a:p>
            <a:pPr algn="r" rtl="1"/>
            <a:r>
              <a:rPr lang="fa-IR" sz="1800" dirty="0"/>
              <a:t>مثال: فرض کنید</a:t>
            </a:r>
            <a:br>
              <a:rPr lang="fa-IR" sz="1800" dirty="0"/>
            </a:br>
            <a:r>
              <a:rPr lang="en-US" sz="1800" dirty="0"/>
              <a:t>R = (A, B, C, D, E)</a:t>
            </a:r>
            <a:br>
              <a:rPr lang="en-US" sz="1800" dirty="0"/>
            </a:br>
            <a:r>
              <a:rPr lang="en-US" sz="1800" dirty="0"/>
              <a:t>F = { A → B, BC → D }</a:t>
            </a:r>
          </a:p>
          <a:p>
            <a:pPr algn="r" rtl="1"/>
            <a:r>
              <a:rPr lang="en-US" sz="1800" dirty="0"/>
              <a:t>R </a:t>
            </a:r>
            <a:r>
              <a:rPr lang="fa-IR" sz="1800" dirty="0"/>
              <a:t>را به دو رابطه تجزیه </a:t>
            </a:r>
            <a:r>
              <a:rPr lang="fa-IR" sz="1800" dirty="0" err="1"/>
              <a:t>می‌کنیم</a:t>
            </a:r>
            <a:r>
              <a:rPr lang="fa-IR" sz="1800" dirty="0"/>
              <a:t>:</a:t>
            </a:r>
            <a:br>
              <a:rPr lang="fa-IR" sz="1800" dirty="0"/>
            </a:br>
            <a:r>
              <a:rPr lang="en-US" sz="1800" dirty="0"/>
              <a:t>R₁ = (A, B)</a:t>
            </a:r>
            <a:br>
              <a:rPr lang="en-US" sz="1800" dirty="0"/>
            </a:br>
            <a:r>
              <a:rPr lang="en-US" sz="1800" dirty="0"/>
              <a:t>R₂ = (A, C, D, E)</a:t>
            </a:r>
          </a:p>
          <a:p>
            <a:pPr algn="r" rtl="1"/>
            <a:r>
              <a:rPr lang="fa-IR" sz="1800" dirty="0"/>
              <a:t>هیچ یک از </a:t>
            </a:r>
            <a:r>
              <a:rPr lang="fa-IR" sz="1800" dirty="0" err="1"/>
              <a:t>وابستگی‌های</a:t>
            </a:r>
            <a:r>
              <a:rPr lang="fa-IR" sz="1800" dirty="0"/>
              <a:t> موجود در </a:t>
            </a:r>
            <a:r>
              <a:rPr lang="en-US" sz="1800" dirty="0"/>
              <a:t>F </a:t>
            </a:r>
            <a:r>
              <a:rPr lang="fa-IR" sz="1800" dirty="0"/>
              <a:t>فقط شامل صفات </a:t>
            </a:r>
            <a:r>
              <a:rPr lang="en-US" sz="1800" dirty="0"/>
              <a:t>R₂ = (A, C, D, E) </a:t>
            </a:r>
            <a:r>
              <a:rPr lang="fa-IR" sz="1800" dirty="0"/>
              <a:t>نیستند، بنابراین ممکن است به اشتباه فکر کنیم </a:t>
            </a:r>
            <a:r>
              <a:rPr lang="en-US" sz="1800" dirty="0"/>
              <a:t>R₂ </a:t>
            </a:r>
            <a:r>
              <a:rPr lang="fa-IR" sz="1800" dirty="0"/>
              <a:t>در </a:t>
            </a:r>
            <a:r>
              <a:rPr lang="en-US" sz="1800" dirty="0"/>
              <a:t>BCNF </a:t>
            </a:r>
            <a:r>
              <a:rPr lang="fa-IR" sz="1800" dirty="0"/>
              <a:t>است.</a:t>
            </a:r>
          </a:p>
          <a:p>
            <a:pPr algn="r" rtl="1"/>
            <a:r>
              <a:rPr lang="fa-IR" sz="1800" dirty="0"/>
              <a:t>در واقع، وابستگی </a:t>
            </a:r>
            <a:r>
              <a:rPr lang="en-US" sz="1800" dirty="0"/>
              <a:t>AC → D </a:t>
            </a:r>
            <a:r>
              <a:rPr lang="fa-IR" sz="1800" dirty="0"/>
              <a:t>در </a:t>
            </a:r>
            <a:r>
              <a:rPr lang="en-US" sz="1800" dirty="0"/>
              <a:t>F⁺ </a:t>
            </a:r>
            <a:r>
              <a:rPr lang="fa-IR" sz="1800" dirty="0"/>
              <a:t>نشان </a:t>
            </a:r>
            <a:r>
              <a:rPr lang="fa-IR" sz="1800" dirty="0" err="1"/>
              <a:t>می‌دهد</a:t>
            </a:r>
            <a:r>
              <a:rPr lang="fa-IR" sz="1800" dirty="0"/>
              <a:t> که </a:t>
            </a:r>
            <a:r>
              <a:rPr lang="en-US" sz="1800" dirty="0"/>
              <a:t>R₂ </a:t>
            </a:r>
            <a:r>
              <a:rPr lang="fa-IR" sz="1800" dirty="0"/>
              <a:t>در </a:t>
            </a:r>
            <a:r>
              <a:rPr lang="en-US" sz="1800" b="1" dirty="0"/>
              <a:t>BCNF </a:t>
            </a:r>
            <a:r>
              <a:rPr lang="fa-IR" sz="1800" b="1" dirty="0"/>
              <a:t>نیست</a:t>
            </a:r>
            <a:r>
              <a:rPr lang="fa-IR" sz="1800" dirty="0"/>
              <a:t>.</a:t>
            </a:r>
          </a:p>
          <a:p>
            <a:pPr algn="r" rtl="1">
              <a:lnSpc>
                <a:spcPct val="90000"/>
              </a:lnSpc>
            </a:pPr>
            <a:endParaRPr lang="en-US" altLang="en-US" sz="1800"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36258" name="Rectangle 2"/>
          <p:cNvSpPr>
            <a:spLocks noGrp="1" noChangeArrowheads="1"/>
          </p:cNvSpPr>
          <p:nvPr>
            <p:ph type="title"/>
          </p:nvPr>
        </p:nvSpPr>
        <p:spPr/>
        <p:txBody>
          <a:bodyPr/>
          <a:lstStyle/>
          <a:p>
            <a:pPr>
              <a:defRPr/>
            </a:pPr>
            <a:r>
              <a:rPr lang="en-US" altLang="en-US">
                <a:effectLst>
                  <a:outerShdw blurRad="38100" dist="38100" dir="2700000" algn="tl">
                    <a:srgbClr val="C0C0C0"/>
                  </a:outerShdw>
                </a:effectLst>
                <a:ea typeface="ＭＳ Ｐゴシック" pitchFamily="34" charset="-128"/>
              </a:rPr>
              <a:t>Testing Decomposition for BCNF</a:t>
            </a:r>
          </a:p>
        </p:txBody>
      </p:sp>
      <mc:AlternateContent xmlns:mc="http://schemas.openxmlformats.org/markup-compatibility/2006" xmlns:a14="http://schemas.microsoft.com/office/drawing/2010/main">
        <mc:Choice Requires="a14">
          <p:sp>
            <p:nvSpPr>
              <p:cNvPr id="66563" name="Rectangle 3"/>
              <p:cNvSpPr>
                <a:spLocks noGrp="1" noChangeArrowheads="1"/>
              </p:cNvSpPr>
              <p:nvPr>
                <p:ph idx="1"/>
              </p:nvPr>
            </p:nvSpPr>
            <p:spPr>
              <a:xfrm>
                <a:off x="1029811" y="1636297"/>
                <a:ext cx="7306322" cy="3585408"/>
              </a:xfrm>
            </p:spPr>
            <p:txBody>
              <a:bodyPr/>
              <a:lstStyle/>
              <a:p>
                <a:pPr algn="r" rtl="1"/>
                <a:r>
                  <a:rPr lang="fa-IR" dirty="0"/>
                  <a:t>یا </a:t>
                </a:r>
                <a14:m>
                  <m:oMath xmlns:m="http://schemas.openxmlformats.org/officeDocument/2006/math">
                    <m:sSub>
                      <m:sSubPr>
                        <m:ctrlPr>
                          <a:rPr lang="fa-IR" i="1">
                            <a:latin typeface="Cambria Math" panose="02040503050406030204" pitchFamily="18" charset="0"/>
                          </a:rPr>
                        </m:ctrlPr>
                      </m:sSubPr>
                      <m:e>
                        <m:r>
                          <a:rPr lang="fa-IR" i="1">
                            <a:latin typeface="Cambria Math" panose="02040503050406030204" pitchFamily="18" charset="0"/>
                          </a:rPr>
                          <m:t>𝑅</m:t>
                        </m:r>
                      </m:e>
                      <m:sub>
                        <m:r>
                          <a:rPr lang="fa-IR" i="1">
                            <a:latin typeface="Cambria Math" panose="02040503050406030204" pitchFamily="18" charset="0"/>
                          </a:rPr>
                          <m:t>𝑖</m:t>
                        </m:r>
                      </m:sub>
                    </m:sSub>
                  </m:oMath>
                </a14:m>
                <a:r>
                  <a:rPr lang="fa-IR" dirty="0"/>
                  <a:t>را با توجه به </a:t>
                </a:r>
                <a:r>
                  <a:rPr lang="fa-IR" b="1" dirty="0" err="1"/>
                  <a:t>محدودسازی</a:t>
                </a:r>
                <a:r>
                  <a:rPr lang="fa-IR" b="1" dirty="0"/>
                  <a:t> </a:t>
                </a:r>
                <a:r>
                  <a:rPr lang="en-US" b="1" dirty="0"/>
                  <a:t>F⁺ </a:t>
                </a:r>
                <a:r>
                  <a:rPr lang="fa-IR" b="1" dirty="0"/>
                  <a:t>به </a:t>
                </a:r>
                <a:r>
                  <a:rPr lang="en-US" b="1" dirty="0" err="1"/>
                  <a:t>R_i</a:t>
                </a:r>
                <a:r>
                  <a:rPr lang="en-US" dirty="0"/>
                  <a:t> </a:t>
                </a:r>
                <a:r>
                  <a:rPr lang="fa-IR" dirty="0"/>
                  <a:t>بررسی کنید (یعنی تمام </a:t>
                </a:r>
                <a:r>
                  <a:rPr lang="fa-IR" dirty="0" err="1"/>
                  <a:t>وابستگی‌های</a:t>
                </a:r>
                <a:r>
                  <a:rPr lang="fa-IR" dirty="0"/>
                  <a:t> </a:t>
                </a:r>
                <a:r>
                  <a:rPr lang="fa-IR" dirty="0" err="1"/>
                  <a:t>تابعی</a:t>
                </a:r>
                <a:r>
                  <a:rPr lang="fa-IR" dirty="0"/>
                  <a:t> در </a:t>
                </a:r>
                <a:r>
                  <a:rPr lang="en-US" dirty="0"/>
                  <a:t>F⁺ </a:t>
                </a:r>
                <a:r>
                  <a:rPr lang="fa-IR" dirty="0"/>
                  <a:t>که فقط شامل صفات موجود در </a:t>
                </a:r>
                <a:r>
                  <a:rPr lang="en-US" dirty="0" err="1"/>
                  <a:t>R_i</a:t>
                </a:r>
                <a:r>
                  <a:rPr lang="en-US" dirty="0"/>
                  <a:t> </a:t>
                </a:r>
                <a:r>
                  <a:rPr lang="fa-IR" dirty="0"/>
                  <a:t>هستند)،</a:t>
                </a:r>
                <a:br>
                  <a:rPr lang="fa-IR" dirty="0"/>
                </a:br>
                <a:r>
                  <a:rPr lang="fa-IR" dirty="0"/>
                  <a:t>یا از </a:t>
                </a:r>
                <a:r>
                  <a:rPr lang="fa-IR" b="1" dirty="0"/>
                  <a:t>مجموعه اصلی </a:t>
                </a:r>
                <a:r>
                  <a:rPr lang="fa-IR" b="1" dirty="0" err="1"/>
                  <a:t>وابستگی‌ها</a:t>
                </a:r>
                <a:r>
                  <a:rPr lang="fa-IR" b="1" dirty="0"/>
                  <a:t> </a:t>
                </a:r>
                <a:r>
                  <a:rPr lang="en-US" b="1" dirty="0"/>
                  <a:t>F</a:t>
                </a:r>
                <a:r>
                  <a:rPr lang="en-US" dirty="0"/>
                  <a:t> </a:t>
                </a:r>
                <a:r>
                  <a:rPr lang="fa-IR" dirty="0"/>
                  <a:t>که روی </a:t>
                </a:r>
                <a:r>
                  <a:rPr lang="en-US" dirty="0"/>
                  <a:t>R </a:t>
                </a:r>
                <a:r>
                  <a:rPr lang="fa-IR" dirty="0" err="1"/>
                  <a:t>برقرارند</a:t>
                </a:r>
                <a:r>
                  <a:rPr lang="fa-IR" dirty="0"/>
                  <a:t> استفاده کنید، اما با آزمون زیر:</a:t>
                </a:r>
              </a:p>
              <a:p>
                <a:pPr algn="r" rtl="1"/>
                <a:r>
                  <a:rPr lang="fa-IR" dirty="0"/>
                  <a:t>برای هر </a:t>
                </a:r>
                <a:r>
                  <a:rPr lang="fa-IR" dirty="0" err="1"/>
                  <a:t>مجموعه‌ای</a:t>
                </a:r>
                <a:r>
                  <a:rPr lang="fa-IR" dirty="0"/>
                  <a:t> از صفات </a:t>
                </a:r>
                <a:r>
                  <a:rPr lang="el-GR" dirty="0"/>
                  <a:t>α ⊆ </a:t>
                </a:r>
                <a:r>
                  <a:rPr lang="en-US" dirty="0" err="1"/>
                  <a:t>R_i</a:t>
                </a:r>
                <a:r>
                  <a:rPr lang="en-US" dirty="0"/>
                  <a:t>، </a:t>
                </a:r>
                <a:r>
                  <a:rPr lang="fa-IR" dirty="0"/>
                  <a:t>بررسی کنید که </a:t>
                </a:r>
                <a:r>
                  <a:rPr lang="el-GR" dirty="0"/>
                  <a:t>α⁺ (</a:t>
                </a:r>
                <a:r>
                  <a:rPr lang="fa-IR" dirty="0"/>
                  <a:t>بسته </a:t>
                </a:r>
                <a:r>
                  <a:rPr lang="fa-IR" dirty="0" err="1"/>
                  <a:t>صفت‌های</a:t>
                </a:r>
                <a:r>
                  <a:rPr lang="fa-IR" dirty="0"/>
                  <a:t> </a:t>
                </a:r>
                <a:r>
                  <a:rPr lang="el-GR" dirty="0"/>
                  <a:t>α) </a:t>
                </a:r>
                <a:r>
                  <a:rPr lang="fa-IR" dirty="0"/>
                  <a:t>یا هیچ یک از صفات </a:t>
                </a:r>
                <a:r>
                  <a:rPr lang="en-US" dirty="0" err="1"/>
                  <a:t>R_i</a:t>
                </a:r>
                <a:r>
                  <a:rPr lang="en-US" dirty="0"/>
                  <a:t> – </a:t>
                </a:r>
                <a:r>
                  <a:rPr lang="el-GR" dirty="0"/>
                  <a:t>α </a:t>
                </a:r>
                <a:r>
                  <a:rPr lang="fa-IR" dirty="0"/>
                  <a:t>را شامل </a:t>
                </a:r>
                <a:r>
                  <a:rPr lang="fa-IR" dirty="0" err="1"/>
                  <a:t>نمی‌شود</a:t>
                </a:r>
                <a:r>
                  <a:rPr lang="fa-IR" dirty="0"/>
                  <a:t>، یا تمام صفات </a:t>
                </a:r>
                <a:r>
                  <a:rPr lang="en-US" dirty="0" err="1"/>
                  <a:t>R_i</a:t>
                </a:r>
                <a:r>
                  <a:rPr lang="en-US" dirty="0"/>
                  <a:t> </a:t>
                </a:r>
                <a:r>
                  <a:rPr lang="fa-IR" dirty="0"/>
                  <a:t>را شامل </a:t>
                </a:r>
                <a:r>
                  <a:rPr lang="fa-IR" dirty="0" err="1"/>
                  <a:t>می‌شود</a:t>
                </a:r>
                <a:r>
                  <a:rPr lang="fa-IR" dirty="0"/>
                  <a:t>.</a:t>
                </a:r>
              </a:p>
              <a:p>
                <a:pPr algn="r" rtl="1"/>
                <a:r>
                  <a:rPr lang="fa-IR" dirty="0"/>
                  <a:t>اگر این شرط توسط یک وابستگی </a:t>
                </a:r>
                <a:r>
                  <a:rPr lang="el-GR" dirty="0"/>
                  <a:t>α → β </a:t>
                </a:r>
                <a:r>
                  <a:rPr lang="fa-IR" dirty="0"/>
                  <a:t>در </a:t>
                </a:r>
                <a:r>
                  <a:rPr lang="en-US" dirty="0"/>
                  <a:t>F⁺ </a:t>
                </a:r>
                <a:r>
                  <a:rPr lang="fa-IR" dirty="0"/>
                  <a:t>نقض شود، وابستگی</a:t>
                </a:r>
                <a:br>
                  <a:rPr lang="fa-IR" dirty="0"/>
                </a:br>
                <a:r>
                  <a:rPr lang="el-GR" dirty="0"/>
                  <a:t>α → (α⁺ – α) ∩ </a:t>
                </a:r>
                <a:r>
                  <a:rPr lang="en-US" dirty="0" err="1"/>
                  <a:t>R_i</a:t>
                </a:r>
                <a:br>
                  <a:rPr lang="en-US" dirty="0"/>
                </a:br>
                <a:r>
                  <a:rPr lang="fa-IR" dirty="0"/>
                  <a:t>را </a:t>
                </a:r>
                <a:r>
                  <a:rPr lang="fa-IR" dirty="0" err="1"/>
                  <a:t>می‌توان</a:t>
                </a:r>
                <a:r>
                  <a:rPr lang="fa-IR" dirty="0"/>
                  <a:t> نشان داد که روی </a:t>
                </a:r>
                <a:r>
                  <a:rPr lang="en-US" dirty="0" err="1"/>
                  <a:t>R_i</a:t>
                </a:r>
                <a:r>
                  <a:rPr lang="en-US" dirty="0"/>
                  <a:t> </a:t>
                </a:r>
                <a:r>
                  <a:rPr lang="fa-IR" dirty="0"/>
                  <a:t>برقرار است، و در نتیجه </a:t>
                </a:r>
                <a:r>
                  <a:rPr lang="en-US" dirty="0" err="1"/>
                  <a:t>R_i</a:t>
                </a:r>
                <a:r>
                  <a:rPr lang="en-US" dirty="0"/>
                  <a:t> </a:t>
                </a:r>
                <a:r>
                  <a:rPr lang="en-US" b="1" dirty="0"/>
                  <a:t>BCNF </a:t>
                </a:r>
                <a:r>
                  <a:rPr lang="fa-IR" b="1" dirty="0"/>
                  <a:t>را نقض </a:t>
                </a:r>
                <a:r>
                  <a:rPr lang="fa-IR" b="1" dirty="0" err="1"/>
                  <a:t>می‌کند</a:t>
                </a:r>
                <a:r>
                  <a:rPr lang="fa-IR" dirty="0"/>
                  <a:t>.</a:t>
                </a:r>
              </a:p>
              <a:p>
                <a:pPr algn="r" rtl="1"/>
                <a:r>
                  <a:rPr lang="fa-IR" dirty="0"/>
                  <a:t>از این وابستگی برای </a:t>
                </a:r>
                <a:r>
                  <a:rPr lang="fa-IR" b="1" dirty="0"/>
                  <a:t>تجزیه </a:t>
                </a:r>
                <a:r>
                  <a:rPr lang="en-US" b="1" dirty="0" err="1"/>
                  <a:t>R_i</a:t>
                </a:r>
                <a:r>
                  <a:rPr lang="en-US" dirty="0"/>
                  <a:t> </a:t>
                </a:r>
                <a:r>
                  <a:rPr lang="fa-IR" dirty="0"/>
                  <a:t>استفاده </a:t>
                </a:r>
                <a:r>
                  <a:rPr lang="fa-IR" dirty="0" err="1"/>
                  <a:t>می‌کنیم</a:t>
                </a:r>
                <a:r>
                  <a:rPr lang="fa-IR" dirty="0"/>
                  <a:t>.</a:t>
                </a:r>
              </a:p>
              <a:p>
                <a:pPr algn="r" rtl="1"/>
                <a:endParaRPr lang="en-US" altLang="en-US" i="1" dirty="0"/>
              </a:p>
            </p:txBody>
          </p:sp>
        </mc:Choice>
        <mc:Fallback xmlns="">
          <p:sp>
            <p:nvSpPr>
              <p:cNvPr id="66563" name="Rectangle 3"/>
              <p:cNvSpPr>
                <a:spLocks noGrp="1" noRot="1" noChangeAspect="1" noMove="1" noResize="1" noEditPoints="1" noAdjustHandles="1" noChangeArrowheads="1" noChangeShapeType="1" noTextEdit="1"/>
              </p:cNvSpPr>
              <p:nvPr>
                <p:ph idx="1"/>
              </p:nvPr>
            </p:nvSpPr>
            <p:spPr>
              <a:xfrm>
                <a:off x="1029811" y="1636297"/>
                <a:ext cx="7306322" cy="3585408"/>
              </a:xfrm>
              <a:blipFill>
                <a:blip r:embed="rId3"/>
                <a:stretch>
                  <a:fillRect t="-1868" r="-100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 name="TextBox 1"/>
              <p:cNvSpPr txBox="1"/>
              <p:nvPr/>
            </p:nvSpPr>
            <p:spPr>
              <a:xfrm>
                <a:off x="768350" y="1143000"/>
                <a:ext cx="7077069" cy="369332"/>
              </a:xfrm>
              <a:prstGeom prst="rect">
                <a:avLst/>
              </a:prstGeom>
              <a:noFill/>
            </p:spPr>
            <p:txBody>
              <a:bodyPr wrap="square" rtlCol="0">
                <a:spAutoFit/>
              </a:bodyPr>
              <a:lstStyle/>
              <a:p>
                <a:pPr algn="r" rtl="1"/>
                <a:r>
                  <a:rPr lang="fa-IR" sz="1800" dirty="0"/>
                  <a:t>برای بررسی اینکه آیا یک رابطه </a:t>
                </a:r>
                <a14:m>
                  <m:oMath xmlns:m="http://schemas.openxmlformats.org/officeDocument/2006/math">
                    <m:sSub>
                      <m:sSubPr>
                        <m:ctrlPr>
                          <a:rPr lang="fa-IR" i="1">
                            <a:latin typeface="Cambria Math" panose="02040503050406030204" pitchFamily="18" charset="0"/>
                          </a:rPr>
                        </m:ctrlPr>
                      </m:sSubPr>
                      <m:e>
                        <m:r>
                          <a:rPr lang="fa-IR" i="1">
                            <a:latin typeface="Cambria Math" panose="02040503050406030204" pitchFamily="18" charset="0"/>
                          </a:rPr>
                          <m:t>𝑅</m:t>
                        </m:r>
                      </m:e>
                      <m:sub>
                        <m:r>
                          <a:rPr lang="fa-IR" i="1">
                            <a:latin typeface="Cambria Math" panose="02040503050406030204" pitchFamily="18" charset="0"/>
                          </a:rPr>
                          <m:t>𝑖</m:t>
                        </m:r>
                      </m:sub>
                    </m:sSub>
                  </m:oMath>
                </a14:m>
                <a:r>
                  <a:rPr lang="fa-IR" sz="1800" dirty="0"/>
                  <a:t>در </a:t>
                </a:r>
                <a:r>
                  <a:rPr lang="fa-IR" sz="1800" dirty="0" err="1"/>
                  <a:t>تجزیه‌ای</a:t>
                </a:r>
                <a:r>
                  <a:rPr lang="fa-IR" sz="1800" dirty="0"/>
                  <a:t> از </a:t>
                </a:r>
                <a14:m>
                  <m:oMath xmlns:m="http://schemas.openxmlformats.org/officeDocument/2006/math">
                    <m:r>
                      <a:rPr lang="fa-IR" i="1">
                        <a:latin typeface="Cambria Math" panose="02040503050406030204" pitchFamily="18" charset="0"/>
                      </a:rPr>
                      <m:t>𝑅</m:t>
                    </m:r>
                  </m:oMath>
                </a14:m>
                <a:r>
                  <a:rPr lang="fa-IR" sz="1800" dirty="0"/>
                  <a:t>در </a:t>
                </a:r>
                <a:r>
                  <a:rPr lang="en-US" sz="1800" b="1" dirty="0"/>
                  <a:t>BCNF</a:t>
                </a:r>
                <a:r>
                  <a:rPr lang="en-US" sz="1800" dirty="0"/>
                  <a:t> </a:t>
                </a:r>
                <a:r>
                  <a:rPr lang="fa-IR" sz="1800" dirty="0"/>
                  <a:t>است:</a:t>
                </a:r>
                <a:endParaRPr lang="en-US" sz="1700" dirty="0"/>
              </a:p>
            </p:txBody>
          </p:sp>
        </mc:Choice>
        <mc:Fallback xmlns="">
          <p:sp>
            <p:nvSpPr>
              <p:cNvPr id="2" name="TextBox 1"/>
              <p:cNvSpPr txBox="1">
                <a:spLocks noRot="1" noChangeAspect="1" noMove="1" noResize="1" noEditPoints="1" noAdjustHandles="1" noChangeArrowheads="1" noChangeShapeType="1" noTextEdit="1"/>
              </p:cNvSpPr>
              <p:nvPr/>
            </p:nvSpPr>
            <p:spPr>
              <a:xfrm>
                <a:off x="768350" y="1143000"/>
                <a:ext cx="7077069" cy="369332"/>
              </a:xfrm>
              <a:prstGeom prst="rect">
                <a:avLst/>
              </a:prstGeom>
              <a:blipFill>
                <a:blip r:embed="rId4"/>
                <a:stretch>
                  <a:fillRect t="-10000" r="-775" b="-25000"/>
                </a:stretch>
              </a:blipFill>
            </p:spPr>
            <p:txBody>
              <a:bodyPr/>
              <a:lstStyle/>
              <a:p>
                <a:r>
                  <a:rPr lang="en-US">
                    <a:noFill/>
                  </a:rPr>
                  <a:t> </a:t>
                </a:r>
              </a:p>
            </p:txBody>
          </p:sp>
        </mc:Fallback>
      </mc:AlternateContent>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38306" name="Rectangle 2"/>
          <p:cNvSpPr>
            <a:spLocks noGrp="1" noChangeArrowheads="1"/>
          </p:cNvSpPr>
          <p:nvPr>
            <p:ph type="title"/>
          </p:nvPr>
        </p:nvSpPr>
        <p:spPr/>
        <p:txBody>
          <a:bodyPr/>
          <a:lstStyle/>
          <a:p>
            <a:pPr>
              <a:defRPr/>
            </a:pPr>
            <a:r>
              <a:rPr lang="en-US" altLang="en-US" dirty="0">
                <a:effectLst>
                  <a:outerShdw blurRad="38100" dist="38100" dir="2700000" algn="tl">
                    <a:srgbClr val="C0C0C0"/>
                  </a:outerShdw>
                </a:effectLst>
                <a:ea typeface="ＭＳ Ｐゴシック" pitchFamily="34" charset="-128"/>
              </a:rPr>
              <a:t>BCNF Decomposition Algorithm</a:t>
            </a:r>
          </a:p>
        </p:txBody>
      </p:sp>
      <p:sp>
        <p:nvSpPr>
          <p:cNvPr id="67587" name="Rectangle 3"/>
          <p:cNvSpPr>
            <a:spLocks noGrp="1" noChangeArrowheads="1"/>
          </p:cNvSpPr>
          <p:nvPr>
            <p:ph idx="1"/>
          </p:nvPr>
        </p:nvSpPr>
        <p:spPr>
          <a:xfrm>
            <a:off x="768350" y="1149350"/>
            <a:ext cx="7763091" cy="4291013"/>
          </a:xfrm>
        </p:spPr>
        <p:txBody>
          <a:bodyPr/>
          <a:lstStyle/>
          <a:p>
            <a:pPr>
              <a:buFont typeface="Monotype Sorts" pitchFamily="-84" charset="2"/>
              <a:buNone/>
              <a:tabLst>
                <a:tab pos="565150" algn="l"/>
                <a:tab pos="803275" algn="l"/>
                <a:tab pos="1489075" algn="l"/>
                <a:tab pos="1771650" algn="l"/>
              </a:tabLst>
            </a:pPr>
            <a:r>
              <a:rPr lang="en-US" altLang="en-US" i="1" dirty="0"/>
              <a:t>	result </a:t>
            </a:r>
            <a:r>
              <a:rPr lang="en-US" altLang="en-US" dirty="0"/>
              <a:t>:= {</a:t>
            </a:r>
            <a:r>
              <a:rPr lang="en-US" altLang="en-US" i="1" dirty="0"/>
              <a:t>R </a:t>
            </a:r>
            <a:r>
              <a:rPr lang="en-US" altLang="en-US" dirty="0"/>
              <a:t>};</a:t>
            </a:r>
            <a:br>
              <a:rPr lang="en-US" altLang="en-US" dirty="0"/>
            </a:br>
            <a:r>
              <a:rPr lang="en-US" altLang="en-US" i="1" dirty="0"/>
              <a:t>done </a:t>
            </a:r>
            <a:r>
              <a:rPr lang="en-US" altLang="en-US" dirty="0"/>
              <a:t>:= false;</a:t>
            </a:r>
            <a:br>
              <a:rPr lang="en-US" altLang="en-US" dirty="0"/>
            </a:br>
            <a:r>
              <a:rPr lang="en-US" altLang="en-US" dirty="0"/>
              <a:t>compute </a:t>
            </a:r>
            <a:r>
              <a:rPr lang="en-US" altLang="en-US" i="1" dirty="0"/>
              <a:t>F </a:t>
            </a:r>
            <a:r>
              <a:rPr lang="en-US" altLang="en-US" baseline="30000" dirty="0"/>
              <a:t>+</a:t>
            </a:r>
            <a:r>
              <a:rPr lang="en-US" altLang="en-US" dirty="0"/>
              <a:t>;</a:t>
            </a:r>
            <a:br>
              <a:rPr lang="en-US" altLang="en-US" dirty="0"/>
            </a:br>
            <a:r>
              <a:rPr lang="en-US" altLang="en-US" b="1" dirty="0"/>
              <a:t>while (not </a:t>
            </a:r>
            <a:r>
              <a:rPr lang="en-US" altLang="en-US" i="1" dirty="0"/>
              <a:t>done) </a:t>
            </a:r>
            <a:r>
              <a:rPr lang="en-US" altLang="en-US" b="1" dirty="0"/>
              <a:t>do</a:t>
            </a:r>
            <a:br>
              <a:rPr lang="en-US" altLang="en-US" b="1" dirty="0"/>
            </a:br>
            <a:r>
              <a:rPr lang="en-US" altLang="en-US" b="1" dirty="0"/>
              <a:t>	if </a:t>
            </a:r>
            <a:r>
              <a:rPr lang="en-US" altLang="en-US" dirty="0"/>
              <a:t>(there is a schema </a:t>
            </a:r>
            <a:r>
              <a:rPr lang="en-US" altLang="en-US" i="1" dirty="0"/>
              <a:t>R</a:t>
            </a:r>
            <a:r>
              <a:rPr lang="en-US" altLang="en-US" i="1" baseline="-25000" dirty="0"/>
              <a:t>i</a:t>
            </a:r>
            <a:r>
              <a:rPr lang="en-US" altLang="en-US" i="1" dirty="0"/>
              <a:t> </a:t>
            </a:r>
            <a:r>
              <a:rPr lang="en-US" altLang="en-US" dirty="0"/>
              <a:t>in </a:t>
            </a:r>
            <a:r>
              <a:rPr lang="en-US" altLang="en-US" i="1" dirty="0"/>
              <a:t>result </a:t>
            </a:r>
            <a:r>
              <a:rPr lang="en-US" altLang="en-US" dirty="0"/>
              <a:t> that is not in BCNF)</a:t>
            </a:r>
            <a:br>
              <a:rPr lang="en-US" altLang="en-US" dirty="0"/>
            </a:br>
            <a:r>
              <a:rPr lang="en-US" altLang="en-US" dirty="0"/>
              <a:t>		</a:t>
            </a:r>
            <a:r>
              <a:rPr lang="en-US" altLang="en-US" b="1" dirty="0"/>
              <a:t>then begin</a:t>
            </a:r>
            <a:br>
              <a:rPr lang="en-US" altLang="en-US" b="1" dirty="0"/>
            </a:br>
            <a:r>
              <a:rPr lang="en-US" altLang="en-US" b="1" dirty="0"/>
              <a:t>			</a:t>
            </a:r>
            <a:r>
              <a:rPr lang="en-US" altLang="en-US" dirty="0"/>
              <a:t>let </a:t>
            </a:r>
            <a:r>
              <a:rPr lang="en-US" altLang="en-US" dirty="0">
                <a:sym typeface="Symbol" panose="05050102010706020507" pitchFamily="18" charset="2"/>
              </a:rPr>
              <a:t></a:t>
            </a:r>
            <a:r>
              <a:rPr lang="en-US" altLang="en-US" dirty="0">
                <a:sym typeface="Greek Symbols"/>
              </a:rPr>
              <a:t> </a:t>
            </a:r>
            <a:r>
              <a:rPr lang="en-US" altLang="en-US" dirty="0">
                <a:sym typeface="Symbol" panose="05050102010706020507" pitchFamily="18" charset="2"/>
              </a:rPr>
              <a:t></a:t>
            </a:r>
            <a:r>
              <a:rPr lang="en-US" altLang="en-US" dirty="0">
                <a:sym typeface="Monotype Sorts" pitchFamily="-84" charset="2"/>
              </a:rPr>
              <a:t> </a:t>
            </a:r>
            <a:r>
              <a:rPr lang="en-US" altLang="en-US" i="1" dirty="0">
                <a:sym typeface="Symbol" panose="05050102010706020507" pitchFamily="18" charset="2"/>
              </a:rPr>
              <a:t></a:t>
            </a:r>
            <a:r>
              <a:rPr lang="en-US" altLang="en-US" i="1" dirty="0">
                <a:sym typeface="Greek Symbols"/>
              </a:rPr>
              <a:t> </a:t>
            </a:r>
            <a:r>
              <a:rPr lang="en-US" altLang="en-US" dirty="0">
                <a:sym typeface="Greek Symbols"/>
              </a:rPr>
              <a:t> be a nontrivial functional dependency that </a:t>
            </a:r>
            <a:br>
              <a:rPr lang="en-US" altLang="en-US" dirty="0">
                <a:sym typeface="Greek Symbols"/>
              </a:rPr>
            </a:br>
            <a:r>
              <a:rPr lang="en-US" altLang="en-US" dirty="0">
                <a:sym typeface="Greek Symbols"/>
              </a:rPr>
              <a:t>                       holds on </a:t>
            </a:r>
            <a:r>
              <a:rPr lang="en-US" altLang="en-US" i="1" dirty="0">
                <a:sym typeface="Greek Symbols"/>
              </a:rPr>
              <a:t>R</a:t>
            </a:r>
            <a:r>
              <a:rPr lang="en-US" altLang="en-US" i="1" baseline="-25000" dirty="0">
                <a:sym typeface="Greek Symbols"/>
              </a:rPr>
              <a:t>i</a:t>
            </a:r>
            <a:r>
              <a:rPr lang="en-US" altLang="en-US" i="1" dirty="0">
                <a:sym typeface="Greek Symbols"/>
              </a:rPr>
              <a:t>  </a:t>
            </a:r>
            <a:r>
              <a:rPr lang="en-US" altLang="en-US" dirty="0">
                <a:sym typeface="Greek Symbols"/>
              </a:rPr>
              <a:t>such that </a:t>
            </a:r>
            <a:r>
              <a:rPr lang="en-US" altLang="en-US" dirty="0">
                <a:sym typeface="Symbol" panose="05050102010706020507" pitchFamily="18" charset="2"/>
              </a:rPr>
              <a:t></a:t>
            </a:r>
            <a:r>
              <a:rPr lang="en-US" altLang="en-US" dirty="0">
                <a:sym typeface="Greek Symbols"/>
              </a:rPr>
              <a:t> </a:t>
            </a:r>
            <a:r>
              <a:rPr lang="en-US" altLang="en-US" dirty="0">
                <a:sym typeface="Symbol" panose="05050102010706020507" pitchFamily="18" charset="2"/>
              </a:rPr>
              <a:t></a:t>
            </a:r>
            <a:r>
              <a:rPr lang="en-US" altLang="en-US" dirty="0">
                <a:sym typeface="Monotype Sorts" pitchFamily="-84" charset="2"/>
              </a:rPr>
              <a:t> </a:t>
            </a:r>
            <a:r>
              <a:rPr lang="en-US" altLang="en-US" i="1" dirty="0">
                <a:sym typeface="Greek Symbols"/>
              </a:rPr>
              <a:t>R</a:t>
            </a:r>
            <a:r>
              <a:rPr lang="en-US" altLang="en-US" i="1" baseline="-25000" dirty="0">
                <a:sym typeface="Greek Symbols"/>
              </a:rPr>
              <a:t>i</a:t>
            </a:r>
            <a:r>
              <a:rPr lang="en-US" altLang="en-US" i="1" dirty="0">
                <a:sym typeface="Greek Symbols"/>
              </a:rPr>
              <a:t> </a:t>
            </a:r>
            <a:r>
              <a:rPr lang="en-US" altLang="en-US" dirty="0">
                <a:sym typeface="Greek Symbols"/>
              </a:rPr>
              <a:t>is not in </a:t>
            </a:r>
            <a:r>
              <a:rPr lang="en-US" altLang="en-US" i="1" dirty="0">
                <a:sym typeface="Greek Symbols"/>
              </a:rPr>
              <a:t>F </a:t>
            </a:r>
            <a:r>
              <a:rPr lang="en-US" altLang="en-US" baseline="30000" dirty="0">
                <a:sym typeface="Greek Symbols"/>
              </a:rPr>
              <a:t>+</a:t>
            </a:r>
            <a:r>
              <a:rPr lang="en-US" altLang="en-US" dirty="0">
                <a:sym typeface="Greek Symbols"/>
              </a:rPr>
              <a:t>, </a:t>
            </a:r>
            <a:br>
              <a:rPr lang="en-US" altLang="en-US" dirty="0">
                <a:sym typeface="Greek Symbols"/>
              </a:rPr>
            </a:br>
            <a:r>
              <a:rPr lang="en-US" altLang="en-US" dirty="0">
                <a:sym typeface="Greek Symbols"/>
              </a:rPr>
              <a:t>				   and </a:t>
            </a:r>
            <a:r>
              <a:rPr lang="en-US" altLang="en-US" dirty="0">
                <a:sym typeface="Symbol" panose="05050102010706020507" pitchFamily="18" charset="2"/>
              </a:rPr>
              <a:t></a:t>
            </a:r>
            <a:r>
              <a:rPr lang="en-US" altLang="en-US" dirty="0">
                <a:sym typeface="Greek Symbols"/>
              </a:rPr>
              <a:t> </a:t>
            </a:r>
            <a:r>
              <a:rPr lang="en-US" altLang="en-US" dirty="0">
                <a:sym typeface="Symbol" panose="05050102010706020507" pitchFamily="18" charset="2"/>
              </a:rPr>
              <a:t> </a:t>
            </a:r>
            <a:r>
              <a:rPr lang="en-US" altLang="en-US" i="1" dirty="0">
                <a:sym typeface="Symbol" panose="05050102010706020507" pitchFamily="18" charset="2"/>
              </a:rPr>
              <a:t></a:t>
            </a:r>
            <a:r>
              <a:rPr lang="en-US" altLang="en-US" i="1" dirty="0">
                <a:sym typeface="Greek Symbols"/>
              </a:rPr>
              <a:t>  = </a:t>
            </a:r>
            <a:r>
              <a:rPr lang="en-US" altLang="en-US" dirty="0">
                <a:sym typeface="Symbol" panose="05050102010706020507" pitchFamily="18" charset="2"/>
              </a:rPr>
              <a:t>;</a:t>
            </a:r>
            <a:br>
              <a:rPr lang="en-US" altLang="en-US" dirty="0">
                <a:sym typeface="Symbol" panose="05050102010706020507" pitchFamily="18" charset="2"/>
              </a:rPr>
            </a:br>
            <a:r>
              <a:rPr lang="en-US" altLang="en-US" dirty="0">
                <a:sym typeface="Symbol" panose="05050102010706020507" pitchFamily="18" charset="2"/>
              </a:rPr>
              <a:t>			   </a:t>
            </a:r>
            <a:r>
              <a:rPr lang="en-US" altLang="en-US" i="1" dirty="0">
                <a:sym typeface="Symbol" panose="05050102010706020507" pitchFamily="18" charset="2"/>
              </a:rPr>
              <a:t>result </a:t>
            </a:r>
            <a:r>
              <a:rPr lang="en-US" altLang="en-US" dirty="0">
                <a:sym typeface="Symbol" panose="05050102010706020507" pitchFamily="18" charset="2"/>
              </a:rPr>
              <a:t>:= (</a:t>
            </a:r>
            <a:r>
              <a:rPr lang="en-US" altLang="en-US" i="1" dirty="0">
                <a:sym typeface="Symbol" panose="05050102010706020507" pitchFamily="18" charset="2"/>
              </a:rPr>
              <a:t>result – R</a:t>
            </a:r>
            <a:r>
              <a:rPr lang="en-US" altLang="en-US" i="1" baseline="-25000" dirty="0">
                <a:sym typeface="Symbol" panose="05050102010706020507" pitchFamily="18" charset="2"/>
              </a:rPr>
              <a:t>i </a:t>
            </a:r>
            <a:r>
              <a:rPr lang="en-US" altLang="en-US" i="1" dirty="0">
                <a:sym typeface="Symbol" panose="05050102010706020507" pitchFamily="18" charset="2"/>
              </a:rPr>
              <a:t>) </a:t>
            </a:r>
            <a:r>
              <a:rPr lang="en-US" altLang="en-US" dirty="0">
                <a:sym typeface="Symbol" panose="05050102010706020507" pitchFamily="18" charset="2"/>
              </a:rPr>
              <a:t> (</a:t>
            </a:r>
            <a:r>
              <a:rPr lang="en-US" altLang="en-US" i="1" dirty="0">
                <a:sym typeface="Symbol" panose="05050102010706020507" pitchFamily="18" charset="2"/>
              </a:rPr>
              <a:t>R</a:t>
            </a:r>
            <a:r>
              <a:rPr lang="en-US" altLang="en-US" i="1" baseline="-25000" dirty="0">
                <a:sym typeface="Symbol" panose="05050102010706020507" pitchFamily="18" charset="2"/>
              </a:rPr>
              <a:t>i</a:t>
            </a:r>
            <a:r>
              <a:rPr lang="en-US" altLang="en-US" i="1" dirty="0">
                <a:sym typeface="Symbol" panose="05050102010706020507" pitchFamily="18" charset="2"/>
              </a:rPr>
              <a:t> – </a:t>
            </a:r>
            <a:r>
              <a:rPr lang="en-US" altLang="en-US" dirty="0">
                <a:sym typeface="Greek Symbols"/>
              </a:rPr>
              <a:t>) </a:t>
            </a:r>
            <a:r>
              <a:rPr lang="en-US" altLang="en-US" dirty="0">
                <a:sym typeface="Symbol" panose="05050102010706020507" pitchFamily="18" charset="2"/>
              </a:rPr>
              <a:t> (</a:t>
            </a:r>
            <a:r>
              <a:rPr lang="en-US" altLang="en-US" dirty="0">
                <a:sym typeface="Greek Symbols"/>
              </a:rPr>
              <a:t>, </a:t>
            </a:r>
            <a:r>
              <a:rPr lang="en-US" altLang="en-US" i="1" dirty="0">
                <a:sym typeface="Symbol" panose="05050102010706020507" pitchFamily="18" charset="2"/>
              </a:rPr>
              <a:t></a:t>
            </a:r>
            <a:r>
              <a:rPr lang="en-US" altLang="en-US" i="1" dirty="0">
                <a:sym typeface="Greek Symbols"/>
              </a:rPr>
              <a:t> );</a:t>
            </a:r>
            <a:br>
              <a:rPr lang="en-US" altLang="en-US" i="1" dirty="0">
                <a:sym typeface="Greek Symbols"/>
              </a:rPr>
            </a:br>
            <a:r>
              <a:rPr lang="en-US" altLang="en-US" i="1" dirty="0">
                <a:sym typeface="Greek Symbols"/>
              </a:rPr>
              <a:t>	    	</a:t>
            </a:r>
            <a:r>
              <a:rPr lang="en-US" altLang="en-US" b="1" dirty="0">
                <a:sym typeface="Greek Symbols"/>
              </a:rPr>
              <a:t>end</a:t>
            </a:r>
            <a:br>
              <a:rPr lang="en-US" altLang="en-US" b="1" dirty="0">
                <a:sym typeface="Greek Symbols"/>
              </a:rPr>
            </a:br>
            <a:r>
              <a:rPr lang="en-US" altLang="en-US" b="1" dirty="0">
                <a:sym typeface="Greek Symbols"/>
              </a:rPr>
              <a:t>		else</a:t>
            </a:r>
            <a:r>
              <a:rPr lang="en-US" altLang="en-US" i="1" dirty="0">
                <a:sym typeface="Greek Symbols"/>
              </a:rPr>
              <a:t> done </a:t>
            </a:r>
            <a:r>
              <a:rPr lang="en-US" altLang="en-US" dirty="0">
                <a:sym typeface="Greek Symbols"/>
              </a:rPr>
              <a:t>:= </a:t>
            </a:r>
            <a:r>
              <a:rPr lang="en-US" altLang="en-US" b="1" dirty="0">
                <a:sym typeface="Greek Symbols"/>
              </a:rPr>
              <a:t>true; </a:t>
            </a:r>
          </a:p>
          <a:p>
            <a:pPr>
              <a:buFont typeface="Monotype Sorts" pitchFamily="-84" charset="2"/>
              <a:buNone/>
              <a:tabLst>
                <a:tab pos="565150" algn="l"/>
                <a:tab pos="803275" algn="l"/>
                <a:tab pos="1489075" algn="l"/>
                <a:tab pos="1771650" algn="l"/>
              </a:tabLst>
            </a:pPr>
            <a:endParaRPr lang="en-US" altLang="en-US" b="1" dirty="0">
              <a:sym typeface="Greek Symbols"/>
            </a:endParaRPr>
          </a:p>
          <a:p>
            <a:pPr algn="r" rtl="1">
              <a:buFont typeface="Monotype Sorts" pitchFamily="-84" charset="2"/>
              <a:buNone/>
              <a:tabLst>
                <a:tab pos="565150" algn="l"/>
                <a:tab pos="803275" algn="l"/>
                <a:tab pos="1489075" algn="l"/>
                <a:tab pos="1771650" algn="l"/>
              </a:tabLst>
            </a:pPr>
            <a:r>
              <a:rPr lang="en-US" altLang="en-US" dirty="0">
                <a:sym typeface="Greek Symbols"/>
              </a:rPr>
              <a:t>     </a:t>
            </a:r>
            <a:r>
              <a:rPr lang="fa-IR" dirty="0"/>
              <a:t>توجه: هر </a:t>
            </a:r>
            <a:r>
              <a:rPr lang="en-US" dirty="0"/>
              <a:t>Ri </a:t>
            </a:r>
            <a:r>
              <a:rPr lang="fa-IR" dirty="0"/>
              <a:t>در </a:t>
            </a:r>
            <a:r>
              <a:rPr lang="en-US" b="1" dirty="0"/>
              <a:t>BCNF</a:t>
            </a:r>
            <a:r>
              <a:rPr lang="en-US" dirty="0"/>
              <a:t> </a:t>
            </a:r>
            <a:r>
              <a:rPr lang="fa-IR" dirty="0"/>
              <a:t>است و تجزیه </a:t>
            </a:r>
            <a:r>
              <a:rPr lang="en-US" b="1" dirty="0"/>
              <a:t>Lossless-join</a:t>
            </a:r>
            <a:r>
              <a:rPr lang="en-US" dirty="0"/>
              <a:t> </a:t>
            </a:r>
            <a:r>
              <a:rPr lang="fa-IR" dirty="0" err="1"/>
              <a:t>می‌باشد</a:t>
            </a:r>
            <a:r>
              <a:rPr lang="fa-IR" dirty="0"/>
              <a:t>.</a:t>
            </a:r>
            <a:endParaRPr lang="en-US" altLang="en-US" dirty="0">
              <a:sym typeface="Greek Symbols"/>
            </a:endParaRPr>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42402" name="Rectangle 2"/>
          <p:cNvSpPr>
            <a:spLocks noGrp="1" noChangeArrowheads="1"/>
          </p:cNvSpPr>
          <p:nvPr>
            <p:ph type="title"/>
          </p:nvPr>
        </p:nvSpPr>
        <p:spPr/>
        <p:txBody>
          <a:bodyPr/>
          <a:lstStyle/>
          <a:p>
            <a:pPr>
              <a:defRPr/>
            </a:pPr>
            <a:r>
              <a:rPr lang="en-US" altLang="en-US">
                <a:effectLst>
                  <a:outerShdw blurRad="38100" dist="38100" dir="2700000" algn="tl">
                    <a:srgbClr val="C0C0C0"/>
                  </a:outerShdw>
                </a:effectLst>
                <a:ea typeface="ＭＳ Ｐゴシック" pitchFamily="34" charset="-128"/>
              </a:rPr>
              <a:t>Example of BCNF Decomposition</a:t>
            </a:r>
          </a:p>
        </p:txBody>
      </p:sp>
      <p:sp>
        <p:nvSpPr>
          <p:cNvPr id="742403" name="Rectangle 3"/>
          <p:cNvSpPr>
            <a:spLocks noGrp="1" noChangeArrowheads="1"/>
          </p:cNvSpPr>
          <p:nvPr>
            <p:ph idx="1"/>
          </p:nvPr>
        </p:nvSpPr>
        <p:spPr>
          <a:xfrm>
            <a:off x="187890" y="727075"/>
            <a:ext cx="8174875" cy="4633244"/>
          </a:xfrm>
        </p:spPr>
        <p:txBody>
          <a:bodyPr/>
          <a:lstStyle/>
          <a:p>
            <a:pPr algn="r" rtl="1"/>
            <a:r>
              <a:rPr lang="fa-IR" dirty="0"/>
              <a:t>رابطه:</a:t>
            </a:r>
            <a:br>
              <a:rPr lang="fa-IR" dirty="0"/>
            </a:br>
            <a:r>
              <a:rPr lang="en-US" b="1" dirty="0"/>
              <a:t>class</a:t>
            </a:r>
            <a:r>
              <a:rPr lang="en-US" dirty="0"/>
              <a:t> (</a:t>
            </a:r>
            <a:r>
              <a:rPr lang="en-US" dirty="0" err="1"/>
              <a:t>course_id</a:t>
            </a:r>
            <a:r>
              <a:rPr lang="en-US" dirty="0"/>
              <a:t>, title, </a:t>
            </a:r>
            <a:r>
              <a:rPr lang="en-US" dirty="0" err="1"/>
              <a:t>dept_name</a:t>
            </a:r>
            <a:r>
              <a:rPr lang="en-US" dirty="0"/>
              <a:t>, credits, </a:t>
            </a:r>
            <a:r>
              <a:rPr lang="en-US" dirty="0" err="1"/>
              <a:t>sec_id</a:t>
            </a:r>
            <a:r>
              <a:rPr lang="en-US" dirty="0"/>
              <a:t>, semester, year, building, </a:t>
            </a:r>
            <a:r>
              <a:rPr lang="en-US" dirty="0" err="1"/>
              <a:t>room_number</a:t>
            </a:r>
            <a:r>
              <a:rPr lang="en-US" dirty="0"/>
              <a:t>, capacity, </a:t>
            </a:r>
            <a:r>
              <a:rPr lang="en-US" dirty="0" err="1"/>
              <a:t>time_slot_id</a:t>
            </a:r>
            <a:r>
              <a:rPr lang="en-US" dirty="0"/>
              <a:t>)</a:t>
            </a:r>
          </a:p>
          <a:p>
            <a:pPr algn="r" rtl="1"/>
            <a:r>
              <a:rPr lang="fa-IR" dirty="0" err="1"/>
              <a:t>وابستگی‌های</a:t>
            </a:r>
            <a:r>
              <a:rPr lang="fa-IR" dirty="0"/>
              <a:t> </a:t>
            </a:r>
            <a:r>
              <a:rPr lang="fa-IR" dirty="0" err="1"/>
              <a:t>تابعی</a:t>
            </a:r>
            <a:r>
              <a:rPr lang="fa-IR" dirty="0"/>
              <a:t>:</a:t>
            </a:r>
          </a:p>
          <a:p>
            <a:pPr algn="r" rtl="1"/>
            <a:r>
              <a:rPr lang="en-US" dirty="0" err="1"/>
              <a:t>course_id</a:t>
            </a:r>
            <a:r>
              <a:rPr lang="en-US" dirty="0"/>
              <a:t> → title, </a:t>
            </a:r>
            <a:r>
              <a:rPr lang="en-US" dirty="0" err="1"/>
              <a:t>dept_name</a:t>
            </a:r>
            <a:r>
              <a:rPr lang="en-US" dirty="0"/>
              <a:t>, credits</a:t>
            </a:r>
          </a:p>
          <a:p>
            <a:pPr algn="r" rtl="1"/>
            <a:r>
              <a:rPr lang="en-US" dirty="0"/>
              <a:t>building, </a:t>
            </a:r>
            <a:r>
              <a:rPr lang="en-US" dirty="0" err="1"/>
              <a:t>room_number</a:t>
            </a:r>
            <a:r>
              <a:rPr lang="en-US" dirty="0"/>
              <a:t> → capacity</a:t>
            </a:r>
          </a:p>
          <a:p>
            <a:pPr algn="r" rtl="1"/>
            <a:r>
              <a:rPr lang="en-US" dirty="0" err="1"/>
              <a:t>course_id</a:t>
            </a:r>
            <a:r>
              <a:rPr lang="en-US" dirty="0"/>
              <a:t>, </a:t>
            </a:r>
            <a:r>
              <a:rPr lang="en-US" dirty="0" err="1"/>
              <a:t>sec_id</a:t>
            </a:r>
            <a:r>
              <a:rPr lang="en-US" dirty="0"/>
              <a:t>, semester, year → building, </a:t>
            </a:r>
            <a:r>
              <a:rPr lang="en-US" dirty="0" err="1"/>
              <a:t>room_number</a:t>
            </a:r>
            <a:r>
              <a:rPr lang="en-US" dirty="0"/>
              <a:t>, </a:t>
            </a:r>
            <a:r>
              <a:rPr lang="en-US" dirty="0" err="1"/>
              <a:t>time_slot_id</a:t>
            </a:r>
            <a:endParaRPr lang="en-US" dirty="0"/>
          </a:p>
          <a:p>
            <a:pPr algn="r" rtl="1"/>
            <a:r>
              <a:rPr lang="fa-IR" dirty="0"/>
              <a:t>کلید کاندید: {</a:t>
            </a:r>
            <a:r>
              <a:rPr lang="en-US" dirty="0" err="1"/>
              <a:t>course_id</a:t>
            </a:r>
            <a:r>
              <a:rPr lang="en-US" dirty="0"/>
              <a:t>, </a:t>
            </a:r>
            <a:r>
              <a:rPr lang="en-US" dirty="0" err="1"/>
              <a:t>sec_id</a:t>
            </a:r>
            <a:r>
              <a:rPr lang="en-US" dirty="0"/>
              <a:t>, semester, year}</a:t>
            </a:r>
          </a:p>
          <a:p>
            <a:pPr algn="r" rtl="1"/>
            <a:r>
              <a:rPr lang="fa-IR" b="1" dirty="0"/>
              <a:t>تجزیه </a:t>
            </a:r>
            <a:r>
              <a:rPr lang="en-US" b="1" dirty="0"/>
              <a:t>BCNF:</a:t>
            </a:r>
            <a:br>
              <a:rPr lang="en-US" dirty="0"/>
            </a:br>
            <a:r>
              <a:rPr lang="fa-IR" dirty="0"/>
              <a:t>وابستگی </a:t>
            </a:r>
            <a:r>
              <a:rPr lang="en-US" dirty="0" err="1"/>
              <a:t>course_id</a:t>
            </a:r>
            <a:r>
              <a:rPr lang="en-US" dirty="0"/>
              <a:t> → title, </a:t>
            </a:r>
            <a:r>
              <a:rPr lang="en-US" dirty="0" err="1"/>
              <a:t>dept_name</a:t>
            </a:r>
            <a:r>
              <a:rPr lang="en-US" dirty="0"/>
              <a:t>, credits </a:t>
            </a:r>
            <a:r>
              <a:rPr lang="fa-IR" dirty="0"/>
              <a:t>برقرار است،</a:t>
            </a:r>
            <a:br>
              <a:rPr lang="fa-IR" dirty="0"/>
            </a:br>
            <a:r>
              <a:rPr lang="fa-IR" dirty="0"/>
              <a:t>اما </a:t>
            </a:r>
            <a:r>
              <a:rPr lang="en-US" dirty="0" err="1"/>
              <a:t>course_id</a:t>
            </a:r>
            <a:r>
              <a:rPr lang="en-US" dirty="0"/>
              <a:t> </a:t>
            </a:r>
            <a:r>
              <a:rPr lang="fa-IR" b="1" dirty="0" err="1"/>
              <a:t>ابرکلید</a:t>
            </a:r>
            <a:r>
              <a:rPr lang="fa-IR" dirty="0"/>
              <a:t> نیست.</a:t>
            </a:r>
          </a:p>
          <a:p>
            <a:pPr algn="r" rtl="1"/>
            <a:r>
              <a:rPr lang="fa-IR" dirty="0"/>
              <a:t>پس رابطه </a:t>
            </a:r>
            <a:r>
              <a:rPr lang="en-US" b="1" dirty="0"/>
              <a:t>class</a:t>
            </a:r>
            <a:r>
              <a:rPr lang="en-US" dirty="0"/>
              <a:t> </a:t>
            </a:r>
            <a:r>
              <a:rPr lang="fa-IR" dirty="0"/>
              <a:t>را جایگزین </a:t>
            </a:r>
            <a:r>
              <a:rPr lang="fa-IR" dirty="0" err="1"/>
              <a:t>می‌کنیم</a:t>
            </a:r>
            <a:r>
              <a:rPr lang="fa-IR" dirty="0"/>
              <a:t> با:</a:t>
            </a:r>
          </a:p>
          <a:p>
            <a:pPr algn="r" rtl="1"/>
            <a:r>
              <a:rPr lang="en-US" b="1" dirty="0"/>
              <a:t>course</a:t>
            </a:r>
            <a:r>
              <a:rPr lang="en-US" dirty="0"/>
              <a:t> (</a:t>
            </a:r>
            <a:r>
              <a:rPr lang="en-US" dirty="0" err="1"/>
              <a:t>course_id</a:t>
            </a:r>
            <a:r>
              <a:rPr lang="en-US" dirty="0"/>
              <a:t>, title, </a:t>
            </a:r>
            <a:r>
              <a:rPr lang="en-US" dirty="0" err="1"/>
              <a:t>dept_name</a:t>
            </a:r>
            <a:r>
              <a:rPr lang="en-US" dirty="0"/>
              <a:t>, credits)</a:t>
            </a:r>
          </a:p>
          <a:p>
            <a:pPr algn="r" rtl="1"/>
            <a:r>
              <a:rPr lang="en-US" b="1" dirty="0"/>
              <a:t>class-1</a:t>
            </a:r>
            <a:r>
              <a:rPr lang="en-US" dirty="0"/>
              <a:t> (</a:t>
            </a:r>
            <a:r>
              <a:rPr lang="en-US" dirty="0" err="1"/>
              <a:t>course_id</a:t>
            </a:r>
            <a:r>
              <a:rPr lang="en-US" dirty="0"/>
              <a:t>, </a:t>
            </a:r>
            <a:r>
              <a:rPr lang="en-US" dirty="0" err="1"/>
              <a:t>sec_id</a:t>
            </a:r>
            <a:r>
              <a:rPr lang="en-US" dirty="0"/>
              <a:t>, semester, year, building, </a:t>
            </a:r>
            <a:r>
              <a:rPr lang="en-US" dirty="0" err="1"/>
              <a:t>room_number</a:t>
            </a:r>
            <a:r>
              <a:rPr lang="en-US" dirty="0"/>
              <a:t>, capacity, </a:t>
            </a:r>
            <a:r>
              <a:rPr lang="en-US" dirty="0" err="1"/>
              <a:t>time_slot_id</a:t>
            </a:r>
            <a:r>
              <a:rPr lang="en-US" dirty="0"/>
              <a:t>)</a:t>
            </a:r>
          </a:p>
          <a:p>
            <a:pPr algn="r" rtl="1">
              <a:lnSpc>
                <a:spcPct val="90000"/>
              </a:lnSpc>
              <a:tabLst>
                <a:tab pos="744538" algn="l"/>
                <a:tab pos="2574925" algn="l"/>
              </a:tabLst>
            </a:pPr>
            <a:endParaRPr lang="en-US" alt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43778" name="Rectangle 2"/>
          <p:cNvSpPr>
            <a:spLocks noGrp="1" noChangeArrowheads="1"/>
          </p:cNvSpPr>
          <p:nvPr>
            <p:ph type="title"/>
          </p:nvPr>
        </p:nvSpPr>
        <p:spPr/>
        <p:txBody>
          <a:bodyPr/>
          <a:lstStyle/>
          <a:p>
            <a:pPr>
              <a:defRPr/>
            </a:pPr>
            <a:r>
              <a:rPr lang="en-US" altLang="en-US">
                <a:effectLst>
                  <a:outerShdw blurRad="38100" dist="38100" dir="2700000" algn="tl">
                    <a:srgbClr val="C0C0C0"/>
                  </a:outerShdw>
                </a:effectLst>
                <a:ea typeface="ＭＳ Ｐゴシック" pitchFamily="34" charset="-128"/>
              </a:rPr>
              <a:t>BCNF Decomposition (Cont.)</a:t>
            </a:r>
          </a:p>
        </p:txBody>
      </p:sp>
      <p:sp>
        <p:nvSpPr>
          <p:cNvPr id="69635" name="Rectangle 3"/>
          <p:cNvSpPr>
            <a:spLocks noGrp="1" noChangeArrowheads="1"/>
          </p:cNvSpPr>
          <p:nvPr>
            <p:ph idx="1"/>
          </p:nvPr>
        </p:nvSpPr>
        <p:spPr>
          <a:xfrm>
            <a:off x="768350" y="1093788"/>
            <a:ext cx="7505638" cy="3237580"/>
          </a:xfrm>
        </p:spPr>
        <p:txBody>
          <a:bodyPr/>
          <a:lstStyle/>
          <a:p>
            <a:pPr algn="r" rtl="1"/>
            <a:r>
              <a:rPr lang="fa-IR" dirty="0"/>
              <a:t>رابطه </a:t>
            </a:r>
            <a:r>
              <a:rPr lang="en-US" b="1" dirty="0"/>
              <a:t>course</a:t>
            </a:r>
            <a:r>
              <a:rPr lang="en-US" dirty="0"/>
              <a:t> </a:t>
            </a:r>
            <a:r>
              <a:rPr lang="fa-IR" dirty="0"/>
              <a:t>در </a:t>
            </a:r>
            <a:r>
              <a:rPr lang="en-US" b="1" dirty="0"/>
              <a:t>BCNF</a:t>
            </a:r>
            <a:r>
              <a:rPr lang="en-US" dirty="0"/>
              <a:t> </a:t>
            </a:r>
            <a:r>
              <a:rPr lang="fa-IR" dirty="0"/>
              <a:t>است.</a:t>
            </a:r>
            <a:br>
              <a:rPr lang="fa-IR" dirty="0"/>
            </a:br>
            <a:r>
              <a:rPr lang="fa-IR" dirty="0"/>
              <a:t>چگونه این را </a:t>
            </a:r>
            <a:r>
              <a:rPr lang="fa-IR" dirty="0" err="1"/>
              <a:t>می‌دانیم</a:t>
            </a:r>
            <a:r>
              <a:rPr lang="fa-IR" dirty="0"/>
              <a:t>؟</a:t>
            </a:r>
          </a:p>
          <a:p>
            <a:pPr algn="r" rtl="1"/>
            <a:r>
              <a:rPr lang="fa-IR" dirty="0"/>
              <a:t>وابستگی </a:t>
            </a:r>
            <a:r>
              <a:rPr lang="en-US" dirty="0"/>
              <a:t>building, </a:t>
            </a:r>
            <a:r>
              <a:rPr lang="en-US" dirty="0" err="1"/>
              <a:t>room_number</a:t>
            </a:r>
            <a:r>
              <a:rPr lang="en-US" dirty="0"/>
              <a:t> → capacity </a:t>
            </a:r>
            <a:r>
              <a:rPr lang="fa-IR" dirty="0"/>
              <a:t>در </a:t>
            </a:r>
            <a:r>
              <a:rPr lang="en-US" b="1" dirty="0"/>
              <a:t>class-1</a:t>
            </a:r>
            <a:r>
              <a:rPr lang="en-US" dirty="0"/>
              <a:t> </a:t>
            </a:r>
            <a:r>
              <a:rPr lang="fa-IR" dirty="0"/>
              <a:t>برقرار است،</a:t>
            </a:r>
            <a:br>
              <a:rPr lang="fa-IR" dirty="0"/>
            </a:br>
            <a:r>
              <a:rPr lang="fa-IR" dirty="0"/>
              <a:t>اما {</a:t>
            </a:r>
            <a:r>
              <a:rPr lang="en-US" dirty="0"/>
              <a:t>building, </a:t>
            </a:r>
            <a:r>
              <a:rPr lang="en-US" dirty="0" err="1"/>
              <a:t>room_number</a:t>
            </a:r>
            <a:r>
              <a:rPr lang="en-US" dirty="0"/>
              <a:t>} </a:t>
            </a:r>
            <a:r>
              <a:rPr lang="fa-IR" b="1" dirty="0" err="1"/>
              <a:t>ابرکلید</a:t>
            </a:r>
            <a:r>
              <a:rPr lang="fa-IR" dirty="0"/>
              <a:t> برای </a:t>
            </a:r>
            <a:r>
              <a:rPr lang="en-US" dirty="0"/>
              <a:t>class-1 </a:t>
            </a:r>
            <a:r>
              <a:rPr lang="fa-IR" dirty="0"/>
              <a:t>نیست.</a:t>
            </a:r>
          </a:p>
          <a:p>
            <a:pPr algn="r" rtl="1"/>
            <a:r>
              <a:rPr lang="fa-IR" dirty="0"/>
              <a:t>پس </a:t>
            </a:r>
            <a:r>
              <a:rPr lang="en-US" b="1" dirty="0"/>
              <a:t>class-1</a:t>
            </a:r>
            <a:r>
              <a:rPr lang="en-US" dirty="0"/>
              <a:t> </a:t>
            </a:r>
            <a:r>
              <a:rPr lang="fa-IR" dirty="0"/>
              <a:t>را جایگزین </a:t>
            </a:r>
            <a:r>
              <a:rPr lang="fa-IR" dirty="0" err="1"/>
              <a:t>می‌کنیم</a:t>
            </a:r>
            <a:r>
              <a:rPr lang="fa-IR" dirty="0"/>
              <a:t> با:</a:t>
            </a:r>
          </a:p>
          <a:p>
            <a:pPr algn="r" rtl="1"/>
            <a:r>
              <a:rPr lang="en-US" b="1" dirty="0"/>
              <a:t>classroom</a:t>
            </a:r>
            <a:r>
              <a:rPr lang="en-US" dirty="0"/>
              <a:t> (building, </a:t>
            </a:r>
            <a:r>
              <a:rPr lang="en-US" dirty="0" err="1"/>
              <a:t>room_number</a:t>
            </a:r>
            <a:r>
              <a:rPr lang="en-US" dirty="0"/>
              <a:t>, capacity)</a:t>
            </a:r>
          </a:p>
          <a:p>
            <a:pPr algn="r" rtl="1"/>
            <a:r>
              <a:rPr lang="en-US" b="1" dirty="0"/>
              <a:t>section</a:t>
            </a:r>
            <a:r>
              <a:rPr lang="en-US" dirty="0"/>
              <a:t> (</a:t>
            </a:r>
            <a:r>
              <a:rPr lang="en-US" dirty="0" err="1"/>
              <a:t>course_id</a:t>
            </a:r>
            <a:r>
              <a:rPr lang="en-US" dirty="0"/>
              <a:t>, </a:t>
            </a:r>
            <a:r>
              <a:rPr lang="en-US" dirty="0" err="1"/>
              <a:t>sec_id</a:t>
            </a:r>
            <a:r>
              <a:rPr lang="en-US" dirty="0"/>
              <a:t>, semester, year, building, </a:t>
            </a:r>
            <a:r>
              <a:rPr lang="en-US" dirty="0" err="1"/>
              <a:t>room_number</a:t>
            </a:r>
            <a:r>
              <a:rPr lang="en-US" dirty="0"/>
              <a:t>, </a:t>
            </a:r>
            <a:r>
              <a:rPr lang="en-US" dirty="0" err="1"/>
              <a:t>time_slot_id</a:t>
            </a:r>
            <a:r>
              <a:rPr lang="en-US" dirty="0"/>
              <a:t>)</a:t>
            </a:r>
          </a:p>
          <a:p>
            <a:pPr algn="r" rtl="1"/>
            <a:r>
              <a:rPr lang="fa-IR" dirty="0" err="1"/>
              <a:t>رابطه‌های</a:t>
            </a:r>
            <a:r>
              <a:rPr lang="fa-IR" dirty="0"/>
              <a:t> </a:t>
            </a:r>
            <a:r>
              <a:rPr lang="en-US" b="1" dirty="0"/>
              <a:t>classroom</a:t>
            </a:r>
            <a:r>
              <a:rPr lang="en-US" dirty="0"/>
              <a:t> </a:t>
            </a:r>
            <a:r>
              <a:rPr lang="fa-IR" dirty="0"/>
              <a:t>و </a:t>
            </a:r>
            <a:r>
              <a:rPr lang="en-US" b="1" dirty="0"/>
              <a:t>section</a:t>
            </a:r>
            <a:r>
              <a:rPr lang="en-US" dirty="0"/>
              <a:t> </a:t>
            </a:r>
            <a:r>
              <a:rPr lang="fa-IR" dirty="0"/>
              <a:t>در </a:t>
            </a:r>
            <a:r>
              <a:rPr lang="en-US" b="1" dirty="0"/>
              <a:t>BCNF</a:t>
            </a:r>
            <a:r>
              <a:rPr lang="en-US" dirty="0"/>
              <a:t> </a:t>
            </a:r>
            <a:r>
              <a:rPr lang="fa-IR" dirty="0"/>
              <a:t>هستند.</a:t>
            </a:r>
          </a:p>
          <a:p>
            <a:pPr algn="r" rtl="1"/>
            <a:endParaRPr lang="en-US" alt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46498" name="Rectangle 2"/>
          <p:cNvSpPr>
            <a:spLocks noGrp="1" noChangeArrowheads="1"/>
          </p:cNvSpPr>
          <p:nvPr>
            <p:ph type="title"/>
          </p:nvPr>
        </p:nvSpPr>
        <p:spPr/>
        <p:txBody>
          <a:bodyPr/>
          <a:lstStyle/>
          <a:p>
            <a:pPr>
              <a:defRPr/>
            </a:pPr>
            <a:r>
              <a:rPr lang="en-US" altLang="en-US" dirty="0">
                <a:effectLst>
                  <a:outerShdw blurRad="38100" dist="38100" dir="2700000" algn="tl">
                    <a:srgbClr val="C0C0C0"/>
                  </a:outerShdw>
                </a:effectLst>
                <a:ea typeface="ＭＳ Ｐゴシック" pitchFamily="34" charset="-128"/>
              </a:rPr>
              <a:t>Third Normal Form</a:t>
            </a:r>
          </a:p>
        </p:txBody>
      </p:sp>
      <p:sp>
        <p:nvSpPr>
          <p:cNvPr id="70659" name="Rectangle 3"/>
          <p:cNvSpPr>
            <a:spLocks noGrp="1" noChangeArrowheads="1"/>
          </p:cNvSpPr>
          <p:nvPr>
            <p:ph idx="1"/>
          </p:nvPr>
        </p:nvSpPr>
        <p:spPr>
          <a:xfrm>
            <a:off x="768350" y="1093788"/>
            <a:ext cx="7638803" cy="3297738"/>
          </a:xfrm>
        </p:spPr>
        <p:txBody>
          <a:bodyPr/>
          <a:lstStyle/>
          <a:p>
            <a:pPr algn="r" rtl="1"/>
            <a:r>
              <a:rPr lang="fa-IR" dirty="0"/>
              <a:t>برخی مواقع وجود دارد که:</a:t>
            </a:r>
          </a:p>
          <a:p>
            <a:pPr algn="r" rtl="1"/>
            <a:r>
              <a:rPr lang="en-US" b="1" dirty="0"/>
              <a:t>BCNF </a:t>
            </a:r>
            <a:r>
              <a:rPr lang="fa-IR" b="1" dirty="0" err="1"/>
              <a:t>وابستگی‌ها</a:t>
            </a:r>
            <a:r>
              <a:rPr lang="fa-IR" b="1" dirty="0"/>
              <a:t> را حفظ </a:t>
            </a:r>
            <a:r>
              <a:rPr lang="fa-IR" b="1" dirty="0" err="1"/>
              <a:t>نمی‌کند</a:t>
            </a:r>
            <a:r>
              <a:rPr lang="fa-IR" dirty="0"/>
              <a:t>، و</a:t>
            </a:r>
          </a:p>
          <a:p>
            <a:pPr algn="r" rtl="1"/>
            <a:r>
              <a:rPr lang="fa-IR" dirty="0"/>
              <a:t>بررسی مؤثر برای نقض </a:t>
            </a:r>
            <a:r>
              <a:rPr lang="fa-IR" dirty="0" err="1"/>
              <a:t>وابستگی‌های</a:t>
            </a:r>
            <a:r>
              <a:rPr lang="fa-IR" dirty="0"/>
              <a:t> </a:t>
            </a:r>
            <a:r>
              <a:rPr lang="fa-IR" dirty="0" err="1"/>
              <a:t>تابعی</a:t>
            </a:r>
            <a:r>
              <a:rPr lang="fa-IR" dirty="0"/>
              <a:t> در هنگام </a:t>
            </a:r>
            <a:r>
              <a:rPr lang="fa-IR" dirty="0" err="1"/>
              <a:t>به‌روزرسانی</a:t>
            </a:r>
            <a:r>
              <a:rPr lang="fa-IR" dirty="0"/>
              <a:t> اهمیت دارد.</a:t>
            </a:r>
          </a:p>
          <a:p>
            <a:pPr algn="r" rtl="1"/>
            <a:r>
              <a:rPr lang="fa-IR" dirty="0" err="1"/>
              <a:t>راه‌حل</a:t>
            </a:r>
            <a:r>
              <a:rPr lang="fa-IR" dirty="0"/>
              <a:t>: تعریف یک فرم نرمال </a:t>
            </a:r>
            <a:r>
              <a:rPr lang="fa-IR" dirty="0" err="1"/>
              <a:t>ضعیف‌تر</a:t>
            </a:r>
            <a:r>
              <a:rPr lang="fa-IR" dirty="0"/>
              <a:t> به نام </a:t>
            </a:r>
            <a:r>
              <a:rPr lang="fa-IR" b="1" dirty="0"/>
              <a:t>سومین فرم نرمال (3</a:t>
            </a:r>
            <a:r>
              <a:rPr lang="en-US" b="1" dirty="0"/>
              <a:t>NF)</a:t>
            </a:r>
            <a:endParaRPr lang="en-US" dirty="0"/>
          </a:p>
          <a:p>
            <a:pPr algn="r" rtl="1"/>
            <a:r>
              <a:rPr lang="fa-IR" dirty="0"/>
              <a:t>اجازه </a:t>
            </a:r>
            <a:r>
              <a:rPr lang="fa-IR" dirty="0" err="1"/>
              <a:t>می‌دهد</a:t>
            </a:r>
            <a:r>
              <a:rPr lang="fa-IR" dirty="0"/>
              <a:t> مقداری افزونگی وجود داشته باشد (با مشکلات ناشی از آن؛ </a:t>
            </a:r>
            <a:r>
              <a:rPr lang="fa-IR" dirty="0" err="1"/>
              <a:t>نمونه‌ها</a:t>
            </a:r>
            <a:r>
              <a:rPr lang="fa-IR" dirty="0"/>
              <a:t> بعداً بررسی </a:t>
            </a:r>
            <a:r>
              <a:rPr lang="fa-IR" dirty="0" err="1"/>
              <a:t>می‌شوند</a:t>
            </a:r>
            <a:r>
              <a:rPr lang="fa-IR" dirty="0"/>
              <a:t>)،</a:t>
            </a:r>
          </a:p>
          <a:p>
            <a:pPr algn="r" rtl="1"/>
            <a:r>
              <a:rPr lang="fa-IR" dirty="0"/>
              <a:t>اما </a:t>
            </a:r>
            <a:r>
              <a:rPr lang="fa-IR" dirty="0" err="1"/>
              <a:t>وابستگی‌های</a:t>
            </a:r>
            <a:r>
              <a:rPr lang="fa-IR" dirty="0"/>
              <a:t> </a:t>
            </a:r>
            <a:r>
              <a:rPr lang="fa-IR" dirty="0" err="1"/>
              <a:t>تابعی</a:t>
            </a:r>
            <a:r>
              <a:rPr lang="fa-IR" dirty="0"/>
              <a:t> را </a:t>
            </a:r>
            <a:r>
              <a:rPr lang="fa-IR" dirty="0" err="1"/>
              <a:t>می‌توان</a:t>
            </a:r>
            <a:r>
              <a:rPr lang="fa-IR" dirty="0"/>
              <a:t> روی روابط جداگانه بررسی کرد بدون نیاز به محاسبه </a:t>
            </a:r>
            <a:r>
              <a:rPr lang="en-US" dirty="0"/>
              <a:t>join.</a:t>
            </a:r>
          </a:p>
          <a:p>
            <a:pPr algn="r" rtl="1"/>
            <a:r>
              <a:rPr lang="fa-IR" dirty="0"/>
              <a:t>همیشه یک </a:t>
            </a:r>
            <a:r>
              <a:rPr lang="fa-IR" b="1" dirty="0"/>
              <a:t>تجزیه بدون از دست دادن اطلاعات (</a:t>
            </a:r>
            <a:r>
              <a:rPr lang="en-US" b="1" dirty="0"/>
              <a:t>lossless-join)</a:t>
            </a:r>
            <a:r>
              <a:rPr lang="en-US" dirty="0"/>
              <a:t> </a:t>
            </a:r>
            <a:r>
              <a:rPr lang="fa-IR" dirty="0"/>
              <a:t>و </a:t>
            </a:r>
            <a:r>
              <a:rPr lang="fa-IR" b="1" dirty="0" err="1"/>
              <a:t>حفظ‌کننده</a:t>
            </a:r>
            <a:r>
              <a:rPr lang="fa-IR" b="1" dirty="0"/>
              <a:t> </a:t>
            </a:r>
            <a:r>
              <a:rPr lang="fa-IR" b="1" dirty="0" err="1"/>
              <a:t>وابستگی‌ها</a:t>
            </a:r>
            <a:r>
              <a:rPr lang="fa-IR" dirty="0"/>
              <a:t> به 3</a:t>
            </a:r>
            <a:r>
              <a:rPr lang="en-US" dirty="0"/>
              <a:t>NF </a:t>
            </a:r>
            <a:r>
              <a:rPr lang="fa-IR" dirty="0"/>
              <a:t>وجود دارد.</a:t>
            </a:r>
          </a:p>
          <a:p>
            <a:pPr algn="r" rtl="1"/>
            <a:endParaRPr lang="en-US" alt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48546" name="Rectangle 2"/>
          <p:cNvSpPr>
            <a:spLocks noGrp="1" noChangeArrowheads="1"/>
          </p:cNvSpPr>
          <p:nvPr>
            <p:ph type="title"/>
          </p:nvPr>
        </p:nvSpPr>
        <p:spPr/>
        <p:txBody>
          <a:bodyPr/>
          <a:lstStyle/>
          <a:p>
            <a:pPr>
              <a:defRPr/>
            </a:pPr>
            <a:r>
              <a:rPr lang="en-US" altLang="en-US" dirty="0">
                <a:effectLst>
                  <a:outerShdw blurRad="38100" dist="38100" dir="2700000" algn="tl">
                    <a:srgbClr val="C0C0C0"/>
                  </a:outerShdw>
                </a:effectLst>
                <a:ea typeface="ＭＳ Ｐゴシック" pitchFamily="34" charset="-128"/>
              </a:rPr>
              <a:t>3NF Example -- </a:t>
            </a:r>
            <a:r>
              <a:rPr lang="en-US" altLang="en-US" dirty="0"/>
              <a:t>Relation </a:t>
            </a:r>
            <a:r>
              <a:rPr lang="en-US" altLang="en-US" i="1" dirty="0"/>
              <a:t>dept_advisor</a:t>
            </a:r>
            <a:endParaRPr lang="en-US" altLang="en-US" dirty="0">
              <a:effectLst>
                <a:outerShdw blurRad="38100" dist="38100" dir="2700000" algn="tl">
                  <a:srgbClr val="C0C0C0"/>
                </a:outerShdw>
              </a:effectLst>
              <a:ea typeface="ＭＳ Ｐゴシック" pitchFamily="34" charset="-128"/>
            </a:endParaRPr>
          </a:p>
        </p:txBody>
      </p:sp>
      <p:sp>
        <p:nvSpPr>
          <p:cNvPr id="71683" name="Rectangle 3"/>
          <p:cNvSpPr>
            <a:spLocks noGrp="1" noChangeArrowheads="1"/>
          </p:cNvSpPr>
          <p:nvPr>
            <p:ph idx="1"/>
          </p:nvPr>
        </p:nvSpPr>
        <p:spPr>
          <a:xfrm>
            <a:off x="768350" y="1153948"/>
            <a:ext cx="7558904" cy="3285707"/>
          </a:xfrm>
        </p:spPr>
        <p:txBody>
          <a:bodyPr/>
          <a:lstStyle/>
          <a:p>
            <a:pPr algn="r" rtl="1"/>
            <a:r>
              <a:rPr lang="fa-IR" dirty="0"/>
              <a:t>رابطه:</a:t>
            </a:r>
            <a:br>
              <a:rPr lang="fa-IR" dirty="0"/>
            </a:br>
            <a:r>
              <a:rPr lang="en-US" b="1" dirty="0" err="1"/>
              <a:t>dept_advisor</a:t>
            </a:r>
            <a:r>
              <a:rPr lang="en-US" dirty="0"/>
              <a:t> (</a:t>
            </a:r>
            <a:r>
              <a:rPr lang="en-US" dirty="0" err="1"/>
              <a:t>s_ID</a:t>
            </a:r>
            <a:r>
              <a:rPr lang="en-US" dirty="0"/>
              <a:t>, </a:t>
            </a:r>
            <a:r>
              <a:rPr lang="en-US" dirty="0" err="1"/>
              <a:t>i_ID</a:t>
            </a:r>
            <a:r>
              <a:rPr lang="en-US" dirty="0"/>
              <a:t>, </a:t>
            </a:r>
            <a:r>
              <a:rPr lang="en-US" dirty="0" err="1"/>
              <a:t>dept_name</a:t>
            </a:r>
            <a:r>
              <a:rPr lang="en-US" dirty="0"/>
              <a:t>)</a:t>
            </a:r>
          </a:p>
          <a:p>
            <a:pPr algn="r" rtl="1"/>
            <a:r>
              <a:rPr lang="fa-IR" dirty="0" err="1"/>
              <a:t>وابستگی‌های</a:t>
            </a:r>
            <a:r>
              <a:rPr lang="fa-IR" dirty="0"/>
              <a:t> </a:t>
            </a:r>
            <a:r>
              <a:rPr lang="fa-IR" dirty="0" err="1"/>
              <a:t>تابعی</a:t>
            </a:r>
            <a:r>
              <a:rPr lang="fa-IR" dirty="0"/>
              <a:t>:</a:t>
            </a:r>
            <a:br>
              <a:rPr lang="fa-IR" dirty="0"/>
            </a:br>
            <a:r>
              <a:rPr lang="en-US" dirty="0"/>
              <a:t>F = { </a:t>
            </a:r>
            <a:r>
              <a:rPr lang="en-US" dirty="0" err="1"/>
              <a:t>s_ID</a:t>
            </a:r>
            <a:r>
              <a:rPr lang="en-US" dirty="0"/>
              <a:t>, </a:t>
            </a:r>
            <a:r>
              <a:rPr lang="en-US" dirty="0" err="1"/>
              <a:t>dept_name</a:t>
            </a:r>
            <a:r>
              <a:rPr lang="en-US" dirty="0"/>
              <a:t> → </a:t>
            </a:r>
            <a:r>
              <a:rPr lang="en-US" dirty="0" err="1"/>
              <a:t>i_ID</a:t>
            </a:r>
            <a:r>
              <a:rPr lang="en-US" dirty="0"/>
              <a:t>, </a:t>
            </a:r>
            <a:r>
              <a:rPr lang="en-US" dirty="0" err="1"/>
              <a:t>i_ID</a:t>
            </a:r>
            <a:r>
              <a:rPr lang="en-US" dirty="0"/>
              <a:t> → </a:t>
            </a:r>
            <a:r>
              <a:rPr lang="en-US" dirty="0" err="1"/>
              <a:t>dept_name</a:t>
            </a:r>
            <a:r>
              <a:rPr lang="en-US" dirty="0"/>
              <a:t> }</a:t>
            </a:r>
          </a:p>
          <a:p>
            <a:pPr algn="r" rtl="1"/>
            <a:r>
              <a:rPr lang="fa-IR" dirty="0"/>
              <a:t>دو کلید کاندید:</a:t>
            </a:r>
          </a:p>
          <a:p>
            <a:pPr algn="r" rtl="1"/>
            <a:r>
              <a:rPr lang="fa-IR" dirty="0"/>
              <a:t>{</a:t>
            </a:r>
            <a:r>
              <a:rPr lang="en-US" dirty="0" err="1"/>
              <a:t>s_ID</a:t>
            </a:r>
            <a:r>
              <a:rPr lang="en-US" dirty="0"/>
              <a:t>, </a:t>
            </a:r>
            <a:r>
              <a:rPr lang="en-US" dirty="0" err="1"/>
              <a:t>dept_name</a:t>
            </a:r>
            <a:r>
              <a:rPr lang="en-US" dirty="0"/>
              <a:t>}</a:t>
            </a:r>
          </a:p>
          <a:p>
            <a:pPr algn="r" rtl="1"/>
            <a:r>
              <a:rPr lang="en-US" dirty="0"/>
              <a:t>{</a:t>
            </a:r>
            <a:r>
              <a:rPr lang="en-US" dirty="0" err="1"/>
              <a:t>i_ID</a:t>
            </a:r>
            <a:r>
              <a:rPr lang="en-US" dirty="0"/>
              <a:t>, </a:t>
            </a:r>
            <a:r>
              <a:rPr lang="en-US" dirty="0" err="1"/>
              <a:t>s_ID</a:t>
            </a:r>
            <a:r>
              <a:rPr lang="en-US" dirty="0"/>
              <a:t>}</a:t>
            </a:r>
          </a:p>
          <a:p>
            <a:pPr algn="r" rtl="1"/>
            <a:r>
              <a:rPr lang="fa-IR" dirty="0"/>
              <a:t>رابطه </a:t>
            </a:r>
            <a:r>
              <a:rPr lang="en-US" dirty="0"/>
              <a:t>R </a:t>
            </a:r>
            <a:r>
              <a:rPr lang="fa-IR" dirty="0"/>
              <a:t>در </a:t>
            </a:r>
            <a:r>
              <a:rPr lang="fa-IR" b="1" dirty="0"/>
              <a:t>3</a:t>
            </a:r>
            <a:r>
              <a:rPr lang="en-US" b="1" dirty="0"/>
              <a:t>NF</a:t>
            </a:r>
            <a:r>
              <a:rPr lang="en-US" dirty="0"/>
              <a:t> </a:t>
            </a:r>
            <a:r>
              <a:rPr lang="fa-IR" dirty="0"/>
              <a:t>است.</a:t>
            </a:r>
          </a:p>
          <a:p>
            <a:pPr algn="r" rtl="1"/>
            <a:r>
              <a:rPr lang="fa-IR" dirty="0"/>
              <a:t>تحلیل </a:t>
            </a:r>
            <a:r>
              <a:rPr lang="fa-IR" dirty="0" err="1"/>
              <a:t>وابستگی‌ها</a:t>
            </a:r>
            <a:r>
              <a:rPr lang="fa-IR" dirty="0"/>
              <a:t>:</a:t>
            </a:r>
          </a:p>
          <a:p>
            <a:pPr algn="r" rtl="1"/>
            <a:r>
              <a:rPr lang="en-US" dirty="0" err="1"/>
              <a:t>s_ID</a:t>
            </a:r>
            <a:r>
              <a:rPr lang="en-US" dirty="0"/>
              <a:t>, </a:t>
            </a:r>
            <a:r>
              <a:rPr lang="en-US" dirty="0" err="1"/>
              <a:t>dept_name</a:t>
            </a:r>
            <a:r>
              <a:rPr lang="en-US" dirty="0"/>
              <a:t> → </a:t>
            </a:r>
            <a:r>
              <a:rPr lang="en-US" dirty="0" err="1"/>
              <a:t>i_ID</a:t>
            </a:r>
            <a:endParaRPr lang="en-US" dirty="0"/>
          </a:p>
          <a:p>
            <a:pPr lvl="1" algn="r" rtl="1"/>
            <a:r>
              <a:rPr lang="en-US" dirty="0" err="1"/>
              <a:t>dept_name</a:t>
            </a:r>
            <a:r>
              <a:rPr lang="en-US" dirty="0"/>
              <a:t> </a:t>
            </a:r>
            <a:r>
              <a:rPr lang="fa-IR" dirty="0"/>
              <a:t>یک </a:t>
            </a:r>
            <a:r>
              <a:rPr lang="fa-IR" b="1" dirty="0" err="1"/>
              <a:t>ابرکلید</a:t>
            </a:r>
            <a:r>
              <a:rPr lang="fa-IR" dirty="0"/>
              <a:t> است.</a:t>
            </a:r>
          </a:p>
          <a:p>
            <a:pPr algn="r" rtl="1"/>
            <a:r>
              <a:rPr lang="en-US" dirty="0" err="1"/>
              <a:t>i_ID</a:t>
            </a:r>
            <a:r>
              <a:rPr lang="en-US" dirty="0"/>
              <a:t> → </a:t>
            </a:r>
            <a:r>
              <a:rPr lang="en-US" dirty="0" err="1"/>
              <a:t>dept_name</a:t>
            </a:r>
            <a:endParaRPr lang="en-US" dirty="0"/>
          </a:p>
          <a:p>
            <a:pPr lvl="1" algn="r" rtl="1"/>
            <a:r>
              <a:rPr lang="en-US" dirty="0" err="1"/>
              <a:t>dept_name</a:t>
            </a:r>
            <a:r>
              <a:rPr lang="en-US" dirty="0"/>
              <a:t> </a:t>
            </a:r>
            <a:r>
              <a:rPr lang="fa-IR" dirty="0"/>
              <a:t>در یک </a:t>
            </a:r>
            <a:r>
              <a:rPr lang="fa-IR" b="1" dirty="0"/>
              <a:t>کلید کاندید</a:t>
            </a:r>
            <a:r>
              <a:rPr lang="fa-IR" dirty="0"/>
              <a:t> وجود دارد.</a:t>
            </a:r>
          </a:p>
          <a:p>
            <a:pPr algn="r" rtl="1">
              <a:tabLst>
                <a:tab pos="1027113" algn="l"/>
                <a:tab pos="2455863" algn="l"/>
              </a:tabLst>
            </a:pPr>
            <a:endParaRPr lang="en-US" altLang="en-US" dirty="0">
              <a:sym typeface="Monotype Sorts" pitchFamily="-84" charset="2"/>
            </a:endParaRPr>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52642" name="Rectangle 2"/>
          <p:cNvSpPr>
            <a:spLocks noGrp="1" noChangeArrowheads="1"/>
          </p:cNvSpPr>
          <p:nvPr>
            <p:ph type="title"/>
          </p:nvPr>
        </p:nvSpPr>
        <p:spPr/>
        <p:txBody>
          <a:bodyPr/>
          <a:lstStyle/>
          <a:p>
            <a:pPr>
              <a:defRPr/>
            </a:pPr>
            <a:r>
              <a:rPr lang="en-US" altLang="en-US">
                <a:effectLst>
                  <a:outerShdw blurRad="38100" dist="38100" dir="2700000" algn="tl">
                    <a:srgbClr val="C0C0C0"/>
                  </a:outerShdw>
                </a:effectLst>
                <a:ea typeface="ＭＳ Ｐゴシック" pitchFamily="34" charset="-128"/>
              </a:rPr>
              <a:t>Testing for 3NF</a:t>
            </a:r>
          </a:p>
        </p:txBody>
      </p:sp>
      <p:sp>
        <p:nvSpPr>
          <p:cNvPr id="72707" name="Rectangle 3"/>
          <p:cNvSpPr>
            <a:spLocks noGrp="1" noChangeArrowheads="1"/>
          </p:cNvSpPr>
          <p:nvPr>
            <p:ph idx="1"/>
          </p:nvPr>
        </p:nvSpPr>
        <p:spPr>
          <a:xfrm>
            <a:off x="768350" y="1093789"/>
            <a:ext cx="7656559" cy="3141327"/>
          </a:xfrm>
        </p:spPr>
        <p:txBody>
          <a:bodyPr/>
          <a:lstStyle/>
          <a:p>
            <a:pPr algn="r" rtl="1"/>
            <a:r>
              <a:rPr lang="fa-IR" dirty="0"/>
              <a:t>فقط لازم است </a:t>
            </a:r>
            <a:r>
              <a:rPr lang="fa-IR" dirty="0" err="1"/>
              <a:t>وابستگی‌های</a:t>
            </a:r>
            <a:r>
              <a:rPr lang="fa-IR" dirty="0"/>
              <a:t> </a:t>
            </a:r>
            <a:r>
              <a:rPr lang="fa-IR" dirty="0" err="1"/>
              <a:t>تابعی</a:t>
            </a:r>
            <a:r>
              <a:rPr lang="fa-IR" dirty="0"/>
              <a:t> موجود در </a:t>
            </a:r>
            <a:r>
              <a:rPr lang="en-US" dirty="0"/>
              <a:t>F </a:t>
            </a:r>
            <a:r>
              <a:rPr lang="fa-IR" dirty="0"/>
              <a:t>بررسی شوند و نیازی به بررسی تمام </a:t>
            </a:r>
            <a:r>
              <a:rPr lang="fa-IR" dirty="0" err="1"/>
              <a:t>وابستگی‌ها</a:t>
            </a:r>
            <a:r>
              <a:rPr lang="fa-IR" dirty="0"/>
              <a:t> در </a:t>
            </a:r>
            <a:r>
              <a:rPr lang="en-US" dirty="0"/>
              <a:t>F⁺ </a:t>
            </a:r>
            <a:r>
              <a:rPr lang="fa-IR" dirty="0"/>
              <a:t>نیست.</a:t>
            </a:r>
          </a:p>
          <a:p>
            <a:pPr algn="r" rtl="1"/>
            <a:r>
              <a:rPr lang="fa-IR" dirty="0"/>
              <a:t>از </a:t>
            </a:r>
            <a:r>
              <a:rPr lang="fa-IR" b="1" dirty="0"/>
              <a:t>بسته </a:t>
            </a:r>
            <a:r>
              <a:rPr lang="fa-IR" b="1" dirty="0" err="1"/>
              <a:t>صفت‌ها</a:t>
            </a:r>
            <a:r>
              <a:rPr lang="fa-IR" dirty="0"/>
              <a:t> استفاده کنید تا برای هر وابستگی </a:t>
            </a:r>
            <a:r>
              <a:rPr lang="el-GR" dirty="0"/>
              <a:t>α → β </a:t>
            </a:r>
            <a:r>
              <a:rPr lang="fa-IR" dirty="0"/>
              <a:t>بررسی کنید که آیا </a:t>
            </a:r>
            <a:r>
              <a:rPr lang="el-GR" dirty="0"/>
              <a:t>α </a:t>
            </a:r>
            <a:r>
              <a:rPr lang="fa-IR" dirty="0"/>
              <a:t>یک </a:t>
            </a:r>
            <a:r>
              <a:rPr lang="fa-IR" b="1" dirty="0" err="1"/>
              <a:t>ابرکلید</a:t>
            </a:r>
            <a:r>
              <a:rPr lang="fa-IR" dirty="0"/>
              <a:t> است یا خیر.</a:t>
            </a:r>
          </a:p>
          <a:p>
            <a:pPr algn="r" rtl="1"/>
            <a:r>
              <a:rPr lang="fa-IR" dirty="0"/>
              <a:t>اگر </a:t>
            </a:r>
            <a:r>
              <a:rPr lang="el-GR" dirty="0"/>
              <a:t>α </a:t>
            </a:r>
            <a:r>
              <a:rPr lang="fa-IR" dirty="0"/>
              <a:t>یک </a:t>
            </a:r>
            <a:r>
              <a:rPr lang="fa-IR" dirty="0" err="1"/>
              <a:t>ابرکلید</a:t>
            </a:r>
            <a:r>
              <a:rPr lang="fa-IR" dirty="0"/>
              <a:t> نباشد، باید بررسی کنیم که آیا هر صفت در </a:t>
            </a:r>
            <a:r>
              <a:rPr lang="el-GR" dirty="0"/>
              <a:t>β </a:t>
            </a:r>
            <a:r>
              <a:rPr lang="fa-IR" dirty="0"/>
              <a:t>در یکی از </a:t>
            </a:r>
            <a:r>
              <a:rPr lang="fa-IR" b="1" dirty="0"/>
              <a:t>کلیدهای کاندید</a:t>
            </a:r>
            <a:r>
              <a:rPr lang="fa-IR" dirty="0"/>
              <a:t> </a:t>
            </a:r>
            <a:r>
              <a:rPr lang="en-US" dirty="0"/>
              <a:t>R </a:t>
            </a:r>
            <a:r>
              <a:rPr lang="fa-IR" dirty="0"/>
              <a:t>موجود است یا خیر.</a:t>
            </a:r>
          </a:p>
          <a:p>
            <a:pPr algn="r" rtl="1"/>
            <a:r>
              <a:rPr lang="fa-IR" dirty="0"/>
              <a:t>این آزمون نسبتاً پرهزینه است، زیرا شامل پیدا کردن کلیدهای کاندید </a:t>
            </a:r>
            <a:r>
              <a:rPr lang="fa-IR" dirty="0" err="1"/>
              <a:t>می‌شود</a:t>
            </a:r>
            <a:r>
              <a:rPr lang="fa-IR" dirty="0"/>
              <a:t>.</a:t>
            </a:r>
          </a:p>
          <a:p>
            <a:pPr algn="r" rtl="1"/>
            <a:r>
              <a:rPr lang="fa-IR" dirty="0"/>
              <a:t>آزمون برای 3</a:t>
            </a:r>
            <a:r>
              <a:rPr lang="en-US" dirty="0"/>
              <a:t>NF </a:t>
            </a:r>
            <a:r>
              <a:rPr lang="fa-IR" dirty="0"/>
              <a:t>نشان داده شده که </a:t>
            </a:r>
            <a:r>
              <a:rPr lang="fa-IR" b="1" dirty="0" err="1"/>
              <a:t>مسئله‌ای</a:t>
            </a:r>
            <a:r>
              <a:rPr lang="fa-IR" b="1" dirty="0"/>
              <a:t> </a:t>
            </a:r>
            <a:r>
              <a:rPr lang="en-US" b="1" dirty="0"/>
              <a:t>NP-hard</a:t>
            </a:r>
            <a:r>
              <a:rPr lang="en-US" dirty="0"/>
              <a:t> </a:t>
            </a:r>
            <a:r>
              <a:rPr lang="fa-IR" dirty="0"/>
              <a:t>است.</a:t>
            </a:r>
          </a:p>
          <a:p>
            <a:pPr algn="r" rtl="1"/>
            <a:r>
              <a:rPr lang="fa-IR" dirty="0"/>
              <a:t>جالب اینکه، </a:t>
            </a:r>
            <a:r>
              <a:rPr lang="fa-IR" b="1" dirty="0"/>
              <a:t>تجزیه به سومین فرم نرمال</a:t>
            </a:r>
            <a:r>
              <a:rPr lang="fa-IR" dirty="0"/>
              <a:t> (که به زودی توضیح داده </a:t>
            </a:r>
            <a:r>
              <a:rPr lang="fa-IR" dirty="0" err="1"/>
              <a:t>می‌شود</a:t>
            </a:r>
            <a:r>
              <a:rPr lang="fa-IR" dirty="0"/>
              <a:t>) </a:t>
            </a:r>
            <a:r>
              <a:rPr lang="fa-IR" dirty="0" err="1"/>
              <a:t>می‌تواند</a:t>
            </a:r>
            <a:r>
              <a:rPr lang="fa-IR" dirty="0"/>
              <a:t> در </a:t>
            </a:r>
            <a:r>
              <a:rPr lang="fa-IR" b="1" dirty="0"/>
              <a:t>زمان </a:t>
            </a:r>
            <a:r>
              <a:rPr lang="fa-IR" b="1" dirty="0" err="1"/>
              <a:t>چندجمله‌ای</a:t>
            </a:r>
            <a:r>
              <a:rPr lang="fa-IR" dirty="0"/>
              <a:t> انجام شود.</a:t>
            </a:r>
          </a:p>
          <a:p>
            <a:pPr algn="r" rtl="1"/>
            <a:endParaRPr lang="en-US" alt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54690" name="Rectangle 2"/>
          <p:cNvSpPr>
            <a:spLocks noGrp="1" noChangeArrowheads="1"/>
          </p:cNvSpPr>
          <p:nvPr>
            <p:ph type="title"/>
          </p:nvPr>
        </p:nvSpPr>
        <p:spPr/>
        <p:txBody>
          <a:bodyPr/>
          <a:lstStyle/>
          <a:p>
            <a:pPr>
              <a:defRPr/>
            </a:pPr>
            <a:r>
              <a:rPr lang="en-US" altLang="en-US">
                <a:effectLst>
                  <a:outerShdw blurRad="38100" dist="38100" dir="2700000" algn="tl">
                    <a:srgbClr val="C0C0C0"/>
                  </a:outerShdw>
                </a:effectLst>
                <a:ea typeface="ＭＳ Ｐゴシック" pitchFamily="34" charset="-128"/>
              </a:rPr>
              <a:t>3NF Decomposition Algorithm</a:t>
            </a:r>
          </a:p>
        </p:txBody>
      </p:sp>
      <p:sp>
        <p:nvSpPr>
          <p:cNvPr id="73731" name="Rectangle 3"/>
          <p:cNvSpPr>
            <a:spLocks noGrp="1" noChangeArrowheads="1"/>
          </p:cNvSpPr>
          <p:nvPr>
            <p:ph idx="1"/>
          </p:nvPr>
        </p:nvSpPr>
        <p:spPr>
          <a:xfrm>
            <a:off x="266700" y="1012825"/>
            <a:ext cx="8578850" cy="5727700"/>
          </a:xfrm>
        </p:spPr>
        <p:txBody>
          <a:bodyPr/>
          <a:lstStyle/>
          <a:p>
            <a:pPr>
              <a:lnSpc>
                <a:spcPct val="90000"/>
              </a:lnSpc>
              <a:buFont typeface="Monotype Sorts" pitchFamily="-84" charset="2"/>
              <a:buNone/>
              <a:tabLst>
                <a:tab pos="461963" algn="l"/>
                <a:tab pos="1027113" algn="l"/>
                <a:tab pos="1309688" algn="l"/>
                <a:tab pos="1711325" algn="l"/>
              </a:tabLst>
            </a:pPr>
            <a:r>
              <a:rPr lang="en-US" altLang="en-US" dirty="0"/>
              <a:t>	Let </a:t>
            </a:r>
            <a:r>
              <a:rPr lang="en-US" altLang="en-US" i="1" dirty="0"/>
              <a:t>F</a:t>
            </a:r>
            <a:r>
              <a:rPr lang="en-US" altLang="en-US" sz="2000" i="1" baseline="-25000" dirty="0"/>
              <a:t>c</a:t>
            </a:r>
            <a:r>
              <a:rPr lang="en-US" altLang="en-US" i="1" dirty="0"/>
              <a:t> </a:t>
            </a:r>
            <a:r>
              <a:rPr lang="en-US" altLang="en-US" dirty="0"/>
              <a:t>be a canonical cover for </a:t>
            </a:r>
            <a:r>
              <a:rPr lang="en-US" altLang="en-US" i="1" dirty="0"/>
              <a:t>F;</a:t>
            </a:r>
            <a:br>
              <a:rPr lang="en-US" altLang="en-US" i="1" dirty="0"/>
            </a:br>
            <a:r>
              <a:rPr lang="en-US" altLang="en-US" i="1" dirty="0" err="1"/>
              <a:t>i</a:t>
            </a:r>
            <a:r>
              <a:rPr lang="en-US" altLang="en-US" i="1" dirty="0"/>
              <a:t> </a:t>
            </a:r>
            <a:r>
              <a:rPr lang="en-US" altLang="en-US" dirty="0"/>
              <a:t>:= 0;</a:t>
            </a:r>
            <a:br>
              <a:rPr lang="en-US" altLang="en-US" dirty="0"/>
            </a:br>
            <a:r>
              <a:rPr lang="en-US" altLang="en-US" b="1" dirty="0"/>
              <a:t>for each </a:t>
            </a:r>
            <a:r>
              <a:rPr lang="en-US" altLang="en-US" dirty="0"/>
              <a:t> functional dependency </a:t>
            </a:r>
            <a:r>
              <a:rPr lang="en-US" altLang="en-US" dirty="0">
                <a:sym typeface="Symbol" panose="05050102010706020507" pitchFamily="18" charset="2"/>
              </a:rPr>
              <a:t></a:t>
            </a:r>
            <a:r>
              <a:rPr lang="en-US" altLang="en-US" dirty="0">
                <a:sym typeface="Greek Symbols"/>
              </a:rPr>
              <a:t> </a:t>
            </a:r>
            <a:r>
              <a:rPr lang="en-US" altLang="en-US" dirty="0">
                <a:sym typeface="Symbol" panose="05050102010706020507" pitchFamily="18" charset="2"/>
              </a:rPr>
              <a:t></a:t>
            </a:r>
            <a:r>
              <a:rPr lang="en-US" altLang="en-US" dirty="0">
                <a:sym typeface="Monotype Sorts" pitchFamily="-84" charset="2"/>
              </a:rPr>
              <a:t> </a:t>
            </a:r>
            <a:r>
              <a:rPr lang="en-US" altLang="en-US" i="1" dirty="0">
                <a:sym typeface="Symbol" panose="05050102010706020507" pitchFamily="18" charset="2"/>
              </a:rPr>
              <a:t></a:t>
            </a:r>
            <a:r>
              <a:rPr lang="en-US" altLang="en-US" i="1" dirty="0">
                <a:sym typeface="Greek Symbols"/>
              </a:rPr>
              <a:t> </a:t>
            </a:r>
            <a:r>
              <a:rPr lang="en-US" altLang="en-US" dirty="0">
                <a:sym typeface="Greek Symbols"/>
              </a:rPr>
              <a:t>in </a:t>
            </a:r>
            <a:r>
              <a:rPr lang="en-US" altLang="en-US" i="1" dirty="0">
                <a:sym typeface="Greek Symbols"/>
              </a:rPr>
              <a:t>F</a:t>
            </a:r>
            <a:r>
              <a:rPr lang="en-US" altLang="en-US" sz="2000" i="1" baseline="-25000" dirty="0">
                <a:sym typeface="Greek Symbols"/>
              </a:rPr>
              <a:t>c</a:t>
            </a:r>
            <a:r>
              <a:rPr lang="en-US" altLang="en-US" i="1" dirty="0">
                <a:sym typeface="Greek Symbols"/>
              </a:rPr>
              <a:t> </a:t>
            </a:r>
            <a:r>
              <a:rPr lang="en-US" altLang="en-US" b="1" dirty="0">
                <a:sym typeface="Greek Symbols"/>
              </a:rPr>
              <a:t>do</a:t>
            </a:r>
            <a:br>
              <a:rPr lang="en-US" altLang="en-US" b="1" dirty="0">
                <a:sym typeface="Greek Symbols"/>
              </a:rPr>
            </a:br>
            <a:r>
              <a:rPr lang="en-US" altLang="en-US" b="1" dirty="0">
                <a:sym typeface="Greek Symbols"/>
              </a:rPr>
              <a:t>	if </a:t>
            </a:r>
            <a:r>
              <a:rPr lang="en-US" altLang="en-US" dirty="0">
                <a:sym typeface="Greek Symbols"/>
              </a:rPr>
              <a:t>none of the schemas </a:t>
            </a:r>
            <a:r>
              <a:rPr lang="en-US" altLang="en-US" i="1" dirty="0" err="1">
                <a:sym typeface="Greek Symbols"/>
              </a:rPr>
              <a:t>R</a:t>
            </a:r>
            <a:r>
              <a:rPr lang="en-US" altLang="en-US" i="1" baseline="-25000" dirty="0" err="1">
                <a:sym typeface="Greek Symbols"/>
              </a:rPr>
              <a:t>j</a:t>
            </a:r>
            <a:r>
              <a:rPr lang="en-US" altLang="en-US" i="1" dirty="0">
                <a:sym typeface="Greek Symbols"/>
              </a:rPr>
              <a:t>, </a:t>
            </a:r>
            <a:r>
              <a:rPr lang="en-US" altLang="en-US" dirty="0">
                <a:sym typeface="Greek Symbols"/>
              </a:rPr>
              <a:t>1 </a:t>
            </a:r>
            <a:r>
              <a:rPr lang="en-US" altLang="en-US" dirty="0">
                <a:sym typeface="Symbol" panose="05050102010706020507" pitchFamily="18" charset="2"/>
              </a:rPr>
              <a:t> </a:t>
            </a:r>
            <a:r>
              <a:rPr lang="en-US" altLang="en-US" i="1" dirty="0">
                <a:sym typeface="Symbol" panose="05050102010706020507" pitchFamily="18" charset="2"/>
              </a:rPr>
              <a:t>j </a:t>
            </a:r>
            <a:r>
              <a:rPr lang="en-US" altLang="en-US" dirty="0">
                <a:sym typeface="Greek Symbols"/>
              </a:rPr>
              <a:t> </a:t>
            </a:r>
            <a:r>
              <a:rPr lang="en-US" altLang="en-US" dirty="0">
                <a:sym typeface="Symbol" panose="05050102010706020507" pitchFamily="18" charset="2"/>
              </a:rPr>
              <a:t></a:t>
            </a:r>
            <a:r>
              <a:rPr lang="en-US" altLang="en-US" i="1" dirty="0">
                <a:sym typeface="Symbol" panose="05050102010706020507" pitchFamily="18" charset="2"/>
              </a:rPr>
              <a:t> </a:t>
            </a:r>
            <a:r>
              <a:rPr lang="en-US" altLang="en-US" i="1" dirty="0" err="1">
                <a:sym typeface="Symbol" panose="05050102010706020507" pitchFamily="18" charset="2"/>
              </a:rPr>
              <a:t>i</a:t>
            </a:r>
            <a:r>
              <a:rPr lang="en-US" altLang="en-US" i="1" dirty="0">
                <a:sym typeface="Symbol" panose="05050102010706020507" pitchFamily="18" charset="2"/>
              </a:rPr>
              <a:t> </a:t>
            </a:r>
            <a:r>
              <a:rPr lang="en-US" altLang="en-US" dirty="0">
                <a:sym typeface="Symbol" panose="05050102010706020507" pitchFamily="18" charset="2"/>
              </a:rPr>
              <a:t>contains  </a:t>
            </a:r>
            <a:r>
              <a:rPr lang="en-US" altLang="en-US" dirty="0">
                <a:sym typeface="Greek Symbols"/>
              </a:rPr>
              <a:t> </a:t>
            </a:r>
            <a:r>
              <a:rPr lang="en-US" altLang="en-US" i="1" dirty="0">
                <a:sym typeface="Symbol" panose="05050102010706020507" pitchFamily="18" charset="2"/>
              </a:rPr>
              <a:t></a:t>
            </a:r>
            <a:r>
              <a:rPr lang="en-US" altLang="en-US" i="1" dirty="0">
                <a:sym typeface="Greek Symbols"/>
              </a:rPr>
              <a:t> </a:t>
            </a:r>
            <a:br>
              <a:rPr lang="en-US" altLang="en-US" dirty="0">
                <a:sym typeface="Greek Symbols"/>
              </a:rPr>
            </a:br>
            <a:r>
              <a:rPr lang="en-US" altLang="en-US" dirty="0">
                <a:sym typeface="Greek Symbols"/>
              </a:rPr>
              <a:t>		</a:t>
            </a:r>
            <a:r>
              <a:rPr lang="en-US" altLang="en-US" b="1" dirty="0">
                <a:sym typeface="Greek Symbols"/>
              </a:rPr>
              <a:t>then begin</a:t>
            </a:r>
            <a:br>
              <a:rPr lang="en-US" altLang="en-US" b="1" dirty="0">
                <a:sym typeface="Greek Symbols"/>
              </a:rPr>
            </a:br>
            <a:r>
              <a:rPr lang="en-US" altLang="en-US" b="1" dirty="0">
                <a:sym typeface="Greek Symbols"/>
              </a:rPr>
              <a:t>				</a:t>
            </a:r>
            <a:r>
              <a:rPr lang="en-US" altLang="en-US" i="1" dirty="0" err="1">
                <a:sym typeface="Greek Symbols"/>
              </a:rPr>
              <a:t>i</a:t>
            </a:r>
            <a:r>
              <a:rPr lang="en-US" altLang="en-US" i="1" dirty="0">
                <a:sym typeface="Greek Symbols"/>
              </a:rPr>
              <a:t> </a:t>
            </a:r>
            <a:r>
              <a:rPr lang="en-US" altLang="en-US" dirty="0">
                <a:sym typeface="Greek Symbols"/>
              </a:rPr>
              <a:t>:= </a:t>
            </a:r>
            <a:r>
              <a:rPr lang="en-US" altLang="en-US" i="1" dirty="0" err="1">
                <a:sym typeface="Greek Symbols"/>
              </a:rPr>
              <a:t>i</a:t>
            </a:r>
            <a:r>
              <a:rPr lang="en-US" altLang="en-US" i="1" dirty="0">
                <a:sym typeface="Greek Symbols"/>
              </a:rPr>
              <a:t>  + </a:t>
            </a:r>
            <a:r>
              <a:rPr lang="en-US" altLang="en-US" dirty="0">
                <a:sym typeface="Greek Symbols"/>
              </a:rPr>
              <a:t>1;</a:t>
            </a:r>
            <a:br>
              <a:rPr lang="en-US" altLang="en-US" dirty="0">
                <a:sym typeface="Greek Symbols"/>
              </a:rPr>
            </a:br>
            <a:r>
              <a:rPr lang="en-US" altLang="en-US" dirty="0">
                <a:sym typeface="Greek Symbols"/>
              </a:rPr>
              <a:t>				</a:t>
            </a:r>
            <a:r>
              <a:rPr lang="en-US" altLang="en-US" i="1" dirty="0">
                <a:sym typeface="Greek Symbols"/>
              </a:rPr>
              <a:t>R</a:t>
            </a:r>
            <a:r>
              <a:rPr lang="en-US" altLang="en-US" i="1" baseline="-25000" dirty="0">
                <a:sym typeface="Greek Symbols"/>
              </a:rPr>
              <a:t>i </a:t>
            </a:r>
            <a:r>
              <a:rPr lang="en-US" altLang="en-US" dirty="0">
                <a:sym typeface="Greek Symbols"/>
              </a:rPr>
              <a:t> := </a:t>
            </a:r>
            <a:r>
              <a:rPr lang="en-US" altLang="en-US" dirty="0">
                <a:sym typeface="Symbol" panose="05050102010706020507" pitchFamily="18" charset="2"/>
              </a:rPr>
              <a:t></a:t>
            </a:r>
            <a:r>
              <a:rPr lang="en-US" altLang="en-US" dirty="0">
                <a:sym typeface="Greek Symbols"/>
              </a:rPr>
              <a:t> </a:t>
            </a:r>
            <a:r>
              <a:rPr lang="en-US" altLang="en-US" i="1" dirty="0">
                <a:sym typeface="Symbol" panose="05050102010706020507" pitchFamily="18" charset="2"/>
              </a:rPr>
              <a:t></a:t>
            </a:r>
            <a:r>
              <a:rPr lang="en-US" altLang="en-US" i="1" dirty="0">
                <a:sym typeface="Greek Symbols"/>
              </a:rPr>
              <a:t> </a:t>
            </a:r>
            <a:br>
              <a:rPr lang="en-US" altLang="en-US" i="1" dirty="0">
                <a:sym typeface="Greek Symbols"/>
              </a:rPr>
            </a:br>
            <a:r>
              <a:rPr lang="en-US" altLang="en-US" i="1" dirty="0">
                <a:sym typeface="Greek Symbols"/>
              </a:rPr>
              <a:t>			</a:t>
            </a:r>
            <a:r>
              <a:rPr lang="en-US" altLang="en-US" b="1" dirty="0">
                <a:sym typeface="Greek Symbols"/>
              </a:rPr>
              <a:t>end</a:t>
            </a:r>
            <a:br>
              <a:rPr lang="en-US" altLang="en-US" b="1" dirty="0">
                <a:sym typeface="Greek Symbols"/>
              </a:rPr>
            </a:br>
            <a:r>
              <a:rPr lang="en-US" altLang="en-US" b="1" dirty="0">
                <a:sym typeface="Greek Symbols"/>
              </a:rPr>
              <a:t>if</a:t>
            </a:r>
            <a:r>
              <a:rPr lang="en-US" altLang="en-US" dirty="0">
                <a:sym typeface="Greek Symbols"/>
              </a:rPr>
              <a:t> none of the schemas </a:t>
            </a:r>
            <a:r>
              <a:rPr lang="en-US" altLang="en-US" i="1" dirty="0" err="1">
                <a:sym typeface="Greek Symbols"/>
              </a:rPr>
              <a:t>R</a:t>
            </a:r>
            <a:r>
              <a:rPr lang="en-US" altLang="en-US" sz="2400" i="1" baseline="-25000" dirty="0" err="1">
                <a:sym typeface="Greek Symbols"/>
              </a:rPr>
              <a:t>j</a:t>
            </a:r>
            <a:r>
              <a:rPr lang="en-US" altLang="en-US" i="1" dirty="0">
                <a:sym typeface="Greek Symbols"/>
              </a:rPr>
              <a:t>, </a:t>
            </a:r>
            <a:r>
              <a:rPr lang="en-US" altLang="en-US" dirty="0">
                <a:sym typeface="Greek Symbols"/>
              </a:rPr>
              <a:t>1 </a:t>
            </a:r>
            <a:r>
              <a:rPr lang="en-US" altLang="en-US" dirty="0">
                <a:sym typeface="Symbol" panose="05050102010706020507" pitchFamily="18" charset="2"/>
              </a:rPr>
              <a:t> </a:t>
            </a:r>
            <a:r>
              <a:rPr lang="en-US" altLang="en-US" i="1" dirty="0">
                <a:sym typeface="Symbol" panose="05050102010706020507" pitchFamily="18" charset="2"/>
              </a:rPr>
              <a:t>j </a:t>
            </a:r>
            <a:r>
              <a:rPr lang="en-US" altLang="en-US" dirty="0">
                <a:sym typeface="Greek Symbols"/>
              </a:rPr>
              <a:t> </a:t>
            </a:r>
            <a:r>
              <a:rPr lang="en-US" altLang="en-US" dirty="0">
                <a:sym typeface="Symbol" panose="05050102010706020507" pitchFamily="18" charset="2"/>
              </a:rPr>
              <a:t></a:t>
            </a:r>
            <a:r>
              <a:rPr lang="en-US" altLang="en-US" i="1" dirty="0">
                <a:sym typeface="Symbol" panose="05050102010706020507" pitchFamily="18" charset="2"/>
              </a:rPr>
              <a:t> </a:t>
            </a:r>
            <a:r>
              <a:rPr lang="en-US" altLang="en-US" i="1" dirty="0" err="1">
                <a:sym typeface="Symbol" panose="05050102010706020507" pitchFamily="18" charset="2"/>
              </a:rPr>
              <a:t>i</a:t>
            </a:r>
            <a:r>
              <a:rPr lang="en-US" altLang="en-US" i="1" dirty="0">
                <a:sym typeface="Symbol" panose="05050102010706020507" pitchFamily="18" charset="2"/>
              </a:rPr>
              <a:t> </a:t>
            </a:r>
            <a:r>
              <a:rPr lang="en-US" altLang="en-US" dirty="0">
                <a:sym typeface="Symbol" panose="05050102010706020507" pitchFamily="18" charset="2"/>
              </a:rPr>
              <a:t>contains a candidate key for </a:t>
            </a:r>
            <a:r>
              <a:rPr lang="en-US" altLang="en-US" i="1" dirty="0">
                <a:sym typeface="Symbol" panose="05050102010706020507" pitchFamily="18" charset="2"/>
              </a:rPr>
              <a:t>R</a:t>
            </a:r>
            <a:br>
              <a:rPr lang="en-US" altLang="en-US" i="1" dirty="0">
                <a:sym typeface="Symbol" panose="05050102010706020507" pitchFamily="18" charset="2"/>
              </a:rPr>
            </a:br>
            <a:r>
              <a:rPr lang="en-US" altLang="en-US" i="1" dirty="0">
                <a:sym typeface="Symbol" panose="05050102010706020507" pitchFamily="18" charset="2"/>
              </a:rPr>
              <a:t>	</a:t>
            </a:r>
            <a:r>
              <a:rPr lang="en-US" altLang="en-US" b="1" dirty="0">
                <a:sym typeface="Symbol" panose="05050102010706020507" pitchFamily="18" charset="2"/>
              </a:rPr>
              <a:t>then begin</a:t>
            </a:r>
            <a:br>
              <a:rPr lang="en-US" altLang="en-US" b="1" dirty="0">
                <a:sym typeface="Symbol" panose="05050102010706020507" pitchFamily="18" charset="2"/>
              </a:rPr>
            </a:br>
            <a:r>
              <a:rPr lang="en-US" altLang="en-US" b="1" dirty="0">
                <a:sym typeface="Symbol" panose="05050102010706020507" pitchFamily="18" charset="2"/>
              </a:rPr>
              <a:t>			</a:t>
            </a:r>
            <a:r>
              <a:rPr lang="en-US" altLang="en-US" i="1" dirty="0" err="1">
                <a:sym typeface="Symbol" panose="05050102010706020507" pitchFamily="18" charset="2"/>
              </a:rPr>
              <a:t>i</a:t>
            </a:r>
            <a:r>
              <a:rPr lang="en-US" altLang="en-US" i="1" dirty="0">
                <a:sym typeface="Symbol" panose="05050102010706020507" pitchFamily="18" charset="2"/>
              </a:rPr>
              <a:t> </a:t>
            </a:r>
            <a:r>
              <a:rPr lang="en-US" altLang="en-US" dirty="0">
                <a:sym typeface="Symbol" panose="05050102010706020507" pitchFamily="18" charset="2"/>
              </a:rPr>
              <a:t>:=</a:t>
            </a:r>
            <a:r>
              <a:rPr lang="en-US" altLang="en-US" i="1" dirty="0">
                <a:sym typeface="Symbol" panose="05050102010706020507" pitchFamily="18" charset="2"/>
              </a:rPr>
              <a:t> </a:t>
            </a:r>
            <a:r>
              <a:rPr lang="en-US" altLang="en-US" i="1" dirty="0" err="1">
                <a:sym typeface="Symbol" panose="05050102010706020507" pitchFamily="18" charset="2"/>
              </a:rPr>
              <a:t>i</a:t>
            </a:r>
            <a:r>
              <a:rPr lang="en-US" altLang="en-US" i="1" dirty="0">
                <a:sym typeface="Symbol" panose="05050102010706020507" pitchFamily="18" charset="2"/>
              </a:rPr>
              <a:t> </a:t>
            </a:r>
            <a:r>
              <a:rPr lang="en-US" altLang="en-US" dirty="0">
                <a:sym typeface="Symbol" panose="05050102010706020507" pitchFamily="18" charset="2"/>
              </a:rPr>
              <a:t> + 1;</a:t>
            </a:r>
            <a:br>
              <a:rPr lang="en-US" altLang="en-US" dirty="0">
                <a:sym typeface="Symbol" panose="05050102010706020507" pitchFamily="18" charset="2"/>
              </a:rPr>
            </a:br>
            <a:r>
              <a:rPr lang="en-US" altLang="en-US" dirty="0">
                <a:sym typeface="Symbol" panose="05050102010706020507" pitchFamily="18" charset="2"/>
              </a:rPr>
              <a:t>			</a:t>
            </a:r>
            <a:r>
              <a:rPr lang="en-US" altLang="en-US" i="1" dirty="0">
                <a:sym typeface="Symbol" panose="05050102010706020507" pitchFamily="18" charset="2"/>
              </a:rPr>
              <a:t>R</a:t>
            </a:r>
            <a:r>
              <a:rPr lang="en-US" altLang="en-US" sz="2400" i="1" baseline="-25000" dirty="0">
                <a:sym typeface="Symbol" panose="05050102010706020507" pitchFamily="18" charset="2"/>
              </a:rPr>
              <a:t>i</a:t>
            </a:r>
            <a:r>
              <a:rPr lang="en-US" altLang="en-US" dirty="0">
                <a:sym typeface="Symbol" panose="05050102010706020507" pitchFamily="18" charset="2"/>
              </a:rPr>
              <a:t> := any candidate key for </a:t>
            </a:r>
            <a:r>
              <a:rPr lang="en-US" altLang="en-US" i="1" dirty="0">
                <a:sym typeface="Symbol" panose="05050102010706020507" pitchFamily="18" charset="2"/>
              </a:rPr>
              <a:t>R;</a:t>
            </a:r>
            <a:br>
              <a:rPr lang="en-US" altLang="en-US" i="1" dirty="0">
                <a:sym typeface="Symbol" panose="05050102010706020507" pitchFamily="18" charset="2"/>
              </a:rPr>
            </a:br>
            <a:r>
              <a:rPr lang="en-US" altLang="en-US" i="1" dirty="0">
                <a:sym typeface="Symbol" panose="05050102010706020507" pitchFamily="18" charset="2"/>
              </a:rPr>
              <a:t>		</a:t>
            </a:r>
            <a:r>
              <a:rPr lang="en-US" altLang="en-US" b="1" dirty="0">
                <a:sym typeface="Symbol" panose="05050102010706020507" pitchFamily="18" charset="2"/>
              </a:rPr>
              <a:t>end </a:t>
            </a:r>
            <a:br>
              <a:rPr lang="en-US" altLang="en-US" b="1" dirty="0">
                <a:sym typeface="Symbol" panose="05050102010706020507" pitchFamily="18" charset="2"/>
              </a:rPr>
            </a:br>
            <a:r>
              <a:rPr lang="en-US" altLang="en-US" dirty="0">
                <a:sym typeface="Symbol" panose="05050102010706020507" pitchFamily="18" charset="2"/>
              </a:rPr>
              <a:t>/* Optionally, remove redundant relations */</a:t>
            </a:r>
          </a:p>
          <a:p>
            <a:pPr>
              <a:lnSpc>
                <a:spcPct val="90000"/>
              </a:lnSpc>
              <a:buFont typeface="Monotype Sorts" pitchFamily="-84" charset="2"/>
              <a:buNone/>
              <a:tabLst>
                <a:tab pos="461963" algn="l"/>
                <a:tab pos="1027113" algn="l"/>
                <a:tab pos="1309688" algn="l"/>
                <a:tab pos="1711325" algn="l"/>
              </a:tabLst>
            </a:pPr>
            <a:r>
              <a:rPr lang="en-US" altLang="en-US" b="1" dirty="0">
                <a:sym typeface="Symbol" panose="05050102010706020507" pitchFamily="18" charset="2"/>
              </a:rPr>
              <a:t>      repeat</a:t>
            </a:r>
            <a:br>
              <a:rPr lang="en-US" altLang="en-US" b="1" dirty="0">
                <a:sym typeface="Symbol" panose="05050102010706020507" pitchFamily="18" charset="2"/>
              </a:rPr>
            </a:br>
            <a:r>
              <a:rPr lang="en-US" altLang="en-US" b="1" dirty="0">
                <a:sym typeface="Symbol" panose="05050102010706020507" pitchFamily="18" charset="2"/>
              </a:rPr>
              <a:t>if </a:t>
            </a:r>
            <a:r>
              <a:rPr lang="en-US" altLang="en-US" dirty="0">
                <a:sym typeface="Symbol" panose="05050102010706020507" pitchFamily="18" charset="2"/>
              </a:rPr>
              <a:t>any schema </a:t>
            </a:r>
            <a:r>
              <a:rPr lang="en-US" altLang="en-US" i="1" dirty="0" err="1">
                <a:sym typeface="Symbol" panose="05050102010706020507" pitchFamily="18" charset="2"/>
              </a:rPr>
              <a:t>R</a:t>
            </a:r>
            <a:r>
              <a:rPr lang="en-US" altLang="en-US" i="1" baseline="-25000" dirty="0" err="1">
                <a:sym typeface="Symbol" panose="05050102010706020507" pitchFamily="18" charset="2"/>
              </a:rPr>
              <a:t>j</a:t>
            </a:r>
            <a:r>
              <a:rPr lang="en-US" altLang="en-US" sz="2400" i="1" baseline="-25000" dirty="0">
                <a:sym typeface="Symbol" panose="05050102010706020507" pitchFamily="18" charset="2"/>
              </a:rPr>
              <a:t> </a:t>
            </a:r>
            <a:r>
              <a:rPr lang="en-US" altLang="en-US" dirty="0">
                <a:sym typeface="Symbol" panose="05050102010706020507" pitchFamily="18" charset="2"/>
              </a:rPr>
              <a:t>is contained in another schema </a:t>
            </a:r>
            <a:r>
              <a:rPr lang="en-US" altLang="en-US" i="1" dirty="0" err="1">
                <a:sym typeface="Symbol" panose="05050102010706020507" pitchFamily="18" charset="2"/>
              </a:rPr>
              <a:t>R</a:t>
            </a:r>
            <a:r>
              <a:rPr lang="en-US" altLang="en-US" sz="2400" i="1" baseline="-25000" dirty="0" err="1">
                <a:sym typeface="Symbol" panose="05050102010706020507" pitchFamily="18" charset="2"/>
              </a:rPr>
              <a:t>k</a:t>
            </a:r>
            <a:br>
              <a:rPr lang="en-US" altLang="en-US" sz="2400" i="1" baseline="-25000" dirty="0">
                <a:sym typeface="Symbol" panose="05050102010706020507" pitchFamily="18" charset="2"/>
              </a:rPr>
            </a:br>
            <a:r>
              <a:rPr lang="en-US" altLang="en-US" sz="2400" i="1" baseline="-25000" dirty="0">
                <a:sym typeface="Symbol" panose="05050102010706020507" pitchFamily="18" charset="2"/>
              </a:rPr>
              <a:t>        </a:t>
            </a:r>
            <a:r>
              <a:rPr lang="en-US" altLang="en-US" b="1" dirty="0">
                <a:sym typeface="Greek Symbols"/>
              </a:rPr>
              <a:t>then /* </a:t>
            </a:r>
            <a:r>
              <a:rPr lang="en-US" altLang="en-US" dirty="0">
                <a:sym typeface="Greek Symbols"/>
              </a:rPr>
              <a:t>delete </a:t>
            </a:r>
            <a:r>
              <a:rPr lang="en-US" altLang="en-US" i="1" dirty="0" err="1">
                <a:sym typeface="Symbol" panose="05050102010706020507" pitchFamily="18" charset="2"/>
              </a:rPr>
              <a:t>R</a:t>
            </a:r>
            <a:r>
              <a:rPr lang="en-US" altLang="en-US" i="1" baseline="-25000" dirty="0" err="1">
                <a:sym typeface="Symbol" panose="05050102010706020507" pitchFamily="18" charset="2"/>
              </a:rPr>
              <a:t>j</a:t>
            </a:r>
            <a:r>
              <a:rPr lang="en-US" altLang="en-US" sz="2400" i="1" baseline="-25000" dirty="0">
                <a:sym typeface="Symbol" panose="05050102010706020507" pitchFamily="18" charset="2"/>
              </a:rPr>
              <a:t>  </a:t>
            </a:r>
            <a:r>
              <a:rPr lang="en-US" altLang="en-US" b="1" dirty="0">
                <a:sym typeface="Greek Symbols"/>
              </a:rPr>
              <a:t>*/</a:t>
            </a:r>
            <a:br>
              <a:rPr lang="en-US" altLang="en-US" b="1" dirty="0">
                <a:sym typeface="Greek Symbols"/>
              </a:rPr>
            </a:br>
            <a:r>
              <a:rPr lang="en-US" altLang="en-US" b="1" dirty="0">
                <a:sym typeface="Greek Symbols"/>
              </a:rPr>
              <a:t>           </a:t>
            </a:r>
            <a:r>
              <a:rPr lang="en-US" altLang="en-US" i="1" dirty="0" err="1">
                <a:sym typeface="Symbol" panose="05050102010706020507" pitchFamily="18" charset="2"/>
              </a:rPr>
              <a:t>R</a:t>
            </a:r>
            <a:r>
              <a:rPr lang="en-US" altLang="en-US" i="1" baseline="-25000" dirty="0" err="1">
                <a:sym typeface="Symbol" panose="05050102010706020507" pitchFamily="18" charset="2"/>
              </a:rPr>
              <a:t>j</a:t>
            </a:r>
            <a:r>
              <a:rPr lang="en-US" altLang="en-US" i="1" baseline="-25000" dirty="0">
                <a:sym typeface="Symbol" panose="05050102010706020507" pitchFamily="18" charset="2"/>
              </a:rPr>
              <a:t> </a:t>
            </a:r>
            <a:r>
              <a:rPr lang="en-US" altLang="en-US" i="1" dirty="0">
                <a:sym typeface="Symbol" panose="05050102010706020507" pitchFamily="18" charset="2"/>
              </a:rPr>
              <a:t>= R;;</a:t>
            </a:r>
            <a:br>
              <a:rPr lang="en-US" altLang="en-US" i="1" dirty="0">
                <a:sym typeface="Symbol" panose="05050102010706020507" pitchFamily="18" charset="2"/>
              </a:rPr>
            </a:br>
            <a:r>
              <a:rPr lang="en-US" altLang="en-US" i="1" dirty="0">
                <a:sym typeface="Symbol" panose="05050102010706020507" pitchFamily="18" charset="2"/>
              </a:rPr>
              <a:t>           </a:t>
            </a:r>
            <a:r>
              <a:rPr lang="en-US" altLang="en-US" i="1" dirty="0" err="1">
                <a:sym typeface="Symbol" panose="05050102010706020507" pitchFamily="18" charset="2"/>
              </a:rPr>
              <a:t>i</a:t>
            </a:r>
            <a:r>
              <a:rPr lang="en-US" altLang="en-US" i="1" dirty="0">
                <a:sym typeface="Symbol" panose="05050102010706020507" pitchFamily="18" charset="2"/>
              </a:rPr>
              <a:t>=i-1;</a:t>
            </a:r>
            <a:br>
              <a:rPr lang="en-US" altLang="en-US" dirty="0">
                <a:sym typeface="Greek Symbols"/>
              </a:rPr>
            </a:br>
            <a:r>
              <a:rPr lang="en-US" altLang="en-US" b="1" dirty="0">
                <a:sym typeface="Symbol" panose="05050102010706020507" pitchFamily="18" charset="2"/>
              </a:rPr>
              <a:t>return </a:t>
            </a:r>
            <a:r>
              <a:rPr lang="en-US" altLang="en-US" i="1" dirty="0">
                <a:sym typeface="Symbol" panose="05050102010706020507" pitchFamily="18" charset="2"/>
              </a:rPr>
              <a:t>(R</a:t>
            </a:r>
            <a:r>
              <a:rPr lang="en-US" altLang="en-US" sz="2000" baseline="-25000" dirty="0">
                <a:sym typeface="Symbol" panose="05050102010706020507" pitchFamily="18" charset="2"/>
              </a:rPr>
              <a:t>1</a:t>
            </a:r>
            <a:r>
              <a:rPr lang="en-US" altLang="en-US" dirty="0">
                <a:sym typeface="Symbol" panose="05050102010706020507" pitchFamily="18" charset="2"/>
              </a:rPr>
              <a:t>, </a:t>
            </a:r>
            <a:r>
              <a:rPr lang="en-US" altLang="en-US" i="1" dirty="0">
                <a:sym typeface="Symbol" panose="05050102010706020507" pitchFamily="18" charset="2"/>
              </a:rPr>
              <a:t>R</a:t>
            </a:r>
            <a:r>
              <a:rPr lang="en-US" altLang="en-US" sz="2000" baseline="-25000" dirty="0">
                <a:sym typeface="Symbol" panose="05050102010706020507" pitchFamily="18" charset="2"/>
              </a:rPr>
              <a:t>2</a:t>
            </a:r>
            <a:r>
              <a:rPr lang="en-US" altLang="en-US" dirty="0">
                <a:sym typeface="Symbol" panose="05050102010706020507" pitchFamily="18" charset="2"/>
              </a:rPr>
              <a:t>, ..., </a:t>
            </a:r>
            <a:r>
              <a:rPr lang="en-US" altLang="en-US" i="1" dirty="0">
                <a:sym typeface="Symbol" panose="05050102010706020507" pitchFamily="18" charset="2"/>
              </a:rPr>
              <a:t>R</a:t>
            </a:r>
            <a:r>
              <a:rPr lang="en-US" altLang="en-US" sz="2400" i="1" baseline="-25000" dirty="0">
                <a:sym typeface="Symbol" panose="05050102010706020507" pitchFamily="18" charset="2"/>
              </a:rPr>
              <a:t>i</a:t>
            </a:r>
            <a:r>
              <a:rPr lang="en-US" altLang="en-US" i="1" dirty="0">
                <a:sym typeface="Symbol" panose="05050102010706020507" pitchFamily="18" charset="2"/>
              </a:rPr>
              <a:t>)</a:t>
            </a:r>
            <a:r>
              <a:rPr lang="en-US" altLang="en-US" i="1" dirty="0">
                <a:sym typeface="Greek Symbols"/>
              </a:rPr>
              <a:t>	</a:t>
            </a:r>
            <a:r>
              <a:rPr lang="en-US" altLang="en-US" sz="1600" i="1" dirty="0">
                <a:sym typeface="Greek Symbols"/>
              </a:rPr>
              <a:t>	    </a:t>
            </a:r>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56738" name="Rectangle 2"/>
          <p:cNvSpPr>
            <a:spLocks noGrp="1" noChangeArrowheads="1"/>
          </p:cNvSpPr>
          <p:nvPr>
            <p:ph type="title"/>
          </p:nvPr>
        </p:nvSpPr>
        <p:spPr>
          <a:xfrm>
            <a:off x="838200" y="66675"/>
            <a:ext cx="8077200" cy="609600"/>
          </a:xfrm>
        </p:spPr>
        <p:txBody>
          <a:bodyPr/>
          <a:lstStyle/>
          <a:p>
            <a:pPr>
              <a:defRPr/>
            </a:pPr>
            <a:r>
              <a:rPr lang="en-US" altLang="en-US">
                <a:effectLst>
                  <a:outerShdw blurRad="38100" dist="38100" dir="2700000" algn="tl">
                    <a:srgbClr val="C0C0C0"/>
                  </a:outerShdw>
                </a:effectLst>
                <a:ea typeface="ＭＳ Ｐゴシック" pitchFamily="34" charset="-128"/>
              </a:rPr>
              <a:t>3NF Decomposition Algorithm (Cont.)</a:t>
            </a:r>
          </a:p>
        </p:txBody>
      </p:sp>
      <mc:AlternateContent xmlns:mc="http://schemas.openxmlformats.org/markup-compatibility/2006" xmlns:a14="http://schemas.microsoft.com/office/drawing/2010/main">
        <mc:Choice Requires="a14">
          <p:sp>
            <p:nvSpPr>
              <p:cNvPr id="756739" name="Rectangle 3"/>
              <p:cNvSpPr>
                <a:spLocks noGrp="1" noChangeArrowheads="1"/>
              </p:cNvSpPr>
              <p:nvPr>
                <p:ph idx="1"/>
              </p:nvPr>
            </p:nvSpPr>
            <p:spPr>
              <a:xfrm>
                <a:off x="1056444" y="1612221"/>
                <a:ext cx="7315199" cy="1335516"/>
              </a:xfrm>
            </p:spPr>
            <p:txBody>
              <a:bodyPr/>
              <a:lstStyle/>
              <a:p>
                <a:pPr algn="r" rtl="1"/>
                <a:r>
                  <a:rPr lang="fa-IR" dirty="0"/>
                  <a:t>هر طرح </a:t>
                </a:r>
                <a:r>
                  <a:rPr lang="fa-IR" dirty="0" err="1"/>
                  <a:t>رابطه‌ای</a:t>
                </a:r>
                <a:r>
                  <a:rPr lang="fa-IR" dirty="0"/>
                  <a:t> </a:t>
                </a:r>
                <a14:m>
                  <m:oMath xmlns:m="http://schemas.openxmlformats.org/officeDocument/2006/math">
                    <m:sSub>
                      <m:sSubPr>
                        <m:ctrlPr>
                          <a:rPr lang="fa-IR" i="1">
                            <a:latin typeface="Cambria Math" panose="02040503050406030204" pitchFamily="18" charset="0"/>
                          </a:rPr>
                        </m:ctrlPr>
                      </m:sSubPr>
                      <m:e>
                        <m:r>
                          <a:rPr lang="fa-IR" i="1">
                            <a:latin typeface="Cambria Math" panose="02040503050406030204" pitchFamily="18" charset="0"/>
                          </a:rPr>
                          <m:t>𝑅</m:t>
                        </m:r>
                      </m:e>
                      <m:sub>
                        <m:r>
                          <a:rPr lang="fa-IR" i="1">
                            <a:latin typeface="Cambria Math" panose="02040503050406030204" pitchFamily="18" charset="0"/>
                          </a:rPr>
                          <m:t>𝑖</m:t>
                        </m:r>
                      </m:sub>
                    </m:sSub>
                  </m:oMath>
                </a14:m>
                <a:r>
                  <a:rPr lang="fa-IR" dirty="0"/>
                  <a:t>در </a:t>
                </a:r>
                <a:r>
                  <a:rPr lang="fa-IR" b="1" dirty="0"/>
                  <a:t>3</a:t>
                </a:r>
                <a:r>
                  <a:rPr lang="en-US" b="1" dirty="0"/>
                  <a:t>NF</a:t>
                </a:r>
                <a:r>
                  <a:rPr lang="en-US" dirty="0"/>
                  <a:t> </a:t>
                </a:r>
                <a:r>
                  <a:rPr lang="fa-IR" dirty="0"/>
                  <a:t>است.</a:t>
                </a:r>
              </a:p>
              <a:p>
                <a:pPr algn="r" rtl="1"/>
                <a:r>
                  <a:rPr lang="fa-IR" dirty="0"/>
                  <a:t>تجزیه </a:t>
                </a:r>
                <a:r>
                  <a:rPr lang="fa-IR" b="1" dirty="0" err="1"/>
                  <a:t>حفظ‌کننده</a:t>
                </a:r>
                <a:r>
                  <a:rPr lang="fa-IR" b="1" dirty="0"/>
                  <a:t> </a:t>
                </a:r>
                <a:r>
                  <a:rPr lang="fa-IR" b="1" dirty="0" err="1"/>
                  <a:t>وابستگی‌ها</a:t>
                </a:r>
                <a:r>
                  <a:rPr lang="fa-IR" dirty="0"/>
                  <a:t> و </a:t>
                </a:r>
                <a:r>
                  <a:rPr lang="fa-IR" b="1" dirty="0"/>
                  <a:t>بدون از دست دادن اطلاعات (</a:t>
                </a:r>
                <a:r>
                  <a:rPr lang="en-US" b="1" dirty="0"/>
                  <a:t>lossless-join)</a:t>
                </a:r>
                <a:r>
                  <a:rPr lang="en-US" dirty="0"/>
                  <a:t> </a:t>
                </a:r>
                <a:r>
                  <a:rPr lang="fa-IR" dirty="0"/>
                  <a:t>است.</a:t>
                </a:r>
              </a:p>
              <a:p>
                <a:pPr algn="r" rtl="1"/>
                <a:r>
                  <a:rPr lang="fa-IR" dirty="0"/>
                  <a:t>اثبات صحت این روش در انتهای این ارائه آمده است (برای مشاهده، اینجا کلیک کنید).</a:t>
                </a:r>
              </a:p>
              <a:p>
                <a:pPr algn="r" rtl="1">
                  <a:lnSpc>
                    <a:spcPct val="90000"/>
                  </a:lnSpc>
                  <a:spcBef>
                    <a:spcPct val="50000"/>
                  </a:spcBef>
                  <a:defRPr/>
                </a:pPr>
                <a:endParaRPr lang="en-US" dirty="0">
                  <a:ea typeface="+mn-ea"/>
                  <a:sym typeface="Monotype Sorts" charset="0"/>
                </a:endParaRPr>
              </a:p>
            </p:txBody>
          </p:sp>
        </mc:Choice>
        <mc:Fallback xmlns="">
          <p:sp>
            <p:nvSpPr>
              <p:cNvPr id="756739" name="Rectangle 3"/>
              <p:cNvSpPr>
                <a:spLocks noGrp="1" noRot="1" noChangeAspect="1" noMove="1" noResize="1" noEditPoints="1" noAdjustHandles="1" noChangeArrowheads="1" noChangeShapeType="1" noTextEdit="1"/>
              </p:cNvSpPr>
              <p:nvPr>
                <p:ph idx="1"/>
              </p:nvPr>
            </p:nvSpPr>
            <p:spPr>
              <a:xfrm>
                <a:off x="1056444" y="1612221"/>
                <a:ext cx="7315199" cy="1335516"/>
              </a:xfrm>
              <a:blipFill>
                <a:blip r:embed="rId3"/>
                <a:stretch>
                  <a:fillRect t="-5000" r="-1000" b="-21818"/>
                </a:stretch>
              </a:blipFill>
            </p:spPr>
            <p:txBody>
              <a:bodyPr/>
              <a:lstStyle/>
              <a:p>
                <a:r>
                  <a:rPr lang="en-US">
                    <a:noFill/>
                  </a:rPr>
                  <a:t> </a:t>
                </a:r>
              </a:p>
            </p:txBody>
          </p:sp>
        </mc:Fallback>
      </mc:AlternateContent>
      <p:sp>
        <p:nvSpPr>
          <p:cNvPr id="2" name="TextBox 1"/>
          <p:cNvSpPr txBox="1"/>
          <p:nvPr/>
        </p:nvSpPr>
        <p:spPr>
          <a:xfrm>
            <a:off x="3252510" y="1242889"/>
            <a:ext cx="4942637" cy="369332"/>
          </a:xfrm>
          <a:prstGeom prst="rect">
            <a:avLst/>
          </a:prstGeom>
          <a:noFill/>
        </p:spPr>
        <p:txBody>
          <a:bodyPr wrap="square" rtlCol="0">
            <a:spAutoFit/>
          </a:bodyPr>
          <a:lstStyle/>
          <a:p>
            <a:pPr algn="r" rtl="1"/>
            <a:r>
              <a:rPr lang="fa-IR" sz="1800" dirty="0" err="1"/>
              <a:t>الگوریتم</a:t>
            </a:r>
            <a:r>
              <a:rPr lang="fa-IR" sz="1800" dirty="0"/>
              <a:t> بالا تضمین </a:t>
            </a:r>
            <a:r>
              <a:rPr lang="fa-IR" sz="1800" dirty="0" err="1"/>
              <a:t>می‌کند</a:t>
            </a:r>
            <a:r>
              <a:rPr lang="fa-IR" sz="1800" dirty="0"/>
              <a:t> که:</a:t>
            </a:r>
            <a:endParaRPr lang="en-US" sz="1700"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58786" name="Rectangle 2"/>
          <p:cNvSpPr>
            <a:spLocks noGrp="1" noChangeArrowheads="1"/>
          </p:cNvSpPr>
          <p:nvPr>
            <p:ph type="title"/>
          </p:nvPr>
        </p:nvSpPr>
        <p:spPr/>
        <p:txBody>
          <a:bodyPr/>
          <a:lstStyle/>
          <a:p>
            <a:pPr>
              <a:defRPr/>
            </a:pPr>
            <a:r>
              <a:rPr lang="en-US" altLang="en-US" dirty="0">
                <a:effectLst>
                  <a:outerShdw blurRad="38100" dist="38100" dir="2700000" algn="tl">
                    <a:srgbClr val="C0C0C0"/>
                  </a:outerShdw>
                </a:effectLst>
                <a:ea typeface="ＭＳ Ｐゴシック" pitchFamily="34" charset="-128"/>
              </a:rPr>
              <a:t>3NF Decomposition: An Example</a:t>
            </a:r>
          </a:p>
        </p:txBody>
      </p:sp>
      <mc:AlternateContent xmlns:mc="http://schemas.openxmlformats.org/markup-compatibility/2006" xmlns:a14="http://schemas.microsoft.com/office/drawing/2010/main">
        <mc:Choice Requires="a14">
          <p:sp>
            <p:nvSpPr>
              <p:cNvPr id="75779" name="Rectangle 3"/>
              <p:cNvSpPr>
                <a:spLocks noGrp="1" noChangeArrowheads="1"/>
              </p:cNvSpPr>
              <p:nvPr>
                <p:ph idx="1"/>
              </p:nvPr>
            </p:nvSpPr>
            <p:spPr>
              <a:xfrm>
                <a:off x="200416" y="1115510"/>
                <a:ext cx="8830850" cy="4202446"/>
              </a:xfrm>
            </p:spPr>
            <p:txBody>
              <a:bodyPr/>
              <a:lstStyle/>
              <a:p>
                <a:pPr algn="r" rtl="1"/>
                <a:r>
                  <a:rPr lang="fa-IR" dirty="0"/>
                  <a:t>طرح </a:t>
                </a:r>
                <a:r>
                  <a:rPr lang="fa-IR" dirty="0" err="1"/>
                  <a:t>رابطه‌ای</a:t>
                </a:r>
                <a:r>
                  <a:rPr lang="fa-IR" dirty="0"/>
                  <a:t>:</a:t>
                </a:r>
                <a:br>
                  <a:rPr lang="fa-IR" dirty="0"/>
                </a:br>
                <a:r>
                  <a:rPr lang="en-US" b="1" dirty="0" err="1"/>
                  <a:t>cust_banker_branch</a:t>
                </a:r>
                <a:r>
                  <a:rPr lang="en-US" dirty="0"/>
                  <a:t> = (</a:t>
                </a:r>
                <a:r>
                  <a:rPr lang="en-US" dirty="0" err="1"/>
                  <a:t>customer_id</a:t>
                </a:r>
                <a:r>
                  <a:rPr lang="en-US" dirty="0"/>
                  <a:t>, </a:t>
                </a:r>
                <a:r>
                  <a:rPr lang="en-US" dirty="0" err="1"/>
                  <a:t>employee_id</a:t>
                </a:r>
                <a:r>
                  <a:rPr lang="en-US" dirty="0"/>
                  <a:t>, </a:t>
                </a:r>
                <a:r>
                  <a:rPr lang="en-US" dirty="0" err="1"/>
                  <a:t>branch_name</a:t>
                </a:r>
                <a:r>
                  <a:rPr lang="en-US" dirty="0"/>
                  <a:t>, type)</a:t>
                </a:r>
              </a:p>
              <a:p>
                <a:pPr algn="r" rtl="1"/>
                <a:r>
                  <a:rPr lang="fa-IR" dirty="0" err="1"/>
                  <a:t>وابستگی‌های</a:t>
                </a:r>
                <a:r>
                  <a:rPr lang="fa-IR" dirty="0"/>
                  <a:t> </a:t>
                </a:r>
                <a:r>
                  <a:rPr lang="fa-IR" dirty="0" err="1"/>
                  <a:t>تابعی</a:t>
                </a:r>
                <a:r>
                  <a:rPr lang="fa-IR" dirty="0"/>
                  <a:t> برای این طرح </a:t>
                </a:r>
                <a:r>
                  <a:rPr lang="fa-IR" dirty="0" err="1"/>
                  <a:t>رابطه‌ای</a:t>
                </a:r>
                <a:r>
                  <a:rPr lang="fa-IR" dirty="0"/>
                  <a:t> عبارتند از:</a:t>
                </a:r>
              </a:p>
              <a:p>
                <a:pPr algn="r" rtl="1"/>
                <a:r>
                  <a:rPr lang="en-US" dirty="0" err="1"/>
                  <a:t>customer_id</a:t>
                </a:r>
                <a:r>
                  <a:rPr lang="en-US" dirty="0"/>
                  <a:t>, </a:t>
                </a:r>
                <a:r>
                  <a:rPr lang="en-US" dirty="0" err="1"/>
                  <a:t>employee_id</a:t>
                </a:r>
                <a:r>
                  <a:rPr lang="en-US" dirty="0"/>
                  <a:t> → </a:t>
                </a:r>
                <a:r>
                  <a:rPr lang="en-US" dirty="0" err="1"/>
                  <a:t>branch_name</a:t>
                </a:r>
                <a:r>
                  <a:rPr lang="en-US" dirty="0"/>
                  <a:t>, type</a:t>
                </a:r>
              </a:p>
              <a:p>
                <a:pPr algn="r" rtl="1"/>
                <a:r>
                  <a:rPr lang="en-US" dirty="0" err="1"/>
                  <a:t>employee_id</a:t>
                </a:r>
                <a:r>
                  <a:rPr lang="en-US" dirty="0"/>
                  <a:t> → </a:t>
                </a:r>
                <a:r>
                  <a:rPr lang="en-US" dirty="0" err="1"/>
                  <a:t>branch_name</a:t>
                </a:r>
                <a:endParaRPr lang="en-US" dirty="0"/>
              </a:p>
              <a:p>
                <a:pPr algn="r" rtl="1"/>
                <a:r>
                  <a:rPr lang="en-US" dirty="0" err="1"/>
                  <a:t>customer_id</a:t>
                </a:r>
                <a:r>
                  <a:rPr lang="en-US" dirty="0"/>
                  <a:t>, </a:t>
                </a:r>
                <a:r>
                  <a:rPr lang="en-US" dirty="0" err="1"/>
                  <a:t>branch_name</a:t>
                </a:r>
                <a:r>
                  <a:rPr lang="en-US" dirty="0"/>
                  <a:t> → </a:t>
                </a:r>
                <a:r>
                  <a:rPr lang="en-US" dirty="0" err="1"/>
                  <a:t>employee_id</a:t>
                </a:r>
                <a:endParaRPr lang="en-US" dirty="0"/>
              </a:p>
              <a:p>
                <a:pPr algn="r" rtl="1"/>
                <a:r>
                  <a:rPr lang="fa-IR" dirty="0"/>
                  <a:t>ابتدا یک </a:t>
                </a:r>
                <a:r>
                  <a:rPr lang="fa-IR" b="1" dirty="0"/>
                  <a:t>پوشش کانونی (</a:t>
                </a:r>
                <a:r>
                  <a:rPr lang="en-US" b="1" dirty="0"/>
                  <a:t>canonical cover)</a:t>
                </a:r>
                <a:r>
                  <a:rPr lang="en-US" dirty="0"/>
                  <a:t> </a:t>
                </a:r>
                <a:r>
                  <a:rPr lang="fa-IR" dirty="0"/>
                  <a:t>محاسبه </a:t>
                </a:r>
                <a:r>
                  <a:rPr lang="fa-IR" dirty="0" err="1"/>
                  <a:t>می‌کنیم</a:t>
                </a:r>
                <a:r>
                  <a:rPr lang="fa-IR" dirty="0"/>
                  <a:t>:</a:t>
                </a:r>
              </a:p>
              <a:p>
                <a:pPr algn="r" rtl="1"/>
                <a:r>
                  <a:rPr lang="en-US" dirty="0" err="1"/>
                  <a:t>branch_name</a:t>
                </a:r>
                <a:r>
                  <a:rPr lang="en-US" dirty="0"/>
                  <a:t> </a:t>
                </a:r>
                <a:r>
                  <a:rPr lang="fa-IR" dirty="0"/>
                  <a:t>در سمت راست وابستگی اول </a:t>
                </a:r>
                <a:r>
                  <a:rPr lang="fa-IR" dirty="0" err="1"/>
                  <a:t>غیرضروری</a:t>
                </a:r>
                <a:r>
                  <a:rPr lang="fa-IR" dirty="0"/>
                  <a:t> است.</a:t>
                </a:r>
              </a:p>
              <a:p>
                <a:pPr algn="r" rtl="1"/>
                <a:r>
                  <a:rPr lang="fa-IR" dirty="0"/>
                  <a:t>هیچ صفت دیگری </a:t>
                </a:r>
                <a:r>
                  <a:rPr lang="fa-IR" dirty="0" err="1"/>
                  <a:t>غیرضروری</a:t>
                </a:r>
                <a:r>
                  <a:rPr lang="fa-IR" dirty="0"/>
                  <a:t> نیست، بنابراین پوشش کانونی </a:t>
                </a:r>
                <a14:m>
                  <m:oMath xmlns:m="http://schemas.openxmlformats.org/officeDocument/2006/math">
                    <m:sSub>
                      <m:sSubPr>
                        <m:ctrlPr>
                          <a:rPr lang="fa-IR" i="1">
                            <a:latin typeface="Cambria Math" panose="02040503050406030204" pitchFamily="18" charset="0"/>
                          </a:rPr>
                        </m:ctrlPr>
                      </m:sSubPr>
                      <m:e>
                        <m:r>
                          <a:rPr lang="fa-IR" i="1">
                            <a:latin typeface="Cambria Math" panose="02040503050406030204" pitchFamily="18" charset="0"/>
                          </a:rPr>
                          <m:t>𝐹</m:t>
                        </m:r>
                      </m:e>
                      <m:sub>
                        <m:r>
                          <a:rPr lang="fa-IR" i="1">
                            <a:latin typeface="Cambria Math" panose="02040503050406030204" pitchFamily="18" charset="0"/>
                          </a:rPr>
                          <m:t>𝐶</m:t>
                        </m:r>
                      </m:sub>
                    </m:sSub>
                  </m:oMath>
                </a14:m>
                <a:r>
                  <a:rPr lang="fa-IR" dirty="0"/>
                  <a:t>به صورت زیر است:</a:t>
                </a:r>
              </a:p>
              <a:p>
                <a:pPr lvl="1" algn="r" rtl="1"/>
                <a:r>
                  <a:rPr lang="en-US" dirty="0" err="1"/>
                  <a:t>customer_id</a:t>
                </a:r>
                <a:r>
                  <a:rPr lang="en-US" dirty="0"/>
                  <a:t>, </a:t>
                </a:r>
                <a:r>
                  <a:rPr lang="en-US" dirty="0" err="1"/>
                  <a:t>employee_id</a:t>
                </a:r>
                <a:r>
                  <a:rPr lang="en-US" dirty="0"/>
                  <a:t> → type</a:t>
                </a:r>
              </a:p>
              <a:p>
                <a:pPr lvl="1" algn="r" rtl="1"/>
                <a:r>
                  <a:rPr lang="en-US" dirty="0" err="1"/>
                  <a:t>employee_id</a:t>
                </a:r>
                <a:r>
                  <a:rPr lang="en-US" dirty="0"/>
                  <a:t> → </a:t>
                </a:r>
                <a:r>
                  <a:rPr lang="en-US" dirty="0" err="1"/>
                  <a:t>branch_name</a:t>
                </a:r>
                <a:endParaRPr lang="en-US" dirty="0"/>
              </a:p>
              <a:p>
                <a:pPr lvl="1" algn="r" rtl="1"/>
                <a:r>
                  <a:rPr lang="en-US" dirty="0" err="1"/>
                  <a:t>customer_id</a:t>
                </a:r>
                <a:r>
                  <a:rPr lang="en-US" dirty="0"/>
                  <a:t>, </a:t>
                </a:r>
                <a:r>
                  <a:rPr lang="en-US" dirty="0" err="1"/>
                  <a:t>branch_name</a:t>
                </a:r>
                <a:r>
                  <a:rPr lang="en-US" dirty="0"/>
                  <a:t> → </a:t>
                </a:r>
                <a:r>
                  <a:rPr lang="en-US" dirty="0" err="1"/>
                  <a:t>employee_id</a:t>
                </a:r>
                <a:endParaRPr lang="en-US" dirty="0"/>
              </a:p>
              <a:p>
                <a:pPr marL="800100" lvl="1" indent="-342900" algn="r" rtl="1">
                  <a:buFont typeface="Monotype Sorts" pitchFamily="-84" charset="2"/>
                  <a:buNone/>
                  <a:tabLst>
                    <a:tab pos="1027113" algn="l"/>
                    <a:tab pos="2857500" algn="ctr"/>
                    <a:tab pos="3036888" algn="l"/>
                  </a:tabLst>
                </a:pPr>
                <a:endParaRPr lang="en-US" altLang="en-US" dirty="0">
                  <a:sym typeface="Wingdings" panose="05000000000000000000" pitchFamily="2" charset="2"/>
                </a:endParaRPr>
              </a:p>
            </p:txBody>
          </p:sp>
        </mc:Choice>
        <mc:Fallback xmlns="">
          <p:sp>
            <p:nvSpPr>
              <p:cNvPr id="75779" name="Rectangle 3"/>
              <p:cNvSpPr>
                <a:spLocks noGrp="1" noRot="1" noChangeAspect="1" noMove="1" noResize="1" noEditPoints="1" noAdjustHandles="1" noChangeArrowheads="1" noChangeShapeType="1" noTextEdit="1"/>
              </p:cNvSpPr>
              <p:nvPr>
                <p:ph idx="1"/>
              </p:nvPr>
            </p:nvSpPr>
            <p:spPr>
              <a:xfrm>
                <a:off x="200416" y="1115510"/>
                <a:ext cx="8830850" cy="4202446"/>
              </a:xfrm>
              <a:blipFill>
                <a:blip r:embed="rId3"/>
                <a:stretch>
                  <a:fillRect t="-2032" r="-759" b="-17562"/>
                </a:stretch>
              </a:blipFill>
            </p:spPr>
            <p:txBody>
              <a:bodyPr/>
              <a:lstStyle/>
              <a:p>
                <a:r>
                  <a:rPr lang="en-US">
                    <a:noFill/>
                  </a:rPr>
                  <a:t> </a:t>
                </a:r>
              </a:p>
            </p:txBody>
          </p:sp>
        </mc:Fallback>
      </mc:AlternateContent>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60834" name="Rectangle 2"/>
          <p:cNvSpPr>
            <a:spLocks noGrp="1" noChangeArrowheads="1"/>
          </p:cNvSpPr>
          <p:nvPr>
            <p:ph type="title"/>
          </p:nvPr>
        </p:nvSpPr>
        <p:spPr/>
        <p:txBody>
          <a:bodyPr/>
          <a:lstStyle/>
          <a:p>
            <a:pPr>
              <a:defRPr/>
            </a:pPr>
            <a:r>
              <a:rPr lang="en-US" altLang="en-US">
                <a:effectLst>
                  <a:outerShdw blurRad="38100" dist="38100" dir="2700000" algn="tl">
                    <a:srgbClr val="C0C0C0"/>
                  </a:outerShdw>
                </a:effectLst>
                <a:ea typeface="ＭＳ Ｐゴシック" pitchFamily="34" charset="-128"/>
              </a:rPr>
              <a:t>3NF Decompsition Example (Cont.)</a:t>
            </a:r>
          </a:p>
        </p:txBody>
      </p:sp>
      <p:sp>
        <p:nvSpPr>
          <p:cNvPr id="760835" name="Rectangle 3"/>
          <p:cNvSpPr>
            <a:spLocks noGrp="1" noChangeArrowheads="1"/>
          </p:cNvSpPr>
          <p:nvPr>
            <p:ph idx="1"/>
          </p:nvPr>
        </p:nvSpPr>
        <p:spPr>
          <a:xfrm>
            <a:off x="768350" y="1171852"/>
            <a:ext cx="7617661" cy="4434864"/>
          </a:xfrm>
        </p:spPr>
        <p:txBody>
          <a:bodyPr/>
          <a:lstStyle/>
          <a:p>
            <a:pPr algn="r" rtl="1"/>
            <a:r>
              <a:rPr lang="fa-IR" dirty="0"/>
              <a:t>حلقه </a:t>
            </a:r>
            <a:r>
              <a:rPr lang="en-US" b="1" dirty="0"/>
              <a:t>for</a:t>
            </a:r>
            <a:r>
              <a:rPr lang="en-US" dirty="0"/>
              <a:t> </a:t>
            </a:r>
            <a:r>
              <a:rPr lang="fa-IR" dirty="0" err="1"/>
              <a:t>طرح‌های</a:t>
            </a:r>
            <a:r>
              <a:rPr lang="fa-IR" dirty="0"/>
              <a:t> 3</a:t>
            </a:r>
            <a:r>
              <a:rPr lang="en-US" dirty="0"/>
              <a:t>NF </a:t>
            </a:r>
            <a:r>
              <a:rPr lang="fa-IR" dirty="0"/>
              <a:t>زیر را تولید </a:t>
            </a:r>
            <a:r>
              <a:rPr lang="fa-IR" dirty="0" err="1"/>
              <a:t>می‌کند</a:t>
            </a:r>
            <a:r>
              <a:rPr lang="fa-IR" dirty="0"/>
              <a:t>:</a:t>
            </a:r>
          </a:p>
          <a:p>
            <a:pPr algn="r" rtl="1"/>
            <a:r>
              <a:rPr lang="fa-IR" dirty="0"/>
              <a:t>(</a:t>
            </a:r>
            <a:r>
              <a:rPr lang="en-US" dirty="0" err="1"/>
              <a:t>customer_id</a:t>
            </a:r>
            <a:r>
              <a:rPr lang="en-US" dirty="0"/>
              <a:t>, </a:t>
            </a:r>
            <a:r>
              <a:rPr lang="en-US" dirty="0" err="1"/>
              <a:t>employee_id</a:t>
            </a:r>
            <a:r>
              <a:rPr lang="en-US" dirty="0"/>
              <a:t>, type)</a:t>
            </a:r>
          </a:p>
          <a:p>
            <a:pPr algn="r" rtl="1"/>
            <a:r>
              <a:rPr lang="en-US" dirty="0"/>
              <a:t>(</a:t>
            </a:r>
            <a:r>
              <a:rPr lang="en-US" dirty="0" err="1"/>
              <a:t>employee_id</a:t>
            </a:r>
            <a:r>
              <a:rPr lang="en-US" dirty="0"/>
              <a:t>, </a:t>
            </a:r>
            <a:r>
              <a:rPr lang="en-US" dirty="0" err="1"/>
              <a:t>branch_name</a:t>
            </a:r>
            <a:r>
              <a:rPr lang="en-US" dirty="0"/>
              <a:t>)</a:t>
            </a:r>
          </a:p>
          <a:p>
            <a:pPr algn="r" rtl="1"/>
            <a:r>
              <a:rPr lang="en-US" dirty="0"/>
              <a:t>(</a:t>
            </a:r>
            <a:r>
              <a:rPr lang="en-US" dirty="0" err="1"/>
              <a:t>customer_id</a:t>
            </a:r>
            <a:r>
              <a:rPr lang="en-US" dirty="0"/>
              <a:t>, </a:t>
            </a:r>
            <a:r>
              <a:rPr lang="en-US" dirty="0" err="1"/>
              <a:t>branch_name</a:t>
            </a:r>
            <a:r>
              <a:rPr lang="en-US" dirty="0"/>
              <a:t>, </a:t>
            </a:r>
            <a:r>
              <a:rPr lang="en-US" dirty="0" err="1"/>
              <a:t>employee_id</a:t>
            </a:r>
            <a:r>
              <a:rPr lang="en-US" dirty="0"/>
              <a:t>)</a:t>
            </a:r>
          </a:p>
          <a:p>
            <a:pPr algn="r" rtl="1"/>
            <a:r>
              <a:rPr lang="fa-IR" dirty="0"/>
              <a:t>توجه کنید که (</a:t>
            </a:r>
            <a:r>
              <a:rPr lang="en-US" dirty="0" err="1"/>
              <a:t>customer_id</a:t>
            </a:r>
            <a:r>
              <a:rPr lang="en-US" dirty="0"/>
              <a:t>, </a:t>
            </a:r>
            <a:r>
              <a:rPr lang="en-US" dirty="0" err="1"/>
              <a:t>employee_id</a:t>
            </a:r>
            <a:r>
              <a:rPr lang="en-US" dirty="0"/>
              <a:t>, type) </a:t>
            </a:r>
            <a:r>
              <a:rPr lang="fa-IR" dirty="0"/>
              <a:t>شامل یک </a:t>
            </a:r>
            <a:r>
              <a:rPr lang="fa-IR" b="1" dirty="0"/>
              <a:t>کلید کاندید</a:t>
            </a:r>
            <a:r>
              <a:rPr lang="fa-IR" dirty="0"/>
              <a:t> از طرح </a:t>
            </a:r>
            <a:r>
              <a:rPr lang="fa-IR" dirty="0" err="1"/>
              <a:t>رابطه‌ای</a:t>
            </a:r>
            <a:r>
              <a:rPr lang="fa-IR" dirty="0"/>
              <a:t> اصلی است، بنابراین نیازی به اضافه کردن طرح </a:t>
            </a:r>
            <a:r>
              <a:rPr lang="fa-IR" dirty="0" err="1"/>
              <a:t>رابطه‌ای</a:t>
            </a:r>
            <a:r>
              <a:rPr lang="fa-IR" dirty="0"/>
              <a:t> دیگری نیست.</a:t>
            </a:r>
          </a:p>
          <a:p>
            <a:pPr algn="r" rtl="1"/>
            <a:r>
              <a:rPr lang="fa-IR" dirty="0"/>
              <a:t>در پایان حلقه </a:t>
            </a:r>
            <a:r>
              <a:rPr lang="en-US" b="1" dirty="0"/>
              <a:t>for</a:t>
            </a:r>
            <a:r>
              <a:rPr lang="en-US" dirty="0"/>
              <a:t>، </a:t>
            </a:r>
            <a:r>
              <a:rPr lang="fa-IR" dirty="0" err="1"/>
              <a:t>طرح‌هایی</a:t>
            </a:r>
            <a:r>
              <a:rPr lang="fa-IR" dirty="0"/>
              <a:t> مانند (</a:t>
            </a:r>
            <a:r>
              <a:rPr lang="en-US" dirty="0" err="1"/>
              <a:t>employee_id</a:t>
            </a:r>
            <a:r>
              <a:rPr lang="en-US" dirty="0"/>
              <a:t>, </a:t>
            </a:r>
            <a:r>
              <a:rPr lang="en-US" dirty="0" err="1"/>
              <a:t>branch_name</a:t>
            </a:r>
            <a:r>
              <a:rPr lang="en-US" dirty="0"/>
              <a:t>) </a:t>
            </a:r>
            <a:r>
              <a:rPr lang="fa-IR" dirty="0"/>
              <a:t>که </a:t>
            </a:r>
            <a:r>
              <a:rPr lang="fa-IR" dirty="0" err="1"/>
              <a:t>زیرمجموعه‌ای</a:t>
            </a:r>
            <a:r>
              <a:rPr lang="fa-IR" dirty="0"/>
              <a:t> از دیگر </a:t>
            </a:r>
            <a:r>
              <a:rPr lang="fa-IR" dirty="0" err="1"/>
              <a:t>طرح‌ها</a:t>
            </a:r>
            <a:r>
              <a:rPr lang="fa-IR" dirty="0"/>
              <a:t> هستند شناسایی و حذف </a:t>
            </a:r>
            <a:r>
              <a:rPr lang="fa-IR" dirty="0" err="1"/>
              <a:t>می‌شوند</a:t>
            </a:r>
            <a:r>
              <a:rPr lang="fa-IR" dirty="0"/>
              <a:t>.</a:t>
            </a:r>
          </a:p>
          <a:p>
            <a:pPr algn="r" rtl="1"/>
            <a:r>
              <a:rPr lang="fa-IR" dirty="0"/>
              <a:t>نتیجه وابسته به ترتیب بررسی </a:t>
            </a:r>
            <a:r>
              <a:rPr lang="fa-IR" dirty="0" err="1"/>
              <a:t>وابستگی‌های</a:t>
            </a:r>
            <a:r>
              <a:rPr lang="fa-IR" dirty="0"/>
              <a:t> </a:t>
            </a:r>
            <a:r>
              <a:rPr lang="fa-IR" dirty="0" err="1"/>
              <a:t>تابعی</a:t>
            </a:r>
            <a:r>
              <a:rPr lang="fa-IR" dirty="0"/>
              <a:t> نخواهد بود.</a:t>
            </a:r>
          </a:p>
          <a:p>
            <a:pPr algn="r" rtl="1"/>
            <a:r>
              <a:rPr lang="fa-IR" b="1" dirty="0"/>
              <a:t>طرح 3</a:t>
            </a:r>
            <a:r>
              <a:rPr lang="en-US" b="1" dirty="0"/>
              <a:t>NF </a:t>
            </a:r>
            <a:r>
              <a:rPr lang="fa-IR" b="1" dirty="0"/>
              <a:t>نهایی و </a:t>
            </a:r>
            <a:r>
              <a:rPr lang="fa-IR" b="1" dirty="0" err="1"/>
              <a:t>ساده‌شده</a:t>
            </a:r>
            <a:r>
              <a:rPr lang="fa-IR" dirty="0"/>
              <a:t> عبارت است از:</a:t>
            </a:r>
          </a:p>
          <a:p>
            <a:pPr algn="r" rtl="1"/>
            <a:r>
              <a:rPr lang="fa-IR" dirty="0"/>
              <a:t>(</a:t>
            </a:r>
            <a:r>
              <a:rPr lang="en-US" dirty="0" err="1"/>
              <a:t>customer_id</a:t>
            </a:r>
            <a:r>
              <a:rPr lang="en-US" dirty="0"/>
              <a:t>, </a:t>
            </a:r>
            <a:r>
              <a:rPr lang="en-US" dirty="0" err="1"/>
              <a:t>employee_id</a:t>
            </a:r>
            <a:r>
              <a:rPr lang="en-US" dirty="0"/>
              <a:t>, type)</a:t>
            </a:r>
          </a:p>
          <a:p>
            <a:pPr algn="r" rtl="1"/>
            <a:r>
              <a:rPr lang="en-US" dirty="0"/>
              <a:t>(</a:t>
            </a:r>
            <a:r>
              <a:rPr lang="en-US" dirty="0" err="1"/>
              <a:t>customer_id</a:t>
            </a:r>
            <a:r>
              <a:rPr lang="en-US" dirty="0"/>
              <a:t>, </a:t>
            </a:r>
            <a:r>
              <a:rPr lang="en-US" dirty="0" err="1"/>
              <a:t>branch_name</a:t>
            </a:r>
            <a:r>
              <a:rPr lang="en-US" dirty="0"/>
              <a:t>, </a:t>
            </a:r>
            <a:r>
              <a:rPr lang="en-US" dirty="0" err="1"/>
              <a:t>employee_id</a:t>
            </a:r>
            <a:r>
              <a:rPr lang="en-US" dirty="0"/>
              <a:t>)</a:t>
            </a:r>
          </a:p>
          <a:p>
            <a:pPr algn="r" rtl="1"/>
            <a:endParaRPr lang="en-US" altLang="en-US" i="1"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62882" name="Rectangle 2"/>
          <p:cNvSpPr>
            <a:spLocks noGrp="1" noChangeArrowheads="1"/>
          </p:cNvSpPr>
          <p:nvPr>
            <p:ph type="title"/>
          </p:nvPr>
        </p:nvSpPr>
        <p:spPr/>
        <p:txBody>
          <a:bodyPr/>
          <a:lstStyle/>
          <a:p>
            <a:pPr>
              <a:defRPr/>
            </a:pPr>
            <a:r>
              <a:rPr lang="en-US" altLang="en-US">
                <a:effectLst>
                  <a:outerShdw blurRad="38100" dist="38100" dir="2700000" algn="tl">
                    <a:srgbClr val="C0C0C0"/>
                  </a:outerShdw>
                </a:effectLst>
                <a:ea typeface="ＭＳ Ｐゴシック" pitchFamily="34" charset="-128"/>
              </a:rPr>
              <a:t>Comparison of BCNF and 3NF</a:t>
            </a:r>
          </a:p>
        </p:txBody>
      </p:sp>
      <p:sp>
        <p:nvSpPr>
          <p:cNvPr id="77827" name="Rectangle 3"/>
          <p:cNvSpPr>
            <a:spLocks noGrp="1" noChangeArrowheads="1"/>
          </p:cNvSpPr>
          <p:nvPr>
            <p:ph idx="1"/>
          </p:nvPr>
        </p:nvSpPr>
        <p:spPr>
          <a:xfrm>
            <a:off x="768350" y="1093789"/>
            <a:ext cx="7629692" cy="2970211"/>
          </a:xfrm>
        </p:spPr>
        <p:txBody>
          <a:bodyPr/>
          <a:lstStyle/>
          <a:p>
            <a:pPr algn="r" rtl="1"/>
            <a:r>
              <a:rPr lang="fa-IR" dirty="0"/>
              <a:t>همیشه امکان دارد یک رابطه را به </a:t>
            </a:r>
            <a:r>
              <a:rPr lang="fa-IR" dirty="0" err="1"/>
              <a:t>مجموعه‌ای</a:t>
            </a:r>
            <a:r>
              <a:rPr lang="fa-IR" dirty="0"/>
              <a:t> از روابط تجزیه کنیم که در </a:t>
            </a:r>
            <a:r>
              <a:rPr lang="fa-IR" b="1" dirty="0"/>
              <a:t>3</a:t>
            </a:r>
            <a:r>
              <a:rPr lang="en-US" b="1" dirty="0"/>
              <a:t>NF</a:t>
            </a:r>
            <a:r>
              <a:rPr lang="en-US" dirty="0"/>
              <a:t> </a:t>
            </a:r>
            <a:r>
              <a:rPr lang="fa-IR" dirty="0"/>
              <a:t>باشند، </a:t>
            </a:r>
            <a:r>
              <a:rPr lang="fa-IR" dirty="0" err="1"/>
              <a:t>به‌گونه‌ای</a:t>
            </a:r>
            <a:r>
              <a:rPr lang="fa-IR" dirty="0"/>
              <a:t> که:</a:t>
            </a:r>
          </a:p>
          <a:p>
            <a:pPr algn="r" rtl="1"/>
            <a:r>
              <a:rPr lang="fa-IR" dirty="0"/>
              <a:t>تجزیه </a:t>
            </a:r>
            <a:r>
              <a:rPr lang="fa-IR" b="1" dirty="0"/>
              <a:t>بدون از دست دادن اطلاعات (</a:t>
            </a:r>
            <a:r>
              <a:rPr lang="en-US" b="1" dirty="0"/>
              <a:t>lossless)</a:t>
            </a:r>
            <a:r>
              <a:rPr lang="en-US" dirty="0"/>
              <a:t> </a:t>
            </a:r>
            <a:r>
              <a:rPr lang="fa-IR" dirty="0"/>
              <a:t>باشد،</a:t>
            </a:r>
          </a:p>
          <a:p>
            <a:pPr algn="r" rtl="1"/>
            <a:r>
              <a:rPr lang="fa-IR" dirty="0" err="1"/>
              <a:t>وابستگی‌ها</a:t>
            </a:r>
            <a:r>
              <a:rPr lang="fa-IR" dirty="0"/>
              <a:t> </a:t>
            </a:r>
            <a:r>
              <a:rPr lang="fa-IR" b="1" dirty="0"/>
              <a:t>حفظ شوند</a:t>
            </a:r>
            <a:r>
              <a:rPr lang="fa-IR" dirty="0"/>
              <a:t>.</a:t>
            </a:r>
          </a:p>
          <a:p>
            <a:pPr algn="r" rtl="1"/>
            <a:r>
              <a:rPr lang="fa-IR" dirty="0"/>
              <a:t>همیشه امکان دارد یک رابطه را به </a:t>
            </a:r>
            <a:r>
              <a:rPr lang="fa-IR" dirty="0" err="1"/>
              <a:t>مجموعه‌ای</a:t>
            </a:r>
            <a:r>
              <a:rPr lang="fa-IR" dirty="0"/>
              <a:t> از روابط تجزیه کنیم که در </a:t>
            </a:r>
            <a:r>
              <a:rPr lang="en-US" b="1" dirty="0"/>
              <a:t>BCNF</a:t>
            </a:r>
            <a:r>
              <a:rPr lang="en-US" dirty="0"/>
              <a:t> </a:t>
            </a:r>
            <a:r>
              <a:rPr lang="fa-IR" dirty="0"/>
              <a:t>باشند، </a:t>
            </a:r>
            <a:r>
              <a:rPr lang="fa-IR" dirty="0" err="1"/>
              <a:t>به‌گونه‌ای</a:t>
            </a:r>
            <a:r>
              <a:rPr lang="fa-IR" dirty="0"/>
              <a:t> که:</a:t>
            </a:r>
          </a:p>
          <a:p>
            <a:pPr algn="r" rtl="1"/>
            <a:r>
              <a:rPr lang="fa-IR" dirty="0"/>
              <a:t>تجزیه </a:t>
            </a:r>
            <a:r>
              <a:rPr lang="fa-IR" b="1" dirty="0"/>
              <a:t>بدون از دست دادن اطلاعات (</a:t>
            </a:r>
            <a:r>
              <a:rPr lang="en-US" b="1" dirty="0"/>
              <a:t>lossless)</a:t>
            </a:r>
            <a:r>
              <a:rPr lang="en-US" dirty="0"/>
              <a:t> </a:t>
            </a:r>
            <a:r>
              <a:rPr lang="fa-IR" dirty="0"/>
              <a:t>باشد،</a:t>
            </a:r>
          </a:p>
          <a:p>
            <a:pPr algn="r" rtl="1"/>
            <a:r>
              <a:rPr lang="fa-IR" dirty="0"/>
              <a:t>ممکن است نتوان </a:t>
            </a:r>
            <a:r>
              <a:rPr lang="fa-IR" dirty="0" err="1"/>
              <a:t>وابستگی‌ها</a:t>
            </a:r>
            <a:r>
              <a:rPr lang="fa-IR" dirty="0"/>
              <a:t> را </a:t>
            </a:r>
            <a:r>
              <a:rPr lang="fa-IR" b="1" dirty="0"/>
              <a:t>حفظ کرد</a:t>
            </a:r>
            <a:r>
              <a:rPr lang="fa-IR" dirty="0"/>
              <a:t>.</a:t>
            </a:r>
          </a:p>
          <a:p>
            <a:pPr lvl="1" algn="r" rtl="1"/>
            <a:endParaRPr lang="en-US" altLang="en-US" dirty="0"/>
          </a:p>
        </p:txBody>
      </p:sp>
      <p:sp>
        <p:nvSpPr>
          <p:cNvPr id="77828" name="Rectangle 4"/>
          <p:cNvSpPr>
            <a:spLocks noChangeArrowheads="1"/>
          </p:cNvSpPr>
          <p:nvPr/>
        </p:nvSpPr>
        <p:spPr bwMode="auto">
          <a:xfrm>
            <a:off x="596900" y="4064000"/>
            <a:ext cx="7283450" cy="2590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marL="342900" indent="-342900">
              <a:tabLst>
                <a:tab pos="684213" algn="l"/>
              </a:tabLst>
              <a:defRPr sz="1600">
                <a:solidFill>
                  <a:schemeClr val="tx1"/>
                </a:solidFill>
                <a:latin typeface="Helvetica" panose="020B0604020202020204" pitchFamily="34" charset="0"/>
                <a:ea typeface="MS PGothic" panose="020B0600070205080204" pitchFamily="34" charset="-128"/>
              </a:defRPr>
            </a:lvl1pPr>
            <a:lvl2pPr marL="742950" indent="-285750">
              <a:tabLst>
                <a:tab pos="684213" algn="l"/>
              </a:tabLst>
              <a:defRPr sz="1600">
                <a:solidFill>
                  <a:schemeClr val="tx1"/>
                </a:solidFill>
                <a:latin typeface="Helvetica" panose="020B0604020202020204" pitchFamily="34" charset="0"/>
                <a:ea typeface="MS PGothic" panose="020B0600070205080204" pitchFamily="34" charset="-128"/>
              </a:defRPr>
            </a:lvl2pPr>
            <a:lvl3pPr marL="1143000" indent="-228600">
              <a:tabLst>
                <a:tab pos="684213" algn="l"/>
              </a:tabLst>
              <a:defRPr sz="1600">
                <a:solidFill>
                  <a:schemeClr val="tx1"/>
                </a:solidFill>
                <a:latin typeface="Helvetica" panose="020B0604020202020204" pitchFamily="34" charset="0"/>
                <a:ea typeface="MS PGothic" panose="020B0600070205080204" pitchFamily="34" charset="-128"/>
              </a:defRPr>
            </a:lvl3pPr>
            <a:lvl4pPr marL="1600200" indent="-228600">
              <a:tabLst>
                <a:tab pos="684213" algn="l"/>
              </a:tabLst>
              <a:defRPr sz="1600">
                <a:solidFill>
                  <a:schemeClr val="tx1"/>
                </a:solidFill>
                <a:latin typeface="Helvetica" panose="020B0604020202020204" pitchFamily="34" charset="0"/>
                <a:ea typeface="MS PGothic" panose="020B0600070205080204" pitchFamily="34" charset="-128"/>
              </a:defRPr>
            </a:lvl4pPr>
            <a:lvl5pPr marL="2057400" indent="-228600">
              <a:tabLst>
                <a:tab pos="684213" algn="l"/>
              </a:tabLst>
              <a:defRPr sz="16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tabLst>
                <a:tab pos="684213" algn="l"/>
              </a:tabLst>
              <a:defRPr sz="16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tabLst>
                <a:tab pos="684213" algn="l"/>
              </a:tabLst>
              <a:defRPr sz="16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tabLst>
                <a:tab pos="684213" algn="l"/>
              </a:tabLst>
              <a:defRPr sz="16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tabLst>
                <a:tab pos="684213" algn="l"/>
              </a:tabLst>
              <a:defRPr sz="1600">
                <a:solidFill>
                  <a:schemeClr val="tx1"/>
                </a:solidFill>
                <a:latin typeface="Helvetica" panose="020B0604020202020204" pitchFamily="34" charset="0"/>
                <a:ea typeface="MS PGothic" panose="020B0600070205080204" pitchFamily="34" charset="-128"/>
              </a:defRPr>
            </a:lvl9pPr>
          </a:lstStyle>
          <a:p>
            <a:pPr>
              <a:spcBef>
                <a:spcPct val="35000"/>
              </a:spcBef>
              <a:buClr>
                <a:schemeClr val="tx2"/>
              </a:buClr>
              <a:buSzPct val="90000"/>
              <a:buFont typeface="Monotype Sorts" pitchFamily="-84" charset="2"/>
              <a:buChar char="n"/>
            </a:pPr>
            <a:endParaRPr kumimoji="1" lang="en-US" altLang="en-US" sz="1800" i="1">
              <a:sym typeface="Monotype Sorts" pitchFamily="-84" charset="2"/>
            </a:endParaRPr>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64930" name="Rectangle 2"/>
          <p:cNvSpPr>
            <a:spLocks noGrp="1" noChangeArrowheads="1"/>
          </p:cNvSpPr>
          <p:nvPr>
            <p:ph type="title"/>
          </p:nvPr>
        </p:nvSpPr>
        <p:spPr/>
        <p:txBody>
          <a:bodyPr/>
          <a:lstStyle/>
          <a:p>
            <a:pPr>
              <a:defRPr/>
            </a:pPr>
            <a:r>
              <a:rPr lang="en-US" altLang="en-US">
                <a:effectLst>
                  <a:outerShdw blurRad="38100" dist="38100" dir="2700000" algn="tl">
                    <a:srgbClr val="C0C0C0"/>
                  </a:outerShdw>
                </a:effectLst>
                <a:ea typeface="ＭＳ Ｐゴシック" pitchFamily="34" charset="-128"/>
              </a:rPr>
              <a:t>Design Goals</a:t>
            </a:r>
          </a:p>
        </p:txBody>
      </p:sp>
      <p:sp>
        <p:nvSpPr>
          <p:cNvPr id="78851" name="Rectangle 3"/>
          <p:cNvSpPr>
            <a:spLocks noGrp="1" noChangeArrowheads="1"/>
          </p:cNvSpPr>
          <p:nvPr>
            <p:ph idx="1"/>
          </p:nvPr>
        </p:nvSpPr>
        <p:spPr>
          <a:xfrm>
            <a:off x="243170" y="1333265"/>
            <a:ext cx="8657660" cy="4693402"/>
          </a:xfrm>
        </p:spPr>
        <p:txBody>
          <a:bodyPr/>
          <a:lstStyle/>
          <a:p>
            <a:pPr algn="r" rtl="1"/>
            <a:r>
              <a:rPr lang="fa-IR" dirty="0"/>
              <a:t>هدف از طراحی پایگاه داده </a:t>
            </a:r>
            <a:r>
              <a:rPr lang="fa-IR" dirty="0" err="1"/>
              <a:t>رابطه‌ای</a:t>
            </a:r>
            <a:r>
              <a:rPr lang="fa-IR" dirty="0"/>
              <a:t> عبارت است از:</a:t>
            </a:r>
          </a:p>
          <a:p>
            <a:pPr algn="r" rtl="1"/>
            <a:r>
              <a:rPr lang="en-US" dirty="0"/>
              <a:t>BCNF</a:t>
            </a:r>
          </a:p>
          <a:p>
            <a:pPr algn="r" rtl="1"/>
            <a:r>
              <a:rPr lang="en-US" b="1" dirty="0"/>
              <a:t>Join </a:t>
            </a:r>
            <a:r>
              <a:rPr lang="fa-IR" b="1" dirty="0"/>
              <a:t>بدون از دست دادن اطلاعات (</a:t>
            </a:r>
            <a:r>
              <a:rPr lang="en-US" b="1" dirty="0"/>
              <a:t>Lossless join)</a:t>
            </a:r>
            <a:endParaRPr lang="en-US" dirty="0"/>
          </a:p>
          <a:p>
            <a:pPr algn="r" rtl="1"/>
            <a:r>
              <a:rPr lang="fa-IR" b="1" dirty="0"/>
              <a:t>حفظ </a:t>
            </a:r>
            <a:r>
              <a:rPr lang="fa-IR" b="1" dirty="0" err="1"/>
              <a:t>وابستگی‌ها</a:t>
            </a:r>
            <a:r>
              <a:rPr lang="fa-IR" b="1" dirty="0"/>
              <a:t> (</a:t>
            </a:r>
            <a:r>
              <a:rPr lang="en-US" b="1" dirty="0"/>
              <a:t>Dependency preservation)</a:t>
            </a:r>
            <a:endParaRPr lang="en-US" dirty="0"/>
          </a:p>
          <a:p>
            <a:pPr algn="r" rtl="1"/>
            <a:r>
              <a:rPr lang="fa-IR" dirty="0"/>
              <a:t>اگر نتوانیم به این </a:t>
            </a:r>
            <a:r>
              <a:rPr lang="fa-IR" dirty="0" err="1"/>
              <a:t>هدف‌ها</a:t>
            </a:r>
            <a:r>
              <a:rPr lang="fa-IR" dirty="0"/>
              <a:t> برسیم، یکی از موارد زیر را </a:t>
            </a:r>
            <a:r>
              <a:rPr lang="fa-IR" dirty="0" err="1"/>
              <a:t>می‌پذیریم</a:t>
            </a:r>
            <a:r>
              <a:rPr lang="fa-IR" dirty="0"/>
              <a:t>:</a:t>
            </a:r>
          </a:p>
          <a:p>
            <a:pPr algn="r" rtl="1"/>
            <a:r>
              <a:rPr lang="fa-IR" dirty="0"/>
              <a:t>عدم </a:t>
            </a:r>
            <a:r>
              <a:rPr lang="fa-IR" b="1" dirty="0"/>
              <a:t>حفظ </a:t>
            </a:r>
            <a:r>
              <a:rPr lang="fa-IR" b="1" dirty="0" err="1"/>
              <a:t>وابستگی‌ها</a:t>
            </a:r>
            <a:endParaRPr lang="fa-IR" dirty="0"/>
          </a:p>
          <a:p>
            <a:pPr algn="r" rtl="1"/>
            <a:r>
              <a:rPr lang="fa-IR" b="1" dirty="0"/>
              <a:t>افزونگی</a:t>
            </a:r>
            <a:r>
              <a:rPr lang="fa-IR" dirty="0"/>
              <a:t> به دلیل استفاده از 3</a:t>
            </a:r>
            <a:r>
              <a:rPr lang="en-US" dirty="0"/>
              <a:t>NF</a:t>
            </a:r>
          </a:p>
          <a:p>
            <a:pPr algn="r" rtl="1"/>
            <a:r>
              <a:rPr lang="fa-IR" dirty="0"/>
              <a:t>جالب اینکه، </a:t>
            </a:r>
            <a:r>
              <a:rPr lang="en-US" dirty="0"/>
              <a:t>SQL </a:t>
            </a:r>
            <a:r>
              <a:rPr lang="fa-IR" dirty="0"/>
              <a:t>راه مستقیمی برای مشخص کردن </a:t>
            </a:r>
            <a:r>
              <a:rPr lang="fa-IR" dirty="0" err="1"/>
              <a:t>وابستگی‌های</a:t>
            </a:r>
            <a:r>
              <a:rPr lang="fa-IR" dirty="0"/>
              <a:t> </a:t>
            </a:r>
            <a:r>
              <a:rPr lang="fa-IR" dirty="0" err="1"/>
              <a:t>تابعی</a:t>
            </a:r>
            <a:r>
              <a:rPr lang="fa-IR" dirty="0"/>
              <a:t> جز </a:t>
            </a:r>
            <a:r>
              <a:rPr lang="fa-IR" b="1" dirty="0" err="1"/>
              <a:t>ابرکلیدها</a:t>
            </a:r>
            <a:r>
              <a:rPr lang="fa-IR" dirty="0"/>
              <a:t> ارائه </a:t>
            </a:r>
            <a:r>
              <a:rPr lang="fa-IR" dirty="0" err="1"/>
              <a:t>نمی‌دهد</a:t>
            </a:r>
            <a:r>
              <a:rPr lang="fa-IR" dirty="0"/>
              <a:t>.</a:t>
            </a:r>
          </a:p>
          <a:p>
            <a:pPr algn="r" rtl="1"/>
            <a:r>
              <a:rPr lang="fa-IR" dirty="0" err="1"/>
              <a:t>می‌توان</a:t>
            </a:r>
            <a:r>
              <a:rPr lang="fa-IR" dirty="0"/>
              <a:t> </a:t>
            </a:r>
            <a:r>
              <a:rPr lang="fa-IR" dirty="0" err="1"/>
              <a:t>وابستگی‌های</a:t>
            </a:r>
            <a:r>
              <a:rPr lang="fa-IR" dirty="0"/>
              <a:t> </a:t>
            </a:r>
            <a:r>
              <a:rPr lang="fa-IR" dirty="0" err="1"/>
              <a:t>تابعی</a:t>
            </a:r>
            <a:r>
              <a:rPr lang="fa-IR" dirty="0"/>
              <a:t> را با استفاده از </a:t>
            </a:r>
            <a:r>
              <a:rPr lang="en-US" b="1" dirty="0"/>
              <a:t>assertion</a:t>
            </a:r>
            <a:r>
              <a:rPr lang="en-US" dirty="0"/>
              <a:t> </a:t>
            </a:r>
            <a:r>
              <a:rPr lang="fa-IR" dirty="0"/>
              <a:t>مشخص کرد، اما بررسی </a:t>
            </a:r>
            <a:r>
              <a:rPr lang="fa-IR" dirty="0" err="1"/>
              <a:t>آن‌ها</a:t>
            </a:r>
            <a:r>
              <a:rPr lang="fa-IR" dirty="0"/>
              <a:t> </a:t>
            </a:r>
            <a:r>
              <a:rPr lang="fa-IR" b="1" dirty="0" err="1"/>
              <a:t>هزینه‌بر</a:t>
            </a:r>
            <a:r>
              <a:rPr lang="fa-IR" dirty="0"/>
              <a:t> است و در حال حاضر توسط هیچ یک از </a:t>
            </a:r>
            <a:r>
              <a:rPr lang="fa-IR" dirty="0" err="1"/>
              <a:t>پایگاه‌های</a:t>
            </a:r>
            <a:r>
              <a:rPr lang="fa-IR" dirty="0"/>
              <a:t> داده </a:t>
            </a:r>
            <a:r>
              <a:rPr lang="fa-IR" dirty="0" err="1"/>
              <a:t>پرکاربرد</a:t>
            </a:r>
            <a:r>
              <a:rPr lang="fa-IR" dirty="0"/>
              <a:t> پشتیبانی </a:t>
            </a:r>
            <a:r>
              <a:rPr lang="fa-IR" dirty="0" err="1"/>
              <a:t>نمی‌شود</a:t>
            </a:r>
            <a:r>
              <a:rPr lang="fa-IR" dirty="0"/>
              <a:t>!</a:t>
            </a:r>
          </a:p>
          <a:p>
            <a:pPr algn="r" rtl="1"/>
            <a:r>
              <a:rPr lang="fa-IR" dirty="0"/>
              <a:t>حتی اگر یک تجزیه </a:t>
            </a:r>
            <a:r>
              <a:rPr lang="fa-IR" b="1" dirty="0" err="1"/>
              <a:t>حفظ‌کننده</a:t>
            </a:r>
            <a:r>
              <a:rPr lang="fa-IR" b="1" dirty="0"/>
              <a:t> وابستگی</a:t>
            </a:r>
            <a:r>
              <a:rPr lang="fa-IR" dirty="0"/>
              <a:t> داشته باشیم، با استفاده از </a:t>
            </a:r>
            <a:r>
              <a:rPr lang="en-US" dirty="0"/>
              <a:t>SQL </a:t>
            </a:r>
            <a:r>
              <a:rPr lang="fa-IR" dirty="0" err="1"/>
              <a:t>نمی‌توانیم</a:t>
            </a:r>
            <a:r>
              <a:rPr lang="fa-IR" dirty="0"/>
              <a:t> </a:t>
            </a:r>
            <a:r>
              <a:rPr lang="fa-IR" dirty="0" err="1"/>
              <a:t>به‌طور</a:t>
            </a:r>
            <a:r>
              <a:rPr lang="fa-IR" dirty="0"/>
              <a:t> مؤثر یک وابستگی </a:t>
            </a:r>
            <a:r>
              <a:rPr lang="fa-IR" dirty="0" err="1"/>
              <a:t>تابعی</a:t>
            </a:r>
            <a:r>
              <a:rPr lang="fa-IR" dirty="0"/>
              <a:t> را که سمت چپ آن یک کلید نیست، بررسی کنیم.</a:t>
            </a:r>
          </a:p>
          <a:p>
            <a:pPr algn="r" rtl="1"/>
            <a:endParaRPr lang="en-US" alt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8195" name="Rectangle 3"/>
          <p:cNvSpPr>
            <a:spLocks noGrp="1" noChangeArrowheads="1"/>
          </p:cNvSpPr>
          <p:nvPr>
            <p:ph idx="1"/>
          </p:nvPr>
        </p:nvSpPr>
        <p:spPr>
          <a:xfrm>
            <a:off x="237995" y="2437878"/>
            <a:ext cx="8906005" cy="1257300"/>
          </a:xfrm>
        </p:spPr>
        <p:txBody>
          <a:bodyPr/>
          <a:lstStyle/>
          <a:p>
            <a:pPr algn="r" rtl="1">
              <a:buFont typeface="Monotype Sorts" charset="2"/>
              <a:buNone/>
              <a:defRPr/>
            </a:pPr>
            <a:r>
              <a:rPr lang="fa-IR" sz="3200" dirty="0" err="1"/>
              <a:t>وابستگی‌های</a:t>
            </a:r>
            <a:r>
              <a:rPr lang="fa-IR" sz="3200" dirty="0"/>
              <a:t> چند مقداری </a:t>
            </a:r>
            <a:r>
              <a:rPr lang="en-US" sz="3200" dirty="0"/>
              <a:t>(Multivalued Dependencies)</a:t>
            </a:r>
            <a:endParaRPr lang="en-US" altLang="en-US" sz="3200" b="1" dirty="0">
              <a:solidFill>
                <a:srgbClr val="002060"/>
              </a:solidFill>
              <a:effectLst>
                <a:outerShdw blurRad="38100" dist="38100" dir="2700000" algn="tl">
                  <a:srgbClr val="C0C0C0"/>
                </a:outerShdw>
              </a:effectLst>
              <a:latin typeface="+mj-lt"/>
              <a:ea typeface="ＭＳ Ｐゴシック" pitchFamily="34" charset="-128"/>
              <a:cs typeface="+mj-cs"/>
            </a:endParaRPr>
          </a:p>
        </p:txBody>
      </p:sp>
    </p:spTree>
  </p:cSld>
  <p:clrMapOvr>
    <a:masterClrMapping/>
  </p:clrMapOvr>
  <p:transition spd="slow"/>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44802" name="Rectangle 2"/>
          <p:cNvSpPr>
            <a:spLocks noGrp="1" noChangeArrowheads="1"/>
          </p:cNvSpPr>
          <p:nvPr>
            <p:ph type="title"/>
          </p:nvPr>
        </p:nvSpPr>
        <p:spPr/>
        <p:txBody>
          <a:bodyPr/>
          <a:lstStyle/>
          <a:p>
            <a:pPr>
              <a:defRPr/>
            </a:pPr>
            <a:r>
              <a:rPr lang="en-US" altLang="en-US" dirty="0">
                <a:effectLst>
                  <a:outerShdw blurRad="38100" dist="38100" dir="2700000" algn="tl">
                    <a:srgbClr val="C0C0C0"/>
                  </a:outerShdw>
                </a:effectLst>
                <a:ea typeface="ＭＳ Ｐゴシック" pitchFamily="34" charset="-128"/>
              </a:rPr>
              <a:t>Multivalued Dependencies (MVDs)</a:t>
            </a:r>
          </a:p>
        </p:txBody>
      </p:sp>
      <p:sp>
        <p:nvSpPr>
          <p:cNvPr id="80899" name="Rectangle 3"/>
          <p:cNvSpPr>
            <a:spLocks noGrp="1" noChangeArrowheads="1"/>
          </p:cNvSpPr>
          <p:nvPr>
            <p:ph idx="1"/>
          </p:nvPr>
        </p:nvSpPr>
        <p:spPr>
          <a:xfrm>
            <a:off x="768351" y="1093789"/>
            <a:ext cx="7585536" cy="4103854"/>
          </a:xfrm>
        </p:spPr>
        <p:txBody>
          <a:bodyPr/>
          <a:lstStyle/>
          <a:p>
            <a:pPr algn="r" rtl="1"/>
            <a:r>
              <a:rPr lang="fa-IR" dirty="0"/>
              <a:t>فرض کنید نام فرزندان و شماره تلفن اساتید را ثبت </a:t>
            </a:r>
            <a:r>
              <a:rPr lang="fa-IR" dirty="0" err="1"/>
              <a:t>می‌کنیم</a:t>
            </a:r>
            <a:r>
              <a:rPr lang="fa-IR" dirty="0"/>
              <a:t>:</a:t>
            </a:r>
          </a:p>
          <a:p>
            <a:pPr algn="r" rtl="1"/>
            <a:r>
              <a:rPr lang="en-US" dirty="0" err="1"/>
              <a:t>inst_child</a:t>
            </a:r>
            <a:r>
              <a:rPr lang="en-US" dirty="0"/>
              <a:t>(ID, </a:t>
            </a:r>
            <a:r>
              <a:rPr lang="en-US" dirty="0" err="1"/>
              <a:t>child_name</a:t>
            </a:r>
            <a:r>
              <a:rPr lang="en-US" dirty="0"/>
              <a:t>)</a:t>
            </a:r>
          </a:p>
          <a:p>
            <a:pPr algn="r" rtl="1"/>
            <a:r>
              <a:rPr lang="en-US" dirty="0" err="1"/>
              <a:t>inst_phone</a:t>
            </a:r>
            <a:r>
              <a:rPr lang="en-US" dirty="0"/>
              <a:t>(ID, </a:t>
            </a:r>
            <a:r>
              <a:rPr lang="en-US" dirty="0" err="1"/>
              <a:t>phone_number</a:t>
            </a:r>
            <a:r>
              <a:rPr lang="en-US" dirty="0"/>
              <a:t>)</a:t>
            </a:r>
          </a:p>
          <a:p>
            <a:pPr algn="r" rtl="1"/>
            <a:r>
              <a:rPr lang="fa-IR" dirty="0"/>
              <a:t>اگر این دو طرح </a:t>
            </a:r>
            <a:r>
              <a:rPr lang="fa-IR" dirty="0" err="1"/>
              <a:t>رابطه‌ای</a:t>
            </a:r>
            <a:r>
              <a:rPr lang="fa-IR" dirty="0"/>
              <a:t> را ترکیب کنیم تا داشته باشیم:</a:t>
            </a:r>
          </a:p>
          <a:p>
            <a:pPr algn="r" rtl="1"/>
            <a:r>
              <a:rPr lang="en-US" dirty="0" err="1"/>
              <a:t>inst_info</a:t>
            </a:r>
            <a:r>
              <a:rPr lang="en-US" dirty="0"/>
              <a:t>(ID, </a:t>
            </a:r>
            <a:r>
              <a:rPr lang="en-US" dirty="0" err="1"/>
              <a:t>child_name</a:t>
            </a:r>
            <a:r>
              <a:rPr lang="en-US" dirty="0"/>
              <a:t>, </a:t>
            </a:r>
            <a:r>
              <a:rPr lang="en-US" dirty="0" err="1"/>
              <a:t>phone_number</a:t>
            </a:r>
            <a:r>
              <a:rPr lang="en-US" dirty="0"/>
              <a:t>)</a:t>
            </a:r>
          </a:p>
          <a:p>
            <a:pPr algn="r" rtl="1"/>
            <a:r>
              <a:rPr lang="fa-IR" dirty="0"/>
              <a:t>نمونه </a:t>
            </a:r>
            <a:r>
              <a:rPr lang="fa-IR" dirty="0" err="1"/>
              <a:t>داده‌ها</a:t>
            </a:r>
            <a:r>
              <a:rPr lang="fa-IR" dirty="0"/>
              <a:t>:</a:t>
            </a:r>
          </a:p>
          <a:p>
            <a:pPr algn="r" rtl="1"/>
            <a:r>
              <a:rPr lang="fa-IR" dirty="0"/>
              <a:t>(99999, </a:t>
            </a:r>
            <a:r>
              <a:rPr lang="en-US" dirty="0"/>
              <a:t>David, 512-555-1234)</a:t>
            </a:r>
          </a:p>
          <a:p>
            <a:pPr algn="r" rtl="1"/>
            <a:r>
              <a:rPr lang="en-US" dirty="0"/>
              <a:t>(99999, David, 512-555-4321)</a:t>
            </a:r>
          </a:p>
          <a:p>
            <a:pPr algn="r" rtl="1"/>
            <a:r>
              <a:rPr lang="en-US" dirty="0"/>
              <a:t>(99999, William, 512-555-1234)</a:t>
            </a:r>
          </a:p>
          <a:p>
            <a:pPr algn="r" rtl="1"/>
            <a:r>
              <a:rPr lang="en-US" dirty="0"/>
              <a:t>(99999, William, 512-555-4321)</a:t>
            </a:r>
          </a:p>
          <a:p>
            <a:pPr algn="r" rtl="1"/>
            <a:r>
              <a:rPr lang="fa-IR" dirty="0"/>
              <a:t>این رابطه در </a:t>
            </a:r>
            <a:r>
              <a:rPr lang="en-US" b="1" dirty="0"/>
              <a:t>BCNF</a:t>
            </a:r>
            <a:r>
              <a:rPr lang="en-US" dirty="0"/>
              <a:t> </a:t>
            </a:r>
            <a:r>
              <a:rPr lang="fa-IR" dirty="0"/>
              <a:t>است.</a:t>
            </a:r>
          </a:p>
          <a:p>
            <a:pPr algn="r" rtl="1"/>
            <a:r>
              <a:rPr lang="fa-IR" b="1" dirty="0"/>
              <a:t>چرا؟</a:t>
            </a:r>
            <a:endParaRPr lang="fa-IR" dirty="0"/>
          </a:p>
          <a:p>
            <a:pPr algn="r" rtl="1"/>
            <a:endParaRPr lang="en-US" alt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66978" name="Rectangle 2"/>
          <p:cNvSpPr>
            <a:spLocks noGrp="1" noChangeArrowheads="1"/>
          </p:cNvSpPr>
          <p:nvPr>
            <p:ph type="title"/>
          </p:nvPr>
        </p:nvSpPr>
        <p:spPr/>
        <p:txBody>
          <a:bodyPr/>
          <a:lstStyle/>
          <a:p>
            <a:pPr>
              <a:defRPr/>
            </a:pPr>
            <a:r>
              <a:rPr lang="en-US" altLang="en-US" dirty="0">
                <a:effectLst>
                  <a:outerShdw blurRad="38100" dist="38100" dir="2700000" algn="tl">
                    <a:srgbClr val="C0C0C0"/>
                  </a:outerShdw>
                </a:effectLst>
                <a:ea typeface="ＭＳ Ｐゴシック" pitchFamily="34" charset="-128"/>
              </a:rPr>
              <a:t>Multivalued Dependencies</a:t>
            </a:r>
          </a:p>
        </p:txBody>
      </p:sp>
      <mc:AlternateContent xmlns:mc="http://schemas.openxmlformats.org/markup-compatibility/2006" xmlns:a14="http://schemas.microsoft.com/office/drawing/2010/main">
        <mc:Choice Requires="a14">
          <p:sp>
            <p:nvSpPr>
              <p:cNvPr id="81923" name="Rectangle 3"/>
              <p:cNvSpPr>
                <a:spLocks noGrp="1" noChangeArrowheads="1"/>
              </p:cNvSpPr>
              <p:nvPr>
                <p:ph idx="1"/>
              </p:nvPr>
            </p:nvSpPr>
            <p:spPr>
              <a:xfrm>
                <a:off x="768350" y="1182688"/>
                <a:ext cx="8077200" cy="3184775"/>
              </a:xfrm>
            </p:spPr>
            <p:txBody>
              <a:bodyPr/>
              <a:lstStyle/>
              <a:p>
                <a:pPr algn="r" rtl="1"/>
                <a:r>
                  <a:rPr lang="fa-IR" dirty="0"/>
                  <a:t>فرض کنید </a:t>
                </a:r>
                <a14:m>
                  <m:oMath xmlns:m="http://schemas.openxmlformats.org/officeDocument/2006/math">
                    <m:r>
                      <a:rPr lang="fa-IR" i="1">
                        <a:latin typeface="Cambria Math" panose="02040503050406030204" pitchFamily="18" charset="0"/>
                      </a:rPr>
                      <m:t>𝑅</m:t>
                    </m:r>
                  </m:oMath>
                </a14:m>
                <a:r>
                  <a:rPr lang="fa-IR" dirty="0"/>
                  <a:t>یک طرح </a:t>
                </a:r>
                <a:r>
                  <a:rPr lang="fa-IR" dirty="0" err="1"/>
                  <a:t>رابطه‌ای</a:t>
                </a:r>
                <a:r>
                  <a:rPr lang="fa-IR" dirty="0"/>
                  <a:t> باشد و </a:t>
                </a:r>
                <a14:m>
                  <m:oMath xmlns:m="http://schemas.openxmlformats.org/officeDocument/2006/math">
                    <m:r>
                      <a:rPr lang="fa-IR" i="1">
                        <a:latin typeface="Cambria Math" panose="02040503050406030204" pitchFamily="18" charset="0"/>
                      </a:rPr>
                      <m:t>𝛼</m:t>
                    </m:r>
                    <m:r>
                      <a:rPr lang="fa-IR">
                        <a:latin typeface="Cambria Math" panose="02040503050406030204" pitchFamily="18" charset="0"/>
                      </a:rPr>
                      <m:t>⊆</m:t>
                    </m:r>
                    <m:r>
                      <a:rPr lang="fa-IR" i="1">
                        <a:latin typeface="Cambria Math" panose="02040503050406030204" pitchFamily="18" charset="0"/>
                      </a:rPr>
                      <m:t>𝑅</m:t>
                    </m:r>
                  </m:oMath>
                </a14:m>
                <a:r>
                  <a:rPr lang="fa-IR" dirty="0"/>
                  <a:t>و </a:t>
                </a:r>
                <a14:m>
                  <m:oMath xmlns:m="http://schemas.openxmlformats.org/officeDocument/2006/math">
                    <m:r>
                      <a:rPr lang="fa-IR" i="1">
                        <a:latin typeface="Cambria Math" panose="02040503050406030204" pitchFamily="18" charset="0"/>
                      </a:rPr>
                      <m:t>𝛽</m:t>
                    </m:r>
                    <m:r>
                      <a:rPr lang="fa-IR">
                        <a:latin typeface="Cambria Math" panose="02040503050406030204" pitchFamily="18" charset="0"/>
                      </a:rPr>
                      <m:t>⊆</m:t>
                    </m:r>
                    <m:r>
                      <a:rPr lang="fa-IR" i="1">
                        <a:latin typeface="Cambria Math" panose="02040503050406030204" pitchFamily="18" charset="0"/>
                      </a:rPr>
                      <m:t>𝑅</m:t>
                    </m:r>
                  </m:oMath>
                </a14:m>
                <a:r>
                  <a:rPr lang="fa-IR" dirty="0"/>
                  <a:t>.</a:t>
                </a:r>
              </a:p>
              <a:p>
                <a:pPr algn="r" rtl="1"/>
                <a:r>
                  <a:rPr lang="fa-IR" dirty="0"/>
                  <a:t>وابستگی </a:t>
                </a:r>
                <a:r>
                  <a:rPr lang="fa-IR" dirty="0" err="1"/>
                  <a:t>چندمقداری</a:t>
                </a:r>
                <a:r>
                  <a:rPr lang="fa-IR" dirty="0"/>
                  <a:t> </a:t>
                </a:r>
                <a:r>
                  <a:rPr lang="en-US" dirty="0"/>
                  <a:t>(Multivalued Dependency) </a:t>
                </a:r>
              </a:p>
              <a:p>
                <a:pPr algn="r" rtl="1"/>
                <a14:m>
                  <m:oMath xmlns:m="http://schemas.openxmlformats.org/officeDocument/2006/math">
                    <m:r>
                      <a:rPr lang="en-US" i="1">
                        <a:latin typeface="Cambria Math" panose="02040503050406030204" pitchFamily="18" charset="0"/>
                      </a:rPr>
                      <m:t>𝛼</m:t>
                    </m:r>
                    <m:r>
                      <a:rPr lang="en-US">
                        <a:latin typeface="Cambria Math" panose="02040503050406030204" pitchFamily="18" charset="0"/>
                      </a:rPr>
                      <m:t>↠</m:t>
                    </m:r>
                    <m:r>
                      <a:rPr lang="en-US" i="1">
                        <a:latin typeface="Cambria Math" panose="02040503050406030204" pitchFamily="18" charset="0"/>
                      </a:rPr>
                      <m:t>𝛽</m:t>
                    </m:r>
                  </m:oMath>
                </a14:m>
                <a:endParaRPr lang="en-US" dirty="0"/>
              </a:p>
              <a:p>
                <a:pPr algn="r" rtl="1"/>
                <a:r>
                  <a:rPr lang="fa-IR" dirty="0"/>
                  <a:t>روی </a:t>
                </a:r>
                <a14:m>
                  <m:oMath xmlns:m="http://schemas.openxmlformats.org/officeDocument/2006/math">
                    <m:r>
                      <a:rPr lang="fa-IR" i="1">
                        <a:latin typeface="Cambria Math" panose="02040503050406030204" pitchFamily="18" charset="0"/>
                      </a:rPr>
                      <m:t>𝑅</m:t>
                    </m:r>
                  </m:oMath>
                </a14:m>
                <a:r>
                  <a:rPr lang="fa-IR" dirty="0"/>
                  <a:t>برقرار است اگر در هر رابطه قانونی </a:t>
                </a:r>
                <a14:m>
                  <m:oMath xmlns:m="http://schemas.openxmlformats.org/officeDocument/2006/math">
                    <m:r>
                      <a:rPr lang="fa-IR" i="1">
                        <a:latin typeface="Cambria Math" panose="02040503050406030204" pitchFamily="18" charset="0"/>
                      </a:rPr>
                      <m:t>𝑟</m:t>
                    </m:r>
                    <m:d>
                      <m:dPr>
                        <m:ctrlPr>
                          <a:rPr lang="fa-IR" i="1">
                            <a:latin typeface="Cambria Math" panose="02040503050406030204" pitchFamily="18" charset="0"/>
                          </a:rPr>
                        </m:ctrlPr>
                      </m:dPr>
                      <m:e>
                        <m:r>
                          <a:rPr lang="fa-IR" i="1">
                            <a:latin typeface="Cambria Math" panose="02040503050406030204" pitchFamily="18" charset="0"/>
                          </a:rPr>
                          <m:t>𝑅</m:t>
                        </m:r>
                      </m:e>
                    </m:d>
                  </m:oMath>
                </a14:m>
                <a:r>
                  <a:rPr lang="fa-IR" dirty="0"/>
                  <a:t>، برای تمام </a:t>
                </a:r>
                <a:r>
                  <a:rPr lang="fa-IR" dirty="0" err="1"/>
                  <a:t>جفت‌های</a:t>
                </a:r>
                <a:r>
                  <a:rPr lang="fa-IR" dirty="0"/>
                  <a:t> </a:t>
                </a:r>
                <a:r>
                  <a:rPr lang="fa-IR" dirty="0" err="1"/>
                  <a:t>تاپل</a:t>
                </a:r>
                <a:r>
                  <a:rPr lang="fa-IR" dirty="0"/>
                  <a:t> </a:t>
                </a:r>
                <a14:m>
                  <m:oMath xmlns:m="http://schemas.openxmlformats.org/officeDocument/2006/math">
                    <m:sSub>
                      <m:sSubPr>
                        <m:ctrlPr>
                          <a:rPr lang="fa-IR" i="1">
                            <a:latin typeface="Cambria Math" panose="02040503050406030204" pitchFamily="18" charset="0"/>
                          </a:rPr>
                        </m:ctrlPr>
                      </m:sSubPr>
                      <m:e>
                        <m:r>
                          <a:rPr lang="fa-IR" i="1">
                            <a:latin typeface="Cambria Math" panose="02040503050406030204" pitchFamily="18" charset="0"/>
                          </a:rPr>
                          <m:t>𝑡</m:t>
                        </m:r>
                      </m:e>
                      <m:sub>
                        <m:r>
                          <a:rPr lang="fa-IR">
                            <a:latin typeface="Cambria Math" panose="02040503050406030204" pitchFamily="18" charset="0"/>
                          </a:rPr>
                          <m:t>1</m:t>
                        </m:r>
                      </m:sub>
                    </m:sSub>
                  </m:oMath>
                </a14:m>
                <a:r>
                  <a:rPr lang="fa-IR" dirty="0"/>
                  <a:t>و </a:t>
                </a:r>
                <a14:m>
                  <m:oMath xmlns:m="http://schemas.openxmlformats.org/officeDocument/2006/math">
                    <m:sSub>
                      <m:sSubPr>
                        <m:ctrlPr>
                          <a:rPr lang="fa-IR" i="1">
                            <a:latin typeface="Cambria Math" panose="02040503050406030204" pitchFamily="18" charset="0"/>
                          </a:rPr>
                        </m:ctrlPr>
                      </m:sSubPr>
                      <m:e>
                        <m:r>
                          <a:rPr lang="fa-IR" i="1">
                            <a:latin typeface="Cambria Math" panose="02040503050406030204" pitchFamily="18" charset="0"/>
                          </a:rPr>
                          <m:t>𝑡</m:t>
                        </m:r>
                      </m:e>
                      <m:sub>
                        <m:r>
                          <a:rPr lang="fa-IR">
                            <a:latin typeface="Cambria Math" panose="02040503050406030204" pitchFamily="18" charset="0"/>
                          </a:rPr>
                          <m:t>2</m:t>
                        </m:r>
                      </m:sub>
                    </m:sSub>
                  </m:oMath>
                </a14:m>
                <a:r>
                  <a:rPr lang="fa-IR" dirty="0"/>
                  <a:t>در </a:t>
                </a:r>
                <a14:m>
                  <m:oMath xmlns:m="http://schemas.openxmlformats.org/officeDocument/2006/math">
                    <m:r>
                      <a:rPr lang="fa-IR" i="1">
                        <a:latin typeface="Cambria Math" panose="02040503050406030204" pitchFamily="18" charset="0"/>
                      </a:rPr>
                      <m:t>𝑟</m:t>
                    </m:r>
                  </m:oMath>
                </a14:m>
                <a:r>
                  <a:rPr lang="fa-IR" dirty="0"/>
                  <a:t>به </a:t>
                </a:r>
                <a:r>
                  <a:rPr lang="fa-IR" dirty="0" err="1"/>
                  <a:t>گونه‌ای</a:t>
                </a:r>
                <a:r>
                  <a:rPr lang="fa-IR" dirty="0"/>
                  <a:t> که </a:t>
                </a:r>
                <a14:m>
                  <m:oMath xmlns:m="http://schemas.openxmlformats.org/officeDocument/2006/math">
                    <m:sSub>
                      <m:sSubPr>
                        <m:ctrlPr>
                          <a:rPr lang="fa-IR" i="1">
                            <a:latin typeface="Cambria Math" panose="02040503050406030204" pitchFamily="18" charset="0"/>
                          </a:rPr>
                        </m:ctrlPr>
                      </m:sSubPr>
                      <m:e>
                        <m:r>
                          <a:rPr lang="fa-IR" i="1">
                            <a:latin typeface="Cambria Math" panose="02040503050406030204" pitchFamily="18" charset="0"/>
                          </a:rPr>
                          <m:t>𝑡</m:t>
                        </m:r>
                      </m:e>
                      <m:sub>
                        <m:r>
                          <a:rPr lang="fa-IR">
                            <a:latin typeface="Cambria Math" panose="02040503050406030204" pitchFamily="18" charset="0"/>
                          </a:rPr>
                          <m:t>1</m:t>
                        </m:r>
                      </m:sub>
                    </m:sSub>
                    <m:d>
                      <m:dPr>
                        <m:begChr m:val="["/>
                        <m:endChr m:val="]"/>
                        <m:ctrlPr>
                          <a:rPr lang="fa-IR" i="1">
                            <a:latin typeface="Cambria Math" panose="02040503050406030204" pitchFamily="18" charset="0"/>
                          </a:rPr>
                        </m:ctrlPr>
                      </m:dPr>
                      <m:e>
                        <m:r>
                          <a:rPr lang="fa-IR" i="1">
                            <a:latin typeface="Cambria Math" panose="02040503050406030204" pitchFamily="18" charset="0"/>
                          </a:rPr>
                          <m:t>𝛼</m:t>
                        </m:r>
                      </m:e>
                    </m:d>
                    <m:r>
                      <a:rPr lang="fa-IR">
                        <a:latin typeface="Cambria Math" panose="02040503050406030204" pitchFamily="18" charset="0"/>
                      </a:rPr>
                      <m:t>=</m:t>
                    </m:r>
                    <m:sSub>
                      <m:sSubPr>
                        <m:ctrlPr>
                          <a:rPr lang="fa-IR" i="1">
                            <a:latin typeface="Cambria Math" panose="02040503050406030204" pitchFamily="18" charset="0"/>
                          </a:rPr>
                        </m:ctrlPr>
                      </m:sSubPr>
                      <m:e>
                        <m:r>
                          <a:rPr lang="fa-IR" i="1">
                            <a:latin typeface="Cambria Math" panose="02040503050406030204" pitchFamily="18" charset="0"/>
                          </a:rPr>
                          <m:t>𝑡</m:t>
                        </m:r>
                      </m:e>
                      <m:sub>
                        <m:r>
                          <a:rPr lang="fa-IR">
                            <a:latin typeface="Cambria Math" panose="02040503050406030204" pitchFamily="18" charset="0"/>
                          </a:rPr>
                          <m:t>2</m:t>
                        </m:r>
                      </m:sub>
                    </m:sSub>
                    <m:d>
                      <m:dPr>
                        <m:begChr m:val="["/>
                        <m:endChr m:val="]"/>
                        <m:ctrlPr>
                          <a:rPr lang="fa-IR" i="1">
                            <a:latin typeface="Cambria Math" panose="02040503050406030204" pitchFamily="18" charset="0"/>
                          </a:rPr>
                        </m:ctrlPr>
                      </m:dPr>
                      <m:e>
                        <m:r>
                          <a:rPr lang="fa-IR" i="1">
                            <a:latin typeface="Cambria Math" panose="02040503050406030204" pitchFamily="18" charset="0"/>
                          </a:rPr>
                          <m:t>𝛼</m:t>
                        </m:r>
                      </m:e>
                    </m:d>
                  </m:oMath>
                </a14:m>
                <a:r>
                  <a:rPr lang="fa-IR" dirty="0"/>
                  <a:t>، </a:t>
                </a:r>
                <a:r>
                  <a:rPr lang="fa-IR" dirty="0" err="1"/>
                  <a:t>تاپل‌های</a:t>
                </a:r>
                <a:r>
                  <a:rPr lang="fa-IR" dirty="0"/>
                  <a:t> </a:t>
                </a:r>
                <a14:m>
                  <m:oMath xmlns:m="http://schemas.openxmlformats.org/officeDocument/2006/math">
                    <m:sSub>
                      <m:sSubPr>
                        <m:ctrlPr>
                          <a:rPr lang="fa-IR" i="1">
                            <a:latin typeface="Cambria Math" panose="02040503050406030204" pitchFamily="18" charset="0"/>
                          </a:rPr>
                        </m:ctrlPr>
                      </m:sSubPr>
                      <m:e>
                        <m:r>
                          <a:rPr lang="fa-IR" i="1">
                            <a:latin typeface="Cambria Math" panose="02040503050406030204" pitchFamily="18" charset="0"/>
                          </a:rPr>
                          <m:t>𝑡</m:t>
                        </m:r>
                      </m:e>
                      <m:sub>
                        <m:r>
                          <a:rPr lang="fa-IR">
                            <a:latin typeface="Cambria Math" panose="02040503050406030204" pitchFamily="18" charset="0"/>
                          </a:rPr>
                          <m:t>3</m:t>
                        </m:r>
                      </m:sub>
                    </m:sSub>
                  </m:oMath>
                </a14:m>
                <a:r>
                  <a:rPr lang="fa-IR" dirty="0"/>
                  <a:t>و </a:t>
                </a:r>
                <a14:m>
                  <m:oMath xmlns:m="http://schemas.openxmlformats.org/officeDocument/2006/math">
                    <m:sSub>
                      <m:sSubPr>
                        <m:ctrlPr>
                          <a:rPr lang="fa-IR" i="1">
                            <a:latin typeface="Cambria Math" panose="02040503050406030204" pitchFamily="18" charset="0"/>
                          </a:rPr>
                        </m:ctrlPr>
                      </m:sSubPr>
                      <m:e>
                        <m:r>
                          <a:rPr lang="fa-IR" i="1">
                            <a:latin typeface="Cambria Math" panose="02040503050406030204" pitchFamily="18" charset="0"/>
                          </a:rPr>
                          <m:t>𝑡</m:t>
                        </m:r>
                      </m:e>
                      <m:sub>
                        <m:r>
                          <a:rPr lang="fa-IR">
                            <a:latin typeface="Cambria Math" panose="02040503050406030204" pitchFamily="18" charset="0"/>
                          </a:rPr>
                          <m:t>4</m:t>
                        </m:r>
                      </m:sub>
                    </m:sSub>
                  </m:oMath>
                </a14:m>
                <a:r>
                  <a:rPr lang="fa-IR" dirty="0"/>
                  <a:t>در </a:t>
                </a:r>
                <a14:m>
                  <m:oMath xmlns:m="http://schemas.openxmlformats.org/officeDocument/2006/math">
                    <m:r>
                      <a:rPr lang="fa-IR" i="1">
                        <a:latin typeface="Cambria Math" panose="02040503050406030204" pitchFamily="18" charset="0"/>
                      </a:rPr>
                      <m:t>𝑟</m:t>
                    </m:r>
                  </m:oMath>
                </a14:m>
                <a:r>
                  <a:rPr lang="fa-IR" dirty="0"/>
                  <a:t>وجود داشته باشند به طوری که:</a:t>
                </a:r>
              </a:p>
              <a:p>
                <a:pPr algn="r" rtl="1"/>
                <a14:m>
                  <m:oMath xmlns:m="http://schemas.openxmlformats.org/officeDocument/2006/math">
                    <m:sSub>
                      <m:sSubPr>
                        <m:ctrlPr>
                          <a:rPr lang="fa-IR" i="1">
                            <a:latin typeface="Cambria Math" panose="02040503050406030204" pitchFamily="18" charset="0"/>
                          </a:rPr>
                        </m:ctrlPr>
                      </m:sSubPr>
                      <m:e>
                        <m:r>
                          <a:rPr lang="fa-IR" i="1">
                            <a:latin typeface="Cambria Math" panose="02040503050406030204" pitchFamily="18" charset="0"/>
                          </a:rPr>
                          <m:t>𝑡</m:t>
                        </m:r>
                      </m:e>
                      <m:sub>
                        <m:r>
                          <a:rPr lang="fa-IR">
                            <a:latin typeface="Cambria Math" panose="02040503050406030204" pitchFamily="18" charset="0"/>
                          </a:rPr>
                          <m:t>1</m:t>
                        </m:r>
                      </m:sub>
                    </m:sSub>
                    <m:d>
                      <m:dPr>
                        <m:begChr m:val="["/>
                        <m:endChr m:val="]"/>
                        <m:ctrlPr>
                          <a:rPr lang="fa-IR" i="1">
                            <a:latin typeface="Cambria Math" panose="02040503050406030204" pitchFamily="18" charset="0"/>
                          </a:rPr>
                        </m:ctrlPr>
                      </m:dPr>
                      <m:e>
                        <m:r>
                          <a:rPr lang="fa-IR" i="1">
                            <a:latin typeface="Cambria Math" panose="02040503050406030204" pitchFamily="18" charset="0"/>
                          </a:rPr>
                          <m:t>𝛼</m:t>
                        </m:r>
                      </m:e>
                    </m:d>
                    <m:r>
                      <a:rPr lang="fa-IR">
                        <a:latin typeface="Cambria Math" panose="02040503050406030204" pitchFamily="18" charset="0"/>
                      </a:rPr>
                      <m:t>=</m:t>
                    </m:r>
                    <m:sSub>
                      <m:sSubPr>
                        <m:ctrlPr>
                          <a:rPr lang="fa-IR" i="1">
                            <a:latin typeface="Cambria Math" panose="02040503050406030204" pitchFamily="18" charset="0"/>
                          </a:rPr>
                        </m:ctrlPr>
                      </m:sSubPr>
                      <m:e>
                        <m:r>
                          <a:rPr lang="fa-IR" i="1">
                            <a:latin typeface="Cambria Math" panose="02040503050406030204" pitchFamily="18" charset="0"/>
                          </a:rPr>
                          <m:t>𝑡</m:t>
                        </m:r>
                      </m:e>
                      <m:sub>
                        <m:r>
                          <a:rPr lang="fa-IR">
                            <a:latin typeface="Cambria Math" panose="02040503050406030204" pitchFamily="18" charset="0"/>
                          </a:rPr>
                          <m:t>2</m:t>
                        </m:r>
                      </m:sub>
                    </m:sSub>
                    <m:d>
                      <m:dPr>
                        <m:begChr m:val="["/>
                        <m:endChr m:val="]"/>
                        <m:ctrlPr>
                          <a:rPr lang="fa-IR" i="1">
                            <a:latin typeface="Cambria Math" panose="02040503050406030204" pitchFamily="18" charset="0"/>
                          </a:rPr>
                        </m:ctrlPr>
                      </m:dPr>
                      <m:e>
                        <m:r>
                          <a:rPr lang="fa-IR" i="1">
                            <a:latin typeface="Cambria Math" panose="02040503050406030204" pitchFamily="18" charset="0"/>
                          </a:rPr>
                          <m:t>𝛼</m:t>
                        </m:r>
                      </m:e>
                    </m:d>
                    <m:r>
                      <a:rPr lang="fa-IR">
                        <a:latin typeface="Cambria Math" panose="02040503050406030204" pitchFamily="18" charset="0"/>
                      </a:rPr>
                      <m:t>=</m:t>
                    </m:r>
                    <m:sSub>
                      <m:sSubPr>
                        <m:ctrlPr>
                          <a:rPr lang="fa-IR" i="1">
                            <a:latin typeface="Cambria Math" panose="02040503050406030204" pitchFamily="18" charset="0"/>
                          </a:rPr>
                        </m:ctrlPr>
                      </m:sSubPr>
                      <m:e>
                        <m:r>
                          <a:rPr lang="fa-IR" i="1">
                            <a:latin typeface="Cambria Math" panose="02040503050406030204" pitchFamily="18" charset="0"/>
                          </a:rPr>
                          <m:t>𝑡</m:t>
                        </m:r>
                      </m:e>
                      <m:sub>
                        <m:r>
                          <a:rPr lang="fa-IR">
                            <a:latin typeface="Cambria Math" panose="02040503050406030204" pitchFamily="18" charset="0"/>
                          </a:rPr>
                          <m:t>3</m:t>
                        </m:r>
                      </m:sub>
                    </m:sSub>
                    <m:d>
                      <m:dPr>
                        <m:begChr m:val="["/>
                        <m:endChr m:val="]"/>
                        <m:ctrlPr>
                          <a:rPr lang="fa-IR" i="1">
                            <a:latin typeface="Cambria Math" panose="02040503050406030204" pitchFamily="18" charset="0"/>
                          </a:rPr>
                        </m:ctrlPr>
                      </m:dPr>
                      <m:e>
                        <m:r>
                          <a:rPr lang="fa-IR" i="1">
                            <a:latin typeface="Cambria Math" panose="02040503050406030204" pitchFamily="18" charset="0"/>
                          </a:rPr>
                          <m:t>𝛼</m:t>
                        </m:r>
                      </m:e>
                    </m:d>
                    <m:r>
                      <a:rPr lang="fa-IR">
                        <a:latin typeface="Cambria Math" panose="02040503050406030204" pitchFamily="18" charset="0"/>
                      </a:rPr>
                      <m:t>=</m:t>
                    </m:r>
                    <m:sSub>
                      <m:sSubPr>
                        <m:ctrlPr>
                          <a:rPr lang="fa-IR" i="1">
                            <a:latin typeface="Cambria Math" panose="02040503050406030204" pitchFamily="18" charset="0"/>
                          </a:rPr>
                        </m:ctrlPr>
                      </m:sSubPr>
                      <m:e>
                        <m:r>
                          <a:rPr lang="fa-IR" i="1">
                            <a:latin typeface="Cambria Math" panose="02040503050406030204" pitchFamily="18" charset="0"/>
                          </a:rPr>
                          <m:t>𝑡</m:t>
                        </m:r>
                      </m:e>
                      <m:sub>
                        <m:r>
                          <a:rPr lang="fa-IR">
                            <a:latin typeface="Cambria Math" panose="02040503050406030204" pitchFamily="18" charset="0"/>
                          </a:rPr>
                          <m:t>4</m:t>
                        </m:r>
                      </m:sub>
                    </m:sSub>
                    <m:d>
                      <m:dPr>
                        <m:begChr m:val="["/>
                        <m:endChr m:val="]"/>
                        <m:ctrlPr>
                          <a:rPr lang="fa-IR" i="1">
                            <a:latin typeface="Cambria Math" panose="02040503050406030204" pitchFamily="18" charset="0"/>
                          </a:rPr>
                        </m:ctrlPr>
                      </m:dPr>
                      <m:e>
                        <m:r>
                          <a:rPr lang="fa-IR" i="1">
                            <a:latin typeface="Cambria Math" panose="02040503050406030204" pitchFamily="18" charset="0"/>
                          </a:rPr>
                          <m:t>𝛼</m:t>
                        </m:r>
                      </m:e>
                    </m:d>
                  </m:oMath>
                </a14:m>
                <a:endParaRPr lang="fa-IR" dirty="0"/>
              </a:p>
              <a:p>
                <a:pPr algn="r" rtl="1"/>
                <a14:m>
                  <m:oMath xmlns:m="http://schemas.openxmlformats.org/officeDocument/2006/math">
                    <m:sSub>
                      <m:sSubPr>
                        <m:ctrlPr>
                          <a:rPr lang="fa-IR" i="1">
                            <a:latin typeface="Cambria Math" panose="02040503050406030204" pitchFamily="18" charset="0"/>
                          </a:rPr>
                        </m:ctrlPr>
                      </m:sSubPr>
                      <m:e>
                        <m:r>
                          <a:rPr lang="fa-IR" i="1">
                            <a:latin typeface="Cambria Math" panose="02040503050406030204" pitchFamily="18" charset="0"/>
                          </a:rPr>
                          <m:t>𝑡</m:t>
                        </m:r>
                      </m:e>
                      <m:sub>
                        <m:r>
                          <a:rPr lang="fa-IR">
                            <a:latin typeface="Cambria Math" panose="02040503050406030204" pitchFamily="18" charset="0"/>
                          </a:rPr>
                          <m:t>3</m:t>
                        </m:r>
                      </m:sub>
                    </m:sSub>
                    <m:d>
                      <m:dPr>
                        <m:begChr m:val="["/>
                        <m:endChr m:val="]"/>
                        <m:ctrlPr>
                          <a:rPr lang="fa-IR" i="1">
                            <a:latin typeface="Cambria Math" panose="02040503050406030204" pitchFamily="18" charset="0"/>
                          </a:rPr>
                        </m:ctrlPr>
                      </m:dPr>
                      <m:e>
                        <m:r>
                          <a:rPr lang="fa-IR" i="1">
                            <a:latin typeface="Cambria Math" panose="02040503050406030204" pitchFamily="18" charset="0"/>
                          </a:rPr>
                          <m:t>𝛽</m:t>
                        </m:r>
                      </m:e>
                    </m:d>
                    <m:r>
                      <a:rPr lang="fa-IR">
                        <a:latin typeface="Cambria Math" panose="02040503050406030204" pitchFamily="18" charset="0"/>
                      </a:rPr>
                      <m:t>=</m:t>
                    </m:r>
                    <m:sSub>
                      <m:sSubPr>
                        <m:ctrlPr>
                          <a:rPr lang="fa-IR" i="1">
                            <a:latin typeface="Cambria Math" panose="02040503050406030204" pitchFamily="18" charset="0"/>
                          </a:rPr>
                        </m:ctrlPr>
                      </m:sSubPr>
                      <m:e>
                        <m:r>
                          <a:rPr lang="fa-IR" i="1">
                            <a:latin typeface="Cambria Math" panose="02040503050406030204" pitchFamily="18" charset="0"/>
                          </a:rPr>
                          <m:t>𝑡</m:t>
                        </m:r>
                      </m:e>
                      <m:sub>
                        <m:r>
                          <a:rPr lang="fa-IR">
                            <a:latin typeface="Cambria Math" panose="02040503050406030204" pitchFamily="18" charset="0"/>
                          </a:rPr>
                          <m:t>1</m:t>
                        </m:r>
                      </m:sub>
                    </m:sSub>
                    <m:d>
                      <m:dPr>
                        <m:begChr m:val="["/>
                        <m:endChr m:val="]"/>
                        <m:ctrlPr>
                          <a:rPr lang="fa-IR" i="1">
                            <a:latin typeface="Cambria Math" panose="02040503050406030204" pitchFamily="18" charset="0"/>
                          </a:rPr>
                        </m:ctrlPr>
                      </m:dPr>
                      <m:e>
                        <m:r>
                          <a:rPr lang="fa-IR" i="1">
                            <a:latin typeface="Cambria Math" panose="02040503050406030204" pitchFamily="18" charset="0"/>
                          </a:rPr>
                          <m:t>𝛽</m:t>
                        </m:r>
                      </m:e>
                    </m:d>
                  </m:oMath>
                </a14:m>
                <a:endParaRPr lang="fa-IR" dirty="0"/>
              </a:p>
              <a:p>
                <a:pPr algn="r" rtl="1"/>
                <a14:m>
                  <m:oMath xmlns:m="http://schemas.openxmlformats.org/officeDocument/2006/math">
                    <m:sSub>
                      <m:sSubPr>
                        <m:ctrlPr>
                          <a:rPr lang="fa-IR" i="1">
                            <a:latin typeface="Cambria Math" panose="02040503050406030204" pitchFamily="18" charset="0"/>
                          </a:rPr>
                        </m:ctrlPr>
                      </m:sSubPr>
                      <m:e>
                        <m:r>
                          <a:rPr lang="fa-IR" i="1">
                            <a:latin typeface="Cambria Math" panose="02040503050406030204" pitchFamily="18" charset="0"/>
                          </a:rPr>
                          <m:t>𝑡</m:t>
                        </m:r>
                      </m:e>
                      <m:sub>
                        <m:r>
                          <a:rPr lang="fa-IR">
                            <a:latin typeface="Cambria Math" panose="02040503050406030204" pitchFamily="18" charset="0"/>
                          </a:rPr>
                          <m:t>3</m:t>
                        </m:r>
                      </m:sub>
                    </m:sSub>
                    <m:d>
                      <m:dPr>
                        <m:begChr m:val="["/>
                        <m:endChr m:val="]"/>
                        <m:ctrlPr>
                          <a:rPr lang="fa-IR" i="1">
                            <a:latin typeface="Cambria Math" panose="02040503050406030204" pitchFamily="18" charset="0"/>
                          </a:rPr>
                        </m:ctrlPr>
                      </m:dPr>
                      <m:e>
                        <m:r>
                          <a:rPr lang="fa-IR" i="1">
                            <a:latin typeface="Cambria Math" panose="02040503050406030204" pitchFamily="18" charset="0"/>
                          </a:rPr>
                          <m:t>𝑅</m:t>
                        </m:r>
                        <m:r>
                          <a:rPr lang="fa-IR">
                            <a:latin typeface="Cambria Math" panose="02040503050406030204" pitchFamily="18" charset="0"/>
                          </a:rPr>
                          <m:t>−</m:t>
                        </m:r>
                        <m:r>
                          <a:rPr lang="fa-IR" i="1">
                            <a:latin typeface="Cambria Math" panose="02040503050406030204" pitchFamily="18" charset="0"/>
                          </a:rPr>
                          <m:t>𝛽</m:t>
                        </m:r>
                      </m:e>
                    </m:d>
                    <m:r>
                      <a:rPr lang="fa-IR">
                        <a:latin typeface="Cambria Math" panose="02040503050406030204" pitchFamily="18" charset="0"/>
                      </a:rPr>
                      <m:t>=</m:t>
                    </m:r>
                    <m:sSub>
                      <m:sSubPr>
                        <m:ctrlPr>
                          <a:rPr lang="fa-IR" i="1">
                            <a:latin typeface="Cambria Math" panose="02040503050406030204" pitchFamily="18" charset="0"/>
                          </a:rPr>
                        </m:ctrlPr>
                      </m:sSubPr>
                      <m:e>
                        <m:r>
                          <a:rPr lang="fa-IR" i="1">
                            <a:latin typeface="Cambria Math" panose="02040503050406030204" pitchFamily="18" charset="0"/>
                          </a:rPr>
                          <m:t>𝑡</m:t>
                        </m:r>
                      </m:e>
                      <m:sub>
                        <m:r>
                          <a:rPr lang="fa-IR">
                            <a:latin typeface="Cambria Math" panose="02040503050406030204" pitchFamily="18" charset="0"/>
                          </a:rPr>
                          <m:t>2</m:t>
                        </m:r>
                      </m:sub>
                    </m:sSub>
                    <m:d>
                      <m:dPr>
                        <m:begChr m:val="["/>
                        <m:endChr m:val="]"/>
                        <m:ctrlPr>
                          <a:rPr lang="fa-IR" i="1">
                            <a:latin typeface="Cambria Math" panose="02040503050406030204" pitchFamily="18" charset="0"/>
                          </a:rPr>
                        </m:ctrlPr>
                      </m:dPr>
                      <m:e>
                        <m:r>
                          <a:rPr lang="fa-IR" i="1">
                            <a:latin typeface="Cambria Math" panose="02040503050406030204" pitchFamily="18" charset="0"/>
                          </a:rPr>
                          <m:t>𝑅</m:t>
                        </m:r>
                        <m:r>
                          <a:rPr lang="fa-IR">
                            <a:latin typeface="Cambria Math" panose="02040503050406030204" pitchFamily="18" charset="0"/>
                          </a:rPr>
                          <m:t>−</m:t>
                        </m:r>
                        <m:r>
                          <a:rPr lang="fa-IR" i="1">
                            <a:latin typeface="Cambria Math" panose="02040503050406030204" pitchFamily="18" charset="0"/>
                          </a:rPr>
                          <m:t>𝛽</m:t>
                        </m:r>
                      </m:e>
                    </m:d>
                  </m:oMath>
                </a14:m>
                <a:endParaRPr lang="fa-IR" dirty="0"/>
              </a:p>
              <a:p>
                <a:pPr algn="r" rtl="1"/>
                <a14:m>
                  <m:oMath xmlns:m="http://schemas.openxmlformats.org/officeDocument/2006/math">
                    <m:sSub>
                      <m:sSubPr>
                        <m:ctrlPr>
                          <a:rPr lang="fa-IR" i="1">
                            <a:latin typeface="Cambria Math" panose="02040503050406030204" pitchFamily="18" charset="0"/>
                          </a:rPr>
                        </m:ctrlPr>
                      </m:sSubPr>
                      <m:e>
                        <m:r>
                          <a:rPr lang="fa-IR" i="1">
                            <a:latin typeface="Cambria Math" panose="02040503050406030204" pitchFamily="18" charset="0"/>
                          </a:rPr>
                          <m:t>𝑡</m:t>
                        </m:r>
                      </m:e>
                      <m:sub>
                        <m:r>
                          <a:rPr lang="fa-IR">
                            <a:latin typeface="Cambria Math" panose="02040503050406030204" pitchFamily="18" charset="0"/>
                          </a:rPr>
                          <m:t>4</m:t>
                        </m:r>
                      </m:sub>
                    </m:sSub>
                    <m:d>
                      <m:dPr>
                        <m:begChr m:val="["/>
                        <m:endChr m:val="]"/>
                        <m:ctrlPr>
                          <a:rPr lang="fa-IR" i="1">
                            <a:latin typeface="Cambria Math" panose="02040503050406030204" pitchFamily="18" charset="0"/>
                          </a:rPr>
                        </m:ctrlPr>
                      </m:dPr>
                      <m:e>
                        <m:r>
                          <a:rPr lang="fa-IR" i="1">
                            <a:latin typeface="Cambria Math" panose="02040503050406030204" pitchFamily="18" charset="0"/>
                          </a:rPr>
                          <m:t>𝛽</m:t>
                        </m:r>
                      </m:e>
                    </m:d>
                    <m:r>
                      <a:rPr lang="fa-IR">
                        <a:latin typeface="Cambria Math" panose="02040503050406030204" pitchFamily="18" charset="0"/>
                      </a:rPr>
                      <m:t>=</m:t>
                    </m:r>
                    <m:sSub>
                      <m:sSubPr>
                        <m:ctrlPr>
                          <a:rPr lang="fa-IR" i="1">
                            <a:latin typeface="Cambria Math" panose="02040503050406030204" pitchFamily="18" charset="0"/>
                          </a:rPr>
                        </m:ctrlPr>
                      </m:sSubPr>
                      <m:e>
                        <m:r>
                          <a:rPr lang="fa-IR" i="1">
                            <a:latin typeface="Cambria Math" panose="02040503050406030204" pitchFamily="18" charset="0"/>
                          </a:rPr>
                          <m:t>𝑡</m:t>
                        </m:r>
                      </m:e>
                      <m:sub>
                        <m:r>
                          <a:rPr lang="fa-IR">
                            <a:latin typeface="Cambria Math" panose="02040503050406030204" pitchFamily="18" charset="0"/>
                          </a:rPr>
                          <m:t>2</m:t>
                        </m:r>
                      </m:sub>
                    </m:sSub>
                    <m:d>
                      <m:dPr>
                        <m:begChr m:val="["/>
                        <m:endChr m:val="]"/>
                        <m:ctrlPr>
                          <a:rPr lang="fa-IR" i="1">
                            <a:latin typeface="Cambria Math" panose="02040503050406030204" pitchFamily="18" charset="0"/>
                          </a:rPr>
                        </m:ctrlPr>
                      </m:dPr>
                      <m:e>
                        <m:r>
                          <a:rPr lang="fa-IR" i="1">
                            <a:latin typeface="Cambria Math" panose="02040503050406030204" pitchFamily="18" charset="0"/>
                          </a:rPr>
                          <m:t>𝛽</m:t>
                        </m:r>
                      </m:e>
                    </m:d>
                  </m:oMath>
                </a14:m>
                <a:endParaRPr lang="fa-IR" dirty="0"/>
              </a:p>
              <a:p>
                <a:pPr algn="r" rtl="1"/>
                <a14:m>
                  <m:oMath xmlns:m="http://schemas.openxmlformats.org/officeDocument/2006/math">
                    <m:sSub>
                      <m:sSubPr>
                        <m:ctrlPr>
                          <a:rPr lang="fa-IR" i="1">
                            <a:latin typeface="Cambria Math" panose="02040503050406030204" pitchFamily="18" charset="0"/>
                          </a:rPr>
                        </m:ctrlPr>
                      </m:sSubPr>
                      <m:e>
                        <m:r>
                          <a:rPr lang="fa-IR" i="1">
                            <a:latin typeface="Cambria Math" panose="02040503050406030204" pitchFamily="18" charset="0"/>
                          </a:rPr>
                          <m:t>𝑡</m:t>
                        </m:r>
                      </m:e>
                      <m:sub>
                        <m:r>
                          <a:rPr lang="fa-IR">
                            <a:latin typeface="Cambria Math" panose="02040503050406030204" pitchFamily="18" charset="0"/>
                          </a:rPr>
                          <m:t>4</m:t>
                        </m:r>
                      </m:sub>
                    </m:sSub>
                    <m:d>
                      <m:dPr>
                        <m:begChr m:val="["/>
                        <m:endChr m:val="]"/>
                        <m:ctrlPr>
                          <a:rPr lang="fa-IR" i="1">
                            <a:latin typeface="Cambria Math" panose="02040503050406030204" pitchFamily="18" charset="0"/>
                          </a:rPr>
                        </m:ctrlPr>
                      </m:dPr>
                      <m:e>
                        <m:r>
                          <a:rPr lang="fa-IR" i="1">
                            <a:latin typeface="Cambria Math" panose="02040503050406030204" pitchFamily="18" charset="0"/>
                          </a:rPr>
                          <m:t>𝑅</m:t>
                        </m:r>
                        <m:r>
                          <a:rPr lang="fa-IR">
                            <a:latin typeface="Cambria Math" panose="02040503050406030204" pitchFamily="18" charset="0"/>
                          </a:rPr>
                          <m:t>−</m:t>
                        </m:r>
                        <m:r>
                          <a:rPr lang="fa-IR" i="1">
                            <a:latin typeface="Cambria Math" panose="02040503050406030204" pitchFamily="18" charset="0"/>
                          </a:rPr>
                          <m:t>𝛽</m:t>
                        </m:r>
                      </m:e>
                    </m:d>
                    <m:r>
                      <a:rPr lang="fa-IR">
                        <a:latin typeface="Cambria Math" panose="02040503050406030204" pitchFamily="18" charset="0"/>
                      </a:rPr>
                      <m:t>=</m:t>
                    </m:r>
                    <m:sSub>
                      <m:sSubPr>
                        <m:ctrlPr>
                          <a:rPr lang="fa-IR" i="1">
                            <a:latin typeface="Cambria Math" panose="02040503050406030204" pitchFamily="18" charset="0"/>
                          </a:rPr>
                        </m:ctrlPr>
                      </m:sSubPr>
                      <m:e>
                        <m:r>
                          <a:rPr lang="fa-IR" i="1">
                            <a:latin typeface="Cambria Math" panose="02040503050406030204" pitchFamily="18" charset="0"/>
                          </a:rPr>
                          <m:t>𝑡</m:t>
                        </m:r>
                      </m:e>
                      <m:sub>
                        <m:r>
                          <a:rPr lang="fa-IR">
                            <a:latin typeface="Cambria Math" panose="02040503050406030204" pitchFamily="18" charset="0"/>
                          </a:rPr>
                          <m:t>1</m:t>
                        </m:r>
                      </m:sub>
                    </m:sSub>
                    <m:d>
                      <m:dPr>
                        <m:begChr m:val="["/>
                        <m:endChr m:val="]"/>
                        <m:ctrlPr>
                          <a:rPr lang="fa-IR" i="1">
                            <a:latin typeface="Cambria Math" panose="02040503050406030204" pitchFamily="18" charset="0"/>
                          </a:rPr>
                        </m:ctrlPr>
                      </m:dPr>
                      <m:e>
                        <m:r>
                          <a:rPr lang="fa-IR" i="1">
                            <a:latin typeface="Cambria Math" panose="02040503050406030204" pitchFamily="18" charset="0"/>
                          </a:rPr>
                          <m:t>𝑅</m:t>
                        </m:r>
                        <m:r>
                          <a:rPr lang="fa-IR">
                            <a:latin typeface="Cambria Math" panose="02040503050406030204" pitchFamily="18" charset="0"/>
                          </a:rPr>
                          <m:t>−</m:t>
                        </m:r>
                        <m:r>
                          <a:rPr lang="fa-IR" i="1">
                            <a:latin typeface="Cambria Math" panose="02040503050406030204" pitchFamily="18" charset="0"/>
                          </a:rPr>
                          <m:t>𝛽</m:t>
                        </m:r>
                      </m:e>
                    </m:d>
                  </m:oMath>
                </a14:m>
                <a:endParaRPr lang="fa-IR" dirty="0"/>
              </a:p>
              <a:p>
                <a:pPr algn="r" rtl="1">
                  <a:tabLst>
                    <a:tab pos="1890713" algn="l"/>
                    <a:tab pos="2798763" algn="l"/>
                  </a:tabLst>
                </a:pPr>
                <a:endParaRPr lang="en-US" altLang="en-US" dirty="0">
                  <a:sym typeface="Greek Symbols"/>
                </a:endParaRPr>
              </a:p>
            </p:txBody>
          </p:sp>
        </mc:Choice>
        <mc:Fallback xmlns="">
          <p:sp>
            <p:nvSpPr>
              <p:cNvPr id="81923" name="Rectangle 3"/>
              <p:cNvSpPr>
                <a:spLocks noGrp="1" noRot="1" noChangeAspect="1" noMove="1" noResize="1" noEditPoints="1" noAdjustHandles="1" noChangeArrowheads="1" noChangeShapeType="1" noTextEdit="1"/>
              </p:cNvSpPr>
              <p:nvPr>
                <p:ph idx="1"/>
              </p:nvPr>
            </p:nvSpPr>
            <p:spPr>
              <a:xfrm>
                <a:off x="768350" y="1182688"/>
                <a:ext cx="8077200" cy="3184775"/>
              </a:xfrm>
              <a:blipFill>
                <a:blip r:embed="rId3"/>
                <a:stretch>
                  <a:fillRect l="-830" t="-2299" r="-906" b="-28161"/>
                </a:stretch>
              </a:blipFill>
            </p:spPr>
            <p:txBody>
              <a:bodyPr/>
              <a:lstStyle/>
              <a:p>
                <a:r>
                  <a:rPr lang="en-US">
                    <a:noFill/>
                  </a:rPr>
                  <a:t> </a:t>
                </a:r>
              </a:p>
            </p:txBody>
          </p:sp>
        </mc:Fallback>
      </mc:AlternateContent>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69026" name="Rectangle 2"/>
          <p:cNvSpPr>
            <a:spLocks noGrp="1" noChangeArrowheads="1"/>
          </p:cNvSpPr>
          <p:nvPr>
            <p:ph type="title"/>
          </p:nvPr>
        </p:nvSpPr>
        <p:spPr/>
        <p:txBody>
          <a:bodyPr/>
          <a:lstStyle/>
          <a:p>
            <a:pPr>
              <a:defRPr/>
            </a:pPr>
            <a:r>
              <a:rPr lang="en-US" altLang="en-US" dirty="0">
                <a:effectLst>
                  <a:outerShdw blurRad="38100" dist="38100" dir="2700000" algn="tl">
                    <a:srgbClr val="C0C0C0"/>
                  </a:outerShdw>
                </a:effectLst>
                <a:ea typeface="ＭＳ Ｐゴシック" pitchFamily="34" charset="-128"/>
              </a:rPr>
              <a:t>MVD --</a:t>
            </a:r>
            <a:r>
              <a:rPr lang="en-US" altLang="en-US" dirty="0"/>
              <a:t> Tabular representation </a:t>
            </a:r>
            <a:endParaRPr lang="en-US" altLang="en-US" dirty="0">
              <a:effectLst>
                <a:outerShdw blurRad="38100" dist="38100" dir="2700000" algn="tl">
                  <a:srgbClr val="C0C0C0"/>
                </a:outerShdw>
              </a:effectLst>
              <a:ea typeface="ＭＳ Ｐゴシック" pitchFamily="34" charset="-128"/>
            </a:endParaRPr>
          </a:p>
        </p:txBody>
      </p:sp>
      <mc:AlternateContent xmlns:mc="http://schemas.openxmlformats.org/markup-compatibility/2006" xmlns:a14="http://schemas.microsoft.com/office/drawing/2010/main">
        <mc:Choice Requires="a14">
          <p:sp>
            <p:nvSpPr>
              <p:cNvPr id="82947" name="Rectangle 3"/>
              <p:cNvSpPr>
                <a:spLocks noGrp="1" noChangeArrowheads="1"/>
              </p:cNvSpPr>
              <p:nvPr>
                <p:ph idx="1"/>
              </p:nvPr>
            </p:nvSpPr>
            <p:spPr>
              <a:xfrm>
                <a:off x="2142283" y="1033934"/>
                <a:ext cx="6703267" cy="506412"/>
              </a:xfrm>
            </p:spPr>
            <p:txBody>
              <a:bodyPr/>
              <a:lstStyle/>
              <a:p>
                <a:pPr algn="r" rtl="1"/>
                <a:r>
                  <a:rPr lang="fa-IR" b="1" dirty="0"/>
                  <a:t>نمایش جدولی </a:t>
                </a:r>
                <a:r>
                  <a:rPr lang="en-US" dirty="0"/>
                  <a:t>(</a:t>
                </a:r>
                <a:r>
                  <a:rPr lang="en-US" b="1" dirty="0"/>
                  <a:t>Tabular representation) </a:t>
                </a:r>
                <a:r>
                  <a:rPr lang="fa-IR" b="1" dirty="0"/>
                  <a:t>از </a:t>
                </a:r>
                <a14:m>
                  <m:oMath xmlns:m="http://schemas.openxmlformats.org/officeDocument/2006/math">
                    <m:r>
                      <a:rPr lang="fa-IR" i="1">
                        <a:latin typeface="Cambria Math" panose="02040503050406030204" pitchFamily="18" charset="0"/>
                      </a:rPr>
                      <m:t>𝛼</m:t>
                    </m:r>
                    <m:r>
                      <a:rPr lang="fa-IR">
                        <a:latin typeface="Cambria Math" panose="02040503050406030204" pitchFamily="18" charset="0"/>
                      </a:rPr>
                      <m:t>↠</m:t>
                    </m:r>
                    <m:r>
                      <a:rPr lang="fa-IR" i="1">
                        <a:latin typeface="Cambria Math" panose="02040503050406030204" pitchFamily="18" charset="0"/>
                      </a:rPr>
                      <m:t>𝛽</m:t>
                    </m:r>
                  </m:oMath>
                </a14:m>
                <a:endParaRPr lang="en-US" altLang="en-US" dirty="0">
                  <a:sym typeface="Symbol" panose="05050102010706020507" pitchFamily="18" charset="2"/>
                </a:endParaRPr>
              </a:p>
            </p:txBody>
          </p:sp>
        </mc:Choice>
        <mc:Fallback xmlns="">
          <p:sp>
            <p:nvSpPr>
              <p:cNvPr id="82947" name="Rectangle 3"/>
              <p:cNvSpPr>
                <a:spLocks noGrp="1" noRot="1" noChangeAspect="1" noMove="1" noResize="1" noEditPoints="1" noAdjustHandles="1" noChangeArrowheads="1" noChangeShapeType="1" noTextEdit="1"/>
              </p:cNvSpPr>
              <p:nvPr>
                <p:ph idx="1"/>
              </p:nvPr>
            </p:nvSpPr>
            <p:spPr>
              <a:xfrm>
                <a:off x="2142283" y="1033934"/>
                <a:ext cx="6703267" cy="506412"/>
              </a:xfrm>
              <a:blipFill>
                <a:blip r:embed="rId3"/>
                <a:stretch>
                  <a:fillRect t="-14458" r="-1091" b="-2410"/>
                </a:stretch>
              </a:blipFill>
            </p:spPr>
            <p:txBody>
              <a:bodyPr/>
              <a:lstStyle/>
              <a:p>
                <a:r>
                  <a:rPr lang="en-US">
                    <a:noFill/>
                  </a:rPr>
                  <a:t> </a:t>
                </a:r>
              </a:p>
            </p:txBody>
          </p:sp>
        </mc:Fallback>
      </mc:AlternateContent>
      <p:pic>
        <p:nvPicPr>
          <p:cNvPr id="82948" name="Picture 5" descr="8"/>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2069432" y="1847206"/>
            <a:ext cx="4532730" cy="15931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C2764B-0248-2899-EC2D-14C57574F39C}"/>
              </a:ext>
            </a:extLst>
          </p:cNvPr>
          <p:cNvSpPr>
            <a:spLocks noGrp="1"/>
          </p:cNvSpPr>
          <p:nvPr>
            <p:ph type="ctrTitle"/>
          </p:nvPr>
        </p:nvSpPr>
        <p:spPr/>
        <p:txBody>
          <a:bodyPr/>
          <a:lstStyle/>
          <a:p>
            <a:endParaRPr lang="en-US"/>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73122" name="Rectangle 2"/>
          <p:cNvSpPr>
            <a:spLocks noGrp="1" noChangeArrowheads="1"/>
          </p:cNvSpPr>
          <p:nvPr>
            <p:ph type="title"/>
          </p:nvPr>
        </p:nvSpPr>
        <p:spPr/>
        <p:txBody>
          <a:bodyPr/>
          <a:lstStyle/>
          <a:p>
            <a:pPr>
              <a:defRPr/>
            </a:pPr>
            <a:r>
              <a:rPr lang="en-US" altLang="en-US" dirty="0">
                <a:effectLst>
                  <a:outerShdw blurRad="38100" dist="38100" dir="2700000" algn="tl">
                    <a:srgbClr val="C0C0C0"/>
                  </a:outerShdw>
                </a:effectLst>
                <a:ea typeface="ＭＳ Ｐゴシック" pitchFamily="34" charset="-128"/>
              </a:rPr>
              <a:t>Example</a:t>
            </a:r>
          </a:p>
        </p:txBody>
      </p:sp>
      <mc:AlternateContent xmlns:mc="http://schemas.openxmlformats.org/markup-compatibility/2006" xmlns:a14="http://schemas.microsoft.com/office/drawing/2010/main">
        <mc:Choice Requires="a14">
          <p:sp>
            <p:nvSpPr>
              <p:cNvPr id="84995" name="Rectangle 3"/>
              <p:cNvSpPr>
                <a:spLocks noGrp="1" noChangeArrowheads="1"/>
              </p:cNvSpPr>
              <p:nvPr>
                <p:ph idx="1"/>
              </p:nvPr>
            </p:nvSpPr>
            <p:spPr>
              <a:xfrm>
                <a:off x="768349" y="1093789"/>
                <a:ext cx="7594415" cy="3430085"/>
              </a:xfrm>
            </p:spPr>
            <p:txBody>
              <a:bodyPr/>
              <a:lstStyle/>
              <a:p>
                <a:pPr algn="r" rtl="1"/>
                <a:r>
                  <a:rPr lang="fa-IR" dirty="0"/>
                  <a:t>در مثال ما:</a:t>
                </a:r>
              </a:p>
              <a:p>
                <a:pPr algn="r" rtl="1"/>
                <a:r>
                  <a:rPr lang="en-US" dirty="0"/>
                  <a:t>ID </a:t>
                </a:r>
                <a14:m>
                  <m:oMath xmlns:m="http://schemas.openxmlformats.org/officeDocument/2006/math">
                    <m:r>
                      <a:rPr lang="en-US">
                        <a:latin typeface="Cambria Math" panose="02040503050406030204" pitchFamily="18" charset="0"/>
                      </a:rPr>
                      <m:t>↠</m:t>
                    </m:r>
                  </m:oMath>
                </a14:m>
                <a:r>
                  <a:rPr lang="en-US" dirty="0" err="1"/>
                  <a:t>child_name</a:t>
                </a:r>
                <a:endParaRPr lang="en-US" dirty="0"/>
              </a:p>
              <a:p>
                <a:pPr algn="r" rtl="1"/>
                <a:r>
                  <a:rPr lang="en-US" dirty="0"/>
                  <a:t>ID </a:t>
                </a:r>
                <a14:m>
                  <m:oMath xmlns:m="http://schemas.openxmlformats.org/officeDocument/2006/math">
                    <m:r>
                      <a:rPr lang="en-US">
                        <a:latin typeface="Cambria Math" panose="02040503050406030204" pitchFamily="18" charset="0"/>
                      </a:rPr>
                      <m:t>↠</m:t>
                    </m:r>
                  </m:oMath>
                </a14:m>
                <a:r>
                  <a:rPr lang="en-US" dirty="0" err="1"/>
                  <a:t>phone_number</a:t>
                </a:r>
                <a:endParaRPr lang="en-US" dirty="0"/>
              </a:p>
              <a:p>
                <a:pPr algn="r" rtl="1"/>
                <a:r>
                  <a:rPr lang="fa-IR" dirty="0"/>
                  <a:t>تعریف رسمی بالا قصد دارد مفهوم زیر را رسمی کند:</a:t>
                </a:r>
                <a:br>
                  <a:rPr lang="fa-IR" dirty="0"/>
                </a:br>
                <a:r>
                  <a:rPr lang="fa-IR" dirty="0"/>
                  <a:t>با داشتن یک مقدار مشخص از </a:t>
                </a:r>
                <a:r>
                  <a:rPr lang="en-US" dirty="0"/>
                  <a:t>Y (ID)، </a:t>
                </a:r>
                <a:r>
                  <a:rPr lang="fa-IR" dirty="0" err="1"/>
                  <a:t>مجموعه‌ای</a:t>
                </a:r>
                <a:r>
                  <a:rPr lang="fa-IR" dirty="0"/>
                  <a:t> از مقادیر </a:t>
                </a:r>
                <a:r>
                  <a:rPr lang="en-US" dirty="0"/>
                  <a:t>Z (</a:t>
                </a:r>
                <a:r>
                  <a:rPr lang="en-US" dirty="0" err="1"/>
                  <a:t>child_name</a:t>
                </a:r>
                <a:r>
                  <a:rPr lang="en-US" dirty="0"/>
                  <a:t>) </a:t>
                </a:r>
                <a:r>
                  <a:rPr lang="fa-IR" dirty="0"/>
                  <a:t>و </a:t>
                </a:r>
                <a:r>
                  <a:rPr lang="fa-IR" dirty="0" err="1"/>
                  <a:t>مجموعه‌ای</a:t>
                </a:r>
                <a:r>
                  <a:rPr lang="fa-IR" dirty="0"/>
                  <a:t> از مقادیر </a:t>
                </a:r>
                <a:r>
                  <a:rPr lang="en-US" dirty="0"/>
                  <a:t>W (</a:t>
                </a:r>
                <a:r>
                  <a:rPr lang="en-US" dirty="0" err="1"/>
                  <a:t>phone_number</a:t>
                </a:r>
                <a:r>
                  <a:rPr lang="en-US" dirty="0"/>
                  <a:t>) </a:t>
                </a:r>
                <a:r>
                  <a:rPr lang="fa-IR" dirty="0"/>
                  <a:t>با آن مرتبط هستند، و این دو مجموعه تا حدی از یکدیگر مستقل هستند.</a:t>
                </a:r>
              </a:p>
              <a:p>
                <a:pPr algn="r" rtl="1"/>
                <a:r>
                  <a:rPr lang="fa-IR" dirty="0"/>
                  <a:t>توجه:</a:t>
                </a:r>
                <a:br>
                  <a:rPr lang="fa-IR" dirty="0"/>
                </a:br>
                <a:r>
                  <a:rPr lang="fa-IR" dirty="0"/>
                  <a:t>اگر </a:t>
                </a:r>
                <a:r>
                  <a:rPr lang="en-US" dirty="0"/>
                  <a:t>Y → Z، </a:t>
                </a:r>
                <a:r>
                  <a:rPr lang="fa-IR" dirty="0"/>
                  <a:t>آنگاه </a:t>
                </a:r>
                <a:r>
                  <a:rPr lang="en-US" dirty="0"/>
                  <a:t>Y </a:t>
                </a:r>
                <a14:m>
                  <m:oMath xmlns:m="http://schemas.openxmlformats.org/officeDocument/2006/math">
                    <m:r>
                      <a:rPr lang="en-US">
                        <a:latin typeface="Cambria Math" panose="02040503050406030204" pitchFamily="18" charset="0"/>
                      </a:rPr>
                      <m:t>↠</m:t>
                    </m:r>
                  </m:oMath>
                </a14:m>
                <a:r>
                  <a:rPr lang="en-US" dirty="0"/>
                  <a:t>Z </a:t>
                </a:r>
                <a:r>
                  <a:rPr lang="fa-IR" dirty="0"/>
                  <a:t>نیز برقرار است.</a:t>
                </a:r>
                <a:br>
                  <a:rPr lang="fa-IR" dirty="0"/>
                </a:br>
                <a:r>
                  <a:rPr lang="fa-IR" dirty="0"/>
                  <a:t>در واقع، در نماد بالا داریم </a:t>
                </a:r>
                <a:r>
                  <a:rPr lang="en-US" dirty="0"/>
                  <a:t>Z₁ = Z₂</a:t>
                </a:r>
                <a:br>
                  <a:rPr lang="en-US" dirty="0"/>
                </a:br>
                <a:r>
                  <a:rPr lang="fa-IR" dirty="0"/>
                  <a:t>و نتیجه به دنبال آن </a:t>
                </a:r>
                <a:r>
                  <a:rPr lang="fa-IR" dirty="0" err="1"/>
                  <a:t>می‌آید</a:t>
                </a:r>
                <a:r>
                  <a:rPr lang="fa-IR" dirty="0"/>
                  <a:t>.</a:t>
                </a:r>
              </a:p>
              <a:p>
                <a:pPr algn="r" rtl="1">
                  <a:tabLst>
                    <a:tab pos="2463800" algn="l"/>
                  </a:tabLst>
                </a:pPr>
                <a:endParaRPr lang="en-US" altLang="en-US" dirty="0">
                  <a:sym typeface="Monotype Sorts" pitchFamily="-84" charset="2"/>
                </a:endParaRPr>
              </a:p>
            </p:txBody>
          </p:sp>
        </mc:Choice>
        <mc:Fallback xmlns="">
          <p:sp>
            <p:nvSpPr>
              <p:cNvPr id="84995" name="Rectangle 3"/>
              <p:cNvSpPr>
                <a:spLocks noGrp="1" noRot="1" noChangeAspect="1" noMove="1" noResize="1" noEditPoints="1" noAdjustHandles="1" noChangeArrowheads="1" noChangeShapeType="1" noTextEdit="1"/>
              </p:cNvSpPr>
              <p:nvPr>
                <p:ph idx="1"/>
              </p:nvPr>
            </p:nvSpPr>
            <p:spPr>
              <a:xfrm>
                <a:off x="768349" y="1093789"/>
                <a:ext cx="7594415" cy="3430085"/>
              </a:xfrm>
              <a:blipFill>
                <a:blip r:embed="rId3"/>
                <a:stretch>
                  <a:fillRect l="-241" t="-2309" r="-963" b="-15986"/>
                </a:stretch>
              </a:blipFill>
            </p:spPr>
            <p:txBody>
              <a:bodyPr/>
              <a:lstStyle/>
              <a:p>
                <a:r>
                  <a:rPr lang="en-US">
                    <a:noFill/>
                  </a:rPr>
                  <a:t> </a:t>
                </a:r>
              </a:p>
            </p:txBody>
          </p:sp>
        </mc:Fallback>
      </mc:AlternateContent>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75170" name="Rectangle 2"/>
          <p:cNvSpPr>
            <a:spLocks noGrp="1" noChangeArrowheads="1"/>
          </p:cNvSpPr>
          <p:nvPr>
            <p:ph type="title"/>
          </p:nvPr>
        </p:nvSpPr>
        <p:spPr/>
        <p:txBody>
          <a:bodyPr/>
          <a:lstStyle/>
          <a:p>
            <a:pPr>
              <a:defRPr/>
            </a:pPr>
            <a:r>
              <a:rPr lang="en-US" altLang="en-US" dirty="0">
                <a:effectLst>
                  <a:outerShdw blurRad="38100" dist="38100" dir="2700000" algn="tl">
                    <a:srgbClr val="C0C0C0"/>
                  </a:outerShdw>
                </a:effectLst>
                <a:ea typeface="ＭＳ Ｐゴシック" pitchFamily="34" charset="-128"/>
              </a:rPr>
              <a:t>Use of Multivalued Dependencies</a:t>
            </a:r>
          </a:p>
        </p:txBody>
      </p:sp>
      <mc:AlternateContent xmlns:mc="http://schemas.openxmlformats.org/markup-compatibility/2006" xmlns:a14="http://schemas.microsoft.com/office/drawing/2010/main">
        <mc:Choice Requires="a14">
          <p:sp>
            <p:nvSpPr>
              <p:cNvPr id="86019" name="Rectangle 3"/>
              <p:cNvSpPr>
                <a:spLocks noGrp="1" noChangeArrowheads="1"/>
              </p:cNvSpPr>
              <p:nvPr>
                <p:ph idx="1"/>
              </p:nvPr>
            </p:nvSpPr>
            <p:spPr>
              <a:xfrm>
                <a:off x="768351" y="1093788"/>
                <a:ext cx="7638802" cy="2900696"/>
              </a:xfrm>
            </p:spPr>
            <p:txBody>
              <a:bodyPr/>
              <a:lstStyle/>
              <a:p>
                <a:pPr algn="r" rtl="1"/>
                <a:r>
                  <a:rPr lang="fa-IR" dirty="0"/>
                  <a:t>ما از </a:t>
                </a:r>
                <a:r>
                  <a:rPr lang="fa-IR" b="1" dirty="0" err="1"/>
                  <a:t>وابستگی‌های</a:t>
                </a:r>
                <a:r>
                  <a:rPr lang="fa-IR" b="1" dirty="0"/>
                  <a:t> </a:t>
                </a:r>
                <a:r>
                  <a:rPr lang="fa-IR" b="1" dirty="0" err="1"/>
                  <a:t>چندمقداری</a:t>
                </a:r>
                <a:r>
                  <a:rPr lang="fa-IR" b="1" dirty="0"/>
                  <a:t> </a:t>
                </a:r>
                <a:r>
                  <a:rPr lang="en-US" dirty="0"/>
                  <a:t>(</a:t>
                </a:r>
                <a:r>
                  <a:rPr lang="en-US" b="1" dirty="0"/>
                  <a:t>Multivalued Dependencies)</a:t>
                </a:r>
                <a:r>
                  <a:rPr lang="fa-IR" dirty="0"/>
                  <a:t>به دو روش استفاده </a:t>
                </a:r>
                <a:r>
                  <a:rPr lang="fa-IR" dirty="0" err="1"/>
                  <a:t>می‌کنیم</a:t>
                </a:r>
                <a:r>
                  <a:rPr lang="fa-IR" dirty="0"/>
                  <a:t>:</a:t>
                </a:r>
              </a:p>
              <a:p>
                <a:pPr algn="r" rtl="1"/>
                <a:r>
                  <a:rPr lang="fa-IR" dirty="0"/>
                  <a:t>برای بررسی روابط به منظور تعیین اینکه آیا </a:t>
                </a:r>
                <a:r>
                  <a:rPr lang="fa-IR" dirty="0" err="1"/>
                  <a:t>آن‌ها</a:t>
                </a:r>
                <a:r>
                  <a:rPr lang="fa-IR" dirty="0"/>
                  <a:t> تحت </a:t>
                </a:r>
                <a:r>
                  <a:rPr lang="fa-IR" dirty="0" err="1"/>
                  <a:t>مجموعه‌ای</a:t>
                </a:r>
                <a:r>
                  <a:rPr lang="fa-IR" dirty="0"/>
                  <a:t> از </a:t>
                </a:r>
                <a:r>
                  <a:rPr lang="fa-IR" dirty="0" err="1"/>
                  <a:t>وابستگی‌های</a:t>
                </a:r>
                <a:r>
                  <a:rPr lang="fa-IR" dirty="0"/>
                  <a:t> </a:t>
                </a:r>
                <a:r>
                  <a:rPr lang="fa-IR" dirty="0" err="1"/>
                  <a:t>تابعی</a:t>
                </a:r>
                <a:r>
                  <a:rPr lang="fa-IR" dirty="0"/>
                  <a:t> و </a:t>
                </a:r>
                <a:r>
                  <a:rPr lang="fa-IR" dirty="0" err="1"/>
                  <a:t>چندمقداری</a:t>
                </a:r>
                <a:r>
                  <a:rPr lang="fa-IR" dirty="0"/>
                  <a:t> قانونی هستند یا خیر.</a:t>
                </a:r>
              </a:p>
              <a:p>
                <a:pPr algn="r" rtl="1"/>
                <a:r>
                  <a:rPr lang="fa-IR" dirty="0"/>
                  <a:t>برای مشخص کردن </a:t>
                </a:r>
                <a:r>
                  <a:rPr lang="fa-IR" dirty="0" err="1"/>
                  <a:t>محدودیت‌ها</a:t>
                </a:r>
                <a:r>
                  <a:rPr lang="fa-IR" dirty="0"/>
                  <a:t> روی مجموعه روابط قانونی. ما فقط با روابطی سروکار خواهیم داشت که </a:t>
                </a:r>
                <a:r>
                  <a:rPr lang="fa-IR" dirty="0" err="1"/>
                  <a:t>مجموعه‌ای</a:t>
                </a:r>
                <a:r>
                  <a:rPr lang="fa-IR" dirty="0"/>
                  <a:t> از </a:t>
                </a:r>
                <a:r>
                  <a:rPr lang="fa-IR" dirty="0" err="1"/>
                  <a:t>وابستگی‌های</a:t>
                </a:r>
                <a:r>
                  <a:rPr lang="fa-IR" dirty="0"/>
                  <a:t> </a:t>
                </a:r>
                <a:r>
                  <a:rPr lang="fa-IR" dirty="0" err="1"/>
                  <a:t>تابعی</a:t>
                </a:r>
                <a:r>
                  <a:rPr lang="fa-IR" dirty="0"/>
                  <a:t> و </a:t>
                </a:r>
                <a:r>
                  <a:rPr lang="fa-IR" dirty="0" err="1"/>
                  <a:t>چندمقداری</a:t>
                </a:r>
                <a:r>
                  <a:rPr lang="fa-IR" dirty="0"/>
                  <a:t> </a:t>
                </a:r>
                <a:r>
                  <a:rPr lang="fa-IR" dirty="0" err="1"/>
                  <a:t>داده‌شده</a:t>
                </a:r>
                <a:r>
                  <a:rPr lang="fa-IR" dirty="0"/>
                  <a:t> را رعایت کنند.</a:t>
                </a:r>
              </a:p>
              <a:p>
                <a:pPr algn="r" rtl="1"/>
                <a:r>
                  <a:rPr lang="fa-IR" dirty="0"/>
                  <a:t>اگر یک رابطه </a:t>
                </a:r>
                <a14:m>
                  <m:oMath xmlns:m="http://schemas.openxmlformats.org/officeDocument/2006/math">
                    <m:r>
                      <a:rPr lang="fa-IR" i="1">
                        <a:latin typeface="Cambria Math" panose="02040503050406030204" pitchFamily="18" charset="0"/>
                      </a:rPr>
                      <m:t>𝑟</m:t>
                    </m:r>
                  </m:oMath>
                </a14:m>
                <a:r>
                  <a:rPr lang="fa-IR" dirty="0"/>
                  <a:t>نتواند یک وابستگی </a:t>
                </a:r>
                <a:r>
                  <a:rPr lang="fa-IR" dirty="0" err="1"/>
                  <a:t>چندمقداری</a:t>
                </a:r>
                <a:r>
                  <a:rPr lang="fa-IR" dirty="0"/>
                  <a:t> </a:t>
                </a:r>
                <a:r>
                  <a:rPr lang="fa-IR" dirty="0" err="1"/>
                  <a:t>داده‌شده</a:t>
                </a:r>
                <a:r>
                  <a:rPr lang="fa-IR" dirty="0"/>
                  <a:t> را برآورده کند، </a:t>
                </a:r>
                <a:r>
                  <a:rPr lang="fa-IR" dirty="0" err="1"/>
                  <a:t>می‌توانیم</a:t>
                </a:r>
                <a:r>
                  <a:rPr lang="fa-IR" dirty="0"/>
                  <a:t> یک رابطه </a:t>
                </a:r>
                <a14:m>
                  <m:oMath xmlns:m="http://schemas.openxmlformats.org/officeDocument/2006/math">
                    <m:sSup>
                      <m:sSupPr>
                        <m:ctrlPr>
                          <a:rPr lang="fa-IR" i="1">
                            <a:latin typeface="Cambria Math" panose="02040503050406030204" pitchFamily="18" charset="0"/>
                          </a:rPr>
                        </m:ctrlPr>
                      </m:sSupPr>
                      <m:e>
                        <m:r>
                          <a:rPr lang="fa-IR" i="1">
                            <a:latin typeface="Cambria Math" panose="02040503050406030204" pitchFamily="18" charset="0"/>
                          </a:rPr>
                          <m:t>𝑟</m:t>
                        </m:r>
                      </m:e>
                      <m:sup>
                        <m:r>
                          <a:rPr lang="fa-IR">
                            <a:latin typeface="Cambria Math" panose="02040503050406030204" pitchFamily="18" charset="0"/>
                          </a:rPr>
                          <m:t>′</m:t>
                        </m:r>
                      </m:sup>
                    </m:sSup>
                  </m:oMath>
                </a14:m>
                <a:r>
                  <a:rPr lang="fa-IR" dirty="0"/>
                  <a:t>بسازیم که آن وابستگی </a:t>
                </a:r>
                <a:r>
                  <a:rPr lang="fa-IR" dirty="0" err="1"/>
                  <a:t>چندمقداری</a:t>
                </a:r>
                <a:r>
                  <a:rPr lang="fa-IR" dirty="0"/>
                  <a:t> را رعایت کند، با اضافه کردن </a:t>
                </a:r>
                <a:r>
                  <a:rPr lang="fa-IR" dirty="0" err="1"/>
                  <a:t>تپل‌ها</a:t>
                </a:r>
                <a:r>
                  <a:rPr lang="fa-IR" dirty="0"/>
                  <a:t> به </a:t>
                </a:r>
                <a14:m>
                  <m:oMath xmlns:m="http://schemas.openxmlformats.org/officeDocument/2006/math">
                    <m:r>
                      <a:rPr lang="fa-IR" i="1">
                        <a:latin typeface="Cambria Math" panose="02040503050406030204" pitchFamily="18" charset="0"/>
                      </a:rPr>
                      <m:t>𝑟</m:t>
                    </m:r>
                  </m:oMath>
                </a14:m>
                <a:r>
                  <a:rPr lang="fa-IR" dirty="0"/>
                  <a:t>.</a:t>
                </a:r>
              </a:p>
              <a:p>
                <a:pPr algn="r" rtl="1"/>
                <a:endParaRPr lang="en-US" altLang="en-US" dirty="0"/>
              </a:p>
            </p:txBody>
          </p:sp>
        </mc:Choice>
        <mc:Fallback xmlns="">
          <p:sp>
            <p:nvSpPr>
              <p:cNvPr id="86019" name="Rectangle 3"/>
              <p:cNvSpPr>
                <a:spLocks noGrp="1" noRot="1" noChangeAspect="1" noMove="1" noResize="1" noEditPoints="1" noAdjustHandles="1" noChangeArrowheads="1" noChangeShapeType="1" noTextEdit="1"/>
              </p:cNvSpPr>
              <p:nvPr>
                <p:ph idx="1"/>
              </p:nvPr>
            </p:nvSpPr>
            <p:spPr>
              <a:xfrm>
                <a:off x="768351" y="1093788"/>
                <a:ext cx="7638802" cy="2900696"/>
              </a:xfrm>
              <a:blipFill>
                <a:blip r:embed="rId3"/>
                <a:stretch>
                  <a:fillRect l="-958" t="-2311" r="-958" b="-2941"/>
                </a:stretch>
              </a:blipFill>
            </p:spPr>
            <p:txBody>
              <a:bodyPr/>
              <a:lstStyle/>
              <a:p>
                <a:r>
                  <a:rPr lang="en-US">
                    <a:noFill/>
                  </a:rPr>
                  <a:t> </a:t>
                </a:r>
              </a:p>
            </p:txBody>
          </p:sp>
        </mc:Fallback>
      </mc:AlternateContent>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77218" name="Rectangle 2"/>
          <p:cNvSpPr>
            <a:spLocks noGrp="1" noChangeArrowheads="1"/>
          </p:cNvSpPr>
          <p:nvPr>
            <p:ph type="title"/>
          </p:nvPr>
        </p:nvSpPr>
        <p:spPr/>
        <p:txBody>
          <a:bodyPr/>
          <a:lstStyle/>
          <a:p>
            <a:pPr>
              <a:defRPr/>
            </a:pPr>
            <a:r>
              <a:rPr lang="en-US" altLang="en-US">
                <a:effectLst>
                  <a:outerShdw blurRad="38100" dist="38100" dir="2700000" algn="tl">
                    <a:srgbClr val="C0C0C0"/>
                  </a:outerShdw>
                </a:effectLst>
                <a:ea typeface="ＭＳ Ｐゴシック" pitchFamily="34" charset="-128"/>
              </a:rPr>
              <a:t>Theory of MVDs</a:t>
            </a:r>
          </a:p>
        </p:txBody>
      </p:sp>
      <mc:AlternateContent xmlns:mc="http://schemas.openxmlformats.org/markup-compatibility/2006" xmlns:a14="http://schemas.microsoft.com/office/drawing/2010/main">
        <mc:Choice Requires="a14">
          <p:sp>
            <p:nvSpPr>
              <p:cNvPr id="87043" name="Rectangle 3"/>
              <p:cNvSpPr>
                <a:spLocks noGrp="1" noChangeArrowheads="1"/>
              </p:cNvSpPr>
              <p:nvPr>
                <p:ph idx="1"/>
              </p:nvPr>
            </p:nvSpPr>
            <p:spPr>
              <a:xfrm>
                <a:off x="768351" y="1097449"/>
                <a:ext cx="7621048" cy="3956398"/>
              </a:xfrm>
            </p:spPr>
            <p:txBody>
              <a:bodyPr/>
              <a:lstStyle/>
              <a:p>
                <a:pPr algn="r" rtl="1"/>
                <a:r>
                  <a:rPr lang="fa-IR" dirty="0"/>
                  <a:t>از تعریف </a:t>
                </a:r>
                <a:r>
                  <a:rPr lang="fa-IR" b="1" dirty="0"/>
                  <a:t>وابستگی </a:t>
                </a:r>
                <a:r>
                  <a:rPr lang="fa-IR" b="1" dirty="0" err="1"/>
                  <a:t>چندمقداری</a:t>
                </a:r>
                <a:r>
                  <a:rPr lang="fa-IR" dirty="0"/>
                  <a:t> </a:t>
                </a:r>
                <a:r>
                  <a:rPr lang="fa-IR" dirty="0" err="1"/>
                  <a:t>می‌توان</a:t>
                </a:r>
                <a:r>
                  <a:rPr lang="fa-IR" dirty="0"/>
                  <a:t> قانون زیر را نتیجه گرفت:</a:t>
                </a:r>
                <a:br>
                  <a:rPr lang="fa-IR" dirty="0"/>
                </a:br>
                <a:r>
                  <a:rPr lang="fa-IR" dirty="0"/>
                  <a:t>اگر </a:t>
                </a:r>
                <a14:m>
                  <m:oMath xmlns:m="http://schemas.openxmlformats.org/officeDocument/2006/math">
                    <m:r>
                      <a:rPr lang="fa-IR" i="1">
                        <a:latin typeface="Cambria Math" panose="02040503050406030204" pitchFamily="18" charset="0"/>
                      </a:rPr>
                      <m:t>𝛼</m:t>
                    </m:r>
                    <m:r>
                      <a:rPr lang="fa-IR">
                        <a:latin typeface="Cambria Math" panose="02040503050406030204" pitchFamily="18" charset="0"/>
                      </a:rPr>
                      <m:t>→</m:t>
                    </m:r>
                    <m:r>
                      <a:rPr lang="fa-IR" i="1">
                        <a:latin typeface="Cambria Math" panose="02040503050406030204" pitchFamily="18" charset="0"/>
                      </a:rPr>
                      <m:t>𝛽</m:t>
                    </m:r>
                  </m:oMath>
                </a14:m>
                <a:r>
                  <a:rPr lang="fa-IR" dirty="0"/>
                  <a:t>، آنگاه </a:t>
                </a:r>
                <a14:m>
                  <m:oMath xmlns:m="http://schemas.openxmlformats.org/officeDocument/2006/math">
                    <m:r>
                      <a:rPr lang="fa-IR" i="1">
                        <a:latin typeface="Cambria Math" panose="02040503050406030204" pitchFamily="18" charset="0"/>
                      </a:rPr>
                      <m:t>𝛼</m:t>
                    </m:r>
                    <m:r>
                      <a:rPr lang="fa-IR">
                        <a:latin typeface="Cambria Math" panose="02040503050406030204" pitchFamily="18" charset="0"/>
                      </a:rPr>
                      <m:t>↠</m:t>
                    </m:r>
                    <m:r>
                      <a:rPr lang="fa-IR" i="1">
                        <a:latin typeface="Cambria Math" panose="02040503050406030204" pitchFamily="18" charset="0"/>
                      </a:rPr>
                      <m:t>𝛽</m:t>
                    </m:r>
                  </m:oMath>
                </a14:m>
                <a:br>
                  <a:rPr lang="fa-IR" dirty="0"/>
                </a:br>
                <a:r>
                  <a:rPr lang="fa-IR" dirty="0"/>
                  <a:t>یعنی هر </a:t>
                </a:r>
                <a:r>
                  <a:rPr lang="fa-IR" b="1" dirty="0"/>
                  <a:t>وابستگی </a:t>
                </a:r>
                <a:r>
                  <a:rPr lang="fa-IR" b="1" dirty="0" err="1"/>
                  <a:t>تابعی</a:t>
                </a:r>
                <a:r>
                  <a:rPr lang="fa-IR" dirty="0"/>
                  <a:t> نیز یک </a:t>
                </a:r>
                <a:r>
                  <a:rPr lang="fa-IR" b="1" dirty="0"/>
                  <a:t>وابستگی </a:t>
                </a:r>
                <a:r>
                  <a:rPr lang="fa-IR" b="1" dirty="0" err="1"/>
                  <a:t>چندمقداری</a:t>
                </a:r>
                <a:r>
                  <a:rPr lang="fa-IR" dirty="0"/>
                  <a:t> است.</a:t>
                </a:r>
              </a:p>
              <a:p>
                <a:pPr algn="r" rtl="1"/>
                <a:r>
                  <a:rPr lang="fa-IR" dirty="0"/>
                  <a:t>بسته </a:t>
                </a:r>
                <a14:m>
                  <m:oMath xmlns:m="http://schemas.openxmlformats.org/officeDocument/2006/math">
                    <m:sSup>
                      <m:sSupPr>
                        <m:ctrlPr>
                          <a:rPr lang="fa-IR" i="1">
                            <a:latin typeface="Cambria Math" panose="02040503050406030204" pitchFamily="18" charset="0"/>
                          </a:rPr>
                        </m:ctrlPr>
                      </m:sSupPr>
                      <m:e>
                        <m:r>
                          <a:rPr lang="fa-IR" i="1">
                            <a:latin typeface="Cambria Math" panose="02040503050406030204" pitchFamily="18" charset="0"/>
                          </a:rPr>
                          <m:t>𝐷</m:t>
                        </m:r>
                      </m:e>
                      <m:sup>
                        <m:r>
                          <a:rPr lang="fa-IR">
                            <a:latin typeface="Cambria Math" panose="02040503050406030204" pitchFamily="18" charset="0"/>
                          </a:rPr>
                          <m:t>+</m:t>
                        </m:r>
                      </m:sup>
                    </m:sSup>
                  </m:oMath>
                </a14:m>
                <a:r>
                  <a:rPr lang="fa-IR" dirty="0"/>
                  <a:t>از </a:t>
                </a:r>
                <a14:m>
                  <m:oMath xmlns:m="http://schemas.openxmlformats.org/officeDocument/2006/math">
                    <m:r>
                      <a:rPr lang="fa-IR" i="1">
                        <a:latin typeface="Cambria Math" panose="02040503050406030204" pitchFamily="18" charset="0"/>
                      </a:rPr>
                      <m:t>𝐷</m:t>
                    </m:r>
                  </m:oMath>
                </a14:m>
                <a:r>
                  <a:rPr lang="fa-IR" dirty="0"/>
                  <a:t>مجموعه تمام </a:t>
                </a:r>
                <a:r>
                  <a:rPr lang="fa-IR" dirty="0" err="1"/>
                  <a:t>وابستگی‌های</a:t>
                </a:r>
                <a:r>
                  <a:rPr lang="fa-IR" dirty="0"/>
                  <a:t> </a:t>
                </a:r>
                <a:r>
                  <a:rPr lang="fa-IR" dirty="0" err="1"/>
                  <a:t>تابعی</a:t>
                </a:r>
                <a:r>
                  <a:rPr lang="fa-IR" dirty="0"/>
                  <a:t> و </a:t>
                </a:r>
                <a:r>
                  <a:rPr lang="fa-IR" dirty="0" err="1"/>
                  <a:t>چندمقداری</a:t>
                </a:r>
                <a:r>
                  <a:rPr lang="fa-IR" dirty="0"/>
                  <a:t> است که </a:t>
                </a:r>
                <a:r>
                  <a:rPr lang="fa-IR" dirty="0" err="1"/>
                  <a:t>به‌طور</a:t>
                </a:r>
                <a:r>
                  <a:rPr lang="fa-IR" dirty="0"/>
                  <a:t> منطقی از </a:t>
                </a:r>
                <a14:m>
                  <m:oMath xmlns:m="http://schemas.openxmlformats.org/officeDocument/2006/math">
                    <m:r>
                      <a:rPr lang="fa-IR" i="1">
                        <a:latin typeface="Cambria Math" panose="02040503050406030204" pitchFamily="18" charset="0"/>
                      </a:rPr>
                      <m:t>𝐷</m:t>
                    </m:r>
                  </m:oMath>
                </a14:m>
                <a:r>
                  <a:rPr lang="fa-IR" dirty="0"/>
                  <a:t>نتیجه </a:t>
                </a:r>
                <a:r>
                  <a:rPr lang="fa-IR" dirty="0" err="1"/>
                  <a:t>می‌شوند</a:t>
                </a:r>
                <a:r>
                  <a:rPr lang="fa-IR" dirty="0"/>
                  <a:t>.</a:t>
                </a:r>
              </a:p>
              <a:p>
                <a:pPr algn="r" rtl="1"/>
                <a:r>
                  <a:rPr lang="fa-IR" dirty="0" err="1"/>
                  <a:t>می‌توانیم</a:t>
                </a:r>
                <a:r>
                  <a:rPr lang="fa-IR" dirty="0"/>
                  <a:t> </a:t>
                </a:r>
                <a14:m>
                  <m:oMath xmlns:m="http://schemas.openxmlformats.org/officeDocument/2006/math">
                    <m:sSup>
                      <m:sSupPr>
                        <m:ctrlPr>
                          <a:rPr lang="fa-IR" i="1">
                            <a:latin typeface="Cambria Math" panose="02040503050406030204" pitchFamily="18" charset="0"/>
                          </a:rPr>
                        </m:ctrlPr>
                      </m:sSupPr>
                      <m:e>
                        <m:r>
                          <a:rPr lang="fa-IR" i="1">
                            <a:latin typeface="Cambria Math" panose="02040503050406030204" pitchFamily="18" charset="0"/>
                          </a:rPr>
                          <m:t>𝐷</m:t>
                        </m:r>
                      </m:e>
                      <m:sup>
                        <m:r>
                          <a:rPr lang="fa-IR">
                            <a:latin typeface="Cambria Math" panose="02040503050406030204" pitchFamily="18" charset="0"/>
                          </a:rPr>
                          <m:t>+</m:t>
                        </m:r>
                      </m:sup>
                    </m:sSup>
                  </m:oMath>
                </a14:m>
                <a:r>
                  <a:rPr lang="fa-IR" dirty="0"/>
                  <a:t>را از </a:t>
                </a:r>
                <a14:m>
                  <m:oMath xmlns:m="http://schemas.openxmlformats.org/officeDocument/2006/math">
                    <m:r>
                      <a:rPr lang="fa-IR" i="1">
                        <a:latin typeface="Cambria Math" panose="02040503050406030204" pitchFamily="18" charset="0"/>
                      </a:rPr>
                      <m:t>𝐷</m:t>
                    </m:r>
                  </m:oMath>
                </a14:m>
                <a:r>
                  <a:rPr lang="fa-IR" dirty="0"/>
                  <a:t>محاسبه کنیم، با استفاده از تعاریف رسمی </a:t>
                </a:r>
                <a:r>
                  <a:rPr lang="fa-IR" b="1" dirty="0" err="1"/>
                  <a:t>وابستگی‌های</a:t>
                </a:r>
                <a:r>
                  <a:rPr lang="fa-IR" b="1" dirty="0"/>
                  <a:t> </a:t>
                </a:r>
                <a:r>
                  <a:rPr lang="fa-IR" b="1" dirty="0" err="1"/>
                  <a:t>تابعی</a:t>
                </a:r>
                <a:r>
                  <a:rPr lang="fa-IR" dirty="0"/>
                  <a:t> و </a:t>
                </a:r>
                <a:r>
                  <a:rPr lang="fa-IR" b="1" dirty="0" err="1"/>
                  <a:t>وابستگی‌های</a:t>
                </a:r>
                <a:r>
                  <a:rPr lang="fa-IR" b="1" dirty="0"/>
                  <a:t> </a:t>
                </a:r>
                <a:r>
                  <a:rPr lang="fa-IR" b="1" dirty="0" err="1"/>
                  <a:t>چندمقداری</a:t>
                </a:r>
                <a:r>
                  <a:rPr lang="fa-IR" dirty="0"/>
                  <a:t>.</a:t>
                </a:r>
              </a:p>
              <a:p>
                <a:pPr algn="r" rtl="1"/>
                <a:r>
                  <a:rPr lang="fa-IR" dirty="0"/>
                  <a:t>این نوع استدلال برای </a:t>
                </a:r>
                <a:r>
                  <a:rPr lang="fa-IR" dirty="0" err="1"/>
                  <a:t>وابستگی‌های</a:t>
                </a:r>
                <a:r>
                  <a:rPr lang="fa-IR" dirty="0"/>
                  <a:t> </a:t>
                </a:r>
                <a:r>
                  <a:rPr lang="fa-IR" dirty="0" err="1"/>
                  <a:t>چندمقداری</a:t>
                </a:r>
                <a:r>
                  <a:rPr lang="fa-IR" dirty="0"/>
                  <a:t> بسیار ساده کافی است، که به نظر </a:t>
                </a:r>
                <a:r>
                  <a:rPr lang="fa-IR" dirty="0" err="1"/>
                  <a:t>می‌رسد</a:t>
                </a:r>
                <a:r>
                  <a:rPr lang="fa-IR" dirty="0"/>
                  <a:t> در عمل </a:t>
                </a:r>
                <a:r>
                  <a:rPr lang="fa-IR" dirty="0" err="1"/>
                  <a:t>رایج‌ترین</a:t>
                </a:r>
                <a:r>
                  <a:rPr lang="fa-IR" dirty="0"/>
                  <a:t> هستند.</a:t>
                </a:r>
              </a:p>
              <a:p>
                <a:pPr algn="r" rtl="1"/>
                <a:r>
                  <a:rPr lang="fa-IR" dirty="0"/>
                  <a:t>برای </a:t>
                </a:r>
                <a:r>
                  <a:rPr lang="fa-IR" dirty="0" err="1"/>
                  <a:t>وابستگی‌های</a:t>
                </a:r>
                <a:r>
                  <a:rPr lang="fa-IR" dirty="0"/>
                  <a:t> </a:t>
                </a:r>
                <a:r>
                  <a:rPr lang="fa-IR" dirty="0" err="1"/>
                  <a:t>پیچیده‌تر</a:t>
                </a:r>
                <a:r>
                  <a:rPr lang="fa-IR" dirty="0"/>
                  <a:t>، بهتر است با استفاده از </a:t>
                </a:r>
                <a:r>
                  <a:rPr lang="fa-IR" b="1" dirty="0"/>
                  <a:t>سیستم قواعد استنتاج (</a:t>
                </a:r>
                <a:r>
                  <a:rPr lang="en-US" b="1" dirty="0"/>
                  <a:t>Appendix C)</a:t>
                </a:r>
                <a:r>
                  <a:rPr lang="en-US" dirty="0"/>
                  <a:t> </a:t>
                </a:r>
                <a:r>
                  <a:rPr lang="fa-IR" dirty="0"/>
                  <a:t>درباره </a:t>
                </a:r>
                <a:r>
                  <a:rPr lang="fa-IR" dirty="0" err="1"/>
                  <a:t>مجموعه‌ای</a:t>
                </a:r>
                <a:r>
                  <a:rPr lang="fa-IR" dirty="0"/>
                  <a:t> از </a:t>
                </a:r>
                <a:r>
                  <a:rPr lang="fa-IR" dirty="0" err="1"/>
                  <a:t>وابستگی‌ها</a:t>
                </a:r>
                <a:r>
                  <a:rPr lang="fa-IR" dirty="0"/>
                  <a:t> استدلال کنیم.</a:t>
                </a:r>
              </a:p>
              <a:p>
                <a:pPr algn="r" rtl="1"/>
                <a:endParaRPr lang="en-US" altLang="en-US" dirty="0"/>
              </a:p>
            </p:txBody>
          </p:sp>
        </mc:Choice>
        <mc:Fallback xmlns="">
          <p:sp>
            <p:nvSpPr>
              <p:cNvPr id="87043" name="Rectangle 3"/>
              <p:cNvSpPr>
                <a:spLocks noGrp="1" noRot="1" noChangeAspect="1" noMove="1" noResize="1" noEditPoints="1" noAdjustHandles="1" noChangeArrowheads="1" noChangeShapeType="1" noTextEdit="1"/>
              </p:cNvSpPr>
              <p:nvPr>
                <p:ph idx="1"/>
              </p:nvPr>
            </p:nvSpPr>
            <p:spPr>
              <a:xfrm>
                <a:off x="768351" y="1097449"/>
                <a:ext cx="7621048" cy="3956398"/>
              </a:xfrm>
              <a:blipFill>
                <a:blip r:embed="rId3"/>
                <a:stretch>
                  <a:fillRect l="-240" t="-2157" r="-960" b="-924"/>
                </a:stretch>
              </a:blipFill>
            </p:spPr>
            <p:txBody>
              <a:bodyPr/>
              <a:lstStyle/>
              <a:p>
                <a:r>
                  <a:rPr lang="en-US">
                    <a:noFill/>
                  </a:rPr>
                  <a:t> </a:t>
                </a:r>
              </a:p>
            </p:txBody>
          </p:sp>
        </mc:Fallback>
      </mc:AlternateContent>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79266" name="Rectangle 2"/>
          <p:cNvSpPr>
            <a:spLocks noGrp="1" noChangeArrowheads="1"/>
          </p:cNvSpPr>
          <p:nvPr>
            <p:ph type="title"/>
          </p:nvPr>
        </p:nvSpPr>
        <p:spPr/>
        <p:txBody>
          <a:bodyPr/>
          <a:lstStyle/>
          <a:p>
            <a:pPr>
              <a:defRPr/>
            </a:pPr>
            <a:r>
              <a:rPr lang="en-US" altLang="en-US">
                <a:effectLst>
                  <a:outerShdw blurRad="38100" dist="38100" dir="2700000" algn="tl">
                    <a:srgbClr val="C0C0C0"/>
                  </a:outerShdw>
                </a:effectLst>
                <a:ea typeface="ＭＳ Ｐゴシック" pitchFamily="34" charset="-128"/>
              </a:rPr>
              <a:t>Fourth Normal Form</a:t>
            </a:r>
          </a:p>
        </p:txBody>
      </p:sp>
      <mc:AlternateContent xmlns:mc="http://schemas.openxmlformats.org/markup-compatibility/2006" xmlns:a14="http://schemas.microsoft.com/office/drawing/2010/main">
        <mc:Choice Requires="a14">
          <p:sp>
            <p:nvSpPr>
              <p:cNvPr id="88067" name="Rectangle 3"/>
              <p:cNvSpPr>
                <a:spLocks noGrp="1" noChangeArrowheads="1"/>
              </p:cNvSpPr>
              <p:nvPr>
                <p:ph idx="1"/>
              </p:nvPr>
            </p:nvSpPr>
            <p:spPr>
              <a:xfrm>
                <a:off x="768350" y="1092614"/>
                <a:ext cx="7594415" cy="2241299"/>
              </a:xfrm>
            </p:spPr>
            <p:txBody>
              <a:bodyPr/>
              <a:lstStyle/>
              <a:p>
                <a:pPr algn="r" rtl="1"/>
                <a:r>
                  <a:rPr lang="fa-IR" dirty="0"/>
                  <a:t>یک طرح </a:t>
                </a:r>
                <a:r>
                  <a:rPr lang="fa-IR" dirty="0" err="1"/>
                  <a:t>رابطه‌ای</a:t>
                </a:r>
                <a:r>
                  <a:rPr lang="fa-IR" dirty="0"/>
                  <a:t> </a:t>
                </a:r>
                <a14:m>
                  <m:oMath xmlns:m="http://schemas.openxmlformats.org/officeDocument/2006/math">
                    <m:r>
                      <a:rPr lang="fa-IR" i="1">
                        <a:latin typeface="Cambria Math" panose="02040503050406030204" pitchFamily="18" charset="0"/>
                      </a:rPr>
                      <m:t>𝑅</m:t>
                    </m:r>
                  </m:oMath>
                </a14:m>
                <a:r>
                  <a:rPr lang="fa-IR" dirty="0"/>
                  <a:t>در </a:t>
                </a:r>
                <a:r>
                  <a:rPr lang="fa-IR" b="1" dirty="0"/>
                  <a:t>4</a:t>
                </a:r>
                <a:r>
                  <a:rPr lang="en-US" b="1" dirty="0"/>
                  <a:t>NF</a:t>
                </a:r>
                <a:r>
                  <a:rPr lang="en-US" dirty="0"/>
                  <a:t> </a:t>
                </a:r>
                <a:r>
                  <a:rPr lang="fa-IR" dirty="0"/>
                  <a:t>نسبت به مجموعه </a:t>
                </a:r>
                <a14:m>
                  <m:oMath xmlns:m="http://schemas.openxmlformats.org/officeDocument/2006/math">
                    <m:r>
                      <a:rPr lang="fa-IR" i="1">
                        <a:latin typeface="Cambria Math" panose="02040503050406030204" pitchFamily="18" charset="0"/>
                      </a:rPr>
                      <m:t>𝐷</m:t>
                    </m:r>
                  </m:oMath>
                </a14:m>
                <a:r>
                  <a:rPr lang="fa-IR" dirty="0"/>
                  <a:t>از </a:t>
                </a:r>
                <a:r>
                  <a:rPr lang="fa-IR" dirty="0" err="1"/>
                  <a:t>وابستگی‌های</a:t>
                </a:r>
                <a:r>
                  <a:rPr lang="fa-IR" dirty="0"/>
                  <a:t> </a:t>
                </a:r>
                <a:r>
                  <a:rPr lang="fa-IR" dirty="0" err="1"/>
                  <a:t>تابعی</a:t>
                </a:r>
                <a:r>
                  <a:rPr lang="fa-IR" dirty="0"/>
                  <a:t> و </a:t>
                </a:r>
                <a:r>
                  <a:rPr lang="fa-IR" dirty="0" err="1"/>
                  <a:t>چندمقداری</a:t>
                </a:r>
                <a:r>
                  <a:rPr lang="fa-IR" dirty="0"/>
                  <a:t> است، اگر برای تمام </a:t>
                </a:r>
                <a:r>
                  <a:rPr lang="fa-IR" dirty="0" err="1"/>
                  <a:t>وابستگی‌های</a:t>
                </a:r>
                <a:r>
                  <a:rPr lang="fa-IR" dirty="0"/>
                  <a:t> </a:t>
                </a:r>
                <a:r>
                  <a:rPr lang="fa-IR" dirty="0" err="1"/>
                  <a:t>چندمقداری</a:t>
                </a:r>
                <a:r>
                  <a:rPr lang="fa-IR" dirty="0"/>
                  <a:t> در </a:t>
                </a:r>
                <a14:m>
                  <m:oMath xmlns:m="http://schemas.openxmlformats.org/officeDocument/2006/math">
                    <m:sSup>
                      <m:sSupPr>
                        <m:ctrlPr>
                          <a:rPr lang="fa-IR" i="1">
                            <a:latin typeface="Cambria Math" panose="02040503050406030204" pitchFamily="18" charset="0"/>
                          </a:rPr>
                        </m:ctrlPr>
                      </m:sSupPr>
                      <m:e>
                        <m:r>
                          <a:rPr lang="fa-IR" i="1">
                            <a:latin typeface="Cambria Math" panose="02040503050406030204" pitchFamily="18" charset="0"/>
                          </a:rPr>
                          <m:t>𝐷</m:t>
                        </m:r>
                      </m:e>
                      <m:sup>
                        <m:r>
                          <a:rPr lang="fa-IR">
                            <a:latin typeface="Cambria Math" panose="02040503050406030204" pitchFamily="18" charset="0"/>
                          </a:rPr>
                          <m:t>+</m:t>
                        </m:r>
                      </m:sup>
                    </m:sSup>
                  </m:oMath>
                </a14:m>
                <a:r>
                  <a:rPr lang="fa-IR" dirty="0"/>
                  <a:t>به شکل </a:t>
                </a:r>
                <a14:m>
                  <m:oMath xmlns:m="http://schemas.openxmlformats.org/officeDocument/2006/math">
                    <m:r>
                      <a:rPr lang="fa-IR" i="1">
                        <a:latin typeface="Cambria Math" panose="02040503050406030204" pitchFamily="18" charset="0"/>
                      </a:rPr>
                      <m:t>𝛼</m:t>
                    </m:r>
                    <m:r>
                      <a:rPr lang="fa-IR">
                        <a:latin typeface="Cambria Math" panose="02040503050406030204" pitchFamily="18" charset="0"/>
                      </a:rPr>
                      <m:t>↠</m:t>
                    </m:r>
                    <m:r>
                      <a:rPr lang="fa-IR" i="1">
                        <a:latin typeface="Cambria Math" panose="02040503050406030204" pitchFamily="18" charset="0"/>
                      </a:rPr>
                      <m:t>𝛽</m:t>
                    </m:r>
                  </m:oMath>
                </a14:m>
                <a:r>
                  <a:rPr lang="fa-IR" dirty="0"/>
                  <a:t>، که </a:t>
                </a:r>
                <a14:m>
                  <m:oMath xmlns:m="http://schemas.openxmlformats.org/officeDocument/2006/math">
                    <m:r>
                      <a:rPr lang="fa-IR" i="1">
                        <a:latin typeface="Cambria Math" panose="02040503050406030204" pitchFamily="18" charset="0"/>
                      </a:rPr>
                      <m:t>𝛼</m:t>
                    </m:r>
                    <m:r>
                      <a:rPr lang="fa-IR">
                        <a:latin typeface="Cambria Math" panose="02040503050406030204" pitchFamily="18" charset="0"/>
                      </a:rPr>
                      <m:t>⊆</m:t>
                    </m:r>
                    <m:r>
                      <a:rPr lang="fa-IR" i="1">
                        <a:latin typeface="Cambria Math" panose="02040503050406030204" pitchFamily="18" charset="0"/>
                      </a:rPr>
                      <m:t>𝑅</m:t>
                    </m:r>
                  </m:oMath>
                </a14:m>
                <a:r>
                  <a:rPr lang="fa-IR" dirty="0"/>
                  <a:t>و </a:t>
                </a:r>
                <a14:m>
                  <m:oMath xmlns:m="http://schemas.openxmlformats.org/officeDocument/2006/math">
                    <m:r>
                      <a:rPr lang="fa-IR" i="1">
                        <a:latin typeface="Cambria Math" panose="02040503050406030204" pitchFamily="18" charset="0"/>
                      </a:rPr>
                      <m:t>𝛽</m:t>
                    </m:r>
                    <m:r>
                      <a:rPr lang="fa-IR">
                        <a:latin typeface="Cambria Math" panose="02040503050406030204" pitchFamily="18" charset="0"/>
                      </a:rPr>
                      <m:t>⊆</m:t>
                    </m:r>
                    <m:r>
                      <a:rPr lang="fa-IR" i="1">
                        <a:latin typeface="Cambria Math" panose="02040503050406030204" pitchFamily="18" charset="0"/>
                      </a:rPr>
                      <m:t>𝑅</m:t>
                    </m:r>
                  </m:oMath>
                </a14:m>
                <a:r>
                  <a:rPr lang="fa-IR" dirty="0"/>
                  <a:t>هستند، حداقل یکی از موارد زیر برقرار باشد:</a:t>
                </a:r>
              </a:p>
              <a:p>
                <a:pPr algn="r" rtl="1"/>
                <a14:m>
                  <m:oMath xmlns:m="http://schemas.openxmlformats.org/officeDocument/2006/math">
                    <m:r>
                      <a:rPr lang="fa-IR" i="1">
                        <a:latin typeface="Cambria Math" panose="02040503050406030204" pitchFamily="18" charset="0"/>
                      </a:rPr>
                      <m:t>𝛼</m:t>
                    </m:r>
                    <m:r>
                      <a:rPr lang="fa-IR">
                        <a:latin typeface="Cambria Math" panose="02040503050406030204" pitchFamily="18" charset="0"/>
                      </a:rPr>
                      <m:t>↠</m:t>
                    </m:r>
                    <m:r>
                      <a:rPr lang="fa-IR" i="1">
                        <a:latin typeface="Cambria Math" panose="02040503050406030204" pitchFamily="18" charset="0"/>
                      </a:rPr>
                      <m:t>𝛽</m:t>
                    </m:r>
                  </m:oMath>
                </a14:m>
                <a:r>
                  <a:rPr lang="fa-IR" b="1" dirty="0" err="1"/>
                  <a:t>تبیینی</a:t>
                </a:r>
                <a:r>
                  <a:rPr lang="fa-IR" b="1" dirty="0"/>
                  <a:t> (</a:t>
                </a:r>
                <a:r>
                  <a:rPr lang="en-US" b="1" dirty="0"/>
                  <a:t>trivial)</a:t>
                </a:r>
                <a:r>
                  <a:rPr lang="en-US" dirty="0"/>
                  <a:t> </a:t>
                </a:r>
                <a:r>
                  <a:rPr lang="fa-IR" dirty="0"/>
                  <a:t>است (یعنی </a:t>
                </a:r>
                <a14:m>
                  <m:oMath xmlns:m="http://schemas.openxmlformats.org/officeDocument/2006/math">
                    <m:r>
                      <a:rPr lang="fa-IR" i="1">
                        <a:latin typeface="Cambria Math" panose="02040503050406030204" pitchFamily="18" charset="0"/>
                      </a:rPr>
                      <m:t>𝛽</m:t>
                    </m:r>
                    <m:r>
                      <a:rPr lang="fa-IR">
                        <a:latin typeface="Cambria Math" panose="02040503050406030204" pitchFamily="18" charset="0"/>
                      </a:rPr>
                      <m:t>⊆</m:t>
                    </m:r>
                    <m:r>
                      <a:rPr lang="fa-IR" i="1">
                        <a:latin typeface="Cambria Math" panose="02040503050406030204" pitchFamily="18" charset="0"/>
                      </a:rPr>
                      <m:t>𝛼</m:t>
                    </m:r>
                  </m:oMath>
                </a14:m>
                <a:r>
                  <a:rPr lang="fa-IR" dirty="0"/>
                  <a:t>یا </a:t>
                </a:r>
                <a14:m>
                  <m:oMath xmlns:m="http://schemas.openxmlformats.org/officeDocument/2006/math">
                    <m:r>
                      <a:rPr lang="fa-IR" i="1">
                        <a:latin typeface="Cambria Math" panose="02040503050406030204" pitchFamily="18" charset="0"/>
                      </a:rPr>
                      <m:t>𝛼</m:t>
                    </m:r>
                    <m:r>
                      <a:rPr lang="fa-IR">
                        <a:latin typeface="Cambria Math" panose="02040503050406030204" pitchFamily="18" charset="0"/>
                      </a:rPr>
                      <m:t>∪</m:t>
                    </m:r>
                    <m:r>
                      <a:rPr lang="fa-IR" i="1">
                        <a:latin typeface="Cambria Math" panose="02040503050406030204" pitchFamily="18" charset="0"/>
                      </a:rPr>
                      <m:t>𝛽</m:t>
                    </m:r>
                    <m:r>
                      <a:rPr lang="fa-IR">
                        <a:latin typeface="Cambria Math" panose="02040503050406030204" pitchFamily="18" charset="0"/>
                      </a:rPr>
                      <m:t>=</m:t>
                    </m:r>
                    <m:r>
                      <a:rPr lang="fa-IR" i="1">
                        <a:latin typeface="Cambria Math" panose="02040503050406030204" pitchFamily="18" charset="0"/>
                      </a:rPr>
                      <m:t>𝑅</m:t>
                    </m:r>
                  </m:oMath>
                </a14:m>
                <a:r>
                  <a:rPr lang="fa-IR" dirty="0"/>
                  <a:t>)</a:t>
                </a:r>
              </a:p>
              <a:p>
                <a:pPr algn="r" rtl="1"/>
                <a14:m>
                  <m:oMath xmlns:m="http://schemas.openxmlformats.org/officeDocument/2006/math">
                    <m:r>
                      <a:rPr lang="fa-IR" i="1">
                        <a:latin typeface="Cambria Math" panose="02040503050406030204" pitchFamily="18" charset="0"/>
                      </a:rPr>
                      <m:t>𝛼</m:t>
                    </m:r>
                  </m:oMath>
                </a14:m>
                <a:r>
                  <a:rPr lang="fa-IR" dirty="0"/>
                  <a:t>یک </a:t>
                </a:r>
                <a:r>
                  <a:rPr lang="fa-IR" b="1" dirty="0" err="1"/>
                  <a:t>ابرکلید</a:t>
                </a:r>
                <a:r>
                  <a:rPr lang="fa-IR" dirty="0"/>
                  <a:t> برای طرح </a:t>
                </a:r>
                <a:r>
                  <a:rPr lang="fa-IR" dirty="0" err="1"/>
                  <a:t>رابطه‌ای</a:t>
                </a:r>
                <a:r>
                  <a:rPr lang="fa-IR" dirty="0"/>
                  <a:t> </a:t>
                </a:r>
                <a14:m>
                  <m:oMath xmlns:m="http://schemas.openxmlformats.org/officeDocument/2006/math">
                    <m:r>
                      <a:rPr lang="fa-IR" i="1">
                        <a:latin typeface="Cambria Math" panose="02040503050406030204" pitchFamily="18" charset="0"/>
                      </a:rPr>
                      <m:t>𝑅</m:t>
                    </m:r>
                  </m:oMath>
                </a14:m>
                <a:r>
                  <a:rPr lang="fa-IR" dirty="0"/>
                  <a:t>است</a:t>
                </a:r>
              </a:p>
              <a:p>
                <a:pPr algn="r" rtl="1"/>
                <a:r>
                  <a:rPr lang="fa-IR" dirty="0"/>
                  <a:t>اگر یک رابطه در </a:t>
                </a:r>
                <a:r>
                  <a:rPr lang="fa-IR" b="1" dirty="0"/>
                  <a:t>4</a:t>
                </a:r>
                <a:r>
                  <a:rPr lang="en-US" b="1" dirty="0"/>
                  <a:t>NF</a:t>
                </a:r>
                <a:r>
                  <a:rPr lang="en-US" dirty="0"/>
                  <a:t> </a:t>
                </a:r>
                <a:r>
                  <a:rPr lang="fa-IR" dirty="0"/>
                  <a:t>باشد، آنگاه در </a:t>
                </a:r>
                <a:r>
                  <a:rPr lang="en-US" b="1" dirty="0"/>
                  <a:t>BCNF</a:t>
                </a:r>
                <a:r>
                  <a:rPr lang="en-US" dirty="0"/>
                  <a:t> </a:t>
                </a:r>
                <a:r>
                  <a:rPr lang="fa-IR" dirty="0"/>
                  <a:t>نیز هست.</a:t>
                </a:r>
              </a:p>
              <a:p>
                <a:pPr algn="r" rtl="1"/>
                <a:endParaRPr lang="en-US" altLang="en-US" dirty="0">
                  <a:sym typeface="Greek Symbols"/>
                </a:endParaRPr>
              </a:p>
            </p:txBody>
          </p:sp>
        </mc:Choice>
        <mc:Fallback xmlns="">
          <p:sp>
            <p:nvSpPr>
              <p:cNvPr id="88067" name="Rectangle 3"/>
              <p:cNvSpPr>
                <a:spLocks noGrp="1" noRot="1" noChangeAspect="1" noMove="1" noResize="1" noEditPoints="1" noAdjustHandles="1" noChangeArrowheads="1" noChangeShapeType="1" noTextEdit="1"/>
              </p:cNvSpPr>
              <p:nvPr>
                <p:ph idx="1"/>
              </p:nvPr>
            </p:nvSpPr>
            <p:spPr>
              <a:xfrm>
                <a:off x="768350" y="1092614"/>
                <a:ext cx="7594415" cy="2241299"/>
              </a:xfrm>
              <a:blipFill>
                <a:blip r:embed="rId3"/>
                <a:stretch>
                  <a:fillRect t="-3261" r="-963" b="-5435"/>
                </a:stretch>
              </a:blipFill>
            </p:spPr>
            <p:txBody>
              <a:bodyPr/>
              <a:lstStyle/>
              <a:p>
                <a:r>
                  <a:rPr lang="en-US">
                    <a:noFill/>
                  </a:rPr>
                  <a:t> </a:t>
                </a:r>
              </a:p>
            </p:txBody>
          </p:sp>
        </mc:Fallback>
      </mc:AlternateContent>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81314" name="Rectangle 2"/>
          <p:cNvSpPr>
            <a:spLocks noGrp="1" noChangeArrowheads="1"/>
          </p:cNvSpPr>
          <p:nvPr>
            <p:ph type="title"/>
          </p:nvPr>
        </p:nvSpPr>
        <p:spPr>
          <a:xfrm>
            <a:off x="873125" y="79375"/>
            <a:ext cx="8077200" cy="609600"/>
          </a:xfrm>
        </p:spPr>
        <p:txBody>
          <a:bodyPr/>
          <a:lstStyle/>
          <a:p>
            <a:pPr>
              <a:defRPr/>
            </a:pPr>
            <a:r>
              <a:rPr lang="en-US" altLang="en-US" dirty="0">
                <a:effectLst>
                  <a:outerShdw blurRad="38100" dist="38100" dir="2700000" algn="tl">
                    <a:srgbClr val="C0C0C0"/>
                  </a:outerShdw>
                </a:effectLst>
                <a:ea typeface="ＭＳ Ｐゴシック" pitchFamily="34" charset="-128"/>
              </a:rPr>
              <a:t>Restriction of Multivalued Dependencies</a:t>
            </a:r>
          </a:p>
        </p:txBody>
      </p:sp>
      <mc:AlternateContent xmlns:mc="http://schemas.openxmlformats.org/markup-compatibility/2006" xmlns:a14="http://schemas.microsoft.com/office/drawing/2010/main">
        <mc:Choice Requires="a14">
          <p:sp>
            <p:nvSpPr>
              <p:cNvPr id="89091" name="Rectangle 3"/>
              <p:cNvSpPr>
                <a:spLocks noGrp="1" noChangeArrowheads="1"/>
              </p:cNvSpPr>
              <p:nvPr>
                <p:ph idx="1"/>
              </p:nvPr>
            </p:nvSpPr>
            <p:spPr>
              <a:xfrm>
                <a:off x="763480" y="1093788"/>
                <a:ext cx="7964851" cy="2359275"/>
              </a:xfrm>
            </p:spPr>
            <p:txBody>
              <a:bodyPr/>
              <a:lstStyle/>
              <a:p>
                <a:pPr algn="r" rtl="1"/>
                <a:r>
                  <a:rPr lang="fa-IR" dirty="0" err="1"/>
                  <a:t>محدودسازی</a:t>
                </a:r>
                <a:r>
                  <a:rPr lang="fa-IR" dirty="0"/>
                  <a:t> </a:t>
                </a:r>
                <a14:m>
                  <m:oMath xmlns:m="http://schemas.openxmlformats.org/officeDocument/2006/math">
                    <m:r>
                      <a:rPr lang="fa-IR" i="1">
                        <a:latin typeface="Cambria Math" panose="02040503050406030204" pitchFamily="18" charset="0"/>
                      </a:rPr>
                      <m:t>𝐷</m:t>
                    </m:r>
                  </m:oMath>
                </a14:m>
                <a:r>
                  <a:rPr lang="fa-IR" dirty="0"/>
                  <a:t>به </a:t>
                </a:r>
                <a14:m>
                  <m:oMath xmlns:m="http://schemas.openxmlformats.org/officeDocument/2006/math">
                    <m:sSub>
                      <m:sSubPr>
                        <m:ctrlPr>
                          <a:rPr lang="fa-IR" i="1">
                            <a:latin typeface="Cambria Math" panose="02040503050406030204" pitchFamily="18" charset="0"/>
                          </a:rPr>
                        </m:ctrlPr>
                      </m:sSubPr>
                      <m:e>
                        <m:r>
                          <a:rPr lang="fa-IR" i="1">
                            <a:latin typeface="Cambria Math" panose="02040503050406030204" pitchFamily="18" charset="0"/>
                          </a:rPr>
                          <m:t>𝑅</m:t>
                        </m:r>
                      </m:e>
                      <m:sub>
                        <m:r>
                          <a:rPr lang="fa-IR" i="1">
                            <a:latin typeface="Cambria Math" panose="02040503050406030204" pitchFamily="18" charset="0"/>
                          </a:rPr>
                          <m:t>𝑖</m:t>
                        </m:r>
                      </m:sub>
                    </m:sSub>
                  </m:oMath>
                </a14:m>
                <a:r>
                  <a:rPr lang="fa-IR" dirty="0"/>
                  <a:t>مجموعه </a:t>
                </a:r>
                <a14:m>
                  <m:oMath xmlns:m="http://schemas.openxmlformats.org/officeDocument/2006/math">
                    <m:sSub>
                      <m:sSubPr>
                        <m:ctrlPr>
                          <a:rPr lang="fa-IR" i="1">
                            <a:latin typeface="Cambria Math" panose="02040503050406030204" pitchFamily="18" charset="0"/>
                          </a:rPr>
                        </m:ctrlPr>
                      </m:sSubPr>
                      <m:e>
                        <m:r>
                          <a:rPr lang="fa-IR" i="1">
                            <a:latin typeface="Cambria Math" panose="02040503050406030204" pitchFamily="18" charset="0"/>
                          </a:rPr>
                          <m:t>𝐷</m:t>
                        </m:r>
                      </m:e>
                      <m:sub>
                        <m:r>
                          <a:rPr lang="fa-IR" i="1">
                            <a:latin typeface="Cambria Math" panose="02040503050406030204" pitchFamily="18" charset="0"/>
                          </a:rPr>
                          <m:t>𝑖</m:t>
                        </m:r>
                      </m:sub>
                    </m:sSub>
                  </m:oMath>
                </a14:m>
                <a:r>
                  <a:rPr lang="fa-IR" dirty="0"/>
                  <a:t>است که شامل موارد زیر </a:t>
                </a:r>
                <a:r>
                  <a:rPr lang="fa-IR" dirty="0" err="1"/>
                  <a:t>می‌باشد</a:t>
                </a:r>
                <a:r>
                  <a:rPr lang="fa-IR" dirty="0"/>
                  <a:t>:</a:t>
                </a:r>
              </a:p>
              <a:p>
                <a:pPr algn="r" rtl="1"/>
                <a:r>
                  <a:rPr lang="fa-IR" dirty="0"/>
                  <a:t>تمام </a:t>
                </a:r>
                <a:r>
                  <a:rPr lang="fa-IR" b="1" dirty="0" err="1"/>
                  <a:t>وابستگی‌های</a:t>
                </a:r>
                <a:r>
                  <a:rPr lang="fa-IR" b="1" dirty="0"/>
                  <a:t> </a:t>
                </a:r>
                <a:r>
                  <a:rPr lang="fa-IR" b="1" dirty="0" err="1"/>
                  <a:t>تابعی</a:t>
                </a:r>
                <a:r>
                  <a:rPr lang="fa-IR" dirty="0"/>
                  <a:t> در </a:t>
                </a:r>
                <a14:m>
                  <m:oMath xmlns:m="http://schemas.openxmlformats.org/officeDocument/2006/math">
                    <m:sSup>
                      <m:sSupPr>
                        <m:ctrlPr>
                          <a:rPr lang="fa-IR" i="1">
                            <a:latin typeface="Cambria Math" panose="02040503050406030204" pitchFamily="18" charset="0"/>
                          </a:rPr>
                        </m:ctrlPr>
                      </m:sSupPr>
                      <m:e>
                        <m:r>
                          <a:rPr lang="fa-IR" i="1">
                            <a:latin typeface="Cambria Math" panose="02040503050406030204" pitchFamily="18" charset="0"/>
                          </a:rPr>
                          <m:t>𝐷</m:t>
                        </m:r>
                      </m:e>
                      <m:sup>
                        <m:r>
                          <a:rPr lang="fa-IR">
                            <a:latin typeface="Cambria Math" panose="02040503050406030204" pitchFamily="18" charset="0"/>
                          </a:rPr>
                          <m:t>+</m:t>
                        </m:r>
                      </m:sup>
                    </m:sSup>
                  </m:oMath>
                </a14:m>
                <a:r>
                  <a:rPr lang="fa-IR" dirty="0"/>
                  <a:t>که فقط شامل صفات موجود در </a:t>
                </a:r>
                <a14:m>
                  <m:oMath xmlns:m="http://schemas.openxmlformats.org/officeDocument/2006/math">
                    <m:sSub>
                      <m:sSubPr>
                        <m:ctrlPr>
                          <a:rPr lang="fa-IR" i="1">
                            <a:latin typeface="Cambria Math" panose="02040503050406030204" pitchFamily="18" charset="0"/>
                          </a:rPr>
                        </m:ctrlPr>
                      </m:sSubPr>
                      <m:e>
                        <m:r>
                          <a:rPr lang="fa-IR" i="1">
                            <a:latin typeface="Cambria Math" panose="02040503050406030204" pitchFamily="18" charset="0"/>
                          </a:rPr>
                          <m:t>𝑅</m:t>
                        </m:r>
                      </m:e>
                      <m:sub>
                        <m:r>
                          <a:rPr lang="fa-IR" i="1">
                            <a:latin typeface="Cambria Math" panose="02040503050406030204" pitchFamily="18" charset="0"/>
                          </a:rPr>
                          <m:t>𝑖</m:t>
                        </m:r>
                      </m:sub>
                    </m:sSub>
                  </m:oMath>
                </a14:m>
                <a:r>
                  <a:rPr lang="fa-IR" dirty="0"/>
                  <a:t>هستند</a:t>
                </a:r>
              </a:p>
              <a:p>
                <a:pPr algn="r" rtl="1"/>
                <a:r>
                  <a:rPr lang="fa-IR" dirty="0"/>
                  <a:t>تمام </a:t>
                </a:r>
                <a:r>
                  <a:rPr lang="fa-IR" b="1" dirty="0" err="1"/>
                  <a:t>وابستگی‌های</a:t>
                </a:r>
                <a:r>
                  <a:rPr lang="fa-IR" b="1" dirty="0"/>
                  <a:t> </a:t>
                </a:r>
                <a:r>
                  <a:rPr lang="fa-IR" b="1" dirty="0" err="1"/>
                  <a:t>چندمقداری</a:t>
                </a:r>
                <a:r>
                  <a:rPr lang="fa-IR" dirty="0"/>
                  <a:t> به شکل</a:t>
                </a:r>
              </a:p>
              <a:p>
                <a:pPr algn="r" rtl="1"/>
                <a14:m>
                  <m:oMath xmlns:m="http://schemas.openxmlformats.org/officeDocument/2006/math">
                    <m:r>
                      <a:rPr lang="fa-IR" i="1">
                        <a:latin typeface="Cambria Math" panose="02040503050406030204" pitchFamily="18" charset="0"/>
                      </a:rPr>
                      <m:t>𝛼</m:t>
                    </m:r>
                    <m:r>
                      <a:rPr lang="fa-IR">
                        <a:latin typeface="Cambria Math" panose="02040503050406030204" pitchFamily="18" charset="0"/>
                      </a:rPr>
                      <m:t>↠</m:t>
                    </m:r>
                    <m:d>
                      <m:dPr>
                        <m:ctrlPr>
                          <a:rPr lang="fa-IR" i="1">
                            <a:latin typeface="Cambria Math" panose="02040503050406030204" pitchFamily="18" charset="0"/>
                          </a:rPr>
                        </m:ctrlPr>
                      </m:dPr>
                      <m:e>
                        <m:r>
                          <a:rPr lang="fa-IR" i="1">
                            <a:latin typeface="Cambria Math" panose="02040503050406030204" pitchFamily="18" charset="0"/>
                          </a:rPr>
                          <m:t>𝛽</m:t>
                        </m:r>
                        <m:r>
                          <a:rPr lang="fa-IR">
                            <a:latin typeface="Cambria Math" panose="02040503050406030204" pitchFamily="18" charset="0"/>
                          </a:rPr>
                          <m:t>∩</m:t>
                        </m:r>
                        <m:sSub>
                          <m:sSubPr>
                            <m:ctrlPr>
                              <a:rPr lang="fa-IR" i="1">
                                <a:latin typeface="Cambria Math" panose="02040503050406030204" pitchFamily="18" charset="0"/>
                              </a:rPr>
                            </m:ctrlPr>
                          </m:sSubPr>
                          <m:e>
                            <m:r>
                              <a:rPr lang="fa-IR" i="1">
                                <a:latin typeface="Cambria Math" panose="02040503050406030204" pitchFamily="18" charset="0"/>
                              </a:rPr>
                              <m:t>𝑅</m:t>
                            </m:r>
                          </m:e>
                          <m:sub>
                            <m:r>
                              <a:rPr lang="fa-IR" i="1">
                                <a:latin typeface="Cambria Math" panose="02040503050406030204" pitchFamily="18" charset="0"/>
                              </a:rPr>
                              <m:t>𝑖</m:t>
                            </m:r>
                          </m:sub>
                        </m:sSub>
                      </m:e>
                    </m:d>
                  </m:oMath>
                </a14:m>
                <a:endParaRPr lang="fa-IR" dirty="0"/>
              </a:p>
              <a:p>
                <a:pPr algn="r" rtl="1"/>
                <a:r>
                  <a:rPr lang="fa-IR" dirty="0"/>
                  <a:t>که </a:t>
                </a:r>
                <a14:m>
                  <m:oMath xmlns:m="http://schemas.openxmlformats.org/officeDocument/2006/math">
                    <m:r>
                      <a:rPr lang="fa-IR" i="1">
                        <a:latin typeface="Cambria Math" panose="02040503050406030204" pitchFamily="18" charset="0"/>
                      </a:rPr>
                      <m:t>𝛼</m:t>
                    </m:r>
                    <m:r>
                      <a:rPr lang="fa-IR">
                        <a:latin typeface="Cambria Math" panose="02040503050406030204" pitchFamily="18" charset="0"/>
                      </a:rPr>
                      <m:t>⊆</m:t>
                    </m:r>
                    <m:sSub>
                      <m:sSubPr>
                        <m:ctrlPr>
                          <a:rPr lang="fa-IR" i="1">
                            <a:latin typeface="Cambria Math" panose="02040503050406030204" pitchFamily="18" charset="0"/>
                          </a:rPr>
                        </m:ctrlPr>
                      </m:sSubPr>
                      <m:e>
                        <m:r>
                          <a:rPr lang="fa-IR" i="1">
                            <a:latin typeface="Cambria Math" panose="02040503050406030204" pitchFamily="18" charset="0"/>
                          </a:rPr>
                          <m:t>𝑅</m:t>
                        </m:r>
                      </m:e>
                      <m:sub>
                        <m:r>
                          <a:rPr lang="fa-IR" i="1">
                            <a:latin typeface="Cambria Math" panose="02040503050406030204" pitchFamily="18" charset="0"/>
                          </a:rPr>
                          <m:t>𝑖</m:t>
                        </m:r>
                      </m:sub>
                    </m:sSub>
                  </m:oMath>
                </a14:m>
                <a:r>
                  <a:rPr lang="fa-IR" dirty="0"/>
                  <a:t>و </a:t>
                </a:r>
                <a14:m>
                  <m:oMath xmlns:m="http://schemas.openxmlformats.org/officeDocument/2006/math">
                    <m:r>
                      <a:rPr lang="fa-IR" i="1">
                        <a:latin typeface="Cambria Math" panose="02040503050406030204" pitchFamily="18" charset="0"/>
                      </a:rPr>
                      <m:t>𝛼</m:t>
                    </m:r>
                    <m:r>
                      <a:rPr lang="fa-IR">
                        <a:latin typeface="Cambria Math" panose="02040503050406030204" pitchFamily="18" charset="0"/>
                      </a:rPr>
                      <m:t>↠</m:t>
                    </m:r>
                    <m:r>
                      <a:rPr lang="fa-IR" i="1">
                        <a:latin typeface="Cambria Math" panose="02040503050406030204" pitchFamily="18" charset="0"/>
                      </a:rPr>
                      <m:t>𝛽</m:t>
                    </m:r>
                  </m:oMath>
                </a14:m>
                <a:r>
                  <a:rPr lang="fa-IR" dirty="0"/>
                  <a:t>در </a:t>
                </a:r>
                <a14:m>
                  <m:oMath xmlns:m="http://schemas.openxmlformats.org/officeDocument/2006/math">
                    <m:sSup>
                      <m:sSupPr>
                        <m:ctrlPr>
                          <a:rPr lang="fa-IR" i="1">
                            <a:latin typeface="Cambria Math" panose="02040503050406030204" pitchFamily="18" charset="0"/>
                          </a:rPr>
                        </m:ctrlPr>
                      </m:sSupPr>
                      <m:e>
                        <m:r>
                          <a:rPr lang="fa-IR" i="1">
                            <a:latin typeface="Cambria Math" panose="02040503050406030204" pitchFamily="18" charset="0"/>
                          </a:rPr>
                          <m:t>𝐷</m:t>
                        </m:r>
                      </m:e>
                      <m:sup>
                        <m:r>
                          <a:rPr lang="fa-IR">
                            <a:latin typeface="Cambria Math" panose="02040503050406030204" pitchFamily="18" charset="0"/>
                          </a:rPr>
                          <m:t>+</m:t>
                        </m:r>
                      </m:sup>
                    </m:sSup>
                  </m:oMath>
                </a14:m>
                <a:r>
                  <a:rPr lang="fa-IR" dirty="0"/>
                  <a:t>قرار دارد.</a:t>
                </a:r>
              </a:p>
              <a:p>
                <a:pPr algn="r" rtl="1"/>
                <a:endParaRPr lang="en-US" altLang="en-US" dirty="0"/>
              </a:p>
            </p:txBody>
          </p:sp>
        </mc:Choice>
        <mc:Fallback xmlns="">
          <p:sp>
            <p:nvSpPr>
              <p:cNvPr id="89091" name="Rectangle 3"/>
              <p:cNvSpPr>
                <a:spLocks noGrp="1" noRot="1" noChangeAspect="1" noMove="1" noResize="1" noEditPoints="1" noAdjustHandles="1" noChangeArrowheads="1" noChangeShapeType="1" noTextEdit="1"/>
              </p:cNvSpPr>
              <p:nvPr>
                <p:ph idx="1"/>
              </p:nvPr>
            </p:nvSpPr>
            <p:spPr>
              <a:xfrm>
                <a:off x="763480" y="1093788"/>
                <a:ext cx="7964851" cy="2359275"/>
              </a:xfrm>
              <a:blipFill>
                <a:blip r:embed="rId3"/>
                <a:stretch>
                  <a:fillRect t="-2842" r="-918"/>
                </a:stretch>
              </a:blipFill>
            </p:spPr>
            <p:txBody>
              <a:bodyPr/>
              <a:lstStyle/>
              <a:p>
                <a:r>
                  <a:rPr lang="en-US">
                    <a:noFill/>
                  </a:rPr>
                  <a:t> </a:t>
                </a:r>
              </a:p>
            </p:txBody>
          </p:sp>
        </mc:Fallback>
      </mc:AlternateContent>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83362" name="Rectangle 2"/>
          <p:cNvSpPr>
            <a:spLocks noGrp="1" noChangeArrowheads="1"/>
          </p:cNvSpPr>
          <p:nvPr>
            <p:ph type="title"/>
          </p:nvPr>
        </p:nvSpPr>
        <p:spPr/>
        <p:txBody>
          <a:bodyPr/>
          <a:lstStyle/>
          <a:p>
            <a:pPr>
              <a:defRPr/>
            </a:pPr>
            <a:r>
              <a:rPr lang="en-US" altLang="en-US">
                <a:effectLst>
                  <a:outerShdw blurRad="38100" dist="38100" dir="2700000" algn="tl">
                    <a:srgbClr val="C0C0C0"/>
                  </a:outerShdw>
                </a:effectLst>
                <a:ea typeface="ＭＳ Ｐゴシック" pitchFamily="34" charset="-128"/>
              </a:rPr>
              <a:t>4NF Decomposition Algorithm</a:t>
            </a:r>
          </a:p>
        </p:txBody>
      </p:sp>
      <mc:AlternateContent xmlns:mc="http://schemas.openxmlformats.org/markup-compatibility/2006" xmlns:a14="http://schemas.microsoft.com/office/drawing/2010/main">
        <mc:Choice Requires="a14">
          <p:sp>
            <p:nvSpPr>
              <p:cNvPr id="90115" name="Rectangle 3"/>
              <p:cNvSpPr>
                <a:spLocks noGrp="1" noChangeArrowheads="1"/>
              </p:cNvSpPr>
              <p:nvPr>
                <p:ph idx="1"/>
              </p:nvPr>
            </p:nvSpPr>
            <p:spPr>
              <a:xfrm>
                <a:off x="768350" y="1163638"/>
                <a:ext cx="7496761" cy="3901657"/>
              </a:xfrm>
            </p:spPr>
            <p:txBody>
              <a:bodyPr/>
              <a:lstStyle/>
              <a:p>
                <a:pPr>
                  <a:buFont typeface="Monotype Sorts" pitchFamily="-84" charset="2"/>
                  <a:buNone/>
                </a:pPr>
                <a:r>
                  <a:rPr lang="en-US" altLang="en-US" i="1" dirty="0"/>
                  <a:t>     result:</a:t>
                </a:r>
                <a:r>
                  <a:rPr lang="en-US" altLang="en-US" dirty="0"/>
                  <a:t> = {</a:t>
                </a:r>
                <a:r>
                  <a:rPr lang="en-US" altLang="en-US" i="1" dirty="0"/>
                  <a:t>R</a:t>
                </a:r>
                <a:r>
                  <a:rPr lang="en-US" altLang="en-US" dirty="0"/>
                  <a:t>};</a:t>
                </a:r>
                <a:br>
                  <a:rPr lang="en-US" altLang="en-US" dirty="0"/>
                </a:br>
                <a:r>
                  <a:rPr lang="en-US" altLang="en-US" i="1" dirty="0"/>
                  <a:t>done</a:t>
                </a:r>
                <a:r>
                  <a:rPr lang="en-US" altLang="en-US" dirty="0"/>
                  <a:t> := false;</a:t>
                </a:r>
                <a:br>
                  <a:rPr lang="en-US" altLang="en-US" dirty="0"/>
                </a:br>
                <a:r>
                  <a:rPr lang="en-US" altLang="en-US" i="1" dirty="0"/>
                  <a:t>compute D</a:t>
                </a:r>
                <a:r>
                  <a:rPr lang="en-US" altLang="en-US" baseline="30000" dirty="0"/>
                  <a:t>+</a:t>
                </a:r>
                <a:r>
                  <a:rPr lang="en-US" altLang="en-US" dirty="0"/>
                  <a:t>;</a:t>
                </a:r>
                <a:br>
                  <a:rPr lang="en-US" altLang="en-US" dirty="0"/>
                </a:br>
                <a:r>
                  <a:rPr lang="en-US" altLang="en-US" dirty="0"/>
                  <a:t>Let D</a:t>
                </a:r>
                <a:r>
                  <a:rPr lang="en-US" altLang="en-US" baseline="-25000" dirty="0"/>
                  <a:t>i</a:t>
                </a:r>
                <a:r>
                  <a:rPr lang="en-US" altLang="en-US" dirty="0"/>
                  <a:t> denote the restriction of D</a:t>
                </a:r>
                <a:r>
                  <a:rPr lang="en-US" altLang="en-US" baseline="30000" dirty="0"/>
                  <a:t>+</a:t>
                </a:r>
                <a:r>
                  <a:rPr lang="en-US" altLang="en-US" dirty="0"/>
                  <a:t> to R</a:t>
                </a:r>
                <a:r>
                  <a:rPr lang="en-US" altLang="en-US" baseline="-25000" dirty="0"/>
                  <a:t>i</a:t>
                </a:r>
              </a:p>
              <a:p>
                <a:pPr>
                  <a:buFont typeface="Monotype Sorts" pitchFamily="-84" charset="2"/>
                  <a:buNone/>
                </a:pPr>
                <a:r>
                  <a:rPr lang="en-US" altLang="en-US" b="1" dirty="0"/>
                  <a:t>      while </a:t>
                </a:r>
                <a:r>
                  <a:rPr lang="en-US" altLang="en-US" dirty="0"/>
                  <a:t>(</a:t>
                </a:r>
                <a:r>
                  <a:rPr lang="en-US" altLang="en-US" b="1" dirty="0"/>
                  <a:t>not </a:t>
                </a:r>
                <a:r>
                  <a:rPr lang="en-US" altLang="en-US" i="1" dirty="0"/>
                  <a:t>done</a:t>
                </a:r>
                <a:r>
                  <a:rPr lang="en-US" altLang="en-US" dirty="0"/>
                  <a:t>) </a:t>
                </a:r>
                <a:br>
                  <a:rPr lang="en-US" altLang="en-US" dirty="0"/>
                </a:br>
                <a:r>
                  <a:rPr lang="en-US" altLang="en-US" dirty="0"/>
                  <a:t>    </a:t>
                </a:r>
                <a:r>
                  <a:rPr lang="en-US" altLang="en-US" b="1" dirty="0"/>
                  <a:t>if </a:t>
                </a:r>
                <a:r>
                  <a:rPr lang="en-US" altLang="en-US" dirty="0"/>
                  <a:t>(there is a schema </a:t>
                </a:r>
                <a:r>
                  <a:rPr lang="en-US" altLang="en-US" b="1" dirty="0"/>
                  <a:t>R</a:t>
                </a:r>
                <a:r>
                  <a:rPr lang="en-US" altLang="en-US" baseline="-25000" dirty="0"/>
                  <a:t>i</a:t>
                </a:r>
                <a:r>
                  <a:rPr lang="en-US" altLang="en-US" dirty="0"/>
                  <a:t> in </a:t>
                </a:r>
                <a:r>
                  <a:rPr lang="en-US" altLang="en-US" i="1" dirty="0"/>
                  <a:t>result </a:t>
                </a:r>
                <a:r>
                  <a:rPr lang="en-US" altLang="en-US" dirty="0"/>
                  <a:t>that is not in 4NF) </a:t>
                </a:r>
                <a:r>
                  <a:rPr lang="en-US" altLang="en-US" b="1" dirty="0"/>
                  <a:t>then</a:t>
                </a:r>
                <a:br>
                  <a:rPr lang="en-US" altLang="en-US" b="1" dirty="0"/>
                </a:br>
                <a:r>
                  <a:rPr lang="en-US" altLang="en-US" b="1" dirty="0"/>
                  <a:t>       begin</a:t>
                </a:r>
                <a:endParaRPr lang="en-US" altLang="en-US" dirty="0"/>
              </a:p>
              <a:p>
                <a:pPr>
                  <a:buFont typeface="Monotype Sorts" pitchFamily="-84" charset="2"/>
                  <a:buNone/>
                </a:pPr>
                <a:r>
                  <a:rPr lang="en-US" altLang="en-US" dirty="0"/>
                  <a:t>		 let </a:t>
                </a:r>
                <a:r>
                  <a:rPr lang="en-US" altLang="en-US" dirty="0">
                    <a:sym typeface="Symbol" panose="05050102010706020507" pitchFamily="18" charset="2"/>
                  </a:rPr>
                  <a:t> </a:t>
                </a:r>
                <a:r>
                  <a:rPr lang="en-US" altLang="en-US" b="1" dirty="0">
                    <a:sym typeface="Symbol" panose="05050102010706020507" pitchFamily="18" charset="2"/>
                  </a:rPr>
                  <a:t></a:t>
                </a:r>
                <a:r>
                  <a:rPr lang="en-US" altLang="en-US" dirty="0">
                    <a:sym typeface="Symbol" panose="05050102010706020507" pitchFamily="18" charset="2"/>
                  </a:rPr>
                  <a:t>  be a nontrivial multivalued dependency that holds</a:t>
                </a:r>
                <a:br>
                  <a:rPr lang="en-US" altLang="en-US" dirty="0">
                    <a:sym typeface="Symbol" panose="05050102010706020507" pitchFamily="18" charset="2"/>
                  </a:rPr>
                </a:br>
                <a:r>
                  <a:rPr lang="en-US" altLang="en-US" dirty="0">
                    <a:sym typeface="Symbol" panose="05050102010706020507" pitchFamily="18" charset="2"/>
                  </a:rPr>
                  <a:t>            on </a:t>
                </a:r>
                <a:r>
                  <a:rPr lang="en-US" altLang="en-US" i="1" dirty="0">
                    <a:sym typeface="Symbol" panose="05050102010706020507" pitchFamily="18" charset="2"/>
                  </a:rPr>
                  <a:t>R</a:t>
                </a:r>
                <a:r>
                  <a:rPr lang="en-US" altLang="en-US" baseline="-25000" dirty="0">
                    <a:sym typeface="Symbol" panose="05050102010706020507" pitchFamily="18" charset="2"/>
                  </a:rPr>
                  <a:t>i</a:t>
                </a:r>
                <a:r>
                  <a:rPr lang="en-US" altLang="en-US" dirty="0">
                    <a:sym typeface="Symbol" panose="05050102010706020507" pitchFamily="18" charset="2"/>
                  </a:rPr>
                  <a:t> such that   </a:t>
                </a:r>
                <a:r>
                  <a:rPr lang="en-US" altLang="en-US" i="1" dirty="0">
                    <a:sym typeface="Symbol" panose="05050102010706020507" pitchFamily="18" charset="2"/>
                  </a:rPr>
                  <a:t>R</a:t>
                </a:r>
                <a:r>
                  <a:rPr lang="en-US" altLang="en-US" i="1" baseline="-25000" dirty="0">
                    <a:sym typeface="Symbol" panose="05050102010706020507" pitchFamily="18" charset="2"/>
                  </a:rPr>
                  <a:t>i  </a:t>
                </a:r>
                <a:r>
                  <a:rPr lang="en-US" altLang="en-US" dirty="0">
                    <a:sym typeface="Symbol" panose="05050102010706020507" pitchFamily="18" charset="2"/>
                  </a:rPr>
                  <a:t>is not in </a:t>
                </a:r>
                <a:r>
                  <a:rPr lang="en-US" altLang="en-US" i="1" dirty="0"/>
                  <a:t>D</a:t>
                </a:r>
                <a:r>
                  <a:rPr lang="en-US" altLang="en-US" baseline="-25000" dirty="0"/>
                  <a:t>i</a:t>
                </a:r>
                <a:r>
                  <a:rPr lang="en-US" altLang="en-US" dirty="0"/>
                  <a:t>, and </a:t>
                </a:r>
                <a:r>
                  <a:rPr lang="en-US" altLang="en-US" dirty="0">
                    <a:sym typeface="Symbol" panose="05050102010706020507" pitchFamily="18" charset="2"/>
                  </a:rPr>
                  <a:t>; </a:t>
                </a:r>
                <a:br>
                  <a:rPr lang="en-US" altLang="en-US" dirty="0">
                    <a:sym typeface="Symbol" panose="05050102010706020507" pitchFamily="18" charset="2"/>
                  </a:rPr>
                </a:br>
                <a:r>
                  <a:rPr lang="en-US" altLang="en-US" dirty="0">
                    <a:sym typeface="Symbol" panose="05050102010706020507" pitchFamily="18" charset="2"/>
                  </a:rPr>
                  <a:t>          </a:t>
                </a:r>
                <a:r>
                  <a:rPr lang="en-US" altLang="en-US" i="1" dirty="0">
                    <a:sym typeface="Symbol" panose="05050102010706020507" pitchFamily="18" charset="2"/>
                  </a:rPr>
                  <a:t>result </a:t>
                </a:r>
                <a:r>
                  <a:rPr lang="en-US" altLang="en-US" dirty="0">
                    <a:sym typeface="Symbol" panose="05050102010706020507" pitchFamily="18" charset="2"/>
                  </a:rPr>
                  <a:t>:=  (</a:t>
                </a:r>
                <a:r>
                  <a:rPr lang="en-US" altLang="en-US" i="1" dirty="0">
                    <a:sym typeface="Symbol" panose="05050102010706020507" pitchFamily="18" charset="2"/>
                  </a:rPr>
                  <a:t>result </a:t>
                </a:r>
                <a:r>
                  <a:rPr lang="en-US" altLang="en-US" dirty="0">
                    <a:sym typeface="Symbol" panose="05050102010706020507" pitchFamily="18" charset="2"/>
                  </a:rPr>
                  <a:t>- </a:t>
                </a:r>
                <a:r>
                  <a:rPr lang="en-US" altLang="en-US" i="1" dirty="0">
                    <a:sym typeface="Symbol" panose="05050102010706020507" pitchFamily="18" charset="2"/>
                  </a:rPr>
                  <a:t>R</a:t>
                </a:r>
                <a:r>
                  <a:rPr lang="en-US" altLang="en-US" i="1" baseline="-25000" dirty="0">
                    <a:sym typeface="Symbol" panose="05050102010706020507" pitchFamily="18" charset="2"/>
                  </a:rPr>
                  <a:t>i</a:t>
                </a:r>
                <a:r>
                  <a:rPr lang="en-US" altLang="en-US" dirty="0">
                    <a:sym typeface="Symbol" panose="05050102010706020507" pitchFamily="18" charset="2"/>
                  </a:rPr>
                  <a:t>)  (</a:t>
                </a:r>
                <a:r>
                  <a:rPr lang="en-US" altLang="en-US" i="1" dirty="0">
                    <a:sym typeface="Symbol" panose="05050102010706020507" pitchFamily="18" charset="2"/>
                  </a:rPr>
                  <a:t>R</a:t>
                </a:r>
                <a:r>
                  <a:rPr lang="en-US" altLang="en-US" i="1" baseline="-25000" dirty="0">
                    <a:sym typeface="Symbol" panose="05050102010706020507" pitchFamily="18" charset="2"/>
                  </a:rPr>
                  <a:t>i</a:t>
                </a:r>
                <a:r>
                  <a:rPr lang="en-US" altLang="en-US" baseline="-25000" dirty="0">
                    <a:sym typeface="Symbol" panose="05050102010706020507" pitchFamily="18" charset="2"/>
                  </a:rPr>
                  <a:t> </a:t>
                </a:r>
                <a:r>
                  <a:rPr lang="en-US" altLang="en-US" dirty="0">
                    <a:sym typeface="Symbol" panose="05050102010706020507" pitchFamily="18" charset="2"/>
                  </a:rPr>
                  <a:t>- )   (, ); </a:t>
                </a:r>
                <a:br>
                  <a:rPr lang="en-US" altLang="en-US" dirty="0">
                    <a:sym typeface="Symbol" panose="05050102010706020507" pitchFamily="18" charset="2"/>
                  </a:rPr>
                </a:br>
                <a:r>
                  <a:rPr lang="en-US" altLang="en-US" b="1" dirty="0">
                    <a:sym typeface="Symbol" panose="05050102010706020507" pitchFamily="18" charset="2"/>
                  </a:rPr>
                  <a:t>       end</a:t>
                </a:r>
                <a:br>
                  <a:rPr lang="en-US" altLang="en-US" dirty="0">
                    <a:sym typeface="Symbol" panose="05050102010706020507" pitchFamily="18" charset="2"/>
                  </a:rPr>
                </a:br>
                <a:r>
                  <a:rPr lang="en-US" altLang="en-US" b="1" dirty="0">
                    <a:sym typeface="Symbol" panose="05050102010706020507" pitchFamily="18" charset="2"/>
                  </a:rPr>
                  <a:t>    else </a:t>
                </a:r>
                <a:r>
                  <a:rPr lang="en-US" altLang="en-US" i="1" dirty="0">
                    <a:sym typeface="Symbol" panose="05050102010706020507" pitchFamily="18" charset="2"/>
                  </a:rPr>
                  <a:t>done</a:t>
                </a:r>
                <a:r>
                  <a:rPr lang="en-US" altLang="en-US" dirty="0">
                    <a:sym typeface="Symbol" panose="05050102010706020507" pitchFamily="18" charset="2"/>
                  </a:rPr>
                  <a:t>:= true;</a:t>
                </a:r>
              </a:p>
              <a:p>
                <a:pPr algn="r" rtl="1">
                  <a:buFont typeface="Monotype Sorts" pitchFamily="-84" charset="2"/>
                  <a:buNone/>
                </a:pPr>
                <a:r>
                  <a:rPr lang="en-US" altLang="en-US" dirty="0">
                    <a:sym typeface="Symbol" panose="05050102010706020507" pitchFamily="18" charset="2"/>
                  </a:rPr>
                  <a:t> </a:t>
                </a:r>
                <a:r>
                  <a:rPr lang="fa-IR" dirty="0"/>
                  <a:t>هر </a:t>
                </a:r>
                <a14:m>
                  <m:oMath xmlns:m="http://schemas.openxmlformats.org/officeDocument/2006/math">
                    <m:sSub>
                      <m:sSubPr>
                        <m:ctrlPr>
                          <a:rPr lang="fa-IR" i="1">
                            <a:latin typeface="Cambria Math" panose="02040503050406030204" pitchFamily="18" charset="0"/>
                          </a:rPr>
                        </m:ctrlPr>
                      </m:sSubPr>
                      <m:e>
                        <m:r>
                          <a:rPr lang="fa-IR" i="1">
                            <a:latin typeface="Cambria Math" panose="02040503050406030204" pitchFamily="18" charset="0"/>
                          </a:rPr>
                          <m:t>𝑅</m:t>
                        </m:r>
                      </m:e>
                      <m:sub>
                        <m:r>
                          <a:rPr lang="fa-IR" i="1">
                            <a:latin typeface="Cambria Math" panose="02040503050406030204" pitchFamily="18" charset="0"/>
                          </a:rPr>
                          <m:t>𝑖</m:t>
                        </m:r>
                      </m:sub>
                    </m:sSub>
                  </m:oMath>
                </a14:m>
                <a:r>
                  <a:rPr lang="fa-IR" dirty="0"/>
                  <a:t>در </a:t>
                </a:r>
                <a:r>
                  <a:rPr lang="fa-IR" b="1" dirty="0"/>
                  <a:t>4</a:t>
                </a:r>
                <a:r>
                  <a:rPr lang="en-US" b="1" dirty="0"/>
                  <a:t>NF</a:t>
                </a:r>
                <a:r>
                  <a:rPr lang="en-US" dirty="0"/>
                  <a:t> </a:t>
                </a:r>
                <a:r>
                  <a:rPr lang="fa-IR" dirty="0"/>
                  <a:t>است و تجزیه </a:t>
                </a:r>
                <a:r>
                  <a:rPr lang="fa-IR" b="1" dirty="0"/>
                  <a:t>بدون از دست دادن اطلاعات </a:t>
                </a:r>
                <a:r>
                  <a:rPr lang="en-US" dirty="0"/>
                  <a:t>( </a:t>
                </a:r>
                <a:r>
                  <a:rPr lang="en-US" b="1" dirty="0"/>
                  <a:t>lossless-join)</a:t>
                </a:r>
                <a:r>
                  <a:rPr lang="en-US" dirty="0"/>
                  <a:t> </a:t>
                </a:r>
                <a:r>
                  <a:rPr lang="fa-IR" dirty="0" err="1"/>
                  <a:t>می‌باشد</a:t>
                </a:r>
                <a:r>
                  <a:rPr lang="fa-IR" dirty="0"/>
                  <a:t>.</a:t>
                </a:r>
                <a:endParaRPr lang="en-US" altLang="en-US" dirty="0">
                  <a:sym typeface="Symbol" panose="05050102010706020507" pitchFamily="18" charset="2"/>
                </a:endParaRPr>
              </a:p>
            </p:txBody>
          </p:sp>
        </mc:Choice>
        <mc:Fallback xmlns="">
          <p:sp>
            <p:nvSpPr>
              <p:cNvPr id="90115" name="Rectangle 3"/>
              <p:cNvSpPr>
                <a:spLocks noGrp="1" noRot="1" noChangeAspect="1" noMove="1" noResize="1" noEditPoints="1" noAdjustHandles="1" noChangeArrowheads="1" noChangeShapeType="1" noTextEdit="1"/>
              </p:cNvSpPr>
              <p:nvPr>
                <p:ph idx="1"/>
              </p:nvPr>
            </p:nvSpPr>
            <p:spPr>
              <a:xfrm>
                <a:off x="768350" y="1163638"/>
                <a:ext cx="7496761" cy="3901657"/>
              </a:xfrm>
              <a:blipFill>
                <a:blip r:embed="rId3"/>
                <a:stretch>
                  <a:fillRect t="-781" r="-488" b="-23125"/>
                </a:stretch>
              </a:blipFill>
            </p:spPr>
            <p:txBody>
              <a:bodyPr/>
              <a:lstStyle/>
              <a:p>
                <a:r>
                  <a:rPr lang="en-US">
                    <a:noFill/>
                  </a:rPr>
                  <a:t> </a:t>
                </a:r>
              </a:p>
            </p:txBody>
          </p:sp>
        </mc:Fallback>
      </mc:AlternateContent>
      <p:grpSp>
        <p:nvGrpSpPr>
          <p:cNvPr id="2" name="Group 4"/>
          <p:cNvGrpSpPr>
            <a:grpSpLocks/>
          </p:cNvGrpSpPr>
          <p:nvPr/>
        </p:nvGrpSpPr>
        <p:grpSpPr bwMode="auto">
          <a:xfrm>
            <a:off x="8348663" y="6477000"/>
            <a:ext cx="317500" cy="4763"/>
            <a:chOff x="2640" y="1301"/>
            <a:chExt cx="200" cy="3"/>
          </a:xfrm>
        </p:grpSpPr>
        <p:sp>
          <p:nvSpPr>
            <p:cNvPr id="90117" name="Line 5"/>
            <p:cNvSpPr>
              <a:spLocks noChangeShapeType="1"/>
            </p:cNvSpPr>
            <p:nvPr/>
          </p:nvSpPr>
          <p:spPr bwMode="auto">
            <a:xfrm flipV="1">
              <a:off x="2640" y="1301"/>
              <a:ext cx="136" cy="3"/>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wrap="none"/>
            <a:lstStyle/>
            <a:p>
              <a:endParaRPr lang="en-US"/>
            </a:p>
          </p:txBody>
        </p:sp>
        <p:sp>
          <p:nvSpPr>
            <p:cNvPr id="90118" name="Line 6"/>
            <p:cNvSpPr>
              <a:spLocks noChangeShapeType="1"/>
            </p:cNvSpPr>
            <p:nvPr/>
          </p:nvSpPr>
          <p:spPr bwMode="auto">
            <a:xfrm>
              <a:off x="2704" y="1304"/>
              <a:ext cx="136" cy="0"/>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wrap="none"/>
            <a:lstStyle/>
            <a:p>
              <a:endParaRPr lang="en-US"/>
            </a:p>
          </p:txBody>
        </p:sp>
      </p:gr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90C3702-BF99-4825-5EEC-A5D125BDFD71}"/>
              </a:ext>
            </a:extLst>
          </p:cNvPr>
          <p:cNvSpPr>
            <a:spLocks noGrp="1"/>
          </p:cNvSpPr>
          <p:nvPr>
            <p:ph type="ctrTitle"/>
          </p:nvPr>
        </p:nvSpPr>
        <p:spPr/>
        <p:txBody>
          <a:bodyPr/>
          <a:lstStyle/>
          <a:p>
            <a:endParaRPr lang="en-US"/>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8195" name="Rectangle 3"/>
          <p:cNvSpPr>
            <a:spLocks noGrp="1" noChangeArrowheads="1"/>
          </p:cNvSpPr>
          <p:nvPr>
            <p:ph idx="1"/>
          </p:nvPr>
        </p:nvSpPr>
        <p:spPr>
          <a:xfrm>
            <a:off x="701458" y="2400300"/>
            <a:ext cx="7426542" cy="1257300"/>
          </a:xfrm>
        </p:spPr>
        <p:txBody>
          <a:bodyPr/>
          <a:lstStyle/>
          <a:p>
            <a:pPr algn="ctr" rtl="1">
              <a:buFont typeface="Monotype Sorts" charset="2"/>
              <a:buNone/>
              <a:defRPr/>
            </a:pPr>
            <a:r>
              <a:rPr lang="fa-IR" sz="3200" dirty="0"/>
              <a:t>مسائل و نکات اضافی </a:t>
            </a:r>
            <a:r>
              <a:rPr lang="en-US" sz="3200" dirty="0"/>
              <a:t>(Additional issues)</a:t>
            </a:r>
            <a:endParaRPr lang="en-US" altLang="en-US" sz="3200" b="1" dirty="0">
              <a:solidFill>
                <a:srgbClr val="002060"/>
              </a:solidFill>
              <a:effectLst>
                <a:outerShdw blurRad="38100" dist="38100" dir="2700000" algn="tl">
                  <a:srgbClr val="C0C0C0"/>
                </a:outerShdw>
              </a:effectLst>
              <a:latin typeface="+mj-lt"/>
              <a:ea typeface="ＭＳ Ｐゴシック" pitchFamily="34" charset="-128"/>
              <a:cs typeface="+mj-cs"/>
            </a:endParaRPr>
          </a:p>
        </p:txBody>
      </p:sp>
    </p:spTree>
  </p:cSld>
  <p:clrMapOvr>
    <a:masterClrMapping/>
  </p:clrMapOvr>
  <p:transition spd="slow"/>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87458" name="Rectangle 2"/>
          <p:cNvSpPr>
            <a:spLocks noGrp="1" noChangeArrowheads="1"/>
          </p:cNvSpPr>
          <p:nvPr>
            <p:ph type="title"/>
          </p:nvPr>
        </p:nvSpPr>
        <p:spPr>
          <a:xfrm>
            <a:off x="552450" y="85725"/>
            <a:ext cx="8077200" cy="609600"/>
          </a:xfrm>
        </p:spPr>
        <p:txBody>
          <a:bodyPr/>
          <a:lstStyle/>
          <a:p>
            <a:pPr>
              <a:defRPr/>
            </a:pPr>
            <a:r>
              <a:rPr lang="en-US" altLang="en-US">
                <a:effectLst>
                  <a:outerShdw blurRad="38100" dist="38100" dir="2700000" algn="tl">
                    <a:srgbClr val="C0C0C0"/>
                  </a:outerShdw>
                </a:effectLst>
                <a:ea typeface="ＭＳ Ｐゴシック" pitchFamily="34" charset="-128"/>
              </a:rPr>
              <a:t>Further Normal Forms</a:t>
            </a:r>
          </a:p>
        </p:txBody>
      </p:sp>
      <p:sp>
        <p:nvSpPr>
          <p:cNvPr id="93187" name="Rectangle 3"/>
          <p:cNvSpPr>
            <a:spLocks noGrp="1" noChangeArrowheads="1"/>
          </p:cNvSpPr>
          <p:nvPr>
            <p:ph idx="1"/>
          </p:nvPr>
        </p:nvSpPr>
        <p:spPr>
          <a:xfrm>
            <a:off x="763479" y="1141917"/>
            <a:ext cx="7714695" cy="4419639"/>
          </a:xfrm>
        </p:spPr>
        <p:txBody>
          <a:bodyPr/>
          <a:lstStyle/>
          <a:p>
            <a:pPr algn="r" rtl="1"/>
            <a:r>
              <a:rPr lang="fa-IR" dirty="0" err="1"/>
              <a:t>وابستگی‌های</a:t>
            </a:r>
            <a:r>
              <a:rPr lang="fa-IR" dirty="0"/>
              <a:t> </a:t>
            </a:r>
            <a:r>
              <a:rPr lang="en-US" b="1" dirty="0"/>
              <a:t>Join</a:t>
            </a:r>
            <a:r>
              <a:rPr lang="en-US" dirty="0"/>
              <a:t>، </a:t>
            </a:r>
            <a:r>
              <a:rPr lang="fa-IR" dirty="0" err="1"/>
              <a:t>وابستگی‌های</a:t>
            </a:r>
            <a:r>
              <a:rPr lang="fa-IR" dirty="0"/>
              <a:t> </a:t>
            </a:r>
            <a:r>
              <a:rPr lang="fa-IR" dirty="0" err="1"/>
              <a:t>چندمقداری</a:t>
            </a:r>
            <a:r>
              <a:rPr lang="fa-IR" dirty="0"/>
              <a:t> را تعمیم </a:t>
            </a:r>
            <a:r>
              <a:rPr lang="fa-IR" dirty="0" err="1"/>
              <a:t>می‌دهند</a:t>
            </a:r>
            <a:r>
              <a:rPr lang="fa-IR" dirty="0"/>
              <a:t> و به </a:t>
            </a:r>
            <a:r>
              <a:rPr lang="fa-IR" b="1" dirty="0"/>
              <a:t>فرم نرمال پروژه-</a:t>
            </a:r>
            <a:r>
              <a:rPr lang="fa-IR" b="1" dirty="0" err="1"/>
              <a:t>جوین</a:t>
            </a:r>
            <a:r>
              <a:rPr lang="fa-IR" b="1" dirty="0"/>
              <a:t> (</a:t>
            </a:r>
            <a:r>
              <a:rPr lang="en-US" b="1" dirty="0"/>
              <a:t>PJNF)</a:t>
            </a:r>
            <a:r>
              <a:rPr lang="en-US" dirty="0"/>
              <a:t> </a:t>
            </a:r>
            <a:r>
              <a:rPr lang="fa-IR" dirty="0"/>
              <a:t>منجر </a:t>
            </a:r>
            <a:r>
              <a:rPr lang="fa-IR" dirty="0" err="1"/>
              <a:t>می‌شوند</a:t>
            </a:r>
            <a:r>
              <a:rPr lang="fa-IR" dirty="0"/>
              <a:t> (که همچنین به آن </a:t>
            </a:r>
            <a:r>
              <a:rPr lang="fa-IR" b="1" dirty="0"/>
              <a:t>پنجمین فرم نرمال</a:t>
            </a:r>
            <a:r>
              <a:rPr lang="fa-IR" dirty="0"/>
              <a:t> گفته </a:t>
            </a:r>
            <a:r>
              <a:rPr lang="fa-IR" dirty="0" err="1"/>
              <a:t>می‌شود</a:t>
            </a:r>
            <a:r>
              <a:rPr lang="fa-IR" dirty="0"/>
              <a:t>).</a:t>
            </a:r>
          </a:p>
          <a:p>
            <a:pPr algn="r" rtl="1"/>
            <a:r>
              <a:rPr lang="fa-IR" dirty="0"/>
              <a:t>یک کلاس از </a:t>
            </a:r>
            <a:r>
              <a:rPr lang="fa-IR" dirty="0" err="1"/>
              <a:t>محدودیت‌های</a:t>
            </a:r>
            <a:r>
              <a:rPr lang="fa-IR" dirty="0"/>
              <a:t> حتی </a:t>
            </a:r>
            <a:r>
              <a:rPr lang="fa-IR" dirty="0" err="1"/>
              <a:t>عمومی‌تر</a:t>
            </a:r>
            <a:r>
              <a:rPr lang="fa-IR" dirty="0"/>
              <a:t> وجود دارد که به یک فرم نرمال به نام </a:t>
            </a:r>
            <a:r>
              <a:rPr lang="en-US" sz="1800" b="1" dirty="0"/>
              <a:t>Domain-Key Normal Form</a:t>
            </a:r>
            <a:r>
              <a:rPr lang="en-US" sz="1800" dirty="0"/>
              <a:t> </a:t>
            </a:r>
            <a:r>
              <a:rPr lang="fa-IR" dirty="0"/>
              <a:t>منجر </a:t>
            </a:r>
            <a:r>
              <a:rPr lang="fa-IR" dirty="0" err="1"/>
              <a:t>می‌شود</a:t>
            </a:r>
            <a:r>
              <a:rPr lang="fa-IR" dirty="0"/>
              <a:t>.</a:t>
            </a:r>
          </a:p>
          <a:p>
            <a:pPr algn="r" rtl="1"/>
            <a:r>
              <a:rPr lang="fa-IR" dirty="0"/>
              <a:t>مشکل این </a:t>
            </a:r>
            <a:r>
              <a:rPr lang="fa-IR" dirty="0" err="1"/>
              <a:t>محدودیت‌های</a:t>
            </a:r>
            <a:r>
              <a:rPr lang="fa-IR" dirty="0"/>
              <a:t> </a:t>
            </a:r>
            <a:r>
              <a:rPr lang="fa-IR" dirty="0" err="1"/>
              <a:t>تعمیم‌یافته</a:t>
            </a:r>
            <a:r>
              <a:rPr lang="fa-IR" dirty="0"/>
              <a:t> این است که:</a:t>
            </a:r>
          </a:p>
          <a:p>
            <a:pPr algn="r" rtl="1"/>
            <a:r>
              <a:rPr lang="fa-IR" dirty="0"/>
              <a:t>استدلال درباره </a:t>
            </a:r>
            <a:r>
              <a:rPr lang="fa-IR" dirty="0" err="1"/>
              <a:t>آن‌ها</a:t>
            </a:r>
            <a:r>
              <a:rPr lang="fa-IR" dirty="0"/>
              <a:t> </a:t>
            </a:r>
            <a:r>
              <a:rPr lang="fa-IR" b="1" dirty="0"/>
              <a:t>سخت</a:t>
            </a:r>
            <a:r>
              <a:rPr lang="fa-IR" dirty="0"/>
              <a:t> است،</a:t>
            </a:r>
          </a:p>
          <a:p>
            <a:pPr algn="r" rtl="1"/>
            <a:r>
              <a:rPr lang="fa-IR" dirty="0"/>
              <a:t>هیچ مجموعه قوانین استنتاج </a:t>
            </a:r>
            <a:r>
              <a:rPr lang="fa-IR" b="1" dirty="0"/>
              <a:t>صوتی و کامل</a:t>
            </a:r>
            <a:r>
              <a:rPr lang="fa-IR" dirty="0"/>
              <a:t> وجود ندارد.</a:t>
            </a:r>
          </a:p>
          <a:p>
            <a:pPr algn="r" rtl="1"/>
            <a:r>
              <a:rPr lang="fa-IR" dirty="0"/>
              <a:t>به همین دلیل، این </a:t>
            </a:r>
            <a:r>
              <a:rPr lang="fa-IR" dirty="0" err="1"/>
              <a:t>محدودیت‌ها</a:t>
            </a:r>
            <a:r>
              <a:rPr lang="fa-IR" dirty="0"/>
              <a:t> </a:t>
            </a:r>
            <a:r>
              <a:rPr lang="fa-IR" b="1" dirty="0"/>
              <a:t>به ندرت استفاده </a:t>
            </a:r>
            <a:r>
              <a:rPr lang="fa-IR" b="1" dirty="0" err="1"/>
              <a:t>می‌شوند</a:t>
            </a:r>
            <a:r>
              <a:rPr lang="fa-IR" dirty="0"/>
              <a:t>.</a:t>
            </a:r>
          </a:p>
          <a:p>
            <a:pPr algn="r" rtl="1"/>
            <a:endParaRPr lang="en-US" alt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89506" name="Rectangle 2"/>
          <p:cNvSpPr>
            <a:spLocks noGrp="1" noChangeArrowheads="1"/>
          </p:cNvSpPr>
          <p:nvPr>
            <p:ph type="title"/>
          </p:nvPr>
        </p:nvSpPr>
        <p:spPr/>
        <p:txBody>
          <a:bodyPr/>
          <a:lstStyle/>
          <a:p>
            <a:pPr>
              <a:defRPr/>
            </a:pPr>
            <a:r>
              <a:rPr lang="en-US" altLang="en-US">
                <a:effectLst>
                  <a:outerShdw blurRad="38100" dist="38100" dir="2700000" algn="tl">
                    <a:srgbClr val="C0C0C0"/>
                  </a:outerShdw>
                </a:effectLst>
                <a:ea typeface="ＭＳ Ｐゴシック" pitchFamily="34" charset="-128"/>
              </a:rPr>
              <a:t>Overall Database Design Process</a:t>
            </a:r>
          </a:p>
        </p:txBody>
      </p:sp>
      <p:sp>
        <p:nvSpPr>
          <p:cNvPr id="94211" name="Rectangle 3"/>
          <p:cNvSpPr>
            <a:spLocks noGrp="1" noChangeArrowheads="1"/>
          </p:cNvSpPr>
          <p:nvPr>
            <p:ph idx="1"/>
          </p:nvPr>
        </p:nvSpPr>
        <p:spPr>
          <a:xfrm>
            <a:off x="304402" y="1680990"/>
            <a:ext cx="8077200" cy="2566154"/>
          </a:xfrm>
        </p:spPr>
        <p:txBody>
          <a:bodyPr/>
          <a:lstStyle/>
          <a:p>
            <a:pPr algn="r" rtl="1"/>
            <a:r>
              <a:rPr lang="en-US" sz="2800" dirty="0"/>
              <a:t>R </a:t>
            </a:r>
            <a:r>
              <a:rPr lang="fa-IR" sz="2800" dirty="0"/>
              <a:t>ممکن است هنگام تبدیل یک </a:t>
            </a:r>
            <a:r>
              <a:rPr lang="fa-IR" sz="2800" b="1" dirty="0"/>
              <a:t>نمودار </a:t>
            </a:r>
            <a:r>
              <a:rPr lang="en-US" sz="2800" b="1" dirty="0"/>
              <a:t>E-R</a:t>
            </a:r>
            <a:r>
              <a:rPr lang="en-US" sz="2800" dirty="0"/>
              <a:t> </a:t>
            </a:r>
            <a:r>
              <a:rPr lang="fa-IR" sz="2800" dirty="0"/>
              <a:t>به </a:t>
            </a:r>
            <a:r>
              <a:rPr lang="fa-IR" sz="2800" dirty="0" err="1"/>
              <a:t>مجموعه‌ای</a:t>
            </a:r>
            <a:r>
              <a:rPr lang="fa-IR" sz="2800" dirty="0"/>
              <a:t> از </a:t>
            </a:r>
            <a:r>
              <a:rPr lang="fa-IR" sz="2800" dirty="0" err="1"/>
              <a:t>جدول‌ها</a:t>
            </a:r>
            <a:r>
              <a:rPr lang="fa-IR" sz="2800" dirty="0"/>
              <a:t> ایجاد شده باشد.</a:t>
            </a:r>
          </a:p>
          <a:p>
            <a:pPr algn="r" rtl="1"/>
            <a:r>
              <a:rPr lang="en-US" sz="2800" dirty="0"/>
              <a:t>R </a:t>
            </a:r>
            <a:r>
              <a:rPr lang="fa-IR" sz="2800" dirty="0"/>
              <a:t>ممکن است یک </a:t>
            </a:r>
            <a:r>
              <a:rPr lang="fa-IR" sz="2800" dirty="0" err="1"/>
              <a:t>رابطهٔ</a:t>
            </a:r>
            <a:r>
              <a:rPr lang="fa-IR" sz="2800" dirty="0"/>
              <a:t> واحد باشد که شامل تمام </a:t>
            </a:r>
            <a:r>
              <a:rPr lang="fa-IR" sz="2800" dirty="0" err="1"/>
              <a:t>صفت‌هایی</a:t>
            </a:r>
            <a:r>
              <a:rPr lang="fa-IR" sz="2800" dirty="0"/>
              <a:t> است که برای ما اهمیت دارند</a:t>
            </a:r>
            <a:br>
              <a:rPr lang="fa-IR" sz="2800" dirty="0"/>
            </a:br>
            <a:r>
              <a:rPr lang="fa-IR" sz="2800" dirty="0"/>
              <a:t>(که به آن </a:t>
            </a:r>
            <a:r>
              <a:rPr lang="fa-IR" sz="2800" b="1" dirty="0" err="1"/>
              <a:t>رابطهٔ</a:t>
            </a:r>
            <a:r>
              <a:rPr lang="fa-IR" sz="2800" b="1" dirty="0"/>
              <a:t> جهانی</a:t>
            </a:r>
            <a:r>
              <a:rPr lang="fa-IR" sz="2800" dirty="0"/>
              <a:t> یا </a:t>
            </a:r>
            <a:r>
              <a:rPr lang="en-US" sz="2800" i="1" dirty="0"/>
              <a:t>universal relation</a:t>
            </a:r>
            <a:r>
              <a:rPr lang="en-US" sz="2800" dirty="0"/>
              <a:t> </a:t>
            </a:r>
            <a:r>
              <a:rPr lang="fa-IR" sz="2800" dirty="0"/>
              <a:t>گفته </a:t>
            </a:r>
            <a:r>
              <a:rPr lang="fa-IR" sz="2800" dirty="0" err="1"/>
              <a:t>می‌شود</a:t>
            </a:r>
            <a:r>
              <a:rPr lang="fa-IR" sz="2800" dirty="0"/>
              <a:t>).</a:t>
            </a:r>
          </a:p>
          <a:p>
            <a:pPr algn="r" rtl="1"/>
            <a:r>
              <a:rPr lang="fa-IR" sz="2800" dirty="0"/>
              <a:t>فرایند </a:t>
            </a:r>
            <a:r>
              <a:rPr lang="fa-IR" sz="2800" dirty="0" err="1"/>
              <a:t>نرمال‌سازی</a:t>
            </a:r>
            <a:r>
              <a:rPr lang="fa-IR" sz="2800" dirty="0"/>
              <a:t>، </a:t>
            </a:r>
            <a:r>
              <a:rPr lang="en-US" sz="2800" dirty="0"/>
              <a:t>R </a:t>
            </a:r>
            <a:r>
              <a:rPr lang="fa-IR" sz="2800" dirty="0"/>
              <a:t>را به </a:t>
            </a:r>
            <a:r>
              <a:rPr lang="fa-IR" sz="2800" dirty="0" err="1"/>
              <a:t>رابطه‌های</a:t>
            </a:r>
            <a:r>
              <a:rPr lang="fa-IR" sz="2800" dirty="0"/>
              <a:t> </a:t>
            </a:r>
            <a:r>
              <a:rPr lang="fa-IR" sz="2800" dirty="0" err="1"/>
              <a:t>کوچک‌تر</a:t>
            </a:r>
            <a:r>
              <a:rPr lang="fa-IR" sz="2800" dirty="0"/>
              <a:t> تجزیه </a:t>
            </a:r>
            <a:r>
              <a:rPr lang="fa-IR" sz="2800" dirty="0" err="1"/>
              <a:t>می‌کند</a:t>
            </a:r>
            <a:r>
              <a:rPr lang="fa-IR" sz="2800" dirty="0"/>
              <a:t>.</a:t>
            </a:r>
          </a:p>
          <a:p>
            <a:pPr algn="r" rtl="1"/>
            <a:r>
              <a:rPr lang="en-US" sz="2800" dirty="0"/>
              <a:t>R </a:t>
            </a:r>
            <a:r>
              <a:rPr lang="fa-IR" sz="2800" dirty="0"/>
              <a:t>ممکن است حاصل یک طراحی </a:t>
            </a:r>
            <a:r>
              <a:rPr lang="fa-IR" sz="2800" b="1" dirty="0"/>
              <a:t>اتفاقی و بدون روش مشخص</a:t>
            </a:r>
            <a:r>
              <a:rPr lang="fa-IR" sz="2800" dirty="0"/>
              <a:t> باشد که سپس آن را بررسی کرده و به فرم نرمال تبدیل </a:t>
            </a:r>
            <a:r>
              <a:rPr lang="fa-IR" sz="2800" dirty="0" err="1"/>
              <a:t>می‌کنیم</a:t>
            </a:r>
            <a:r>
              <a:rPr lang="fa-IR" sz="2800" dirty="0"/>
              <a:t>.</a:t>
            </a:r>
          </a:p>
          <a:p>
            <a:pPr algn="r" rtl="1"/>
            <a:endParaRPr lang="en-US" altLang="en-US" sz="2800" dirty="0"/>
          </a:p>
        </p:txBody>
      </p:sp>
      <p:sp>
        <p:nvSpPr>
          <p:cNvPr id="3" name="TextBox 2"/>
          <p:cNvSpPr txBox="1"/>
          <p:nvPr/>
        </p:nvSpPr>
        <p:spPr>
          <a:xfrm>
            <a:off x="304402" y="1151474"/>
            <a:ext cx="7744719" cy="461665"/>
          </a:xfrm>
          <a:prstGeom prst="rect">
            <a:avLst/>
          </a:prstGeom>
          <a:noFill/>
        </p:spPr>
        <p:txBody>
          <a:bodyPr wrap="square" rtlCol="0">
            <a:spAutoFit/>
          </a:bodyPr>
          <a:lstStyle/>
          <a:p>
            <a:pPr algn="r" rtl="1"/>
            <a:r>
              <a:rPr lang="fa-IR" sz="2400" dirty="0"/>
              <a:t>ما فرض </a:t>
            </a:r>
            <a:r>
              <a:rPr lang="fa-IR" sz="2400" dirty="0" err="1"/>
              <a:t>کرده‌ایم</a:t>
            </a:r>
            <a:r>
              <a:rPr lang="fa-IR" sz="2400" dirty="0"/>
              <a:t> که طرح </a:t>
            </a:r>
            <a:r>
              <a:rPr lang="fa-IR" sz="2400" dirty="0" err="1"/>
              <a:t>رابطه‌ای</a:t>
            </a:r>
            <a:r>
              <a:rPr lang="fa-IR" sz="2400" dirty="0"/>
              <a:t> </a:t>
            </a:r>
            <a:r>
              <a:rPr lang="en-US" sz="2400" b="1" dirty="0"/>
              <a:t>R</a:t>
            </a:r>
            <a:r>
              <a:rPr lang="en-US" sz="2400" dirty="0"/>
              <a:t> </a:t>
            </a:r>
            <a:r>
              <a:rPr lang="fa-IR" sz="2400" dirty="0"/>
              <a:t>از قبل داده شده است.</a:t>
            </a:r>
            <a:endParaRPr lang="en-US" altLang="en-US" sz="2400"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91554" name="Rectangle 2"/>
          <p:cNvSpPr>
            <a:spLocks noGrp="1" noChangeArrowheads="1"/>
          </p:cNvSpPr>
          <p:nvPr>
            <p:ph type="title"/>
          </p:nvPr>
        </p:nvSpPr>
        <p:spPr/>
        <p:txBody>
          <a:bodyPr/>
          <a:lstStyle/>
          <a:p>
            <a:pPr>
              <a:defRPr/>
            </a:pPr>
            <a:r>
              <a:rPr lang="en-US" altLang="en-US">
                <a:effectLst>
                  <a:outerShdw blurRad="38100" dist="38100" dir="2700000" algn="tl">
                    <a:srgbClr val="C0C0C0"/>
                  </a:outerShdw>
                </a:effectLst>
                <a:ea typeface="ＭＳ Ｐゴシック" pitchFamily="34" charset="-128"/>
              </a:rPr>
              <a:t>ER Model and Normalization</a:t>
            </a:r>
          </a:p>
        </p:txBody>
      </p:sp>
      <p:sp>
        <p:nvSpPr>
          <p:cNvPr id="95235" name="Rectangle 3"/>
          <p:cNvSpPr>
            <a:spLocks noGrp="1" noChangeArrowheads="1"/>
          </p:cNvSpPr>
          <p:nvPr>
            <p:ph idx="1"/>
          </p:nvPr>
        </p:nvSpPr>
        <p:spPr>
          <a:xfrm>
            <a:off x="768350" y="1090110"/>
            <a:ext cx="7713913" cy="4384257"/>
          </a:xfrm>
        </p:spPr>
        <p:txBody>
          <a:bodyPr/>
          <a:lstStyle/>
          <a:p>
            <a:pPr algn="r" rtl="1"/>
            <a:r>
              <a:rPr lang="fa-IR" dirty="0"/>
              <a:t>وقتی یک </a:t>
            </a:r>
            <a:r>
              <a:rPr lang="fa-IR" b="1" dirty="0"/>
              <a:t>نمودار </a:t>
            </a:r>
            <a:r>
              <a:rPr lang="en-US" b="1" dirty="0"/>
              <a:t>E-R</a:t>
            </a:r>
            <a:r>
              <a:rPr lang="en-US" dirty="0"/>
              <a:t> </a:t>
            </a:r>
            <a:r>
              <a:rPr lang="fa-IR" dirty="0"/>
              <a:t>با دقت طراحی شود و تمامی </a:t>
            </a:r>
            <a:r>
              <a:rPr lang="fa-IR" dirty="0" err="1"/>
              <a:t>موجودیت‌ها</a:t>
            </a:r>
            <a:r>
              <a:rPr lang="fa-IR" dirty="0"/>
              <a:t> </a:t>
            </a:r>
            <a:r>
              <a:rPr lang="fa-IR" dirty="0" err="1"/>
              <a:t>به‌درستی</a:t>
            </a:r>
            <a:r>
              <a:rPr lang="fa-IR" dirty="0"/>
              <a:t> شناسایی شده باشند، </a:t>
            </a:r>
            <a:r>
              <a:rPr lang="fa-IR" dirty="0" err="1"/>
              <a:t>جدول‌هایی</a:t>
            </a:r>
            <a:r>
              <a:rPr lang="fa-IR" dirty="0"/>
              <a:t> که از نمودار </a:t>
            </a:r>
            <a:r>
              <a:rPr lang="en-US" dirty="0"/>
              <a:t>E-R </a:t>
            </a:r>
            <a:r>
              <a:rPr lang="fa-IR" dirty="0"/>
              <a:t>تولید </a:t>
            </a:r>
            <a:r>
              <a:rPr lang="fa-IR" dirty="0" err="1"/>
              <a:t>می‌شوند</a:t>
            </a:r>
            <a:r>
              <a:rPr lang="fa-IR" dirty="0"/>
              <a:t> </a:t>
            </a:r>
            <a:r>
              <a:rPr lang="fa-IR" b="1" dirty="0"/>
              <a:t>نباید نیاز به </a:t>
            </a:r>
            <a:r>
              <a:rPr lang="fa-IR" b="1" dirty="0" err="1"/>
              <a:t>نرمال‌سازی</a:t>
            </a:r>
            <a:r>
              <a:rPr lang="fa-IR" b="1" dirty="0"/>
              <a:t> بیشتر داشته باشند</a:t>
            </a:r>
            <a:r>
              <a:rPr lang="fa-IR" dirty="0"/>
              <a:t>.</a:t>
            </a:r>
          </a:p>
          <a:p>
            <a:pPr algn="r" rtl="1"/>
            <a:r>
              <a:rPr lang="fa-IR" dirty="0"/>
              <a:t>با این حال، در یک طراحی واقعی (و </a:t>
            </a:r>
            <a:r>
              <a:rPr lang="fa-IR" dirty="0" err="1"/>
              <a:t>غیر‌کامل</a:t>
            </a:r>
            <a:r>
              <a:rPr lang="fa-IR" dirty="0"/>
              <a:t>)، ممکن است </a:t>
            </a:r>
            <a:r>
              <a:rPr lang="fa-IR" b="1" dirty="0" err="1"/>
              <a:t>وابستگی‌های</a:t>
            </a:r>
            <a:r>
              <a:rPr lang="fa-IR" b="1" dirty="0"/>
              <a:t> </a:t>
            </a:r>
            <a:r>
              <a:rPr lang="fa-IR" b="1" dirty="0" err="1"/>
              <a:t>تابعی</a:t>
            </a:r>
            <a:r>
              <a:rPr lang="fa-IR" b="1" dirty="0"/>
              <a:t> از صفات </a:t>
            </a:r>
            <a:r>
              <a:rPr lang="fa-IR" b="1" dirty="0" err="1"/>
              <a:t>غیرکلیدی</a:t>
            </a:r>
            <a:r>
              <a:rPr lang="fa-IR" b="1" dirty="0"/>
              <a:t> یک موجودیت به سایر صفات همان موجودیت</a:t>
            </a:r>
            <a:r>
              <a:rPr lang="fa-IR" dirty="0"/>
              <a:t> وجود داشته باشد.</a:t>
            </a:r>
          </a:p>
          <a:p>
            <a:pPr algn="r" rtl="1"/>
            <a:r>
              <a:rPr lang="fa-IR" b="1" dirty="0"/>
              <a:t>مثال:</a:t>
            </a:r>
            <a:br>
              <a:rPr lang="fa-IR" dirty="0"/>
            </a:br>
            <a:r>
              <a:rPr lang="fa-IR" dirty="0"/>
              <a:t>یک موجودیت </a:t>
            </a:r>
            <a:r>
              <a:rPr lang="fa-IR" i="1" dirty="0"/>
              <a:t>کارمند</a:t>
            </a:r>
            <a:r>
              <a:rPr lang="fa-IR" dirty="0"/>
              <a:t> که دارای </a:t>
            </a:r>
            <a:r>
              <a:rPr lang="fa-IR" dirty="0" err="1"/>
              <a:t>صفت‌های</a:t>
            </a:r>
            <a:endParaRPr lang="fa-IR" dirty="0"/>
          </a:p>
          <a:p>
            <a:pPr algn="r" rtl="1"/>
            <a:r>
              <a:rPr lang="fa-IR" dirty="0" err="1"/>
              <a:t>نامِ</a:t>
            </a:r>
            <a:r>
              <a:rPr lang="fa-IR" dirty="0"/>
              <a:t> بخش</a:t>
            </a:r>
          </a:p>
          <a:p>
            <a:pPr algn="r" rtl="1"/>
            <a:r>
              <a:rPr lang="fa-IR" dirty="0"/>
              <a:t>ساختمان</a:t>
            </a:r>
          </a:p>
          <a:p>
            <a:pPr algn="r" rtl="1"/>
            <a:r>
              <a:rPr lang="fa-IR" dirty="0"/>
              <a:t>باشد، و وابستگی </a:t>
            </a:r>
            <a:r>
              <a:rPr lang="fa-IR" dirty="0" err="1"/>
              <a:t>تابعی</a:t>
            </a:r>
            <a:r>
              <a:rPr lang="fa-IR" dirty="0"/>
              <a:t>:</a:t>
            </a:r>
            <a:br>
              <a:rPr lang="fa-IR" dirty="0"/>
            </a:br>
            <a:r>
              <a:rPr lang="fa-IR" b="1" dirty="0" err="1"/>
              <a:t>نامِ</a:t>
            </a:r>
            <a:r>
              <a:rPr lang="fa-IR" b="1" dirty="0"/>
              <a:t> بخش → ساختمان</a:t>
            </a:r>
            <a:endParaRPr lang="fa-IR" dirty="0"/>
          </a:p>
          <a:p>
            <a:pPr algn="r" rtl="1"/>
            <a:r>
              <a:rPr lang="fa-IR" dirty="0"/>
              <a:t>طراحی خوب، «بخش» را باید به عنوان یک موجودیت جدا در نظر </a:t>
            </a:r>
            <a:r>
              <a:rPr lang="fa-IR" dirty="0" err="1"/>
              <a:t>می‌گرفت</a:t>
            </a:r>
            <a:r>
              <a:rPr lang="fa-IR" dirty="0"/>
              <a:t>.</a:t>
            </a:r>
          </a:p>
          <a:p>
            <a:pPr algn="r" rtl="1"/>
            <a:r>
              <a:rPr lang="fa-IR" dirty="0"/>
              <a:t>وجود </a:t>
            </a:r>
            <a:r>
              <a:rPr lang="fa-IR" dirty="0" err="1"/>
              <a:t>وابستگی‌های</a:t>
            </a:r>
            <a:r>
              <a:rPr lang="fa-IR" dirty="0"/>
              <a:t> </a:t>
            </a:r>
            <a:r>
              <a:rPr lang="fa-IR" dirty="0" err="1"/>
              <a:t>تابعی</a:t>
            </a:r>
            <a:r>
              <a:rPr lang="fa-IR" dirty="0"/>
              <a:t> از صفات </a:t>
            </a:r>
            <a:r>
              <a:rPr lang="fa-IR" dirty="0" err="1"/>
              <a:t>غیرکلیدی</a:t>
            </a:r>
            <a:r>
              <a:rPr lang="fa-IR" dirty="0"/>
              <a:t> در یک مجموعه‌ رابطه (</a:t>
            </a:r>
            <a:r>
              <a:rPr lang="en-US" dirty="0"/>
              <a:t>relationship set) </a:t>
            </a:r>
            <a:r>
              <a:rPr lang="fa-IR" dirty="0"/>
              <a:t>نیز </a:t>
            </a:r>
            <a:r>
              <a:rPr lang="fa-IR" b="1" dirty="0"/>
              <a:t>ممکن است</a:t>
            </a:r>
            <a:r>
              <a:rPr lang="fa-IR" dirty="0"/>
              <a:t>، اما </a:t>
            </a:r>
            <a:r>
              <a:rPr lang="fa-IR" b="1" dirty="0"/>
              <a:t>نادر</a:t>
            </a:r>
            <a:r>
              <a:rPr lang="fa-IR" dirty="0"/>
              <a:t> است — زیرا اغلب </a:t>
            </a:r>
            <a:r>
              <a:rPr lang="fa-IR" dirty="0" err="1"/>
              <a:t>رابطه‌ها</a:t>
            </a:r>
            <a:r>
              <a:rPr lang="fa-IR" dirty="0"/>
              <a:t> </a:t>
            </a:r>
            <a:r>
              <a:rPr lang="fa-IR" b="1" dirty="0" err="1"/>
              <a:t>دو‌تایی</a:t>
            </a:r>
            <a:r>
              <a:rPr lang="fa-IR" b="1" dirty="0"/>
              <a:t> (</a:t>
            </a:r>
            <a:r>
              <a:rPr lang="en-US" b="1" dirty="0"/>
              <a:t>binary)</a:t>
            </a:r>
            <a:r>
              <a:rPr lang="en-US" dirty="0"/>
              <a:t> </a:t>
            </a:r>
            <a:r>
              <a:rPr lang="fa-IR" dirty="0"/>
              <a:t>هستند.</a:t>
            </a:r>
          </a:p>
          <a:p>
            <a:pPr algn="r" rtl="1"/>
            <a:endParaRPr lang="en-US" alt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93602" name="Rectangle 2"/>
          <p:cNvSpPr>
            <a:spLocks noGrp="1" noChangeArrowheads="1"/>
          </p:cNvSpPr>
          <p:nvPr>
            <p:ph type="title"/>
          </p:nvPr>
        </p:nvSpPr>
        <p:spPr/>
        <p:txBody>
          <a:bodyPr/>
          <a:lstStyle/>
          <a:p>
            <a:pPr>
              <a:defRPr/>
            </a:pPr>
            <a:r>
              <a:rPr lang="en-US" altLang="en-US">
                <a:effectLst>
                  <a:outerShdw blurRad="38100" dist="38100" dir="2700000" algn="tl">
                    <a:srgbClr val="C0C0C0"/>
                  </a:outerShdw>
                </a:effectLst>
                <a:ea typeface="ＭＳ Ｐゴシック" pitchFamily="34" charset="-128"/>
              </a:rPr>
              <a:t>Denormalization for Performance</a:t>
            </a:r>
          </a:p>
        </p:txBody>
      </p:sp>
      <p:sp>
        <p:nvSpPr>
          <p:cNvPr id="96259" name="Rectangle 3"/>
          <p:cNvSpPr>
            <a:spLocks noGrp="1" noChangeArrowheads="1"/>
          </p:cNvSpPr>
          <p:nvPr>
            <p:ph idx="1"/>
          </p:nvPr>
        </p:nvSpPr>
        <p:spPr>
          <a:xfrm>
            <a:off x="0" y="727075"/>
            <a:ext cx="9056318" cy="5055796"/>
          </a:xfrm>
        </p:spPr>
        <p:txBody>
          <a:bodyPr/>
          <a:lstStyle/>
          <a:p>
            <a:pPr algn="r" rtl="1"/>
            <a:r>
              <a:rPr lang="fa-IR" sz="1800" dirty="0"/>
              <a:t>ممکن است برای دستیابی به کارایی بهتر، بخواهیم از یک طرح </a:t>
            </a:r>
            <a:r>
              <a:rPr lang="fa-IR" sz="1800" b="1" dirty="0" err="1"/>
              <a:t>غیرنرمال‌شده</a:t>
            </a:r>
            <a:r>
              <a:rPr lang="fa-IR" sz="1800" dirty="0"/>
              <a:t> استفاده کنیم.</a:t>
            </a:r>
          </a:p>
          <a:p>
            <a:pPr algn="r" rtl="1"/>
            <a:r>
              <a:rPr lang="fa-IR" sz="1800" dirty="0"/>
              <a:t>برای مثال، نمایش </a:t>
            </a:r>
            <a:r>
              <a:rPr lang="fa-IR" sz="1800" dirty="0" err="1"/>
              <a:t>پیش‌نیازها</a:t>
            </a:r>
            <a:r>
              <a:rPr lang="fa-IR" sz="1800" dirty="0"/>
              <a:t> همراه با </a:t>
            </a:r>
            <a:r>
              <a:rPr lang="fa-IR" sz="1800" dirty="0" err="1"/>
              <a:t>شناسه</a:t>
            </a:r>
            <a:r>
              <a:rPr lang="fa-IR" sz="1800" dirty="0"/>
              <a:t> درس و عنوان درس، نیازمند انجام یک </a:t>
            </a:r>
            <a:r>
              <a:rPr lang="fa-IR" sz="1800" b="1" dirty="0" err="1"/>
              <a:t>جوین</a:t>
            </a:r>
            <a:r>
              <a:rPr lang="fa-IR" sz="1800" dirty="0"/>
              <a:t> بین جدول درس و جدول </a:t>
            </a:r>
            <a:r>
              <a:rPr lang="fa-IR" sz="1800" dirty="0" err="1"/>
              <a:t>پیش‌نیاز</a:t>
            </a:r>
            <a:r>
              <a:rPr lang="fa-IR" sz="1800" dirty="0"/>
              <a:t> است.</a:t>
            </a:r>
          </a:p>
          <a:p>
            <a:pPr algn="r" rtl="1"/>
            <a:r>
              <a:rPr lang="fa-IR" sz="1800" b="1" dirty="0" err="1"/>
              <a:t>راه‌حل</a:t>
            </a:r>
            <a:r>
              <a:rPr lang="fa-IR" sz="1800" b="1" dirty="0"/>
              <a:t> ۱:</a:t>
            </a:r>
            <a:br>
              <a:rPr lang="fa-IR" sz="1800" dirty="0"/>
            </a:br>
            <a:r>
              <a:rPr lang="fa-IR" sz="1800" dirty="0"/>
              <a:t>استفاده از یک رابطه </a:t>
            </a:r>
            <a:r>
              <a:rPr lang="en-US" sz="1800" i="1" dirty="0"/>
              <a:t>denormalized</a:t>
            </a:r>
            <a:r>
              <a:rPr lang="en-US" sz="1800" dirty="0"/>
              <a:t> </a:t>
            </a:r>
            <a:r>
              <a:rPr lang="fa-IR" sz="1800" dirty="0"/>
              <a:t>که شامل </a:t>
            </a:r>
            <a:r>
              <a:rPr lang="fa-IR" sz="1800" dirty="0" err="1"/>
              <a:t>صفت‌های</a:t>
            </a:r>
            <a:r>
              <a:rPr lang="fa-IR" sz="1800" dirty="0"/>
              <a:t> درس </a:t>
            </a:r>
            <a:r>
              <a:rPr lang="fa-IR" sz="1800" b="1" dirty="0"/>
              <a:t>و</a:t>
            </a:r>
            <a:r>
              <a:rPr lang="fa-IR" sz="1800" dirty="0"/>
              <a:t> </a:t>
            </a:r>
            <a:r>
              <a:rPr lang="fa-IR" sz="1800" dirty="0" err="1"/>
              <a:t>پیش‌نیاز</a:t>
            </a:r>
            <a:r>
              <a:rPr lang="fa-IR" sz="1800" dirty="0"/>
              <a:t> باشد، همراه با تمام </a:t>
            </a:r>
            <a:r>
              <a:rPr lang="fa-IR" sz="1800" dirty="0" err="1"/>
              <a:t>صفت‌های</a:t>
            </a:r>
            <a:r>
              <a:rPr lang="fa-IR" sz="1800" dirty="0"/>
              <a:t> موردنیاز.</a:t>
            </a:r>
            <a:br>
              <a:rPr lang="fa-IR" sz="1800" dirty="0"/>
            </a:br>
            <a:r>
              <a:rPr lang="fa-IR" sz="1800" dirty="0"/>
              <a:t>مزایا:</a:t>
            </a:r>
          </a:p>
          <a:p>
            <a:pPr algn="r" rtl="1"/>
            <a:r>
              <a:rPr lang="fa-IR" sz="1800" dirty="0" err="1"/>
              <a:t>جست‌وجوی</a:t>
            </a:r>
            <a:r>
              <a:rPr lang="fa-IR" sz="1800" dirty="0"/>
              <a:t> </a:t>
            </a:r>
            <a:r>
              <a:rPr lang="fa-IR" sz="1800" dirty="0" err="1"/>
              <a:t>سریع‌تر</a:t>
            </a:r>
            <a:endParaRPr lang="fa-IR" sz="1800" dirty="0"/>
          </a:p>
          <a:p>
            <a:pPr algn="r" rtl="1"/>
            <a:r>
              <a:rPr lang="fa-IR" sz="1800" dirty="0"/>
              <a:t>معایب:</a:t>
            </a:r>
          </a:p>
          <a:p>
            <a:pPr algn="r" rtl="1"/>
            <a:r>
              <a:rPr lang="fa-IR" sz="1800" dirty="0"/>
              <a:t>استفاده بیشتر از فضا</a:t>
            </a:r>
          </a:p>
          <a:p>
            <a:pPr algn="r" rtl="1"/>
            <a:r>
              <a:rPr lang="fa-IR" sz="1800" dirty="0"/>
              <a:t>زمان اضافی برای اجرای عملیات </a:t>
            </a:r>
            <a:r>
              <a:rPr lang="fa-IR" sz="1800" dirty="0" err="1"/>
              <a:t>به‌روزرسانی</a:t>
            </a:r>
            <a:endParaRPr lang="fa-IR" sz="1800" dirty="0"/>
          </a:p>
          <a:p>
            <a:pPr algn="r" rtl="1"/>
            <a:r>
              <a:rPr lang="fa-IR" sz="1800" dirty="0"/>
              <a:t>نیاز به </a:t>
            </a:r>
            <a:r>
              <a:rPr lang="fa-IR" sz="1800" dirty="0" err="1"/>
              <a:t>کدنویسی</a:t>
            </a:r>
            <a:r>
              <a:rPr lang="fa-IR" sz="1800" dirty="0"/>
              <a:t> بیشتر توسط </a:t>
            </a:r>
            <a:r>
              <a:rPr lang="fa-IR" sz="1800" dirty="0" err="1"/>
              <a:t>برنامه‌نویس</a:t>
            </a:r>
            <a:r>
              <a:rPr lang="fa-IR" sz="1800" dirty="0"/>
              <a:t> و احتمال خطا در این کد اضافی</a:t>
            </a:r>
          </a:p>
          <a:p>
            <a:pPr algn="r" rtl="1"/>
            <a:r>
              <a:rPr lang="fa-IR" sz="1800" b="1" dirty="0" err="1"/>
              <a:t>راه‌حل</a:t>
            </a:r>
            <a:r>
              <a:rPr lang="fa-IR" sz="1800" b="1" dirty="0"/>
              <a:t> ۲:</a:t>
            </a:r>
            <a:br>
              <a:rPr lang="fa-IR" sz="1800" dirty="0"/>
            </a:br>
            <a:r>
              <a:rPr lang="fa-IR" sz="1800" dirty="0"/>
              <a:t>استفاده از یک </a:t>
            </a:r>
            <a:r>
              <a:rPr lang="fa-IR" sz="1800" b="1" dirty="0"/>
              <a:t>نمای </a:t>
            </a:r>
            <a:r>
              <a:rPr lang="fa-IR" sz="1800" b="1" dirty="0" err="1"/>
              <a:t>مادی‌سازی‌شده</a:t>
            </a:r>
            <a:r>
              <a:rPr lang="fa-IR" sz="1800" b="1" dirty="0"/>
              <a:t> (</a:t>
            </a:r>
            <a:r>
              <a:rPr lang="en-US" sz="1800" b="1" dirty="0"/>
              <a:t>materialized view)</a:t>
            </a:r>
            <a:r>
              <a:rPr lang="en-US" sz="1800" dirty="0"/>
              <a:t> </a:t>
            </a:r>
            <a:r>
              <a:rPr lang="fa-IR" sz="1800" dirty="0"/>
              <a:t>که به صورت ترکیب درس و </a:t>
            </a:r>
            <a:r>
              <a:rPr lang="fa-IR" sz="1800" dirty="0" err="1"/>
              <a:t>پیش‌نیاز</a:t>
            </a:r>
            <a:r>
              <a:rPr lang="fa-IR" sz="1800" dirty="0"/>
              <a:t> تعریف شده باشد.</a:t>
            </a:r>
            <a:br>
              <a:rPr lang="fa-IR" sz="1800" dirty="0"/>
            </a:br>
            <a:r>
              <a:rPr lang="fa-IR" sz="1800" dirty="0"/>
              <a:t>مزایا و معایب مشابه مورد بالا است،</a:t>
            </a:r>
            <a:br>
              <a:rPr lang="fa-IR" sz="1800" dirty="0"/>
            </a:br>
            <a:r>
              <a:rPr lang="fa-IR" sz="1800" dirty="0"/>
              <a:t>با این تفاوت که:</a:t>
            </a:r>
          </a:p>
          <a:p>
            <a:pPr algn="r" rtl="1"/>
            <a:r>
              <a:rPr lang="fa-IR" sz="1800" dirty="0"/>
              <a:t>نیازی به </a:t>
            </a:r>
            <a:r>
              <a:rPr lang="fa-IR" sz="1800" dirty="0" err="1"/>
              <a:t>کدنویسی</a:t>
            </a:r>
            <a:r>
              <a:rPr lang="fa-IR" sz="1800" dirty="0"/>
              <a:t> اضافی توسط </a:t>
            </a:r>
            <a:r>
              <a:rPr lang="fa-IR" sz="1800" dirty="0" err="1"/>
              <a:t>برنامه‌نویس</a:t>
            </a:r>
            <a:r>
              <a:rPr lang="fa-IR" sz="1800" dirty="0"/>
              <a:t> نیست</a:t>
            </a:r>
          </a:p>
          <a:p>
            <a:pPr algn="r" rtl="1"/>
            <a:r>
              <a:rPr lang="fa-IR" sz="1800" dirty="0"/>
              <a:t>احتمال خطا در کد نیز از بین </a:t>
            </a:r>
            <a:r>
              <a:rPr lang="fa-IR" sz="1800" dirty="0" err="1"/>
              <a:t>می‌رود</a:t>
            </a:r>
            <a:endParaRPr lang="fa-IR" sz="1800" dirty="0"/>
          </a:p>
          <a:p>
            <a:pPr marL="0" indent="0" algn="r" rtl="1">
              <a:buNone/>
            </a:pPr>
            <a:br>
              <a:rPr lang="fa-IR" sz="1800" dirty="0"/>
            </a:br>
            <a:endParaRPr lang="en-US" altLang="en-US" sz="1800"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95650" name="Rectangle 2"/>
          <p:cNvSpPr>
            <a:spLocks noGrp="1" noChangeArrowheads="1"/>
          </p:cNvSpPr>
          <p:nvPr>
            <p:ph type="title"/>
          </p:nvPr>
        </p:nvSpPr>
        <p:spPr/>
        <p:txBody>
          <a:bodyPr/>
          <a:lstStyle/>
          <a:p>
            <a:pPr>
              <a:defRPr/>
            </a:pPr>
            <a:r>
              <a:rPr lang="en-US" altLang="en-US">
                <a:effectLst>
                  <a:outerShdw blurRad="38100" dist="38100" dir="2700000" algn="tl">
                    <a:srgbClr val="C0C0C0"/>
                  </a:outerShdw>
                </a:effectLst>
                <a:ea typeface="ＭＳ Ｐゴシック" pitchFamily="34" charset="-128"/>
              </a:rPr>
              <a:t>Other Design Issues</a:t>
            </a:r>
          </a:p>
        </p:txBody>
      </p:sp>
      <p:sp>
        <p:nvSpPr>
          <p:cNvPr id="97283" name="Rectangle 3"/>
          <p:cNvSpPr>
            <a:spLocks noGrp="1" noChangeArrowheads="1"/>
          </p:cNvSpPr>
          <p:nvPr>
            <p:ph idx="1"/>
          </p:nvPr>
        </p:nvSpPr>
        <p:spPr>
          <a:xfrm>
            <a:off x="394008" y="727075"/>
            <a:ext cx="8451542" cy="4775201"/>
          </a:xfrm>
        </p:spPr>
        <p:txBody>
          <a:bodyPr/>
          <a:lstStyle/>
          <a:p>
            <a:pPr algn="r" rtl="1"/>
            <a:r>
              <a:rPr lang="fa-IR" sz="1600" dirty="0"/>
              <a:t>برخی </a:t>
            </a:r>
            <a:r>
              <a:rPr lang="fa-IR" sz="1600" dirty="0" err="1"/>
              <a:t>جنبه‌های</a:t>
            </a:r>
            <a:r>
              <a:rPr lang="fa-IR" sz="1600" dirty="0"/>
              <a:t> طراحی پایگاه داده با </a:t>
            </a:r>
            <a:r>
              <a:rPr lang="fa-IR" sz="1600" dirty="0" err="1"/>
              <a:t>نرمال‌سازی</a:t>
            </a:r>
            <a:r>
              <a:rPr lang="fa-IR" sz="1600" dirty="0"/>
              <a:t> قابل تشخیص نیستند.</a:t>
            </a:r>
            <a:br>
              <a:rPr lang="fa-IR" sz="1600" dirty="0"/>
            </a:br>
            <a:r>
              <a:rPr lang="fa-IR" sz="1600" dirty="0" err="1"/>
              <a:t>نمونه‌هایی</a:t>
            </a:r>
            <a:r>
              <a:rPr lang="fa-IR" sz="1600" dirty="0"/>
              <a:t> از طراحی بد پایگاه داده که باید از </a:t>
            </a:r>
            <a:r>
              <a:rPr lang="fa-IR" sz="1600" dirty="0" err="1"/>
              <a:t>آن‌ها</a:t>
            </a:r>
            <a:r>
              <a:rPr lang="fa-IR" sz="1600" dirty="0"/>
              <a:t> پرهیز کرد:</a:t>
            </a:r>
          </a:p>
          <a:p>
            <a:pPr algn="r" rtl="1"/>
            <a:r>
              <a:rPr lang="fa-IR" sz="1600" dirty="0" err="1"/>
              <a:t>به‌جای</a:t>
            </a:r>
            <a:r>
              <a:rPr lang="fa-IR" sz="1600" dirty="0"/>
              <a:t> استفاده از </a:t>
            </a:r>
            <a:r>
              <a:rPr lang="fa-IR" sz="1600" dirty="0" err="1"/>
              <a:t>رابطهٔ</a:t>
            </a:r>
            <a:r>
              <a:rPr lang="fa-IR" sz="1600" dirty="0"/>
              <a:t>:</a:t>
            </a:r>
          </a:p>
          <a:p>
            <a:pPr algn="r" rtl="1"/>
            <a:r>
              <a:rPr lang="en-US" sz="1600" b="1" dirty="0"/>
              <a:t>earnings(</a:t>
            </a:r>
            <a:r>
              <a:rPr lang="en-US" sz="1600" b="1" dirty="0" err="1"/>
              <a:t>company_id</a:t>
            </a:r>
            <a:r>
              <a:rPr lang="en-US" sz="1600" b="1" dirty="0"/>
              <a:t>, year, amount)</a:t>
            </a:r>
            <a:endParaRPr lang="en-US" sz="1600" dirty="0"/>
          </a:p>
          <a:p>
            <a:pPr algn="r" rtl="1"/>
            <a:r>
              <a:rPr lang="fa-IR" sz="1600" dirty="0"/>
              <a:t>استفاده شود از </a:t>
            </a:r>
            <a:r>
              <a:rPr lang="fa-IR" sz="1600" dirty="0" err="1"/>
              <a:t>جداولی</a:t>
            </a:r>
            <a:r>
              <a:rPr lang="fa-IR" sz="1600" dirty="0"/>
              <a:t> مانند:</a:t>
            </a:r>
          </a:p>
          <a:p>
            <a:pPr algn="r" rtl="1"/>
            <a:r>
              <a:rPr lang="en-US" sz="1600" b="1" dirty="0"/>
              <a:t>earnings_2004</a:t>
            </a:r>
            <a:r>
              <a:rPr lang="en-US" sz="1600" dirty="0"/>
              <a:t>,</a:t>
            </a:r>
            <a:r>
              <a:rPr lang="en-US" sz="1600" b="1" dirty="0"/>
              <a:t>earnings_2005</a:t>
            </a:r>
            <a:r>
              <a:rPr lang="en-US" sz="1600" dirty="0"/>
              <a:t>,</a:t>
            </a:r>
            <a:r>
              <a:rPr lang="en-US" sz="1600" b="1" dirty="0"/>
              <a:t>earnings_2006</a:t>
            </a:r>
            <a:r>
              <a:rPr lang="en-US" sz="1600" dirty="0"/>
              <a:t>،</a:t>
            </a:r>
            <a:endParaRPr lang="fa-IR" sz="1600" dirty="0"/>
          </a:p>
          <a:p>
            <a:pPr algn="r" rtl="1"/>
            <a:r>
              <a:rPr lang="fa-IR" sz="1600" dirty="0" err="1"/>
              <a:t>همهٔ</a:t>
            </a:r>
            <a:r>
              <a:rPr lang="fa-IR" sz="1600" dirty="0"/>
              <a:t> </a:t>
            </a:r>
            <a:r>
              <a:rPr lang="fa-IR" sz="1600" dirty="0" err="1"/>
              <a:t>این‌ها</a:t>
            </a:r>
            <a:r>
              <a:rPr lang="fa-IR" sz="1600" dirty="0"/>
              <a:t> با شمای </a:t>
            </a:r>
            <a:r>
              <a:rPr lang="fa-IR" sz="1600" b="1" dirty="0"/>
              <a:t>(</a:t>
            </a:r>
            <a:r>
              <a:rPr lang="en-US" sz="1600" b="1" dirty="0" err="1"/>
              <a:t>company_id</a:t>
            </a:r>
            <a:r>
              <a:rPr lang="en-US" sz="1600" b="1" dirty="0"/>
              <a:t>, earnings)</a:t>
            </a:r>
            <a:r>
              <a:rPr lang="en-US" sz="1600" dirty="0"/>
              <a:t> </a:t>
            </a:r>
            <a:r>
              <a:rPr lang="fa-IR" sz="1600" dirty="0"/>
              <a:t>تعریف </a:t>
            </a:r>
            <a:r>
              <a:rPr lang="fa-IR" sz="1600" dirty="0" err="1"/>
              <a:t>شده‌اند</a:t>
            </a:r>
            <a:r>
              <a:rPr lang="fa-IR" sz="1600" dirty="0"/>
              <a:t>.</a:t>
            </a:r>
          </a:p>
          <a:p>
            <a:pPr algn="r" rtl="1"/>
            <a:r>
              <a:rPr lang="fa-IR" sz="1600" dirty="0"/>
              <a:t>این </a:t>
            </a:r>
            <a:r>
              <a:rPr lang="fa-IR" sz="1600" dirty="0" err="1"/>
              <a:t>طرح‌ها</a:t>
            </a:r>
            <a:r>
              <a:rPr lang="fa-IR" sz="1600" dirty="0"/>
              <a:t> اگرچه در </a:t>
            </a:r>
            <a:r>
              <a:rPr lang="en-US" sz="1600" b="1" dirty="0"/>
              <a:t>BCNF</a:t>
            </a:r>
            <a:r>
              <a:rPr lang="en-US" sz="1600" dirty="0"/>
              <a:t> </a:t>
            </a:r>
            <a:r>
              <a:rPr lang="fa-IR" sz="1600" dirty="0"/>
              <a:t>قرار دارند،</a:t>
            </a:r>
            <a:br>
              <a:rPr lang="fa-IR" sz="1600" dirty="0"/>
            </a:br>
            <a:r>
              <a:rPr lang="fa-IR" sz="1600" dirty="0"/>
              <a:t>اما </a:t>
            </a:r>
            <a:r>
              <a:rPr lang="fa-IR" sz="1600" i="1" dirty="0"/>
              <a:t>انجام </a:t>
            </a:r>
            <a:r>
              <a:rPr lang="fa-IR" sz="1600" i="1" dirty="0" err="1"/>
              <a:t>پرس‌وجو</a:t>
            </a:r>
            <a:r>
              <a:rPr lang="fa-IR" sz="1600" i="1" dirty="0"/>
              <a:t> (</a:t>
            </a:r>
            <a:r>
              <a:rPr lang="en-US" sz="1600" i="1" dirty="0"/>
              <a:t>query) </a:t>
            </a:r>
            <a:r>
              <a:rPr lang="fa-IR" sz="1600" i="1" dirty="0"/>
              <a:t>در بین </a:t>
            </a:r>
            <a:r>
              <a:rPr lang="fa-IR" sz="1600" i="1" dirty="0" err="1"/>
              <a:t>سال‌های</a:t>
            </a:r>
            <a:r>
              <a:rPr lang="fa-IR" sz="1600" i="1" dirty="0"/>
              <a:t> مختلف را دشوار </a:t>
            </a:r>
            <a:r>
              <a:rPr lang="fa-IR" sz="1600" i="1" dirty="0" err="1"/>
              <a:t>می‌کنند</a:t>
            </a:r>
            <a:br>
              <a:rPr lang="fa-IR" sz="1600" dirty="0"/>
            </a:br>
            <a:r>
              <a:rPr lang="fa-IR" sz="1600" dirty="0"/>
              <a:t>و </a:t>
            </a:r>
            <a:r>
              <a:rPr lang="fa-IR" sz="1600" i="1" dirty="0"/>
              <a:t>هر سال نیاز به ایجاد یک جدول جدید دارند.</a:t>
            </a:r>
            <a:endParaRPr lang="fa-IR" sz="1600" dirty="0"/>
          </a:p>
          <a:p>
            <a:pPr algn="r" rtl="1"/>
            <a:r>
              <a:rPr lang="fa-IR" sz="1600" dirty="0" err="1"/>
              <a:t>نمونهٔ</a:t>
            </a:r>
            <a:r>
              <a:rPr lang="fa-IR" sz="1600" dirty="0"/>
              <a:t> دیگر:</a:t>
            </a:r>
          </a:p>
          <a:p>
            <a:pPr algn="r" rtl="1"/>
            <a:r>
              <a:rPr lang="fa-IR" sz="1600" dirty="0"/>
              <a:t>جدول </a:t>
            </a:r>
            <a:r>
              <a:rPr lang="en-US" sz="1600" b="1" dirty="0" err="1"/>
              <a:t>company_year</a:t>
            </a:r>
            <a:r>
              <a:rPr lang="en-US" sz="1600" b="1" dirty="0"/>
              <a:t>(</a:t>
            </a:r>
            <a:r>
              <a:rPr lang="en-US" sz="1600" b="1" dirty="0" err="1"/>
              <a:t>company_id</a:t>
            </a:r>
            <a:r>
              <a:rPr lang="en-US" sz="1600" b="1" dirty="0"/>
              <a:t>, earnings_2004, earnings_2005, earnings_2006)</a:t>
            </a:r>
            <a:endParaRPr lang="en-US" sz="1600" dirty="0"/>
          </a:p>
          <a:p>
            <a:pPr algn="r" rtl="1"/>
            <a:r>
              <a:rPr lang="fa-IR" sz="1600" dirty="0"/>
              <a:t>این جدول نیز در </a:t>
            </a:r>
            <a:r>
              <a:rPr lang="en-US" sz="1600" b="1" dirty="0"/>
              <a:t>BCNF</a:t>
            </a:r>
            <a:r>
              <a:rPr lang="en-US" sz="1600" dirty="0"/>
              <a:t> </a:t>
            </a:r>
            <a:r>
              <a:rPr lang="fa-IR" sz="1600" dirty="0"/>
              <a:t>قرار دارد،</a:t>
            </a:r>
            <a:br>
              <a:rPr lang="fa-IR" sz="1600" dirty="0"/>
            </a:br>
            <a:r>
              <a:rPr lang="fa-IR" sz="1600" dirty="0"/>
              <a:t>اما مانند </a:t>
            </a:r>
            <a:r>
              <a:rPr lang="fa-IR" sz="1600" dirty="0" err="1"/>
              <a:t>نمونهٔ</a:t>
            </a:r>
            <a:r>
              <a:rPr lang="fa-IR" sz="1600" dirty="0"/>
              <a:t> قبل:</a:t>
            </a:r>
          </a:p>
          <a:p>
            <a:pPr algn="r" rtl="1"/>
            <a:r>
              <a:rPr lang="fa-IR" sz="1600" dirty="0" err="1"/>
              <a:t>پرس‌وجو</a:t>
            </a:r>
            <a:r>
              <a:rPr lang="fa-IR" sz="1600" dirty="0"/>
              <a:t> بین </a:t>
            </a:r>
            <a:r>
              <a:rPr lang="fa-IR" sz="1600" dirty="0" err="1"/>
              <a:t>سال‌ها</a:t>
            </a:r>
            <a:r>
              <a:rPr lang="fa-IR" sz="1600" dirty="0"/>
              <a:t> را سخت </a:t>
            </a:r>
            <a:r>
              <a:rPr lang="fa-IR" sz="1600" dirty="0" err="1"/>
              <a:t>می‌کند</a:t>
            </a:r>
            <a:endParaRPr lang="fa-IR" sz="1600" dirty="0"/>
          </a:p>
          <a:p>
            <a:pPr algn="r" rtl="1"/>
            <a:r>
              <a:rPr lang="fa-IR" sz="1600" dirty="0"/>
              <a:t>هر سال نیاز به افزودن یک صفت جدید (ستون جدید) دارد</a:t>
            </a:r>
          </a:p>
          <a:p>
            <a:pPr algn="r" rtl="1"/>
            <a:r>
              <a:rPr lang="fa-IR" sz="1600" dirty="0"/>
              <a:t>این نوع طراحی یک </a:t>
            </a:r>
            <a:r>
              <a:rPr lang="en-US" sz="1600" b="1" dirty="0"/>
              <a:t>crosstab</a:t>
            </a:r>
            <a:r>
              <a:rPr lang="en-US" sz="1600" dirty="0"/>
              <a:t> </a:t>
            </a:r>
            <a:r>
              <a:rPr lang="fa-IR" sz="1600" dirty="0"/>
              <a:t>است،</a:t>
            </a:r>
            <a:br>
              <a:rPr lang="fa-IR" sz="1600" dirty="0"/>
            </a:br>
            <a:r>
              <a:rPr lang="fa-IR" sz="1600" dirty="0"/>
              <a:t>که در آن </a:t>
            </a:r>
            <a:r>
              <a:rPr lang="fa-IR" sz="1600" i="1" dirty="0"/>
              <a:t>مقادیر یک صفت، تبدیل به نام </a:t>
            </a:r>
            <a:r>
              <a:rPr lang="fa-IR" sz="1600" i="1" dirty="0" err="1"/>
              <a:t>ستون‌ها</a:t>
            </a:r>
            <a:r>
              <a:rPr lang="fa-IR" sz="1600" i="1" dirty="0"/>
              <a:t> </a:t>
            </a:r>
            <a:r>
              <a:rPr lang="fa-IR" sz="1600" i="1" dirty="0" err="1"/>
              <a:t>می‌شوند</a:t>
            </a:r>
            <a:r>
              <a:rPr lang="fa-IR" sz="1600" i="1" dirty="0"/>
              <a:t>.</a:t>
            </a:r>
            <a:endParaRPr lang="fa-IR" sz="1600" dirty="0"/>
          </a:p>
          <a:p>
            <a:pPr algn="r" rtl="1"/>
            <a:r>
              <a:rPr lang="fa-IR" sz="1600" dirty="0"/>
              <a:t>این نوع ساختار معمولاً در </a:t>
            </a:r>
            <a:r>
              <a:rPr lang="fa-IR" sz="1600" b="1" dirty="0" err="1"/>
              <a:t>صفحه‌گسترده‌ها</a:t>
            </a:r>
            <a:r>
              <a:rPr lang="fa-IR" sz="1600" b="1" dirty="0"/>
              <a:t> (</a:t>
            </a:r>
            <a:r>
              <a:rPr lang="en-US" sz="1600" b="1" dirty="0"/>
              <a:t>spreadsheets)</a:t>
            </a:r>
            <a:r>
              <a:rPr lang="en-US" sz="1600" dirty="0"/>
              <a:t> </a:t>
            </a:r>
            <a:r>
              <a:rPr lang="fa-IR" sz="1600" dirty="0"/>
              <a:t>و ابزارهای </a:t>
            </a:r>
            <a:r>
              <a:rPr lang="fa-IR" sz="1600" b="1" dirty="0"/>
              <a:t>تحلیل داده</a:t>
            </a:r>
            <a:r>
              <a:rPr lang="fa-IR" sz="1600" dirty="0"/>
              <a:t> استفاده </a:t>
            </a:r>
            <a:r>
              <a:rPr lang="fa-IR" sz="1600" dirty="0" err="1"/>
              <a:t>می‌شود</a:t>
            </a:r>
            <a:r>
              <a:rPr lang="fa-IR" sz="1600" dirty="0"/>
              <a:t>،</a:t>
            </a:r>
            <a:br>
              <a:rPr lang="fa-IR" sz="1600" dirty="0"/>
            </a:br>
            <a:r>
              <a:rPr lang="fa-IR" sz="1600" dirty="0"/>
              <a:t>اما در طراحی پایگاه داده </a:t>
            </a:r>
            <a:r>
              <a:rPr lang="fa-IR" sz="1600" dirty="0" err="1"/>
              <a:t>رابطه‌ای</a:t>
            </a:r>
            <a:r>
              <a:rPr lang="fa-IR" sz="1600" dirty="0"/>
              <a:t> </a:t>
            </a:r>
            <a:r>
              <a:rPr lang="fa-IR" sz="1600" i="1" dirty="0"/>
              <a:t>انتخاب مناسبی نیست.</a:t>
            </a:r>
            <a:endParaRPr lang="fa-IR" sz="1600" dirty="0"/>
          </a:p>
          <a:p>
            <a:pPr algn="r" rtl="1"/>
            <a:endParaRPr lang="en-US" altLang="en-US" sz="1600"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97698" name="Rectangle 2"/>
          <p:cNvSpPr>
            <a:spLocks noGrp="1" noChangeArrowheads="1"/>
          </p:cNvSpPr>
          <p:nvPr>
            <p:ph type="title"/>
          </p:nvPr>
        </p:nvSpPr>
        <p:spPr/>
        <p:txBody>
          <a:bodyPr/>
          <a:lstStyle/>
          <a:p>
            <a:pPr>
              <a:defRPr/>
            </a:pPr>
            <a:r>
              <a:rPr lang="en-US" altLang="en-US">
                <a:effectLst>
                  <a:outerShdw blurRad="38100" dist="38100" dir="2700000" algn="tl">
                    <a:srgbClr val="C0C0C0"/>
                  </a:outerShdw>
                </a:effectLst>
                <a:ea typeface="ＭＳ Ｐゴシック" pitchFamily="34" charset="-128"/>
              </a:rPr>
              <a:t>Modeling Temporal Data</a:t>
            </a:r>
          </a:p>
        </p:txBody>
      </p:sp>
      <p:sp>
        <p:nvSpPr>
          <p:cNvPr id="98307" name="Rectangle 3"/>
          <p:cNvSpPr>
            <a:spLocks noGrp="1" noChangeArrowheads="1"/>
          </p:cNvSpPr>
          <p:nvPr>
            <p:ph idx="1"/>
          </p:nvPr>
        </p:nvSpPr>
        <p:spPr>
          <a:xfrm>
            <a:off x="368969" y="838200"/>
            <a:ext cx="8077200" cy="4900863"/>
          </a:xfrm>
        </p:spPr>
        <p:txBody>
          <a:bodyPr/>
          <a:lstStyle/>
          <a:p>
            <a:pPr algn="r" rtl="1"/>
            <a:r>
              <a:rPr lang="fa-IR" dirty="0" err="1"/>
              <a:t>داده‌های</a:t>
            </a:r>
            <a:r>
              <a:rPr lang="fa-IR" dirty="0"/>
              <a:t> زمانی (</a:t>
            </a:r>
            <a:r>
              <a:rPr lang="en-US" dirty="0"/>
              <a:t>Temporal Data) </a:t>
            </a:r>
            <a:r>
              <a:rPr lang="fa-IR" dirty="0"/>
              <a:t>دارای یک </a:t>
            </a:r>
            <a:r>
              <a:rPr lang="fa-IR" b="1" dirty="0"/>
              <a:t>بازه زمانی معتبر</a:t>
            </a:r>
            <a:r>
              <a:rPr lang="fa-IR" dirty="0"/>
              <a:t> هستند؛ یعنی </a:t>
            </a:r>
            <a:r>
              <a:rPr lang="fa-IR" dirty="0" err="1"/>
              <a:t>دوره‌ای</a:t>
            </a:r>
            <a:r>
              <a:rPr lang="fa-IR" dirty="0"/>
              <a:t> که </a:t>
            </a:r>
            <a:r>
              <a:rPr lang="fa-IR" dirty="0" err="1"/>
              <a:t>داده‌ها</a:t>
            </a:r>
            <a:r>
              <a:rPr lang="fa-IR" dirty="0"/>
              <a:t> در آن دوره صحیح و معتبر به شمار </a:t>
            </a:r>
            <a:r>
              <a:rPr lang="fa-IR" dirty="0" err="1"/>
              <a:t>می‌آیند</a:t>
            </a:r>
            <a:r>
              <a:rPr lang="fa-IR" dirty="0"/>
              <a:t>.</a:t>
            </a:r>
          </a:p>
          <a:p>
            <a:pPr algn="r" rtl="1"/>
            <a:r>
              <a:rPr lang="fa-IR" dirty="0"/>
              <a:t>یک </a:t>
            </a:r>
            <a:r>
              <a:rPr lang="en-US" b="1" dirty="0"/>
              <a:t>snapshot</a:t>
            </a:r>
            <a:r>
              <a:rPr lang="en-US" dirty="0"/>
              <a:t>، </a:t>
            </a:r>
            <a:r>
              <a:rPr lang="fa-IR" dirty="0"/>
              <a:t>مقدار </a:t>
            </a:r>
            <a:r>
              <a:rPr lang="fa-IR" dirty="0" err="1"/>
              <a:t>داده‌ها</a:t>
            </a:r>
            <a:r>
              <a:rPr lang="fa-IR" dirty="0"/>
              <a:t> در یک </a:t>
            </a:r>
            <a:r>
              <a:rPr lang="fa-IR" b="1" dirty="0"/>
              <a:t>لحظه خاص از زمان</a:t>
            </a:r>
            <a:r>
              <a:rPr lang="fa-IR" dirty="0"/>
              <a:t> است.</a:t>
            </a:r>
          </a:p>
          <a:p>
            <a:pPr algn="r" rtl="1"/>
            <a:r>
              <a:rPr lang="fa-IR" dirty="0"/>
              <a:t>پیشنهادهای متعددی برای گسترش مدل </a:t>
            </a:r>
            <a:r>
              <a:rPr lang="en-US" dirty="0"/>
              <a:t>ER </a:t>
            </a:r>
            <a:r>
              <a:rPr lang="fa-IR" dirty="0"/>
              <a:t>با افزودن زمان اعتبار (</a:t>
            </a:r>
            <a:r>
              <a:rPr lang="en-US" dirty="0"/>
              <a:t>valid time) </a:t>
            </a:r>
            <a:r>
              <a:rPr lang="fa-IR" dirty="0"/>
              <a:t>مطرح </a:t>
            </a:r>
            <a:r>
              <a:rPr lang="fa-IR" dirty="0" err="1"/>
              <a:t>شده‌اند</a:t>
            </a:r>
            <a:r>
              <a:rPr lang="fa-IR" dirty="0"/>
              <a:t>؛ مانند افزودن زمان به:</a:t>
            </a:r>
          </a:p>
          <a:p>
            <a:pPr algn="r" rtl="1"/>
            <a:r>
              <a:rPr lang="fa-IR" b="1" dirty="0"/>
              <a:t>صفات (</a:t>
            </a:r>
            <a:r>
              <a:rPr lang="en-US" b="1" dirty="0"/>
              <a:t>attributes)</a:t>
            </a:r>
            <a:br>
              <a:rPr lang="en-US" dirty="0"/>
            </a:br>
            <a:r>
              <a:rPr lang="fa-IR" dirty="0"/>
              <a:t>مانند: آدرس یک استاد در </a:t>
            </a:r>
            <a:r>
              <a:rPr lang="fa-IR" dirty="0" err="1"/>
              <a:t>زمان‌های</a:t>
            </a:r>
            <a:r>
              <a:rPr lang="fa-IR" dirty="0"/>
              <a:t> مختلف</a:t>
            </a:r>
          </a:p>
          <a:p>
            <a:pPr algn="r" rtl="1"/>
            <a:r>
              <a:rPr lang="fa-IR" b="1" dirty="0" err="1"/>
              <a:t>موجودیت‌ها</a:t>
            </a:r>
            <a:r>
              <a:rPr lang="fa-IR" b="1" dirty="0"/>
              <a:t> (</a:t>
            </a:r>
            <a:r>
              <a:rPr lang="en-US" b="1" dirty="0"/>
              <a:t>entities)</a:t>
            </a:r>
            <a:br>
              <a:rPr lang="en-US" dirty="0"/>
            </a:br>
            <a:r>
              <a:rPr lang="fa-IR" dirty="0"/>
              <a:t>مانند: دوره زمانی که یک دانشجو </a:t>
            </a:r>
            <a:r>
              <a:rPr lang="fa-IR" dirty="0" err="1"/>
              <a:t>به‌عنوان</a:t>
            </a:r>
            <a:r>
              <a:rPr lang="fa-IR" dirty="0"/>
              <a:t> یک موجودیت وجود دارد</a:t>
            </a:r>
          </a:p>
          <a:p>
            <a:pPr algn="r" rtl="1"/>
            <a:r>
              <a:rPr lang="fa-IR" b="1" dirty="0"/>
              <a:t>روابط (</a:t>
            </a:r>
            <a:r>
              <a:rPr lang="en-US" b="1" dirty="0"/>
              <a:t>relationships)</a:t>
            </a:r>
            <a:br>
              <a:rPr lang="en-US" dirty="0"/>
            </a:br>
            <a:r>
              <a:rPr lang="fa-IR" dirty="0"/>
              <a:t>مانند: بازه زمانی که یک استاد، مشاور یک دانشجو بوده است</a:t>
            </a:r>
          </a:p>
          <a:p>
            <a:pPr algn="r" rtl="1"/>
            <a:r>
              <a:rPr lang="fa-IR" dirty="0"/>
              <a:t>اما </a:t>
            </a:r>
            <a:r>
              <a:rPr lang="fa-IR" b="1" dirty="0"/>
              <a:t>هیچ استاندارد </a:t>
            </a:r>
            <a:r>
              <a:rPr lang="fa-IR" b="1" dirty="0" err="1"/>
              <a:t>پذیرفته‌شده‌ای</a:t>
            </a:r>
            <a:r>
              <a:rPr lang="fa-IR" dirty="0"/>
              <a:t> برای این گسترش وجود ندارد.</a:t>
            </a:r>
          </a:p>
          <a:p>
            <a:pPr algn="r" rtl="1">
              <a:lnSpc>
                <a:spcPct val="90000"/>
              </a:lnSpc>
            </a:pPr>
            <a:endParaRPr lang="en-US" alt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99746" name="Rectangle 2"/>
          <p:cNvSpPr>
            <a:spLocks noGrp="1" noChangeArrowheads="1"/>
          </p:cNvSpPr>
          <p:nvPr>
            <p:ph type="title"/>
          </p:nvPr>
        </p:nvSpPr>
        <p:spPr/>
        <p:txBody>
          <a:bodyPr/>
          <a:lstStyle/>
          <a:p>
            <a:pPr>
              <a:defRPr/>
            </a:pPr>
            <a:r>
              <a:rPr lang="en-US" altLang="en-US">
                <a:effectLst>
                  <a:outerShdw blurRad="38100" dist="38100" dir="2700000" algn="tl">
                    <a:srgbClr val="C0C0C0"/>
                  </a:outerShdw>
                </a:effectLst>
                <a:ea typeface="ＭＳ Ｐゴシック" pitchFamily="34" charset="-128"/>
              </a:rPr>
              <a:t>Modeling Temporal Data (Cont.)</a:t>
            </a:r>
          </a:p>
        </p:txBody>
      </p:sp>
      <p:sp>
        <p:nvSpPr>
          <p:cNvPr id="99331" name="Rectangle 3"/>
          <p:cNvSpPr>
            <a:spLocks noGrp="1" noChangeArrowheads="1"/>
          </p:cNvSpPr>
          <p:nvPr>
            <p:ph idx="1"/>
          </p:nvPr>
        </p:nvSpPr>
        <p:spPr>
          <a:xfrm>
            <a:off x="768350" y="1093789"/>
            <a:ext cx="8250390" cy="4267351"/>
          </a:xfrm>
        </p:spPr>
        <p:txBody>
          <a:bodyPr/>
          <a:lstStyle/>
          <a:p>
            <a:pPr lvl="1" algn="r" rtl="1">
              <a:buFont typeface="Monotype Sorts" pitchFamily="-84" charset="2"/>
              <a:buNone/>
            </a:pPr>
            <a:r>
              <a:rPr lang="fa-IR" sz="2400" dirty="0"/>
              <a:t>۱) در عمل، طراحان پایگاه داده معمولاً </a:t>
            </a:r>
            <a:r>
              <a:rPr lang="fa-IR" sz="2400" dirty="0" err="1"/>
              <a:t>ویژگی‌های</a:t>
            </a:r>
            <a:r>
              <a:rPr lang="fa-IR" sz="2400" dirty="0"/>
              <a:t> زمان شروع و پایان را به روابط اضافه </a:t>
            </a:r>
            <a:r>
              <a:rPr lang="fa-IR" sz="2400" dirty="0" err="1"/>
              <a:t>می‌کنند</a:t>
            </a:r>
            <a:r>
              <a:rPr lang="fa-IR" sz="2400" dirty="0"/>
              <a:t>.</a:t>
            </a:r>
            <a:br>
              <a:rPr lang="fa-IR" sz="2400" dirty="0"/>
            </a:br>
            <a:r>
              <a:rPr lang="fa-IR" sz="2400" dirty="0"/>
              <a:t>۲) برای مثال، </a:t>
            </a:r>
            <a:r>
              <a:rPr lang="fa-IR" sz="2400" dirty="0" err="1"/>
              <a:t>رابطه‌ی</a:t>
            </a:r>
            <a:r>
              <a:rPr lang="fa-IR" sz="2400" dirty="0"/>
              <a:t> </a:t>
            </a:r>
            <a:r>
              <a:rPr lang="en-US" sz="2400" dirty="0"/>
              <a:t>course(</a:t>
            </a:r>
            <a:r>
              <a:rPr lang="en-US" sz="2400" dirty="0" err="1"/>
              <a:t>course_id</a:t>
            </a:r>
            <a:r>
              <a:rPr lang="en-US" sz="2400" dirty="0"/>
              <a:t>, </a:t>
            </a:r>
            <a:r>
              <a:rPr lang="en-US" sz="2400" dirty="0" err="1"/>
              <a:t>course_title</a:t>
            </a:r>
            <a:r>
              <a:rPr lang="en-US" sz="2400" dirty="0"/>
              <a:t>) </a:t>
            </a:r>
            <a:r>
              <a:rPr lang="fa-IR" sz="2400" dirty="0"/>
              <a:t>به شکل</a:t>
            </a:r>
            <a:br>
              <a:rPr lang="fa-IR" sz="2400" dirty="0"/>
            </a:br>
            <a:r>
              <a:rPr lang="fa-IR" sz="2400" dirty="0"/>
              <a:t>  </a:t>
            </a:r>
            <a:r>
              <a:rPr lang="en-US" sz="2400" dirty="0"/>
              <a:t>course(</a:t>
            </a:r>
            <a:r>
              <a:rPr lang="en-US" sz="2400" dirty="0" err="1"/>
              <a:t>course_id</a:t>
            </a:r>
            <a:r>
              <a:rPr lang="en-US" sz="2400" dirty="0"/>
              <a:t>, </a:t>
            </a:r>
            <a:r>
              <a:rPr lang="en-US" sz="2400" dirty="0" err="1"/>
              <a:t>course_title</a:t>
            </a:r>
            <a:r>
              <a:rPr lang="en-US" sz="2400" dirty="0"/>
              <a:t>, start, end) </a:t>
            </a:r>
            <a:r>
              <a:rPr lang="fa-IR" sz="2400" dirty="0"/>
              <a:t>جایگزین </a:t>
            </a:r>
            <a:r>
              <a:rPr lang="fa-IR" sz="2400" dirty="0" err="1"/>
              <a:t>می‌شود</a:t>
            </a:r>
            <a:r>
              <a:rPr lang="fa-IR" sz="2400" dirty="0"/>
              <a:t>.</a:t>
            </a:r>
            <a:br>
              <a:rPr lang="fa-IR" sz="2400" dirty="0"/>
            </a:br>
            <a:r>
              <a:rPr lang="fa-IR" sz="2400" dirty="0"/>
              <a:t>۳) محدودیت: هیچ دو </a:t>
            </a:r>
            <a:r>
              <a:rPr lang="fa-IR" sz="2400" dirty="0" err="1"/>
              <a:t>تاپل</a:t>
            </a:r>
            <a:r>
              <a:rPr lang="fa-IR" sz="2400" dirty="0"/>
              <a:t> نباید </a:t>
            </a:r>
            <a:r>
              <a:rPr lang="fa-IR" sz="2400" dirty="0" err="1"/>
              <a:t>بازه‌های</a:t>
            </a:r>
            <a:r>
              <a:rPr lang="fa-IR" sz="2400" dirty="0"/>
              <a:t> زمانی </a:t>
            </a:r>
            <a:r>
              <a:rPr lang="fa-IR" sz="2400" dirty="0" err="1"/>
              <a:t>معتبرِ</a:t>
            </a:r>
            <a:r>
              <a:rPr lang="fa-IR" sz="2400" dirty="0"/>
              <a:t> </a:t>
            </a:r>
            <a:r>
              <a:rPr lang="fa-IR" sz="2400" dirty="0" err="1"/>
              <a:t>هم‌پوشان</a:t>
            </a:r>
            <a:r>
              <a:rPr lang="fa-IR" sz="2400" dirty="0"/>
              <a:t> داشته باشند.</a:t>
            </a:r>
            <a:br>
              <a:rPr lang="fa-IR" sz="2400" dirty="0"/>
            </a:br>
            <a:r>
              <a:rPr lang="fa-IR" sz="2400" dirty="0"/>
              <a:t>۴) اجرای کارآمد این محدودیت دشوار است.</a:t>
            </a:r>
            <a:br>
              <a:rPr lang="fa-IR" sz="2400" dirty="0"/>
            </a:br>
            <a:r>
              <a:rPr lang="fa-IR" sz="2400" dirty="0"/>
              <a:t>۵) ارجاع کلید خارجی ممکن است به نسخه فعلی داده باشد، یا به داده در یک نقطه خاص زمانی.</a:t>
            </a:r>
            <a:br>
              <a:rPr lang="fa-IR" sz="2400" dirty="0"/>
            </a:br>
            <a:r>
              <a:rPr lang="fa-IR" sz="2400" dirty="0"/>
              <a:t>۶) برای نمونه، </a:t>
            </a:r>
            <a:r>
              <a:rPr lang="fa-IR" sz="2400" dirty="0" err="1"/>
              <a:t>ریزنمرات</a:t>
            </a:r>
            <a:r>
              <a:rPr lang="fa-IR" sz="2400" dirty="0"/>
              <a:t> دانشجو باید به اطلاعات درس در زمانی که درس گذرانده شده است ارجاع دهد.</a:t>
            </a:r>
            <a:endParaRPr lang="en-US" altLang="en-US" sz="2400"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01794" name="Rectangle 2"/>
          <p:cNvSpPr>
            <a:spLocks noGrp="1" noChangeArrowheads="1"/>
          </p:cNvSpPr>
          <p:nvPr>
            <p:ph type="ctrTitle"/>
          </p:nvPr>
        </p:nvSpPr>
        <p:spPr>
          <a:extLst>
            <a:ext uri="{909E8E84-426E-40dd-AFC4-6F175D3DCCD1}"/>
            <a:ext uri="{91240B29-F687-4f45-9708-019B960494DF}"/>
            <a:ext uri="{FAA26D3D-D897-4be2-8F04-BA451C77F1D7}"/>
          </a:extLst>
        </p:spPr>
        <p:txBody>
          <a:bodyPr/>
          <a:lstStyle/>
          <a:p>
            <a:pPr>
              <a:defRPr/>
            </a:pPr>
            <a:r>
              <a:rPr lang="fa-IR" dirty="0"/>
              <a:t>پایان فصل ۷</a:t>
            </a:r>
            <a:endParaRPr lang="en-US" altLang="en-US" dirty="0">
              <a:effectLst>
                <a:outerShdw blurRad="38100" dist="38100" dir="2700000" algn="tl">
                  <a:srgbClr val="C0C0C0"/>
                </a:outerShdw>
              </a:effectLst>
              <a:ea typeface="ＭＳ Ｐゴシック" pitchFamily="34" charset="-128"/>
            </a:endParaRPr>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8195" name="Rectangle 3"/>
          <p:cNvSpPr>
            <a:spLocks noGrp="1" noChangeArrowheads="1"/>
          </p:cNvSpPr>
          <p:nvPr>
            <p:ph idx="1"/>
          </p:nvPr>
        </p:nvSpPr>
        <p:spPr>
          <a:xfrm>
            <a:off x="2015231" y="2400300"/>
            <a:ext cx="6112769" cy="1257300"/>
          </a:xfrm>
        </p:spPr>
        <p:txBody>
          <a:bodyPr/>
          <a:lstStyle/>
          <a:p>
            <a:pPr algn="r" rtl="1">
              <a:buFont typeface="Monotype Sorts" charset="2"/>
              <a:buNone/>
              <a:defRPr/>
            </a:pPr>
            <a:r>
              <a:rPr lang="en-US" sz="3200" dirty="0"/>
              <a:t>»</a:t>
            </a:r>
            <a:r>
              <a:rPr lang="fa-IR" sz="3200" dirty="0" err="1"/>
              <a:t>اثباتِ</a:t>
            </a:r>
            <a:r>
              <a:rPr lang="fa-IR" sz="3200" dirty="0"/>
              <a:t> </a:t>
            </a:r>
            <a:r>
              <a:rPr lang="fa-IR" sz="3200" dirty="0" err="1"/>
              <a:t>درستیِ</a:t>
            </a:r>
            <a:r>
              <a:rPr lang="fa-IR" sz="3200" dirty="0"/>
              <a:t> </a:t>
            </a:r>
            <a:r>
              <a:rPr lang="fa-IR" sz="3200" dirty="0" err="1"/>
              <a:t>الگوریتمِ</a:t>
            </a:r>
            <a:r>
              <a:rPr lang="fa-IR" sz="3200" dirty="0"/>
              <a:t> تجزیه به 3</a:t>
            </a:r>
            <a:r>
              <a:rPr lang="en-US" sz="3200" dirty="0"/>
              <a:t>«NF</a:t>
            </a:r>
            <a:endParaRPr lang="en-US" altLang="en-US" sz="3200" b="1" dirty="0">
              <a:solidFill>
                <a:srgbClr val="002060"/>
              </a:solidFill>
              <a:effectLst>
                <a:outerShdw blurRad="38100" dist="38100" dir="2700000" algn="tl">
                  <a:srgbClr val="C0C0C0"/>
                </a:outerShdw>
              </a:effectLst>
              <a:latin typeface="+mj-lt"/>
              <a:ea typeface="ＭＳ Ｐゴシック" pitchFamily="34" charset="-128"/>
              <a:cs typeface="+mj-cs"/>
            </a:endParaRPr>
          </a:p>
        </p:txBody>
      </p:sp>
    </p:spTree>
  </p:cSld>
  <p:clrMapOvr>
    <a:masterClrMapping/>
  </p:clrMapOvr>
  <p:transition spd="slow"/>
</p:sld>
</file>

<file path=ppt/slides/slide1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05890" name="Rectangle 2"/>
          <p:cNvSpPr>
            <a:spLocks noGrp="1" noChangeArrowheads="1"/>
          </p:cNvSpPr>
          <p:nvPr>
            <p:ph type="title"/>
          </p:nvPr>
        </p:nvSpPr>
        <p:spPr>
          <a:xfrm>
            <a:off x="682625" y="60325"/>
            <a:ext cx="8461375" cy="644525"/>
          </a:xfrm>
        </p:spPr>
        <p:txBody>
          <a:bodyPr/>
          <a:lstStyle/>
          <a:p>
            <a:pPr>
              <a:defRPr/>
            </a:pPr>
            <a:r>
              <a:rPr lang="en-US" altLang="en-US" sz="2800" dirty="0">
                <a:effectLst>
                  <a:outerShdw blurRad="38100" dist="38100" dir="2700000" algn="tl">
                    <a:srgbClr val="C0C0C0"/>
                  </a:outerShdw>
                </a:effectLst>
                <a:ea typeface="ＭＳ Ｐゴシック" pitchFamily="34" charset="-128"/>
              </a:rPr>
              <a:t>Correctness of 3NF Decomposition Algorithm</a:t>
            </a:r>
          </a:p>
        </p:txBody>
      </p:sp>
      <p:sp>
        <p:nvSpPr>
          <p:cNvPr id="102403" name="Rectangle 3"/>
          <p:cNvSpPr>
            <a:spLocks noGrp="1" noChangeArrowheads="1"/>
          </p:cNvSpPr>
          <p:nvPr>
            <p:ph idx="1"/>
          </p:nvPr>
        </p:nvSpPr>
        <p:spPr>
          <a:xfrm>
            <a:off x="304800" y="1244601"/>
            <a:ext cx="7986943" cy="2918326"/>
          </a:xfrm>
        </p:spPr>
        <p:txBody>
          <a:bodyPr/>
          <a:lstStyle/>
          <a:p>
            <a:pPr algn="r" rtl="1"/>
            <a:r>
              <a:rPr lang="fa-IR" sz="2800" dirty="0" err="1"/>
              <a:t>الگوریتمِ</a:t>
            </a:r>
            <a:r>
              <a:rPr lang="fa-IR" sz="2800" dirty="0"/>
              <a:t> تجزیه به 3</a:t>
            </a:r>
            <a:r>
              <a:rPr lang="en-US" sz="2800" dirty="0"/>
              <a:t>NF </a:t>
            </a:r>
            <a:r>
              <a:rPr lang="fa-IR" sz="2800" dirty="0" err="1"/>
              <a:t>ویژگیِ</a:t>
            </a:r>
            <a:r>
              <a:rPr lang="fa-IR" sz="2800" dirty="0"/>
              <a:t> </a:t>
            </a:r>
            <a:r>
              <a:rPr lang="fa-IR" sz="2800" dirty="0" err="1"/>
              <a:t>حفظِ</a:t>
            </a:r>
            <a:r>
              <a:rPr lang="fa-IR" sz="2800" dirty="0"/>
              <a:t> </a:t>
            </a:r>
            <a:r>
              <a:rPr lang="fa-IR" sz="2800" dirty="0" err="1"/>
              <a:t>وابستگی‌ها</a:t>
            </a:r>
            <a:r>
              <a:rPr lang="fa-IR" sz="2800" dirty="0"/>
              <a:t> را دارد،</a:t>
            </a:r>
            <a:br>
              <a:rPr lang="fa-IR" sz="2800" dirty="0"/>
            </a:br>
            <a:r>
              <a:rPr lang="fa-IR" sz="2800" dirty="0"/>
              <a:t>زیرا برای هر </a:t>
            </a:r>
            <a:r>
              <a:rPr lang="fa-IR" sz="2800" dirty="0" err="1"/>
              <a:t>وابستگیِ</a:t>
            </a:r>
            <a:r>
              <a:rPr lang="fa-IR" sz="2800" dirty="0"/>
              <a:t> </a:t>
            </a:r>
            <a:r>
              <a:rPr lang="fa-IR" sz="2800" dirty="0" err="1"/>
              <a:t>تابعی</a:t>
            </a:r>
            <a:r>
              <a:rPr lang="fa-IR" sz="2800" dirty="0"/>
              <a:t> در </a:t>
            </a:r>
            <a:r>
              <a:rPr lang="en-US" sz="2800" dirty="0"/>
              <a:t>Fc </a:t>
            </a:r>
            <a:r>
              <a:rPr lang="fa-IR" sz="2800" dirty="0"/>
              <a:t>یک رابطه ساخته </a:t>
            </a:r>
            <a:r>
              <a:rPr lang="fa-IR" sz="2800" dirty="0" err="1"/>
              <a:t>می‌شود</a:t>
            </a:r>
            <a:r>
              <a:rPr lang="fa-IR" sz="2800" dirty="0"/>
              <a:t>.</a:t>
            </a:r>
          </a:p>
          <a:p>
            <a:pPr algn="r" rtl="1"/>
            <a:r>
              <a:rPr lang="fa-IR" sz="2800" dirty="0"/>
              <a:t>این تجزیه </a:t>
            </a:r>
            <a:r>
              <a:rPr lang="fa-IR" sz="2800" dirty="0" err="1"/>
              <a:t>بدونِ</a:t>
            </a:r>
            <a:r>
              <a:rPr lang="fa-IR" sz="2800" dirty="0"/>
              <a:t> اتلاف است.</a:t>
            </a:r>
          </a:p>
          <a:p>
            <a:pPr algn="r" rtl="1"/>
            <a:r>
              <a:rPr lang="fa-IR" sz="2800" dirty="0"/>
              <a:t>یک </a:t>
            </a:r>
            <a:r>
              <a:rPr lang="fa-IR" sz="2800" dirty="0" err="1"/>
              <a:t>کلیدِ</a:t>
            </a:r>
            <a:r>
              <a:rPr lang="fa-IR" sz="2800" dirty="0"/>
              <a:t> نامزد (</a:t>
            </a:r>
            <a:r>
              <a:rPr lang="en-US" sz="2800" dirty="0"/>
              <a:t>C) </a:t>
            </a:r>
            <a:r>
              <a:rPr lang="fa-IR" sz="2800" dirty="0"/>
              <a:t>در یکی از </a:t>
            </a:r>
            <a:r>
              <a:rPr lang="fa-IR" sz="2800" dirty="0" err="1"/>
              <a:t>رابطه‌های</a:t>
            </a:r>
            <a:r>
              <a:rPr lang="fa-IR" sz="2800" dirty="0"/>
              <a:t> </a:t>
            </a:r>
            <a:r>
              <a:rPr lang="en-US" sz="2800" dirty="0"/>
              <a:t>Ri </a:t>
            </a:r>
            <a:r>
              <a:rPr lang="fa-IR" sz="2800" dirty="0"/>
              <a:t>حاصل از تجزیه قرار </a:t>
            </a:r>
            <a:r>
              <a:rPr lang="fa-IR" sz="2800" dirty="0" err="1"/>
              <a:t>می‌گیرد</a:t>
            </a:r>
            <a:r>
              <a:rPr lang="fa-IR" sz="2800" dirty="0"/>
              <a:t>.</a:t>
            </a:r>
          </a:p>
          <a:p>
            <a:pPr algn="r" rtl="1"/>
            <a:r>
              <a:rPr lang="fa-IR" sz="2800" dirty="0" err="1"/>
              <a:t>بستارِ</a:t>
            </a:r>
            <a:r>
              <a:rPr lang="fa-IR" sz="2800" dirty="0"/>
              <a:t> این </a:t>
            </a:r>
            <a:r>
              <a:rPr lang="fa-IR" sz="2800" dirty="0" err="1"/>
              <a:t>کلیدِ</a:t>
            </a:r>
            <a:r>
              <a:rPr lang="fa-IR" sz="2800" dirty="0"/>
              <a:t> نامزد </a:t>
            </a:r>
            <a:r>
              <a:rPr lang="fa-IR" sz="2800" dirty="0" err="1"/>
              <a:t>تحتِ</a:t>
            </a:r>
            <a:r>
              <a:rPr lang="fa-IR" sz="2800" dirty="0"/>
              <a:t> </a:t>
            </a:r>
            <a:r>
              <a:rPr lang="en-US" sz="2800" dirty="0"/>
              <a:t>Fc </a:t>
            </a:r>
            <a:r>
              <a:rPr lang="fa-IR" sz="2800" dirty="0"/>
              <a:t>باید </a:t>
            </a:r>
            <a:r>
              <a:rPr lang="fa-IR" sz="2800" dirty="0" err="1"/>
              <a:t>شاملِ</a:t>
            </a:r>
            <a:r>
              <a:rPr lang="fa-IR" sz="2800" dirty="0"/>
              <a:t> </a:t>
            </a:r>
            <a:r>
              <a:rPr lang="fa-IR" sz="2800" dirty="0" err="1"/>
              <a:t>تمامِ</a:t>
            </a:r>
            <a:r>
              <a:rPr lang="fa-IR" sz="2800" dirty="0"/>
              <a:t> </a:t>
            </a:r>
            <a:r>
              <a:rPr lang="fa-IR" sz="2800" dirty="0" err="1"/>
              <a:t>ویژگی‌های</a:t>
            </a:r>
            <a:r>
              <a:rPr lang="fa-IR" sz="2800" dirty="0"/>
              <a:t> موجود در </a:t>
            </a:r>
            <a:r>
              <a:rPr lang="en-US" sz="2800" dirty="0"/>
              <a:t>R </a:t>
            </a:r>
            <a:r>
              <a:rPr lang="fa-IR" sz="2800" dirty="0"/>
              <a:t>باشد.</a:t>
            </a:r>
          </a:p>
          <a:p>
            <a:pPr algn="r" rtl="1"/>
            <a:r>
              <a:rPr lang="fa-IR" sz="2800" dirty="0"/>
              <a:t>با دنبال کردن مراحل </a:t>
            </a:r>
            <a:r>
              <a:rPr lang="fa-IR" sz="2800" dirty="0" err="1"/>
              <a:t>الگوریتمِ</a:t>
            </a:r>
            <a:r>
              <a:rPr lang="fa-IR" sz="2800" dirty="0"/>
              <a:t> </a:t>
            </a:r>
            <a:r>
              <a:rPr lang="fa-IR" sz="2800" dirty="0" err="1"/>
              <a:t>بستارِ</a:t>
            </a:r>
            <a:r>
              <a:rPr lang="fa-IR" sz="2800" dirty="0"/>
              <a:t> ویژگی </a:t>
            </a:r>
            <a:r>
              <a:rPr lang="fa-IR" sz="2800" dirty="0" err="1"/>
              <a:t>می‌توان</a:t>
            </a:r>
            <a:r>
              <a:rPr lang="fa-IR" sz="2800" dirty="0"/>
              <a:t> نشان داد که برای هر </a:t>
            </a:r>
            <a:r>
              <a:rPr lang="fa-IR" sz="2800" dirty="0" err="1"/>
              <a:t>تاپل</a:t>
            </a:r>
            <a:r>
              <a:rPr lang="fa-IR" sz="2800" dirty="0"/>
              <a:t> در </a:t>
            </a:r>
            <a:r>
              <a:rPr lang="en-US" sz="2800" dirty="0"/>
              <a:t>Ri،</a:t>
            </a:r>
            <a:br>
              <a:rPr lang="en-US" sz="2800" dirty="0"/>
            </a:br>
            <a:r>
              <a:rPr lang="fa-IR" sz="2800" dirty="0"/>
              <a:t>در نتیجه </a:t>
            </a:r>
            <a:r>
              <a:rPr lang="en-US" sz="2800" dirty="0"/>
              <a:t>join </a:t>
            </a:r>
            <a:r>
              <a:rPr lang="fa-IR" sz="2800" dirty="0"/>
              <a:t>فقط یک </a:t>
            </a:r>
            <a:r>
              <a:rPr lang="fa-IR" sz="2800" dirty="0" err="1"/>
              <a:t>تاپل</a:t>
            </a:r>
            <a:r>
              <a:rPr lang="fa-IR" sz="2800" dirty="0"/>
              <a:t> </a:t>
            </a:r>
            <a:r>
              <a:rPr lang="fa-IR" sz="2800" dirty="0" err="1"/>
              <a:t>متناظر</a:t>
            </a:r>
            <a:r>
              <a:rPr lang="fa-IR" sz="2800" dirty="0"/>
              <a:t> وجود خواهد داشت.</a:t>
            </a:r>
          </a:p>
          <a:p>
            <a:pPr algn="r" rtl="1"/>
            <a:endParaRPr lang="en-US" altLang="en-US" sz="2800"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05890" name="Rectangle 2"/>
          <p:cNvSpPr>
            <a:spLocks noGrp="1" noChangeArrowheads="1"/>
          </p:cNvSpPr>
          <p:nvPr>
            <p:ph type="title"/>
          </p:nvPr>
        </p:nvSpPr>
        <p:spPr>
          <a:xfrm>
            <a:off x="682625" y="60325"/>
            <a:ext cx="8461375" cy="644525"/>
          </a:xfrm>
        </p:spPr>
        <p:txBody>
          <a:bodyPr/>
          <a:lstStyle/>
          <a:p>
            <a:pPr>
              <a:defRPr/>
            </a:pPr>
            <a:r>
              <a:rPr lang="en-US" altLang="en-US" sz="2400" dirty="0">
                <a:effectLst>
                  <a:outerShdw blurRad="38100" dist="38100" dir="2700000" algn="tl">
                    <a:srgbClr val="C0C0C0"/>
                  </a:outerShdw>
                </a:effectLst>
                <a:ea typeface="ＭＳ Ｐゴシック" pitchFamily="34" charset="-128"/>
              </a:rPr>
              <a:t>Correctness of 3NF Decomposition Algorithm (Cont</a:t>
            </a:r>
            <a:r>
              <a:rPr lang="en-US" altLang="en-US" sz="2400" dirty="0">
                <a:effectLst>
                  <a:outerShdw blurRad="38100" dist="38100" dir="2700000" algn="tl">
                    <a:srgbClr val="C0C0C0"/>
                  </a:outerShdw>
                </a:effectLst>
                <a:latin typeface="Arial" panose="020B0604020202020204" pitchFamily="34" charset="0"/>
                <a:ea typeface="ＭＳ Ｐゴシック" pitchFamily="34" charset="-128"/>
              </a:rPr>
              <a:t>.</a:t>
            </a:r>
            <a:r>
              <a:rPr lang="en-US" altLang="ja-JP" sz="2400" dirty="0">
                <a:effectLst>
                  <a:outerShdw blurRad="38100" dist="38100" dir="2700000" algn="tl">
                    <a:srgbClr val="C0C0C0"/>
                  </a:outerShdw>
                </a:effectLst>
                <a:ea typeface="ＭＳ Ｐゴシック" pitchFamily="34" charset="-128"/>
              </a:rPr>
              <a:t>)</a:t>
            </a:r>
            <a:endParaRPr lang="en-US" altLang="en-US" sz="2400" dirty="0">
              <a:effectLst>
                <a:outerShdw blurRad="38100" dist="38100" dir="2700000" algn="tl">
                  <a:srgbClr val="C0C0C0"/>
                </a:outerShdw>
              </a:effectLst>
              <a:ea typeface="ＭＳ Ｐゴシック" pitchFamily="34" charset="-128"/>
            </a:endParaRPr>
          </a:p>
        </p:txBody>
      </p:sp>
      <p:sp>
        <p:nvSpPr>
          <p:cNvPr id="103427" name="Rectangle 3"/>
          <p:cNvSpPr>
            <a:spLocks noGrp="1" noChangeArrowheads="1"/>
          </p:cNvSpPr>
          <p:nvPr>
            <p:ph idx="1"/>
          </p:nvPr>
        </p:nvSpPr>
        <p:spPr>
          <a:xfrm>
            <a:off x="816745" y="1278385"/>
            <a:ext cx="7207735" cy="3058708"/>
          </a:xfrm>
        </p:spPr>
        <p:txBody>
          <a:bodyPr/>
          <a:lstStyle/>
          <a:p>
            <a:pPr algn="r" rtl="1"/>
            <a:r>
              <a:rPr lang="fa-IR" sz="2400" dirty="0"/>
              <a:t>ادعا: اگر رابطه </a:t>
            </a:r>
            <a:r>
              <a:rPr lang="en-US" sz="2400" dirty="0"/>
              <a:t>Ri </a:t>
            </a:r>
            <a:r>
              <a:rPr lang="fa-IR" sz="2400" dirty="0"/>
              <a:t>در </a:t>
            </a:r>
            <a:r>
              <a:rPr lang="fa-IR" sz="2400" dirty="0" err="1"/>
              <a:t>تجزیه‌ای</a:t>
            </a:r>
            <a:r>
              <a:rPr lang="fa-IR" sz="2400" dirty="0"/>
              <a:t> باشد که توسط </a:t>
            </a:r>
            <a:r>
              <a:rPr lang="fa-IR" sz="2400" dirty="0" err="1"/>
              <a:t>الگوریتمِ</a:t>
            </a:r>
            <a:r>
              <a:rPr lang="fa-IR" sz="2400" dirty="0"/>
              <a:t> بالا ساخته شده است، آنگاه </a:t>
            </a:r>
            <a:r>
              <a:rPr lang="en-US" sz="2400" dirty="0"/>
              <a:t>Ri </a:t>
            </a:r>
            <a:r>
              <a:rPr lang="fa-IR" sz="2400" dirty="0"/>
              <a:t>در 3</a:t>
            </a:r>
            <a:r>
              <a:rPr lang="en-US" sz="2400" dirty="0"/>
              <a:t>NF </a:t>
            </a:r>
            <a:r>
              <a:rPr lang="fa-IR" sz="2400" dirty="0"/>
              <a:t>قرار دارد.</a:t>
            </a:r>
          </a:p>
          <a:p>
            <a:pPr algn="r" rtl="1"/>
            <a:r>
              <a:rPr lang="fa-IR" sz="2400" dirty="0"/>
              <a:t>اثبات:</a:t>
            </a:r>
            <a:br>
              <a:rPr lang="fa-IR" sz="2400" dirty="0"/>
            </a:br>
            <a:r>
              <a:rPr lang="fa-IR" sz="2400" dirty="0"/>
              <a:t>فرض کنید </a:t>
            </a:r>
            <a:r>
              <a:rPr lang="en-US" sz="2400" dirty="0"/>
              <a:t>Ri </a:t>
            </a:r>
            <a:r>
              <a:rPr lang="fa-IR" sz="2400" dirty="0"/>
              <a:t>از </a:t>
            </a:r>
            <a:r>
              <a:rPr lang="fa-IR" sz="2400" dirty="0" err="1"/>
              <a:t>وابستگیِ</a:t>
            </a:r>
            <a:r>
              <a:rPr lang="fa-IR" sz="2400" dirty="0"/>
              <a:t> </a:t>
            </a:r>
            <a:r>
              <a:rPr lang="el-GR" sz="2400" dirty="0"/>
              <a:t>α → β </a:t>
            </a:r>
            <a:r>
              <a:rPr lang="fa-IR" sz="2400" dirty="0"/>
              <a:t>ساخته شده باشد.</a:t>
            </a:r>
            <a:br>
              <a:rPr lang="fa-IR" sz="2400" dirty="0"/>
            </a:br>
            <a:r>
              <a:rPr lang="fa-IR" sz="2400" dirty="0"/>
              <a:t>فرض کنید </a:t>
            </a:r>
            <a:r>
              <a:rPr lang="el-GR" sz="2400" dirty="0"/>
              <a:t>γ → </a:t>
            </a:r>
            <a:r>
              <a:rPr lang="en-US" sz="2400" dirty="0"/>
              <a:t>B </a:t>
            </a:r>
            <a:r>
              <a:rPr lang="fa-IR" sz="2400" dirty="0"/>
              <a:t>یک </a:t>
            </a:r>
            <a:r>
              <a:rPr lang="fa-IR" sz="2400" dirty="0" err="1"/>
              <a:t>وابستگیِ</a:t>
            </a:r>
            <a:r>
              <a:rPr lang="fa-IR" sz="2400" dirty="0"/>
              <a:t> </a:t>
            </a:r>
            <a:r>
              <a:rPr lang="fa-IR" sz="2400" dirty="0" err="1"/>
              <a:t>تابعیِ</a:t>
            </a:r>
            <a:r>
              <a:rPr lang="fa-IR" sz="2400" dirty="0"/>
              <a:t> </a:t>
            </a:r>
            <a:r>
              <a:rPr lang="fa-IR" sz="2400" dirty="0" err="1"/>
              <a:t>غیرِ</a:t>
            </a:r>
            <a:r>
              <a:rPr lang="fa-IR" sz="2400" dirty="0"/>
              <a:t> بدیهی روی </a:t>
            </a:r>
            <a:r>
              <a:rPr lang="en-US" sz="2400" dirty="0"/>
              <a:t>Ri </a:t>
            </a:r>
            <a:r>
              <a:rPr lang="fa-IR" sz="2400" dirty="0"/>
              <a:t>باشد.</a:t>
            </a:r>
            <a:br>
              <a:rPr lang="fa-IR" sz="2400" dirty="0"/>
            </a:br>
            <a:r>
              <a:rPr lang="fa-IR" sz="2400" dirty="0"/>
              <a:t>(فقط لازم است </a:t>
            </a:r>
            <a:r>
              <a:rPr lang="fa-IR" sz="2400" dirty="0" err="1"/>
              <a:t>وابستگی‌هایی</a:t>
            </a:r>
            <a:r>
              <a:rPr lang="fa-IR" sz="2400" dirty="0"/>
              <a:t> را در نظر بگیریم که </a:t>
            </a:r>
            <a:r>
              <a:rPr lang="fa-IR" sz="2400" dirty="0" err="1"/>
              <a:t>سمتِ</a:t>
            </a:r>
            <a:r>
              <a:rPr lang="fa-IR" sz="2400" dirty="0"/>
              <a:t> </a:t>
            </a:r>
            <a:r>
              <a:rPr lang="fa-IR" sz="2400" dirty="0" err="1"/>
              <a:t>راستشان</a:t>
            </a:r>
            <a:r>
              <a:rPr lang="fa-IR" sz="2400" dirty="0"/>
              <a:t> یک </a:t>
            </a:r>
            <a:r>
              <a:rPr lang="fa-IR" sz="2400" dirty="0" err="1"/>
              <a:t>تک‌ویژگی</a:t>
            </a:r>
            <a:r>
              <a:rPr lang="fa-IR" sz="2400" dirty="0"/>
              <a:t> است.)</a:t>
            </a:r>
            <a:br>
              <a:rPr lang="fa-IR" sz="2400" dirty="0"/>
            </a:br>
            <a:r>
              <a:rPr lang="fa-IR" sz="2400" dirty="0"/>
              <a:t>اکنون، </a:t>
            </a:r>
            <a:r>
              <a:rPr lang="en-US" sz="2400" dirty="0"/>
              <a:t>B </a:t>
            </a:r>
            <a:r>
              <a:rPr lang="fa-IR" sz="2400" dirty="0" err="1"/>
              <a:t>می‌تواند</a:t>
            </a:r>
            <a:r>
              <a:rPr lang="fa-IR" sz="2400" dirty="0"/>
              <a:t> در </a:t>
            </a:r>
            <a:r>
              <a:rPr lang="el-GR" sz="2400" dirty="0"/>
              <a:t>β </a:t>
            </a:r>
            <a:r>
              <a:rPr lang="fa-IR" sz="2400" dirty="0"/>
              <a:t>باشد یا در </a:t>
            </a:r>
            <a:r>
              <a:rPr lang="el-GR" sz="2400" dirty="0"/>
              <a:t>α، </a:t>
            </a:r>
            <a:r>
              <a:rPr lang="fa-IR" sz="2400" dirty="0"/>
              <a:t>اما </a:t>
            </a:r>
            <a:r>
              <a:rPr lang="fa-IR" sz="2400" dirty="0" err="1"/>
              <a:t>نمی‌تواند</a:t>
            </a:r>
            <a:r>
              <a:rPr lang="fa-IR" sz="2400" dirty="0"/>
              <a:t> در هر دو قرار گیرد.</a:t>
            </a:r>
            <a:br>
              <a:rPr lang="fa-IR" sz="2400" dirty="0"/>
            </a:br>
            <a:r>
              <a:rPr lang="fa-IR" sz="2400" dirty="0"/>
              <a:t>هر حالت را جداگانه بررسی کنید</a:t>
            </a:r>
          </a:p>
          <a:p>
            <a:pPr algn="r" rtl="1"/>
            <a:endParaRPr lang="en-US" altLang="en-US" sz="2400"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09986" name="Rectangle 2"/>
          <p:cNvSpPr>
            <a:spLocks noGrp="1" noChangeArrowheads="1"/>
          </p:cNvSpPr>
          <p:nvPr>
            <p:ph type="title"/>
          </p:nvPr>
        </p:nvSpPr>
        <p:spPr>
          <a:xfrm>
            <a:off x="890588" y="158750"/>
            <a:ext cx="7915275" cy="569913"/>
          </a:xfrm>
        </p:spPr>
        <p:txBody>
          <a:bodyPr/>
          <a:lstStyle/>
          <a:p>
            <a:pPr>
              <a:defRPr/>
            </a:pPr>
            <a:r>
              <a:rPr lang="en-US" altLang="en-US" sz="2800" dirty="0">
                <a:effectLst>
                  <a:outerShdw blurRad="38100" dist="38100" dir="2700000" algn="tl">
                    <a:srgbClr val="C0C0C0"/>
                  </a:outerShdw>
                </a:effectLst>
                <a:ea typeface="ＭＳ Ｐゴシック" pitchFamily="34" charset="-128"/>
              </a:rPr>
              <a:t>Correctness of 3NF Decomposition (Cont</a:t>
            </a:r>
            <a:r>
              <a:rPr lang="en-US" altLang="ja-JP" sz="2800" dirty="0">
                <a:effectLst>
                  <a:outerShdw blurRad="38100" dist="38100" dir="2700000" algn="tl">
                    <a:srgbClr val="C0C0C0"/>
                  </a:outerShdw>
                </a:effectLst>
                <a:ea typeface="ＭＳ Ｐゴシック" pitchFamily="34" charset="-128"/>
              </a:rPr>
              <a:t>.)</a:t>
            </a:r>
            <a:endParaRPr lang="en-US" altLang="en-US" sz="2800" dirty="0">
              <a:effectLst>
                <a:outerShdw blurRad="38100" dist="38100" dir="2700000" algn="tl">
                  <a:srgbClr val="C0C0C0"/>
                </a:outerShdw>
              </a:effectLst>
              <a:ea typeface="ＭＳ Ｐゴシック" pitchFamily="34" charset="-128"/>
            </a:endParaRPr>
          </a:p>
        </p:txBody>
      </p:sp>
      <p:sp>
        <p:nvSpPr>
          <p:cNvPr id="104451" name="Rectangle 3"/>
          <p:cNvSpPr>
            <a:spLocks noGrp="1" noChangeArrowheads="1"/>
          </p:cNvSpPr>
          <p:nvPr>
            <p:ph idx="1"/>
          </p:nvPr>
        </p:nvSpPr>
        <p:spPr>
          <a:xfrm>
            <a:off x="113192" y="1137574"/>
            <a:ext cx="8802208" cy="5364826"/>
          </a:xfrm>
        </p:spPr>
        <p:txBody>
          <a:bodyPr/>
          <a:lstStyle/>
          <a:p>
            <a:pPr algn="r" rtl="1"/>
            <a:r>
              <a:rPr lang="fa-IR" sz="2400" dirty="0"/>
              <a:t>حالت ۱: اگر </a:t>
            </a:r>
            <a:r>
              <a:rPr lang="en-US" sz="2400" dirty="0"/>
              <a:t>B </a:t>
            </a:r>
            <a:r>
              <a:rPr lang="fa-IR" sz="2400" dirty="0"/>
              <a:t>در </a:t>
            </a:r>
            <a:r>
              <a:rPr lang="el-GR" sz="2400" dirty="0"/>
              <a:t>β </a:t>
            </a:r>
            <a:r>
              <a:rPr lang="fa-IR" sz="2400" dirty="0"/>
              <a:t>باشد:</a:t>
            </a:r>
            <a:br>
              <a:rPr lang="fa-IR" sz="2400" dirty="0"/>
            </a:br>
            <a:r>
              <a:rPr lang="fa-IR" sz="2400" dirty="0"/>
              <a:t>اگر </a:t>
            </a:r>
            <a:r>
              <a:rPr lang="el-GR" sz="2400" dirty="0"/>
              <a:t>γ </a:t>
            </a:r>
            <a:r>
              <a:rPr lang="fa-IR" sz="2400" dirty="0"/>
              <a:t>یک </a:t>
            </a:r>
            <a:r>
              <a:rPr lang="fa-IR" sz="2400" b="1" dirty="0" err="1"/>
              <a:t>سوپرکلید</a:t>
            </a:r>
            <a:r>
              <a:rPr lang="fa-IR" sz="2400" dirty="0"/>
              <a:t> باشد، شرط </a:t>
            </a:r>
            <a:r>
              <a:rPr lang="fa-IR" sz="2400" dirty="0" err="1"/>
              <a:t>دومِ</a:t>
            </a:r>
            <a:r>
              <a:rPr lang="fa-IR" sz="2400" dirty="0"/>
              <a:t> 3</a:t>
            </a:r>
            <a:r>
              <a:rPr lang="en-US" sz="2400" dirty="0"/>
              <a:t>NF </a:t>
            </a:r>
            <a:r>
              <a:rPr lang="fa-IR" sz="2400" dirty="0"/>
              <a:t>برقرار است.</a:t>
            </a:r>
            <a:br>
              <a:rPr lang="fa-IR" sz="2400" dirty="0"/>
            </a:br>
            <a:r>
              <a:rPr lang="fa-IR" sz="2400" dirty="0"/>
              <a:t>در غیر این صورت، </a:t>
            </a:r>
            <a:r>
              <a:rPr lang="el-GR" sz="2400" dirty="0"/>
              <a:t>α </a:t>
            </a:r>
            <a:r>
              <a:rPr lang="fa-IR" sz="2400" dirty="0"/>
              <a:t>باید </a:t>
            </a:r>
            <a:r>
              <a:rPr lang="fa-IR" sz="2400" dirty="0" err="1"/>
              <a:t>دست‌کم</a:t>
            </a:r>
            <a:r>
              <a:rPr lang="fa-IR" sz="2400" dirty="0"/>
              <a:t> یک ویژگی داشته باشد که در </a:t>
            </a:r>
            <a:r>
              <a:rPr lang="el-GR" sz="2400" dirty="0"/>
              <a:t>γ </a:t>
            </a:r>
            <a:r>
              <a:rPr lang="fa-IR" sz="2400" dirty="0"/>
              <a:t>وجود نداشته باشد.</a:t>
            </a:r>
            <a:br>
              <a:rPr lang="fa-IR" sz="2400" dirty="0"/>
            </a:br>
            <a:r>
              <a:rPr lang="fa-IR" sz="2400" dirty="0"/>
              <a:t>از آنجا که </a:t>
            </a:r>
            <a:r>
              <a:rPr lang="el-GR" sz="2400" dirty="0"/>
              <a:t>γ → </a:t>
            </a:r>
            <a:r>
              <a:rPr lang="en-US" sz="2400" dirty="0"/>
              <a:t>B </a:t>
            </a:r>
            <a:r>
              <a:rPr lang="fa-IR" sz="2400" dirty="0"/>
              <a:t>در </a:t>
            </a:r>
            <a:r>
              <a:rPr lang="en-US" sz="2400" dirty="0"/>
              <a:t>F⁺ </a:t>
            </a:r>
            <a:r>
              <a:rPr lang="fa-IR" sz="2400" dirty="0"/>
              <a:t>قرار دارد، باید بتوان آن را با استفاده از </a:t>
            </a:r>
            <a:r>
              <a:rPr lang="en-US" sz="2400" dirty="0"/>
              <a:t>Fc </a:t>
            </a:r>
            <a:r>
              <a:rPr lang="fa-IR" sz="2400" dirty="0"/>
              <a:t>و از طریق </a:t>
            </a:r>
            <a:r>
              <a:rPr lang="fa-IR" sz="2400" dirty="0" err="1"/>
              <a:t>بستار</a:t>
            </a:r>
            <a:r>
              <a:rPr lang="fa-IR" sz="2400" dirty="0"/>
              <a:t> </a:t>
            </a:r>
            <a:r>
              <a:rPr lang="el-GR" sz="2400" dirty="0"/>
              <a:t>γ </a:t>
            </a:r>
            <a:r>
              <a:rPr lang="fa-IR" sz="2400" dirty="0"/>
              <a:t>به دست آورد.</a:t>
            </a:r>
            <a:br>
              <a:rPr lang="fa-IR" sz="2400" dirty="0"/>
            </a:br>
            <a:r>
              <a:rPr lang="fa-IR" sz="2400" dirty="0" err="1"/>
              <a:t>بستارِ</a:t>
            </a:r>
            <a:r>
              <a:rPr lang="fa-IR" sz="2400" dirty="0"/>
              <a:t> </a:t>
            </a:r>
            <a:r>
              <a:rPr lang="el-GR" sz="2400" dirty="0"/>
              <a:t>γ </a:t>
            </a:r>
            <a:r>
              <a:rPr lang="fa-IR" sz="2400" dirty="0" err="1"/>
              <a:t>نمی‌تواند</a:t>
            </a:r>
            <a:r>
              <a:rPr lang="fa-IR" sz="2400" dirty="0"/>
              <a:t> از </a:t>
            </a:r>
            <a:r>
              <a:rPr lang="el-GR" sz="2400" dirty="0"/>
              <a:t>α → β </a:t>
            </a:r>
            <a:r>
              <a:rPr lang="fa-IR" sz="2400" dirty="0"/>
              <a:t>استفاده کرده باشد؛ زیرا اگر از آن استفاده </a:t>
            </a:r>
            <a:r>
              <a:rPr lang="fa-IR" sz="2400" dirty="0" err="1"/>
              <a:t>می‌کرد</a:t>
            </a:r>
            <a:r>
              <a:rPr lang="fa-IR" sz="2400" dirty="0"/>
              <a:t>، </a:t>
            </a:r>
            <a:r>
              <a:rPr lang="el-GR" sz="2400" dirty="0"/>
              <a:t>α </a:t>
            </a:r>
            <a:r>
              <a:rPr lang="fa-IR" sz="2400" dirty="0"/>
              <a:t>باید در </a:t>
            </a:r>
            <a:r>
              <a:rPr lang="fa-IR" sz="2400" dirty="0" err="1"/>
              <a:t>بستارِ</a:t>
            </a:r>
            <a:r>
              <a:rPr lang="fa-IR" sz="2400" dirty="0"/>
              <a:t> </a:t>
            </a:r>
            <a:r>
              <a:rPr lang="el-GR" sz="2400" dirty="0"/>
              <a:t>γ </a:t>
            </a:r>
            <a:r>
              <a:rPr lang="fa-IR" sz="2400" dirty="0"/>
              <a:t>قرار </a:t>
            </a:r>
            <a:r>
              <a:rPr lang="fa-IR" sz="2400" dirty="0" err="1"/>
              <a:t>می‌گرفت</a:t>
            </a:r>
            <a:r>
              <a:rPr lang="fa-IR" sz="2400" dirty="0"/>
              <a:t>،</a:t>
            </a:r>
            <a:br>
              <a:rPr lang="fa-IR" sz="2400" dirty="0"/>
            </a:br>
            <a:r>
              <a:rPr lang="fa-IR" sz="2400" dirty="0"/>
              <a:t>و این ممکن نیست چون فرض </a:t>
            </a:r>
            <a:r>
              <a:rPr lang="fa-IR" sz="2400" dirty="0" err="1"/>
              <a:t>کرده‌ایم</a:t>
            </a:r>
            <a:r>
              <a:rPr lang="fa-IR" sz="2400" dirty="0"/>
              <a:t> </a:t>
            </a:r>
            <a:r>
              <a:rPr lang="el-GR" sz="2400" dirty="0"/>
              <a:t>γ </a:t>
            </a:r>
            <a:r>
              <a:rPr lang="fa-IR" sz="2400" dirty="0"/>
              <a:t>یک </a:t>
            </a:r>
            <a:r>
              <a:rPr lang="fa-IR" sz="2400" b="1" dirty="0" err="1"/>
              <a:t>سوپرکلید</a:t>
            </a:r>
            <a:r>
              <a:rPr lang="fa-IR" sz="2400" dirty="0"/>
              <a:t> نیست.</a:t>
            </a:r>
            <a:br>
              <a:rPr lang="fa-IR" sz="2400" dirty="0"/>
            </a:br>
            <a:r>
              <a:rPr lang="fa-IR" sz="2400" dirty="0"/>
              <a:t>اکنون با استفاده از </a:t>
            </a:r>
            <a:r>
              <a:rPr lang="el-GR" sz="2400" dirty="0"/>
              <a:t>α → (β − {</a:t>
            </a:r>
            <a:r>
              <a:rPr lang="en-US" sz="2400" dirty="0"/>
              <a:t>B}) </a:t>
            </a:r>
            <a:r>
              <a:rPr lang="fa-IR" sz="2400" dirty="0"/>
              <a:t>و </a:t>
            </a:r>
            <a:r>
              <a:rPr lang="el-GR" sz="2400" dirty="0"/>
              <a:t>γ → </a:t>
            </a:r>
            <a:r>
              <a:rPr lang="en-US" sz="2400" dirty="0"/>
              <a:t>B </a:t>
            </a:r>
            <a:r>
              <a:rPr lang="fa-IR" sz="2400" dirty="0" err="1"/>
              <a:t>می‌توانیم</a:t>
            </a:r>
            <a:r>
              <a:rPr lang="fa-IR" sz="2400" dirty="0"/>
              <a:t> </a:t>
            </a:r>
            <a:r>
              <a:rPr lang="el-GR" sz="2400" dirty="0"/>
              <a:t>α → </a:t>
            </a:r>
            <a:r>
              <a:rPr lang="en-US" sz="2400" dirty="0"/>
              <a:t>B </a:t>
            </a:r>
            <a:r>
              <a:rPr lang="fa-IR" sz="2400" dirty="0"/>
              <a:t>را نتیجه بگیریم</a:t>
            </a:r>
            <a:br>
              <a:rPr lang="fa-IR" sz="2400" dirty="0"/>
            </a:br>
            <a:r>
              <a:rPr lang="fa-IR" sz="2400" dirty="0"/>
              <a:t>(زیرا </a:t>
            </a:r>
            <a:r>
              <a:rPr lang="el-GR" sz="2400" dirty="0"/>
              <a:t>γ </a:t>
            </a:r>
            <a:r>
              <a:rPr lang="fa-IR" sz="2400" dirty="0" err="1"/>
              <a:t>زیرمجموعه</a:t>
            </a:r>
            <a:r>
              <a:rPr lang="fa-IR" sz="2400" dirty="0"/>
              <a:t> </a:t>
            </a:r>
            <a:r>
              <a:rPr lang="el-GR" sz="2400" dirty="0"/>
              <a:t>αβ </a:t>
            </a:r>
            <a:r>
              <a:rPr lang="fa-IR" sz="2400" dirty="0"/>
              <a:t>است، و </a:t>
            </a:r>
            <a:r>
              <a:rPr lang="en-US" sz="2400" dirty="0"/>
              <a:t>B </a:t>
            </a:r>
            <a:r>
              <a:rPr lang="fa-IR" sz="2400" dirty="0"/>
              <a:t>در </a:t>
            </a:r>
            <a:r>
              <a:rPr lang="el-GR" sz="2400" dirty="0"/>
              <a:t>γ </a:t>
            </a:r>
            <a:r>
              <a:rPr lang="fa-IR" sz="2400" dirty="0"/>
              <a:t>نیست، چون </a:t>
            </a:r>
            <a:r>
              <a:rPr lang="el-GR" sz="2400" dirty="0"/>
              <a:t>γ → </a:t>
            </a:r>
            <a:r>
              <a:rPr lang="en-US" sz="2400" dirty="0"/>
              <a:t>B </a:t>
            </a:r>
            <a:r>
              <a:rPr lang="fa-IR" sz="2400" dirty="0"/>
              <a:t>یک </a:t>
            </a:r>
            <a:r>
              <a:rPr lang="fa-IR" sz="2400" dirty="0" err="1"/>
              <a:t>وابستگیِ</a:t>
            </a:r>
            <a:r>
              <a:rPr lang="fa-IR" sz="2400" dirty="0"/>
              <a:t> </a:t>
            </a:r>
            <a:r>
              <a:rPr lang="fa-IR" sz="2400" dirty="0" err="1"/>
              <a:t>غیرِ</a:t>
            </a:r>
            <a:r>
              <a:rPr lang="fa-IR" sz="2400" dirty="0"/>
              <a:t> بدیهی است).</a:t>
            </a:r>
            <a:br>
              <a:rPr lang="fa-IR" sz="2400" dirty="0"/>
            </a:br>
            <a:r>
              <a:rPr lang="fa-IR" sz="2400" dirty="0"/>
              <a:t>در این صورت </a:t>
            </a:r>
            <a:r>
              <a:rPr lang="en-US" sz="2400" dirty="0"/>
              <a:t>B </a:t>
            </a:r>
            <a:r>
              <a:rPr lang="fa-IR" sz="2400" dirty="0"/>
              <a:t>در سمت </a:t>
            </a:r>
            <a:r>
              <a:rPr lang="fa-IR" sz="2400" dirty="0" err="1"/>
              <a:t>راستِ</a:t>
            </a:r>
            <a:r>
              <a:rPr lang="fa-IR" sz="2400" dirty="0"/>
              <a:t> </a:t>
            </a:r>
            <a:r>
              <a:rPr lang="el-GR" sz="2400" dirty="0"/>
              <a:t>α → β </a:t>
            </a:r>
            <a:r>
              <a:rPr lang="fa-IR" sz="2400" dirty="0"/>
              <a:t>زائد خواهد بود؛ و این ممکن نیست چون </a:t>
            </a:r>
            <a:r>
              <a:rPr lang="el-GR" sz="2400" dirty="0"/>
              <a:t>α → β </a:t>
            </a:r>
            <a:r>
              <a:rPr lang="fa-IR" sz="2400" dirty="0"/>
              <a:t>در </a:t>
            </a:r>
            <a:r>
              <a:rPr lang="en-US" sz="2400" dirty="0"/>
              <a:t>Fc </a:t>
            </a:r>
            <a:r>
              <a:rPr lang="fa-IR" sz="2400" dirty="0"/>
              <a:t>قرار دارد.</a:t>
            </a:r>
            <a:br>
              <a:rPr lang="fa-IR" sz="2400" dirty="0"/>
            </a:br>
            <a:r>
              <a:rPr lang="fa-IR" sz="2400" dirty="0"/>
              <a:t>بنابراین، اگر </a:t>
            </a:r>
            <a:r>
              <a:rPr lang="en-US" sz="2400" dirty="0"/>
              <a:t>B </a:t>
            </a:r>
            <a:r>
              <a:rPr lang="fa-IR" sz="2400" dirty="0"/>
              <a:t>در </a:t>
            </a:r>
            <a:r>
              <a:rPr lang="el-GR" sz="2400" dirty="0"/>
              <a:t>β </a:t>
            </a:r>
            <a:r>
              <a:rPr lang="fa-IR" sz="2400" dirty="0"/>
              <a:t>باشد، آنگاه </a:t>
            </a:r>
            <a:r>
              <a:rPr lang="el-GR" sz="2400" dirty="0"/>
              <a:t>γ </a:t>
            </a:r>
            <a:r>
              <a:rPr lang="fa-IR" sz="2400" dirty="0"/>
              <a:t>باید یک </a:t>
            </a:r>
            <a:r>
              <a:rPr lang="fa-IR" sz="2400" b="1" dirty="0" err="1"/>
              <a:t>سوپرکلید</a:t>
            </a:r>
            <a:r>
              <a:rPr lang="fa-IR" sz="2400" dirty="0"/>
              <a:t> باشد و شرط </a:t>
            </a:r>
            <a:r>
              <a:rPr lang="fa-IR" sz="2400" dirty="0" err="1"/>
              <a:t>دومِ</a:t>
            </a:r>
            <a:r>
              <a:rPr lang="fa-IR" sz="2400" dirty="0"/>
              <a:t> 3</a:t>
            </a:r>
            <a:r>
              <a:rPr lang="en-US" sz="2400" dirty="0"/>
              <a:t>NF </a:t>
            </a:r>
            <a:r>
              <a:rPr lang="fa-IR" sz="2400" dirty="0"/>
              <a:t>برقرار </a:t>
            </a:r>
            <a:r>
              <a:rPr lang="fa-IR" sz="2400" dirty="0" err="1"/>
              <a:t>می‌شود</a:t>
            </a:r>
            <a:r>
              <a:rPr lang="fa-IR" sz="2400" dirty="0"/>
              <a:t>.</a:t>
            </a:r>
            <a:endParaRPr lang="en-US" altLang="en-US" sz="2400"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2034" name="Rectangle 2"/>
          <p:cNvSpPr>
            <a:spLocks noGrp="1" noChangeArrowheads="1"/>
          </p:cNvSpPr>
          <p:nvPr>
            <p:ph type="title"/>
          </p:nvPr>
        </p:nvSpPr>
        <p:spPr>
          <a:xfrm>
            <a:off x="682625" y="96838"/>
            <a:ext cx="8069263" cy="565150"/>
          </a:xfrm>
        </p:spPr>
        <p:txBody>
          <a:bodyPr/>
          <a:lstStyle/>
          <a:p>
            <a:pPr>
              <a:defRPr/>
            </a:pPr>
            <a:r>
              <a:rPr lang="en-US" altLang="en-US" sz="2800" dirty="0">
                <a:effectLst>
                  <a:outerShdw blurRad="38100" dist="38100" dir="2700000" algn="tl">
                    <a:srgbClr val="C0C0C0"/>
                  </a:outerShdw>
                </a:effectLst>
                <a:ea typeface="ＭＳ Ｐゴシック" pitchFamily="34" charset="-128"/>
              </a:rPr>
              <a:t>Correctness of 3NF Decomposition (Cont</a:t>
            </a:r>
            <a:r>
              <a:rPr lang="en-US" altLang="ja-JP" sz="2800" dirty="0">
                <a:effectLst>
                  <a:outerShdw blurRad="38100" dist="38100" dir="2700000" algn="tl">
                    <a:srgbClr val="C0C0C0"/>
                  </a:outerShdw>
                </a:effectLst>
                <a:ea typeface="ＭＳ Ｐゴシック" pitchFamily="34" charset="-128"/>
              </a:rPr>
              <a:t>.)</a:t>
            </a:r>
            <a:endParaRPr lang="en-US" altLang="en-US" sz="2800" dirty="0">
              <a:effectLst>
                <a:outerShdw blurRad="38100" dist="38100" dir="2700000" algn="tl">
                  <a:srgbClr val="C0C0C0"/>
                </a:outerShdw>
              </a:effectLst>
              <a:ea typeface="ＭＳ Ｐゴシック" pitchFamily="34" charset="-128"/>
            </a:endParaRPr>
          </a:p>
        </p:txBody>
      </p:sp>
      <p:sp>
        <p:nvSpPr>
          <p:cNvPr id="105475" name="Rectangle 3"/>
          <p:cNvSpPr>
            <a:spLocks noGrp="1" noChangeArrowheads="1"/>
          </p:cNvSpPr>
          <p:nvPr>
            <p:ph idx="1"/>
          </p:nvPr>
        </p:nvSpPr>
        <p:spPr>
          <a:xfrm>
            <a:off x="790113" y="1136003"/>
            <a:ext cx="7568682" cy="2735012"/>
          </a:xfrm>
        </p:spPr>
        <p:txBody>
          <a:bodyPr/>
          <a:lstStyle/>
          <a:p>
            <a:pPr algn="r" rtl="1"/>
            <a:r>
              <a:rPr lang="en-US" sz="2400" dirty="0"/>
              <a:t>:Case 2 </a:t>
            </a:r>
            <a:r>
              <a:rPr lang="fa-IR" sz="2400" dirty="0"/>
              <a:t>اگر </a:t>
            </a:r>
            <a:r>
              <a:rPr lang="en-US" sz="2400" dirty="0"/>
              <a:t>B </a:t>
            </a:r>
            <a:r>
              <a:rPr lang="fa-IR" sz="2400" dirty="0"/>
              <a:t>در </a:t>
            </a:r>
            <a:r>
              <a:rPr lang="el-GR" sz="2400" dirty="0"/>
              <a:t>α </a:t>
            </a:r>
            <a:r>
              <a:rPr lang="fa-IR" sz="2400" dirty="0"/>
              <a:t>باشد:</a:t>
            </a:r>
            <a:br>
              <a:rPr lang="fa-IR" sz="2400" dirty="0"/>
            </a:br>
            <a:r>
              <a:rPr lang="fa-IR" sz="2400" dirty="0"/>
              <a:t>چون </a:t>
            </a:r>
            <a:r>
              <a:rPr lang="el-GR" sz="2400" dirty="0"/>
              <a:t>α </a:t>
            </a:r>
            <a:r>
              <a:rPr lang="fa-IR" sz="2400" dirty="0"/>
              <a:t>یک کلید کاندیدا است، گزینه سوم در تعریف 3</a:t>
            </a:r>
            <a:r>
              <a:rPr lang="en-US" sz="2400" dirty="0"/>
              <a:t>NF </a:t>
            </a:r>
            <a:r>
              <a:rPr lang="fa-IR" sz="2400" dirty="0" err="1"/>
              <a:t>به‌طور</a:t>
            </a:r>
            <a:r>
              <a:rPr lang="fa-IR" sz="2400" dirty="0"/>
              <a:t> واضح برقرار است.</a:t>
            </a:r>
            <a:br>
              <a:rPr lang="fa-IR" sz="2400" dirty="0"/>
            </a:br>
            <a:r>
              <a:rPr lang="fa-IR" sz="2400" dirty="0"/>
              <a:t>در واقع، </a:t>
            </a:r>
            <a:r>
              <a:rPr lang="fa-IR" sz="2400" dirty="0" err="1"/>
              <a:t>نمی‌توانیم</a:t>
            </a:r>
            <a:r>
              <a:rPr lang="fa-IR" sz="2400" dirty="0"/>
              <a:t> نشان دهیم که </a:t>
            </a:r>
            <a:r>
              <a:rPr lang="el-GR" sz="2400" dirty="0"/>
              <a:t>γ </a:t>
            </a:r>
            <a:r>
              <a:rPr lang="fa-IR" sz="2400" dirty="0"/>
              <a:t>یک </a:t>
            </a:r>
            <a:r>
              <a:rPr lang="fa-IR" sz="2400" dirty="0" err="1"/>
              <a:t>سوپرکلید</a:t>
            </a:r>
            <a:r>
              <a:rPr lang="fa-IR" sz="2400" dirty="0"/>
              <a:t> است.</a:t>
            </a:r>
            <a:br>
              <a:rPr lang="fa-IR" sz="2400" dirty="0"/>
            </a:br>
            <a:r>
              <a:rPr lang="fa-IR" sz="2400" dirty="0"/>
              <a:t>این دقیقاً دلیل وجود گزینه سوم در تعریف 3</a:t>
            </a:r>
            <a:r>
              <a:rPr lang="en-US" sz="2400" dirty="0"/>
              <a:t>NF </a:t>
            </a:r>
            <a:r>
              <a:rPr lang="fa-IR" sz="2400" dirty="0"/>
              <a:t>را نشان </a:t>
            </a:r>
            <a:r>
              <a:rPr lang="fa-IR" sz="2400" dirty="0" err="1"/>
              <a:t>می‌دهد</a:t>
            </a:r>
            <a:r>
              <a:rPr lang="fa-IR" sz="2400" dirty="0"/>
              <a:t>.</a:t>
            </a:r>
            <a:br>
              <a:rPr lang="fa-IR" sz="2400" dirty="0"/>
            </a:br>
            <a:r>
              <a:rPr lang="en-US" sz="2400" dirty="0"/>
              <a:t>Q.E.D.</a:t>
            </a:r>
            <a:endParaRPr lang="en-US" altLang="en-US" sz="2400"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62530" name="Rectangle 2"/>
          <p:cNvSpPr>
            <a:spLocks noGrp="1" noChangeArrowheads="1"/>
          </p:cNvSpPr>
          <p:nvPr>
            <p:ph type="title"/>
          </p:nvPr>
        </p:nvSpPr>
        <p:spPr/>
        <p:txBody>
          <a:bodyPr/>
          <a:lstStyle/>
          <a:p>
            <a:pPr>
              <a:defRPr/>
            </a:pPr>
            <a:r>
              <a:rPr lang="en-US" altLang="en-US">
                <a:effectLst>
                  <a:outerShdw blurRad="38100" dist="38100" dir="2700000" algn="tl">
                    <a:srgbClr val="C0C0C0"/>
                  </a:outerShdw>
                </a:effectLst>
                <a:ea typeface="ＭＳ Ｐゴシック" pitchFamily="34" charset="-128"/>
              </a:rPr>
              <a:t>First Normal Form</a:t>
            </a:r>
          </a:p>
        </p:txBody>
      </p:sp>
      <mc:AlternateContent xmlns:mc="http://schemas.openxmlformats.org/markup-compatibility/2006" xmlns:a14="http://schemas.microsoft.com/office/drawing/2010/main">
        <mc:Choice Requires="a14">
          <p:sp>
            <p:nvSpPr>
              <p:cNvPr id="106499" name="Rectangle 3"/>
              <p:cNvSpPr>
                <a:spLocks noGrp="1" noChangeArrowheads="1"/>
              </p:cNvSpPr>
              <p:nvPr>
                <p:ph idx="1"/>
              </p:nvPr>
            </p:nvSpPr>
            <p:spPr>
              <a:xfrm>
                <a:off x="139700" y="1054100"/>
                <a:ext cx="8705850" cy="6096000"/>
              </a:xfrm>
            </p:spPr>
            <p:txBody>
              <a:bodyPr/>
              <a:lstStyle/>
              <a:p>
                <a:pPr algn="r" rtl="1"/>
                <a:r>
                  <a:rPr lang="fa-IR" dirty="0"/>
                  <a:t>دامنه (</a:t>
                </a:r>
                <a:r>
                  <a:rPr lang="en-US" dirty="0"/>
                  <a:t>Domain) </a:t>
                </a:r>
                <a:r>
                  <a:rPr lang="fa-IR" b="1" dirty="0"/>
                  <a:t>اتمی</a:t>
                </a:r>
                <a:r>
                  <a:rPr lang="fa-IR" dirty="0"/>
                  <a:t> است اگر عناصر آن به عنوان واحدهای </a:t>
                </a:r>
                <a:r>
                  <a:rPr lang="fa-IR" dirty="0" err="1"/>
                  <a:t>تجزیه‌ناپذیر</a:t>
                </a:r>
                <a:r>
                  <a:rPr lang="fa-IR" dirty="0"/>
                  <a:t> در نظر گرفته شوند.</a:t>
                </a:r>
              </a:p>
              <a:p>
                <a:pPr algn="r" rtl="1"/>
                <a:r>
                  <a:rPr lang="fa-IR" dirty="0" err="1"/>
                  <a:t>نمونه‌هایی</a:t>
                </a:r>
                <a:r>
                  <a:rPr lang="fa-IR" dirty="0"/>
                  <a:t> از </a:t>
                </a:r>
                <a:r>
                  <a:rPr lang="fa-IR" dirty="0" err="1"/>
                  <a:t>دامنه‌های</a:t>
                </a:r>
                <a:r>
                  <a:rPr lang="fa-IR" dirty="0"/>
                  <a:t> </a:t>
                </a:r>
                <a:r>
                  <a:rPr lang="fa-IR" dirty="0" err="1"/>
                  <a:t>غیراتمی</a:t>
                </a:r>
                <a:r>
                  <a:rPr lang="fa-IR" dirty="0"/>
                  <a:t>:</a:t>
                </a:r>
              </a:p>
              <a:p>
                <a:pPr algn="r" rtl="1"/>
                <a:r>
                  <a:rPr lang="fa-IR" dirty="0" err="1"/>
                  <a:t>مجموعه‌ای</a:t>
                </a:r>
                <a:r>
                  <a:rPr lang="fa-IR" dirty="0"/>
                  <a:t> از </a:t>
                </a:r>
                <a:r>
                  <a:rPr lang="fa-IR" dirty="0" err="1"/>
                  <a:t>نام‌ها</a:t>
                </a:r>
                <a:r>
                  <a:rPr lang="fa-IR" dirty="0"/>
                  <a:t>، صفات مرکب</a:t>
                </a:r>
              </a:p>
              <a:p>
                <a:pPr algn="r" rtl="1"/>
                <a:r>
                  <a:rPr lang="fa-IR" dirty="0" err="1"/>
                  <a:t>شماره‌های</a:t>
                </a:r>
                <a:r>
                  <a:rPr lang="fa-IR" dirty="0"/>
                  <a:t> شناسایی مانند </a:t>
                </a:r>
                <a:r>
                  <a:rPr lang="en-US" dirty="0"/>
                  <a:t>CS101 </a:t>
                </a:r>
                <a:r>
                  <a:rPr lang="fa-IR" dirty="0"/>
                  <a:t>که </a:t>
                </a:r>
                <a:r>
                  <a:rPr lang="fa-IR" dirty="0" err="1"/>
                  <a:t>می‌توان</a:t>
                </a:r>
                <a:r>
                  <a:rPr lang="fa-IR" dirty="0"/>
                  <a:t> </a:t>
                </a:r>
                <a:r>
                  <a:rPr lang="fa-IR" dirty="0" err="1"/>
                  <a:t>آن‌ها</a:t>
                </a:r>
                <a:r>
                  <a:rPr lang="fa-IR" dirty="0"/>
                  <a:t> را به </a:t>
                </a:r>
                <a:r>
                  <a:rPr lang="fa-IR" dirty="0" err="1"/>
                  <a:t>بخش‌هایی</a:t>
                </a:r>
                <a:r>
                  <a:rPr lang="fa-IR" dirty="0"/>
                  <a:t> تقسیم کرد</a:t>
                </a:r>
              </a:p>
              <a:p>
                <a:pPr algn="r" rtl="1"/>
                <a:r>
                  <a:rPr lang="fa-IR" dirty="0"/>
                  <a:t>یک طرح </a:t>
                </a:r>
                <a:r>
                  <a:rPr lang="fa-IR" dirty="0" err="1"/>
                  <a:t>رابطه‌ای</a:t>
                </a:r>
                <a:r>
                  <a:rPr lang="fa-IR" dirty="0"/>
                  <a:t> </a:t>
                </a:r>
                <a14:m>
                  <m:oMath xmlns:m="http://schemas.openxmlformats.org/officeDocument/2006/math">
                    <m:r>
                      <a:rPr lang="fa-IR" i="1">
                        <a:latin typeface="Cambria Math" panose="02040503050406030204" pitchFamily="18" charset="0"/>
                      </a:rPr>
                      <m:t>𝑅</m:t>
                    </m:r>
                  </m:oMath>
                </a14:m>
                <a:r>
                  <a:rPr lang="fa-IR" dirty="0"/>
                  <a:t>در </a:t>
                </a:r>
                <a:r>
                  <a:rPr lang="fa-IR" b="1" dirty="0"/>
                  <a:t>اولین فرم نرمال (1</a:t>
                </a:r>
                <a:r>
                  <a:rPr lang="en-US" b="1" dirty="0"/>
                  <a:t>NF)</a:t>
                </a:r>
                <a:r>
                  <a:rPr lang="en-US" dirty="0"/>
                  <a:t> </a:t>
                </a:r>
                <a:r>
                  <a:rPr lang="fa-IR" dirty="0"/>
                  <a:t>قرار دارد اگر دامنه تمام صفات آن </a:t>
                </a:r>
                <a:r>
                  <a:rPr lang="fa-IR" b="1" dirty="0"/>
                  <a:t>اتمی</a:t>
                </a:r>
                <a:r>
                  <a:rPr lang="fa-IR" dirty="0"/>
                  <a:t> باشد.</a:t>
                </a:r>
              </a:p>
              <a:p>
                <a:pPr algn="r" rtl="1"/>
                <a:r>
                  <a:rPr lang="fa-IR" dirty="0"/>
                  <a:t>مقادیر </a:t>
                </a:r>
                <a:r>
                  <a:rPr lang="fa-IR" dirty="0" err="1"/>
                  <a:t>غیراتمی</a:t>
                </a:r>
                <a:r>
                  <a:rPr lang="fa-IR" dirty="0"/>
                  <a:t> </a:t>
                </a:r>
                <a:r>
                  <a:rPr lang="fa-IR" dirty="0" err="1"/>
                  <a:t>ذخیره‌سازی</a:t>
                </a:r>
                <a:r>
                  <a:rPr lang="fa-IR" dirty="0"/>
                  <a:t> را پیچیده </a:t>
                </a:r>
                <a:r>
                  <a:rPr lang="fa-IR" dirty="0" err="1"/>
                  <a:t>می‌کنند</a:t>
                </a:r>
                <a:r>
                  <a:rPr lang="fa-IR" dirty="0"/>
                  <a:t> و باعث تشویق به </a:t>
                </a:r>
                <a:r>
                  <a:rPr lang="fa-IR" dirty="0" err="1"/>
                  <a:t>ذخیره‌سازی</a:t>
                </a:r>
                <a:r>
                  <a:rPr lang="fa-IR" dirty="0"/>
                  <a:t> </a:t>
                </a:r>
                <a:r>
                  <a:rPr lang="fa-IR" b="1" dirty="0"/>
                  <a:t>تکراری و اضافی</a:t>
                </a:r>
                <a:r>
                  <a:rPr lang="fa-IR" dirty="0"/>
                  <a:t> </a:t>
                </a:r>
                <a:r>
                  <a:rPr lang="fa-IR" dirty="0" err="1"/>
                  <a:t>داده‌ها</a:t>
                </a:r>
                <a:r>
                  <a:rPr lang="fa-IR" dirty="0"/>
                  <a:t> </a:t>
                </a:r>
                <a:r>
                  <a:rPr lang="fa-IR" dirty="0" err="1"/>
                  <a:t>می‌شوند</a:t>
                </a:r>
                <a:r>
                  <a:rPr lang="fa-IR" dirty="0"/>
                  <a:t>.</a:t>
                </a:r>
              </a:p>
              <a:p>
                <a:pPr algn="r" rtl="1"/>
                <a:r>
                  <a:rPr lang="fa-IR" dirty="0"/>
                  <a:t>مثال:</a:t>
                </a:r>
              </a:p>
              <a:p>
                <a:pPr algn="r" rtl="1"/>
                <a:r>
                  <a:rPr lang="fa-IR" dirty="0" err="1"/>
                  <a:t>مجموعه‌ای</a:t>
                </a:r>
                <a:r>
                  <a:rPr lang="fa-IR" dirty="0"/>
                  <a:t> از </a:t>
                </a:r>
                <a:r>
                  <a:rPr lang="fa-IR" dirty="0" err="1"/>
                  <a:t>حساب‌ها</a:t>
                </a:r>
                <a:r>
                  <a:rPr lang="fa-IR" dirty="0"/>
                  <a:t> که برای هر مشتری ذخیره شده است</a:t>
                </a:r>
              </a:p>
              <a:p>
                <a:pPr algn="r" rtl="1"/>
                <a:r>
                  <a:rPr lang="fa-IR" dirty="0" err="1"/>
                  <a:t>مجموعه‌ای</a:t>
                </a:r>
                <a:r>
                  <a:rPr lang="fa-IR" dirty="0"/>
                  <a:t> از مالکین که برای هر حساب ذخیره شده است</a:t>
                </a:r>
              </a:p>
              <a:p>
                <a:pPr algn="r" rtl="1"/>
                <a:r>
                  <a:rPr lang="fa-IR" dirty="0"/>
                  <a:t>ما فرض </a:t>
                </a:r>
                <a:r>
                  <a:rPr lang="fa-IR" dirty="0" err="1"/>
                  <a:t>می‌کنیم</a:t>
                </a:r>
                <a:r>
                  <a:rPr lang="fa-IR" dirty="0"/>
                  <a:t> که تمام روابط در </a:t>
                </a:r>
                <a:r>
                  <a:rPr lang="fa-IR" b="1" dirty="0"/>
                  <a:t>اولین فرم نرمال</a:t>
                </a:r>
                <a:r>
                  <a:rPr lang="fa-IR" dirty="0"/>
                  <a:t> قرار دارند</a:t>
                </a:r>
                <a:br>
                  <a:rPr lang="fa-IR" dirty="0"/>
                </a:br>
                <a:r>
                  <a:rPr lang="fa-IR" dirty="0"/>
                  <a:t>(و این موضوع در فصل ۲۲: </a:t>
                </a:r>
                <a:r>
                  <a:rPr lang="fa-IR" dirty="0" err="1"/>
                  <a:t>پایگاه‌های</a:t>
                </a:r>
                <a:r>
                  <a:rPr lang="fa-IR" dirty="0"/>
                  <a:t> داده مبتنی بر </a:t>
                </a:r>
                <a:r>
                  <a:rPr lang="fa-IR" dirty="0" err="1"/>
                  <a:t>شیء</a:t>
                </a:r>
                <a:r>
                  <a:rPr lang="fa-IR" dirty="0"/>
                  <a:t> دوباره بررسی خواهد شد).</a:t>
                </a:r>
              </a:p>
              <a:p>
                <a:pPr algn="r" rtl="1"/>
                <a:endParaRPr lang="en-US" altLang="en-US" dirty="0"/>
              </a:p>
            </p:txBody>
          </p:sp>
        </mc:Choice>
        <mc:Fallback xmlns="">
          <p:sp>
            <p:nvSpPr>
              <p:cNvPr id="106499" name="Rectangle 3"/>
              <p:cNvSpPr>
                <a:spLocks noGrp="1" noRot="1" noChangeAspect="1" noMove="1" noResize="1" noEditPoints="1" noAdjustHandles="1" noChangeArrowheads="1" noChangeShapeType="1" noTextEdit="1"/>
              </p:cNvSpPr>
              <p:nvPr>
                <p:ph idx="1"/>
              </p:nvPr>
            </p:nvSpPr>
            <p:spPr>
              <a:xfrm>
                <a:off x="139700" y="1054100"/>
                <a:ext cx="8705850" cy="6096000"/>
              </a:xfrm>
              <a:blipFill>
                <a:blip r:embed="rId3"/>
                <a:stretch>
                  <a:fillRect t="-1200" r="-840"/>
                </a:stretch>
              </a:blipFill>
            </p:spPr>
            <p:txBody>
              <a:bodyPr/>
              <a:lstStyle/>
              <a:p>
                <a:r>
                  <a:rPr lang="en-US">
                    <a:noFill/>
                  </a:rPr>
                  <a:t> </a:t>
                </a:r>
              </a:p>
            </p:txBody>
          </p:sp>
        </mc:Fallback>
      </mc:AlternateContent>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64578" name="Rectangle 2"/>
          <p:cNvSpPr>
            <a:spLocks noGrp="1" noChangeArrowheads="1"/>
          </p:cNvSpPr>
          <p:nvPr>
            <p:ph type="title"/>
          </p:nvPr>
        </p:nvSpPr>
        <p:spPr>
          <a:xfrm>
            <a:off x="685800" y="104775"/>
            <a:ext cx="8077200" cy="609600"/>
          </a:xfrm>
        </p:spPr>
        <p:txBody>
          <a:bodyPr/>
          <a:lstStyle/>
          <a:p>
            <a:pPr>
              <a:defRPr/>
            </a:pPr>
            <a:r>
              <a:rPr lang="en-US" altLang="en-US" dirty="0">
                <a:effectLst>
                  <a:outerShdw blurRad="38100" dist="38100" dir="2700000" algn="tl">
                    <a:srgbClr val="C0C0C0"/>
                  </a:outerShdw>
                </a:effectLst>
                <a:ea typeface="ＭＳ Ｐゴシック" pitchFamily="34" charset="-128"/>
              </a:rPr>
              <a:t>First Normal Form (Cont</a:t>
            </a:r>
            <a:r>
              <a:rPr lang="en-US" altLang="en-US" dirty="0">
                <a:effectLst>
                  <a:outerShdw blurRad="38100" dist="38100" dir="2700000" algn="tl">
                    <a:srgbClr val="C0C0C0"/>
                  </a:outerShdw>
                </a:effectLst>
                <a:latin typeface="Arial" panose="020B0604020202020204" pitchFamily="34" charset="0"/>
                <a:ea typeface="ＭＳ Ｐゴシック" pitchFamily="34" charset="-128"/>
              </a:rPr>
              <a:t>.</a:t>
            </a:r>
            <a:r>
              <a:rPr lang="en-US" altLang="ja-JP" dirty="0">
                <a:effectLst>
                  <a:outerShdw blurRad="38100" dist="38100" dir="2700000" algn="tl">
                    <a:srgbClr val="C0C0C0"/>
                  </a:outerShdw>
                </a:effectLst>
                <a:ea typeface="ＭＳ Ｐゴシック" pitchFamily="34" charset="-128"/>
              </a:rPr>
              <a:t>)</a:t>
            </a:r>
            <a:endParaRPr lang="en-US" altLang="en-US" dirty="0">
              <a:effectLst>
                <a:outerShdw blurRad="38100" dist="38100" dir="2700000" algn="tl">
                  <a:srgbClr val="C0C0C0"/>
                </a:outerShdw>
              </a:effectLst>
              <a:ea typeface="ＭＳ Ｐゴシック" pitchFamily="34" charset="-128"/>
            </a:endParaRPr>
          </a:p>
        </p:txBody>
      </p:sp>
      <p:sp>
        <p:nvSpPr>
          <p:cNvPr id="107523" name="Rectangle 3"/>
          <p:cNvSpPr>
            <a:spLocks noGrp="1" noChangeArrowheads="1"/>
          </p:cNvSpPr>
          <p:nvPr>
            <p:ph idx="1"/>
          </p:nvPr>
        </p:nvSpPr>
        <p:spPr>
          <a:xfrm>
            <a:off x="1019537" y="840071"/>
            <a:ext cx="7743463" cy="3055854"/>
          </a:xfrm>
        </p:spPr>
        <p:txBody>
          <a:bodyPr/>
          <a:lstStyle/>
          <a:p>
            <a:pPr marL="0" indent="0" algn="r" rtl="1">
              <a:buNone/>
            </a:pPr>
            <a:endParaRPr lang="fa-IR" sz="2400" dirty="0"/>
          </a:p>
          <a:p>
            <a:pPr algn="r" rtl="1"/>
            <a:r>
              <a:rPr lang="fa-IR" sz="2400" dirty="0"/>
              <a:t>اتمی بودن در واقع </a:t>
            </a:r>
            <a:r>
              <a:rPr lang="fa-IR" sz="2400" b="1" dirty="0"/>
              <a:t>ویژگی نحوه استفاده از عناصر دامنه</a:t>
            </a:r>
            <a:r>
              <a:rPr lang="fa-IR" sz="2400" dirty="0"/>
              <a:t> است.</a:t>
            </a:r>
          </a:p>
          <a:p>
            <a:pPr algn="r" rtl="1"/>
            <a:r>
              <a:rPr lang="fa-IR" sz="2400" dirty="0"/>
              <a:t>مثال: </a:t>
            </a:r>
            <a:r>
              <a:rPr lang="fa-IR" sz="2400" dirty="0" err="1"/>
              <a:t>رشته‌ها</a:t>
            </a:r>
            <a:r>
              <a:rPr lang="fa-IR" sz="2400" dirty="0"/>
              <a:t> معمولاً به عنوان واحدهای </a:t>
            </a:r>
            <a:r>
              <a:rPr lang="fa-IR" sz="2400" dirty="0" err="1"/>
              <a:t>تجزیه‌ناپذیر</a:t>
            </a:r>
            <a:r>
              <a:rPr lang="fa-IR" sz="2400" dirty="0"/>
              <a:t> در نظر گرفته </a:t>
            </a:r>
            <a:r>
              <a:rPr lang="fa-IR" sz="2400" dirty="0" err="1"/>
              <a:t>می‌شوند</a:t>
            </a:r>
            <a:r>
              <a:rPr lang="fa-IR" sz="2400" dirty="0"/>
              <a:t>.</a:t>
            </a:r>
          </a:p>
          <a:p>
            <a:pPr algn="r" rtl="1"/>
            <a:r>
              <a:rPr lang="fa-IR" sz="2400" dirty="0"/>
              <a:t>فرض کنید به دانشجویان شماره دانشجویی داده </a:t>
            </a:r>
            <a:r>
              <a:rPr lang="fa-IR" sz="2400" dirty="0" err="1"/>
              <a:t>می‌شود</a:t>
            </a:r>
            <a:r>
              <a:rPr lang="fa-IR" sz="2400" dirty="0"/>
              <a:t> که </a:t>
            </a:r>
            <a:r>
              <a:rPr lang="fa-IR" sz="2400" dirty="0" err="1"/>
              <a:t>رشته‌هایی</a:t>
            </a:r>
            <a:r>
              <a:rPr lang="fa-IR" sz="2400" dirty="0"/>
              <a:t> به شکل </a:t>
            </a:r>
            <a:r>
              <a:rPr lang="en-US" sz="2400" dirty="0"/>
              <a:t>CS0012 </a:t>
            </a:r>
            <a:r>
              <a:rPr lang="fa-IR" sz="2400" dirty="0"/>
              <a:t>یا </a:t>
            </a:r>
            <a:r>
              <a:rPr lang="en-US" sz="2400" dirty="0"/>
              <a:t>EE1127 </a:t>
            </a:r>
            <a:r>
              <a:rPr lang="fa-IR" sz="2400" dirty="0"/>
              <a:t>هستند.</a:t>
            </a:r>
          </a:p>
          <a:p>
            <a:pPr algn="r" rtl="1"/>
            <a:r>
              <a:rPr lang="fa-IR" sz="2400" dirty="0"/>
              <a:t>اگر دو حرف اول استخراج شوند تا دپارتمان مشخص شود، آنگاه دامنه </a:t>
            </a:r>
            <a:r>
              <a:rPr lang="fa-IR" sz="2400" dirty="0" err="1"/>
              <a:t>شماره‌های</a:t>
            </a:r>
            <a:r>
              <a:rPr lang="fa-IR" sz="2400" dirty="0"/>
              <a:t> دانشجویی </a:t>
            </a:r>
            <a:r>
              <a:rPr lang="fa-IR" sz="2400" b="1" dirty="0"/>
              <a:t>اتمی نیست</a:t>
            </a:r>
            <a:r>
              <a:rPr lang="fa-IR" sz="2400" dirty="0"/>
              <a:t>.</a:t>
            </a:r>
          </a:p>
          <a:p>
            <a:pPr algn="r" rtl="1"/>
            <a:r>
              <a:rPr lang="fa-IR" sz="2400" dirty="0"/>
              <a:t>انجام چنین کاری ایده خوبی نیست، زیرا باعث </a:t>
            </a:r>
            <a:r>
              <a:rPr lang="fa-IR" sz="2400" dirty="0" err="1"/>
              <a:t>می‌شود</a:t>
            </a:r>
            <a:r>
              <a:rPr lang="fa-IR" sz="2400" dirty="0"/>
              <a:t> اطلاعات در </a:t>
            </a:r>
            <a:r>
              <a:rPr lang="fa-IR" sz="2400" b="1" dirty="0"/>
              <a:t>برنامه کاربردی</a:t>
            </a:r>
            <a:r>
              <a:rPr lang="fa-IR" sz="2400" dirty="0"/>
              <a:t> </a:t>
            </a:r>
            <a:r>
              <a:rPr lang="fa-IR" sz="2400" dirty="0" err="1"/>
              <a:t>کدگذاری</a:t>
            </a:r>
            <a:r>
              <a:rPr lang="fa-IR" sz="2400" dirty="0"/>
              <a:t> شود، نه در </a:t>
            </a:r>
            <a:r>
              <a:rPr lang="fa-IR" sz="2400" b="1" dirty="0"/>
              <a:t>پایگاه داده</a:t>
            </a:r>
            <a:r>
              <a:rPr lang="fa-IR" sz="2400" dirty="0"/>
              <a:t>.</a:t>
            </a:r>
          </a:p>
          <a:p>
            <a:pPr algn="r" rtl="1"/>
            <a:endParaRPr lang="en-US" altLang="en-US" sz="2400" dirty="0"/>
          </a:p>
        </p:txBody>
      </p:sp>
    </p:spTree>
  </p:cSld>
  <p:clrMapOvr>
    <a:masterClrMapping/>
  </p:clrMapOvr>
</p:sld>
</file>

<file path=ppt/theme/theme1.xml><?xml version="1.0" encoding="utf-8"?>
<a:theme xmlns:a="http://schemas.openxmlformats.org/drawingml/2006/main" name="3_db-5-grey">
  <a:themeElements>
    <a:clrScheme name="">
      <a:dk1>
        <a:srgbClr val="000000"/>
      </a:dk1>
      <a:lt1>
        <a:srgbClr val="CCECFF"/>
      </a:lt1>
      <a:dk2>
        <a:srgbClr val="CC3300"/>
      </a:dk2>
      <a:lt2>
        <a:srgbClr val="666699"/>
      </a:lt2>
      <a:accent1>
        <a:srgbClr val="FFFFFF"/>
      </a:accent1>
      <a:accent2>
        <a:srgbClr val="CCCC00"/>
      </a:accent2>
      <a:accent3>
        <a:srgbClr val="E2F4FF"/>
      </a:accent3>
      <a:accent4>
        <a:srgbClr val="000000"/>
      </a:accent4>
      <a:accent5>
        <a:srgbClr val="FFFFFF"/>
      </a:accent5>
      <a:accent6>
        <a:srgbClr val="B9B900"/>
      </a:accent6>
      <a:hlink>
        <a:srgbClr val="FF9900"/>
      </a:hlink>
      <a:folHlink>
        <a:srgbClr val="FF9933"/>
      </a:folHlink>
    </a:clrScheme>
    <a:fontScheme name="2_db-5-grey">
      <a:majorFont>
        <a:latin typeface="Helvetica"/>
        <a:ea typeface=""/>
        <a:cs typeface=""/>
      </a:majorFont>
      <a:minorFont>
        <a:latin typeface="Helvetica"/>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effectLst/>
      </a:spPr>
      <a:bodyPr vert="horz" wrap="none" lIns="91440" tIns="45720" rIns="91440" bIns="45720" numCol="1" anchor="t" anchorCtr="0" compatLnSpc="1">
        <a:prstTxWarp prst="textNoShape">
          <a:avLst/>
        </a:prstTxWarp>
      </a:bodyPr>
      <a:lstStyle>
        <a:defPPr marL="0" marR="0" indent="0" algn="l" defTabSz="914400" rtl="0" eaLnBrk="0" fontAlgn="base" latinLnBrk="0" hangingPunct="0">
          <a:lnSpc>
            <a:spcPct val="100000"/>
          </a:lnSpc>
          <a:spcBef>
            <a:spcPct val="0"/>
          </a:spcBef>
          <a:spcAft>
            <a:spcPct val="0"/>
          </a:spcAft>
          <a:buClrTx/>
          <a:buSzTx/>
          <a:buFontTx/>
          <a:buNone/>
          <a:tabLst/>
          <a:defRPr kumimoji="0" lang="en-US" sz="1600" b="0" i="0" u="none" strike="noStrike" cap="none" normalizeH="0" baseline="0">
            <a:ln>
              <a:noFill/>
            </a:ln>
            <a:solidFill>
              <a:schemeClr val="tx1"/>
            </a:solidFill>
            <a:effectLst/>
            <a:latin typeface="Helvetica" charset="0"/>
          </a:defRPr>
        </a:defPPr>
      </a:lstStyle>
    </a:spDef>
    <a:ln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effectLst/>
      </a:spPr>
      <a:bodyPr vert="horz" wrap="none" lIns="91440" tIns="45720" rIns="91440" bIns="45720" numCol="1" anchor="t" anchorCtr="0" compatLnSpc="1">
        <a:prstTxWarp prst="textNoShape">
          <a:avLst/>
        </a:prstTxWarp>
      </a:bodyPr>
      <a:lstStyle>
        <a:defPPr marL="0" marR="0" indent="0" algn="l" defTabSz="914400" rtl="0" eaLnBrk="0" fontAlgn="base" latinLnBrk="0" hangingPunct="0">
          <a:lnSpc>
            <a:spcPct val="100000"/>
          </a:lnSpc>
          <a:spcBef>
            <a:spcPct val="0"/>
          </a:spcBef>
          <a:spcAft>
            <a:spcPct val="0"/>
          </a:spcAft>
          <a:buClrTx/>
          <a:buSzTx/>
          <a:buFontTx/>
          <a:buNone/>
          <a:tabLst/>
          <a:defRPr kumimoji="0" lang="en-US" sz="1600" b="0" i="0" u="none" strike="noStrike" cap="none" normalizeH="0" baseline="0">
            <a:ln>
              <a:noFill/>
            </a:ln>
            <a:solidFill>
              <a:schemeClr val="tx1"/>
            </a:solidFill>
            <a:effectLst/>
            <a:latin typeface="Helvetica" charset="0"/>
          </a:defRPr>
        </a:defPPr>
      </a:lstStyle>
    </a:lnDef>
  </a:objectDefaults>
  <a:extraClrSchemeLst>
    <a:extraClrScheme>
      <a:clrScheme name="2_db-5-grey 1">
        <a:dk1>
          <a:srgbClr val="333333"/>
        </a:dk1>
        <a:lt1>
          <a:srgbClr val="A9BDA9"/>
        </a:lt1>
        <a:dk2>
          <a:srgbClr val="004C2B"/>
        </a:dk2>
        <a:lt2>
          <a:srgbClr val="578963"/>
        </a:lt2>
        <a:accent1>
          <a:srgbClr val="E1B7B7"/>
        </a:accent1>
        <a:accent2>
          <a:srgbClr val="B3E1B3"/>
        </a:accent2>
        <a:accent3>
          <a:srgbClr val="D1DBD1"/>
        </a:accent3>
        <a:accent4>
          <a:srgbClr val="2A2A2A"/>
        </a:accent4>
        <a:accent5>
          <a:srgbClr val="EED8D8"/>
        </a:accent5>
        <a:accent6>
          <a:srgbClr val="A2CCA2"/>
        </a:accent6>
        <a:hlink>
          <a:srgbClr val="BDD7E5"/>
        </a:hlink>
        <a:folHlink>
          <a:srgbClr val="D2AAD2"/>
        </a:folHlink>
      </a:clrScheme>
      <a:clrMap bg1="lt1" tx1="dk1" bg2="lt2" tx2="dk2" accent1="accent1" accent2="accent2" accent3="accent3" accent4="accent4" accent5="accent5" accent6="accent6" hlink="hlink" folHlink="folHlink"/>
    </a:extraClrScheme>
    <a:extraClrScheme>
      <a:clrScheme name="2_db-5-grey 2">
        <a:dk1>
          <a:srgbClr val="333333"/>
        </a:dk1>
        <a:lt1>
          <a:srgbClr val="FFFFFF"/>
        </a:lt1>
        <a:dk2>
          <a:srgbClr val="004C2B"/>
        </a:dk2>
        <a:lt2>
          <a:srgbClr val="578963"/>
        </a:lt2>
        <a:accent1>
          <a:srgbClr val="E1B7B7"/>
        </a:accent1>
        <a:accent2>
          <a:srgbClr val="B3E1B3"/>
        </a:accent2>
        <a:accent3>
          <a:srgbClr val="FFFFFF"/>
        </a:accent3>
        <a:accent4>
          <a:srgbClr val="2A2A2A"/>
        </a:accent4>
        <a:accent5>
          <a:srgbClr val="EED8D8"/>
        </a:accent5>
        <a:accent6>
          <a:srgbClr val="A2CCA2"/>
        </a:accent6>
        <a:hlink>
          <a:srgbClr val="BDD7E5"/>
        </a:hlink>
        <a:folHlink>
          <a:srgbClr val="D2AAD2"/>
        </a:folHlink>
      </a:clrScheme>
      <a:clrMap bg1="lt1" tx1="dk1" bg2="lt2" tx2="dk2" accent1="accent1" accent2="accent2" accent3="accent3" accent4="accent4" accent5="accent5" accent6="accent6" hlink="hlink" folHlink="folHlink"/>
    </a:extraClrScheme>
    <a:extraClrScheme>
      <a:clrScheme name="2_db-5-grey 3">
        <a:dk1>
          <a:srgbClr val="000000"/>
        </a:dk1>
        <a:lt1>
          <a:srgbClr val="FFFFFF"/>
        </a:lt1>
        <a:dk2>
          <a:srgbClr val="000000"/>
        </a:dk2>
        <a:lt2>
          <a:srgbClr val="393939"/>
        </a:lt2>
        <a:accent1>
          <a:srgbClr val="CBCBCB"/>
        </a:accent1>
        <a:accent2>
          <a:srgbClr val="808080"/>
        </a:accent2>
        <a:accent3>
          <a:srgbClr val="FFFFFF"/>
        </a:accent3>
        <a:accent4>
          <a:srgbClr val="000000"/>
        </a:accent4>
        <a:accent5>
          <a:srgbClr val="E2E2E2"/>
        </a:accent5>
        <a:accent6>
          <a:srgbClr val="737373"/>
        </a:accent6>
        <a:hlink>
          <a:srgbClr val="B2B2B2"/>
        </a:hlink>
        <a:folHlink>
          <a:srgbClr val="EAEAEA"/>
        </a:folHlink>
      </a:clrScheme>
      <a:clrMap bg1="lt1" tx1="dk1" bg2="lt2" tx2="dk2" accent1="accent1" accent2="accent2" accent3="accent3" accent4="accent4" accent5="accent5" accent6="accent6" hlink="hlink" folHlink="folHlink"/>
    </a:extraClrScheme>
  </a:extraClrSchemeLst>
</a:theme>
</file>

<file path=ppt/theme/theme2.xml><?xml version="1.0" encoding="utf-8"?>
<a:theme xmlns:a="http://schemas.openxmlformats.org/drawingml/2006/main" name="Office Theme">
  <a:themeElements>
    <a:clrScheme name="">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3.xml><?xml version="1.0" encoding="utf-8"?>
<a:theme xmlns:a="http://schemas.openxmlformats.org/drawingml/2006/main" name="Office Theme">
  <a:themeElements>
    <a:clrScheme name="">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emplate/>
  <TotalTime>96461</TotalTime>
  <Words>18487</Words>
  <Application>Microsoft Office PowerPoint</Application>
  <PresentationFormat>On-screen Show (4:3)</PresentationFormat>
  <Paragraphs>2450</Paragraphs>
  <Slides>146</Slides>
  <Notes>124</Notes>
  <HiddenSlides>5</HiddenSlides>
  <MMClips>0</MMClips>
  <ScaleCrop>false</ScaleCrop>
  <HeadingPairs>
    <vt:vector size="8" baseType="variant">
      <vt:variant>
        <vt:lpstr>Fonts Used</vt:lpstr>
      </vt:variant>
      <vt:variant>
        <vt:i4>23</vt:i4>
      </vt:variant>
      <vt:variant>
        <vt:lpstr>Theme</vt:lpstr>
      </vt:variant>
      <vt:variant>
        <vt:i4>1</vt:i4>
      </vt:variant>
      <vt:variant>
        <vt:lpstr>Slide Titles</vt:lpstr>
      </vt:variant>
      <vt:variant>
        <vt:i4>146</vt:i4>
      </vt:variant>
      <vt:variant>
        <vt:lpstr>Custom Shows</vt:lpstr>
      </vt:variant>
      <vt:variant>
        <vt:i4>1</vt:i4>
      </vt:variant>
    </vt:vector>
  </HeadingPairs>
  <TitlesOfParts>
    <vt:vector size="171" baseType="lpstr">
      <vt:lpstr>ＭＳ Ｐゴシック</vt:lpstr>
      <vt:lpstr>Arial</vt:lpstr>
      <vt:lpstr>B Nazanin</vt:lpstr>
      <vt:lpstr>Calibri</vt:lpstr>
      <vt:lpstr>Cambria Math</vt:lpstr>
      <vt:lpstr>Comic Sans MS</vt:lpstr>
      <vt:lpstr>Consolas</vt:lpstr>
      <vt:lpstr>Courier New</vt:lpstr>
      <vt:lpstr>Greek Symbols</vt:lpstr>
      <vt:lpstr>Helvetica</vt:lpstr>
      <vt:lpstr>Iconic Symbols Ext</vt:lpstr>
      <vt:lpstr>Majalla UI</vt:lpstr>
      <vt:lpstr>Monotype Sorts</vt:lpstr>
      <vt:lpstr>MS LineDraw</vt:lpstr>
      <vt:lpstr>Söhne</vt:lpstr>
      <vt:lpstr>Symbol</vt:lpstr>
      <vt:lpstr>Tahoma</vt:lpstr>
      <vt:lpstr>Times</vt:lpstr>
      <vt:lpstr>Times New Roman</vt:lpstr>
      <vt:lpstr>Titr</vt:lpstr>
      <vt:lpstr>Webdings</vt:lpstr>
      <vt:lpstr>Wingdings</vt:lpstr>
      <vt:lpstr>Wingdings 2</vt:lpstr>
      <vt:lpstr>3_db-5-grey</vt:lpstr>
      <vt:lpstr>اصول طراحی پایگاه داده </vt:lpstr>
      <vt:lpstr>فصل ۷: نرمال‌سازی</vt:lpstr>
      <vt:lpstr>سرفصل‌ها</vt:lpstr>
      <vt:lpstr>PowerPoint Presentation</vt:lpstr>
      <vt:lpstr>جداول آنرمال</vt:lpstr>
      <vt:lpstr>جداول آنرمال</vt:lpstr>
      <vt:lpstr>مثال. جدول زير که اطلاعات مربوط به خريد مشتريان را دارد درنظر بگيريد: </vt:lpstr>
      <vt:lpstr>مثال. جدول زير که اطلاعات مربوط به خريد مشتريان را دارد درنظر بگيريد: </vt:lpstr>
      <vt:lpstr>مثال. جدول زير که اطلاعات مربوط به خريد مشتريان را دارد درنظر بگيريد: </vt:lpstr>
      <vt:lpstr>PowerPoint Presentation</vt:lpstr>
      <vt:lpstr>جداول آنرمال</vt:lpstr>
      <vt:lpstr>جداول آنرمال</vt:lpstr>
      <vt:lpstr>جدول نرمال ۱</vt:lpstr>
      <vt:lpstr>جدول نرمال ۱</vt:lpstr>
      <vt:lpstr>جدول نرمال ۱</vt:lpstr>
      <vt:lpstr>وابستگی تابعی (Functional Dependency) در پایگاه داده</vt:lpstr>
      <vt:lpstr>وابستگی تابعی (Functional Dependency) در پایگاه داده</vt:lpstr>
      <vt:lpstr>ویژگی‌های یک طراحی رابطه‌ای خوب</vt:lpstr>
      <vt:lpstr>وابستگی تابعی (Functional Dependency) در پایگاه داده</vt:lpstr>
      <vt:lpstr>وابستگی تابعی (Functional Dependency) در پایگاه داده</vt:lpstr>
      <vt:lpstr>قواعد استنتاج آرمسترانگ </vt:lpstr>
      <vt:lpstr>کاربردهاي قواعد آرمسترانگ </vt:lpstr>
      <vt:lpstr>Finding F^+</vt:lpstr>
      <vt:lpstr> (2NF) Second Normal Form</vt:lpstr>
      <vt:lpstr>جدول نرمال ۲</vt:lpstr>
      <vt:lpstr>یک شِمای ترکیبی بدون تکرار</vt:lpstr>
      <vt:lpstr>جدول نرمال ۲</vt:lpstr>
      <vt:lpstr>مثال. جدول ALL_SALES را درنظر بگيريد:    مشاهده می شود بعضی از ستون ها بهم مرتبط هستند و توسط بخشی از کليد مشخص می شوند. به عبارت ديگر بعضی ستون ها با زيرمجموعه ای از کليد وابستگی تابعی دارند:     </vt:lpstr>
      <vt:lpstr>با جدا کردن اين ستون ها به جداول جداگانه به فرم دوم نرمال می رسيم.</vt:lpstr>
      <vt:lpstr>جدول نرمال ۲</vt:lpstr>
      <vt:lpstr>جدول نرمال ۳</vt:lpstr>
      <vt:lpstr>جدول نرمال ۳</vt:lpstr>
      <vt:lpstr>جدول نرمال ۳</vt:lpstr>
      <vt:lpstr>جداول نرمالBCNF </vt:lpstr>
      <vt:lpstr>جداول نرمالBCNF </vt:lpstr>
      <vt:lpstr>جداول نرمالBCNF </vt:lpstr>
      <vt:lpstr>تبدیل به جدول نرمالBCNF </vt:lpstr>
      <vt:lpstr>جداول نرمالBCNF </vt:lpstr>
      <vt:lpstr>تجزیه (Decomposition)</vt:lpstr>
      <vt:lpstr>یک تجزیه دارای اتلاف</vt:lpstr>
      <vt:lpstr>تجزیه بدون اتلاف</vt:lpstr>
      <vt:lpstr>مثال یک تجزیه بدون اتلاف</vt:lpstr>
      <vt:lpstr>تئوری نرمال‌سازی</vt:lpstr>
      <vt:lpstr>وابستگی‌های تابعی</vt:lpstr>
      <vt:lpstr>وابستگی‌های تابعی – ادامه</vt:lpstr>
      <vt:lpstr>مفهوم وابستگی‌های تابعی </vt:lpstr>
      <vt:lpstr>بسته مجموعه‌ای از وابستگی‌های تابعی</vt:lpstr>
      <vt:lpstr>کلیدها و وابستگی‌های تابعی</vt:lpstr>
      <vt:lpstr>Use of Functional Dependencies</vt:lpstr>
      <vt:lpstr>Trivial Functional Dependencies</vt:lpstr>
      <vt:lpstr>Lossless Decomposition</vt:lpstr>
      <vt:lpstr>Lossless Decomposition</vt:lpstr>
      <vt:lpstr>Lossless Decomposition</vt:lpstr>
      <vt:lpstr>Example</vt:lpstr>
      <vt:lpstr>Example</vt:lpstr>
      <vt:lpstr>Dependency Preservation</vt:lpstr>
      <vt:lpstr>Dependency Preservation Example</vt:lpstr>
      <vt:lpstr>PowerPoint Presentation</vt:lpstr>
      <vt:lpstr>Boyce-Codd Normal Form</vt:lpstr>
      <vt:lpstr>Boyce-Codd Normal Form</vt:lpstr>
      <vt:lpstr>Boyce-Codd Normal Form (Cont.)</vt:lpstr>
      <vt:lpstr>Decomposing a Schema into BCNF</vt:lpstr>
      <vt:lpstr>Example</vt:lpstr>
      <vt:lpstr>Example: Is it BCNF?</vt:lpstr>
      <vt:lpstr>Example</vt:lpstr>
      <vt:lpstr>Example</vt:lpstr>
      <vt:lpstr>BCNF and Dependency Preservation</vt:lpstr>
      <vt:lpstr>Third Normal Form</vt:lpstr>
      <vt:lpstr>3NF Example</vt:lpstr>
      <vt:lpstr>Redundancy in 3NF</vt:lpstr>
      <vt:lpstr>Comparison of BCNF and 3NF</vt:lpstr>
      <vt:lpstr>Goals of Normalization</vt:lpstr>
      <vt:lpstr>How good is BCNF?</vt:lpstr>
      <vt:lpstr>How good is BCNF? (Cont.)</vt:lpstr>
      <vt:lpstr>Higher Normal Forms </vt:lpstr>
      <vt:lpstr>معايب نرمال سازی</vt:lpstr>
      <vt:lpstr>معايب نرمال سازی</vt:lpstr>
      <vt:lpstr>معايب نرمال سازی</vt:lpstr>
      <vt:lpstr>غیرنرمال سازی</vt:lpstr>
      <vt:lpstr>غیرنرمال سازی</vt:lpstr>
      <vt:lpstr>PowerPoint Presentation</vt:lpstr>
      <vt:lpstr>Functional-Dependency Theory Roadmap</vt:lpstr>
      <vt:lpstr>Closure of a Set of Functional Dependencies</vt:lpstr>
      <vt:lpstr>Closure of a Set of Functional Dependencies</vt:lpstr>
      <vt:lpstr>Example of  F+</vt:lpstr>
      <vt:lpstr>Closure of Functional Dependencies (Cont.)</vt:lpstr>
      <vt:lpstr>Procedure for Computing F+</vt:lpstr>
      <vt:lpstr>Closure of Attribute Sets</vt:lpstr>
      <vt:lpstr>Example of Attribute Set Closure</vt:lpstr>
      <vt:lpstr>Uses of Attribute Closure</vt:lpstr>
      <vt:lpstr>Canonical Cover</vt:lpstr>
      <vt:lpstr>Extraneous Attributes</vt:lpstr>
      <vt:lpstr>Extraneous Attributes (Cont.)</vt:lpstr>
      <vt:lpstr>Extraneous Attributes</vt:lpstr>
      <vt:lpstr>Testing if an Attribute is Extraneous</vt:lpstr>
      <vt:lpstr>PowerPoint Presentation</vt:lpstr>
      <vt:lpstr>Canonical Cover</vt:lpstr>
      <vt:lpstr>Canonical Cover</vt:lpstr>
      <vt:lpstr>PowerPoint Presentation</vt:lpstr>
      <vt:lpstr>Dependency Preservation</vt:lpstr>
      <vt:lpstr>Dependency Preservation (Cont.)</vt:lpstr>
      <vt:lpstr>Testing for Dependency Preservation</vt:lpstr>
      <vt:lpstr>PowerPoint Presentation</vt:lpstr>
      <vt:lpstr>PowerPoint Presentation</vt:lpstr>
      <vt:lpstr>Testing for BCNF</vt:lpstr>
      <vt:lpstr>Testing Decomposition for BCNF</vt:lpstr>
      <vt:lpstr>BCNF Decomposition Algorithm</vt:lpstr>
      <vt:lpstr>Example of BCNF Decomposition</vt:lpstr>
      <vt:lpstr>BCNF Decomposition (Cont.)</vt:lpstr>
      <vt:lpstr>Third Normal Form</vt:lpstr>
      <vt:lpstr>3NF Example -- Relation dept_advisor</vt:lpstr>
      <vt:lpstr>Testing for 3NF</vt:lpstr>
      <vt:lpstr>3NF Decomposition Algorithm</vt:lpstr>
      <vt:lpstr>3NF Decomposition Algorithm (Cont.)</vt:lpstr>
      <vt:lpstr>3NF Decomposition: An Example</vt:lpstr>
      <vt:lpstr>3NF Decompsition Example (Cont.)</vt:lpstr>
      <vt:lpstr>Comparison of BCNF and 3NF</vt:lpstr>
      <vt:lpstr>Design Goals</vt:lpstr>
      <vt:lpstr>PowerPoint Presentation</vt:lpstr>
      <vt:lpstr>Multivalued Dependencies (MVDs)</vt:lpstr>
      <vt:lpstr>Multivalued Dependencies</vt:lpstr>
      <vt:lpstr>MVD -- Tabular representation </vt:lpstr>
      <vt:lpstr>PowerPoint Presentation</vt:lpstr>
      <vt:lpstr>Example</vt:lpstr>
      <vt:lpstr>Use of Multivalued Dependencies</vt:lpstr>
      <vt:lpstr>Theory of MVDs</vt:lpstr>
      <vt:lpstr>Fourth Normal Form</vt:lpstr>
      <vt:lpstr>Restriction of Multivalued Dependencies</vt:lpstr>
      <vt:lpstr>4NF Decomposition Algorithm</vt:lpstr>
      <vt:lpstr>PowerPoint Presentation</vt:lpstr>
      <vt:lpstr>PowerPoint Presentation</vt:lpstr>
      <vt:lpstr>Further Normal Forms</vt:lpstr>
      <vt:lpstr>Overall Database Design Process</vt:lpstr>
      <vt:lpstr>ER Model and Normalization</vt:lpstr>
      <vt:lpstr>Denormalization for Performance</vt:lpstr>
      <vt:lpstr>Other Design Issues</vt:lpstr>
      <vt:lpstr>Modeling Temporal Data</vt:lpstr>
      <vt:lpstr>Modeling Temporal Data (Cont.)</vt:lpstr>
      <vt:lpstr>پایان فصل ۷</vt:lpstr>
      <vt:lpstr>PowerPoint Presentation</vt:lpstr>
      <vt:lpstr>Correctness of 3NF Decomposition Algorithm</vt:lpstr>
      <vt:lpstr>Correctness of 3NF Decomposition Algorithm (Cont.)</vt:lpstr>
      <vt:lpstr>Correctness of 3NF Decomposition (Cont.)</vt:lpstr>
      <vt:lpstr>Correctness of 3NF Decomposition (Cont.)</vt:lpstr>
      <vt:lpstr>First Normal Form</vt:lpstr>
      <vt:lpstr>First Normal Form (Cont.)</vt:lpstr>
      <vt:lpstr>Custom Show 1</vt:lpstr>
    </vt:vector>
  </TitlesOfParts>
  <Company>Lucent Technologies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Chapter 7:  Relational Database Design</dc:title>
  <dc:creator>Marilyn Turnamian</dc:creator>
  <cp:lastModifiedBy>A Taghinezhad</cp:lastModifiedBy>
  <cp:revision>504</cp:revision>
  <cp:lastPrinted>1999-06-28T19:27:31Z</cp:lastPrinted>
  <dcterms:created xsi:type="dcterms:W3CDTF">2009-12-21T15:40:22Z</dcterms:created>
  <dcterms:modified xsi:type="dcterms:W3CDTF">2025-12-16T19:36:21Z</dcterms:modified>
</cp:coreProperties>
</file>