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2"/>
  </p:notesMasterIdLst>
  <p:handoutMasterIdLst>
    <p:handoutMasterId r:id="rId43"/>
  </p:handoutMasterIdLst>
  <p:sldIdLst>
    <p:sldId id="458" r:id="rId2"/>
    <p:sldId id="335" r:id="rId3"/>
    <p:sldId id="418" r:id="rId4"/>
    <p:sldId id="419" r:id="rId5"/>
    <p:sldId id="420" r:id="rId6"/>
    <p:sldId id="421" r:id="rId7"/>
    <p:sldId id="422" r:id="rId8"/>
    <p:sldId id="423" r:id="rId9"/>
    <p:sldId id="424" r:id="rId10"/>
    <p:sldId id="425" r:id="rId11"/>
    <p:sldId id="426" r:id="rId12"/>
    <p:sldId id="427" r:id="rId13"/>
    <p:sldId id="428" r:id="rId14"/>
    <p:sldId id="429" r:id="rId15"/>
    <p:sldId id="430" r:id="rId16"/>
    <p:sldId id="431" r:id="rId17"/>
    <p:sldId id="432" r:id="rId18"/>
    <p:sldId id="433" r:id="rId19"/>
    <p:sldId id="455" r:id="rId20"/>
    <p:sldId id="436" r:id="rId21"/>
    <p:sldId id="437" r:id="rId22"/>
    <p:sldId id="438" r:id="rId23"/>
    <p:sldId id="439" r:id="rId24"/>
    <p:sldId id="440" r:id="rId25"/>
    <p:sldId id="441" r:id="rId26"/>
    <p:sldId id="442" r:id="rId27"/>
    <p:sldId id="443" r:id="rId28"/>
    <p:sldId id="444" r:id="rId29"/>
    <p:sldId id="445" r:id="rId30"/>
    <p:sldId id="456" r:id="rId31"/>
    <p:sldId id="454" r:id="rId32"/>
    <p:sldId id="447" r:id="rId33"/>
    <p:sldId id="448" r:id="rId34"/>
    <p:sldId id="449" r:id="rId35"/>
    <p:sldId id="450" r:id="rId36"/>
    <p:sldId id="451" r:id="rId37"/>
    <p:sldId id="452" r:id="rId38"/>
    <p:sldId id="453" r:id="rId39"/>
    <p:sldId id="459" r:id="rId40"/>
    <p:sldId id="460" r:id="rId41"/>
  </p:sldIdLst>
  <p:sldSz cx="9144000" cy="6858000" type="screen4x3"/>
  <p:notesSz cx="6997700" cy="9283700"/>
  <p:custShowLst>
    <p:custShow name="Custom Show 1" id="0">
      <p:sldLst>
        <p:sld r:id="rId3"/>
      </p:sldLst>
    </p:custShow>
  </p:custShow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7">
          <p15:clr>
            <a:srgbClr val="A4A3A4"/>
          </p15:clr>
        </p15:guide>
        <p15:guide id="2" pos="57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99"/>
    <a:srgbClr val="F7FC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0084" autoAdjust="0"/>
    <p:restoredTop sz="80238" autoAdjust="0"/>
  </p:normalViewPr>
  <p:slideViewPr>
    <p:cSldViewPr snapToGrid="0">
      <p:cViewPr varScale="1">
        <p:scale>
          <a:sx n="99" d="100"/>
          <a:sy n="99" d="100"/>
        </p:scale>
        <p:origin x="2586" y="90"/>
      </p:cViewPr>
      <p:guideLst>
        <p:guide orient="horz" pos="707"/>
        <p:guide pos="5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-1158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Rectangle 2">
            <a:extLst>
              <a:ext uri="{FF2B5EF4-FFF2-40B4-BE49-F238E27FC236}">
                <a16:creationId xmlns:a16="http://schemas.microsoft.com/office/drawing/2014/main" id="{C6EF5354-BFFB-44DF-8FA7-1A088153BD8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t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7" name="Rectangle 3">
            <a:extLst>
              <a:ext uri="{FF2B5EF4-FFF2-40B4-BE49-F238E27FC236}">
                <a16:creationId xmlns:a16="http://schemas.microsoft.com/office/drawing/2014/main" id="{5BBF6CF9-ADFE-4F6E-89A0-8CB582D8FFC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5575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8" name="Rectangle 4">
            <a:extLst>
              <a:ext uri="{FF2B5EF4-FFF2-40B4-BE49-F238E27FC236}">
                <a16:creationId xmlns:a16="http://schemas.microsoft.com/office/drawing/2014/main" id="{8C120FC7-7BCE-4696-BB5D-C087861E4B4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b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9" name="Rectangle 5">
            <a:extLst>
              <a:ext uri="{FF2B5EF4-FFF2-40B4-BE49-F238E27FC236}">
                <a16:creationId xmlns:a16="http://schemas.microsoft.com/office/drawing/2014/main" id="{6735A123-7D3E-455E-AB82-1C3749BB052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5575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300"/>
            </a:lvl1pPr>
          </a:lstStyle>
          <a:p>
            <a:pPr>
              <a:defRPr/>
            </a:pPr>
            <a:fld id="{A8B4C920-550B-4EA7-9CB5-2D8883A273B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>
            <a:extLst>
              <a:ext uri="{FF2B5EF4-FFF2-40B4-BE49-F238E27FC236}">
                <a16:creationId xmlns:a16="http://schemas.microsoft.com/office/drawing/2014/main" id="{2E8AF117-EF14-4BF3-AB7D-D75C4F934CC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0643" name="Rectangle 3">
            <a:extLst>
              <a:ext uri="{FF2B5EF4-FFF2-40B4-BE49-F238E27FC236}">
                <a16:creationId xmlns:a16="http://schemas.microsoft.com/office/drawing/2014/main" id="{D7D2DA5C-BED3-45D1-AFD2-94AF29863ABC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65575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A2936E5F-4C9B-4144-9261-C3F188AA67D9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77925" y="696913"/>
            <a:ext cx="4641850" cy="34813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40645" name="Rectangle 5">
            <a:extLst>
              <a:ext uri="{FF2B5EF4-FFF2-40B4-BE49-F238E27FC236}">
                <a16:creationId xmlns:a16="http://schemas.microsoft.com/office/drawing/2014/main" id="{D73F14C5-05F8-4300-9D01-F3633C854740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1863" y="4410075"/>
            <a:ext cx="5133975" cy="417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40646" name="Rectangle 6">
            <a:extLst>
              <a:ext uri="{FF2B5EF4-FFF2-40B4-BE49-F238E27FC236}">
                <a16:creationId xmlns:a16="http://schemas.microsoft.com/office/drawing/2014/main" id="{BCB6CAD9-A006-4455-8054-9CACB290288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b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0647" name="Rectangle 7">
            <a:extLst>
              <a:ext uri="{FF2B5EF4-FFF2-40B4-BE49-F238E27FC236}">
                <a16:creationId xmlns:a16="http://schemas.microsoft.com/office/drawing/2014/main" id="{63060AD7-0C3D-477B-BD60-55C8EBDB945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65575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300"/>
            </a:lvl1pPr>
          </a:lstStyle>
          <a:p>
            <a:pPr>
              <a:defRPr/>
            </a:pPr>
            <a:fld id="{AE66C03C-4B0E-4149-8287-A3B340EB818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irbyte.com/data-engineering-resources/database-schema-design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en.wikipedia.org/wiki/Logical_schema" TargetMode="External"/><Relationship Id="rId4" Type="http://schemas.openxmlformats.org/officeDocument/2006/relationships/hyperlink" Target="https://www.geeksforgeeks.org/database-design-fundamentals/" TargetMode="Externa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uomustansiriyah.edu.iq/media/lectures/6/6_2020_03_22!12_09_32_PM.pdf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quizlet.com/888994882/dbms-110-midterm-flash-cards/" TargetMode="External"/><Relationship Id="rId4" Type="http://schemas.openxmlformats.org/officeDocument/2006/relationships/hyperlink" Target="https://www.db-book.com/Previous-editions/db4/slide-dir/ch1.pdf" TargetMode="Externa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1DE2DCE1-2EFC-4C42-8DFC-CBA6F33233E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1637794-A468-4EC6-9DD2-8F932E639220}" type="slidenum">
              <a:rPr lang="en-US" altLang="en-US" sz="1300" smtClean="0"/>
              <a:pPr/>
              <a:t>2</a:t>
            </a:fld>
            <a:endParaRPr lang="en-US" altLang="en-US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607B12F9-7FC5-42D0-9964-0865785D1C1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2BC6D4DE-B9DA-4FD2-A997-14A566E8D5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787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1761" indent="-285293" defTabSz="928787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1171" indent="-228234" defTabSz="928787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597640" indent="-228234" defTabSz="928787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4108" indent="-228234" defTabSz="928787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0577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67045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3514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79982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7174961-0CF3-42A6-8222-18520414FAD4}" type="slidenum">
              <a:rPr lang="en-US" altLang="en-US" sz="1200"/>
              <a:pPr/>
              <a:t>3</a:t>
            </a:fld>
            <a:endParaRPr lang="en-US" altLang="en-US" sz="1200" dirty="0"/>
          </a:p>
        </p:txBody>
      </p:sp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759" y="4410392"/>
            <a:ext cx="5134182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15122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61B8CAD7-46FF-4242-BDA5-2263185C4B88}" type="slidenum">
              <a:rPr lang="en-US" altLang="en-US" sz="1200"/>
              <a:pPr algn="r"/>
              <a:t>4</a:t>
            </a:fld>
            <a:endParaRPr lang="en-US" altLang="en-US" sz="1200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2334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3022" tIns="46511" rIns="93022" bIns="46511" anchor="b"/>
          <a:lstStyle/>
          <a:p>
            <a:pPr algn="r" defTabSz="928787"/>
            <a:fld id="{0D799AF1-7295-4E0B-8743-1CC5B98377B9}" type="slidenum">
              <a:rPr lang="en-US" sz="1200"/>
              <a:pPr algn="r" defTabSz="928787"/>
              <a:t>5</a:t>
            </a:fld>
            <a:endParaRPr lang="en-US" sz="1200" dirty="0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0383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3022" tIns="46511" rIns="93022" bIns="46511" anchor="b"/>
          <a:lstStyle/>
          <a:p>
            <a:pPr algn="r" defTabSz="928787"/>
            <a:fld id="{0D799AF1-7295-4E0B-8743-1CC5B98377B9}" type="slidenum">
              <a:rPr lang="en-US" sz="1200"/>
              <a:pPr algn="r" defTabSz="928787"/>
              <a:t>6</a:t>
            </a:fld>
            <a:endParaRPr lang="en-US" sz="1200" dirty="0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21809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4516B392-AB16-433E-A341-C08B2964F80A}" type="slidenum">
              <a:rPr lang="en-US" altLang="en-US" sz="1200"/>
              <a:pPr algn="r"/>
              <a:t>7</a:t>
            </a:fld>
            <a:endParaRPr lang="en-US" altLang="en-US" sz="1200" dirty="0"/>
          </a:p>
        </p:txBody>
      </p:sp>
      <p:sp>
        <p:nvSpPr>
          <p:cNvPr id="143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3882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5E2E42CA-A09A-4793-8A18-57204D130B58}" type="slidenum">
              <a:rPr lang="en-US" altLang="en-US" sz="1200"/>
              <a:pPr algn="r"/>
              <a:t>8</a:t>
            </a:fld>
            <a:endParaRPr lang="en-US" altLang="en-US" sz="1200" dirty="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211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E7E4010D-B469-485C-9478-EC8472477B61}" type="slidenum">
              <a:rPr lang="en-US" altLang="en-US" sz="1200"/>
              <a:pPr algn="r"/>
              <a:t>9</a:t>
            </a:fld>
            <a:endParaRPr lang="en-US" altLang="en-US" sz="1200" dirty="0"/>
          </a:p>
        </p:txBody>
      </p:sp>
      <p:sp>
        <p:nvSpPr>
          <p:cNvPr id="12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73241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8F9A1746-BC92-49CA-A120-ACAD23E13744}" type="slidenum">
              <a:rPr lang="en-US" altLang="en-US" sz="1200"/>
              <a:pPr algn="r"/>
              <a:t>10</a:t>
            </a:fld>
            <a:endParaRPr lang="en-US" altLang="en-US" sz="1200" dirty="0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4864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FC7DE4E5-79F5-4AF4-9119-D11AC2C04ADD}" type="slidenum">
              <a:rPr lang="en-US" altLang="en-US" sz="1200"/>
              <a:pPr algn="r"/>
              <a:t>11</a:t>
            </a:fld>
            <a:endParaRPr lang="en-US" altLang="en-US" sz="1200" dirty="0"/>
          </a:p>
        </p:txBody>
      </p:sp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Data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At the heart of any data model lies the data itself. Think of it as the raw material—the bits and bytes—that we want to organize, store, and manipulate.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Data can be anything: numbers, text, images, sensor readings, customer names, or even more complex structures like graphs or hierarchies.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Data Relationships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Data doesn’t exist in isolation; it’s interconnected. Understanding these relationships is crucial.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Relationships define how different pieces of data relate to one another. For example: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In a relational database, tables are related through keys (primary keys and foreign keys).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In a graph database, nodes are connected by edges.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In an object-oriented model, objects collaborate through associations.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Data Semantics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Semantics refer to the meaning behind the data. It’s not just about the syntax (how data is represented), but also about what it represents.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For instance: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If we have a field called “temperature,” its semantics might indicate whether it’s in Celsius or Fahrenheit.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A semantic understanding of data helps us interpret it correctly.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Data Constraints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Constraints are rules that govern how data behaves within a system.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Examples of constraints: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Domain Constraints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 These limit the valid values for a field. For instance, an age field cannot be negative.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Key Constraints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 Ensuring uniqueness (e.g., primary keys).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Referential Integrity Constraints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 Enforcing relationships (foreign keys).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Business Rules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 Constraints specific to the domain (e.g., a product’s price must be positive).</a:t>
            </a:r>
          </a:p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2225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EAD16834-209D-4E76-8929-855939541692}" type="slidenum">
              <a:rPr lang="en-US" altLang="en-US" sz="1200"/>
              <a:pPr algn="r"/>
              <a:t>12</a:t>
            </a:fld>
            <a:endParaRPr lang="en-US" altLang="en-US" sz="1200" dirty="0"/>
          </a:p>
        </p:txBody>
      </p:sp>
      <p:sp>
        <p:nvSpPr>
          <p:cNvPr id="266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238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7BAA96B3-F44A-462E-9F3B-FC947B143EC7}" type="slidenum">
              <a:rPr lang="en-US" altLang="en-US" sz="1200"/>
              <a:pPr algn="r"/>
              <a:t>13</a:t>
            </a:fld>
            <a:endParaRPr lang="en-US" altLang="en-US" sz="1200" dirty="0"/>
          </a:p>
        </p:txBody>
      </p:sp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1417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8F9A1746-BC92-49CA-A120-ACAD23E13744}" type="slidenum">
              <a:rPr lang="en-US" altLang="en-US" sz="1200"/>
              <a:pPr algn="r"/>
              <a:t>14</a:t>
            </a:fld>
            <a:endParaRPr lang="en-US" altLang="en-US" sz="1200" dirty="0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31840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FC368658-0DFD-4DB0-8AA5-9E00D9759535}" type="slidenum">
              <a:rPr lang="en-US" altLang="en-US" sz="1200"/>
              <a:pPr algn="r"/>
              <a:t>15</a:t>
            </a:fld>
            <a:endParaRPr lang="en-US" altLang="en-US" sz="1200" dirty="0"/>
          </a:p>
        </p:txBody>
      </p:sp>
      <p:sp>
        <p:nvSpPr>
          <p:cNvPr id="204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94795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A1771A0E-559D-43D5-85C1-2D375155CEF8}" type="slidenum">
              <a:rPr lang="en-US" altLang="en-US" sz="1200"/>
              <a:pPr algn="r"/>
              <a:t>16</a:t>
            </a:fld>
            <a:endParaRPr lang="en-US" altLang="en-US" sz="12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10794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A1771A0E-559D-43D5-85C1-2D375155CEF8}" type="slidenum">
              <a:rPr lang="en-US" altLang="en-US" sz="1200"/>
              <a:pPr algn="r"/>
              <a:t>17</a:t>
            </a:fld>
            <a:endParaRPr lang="en-US" altLang="en-US" sz="12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The physical schema deals with how data is stored on the actual storage devices (like hard drives or SSDs).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It includes details such as file organization, indexing methods, storage allocation, and access paths.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Changes at this level should not impact the logical schema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Examples of changes at the physical level include: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Upgrading storage hardware (e.g., replacing hard disks with faster SSDs).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Reorganizing data files for better performance.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Adjusting indexing strategies.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FFFFFF"/>
                </a:solidFill>
                <a:effectLst/>
                <a:latin typeface="SegoeUIVariable"/>
              </a:rPr>
              <a:t>magine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 you’re running a popular e-commerce website. You decide to upgrade your database server hardware to improve performance.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With physical data independence, you can seamlessly make this change without rewriting your application code. The logical schema remains unchanged.</a:t>
            </a:r>
          </a:p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1079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86E3BFCD-61F2-489C-9C66-EB1B41452C50}" type="slidenum">
              <a:rPr lang="en-US" altLang="en-US" sz="1200"/>
              <a:pPr algn="r"/>
              <a:t>18</a:t>
            </a:fld>
            <a:endParaRPr lang="en-US" altLang="en-US" sz="1200" dirty="0"/>
          </a:p>
        </p:txBody>
      </p:sp>
      <p:sp>
        <p:nvSpPr>
          <p:cNvPr id="30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3393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ACC0252F-502D-463C-A8AA-53AD833A94B6}" type="slidenum">
              <a:rPr lang="en-US" altLang="en-US" sz="1200"/>
              <a:pPr algn="r"/>
              <a:t>19</a:t>
            </a:fld>
            <a:endParaRPr lang="en-US" altLang="en-US" sz="1200" dirty="0"/>
          </a:p>
        </p:txBody>
      </p:sp>
      <p:sp>
        <p:nvSpPr>
          <p:cNvPr id="32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>
              <a:buFont typeface="+mj-lt"/>
              <a:buAutoNum type="arabicPeriod"/>
            </a:pPr>
            <a:endParaRPr lang="en-US" b="0" i="0" dirty="0">
              <a:solidFill>
                <a:srgbClr val="FFFFFF"/>
              </a:solidFill>
              <a:effectLst/>
              <a:latin typeface="SegoeUIVariable"/>
            </a:endParaRPr>
          </a:p>
        </p:txBody>
      </p:sp>
    </p:spTree>
    <p:extLst>
      <p:ext uri="{BB962C8B-B14F-4D97-AF65-F5344CB8AC3E}">
        <p14:creationId xmlns:p14="http://schemas.microsoft.com/office/powerpoint/2010/main" val="2336176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3AAE4D7F-1E33-42F8-B511-F7C8C40A7E44}" type="slidenum">
              <a:rPr lang="en-US" altLang="en-US" sz="1200"/>
              <a:pPr algn="r"/>
              <a:t>20</a:t>
            </a:fld>
            <a:endParaRPr lang="en-US" altLang="en-US" sz="1200" dirty="0"/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Examples of Procedural DMLs:</a:t>
            </a:r>
            <a:endParaRPr lang="en-US" b="0" i="0" dirty="0">
              <a:solidFill>
                <a:srgbClr val="FFFFFF"/>
              </a:solidFill>
              <a:effectLst/>
              <a:latin typeface="SegoeUIVariable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COBOL: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 An older language primarily used for business applications.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FORTRAN: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 A scientific and engineering programming language.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PL/SQL: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 A procedural extension of SQL used in Oracle databases.</a:t>
            </a:r>
          </a:p>
          <a:p>
            <a:r>
              <a:rPr lang="en-US" altLang="en-US" dirty="0">
                <a:latin typeface="Times New Roman" panose="02020603050405020304" pitchFamily="18" charset="0"/>
              </a:rPr>
              <a:t>Simple PL/SQL:</a:t>
            </a:r>
          </a:p>
          <a:p>
            <a:r>
              <a:rPr lang="en-US" dirty="0"/>
              <a:t>DECLARE </a:t>
            </a:r>
            <a:r>
              <a:rPr lang="en-US" dirty="0" err="1"/>
              <a:t>v_total_sales</a:t>
            </a:r>
            <a:r>
              <a:rPr lang="en-US" dirty="0"/>
              <a:t> NUMBER; </a:t>
            </a:r>
          </a:p>
          <a:p>
            <a:r>
              <a:rPr lang="en-US" dirty="0"/>
              <a:t>BEGIN SELECT SUM(</a:t>
            </a:r>
            <a:r>
              <a:rPr lang="en-US" dirty="0" err="1"/>
              <a:t>sales_amount</a:t>
            </a:r>
            <a:r>
              <a:rPr lang="en-US" dirty="0"/>
              <a:t>) INTO </a:t>
            </a:r>
            <a:r>
              <a:rPr lang="en-US" dirty="0" err="1"/>
              <a:t>v_total_sales</a:t>
            </a:r>
            <a:r>
              <a:rPr lang="en-US" dirty="0"/>
              <a:t> FROM </a:t>
            </a:r>
            <a:r>
              <a:rPr lang="en-US" dirty="0" err="1"/>
              <a:t>sales_data</a:t>
            </a:r>
            <a:r>
              <a:rPr lang="en-US" dirty="0"/>
              <a:t>; DBMS_OUTPUT.PUT_LINE('Total sales: ' || </a:t>
            </a:r>
            <a:r>
              <a:rPr lang="en-US" dirty="0" err="1"/>
              <a:t>v_total_sales</a:t>
            </a:r>
            <a:r>
              <a:rPr lang="en-US" dirty="0"/>
              <a:t>); END;</a:t>
            </a:r>
          </a:p>
          <a:p>
            <a:endParaRPr lang="en-US" altLang="en-US" dirty="0">
              <a:latin typeface="Times New Roman" panose="02020603050405020304" pitchFamily="18" charset="0"/>
            </a:endParaRPr>
          </a:p>
          <a:p>
            <a:pPr algn="r" rtl="1"/>
            <a:r>
              <a:rPr lang="en-US" b="1" dirty="0" err="1"/>
              <a:t>ماشین</a:t>
            </a:r>
            <a:r>
              <a:rPr lang="en-US" b="1" dirty="0"/>
              <a:t> </a:t>
            </a:r>
            <a:r>
              <a:rPr lang="en-US" b="1" dirty="0" err="1"/>
              <a:t>تورینگ</a:t>
            </a:r>
            <a:r>
              <a:rPr lang="en-US" b="1" dirty="0"/>
              <a:t> </a:t>
            </a:r>
            <a:r>
              <a:rPr lang="en-US" b="1" dirty="0" err="1"/>
              <a:t>چیست</a:t>
            </a:r>
            <a:r>
              <a:rPr lang="en-US" b="1" dirty="0"/>
              <a:t>؟</a:t>
            </a:r>
          </a:p>
          <a:p>
            <a:pPr algn="r" rtl="1"/>
            <a:r>
              <a:rPr lang="en-US" dirty="0" err="1"/>
              <a:t>ماشین</a:t>
            </a:r>
            <a:r>
              <a:rPr lang="en-US" dirty="0"/>
              <a:t> </a:t>
            </a:r>
            <a:r>
              <a:rPr lang="en-US" dirty="0" err="1"/>
              <a:t>تورینگ</a:t>
            </a:r>
            <a:r>
              <a:rPr lang="en-US" dirty="0"/>
              <a:t> </a:t>
            </a:r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dirty="0" err="1"/>
              <a:t>مدل</a:t>
            </a:r>
            <a:r>
              <a:rPr lang="en-US" dirty="0"/>
              <a:t> </a:t>
            </a:r>
            <a:r>
              <a:rPr lang="en-US" dirty="0" err="1"/>
              <a:t>نظری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کامپیوتر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</a:t>
            </a:r>
            <a:r>
              <a:rPr lang="en-US" dirty="0" err="1"/>
              <a:t>می‌تواند</a:t>
            </a:r>
            <a:r>
              <a:rPr lang="en-US" dirty="0"/>
              <a:t>،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اصل</a:t>
            </a:r>
            <a:r>
              <a:rPr lang="en-US" dirty="0"/>
              <a:t>، </a:t>
            </a:r>
            <a:r>
              <a:rPr lang="en-US" b="1" dirty="0" err="1"/>
              <a:t>هر</a:t>
            </a:r>
            <a:r>
              <a:rPr lang="en-US" b="1" dirty="0"/>
              <a:t> </a:t>
            </a:r>
            <a:r>
              <a:rPr lang="en-US" b="1" dirty="0" err="1"/>
              <a:t>محاسبه</a:t>
            </a:r>
            <a:r>
              <a:rPr lang="en-US" b="1" dirty="0"/>
              <a:t> </a:t>
            </a:r>
            <a:r>
              <a:rPr lang="en-US" b="1" dirty="0" err="1"/>
              <a:t>قابل‌محاسبه‌ای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انجام</a:t>
            </a:r>
            <a:r>
              <a:rPr lang="en-US" dirty="0"/>
              <a:t> </a:t>
            </a:r>
            <a:r>
              <a:rPr lang="en-US" dirty="0" err="1"/>
              <a:t>دهد</a:t>
            </a:r>
            <a:r>
              <a:rPr lang="en-US" dirty="0"/>
              <a:t>؛ </a:t>
            </a:r>
            <a:r>
              <a:rPr lang="en-US" dirty="0" err="1"/>
              <a:t>مثلاً</a:t>
            </a:r>
            <a:r>
              <a:rPr lang="en-US" dirty="0"/>
              <a:t>:</a:t>
            </a:r>
          </a:p>
          <a:p>
            <a:pPr lvl="0" algn="r" rtl="1"/>
            <a:r>
              <a:rPr lang="en-US" dirty="0" err="1"/>
              <a:t>حلقه‌های</a:t>
            </a:r>
            <a:r>
              <a:rPr lang="en-US" dirty="0"/>
              <a:t> </a:t>
            </a:r>
            <a:r>
              <a:rPr lang="en-US" dirty="0" err="1"/>
              <a:t>نامحدود</a:t>
            </a:r>
            <a:r>
              <a:rPr lang="en-US" dirty="0"/>
              <a:t> </a:t>
            </a:r>
            <a:r>
              <a:rPr lang="en-US" dirty="0" err="1"/>
              <a:t>اجرا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. </a:t>
            </a:r>
          </a:p>
          <a:p>
            <a:pPr lvl="0" algn="r" rtl="1"/>
            <a:r>
              <a:rPr lang="en-US" dirty="0" err="1"/>
              <a:t>محاسبات</a:t>
            </a:r>
            <a:r>
              <a:rPr lang="en-US" dirty="0"/>
              <a:t> </a:t>
            </a:r>
            <a:r>
              <a:rPr lang="en-US" dirty="0" err="1"/>
              <a:t>پیچیده</a:t>
            </a:r>
            <a:r>
              <a:rPr lang="en-US" dirty="0"/>
              <a:t> و </a:t>
            </a:r>
            <a:r>
              <a:rPr lang="en-US" dirty="0" err="1"/>
              <a:t>الگوریتم‌های</a:t>
            </a:r>
            <a:r>
              <a:rPr lang="en-US" dirty="0"/>
              <a:t> </a:t>
            </a:r>
            <a:r>
              <a:rPr lang="en-US" dirty="0" err="1"/>
              <a:t>دلخواه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اجرا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. </a:t>
            </a:r>
          </a:p>
          <a:p>
            <a:pPr lvl="0" algn="r" rtl="1"/>
            <a:r>
              <a:rPr lang="en-US" dirty="0" err="1"/>
              <a:t>بر</a:t>
            </a:r>
            <a:r>
              <a:rPr lang="en-US" dirty="0"/>
              <a:t> </a:t>
            </a:r>
            <a:r>
              <a:rPr lang="en-US" dirty="0" err="1"/>
              <a:t>اساس</a:t>
            </a:r>
            <a:r>
              <a:rPr lang="en-US" dirty="0"/>
              <a:t> </a:t>
            </a:r>
            <a:r>
              <a:rPr lang="en-US" dirty="0" err="1"/>
              <a:t>وضعیت</a:t>
            </a:r>
            <a:r>
              <a:rPr lang="en-US" dirty="0"/>
              <a:t> </a:t>
            </a:r>
            <a:r>
              <a:rPr lang="en-US" dirty="0" err="1"/>
              <a:t>فعلی</a:t>
            </a:r>
            <a:r>
              <a:rPr lang="en-US" dirty="0"/>
              <a:t>، </a:t>
            </a:r>
            <a:r>
              <a:rPr lang="en-US" dirty="0" err="1"/>
              <a:t>تصمیم</a:t>
            </a:r>
            <a:r>
              <a:rPr lang="en-US" dirty="0"/>
              <a:t> </a:t>
            </a:r>
            <a:r>
              <a:rPr lang="en-US" dirty="0" err="1"/>
              <a:t>بگیرد</a:t>
            </a:r>
            <a:r>
              <a:rPr lang="en-US" dirty="0"/>
              <a:t> </a:t>
            </a:r>
            <a:r>
              <a:rPr lang="en-US" dirty="0" err="1"/>
              <a:t>مرحله</a:t>
            </a:r>
            <a:r>
              <a:rPr lang="en-US" dirty="0"/>
              <a:t> </a:t>
            </a:r>
            <a:r>
              <a:rPr lang="en-US" dirty="0" err="1"/>
              <a:t>بعد</a:t>
            </a:r>
            <a:r>
              <a:rPr lang="en-US" dirty="0"/>
              <a:t> </a:t>
            </a:r>
            <a:r>
              <a:rPr lang="en-US" dirty="0" err="1"/>
              <a:t>چه</a:t>
            </a:r>
            <a:r>
              <a:rPr lang="en-US" dirty="0"/>
              <a:t> </a:t>
            </a:r>
            <a:r>
              <a:rPr lang="en-US" dirty="0" err="1"/>
              <a:t>باشد</a:t>
            </a:r>
            <a:r>
              <a:rPr lang="en-US" dirty="0"/>
              <a:t>.</a:t>
            </a:r>
          </a:p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34806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DAE1106A-09D7-4CBD-A5F5-BE222B3FA3D1}" type="slidenum">
              <a:rPr lang="en-US" altLang="en-US" sz="1200"/>
              <a:pPr algn="r"/>
              <a:t>21</a:t>
            </a:fld>
            <a:endParaRPr lang="en-US" altLang="en-US" sz="1200" dirty="0"/>
          </a:p>
        </p:txBody>
      </p:sp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24898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DAE1106A-09D7-4CBD-A5F5-BE222B3FA3D1}" type="slidenum">
              <a:rPr lang="en-US" altLang="en-US" sz="1200"/>
              <a:pPr algn="r"/>
              <a:t>22</a:t>
            </a:fld>
            <a:endParaRPr lang="en-US" altLang="en-US" sz="1200" dirty="0"/>
          </a:p>
        </p:txBody>
      </p:sp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b="1" dirty="0"/>
              <a:t>Logical Design</a:t>
            </a:r>
            <a:r>
              <a:rPr lang="en-US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The logical design phase focuses on defining the high-level structure of your database. It’s like creating a blueprint before constructing a building. Here, we decide on the </a:t>
            </a:r>
            <a:r>
              <a:rPr lang="en-US" b="1" dirty="0"/>
              <a:t>schema</a:t>
            </a:r>
            <a:r>
              <a:rPr lang="en-US" dirty="0"/>
              <a:t>—that is, the collection of relation schemas.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b="1" dirty="0"/>
              <a:t>Relation schemas</a:t>
            </a:r>
            <a:r>
              <a:rPr lang="en-US" dirty="0"/>
              <a:t> correspond to tables in your database. Each schema represents an entity or concept. For example: 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In a customer management system, you might have tables like: </a:t>
            </a:r>
          </a:p>
          <a:p>
            <a:pPr marL="1600200" lvl="3" indent="-228600">
              <a:buFont typeface="+mj-lt"/>
              <a:buAutoNum type="arabicPeriod"/>
            </a:pPr>
            <a:r>
              <a:rPr lang="en-US" dirty="0"/>
              <a:t>customers (with attributes like ID, name, and address)</a:t>
            </a:r>
          </a:p>
          <a:p>
            <a:pPr marL="1600200" lvl="3" indent="-228600">
              <a:buFont typeface="+mj-lt"/>
              <a:buAutoNum type="arabicPeriod"/>
            </a:pPr>
            <a:r>
              <a:rPr lang="en-US" dirty="0"/>
              <a:t>orders (with attributes like order ID, customer ID, and date)</a:t>
            </a:r>
          </a:p>
          <a:p>
            <a:pPr marL="1600200" lvl="3" indent="-228600">
              <a:buFont typeface="+mj-lt"/>
              <a:buAutoNum type="arabicPeriod"/>
            </a:pPr>
            <a:r>
              <a:rPr lang="en-US" dirty="0">
                <a:hlinkClick r:id="rId3"/>
              </a:rPr>
              <a:t>products (with attributes like product ID, name, and price)</a:t>
            </a:r>
            <a:r>
              <a:rPr lang="en-US" baseline="30000" dirty="0">
                <a:hlinkClick r:id="rId3"/>
              </a:rPr>
              <a:t>1</a:t>
            </a:r>
            <a:r>
              <a:rPr lang="en-US" baseline="30000" dirty="0">
                <a:hlinkClick r:id="rId4"/>
              </a:rPr>
              <a:t>2</a:t>
            </a:r>
            <a:r>
              <a:rPr lang="en-US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The logical design also involves defining relationships between these tables (e.g., one-to-many, many-to-many).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Business Decision</a:t>
            </a:r>
            <a:r>
              <a:rPr lang="en-US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This step is about understanding the business requirements. What data do we need to store? What attributes are essential for our application?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For instance, in an online bookstore system, we’d record information like book titles, authors, publication years, and member details (such as email addresses). These decisions align with the business context.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Computer Science Decision</a:t>
            </a:r>
            <a:r>
              <a:rPr lang="en-US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Now we get into the nitty-gritty of designing the actual database schema. We consider how to distribute attributes among relation schemas.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For example, if we have a Book table and an Author table, we decide which attributes belong to each: 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Book: ISBN (primary key), title, publication year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Author: </a:t>
            </a:r>
            <a:r>
              <a:rPr lang="en-US" dirty="0" err="1"/>
              <a:t>AuthorID</a:t>
            </a:r>
            <a:r>
              <a:rPr lang="en-US" dirty="0"/>
              <a:t> (primary key), name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We also establish relationships (e.g., a book can have multiple authors, so we might create a junction table called </a:t>
            </a:r>
            <a:r>
              <a:rPr lang="en-US" dirty="0" err="1"/>
              <a:t>BookAuthor</a:t>
            </a:r>
            <a:r>
              <a:rPr lang="en-US" dirty="0"/>
              <a:t> to link them).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Physical Design</a:t>
            </a:r>
            <a:r>
              <a:rPr lang="en-US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The physical design deals with implementation details. How will the database be stored on disk? What indexing strategies will we use?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This step involves considerations like partitioning, indexing, and optimizing for performance. </a:t>
            </a:r>
            <a:r>
              <a:rPr lang="en-US" dirty="0">
                <a:hlinkClick r:id="rId3"/>
              </a:rPr>
              <a:t>It’s where we decide on the actual storage layout</a:t>
            </a:r>
            <a:r>
              <a:rPr lang="en-US" baseline="30000" dirty="0">
                <a:hlinkClick r:id="rId5"/>
              </a:rPr>
              <a:t>3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43620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B19B9DFD-DF31-43CC-8BBB-94C6B775DF6A}" type="slidenum">
              <a:rPr lang="en-US" altLang="en-US" sz="1200"/>
              <a:pPr algn="r"/>
              <a:t>23</a:t>
            </a:fld>
            <a:endParaRPr lang="en-US" altLang="en-US" sz="1200" dirty="0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43410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B19B9DFD-DF31-43CC-8BBB-94C6B775DF6A}" type="slidenum">
              <a:rPr lang="en-US" altLang="en-US" sz="1200"/>
              <a:pPr algn="r"/>
              <a:t>24</a:t>
            </a:fld>
            <a:endParaRPr lang="en-US" altLang="en-US" sz="1200" dirty="0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42101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B19B9DFD-DF31-43CC-8BBB-94C6B775DF6A}" type="slidenum">
              <a:rPr lang="en-US" altLang="en-US" sz="1200"/>
              <a:pPr algn="r"/>
              <a:t>25</a:t>
            </a:fld>
            <a:endParaRPr lang="en-US" altLang="en-US" sz="1200" dirty="0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6392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2CA03AE4-EA27-469C-8E49-6A6D2386542F}" type="slidenum">
              <a:rPr lang="en-US" altLang="en-US" sz="1200"/>
              <a:pPr algn="r"/>
              <a:t>26</a:t>
            </a:fld>
            <a:endParaRPr lang="en-US" altLang="en-US" sz="1200" dirty="0"/>
          </a:p>
        </p:txBody>
      </p:sp>
      <p:sp>
        <p:nvSpPr>
          <p:cNvPr id="54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42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26899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8F692E26-C62E-47DD-B019-6402D6B97215}" type="slidenum">
              <a:rPr lang="en-US" altLang="en-US" sz="1200"/>
              <a:pPr algn="r"/>
              <a:t>27</a:t>
            </a:fld>
            <a:endParaRPr lang="en-US" altLang="en-US" sz="1200" dirty="0"/>
          </a:p>
        </p:txBody>
      </p:sp>
      <p:sp>
        <p:nvSpPr>
          <p:cNvPr id="52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222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پرس‌وجو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اجرا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:</a:t>
            </a:r>
            <a:br>
              <a:rPr lang="fa-IR" dirty="0"/>
            </a:br>
            <a:r>
              <a:rPr lang="en-US" dirty="0"/>
              <a:t>SELECT Name FROM Students WHERE Major = 'Computer Engineering' AND GPA &gt; 18;</a:t>
            </a:r>
            <a:endParaRPr lang="fa-IR" dirty="0"/>
          </a:p>
          <a:p>
            <a:pPr algn="r" rtl="1"/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فقط</a:t>
            </a:r>
            <a:r>
              <a:rPr lang="en-US" dirty="0"/>
              <a:t> </a:t>
            </a:r>
            <a:r>
              <a:rPr lang="en-US" dirty="0" err="1"/>
              <a:t>می‌گوید</a:t>
            </a:r>
            <a:r>
              <a:rPr lang="en-US" dirty="0"/>
              <a:t>: </a:t>
            </a:r>
            <a:r>
              <a:rPr lang="en-US" b="1" dirty="0"/>
              <a:t>«</a:t>
            </a:r>
            <a:r>
              <a:rPr lang="en-US" b="1" dirty="0" err="1"/>
              <a:t>نام</a:t>
            </a:r>
            <a:r>
              <a:rPr lang="en-US" b="1" dirty="0"/>
              <a:t> </a:t>
            </a:r>
            <a:r>
              <a:rPr lang="en-US" b="1" dirty="0" err="1"/>
              <a:t>دانشجویان</a:t>
            </a:r>
            <a:r>
              <a:rPr lang="en-US" b="1" dirty="0"/>
              <a:t> </a:t>
            </a:r>
            <a:r>
              <a:rPr lang="en-US" b="1" dirty="0" err="1"/>
              <a:t>مهندسی</a:t>
            </a:r>
            <a:r>
              <a:rPr lang="en-US" b="1" dirty="0"/>
              <a:t> </a:t>
            </a:r>
            <a:r>
              <a:rPr lang="en-US" b="1" dirty="0" err="1"/>
              <a:t>کامپیوتر</a:t>
            </a:r>
            <a:r>
              <a:rPr lang="en-US" b="1" dirty="0"/>
              <a:t> </a:t>
            </a:r>
            <a:r>
              <a:rPr lang="en-US" b="1" dirty="0" err="1"/>
              <a:t>با</a:t>
            </a:r>
            <a:r>
              <a:rPr lang="en-US" b="1" dirty="0"/>
              <a:t> </a:t>
            </a:r>
            <a:r>
              <a:rPr lang="en-US" b="1" dirty="0" err="1"/>
              <a:t>معدل</a:t>
            </a:r>
            <a:r>
              <a:rPr lang="en-US" b="1" dirty="0"/>
              <a:t> </a:t>
            </a:r>
            <a:r>
              <a:rPr lang="en-US" b="1" dirty="0" err="1"/>
              <a:t>بالاتر</a:t>
            </a:r>
            <a:r>
              <a:rPr lang="en-US" b="1" dirty="0"/>
              <a:t> </a:t>
            </a:r>
            <a:r>
              <a:rPr lang="en-US" b="1" dirty="0" err="1"/>
              <a:t>از</a:t>
            </a:r>
            <a:r>
              <a:rPr lang="en-US" b="1" dirty="0"/>
              <a:t> ۱۸ </a:t>
            </a:r>
            <a:r>
              <a:rPr lang="en-US" b="1" dirty="0" err="1"/>
              <a:t>را</a:t>
            </a:r>
            <a:r>
              <a:rPr lang="en-US" b="1" dirty="0"/>
              <a:t> </a:t>
            </a:r>
            <a:r>
              <a:rPr lang="en-US" b="1" dirty="0" err="1"/>
              <a:t>به</a:t>
            </a:r>
            <a:r>
              <a:rPr lang="en-US" b="1" dirty="0"/>
              <a:t> </a:t>
            </a:r>
            <a:r>
              <a:rPr lang="en-US" b="1" dirty="0" err="1"/>
              <a:t>من</a:t>
            </a:r>
            <a:r>
              <a:rPr lang="en-US" b="1" dirty="0"/>
              <a:t> </a:t>
            </a:r>
            <a:r>
              <a:rPr lang="en-US" b="1" dirty="0" err="1"/>
              <a:t>بده</a:t>
            </a:r>
            <a:r>
              <a:rPr lang="en-US" b="1" dirty="0"/>
              <a:t>.»</a:t>
            </a:r>
            <a:endParaRPr lang="en-US" dirty="0"/>
          </a:p>
          <a:p>
            <a:pPr algn="r" rtl="1"/>
            <a:r>
              <a:rPr lang="en-US" dirty="0" err="1"/>
              <a:t>اما</a:t>
            </a:r>
            <a:r>
              <a:rPr lang="en-US" dirty="0"/>
              <a:t> DBMS </a:t>
            </a:r>
            <a:r>
              <a:rPr lang="en-US" dirty="0" err="1"/>
              <a:t>برای</a:t>
            </a:r>
            <a:r>
              <a:rPr lang="en-US" dirty="0"/>
              <a:t> </a:t>
            </a:r>
            <a:r>
              <a:rPr lang="en-US" dirty="0" err="1"/>
              <a:t>پاسخ‌دادن</a:t>
            </a:r>
            <a:r>
              <a:rPr lang="en-US" dirty="0"/>
              <a:t> </a:t>
            </a:r>
            <a:r>
              <a:rPr lang="en-US" dirty="0" err="1"/>
              <a:t>باید</a:t>
            </a:r>
            <a:r>
              <a:rPr lang="en-US" dirty="0"/>
              <a:t> </a:t>
            </a:r>
            <a:r>
              <a:rPr lang="en-US" dirty="0" err="1"/>
              <a:t>چند</a:t>
            </a:r>
            <a:r>
              <a:rPr lang="en-US" dirty="0"/>
              <a:t> </a:t>
            </a:r>
            <a:r>
              <a:rPr lang="en-US" dirty="0" err="1"/>
              <a:t>مرحله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طی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:</a:t>
            </a:r>
          </a:p>
          <a:p>
            <a:pPr algn="r" rtl="1"/>
            <a:r>
              <a:rPr lang="en-US" b="1" dirty="0"/>
              <a:t>SQL Query → Parsing → Query Optimization → Query Execution → Result</a:t>
            </a:r>
            <a:endParaRPr lang="en-US" dirty="0"/>
          </a:p>
          <a:p>
            <a:pPr algn="r" rtl="1"/>
            <a:r>
              <a:rPr lang="en-US" dirty="0" err="1"/>
              <a:t>مثلاً</a:t>
            </a:r>
            <a:r>
              <a:rPr lang="en-US" dirty="0"/>
              <a:t>:</a:t>
            </a:r>
          </a:p>
          <a:p>
            <a:pPr lvl="0" algn="r" rtl="1"/>
            <a:r>
              <a:rPr lang="en-US" b="1" dirty="0"/>
              <a:t>Parsing:</a:t>
            </a:r>
            <a:r>
              <a:rPr lang="en-US" dirty="0"/>
              <a:t> </a:t>
            </a:r>
            <a:r>
              <a:rPr lang="en-US" dirty="0" err="1"/>
              <a:t>بررسی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</a:t>
            </a:r>
            <a:r>
              <a:rPr lang="en-US" dirty="0" err="1"/>
              <a:t>دستور</a:t>
            </a:r>
            <a:r>
              <a:rPr lang="en-US" dirty="0"/>
              <a:t> SQL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نظر</a:t>
            </a:r>
            <a:r>
              <a:rPr lang="en-US" dirty="0"/>
              <a:t> </a:t>
            </a:r>
            <a:r>
              <a:rPr lang="en-US" dirty="0" err="1"/>
              <a:t>نحوی</a:t>
            </a:r>
            <a:r>
              <a:rPr lang="en-US" dirty="0"/>
              <a:t> و </a:t>
            </a:r>
            <a:r>
              <a:rPr lang="en-US" dirty="0" err="1"/>
              <a:t>معنایی</a:t>
            </a:r>
            <a:r>
              <a:rPr lang="en-US" dirty="0"/>
              <a:t> </a:t>
            </a:r>
            <a:r>
              <a:rPr lang="en-US" dirty="0" err="1"/>
              <a:t>صحیح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. </a:t>
            </a:r>
          </a:p>
          <a:p>
            <a:pPr lvl="0" algn="r" rtl="1"/>
            <a:r>
              <a:rPr lang="en-US" b="1" dirty="0"/>
              <a:t>Optimization:</a:t>
            </a:r>
            <a:r>
              <a:rPr lang="en-US" dirty="0"/>
              <a:t> </a:t>
            </a:r>
            <a:r>
              <a:rPr lang="en-US" dirty="0" err="1"/>
              <a:t>تصمیم</a:t>
            </a:r>
            <a:r>
              <a:rPr lang="en-US" dirty="0"/>
              <a:t> </a:t>
            </a:r>
            <a:r>
              <a:rPr lang="en-US" dirty="0" err="1"/>
              <a:t>می‌گیرد</a:t>
            </a:r>
            <a:r>
              <a:rPr lang="en-US" dirty="0"/>
              <a:t> </a:t>
            </a:r>
            <a:r>
              <a:rPr lang="en-US" dirty="0" err="1"/>
              <a:t>چگونه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کمترین</a:t>
            </a:r>
            <a:r>
              <a:rPr lang="en-US" dirty="0"/>
              <a:t> </a:t>
            </a:r>
            <a:r>
              <a:rPr lang="en-US" dirty="0" err="1"/>
              <a:t>هزینه</a:t>
            </a:r>
            <a:r>
              <a:rPr lang="en-US" dirty="0"/>
              <a:t> </a:t>
            </a:r>
            <a:r>
              <a:rPr lang="en-US" dirty="0" err="1"/>
              <a:t>داده‌ها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پیدا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؛ </a:t>
            </a:r>
            <a:r>
              <a:rPr lang="en-US" dirty="0" err="1"/>
              <a:t>مثلاً</a:t>
            </a:r>
            <a:r>
              <a:rPr lang="en-US" dirty="0"/>
              <a:t> </a:t>
            </a:r>
            <a:r>
              <a:rPr lang="en-US" dirty="0" err="1"/>
              <a:t>استفاده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Index </a:t>
            </a:r>
            <a:r>
              <a:rPr lang="en-US" dirty="0" err="1"/>
              <a:t>روی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Major</a:t>
            </a:r>
            <a:r>
              <a:rPr lang="en-US" dirty="0"/>
              <a:t> </a:t>
            </a:r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GPA</a:t>
            </a:r>
            <a:r>
              <a:rPr lang="en-US" dirty="0"/>
              <a:t>. </a:t>
            </a:r>
          </a:p>
          <a:p>
            <a:pPr lvl="0" algn="r" rtl="1"/>
            <a:r>
              <a:rPr lang="en-US" b="1" dirty="0"/>
              <a:t>Execution:</a:t>
            </a:r>
            <a:r>
              <a:rPr lang="en-US" dirty="0"/>
              <a:t> </a:t>
            </a:r>
            <a:r>
              <a:rPr lang="en-US" dirty="0" err="1"/>
              <a:t>رکوردهای</a:t>
            </a:r>
            <a:r>
              <a:rPr lang="en-US" dirty="0"/>
              <a:t> </a:t>
            </a:r>
            <a:r>
              <a:rPr lang="en-US" dirty="0" err="1"/>
              <a:t>مناسب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جدول</a:t>
            </a:r>
            <a:r>
              <a:rPr lang="en-US" dirty="0"/>
              <a:t> </a:t>
            </a:r>
            <a:r>
              <a:rPr lang="en-US" dirty="0" err="1"/>
              <a:t>پیدا</a:t>
            </a:r>
            <a:r>
              <a:rPr lang="en-US" dirty="0"/>
              <a:t> و </a:t>
            </a:r>
            <a:r>
              <a:rPr lang="en-US" dirty="0" err="1"/>
              <a:t>فیلتر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. </a:t>
            </a:r>
          </a:p>
          <a:p>
            <a:pPr lvl="0" algn="r" rtl="1"/>
            <a:r>
              <a:rPr lang="en-US" b="1" dirty="0"/>
              <a:t>Result:</a:t>
            </a:r>
            <a:r>
              <a:rPr lang="en-US" dirty="0"/>
              <a:t> </a:t>
            </a:r>
            <a:r>
              <a:rPr lang="en-US" dirty="0" err="1"/>
              <a:t>خروجی</a:t>
            </a:r>
            <a:r>
              <a:rPr lang="en-US" dirty="0"/>
              <a:t> </a:t>
            </a:r>
            <a:r>
              <a:rPr lang="en-US" dirty="0" err="1"/>
              <a:t>زیر</a:t>
            </a:r>
            <a:r>
              <a:rPr lang="en-US" dirty="0"/>
              <a:t> </a:t>
            </a:r>
            <a:r>
              <a:rPr lang="en-US" dirty="0" err="1"/>
              <a:t>تولید</a:t>
            </a:r>
            <a:r>
              <a:rPr lang="en-US" dirty="0"/>
              <a:t> </a:t>
            </a:r>
            <a:r>
              <a:rPr lang="en-US" dirty="0" err="1"/>
              <a:t>می‌شود</a:t>
            </a:r>
            <a:r>
              <a:rPr lang="en-US" dirty="0"/>
              <a:t>: 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Ali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Reza</a:t>
            </a:r>
          </a:p>
          <a:p>
            <a:pPr algn="r" rtl="1"/>
            <a:r>
              <a:rPr lang="en-US" dirty="0" err="1"/>
              <a:t>پس</a:t>
            </a:r>
            <a:r>
              <a:rPr lang="en-US" dirty="0"/>
              <a:t> </a:t>
            </a:r>
            <a:r>
              <a:rPr lang="en-US" dirty="0" err="1"/>
              <a:t>به</a:t>
            </a:r>
            <a:r>
              <a:rPr lang="en-US" dirty="0"/>
              <a:t> </a:t>
            </a:r>
            <a:r>
              <a:rPr lang="en-US" dirty="0" err="1"/>
              <a:t>زبان</a:t>
            </a:r>
            <a:r>
              <a:rPr lang="en-US" dirty="0"/>
              <a:t> </a:t>
            </a:r>
            <a:r>
              <a:rPr lang="en-US" dirty="0" err="1"/>
              <a:t>ساده</a:t>
            </a:r>
            <a:r>
              <a:rPr lang="en-US" dirty="0"/>
              <a:t>:</a:t>
            </a:r>
          </a:p>
          <a:p>
            <a:pPr algn="r" rtl="1"/>
            <a:r>
              <a:rPr lang="en-US" b="1" dirty="0"/>
              <a:t>Query Processing </a:t>
            </a:r>
            <a:r>
              <a:rPr lang="en-US" b="1" dirty="0" err="1"/>
              <a:t>یعنی</a:t>
            </a:r>
            <a:r>
              <a:rPr lang="en-US" b="1" dirty="0"/>
              <a:t> </a:t>
            </a:r>
            <a:r>
              <a:rPr lang="en-US" b="1" dirty="0" err="1"/>
              <a:t>فرایندی</a:t>
            </a:r>
            <a:r>
              <a:rPr lang="en-US" b="1" dirty="0"/>
              <a:t> </a:t>
            </a:r>
            <a:r>
              <a:rPr lang="en-US" b="1" dirty="0" err="1"/>
              <a:t>که</a:t>
            </a:r>
            <a:r>
              <a:rPr lang="en-US" b="1" dirty="0"/>
              <a:t> DBMS </a:t>
            </a:r>
            <a:r>
              <a:rPr lang="en-US" b="1" dirty="0" err="1"/>
              <a:t>یک</a:t>
            </a:r>
            <a:r>
              <a:rPr lang="en-US" b="1" dirty="0"/>
              <a:t> </a:t>
            </a:r>
            <a:r>
              <a:rPr lang="en-US" b="1" dirty="0" err="1"/>
              <a:t>پرس‌وجوی</a:t>
            </a:r>
            <a:r>
              <a:rPr lang="en-US" b="1" dirty="0"/>
              <a:t> </a:t>
            </a:r>
            <a:r>
              <a:rPr lang="en-US" b="1" dirty="0" err="1"/>
              <a:t>سطح‌بالای</a:t>
            </a:r>
            <a:r>
              <a:rPr lang="en-US" b="1" dirty="0"/>
              <a:t> </a:t>
            </a:r>
            <a:r>
              <a:rPr lang="en-US" b="1" dirty="0" err="1"/>
              <a:t>کاربر</a:t>
            </a:r>
            <a:r>
              <a:rPr lang="en-US" b="1" dirty="0"/>
              <a:t>، </a:t>
            </a:r>
            <a:r>
              <a:rPr lang="en-US" b="1" dirty="0" err="1"/>
              <a:t>مانند</a:t>
            </a:r>
            <a:r>
              <a:rPr lang="en-US" b="1" dirty="0"/>
              <a:t> SQL، </a:t>
            </a:r>
            <a:r>
              <a:rPr lang="en-US" b="1" dirty="0" err="1"/>
              <a:t>را</a:t>
            </a:r>
            <a:r>
              <a:rPr lang="en-US" b="1" dirty="0"/>
              <a:t> </a:t>
            </a:r>
            <a:r>
              <a:rPr lang="en-US" b="1" dirty="0" err="1"/>
              <a:t>به</a:t>
            </a:r>
            <a:r>
              <a:rPr lang="en-US" b="1" dirty="0"/>
              <a:t> </a:t>
            </a:r>
            <a:r>
              <a:rPr lang="en-US" b="1" dirty="0" err="1"/>
              <a:t>مجموعه‌ای</a:t>
            </a:r>
            <a:r>
              <a:rPr lang="en-US" b="1" dirty="0"/>
              <a:t> </a:t>
            </a:r>
            <a:r>
              <a:rPr lang="en-US" b="1" dirty="0" err="1"/>
              <a:t>از</a:t>
            </a:r>
            <a:r>
              <a:rPr lang="en-US" b="1" dirty="0"/>
              <a:t> </a:t>
            </a:r>
            <a:r>
              <a:rPr lang="en-US" b="1" dirty="0" err="1"/>
              <a:t>عملیات</a:t>
            </a:r>
            <a:r>
              <a:rPr lang="en-US" b="1" dirty="0"/>
              <a:t> </a:t>
            </a:r>
            <a:r>
              <a:rPr lang="en-US" b="1" dirty="0" err="1"/>
              <a:t>اجرایی</a:t>
            </a:r>
            <a:r>
              <a:rPr lang="en-US" b="1" dirty="0"/>
              <a:t> </a:t>
            </a:r>
            <a:r>
              <a:rPr lang="en-US" b="1" dirty="0" err="1"/>
              <a:t>تبدیل</a:t>
            </a:r>
            <a:r>
              <a:rPr lang="en-US" b="1" dirty="0"/>
              <a:t> </a:t>
            </a:r>
            <a:r>
              <a:rPr lang="en-US" b="1" dirty="0" err="1"/>
              <a:t>می‌کند</a:t>
            </a:r>
            <a:r>
              <a:rPr lang="en-US" b="1" dirty="0"/>
              <a:t> </a:t>
            </a:r>
            <a:r>
              <a:rPr lang="en-US" b="1" dirty="0" err="1"/>
              <a:t>تا</a:t>
            </a:r>
            <a:r>
              <a:rPr lang="en-US" b="1" dirty="0"/>
              <a:t> </a:t>
            </a:r>
            <a:r>
              <a:rPr lang="en-US" b="1" dirty="0" err="1"/>
              <a:t>نتیجه</a:t>
            </a:r>
            <a:r>
              <a:rPr lang="en-US" b="1" dirty="0"/>
              <a:t> </a:t>
            </a:r>
            <a:r>
              <a:rPr lang="en-US" b="1" dirty="0" err="1"/>
              <a:t>با</a:t>
            </a:r>
            <a:r>
              <a:rPr lang="en-US" b="1" dirty="0"/>
              <a:t> </a:t>
            </a:r>
            <a:r>
              <a:rPr lang="en-US" b="1" dirty="0" err="1"/>
              <a:t>هزینه</a:t>
            </a:r>
            <a:r>
              <a:rPr lang="en-US" b="1" dirty="0"/>
              <a:t> و </a:t>
            </a:r>
            <a:r>
              <a:rPr lang="en-US" b="1" dirty="0" err="1"/>
              <a:t>زمان</a:t>
            </a:r>
            <a:r>
              <a:rPr lang="en-US" b="1" dirty="0"/>
              <a:t> </a:t>
            </a:r>
            <a:r>
              <a:rPr lang="en-US" b="1" dirty="0" err="1"/>
              <a:t>مناسب</a:t>
            </a:r>
            <a:r>
              <a:rPr lang="en-US" b="1" dirty="0"/>
              <a:t> </a:t>
            </a:r>
            <a:r>
              <a:rPr lang="en-US" b="1" dirty="0" err="1"/>
              <a:t>تولید</a:t>
            </a:r>
            <a:r>
              <a:rPr lang="en-US" b="1" dirty="0"/>
              <a:t> </a:t>
            </a:r>
            <a:r>
              <a:rPr lang="en-US" b="1" dirty="0" err="1"/>
              <a:t>شود</a:t>
            </a:r>
            <a:r>
              <a:rPr lang="en-US" b="1" dirty="0"/>
              <a:t>.</a:t>
            </a:r>
            <a:endParaRPr lang="en-US" dirty="0"/>
          </a:p>
          <a:p>
            <a:pPr algn="r" rtl="1"/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انگلیسی</a:t>
            </a:r>
            <a:r>
              <a:rPr lang="en-US" dirty="0"/>
              <a:t> </a:t>
            </a:r>
            <a:r>
              <a:rPr lang="en-US" dirty="0" err="1"/>
              <a:t>برای</a:t>
            </a:r>
            <a:r>
              <a:rPr lang="en-US" dirty="0"/>
              <a:t> «</a:t>
            </a:r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dirty="0" err="1"/>
              <a:t>مثال</a:t>
            </a:r>
            <a:r>
              <a:rPr lang="en-US" dirty="0"/>
              <a:t> </a:t>
            </a:r>
            <a:r>
              <a:rPr lang="en-US" dirty="0" err="1"/>
              <a:t>ملموس</a:t>
            </a:r>
            <a:r>
              <a:rPr lang="en-US" dirty="0"/>
              <a:t>»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اینجا</a:t>
            </a:r>
            <a:r>
              <a:rPr lang="en-US" dirty="0"/>
              <a:t> </a:t>
            </a:r>
            <a:r>
              <a:rPr lang="en-US" dirty="0" err="1"/>
              <a:t>می‌توان</a:t>
            </a:r>
            <a:r>
              <a:rPr lang="en-US" dirty="0"/>
              <a:t> </a:t>
            </a:r>
            <a:r>
              <a:rPr lang="en-US" dirty="0" err="1"/>
              <a:t>گفت</a:t>
            </a:r>
            <a:r>
              <a:rPr lang="en-US" dirty="0"/>
              <a:t>: </a:t>
            </a:r>
            <a:r>
              <a:rPr lang="en-US" b="1" dirty="0"/>
              <a:t>“a concrete example of query processing”</a:t>
            </a:r>
            <a:r>
              <a:rPr lang="en-US" dirty="0"/>
              <a:t> </a:t>
            </a:r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b="1" dirty="0"/>
              <a:t>“a real-world example of query processing.”</a:t>
            </a:r>
            <a:endParaRPr lang="en-US" dirty="0"/>
          </a:p>
          <a:p>
            <a:pPr algn="r" rtl="1"/>
            <a:endParaRPr lang="fa-IR" dirty="0"/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6190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A9C50108-5EFA-4F84-9892-157B948F69F3}" type="slidenum">
              <a:rPr lang="en-US" altLang="en-US" sz="1200"/>
              <a:pPr algn="r"/>
              <a:t>28</a:t>
            </a:fld>
            <a:endParaRPr lang="en-US" altLang="en-US" sz="1200" dirty="0"/>
          </a:p>
        </p:txBody>
      </p:sp>
      <p:sp>
        <p:nvSpPr>
          <p:cNvPr id="563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63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en-US" dirty="0" err="1"/>
              <a:t>فرض</a:t>
            </a:r>
            <a:r>
              <a:rPr lang="en-US" dirty="0"/>
              <a:t> </a:t>
            </a:r>
            <a:r>
              <a:rPr lang="en-US" dirty="0" err="1"/>
              <a:t>کنید</a:t>
            </a:r>
            <a:r>
              <a:rPr lang="en-US" dirty="0"/>
              <a:t>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dirty="0" err="1"/>
              <a:t>بانک</a:t>
            </a:r>
            <a:r>
              <a:rPr lang="en-US" dirty="0"/>
              <a:t>، </a:t>
            </a:r>
            <a:r>
              <a:rPr lang="en-US" dirty="0" err="1"/>
              <a:t>موجودی</a:t>
            </a:r>
            <a:r>
              <a:rPr lang="en-US" dirty="0"/>
              <a:t> </a:t>
            </a:r>
            <a:r>
              <a:rPr lang="en-US" dirty="0" err="1"/>
              <a:t>حساب</a:t>
            </a:r>
            <a:r>
              <a:rPr lang="en-US" dirty="0"/>
              <a:t> </a:t>
            </a:r>
            <a:r>
              <a:rPr lang="en-US" b="1" dirty="0" err="1"/>
              <a:t>علی</a:t>
            </a:r>
            <a:r>
              <a:rPr lang="en-US" b="1" dirty="0"/>
              <a:t> ۱۰ </a:t>
            </a:r>
            <a:r>
              <a:rPr lang="en-US" b="1" dirty="0" err="1"/>
              <a:t>میلیون</a:t>
            </a:r>
            <a:r>
              <a:rPr lang="en-US" b="1" dirty="0"/>
              <a:t> </a:t>
            </a:r>
            <a:r>
              <a:rPr lang="en-US" b="1" dirty="0" err="1"/>
              <a:t>تومان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. </a:t>
            </a:r>
            <a:r>
              <a:rPr lang="en-US" dirty="0" err="1"/>
              <a:t>هم‌زمان</a:t>
            </a:r>
            <a:r>
              <a:rPr lang="en-US" dirty="0"/>
              <a:t> </a:t>
            </a:r>
            <a:r>
              <a:rPr lang="en-US" dirty="0" err="1"/>
              <a:t>دو</a:t>
            </a:r>
            <a:r>
              <a:rPr lang="en-US" dirty="0"/>
              <a:t> </a:t>
            </a:r>
            <a:r>
              <a:rPr lang="en-US" dirty="0" err="1"/>
              <a:t>تراکنش</a:t>
            </a:r>
            <a:r>
              <a:rPr lang="en-US" dirty="0"/>
              <a:t>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حال</a:t>
            </a:r>
            <a:r>
              <a:rPr lang="en-US" dirty="0"/>
              <a:t> </a:t>
            </a:r>
            <a:r>
              <a:rPr lang="en-US" dirty="0" err="1"/>
              <a:t>اجرا</a:t>
            </a:r>
            <a:r>
              <a:rPr lang="en-US" dirty="0"/>
              <a:t> </a:t>
            </a:r>
            <a:r>
              <a:rPr lang="en-US" dirty="0" err="1"/>
              <a:t>هستند</a:t>
            </a:r>
            <a:r>
              <a:rPr lang="en-US" dirty="0"/>
              <a:t>:</a:t>
            </a:r>
          </a:p>
          <a:p>
            <a:pPr lvl="0" algn="r" rtl="1"/>
            <a:r>
              <a:rPr lang="en-US" b="1" dirty="0" err="1"/>
              <a:t>تراکنش</a:t>
            </a:r>
            <a:r>
              <a:rPr lang="en-US" b="1" dirty="0"/>
              <a:t> A:</a:t>
            </a:r>
            <a:r>
              <a:rPr lang="en-US" dirty="0"/>
              <a:t> </a:t>
            </a:r>
            <a:r>
              <a:rPr lang="en-US" dirty="0" err="1"/>
              <a:t>علی</a:t>
            </a:r>
            <a:r>
              <a:rPr lang="en-US" dirty="0"/>
              <a:t> ۳ </a:t>
            </a:r>
            <a:r>
              <a:rPr lang="en-US" dirty="0" err="1"/>
              <a:t>میلیون</a:t>
            </a:r>
            <a:r>
              <a:rPr lang="en-US" dirty="0"/>
              <a:t> </a:t>
            </a:r>
            <a:r>
              <a:rPr lang="en-US" dirty="0" err="1"/>
              <a:t>تومان</a:t>
            </a:r>
            <a:r>
              <a:rPr lang="en-US" dirty="0"/>
              <a:t> </a:t>
            </a:r>
            <a:r>
              <a:rPr lang="en-US" dirty="0" err="1"/>
              <a:t>برداشت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. </a:t>
            </a:r>
          </a:p>
          <a:p>
            <a:pPr lvl="0" algn="r" rtl="1"/>
            <a:r>
              <a:rPr lang="en-US" b="1" dirty="0" err="1"/>
              <a:t>تراکنش</a:t>
            </a:r>
            <a:r>
              <a:rPr lang="en-US" b="1" dirty="0"/>
              <a:t> B:</a:t>
            </a:r>
            <a:r>
              <a:rPr lang="en-US" dirty="0"/>
              <a:t> </a:t>
            </a:r>
            <a:r>
              <a:rPr lang="en-US" dirty="0" err="1"/>
              <a:t>علی</a:t>
            </a:r>
            <a:r>
              <a:rPr lang="en-US" dirty="0"/>
              <a:t> ۲ </a:t>
            </a:r>
            <a:r>
              <a:rPr lang="en-US" dirty="0" err="1"/>
              <a:t>میلیون</a:t>
            </a:r>
            <a:r>
              <a:rPr lang="en-US" dirty="0"/>
              <a:t> </a:t>
            </a:r>
            <a:r>
              <a:rPr lang="en-US" dirty="0" err="1"/>
              <a:t>تومان</a:t>
            </a:r>
            <a:r>
              <a:rPr lang="en-US" dirty="0"/>
              <a:t> </a:t>
            </a:r>
            <a:r>
              <a:rPr lang="en-US" dirty="0" err="1"/>
              <a:t>برداشت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. </a:t>
            </a:r>
          </a:p>
          <a:p>
            <a:pPr algn="r" rtl="1"/>
            <a:r>
              <a:rPr lang="en-US" dirty="0" err="1"/>
              <a:t>اگر</a:t>
            </a:r>
            <a:r>
              <a:rPr lang="en-US" dirty="0"/>
              <a:t> </a:t>
            </a:r>
            <a:r>
              <a:rPr lang="en-US" dirty="0" err="1"/>
              <a:t>هر</a:t>
            </a:r>
            <a:r>
              <a:rPr lang="en-US" dirty="0"/>
              <a:t> </a:t>
            </a:r>
            <a:r>
              <a:rPr lang="en-US" dirty="0" err="1"/>
              <a:t>دو</a:t>
            </a:r>
            <a:r>
              <a:rPr lang="en-US" dirty="0"/>
              <a:t> </a:t>
            </a:r>
            <a:r>
              <a:rPr lang="en-US" dirty="0" err="1"/>
              <a:t>تراکنش</a:t>
            </a:r>
            <a:r>
              <a:rPr lang="en-US" dirty="0"/>
              <a:t> </a:t>
            </a:r>
            <a:r>
              <a:rPr lang="en-US" dirty="0" err="1"/>
              <a:t>هم‌زمان</a:t>
            </a:r>
            <a:r>
              <a:rPr lang="en-US" dirty="0"/>
              <a:t> </a:t>
            </a:r>
            <a:r>
              <a:rPr lang="en-US" dirty="0" err="1"/>
              <a:t>موجودی</a:t>
            </a:r>
            <a:r>
              <a:rPr lang="en-US" dirty="0"/>
              <a:t> </a:t>
            </a:r>
            <a:r>
              <a:rPr lang="en-US" dirty="0" err="1"/>
              <a:t>اولیه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بخوانند</a:t>
            </a:r>
            <a:r>
              <a:rPr lang="en-US" dirty="0"/>
              <a:t>، </a:t>
            </a:r>
            <a:r>
              <a:rPr lang="en-US" dirty="0" err="1"/>
              <a:t>ممکن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 </a:t>
            </a:r>
            <a:r>
              <a:rPr lang="en-US" dirty="0" err="1"/>
              <a:t>هر</a:t>
            </a:r>
            <a:r>
              <a:rPr lang="en-US" dirty="0"/>
              <a:t> </a:t>
            </a:r>
            <a:r>
              <a:rPr lang="en-US" dirty="0" err="1"/>
              <a:t>دو</a:t>
            </a:r>
            <a:r>
              <a:rPr lang="en-US" dirty="0"/>
              <a:t> </a:t>
            </a:r>
            <a:r>
              <a:rPr lang="en-US" dirty="0" err="1"/>
              <a:t>مقدار</a:t>
            </a:r>
            <a:r>
              <a:rPr lang="en-US" dirty="0"/>
              <a:t> </a:t>
            </a:r>
            <a:r>
              <a:rPr lang="en-US" b="1" dirty="0"/>
              <a:t>۱۰ </a:t>
            </a:r>
            <a:r>
              <a:rPr lang="en-US" b="1" dirty="0" err="1"/>
              <a:t>میلیون</a:t>
            </a:r>
            <a:r>
              <a:rPr lang="en-US" b="1" dirty="0"/>
              <a:t> </a:t>
            </a:r>
            <a:r>
              <a:rPr lang="en-US" b="1" dirty="0" err="1"/>
              <a:t>تومان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ببینند</a:t>
            </a:r>
            <a:r>
              <a:rPr lang="en-US" dirty="0"/>
              <a:t> و </a:t>
            </a:r>
            <a:r>
              <a:rPr lang="en-US" dirty="0" err="1"/>
              <a:t>سپس</a:t>
            </a:r>
            <a:r>
              <a:rPr lang="en-US" dirty="0"/>
              <a:t> </a:t>
            </a:r>
            <a:r>
              <a:rPr lang="en-US" dirty="0" err="1"/>
              <a:t>یکی</a:t>
            </a:r>
            <a:r>
              <a:rPr lang="en-US" dirty="0"/>
              <a:t> </a:t>
            </a:r>
            <a:r>
              <a:rPr lang="en-US" dirty="0" err="1"/>
              <a:t>آن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به</a:t>
            </a:r>
            <a:r>
              <a:rPr lang="en-US" dirty="0"/>
              <a:t> ۷ و </a:t>
            </a:r>
            <a:r>
              <a:rPr lang="en-US" dirty="0" err="1"/>
              <a:t>دیگری</a:t>
            </a:r>
            <a:r>
              <a:rPr lang="en-US" dirty="0"/>
              <a:t> </a:t>
            </a:r>
            <a:r>
              <a:rPr lang="en-US" dirty="0" err="1"/>
              <a:t>به</a:t>
            </a:r>
            <a:r>
              <a:rPr lang="en-US" dirty="0"/>
              <a:t> ۸ </a:t>
            </a:r>
            <a:r>
              <a:rPr lang="en-US" dirty="0" err="1"/>
              <a:t>میلیون</a:t>
            </a:r>
            <a:r>
              <a:rPr lang="en-US" dirty="0"/>
              <a:t> </a:t>
            </a:r>
            <a:r>
              <a:rPr lang="en-US" dirty="0" err="1"/>
              <a:t>تغییر</a:t>
            </a:r>
            <a:r>
              <a:rPr lang="en-US" dirty="0"/>
              <a:t> </a:t>
            </a:r>
            <a:r>
              <a:rPr lang="en-US" dirty="0" err="1"/>
              <a:t>دهد</a:t>
            </a:r>
            <a:r>
              <a:rPr lang="en-US" dirty="0"/>
              <a:t>.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نتیجه</a:t>
            </a:r>
            <a:r>
              <a:rPr lang="en-US" dirty="0"/>
              <a:t>، </a:t>
            </a:r>
            <a:r>
              <a:rPr lang="en-US" dirty="0" err="1"/>
              <a:t>موجودی</a:t>
            </a:r>
            <a:r>
              <a:rPr lang="en-US" dirty="0"/>
              <a:t> </a:t>
            </a:r>
            <a:r>
              <a:rPr lang="en-US" dirty="0" err="1"/>
              <a:t>نهایی</a:t>
            </a:r>
            <a:r>
              <a:rPr lang="en-US" dirty="0"/>
              <a:t> </a:t>
            </a:r>
            <a:r>
              <a:rPr lang="en-US" dirty="0" err="1"/>
              <a:t>ممکن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 </a:t>
            </a:r>
            <a:r>
              <a:rPr lang="en-US" dirty="0" err="1"/>
              <a:t>اشتباه</a:t>
            </a:r>
            <a:r>
              <a:rPr lang="en-US" dirty="0"/>
              <a:t> و </a:t>
            </a:r>
            <a:r>
              <a:rPr lang="en-US" dirty="0" err="1"/>
              <a:t>برابر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b="1" dirty="0"/>
              <a:t>۸ </a:t>
            </a:r>
            <a:r>
              <a:rPr lang="en-US" b="1" dirty="0" err="1"/>
              <a:t>میلیون</a:t>
            </a:r>
            <a:r>
              <a:rPr lang="en-US" b="1" dirty="0"/>
              <a:t> </a:t>
            </a:r>
            <a:r>
              <a:rPr lang="en-US" b="1" dirty="0" err="1"/>
              <a:t>تومان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،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حالی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</a:t>
            </a:r>
            <a:r>
              <a:rPr lang="en-US" dirty="0" err="1"/>
              <a:t>باید</a:t>
            </a:r>
            <a:r>
              <a:rPr lang="en-US" dirty="0"/>
              <a:t> </a:t>
            </a:r>
            <a:r>
              <a:rPr lang="en-US" b="1" dirty="0"/>
              <a:t>۵ </a:t>
            </a:r>
            <a:r>
              <a:rPr lang="en-US" b="1" dirty="0" err="1"/>
              <a:t>میلیون</a:t>
            </a:r>
            <a:r>
              <a:rPr lang="en-US" b="1" dirty="0"/>
              <a:t> </a:t>
            </a:r>
            <a:r>
              <a:rPr lang="en-US" b="1" dirty="0" err="1"/>
              <a:t>تومان</a:t>
            </a:r>
            <a:r>
              <a:rPr lang="en-US" dirty="0"/>
              <a:t> </a:t>
            </a:r>
            <a:r>
              <a:rPr lang="en-US" dirty="0" err="1"/>
              <a:t>باشد</a:t>
            </a:r>
            <a:r>
              <a:rPr lang="en-US" dirty="0"/>
              <a:t>.</a:t>
            </a:r>
          </a:p>
          <a:p>
            <a:pPr algn="r" rtl="1"/>
            <a:r>
              <a:rPr lang="en-US" b="1" dirty="0" err="1"/>
              <a:t>مدیر</a:t>
            </a:r>
            <a:r>
              <a:rPr lang="en-US" b="1" dirty="0"/>
              <a:t> </a:t>
            </a:r>
            <a:r>
              <a:rPr lang="en-US" b="1" dirty="0" err="1"/>
              <a:t>کنترل</a:t>
            </a:r>
            <a:r>
              <a:rPr lang="en-US" b="1" dirty="0"/>
              <a:t> </a:t>
            </a:r>
            <a:r>
              <a:rPr lang="en-US" b="1" dirty="0" err="1"/>
              <a:t>همروندی</a:t>
            </a:r>
            <a:r>
              <a:rPr lang="en-US" b="1" dirty="0"/>
              <a:t> (Concurrency-Control Manager)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استفاده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سازوکارهایی</a:t>
            </a:r>
            <a:r>
              <a:rPr lang="en-US" dirty="0"/>
              <a:t> </a:t>
            </a:r>
            <a:r>
              <a:rPr lang="en-US" dirty="0" err="1"/>
              <a:t>مانند</a:t>
            </a:r>
            <a:r>
              <a:rPr lang="en-US" dirty="0"/>
              <a:t> </a:t>
            </a:r>
            <a:r>
              <a:rPr lang="en-US" b="1" dirty="0"/>
              <a:t>Locking</a:t>
            </a:r>
            <a:r>
              <a:rPr lang="en-US" dirty="0"/>
              <a:t> </a:t>
            </a:r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b="1" dirty="0"/>
              <a:t>Timestamp Ordering</a:t>
            </a:r>
            <a:r>
              <a:rPr lang="en-US" dirty="0"/>
              <a:t> </a:t>
            </a:r>
            <a:r>
              <a:rPr lang="en-US" dirty="0" err="1"/>
              <a:t>ترتیب</a:t>
            </a:r>
            <a:r>
              <a:rPr lang="en-US" dirty="0"/>
              <a:t> </a:t>
            </a:r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dirty="0" err="1"/>
              <a:t>نحوه</a:t>
            </a:r>
            <a:r>
              <a:rPr lang="en-US" dirty="0"/>
              <a:t> </a:t>
            </a:r>
            <a:r>
              <a:rPr lang="en-US" dirty="0" err="1"/>
              <a:t>اجرای</a:t>
            </a:r>
            <a:r>
              <a:rPr lang="en-US" dirty="0"/>
              <a:t> </a:t>
            </a:r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تراکنش‌ها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کنترل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 </a:t>
            </a:r>
            <a:r>
              <a:rPr lang="en-US" dirty="0" err="1"/>
              <a:t>تا</a:t>
            </a:r>
            <a:r>
              <a:rPr lang="en-US" dirty="0"/>
              <a:t> </a:t>
            </a:r>
            <a:r>
              <a:rPr lang="en-US" dirty="0" err="1"/>
              <a:t>تراکنش‌ها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یکدیگر</a:t>
            </a:r>
            <a:r>
              <a:rPr lang="en-US" dirty="0"/>
              <a:t> </a:t>
            </a:r>
            <a:r>
              <a:rPr lang="en-US" dirty="0" err="1"/>
              <a:t>تداخل</a:t>
            </a:r>
            <a:r>
              <a:rPr lang="en-US" dirty="0"/>
              <a:t> </a:t>
            </a:r>
            <a:r>
              <a:rPr lang="en-US" dirty="0" err="1"/>
              <a:t>نداشته</a:t>
            </a:r>
            <a:r>
              <a:rPr lang="en-US" dirty="0"/>
              <a:t> </a:t>
            </a:r>
            <a:r>
              <a:rPr lang="en-US" dirty="0" err="1"/>
              <a:t>باشند</a:t>
            </a:r>
            <a:r>
              <a:rPr lang="en-US" dirty="0"/>
              <a:t> و </a:t>
            </a:r>
            <a:r>
              <a:rPr lang="en-US" b="1" dirty="0" err="1"/>
              <a:t>سازگاری</a:t>
            </a:r>
            <a:r>
              <a:rPr lang="en-US" b="1" dirty="0"/>
              <a:t> (Consistency)</a:t>
            </a:r>
            <a:r>
              <a:rPr lang="en-US" dirty="0"/>
              <a:t> </a:t>
            </a:r>
            <a:r>
              <a:rPr lang="en-US" dirty="0" err="1"/>
              <a:t>پایگاه</a:t>
            </a:r>
            <a:r>
              <a:rPr lang="en-US" dirty="0"/>
              <a:t> </a:t>
            </a:r>
            <a:r>
              <a:rPr lang="en-US" dirty="0" err="1"/>
              <a:t>داده</a:t>
            </a:r>
            <a:r>
              <a:rPr lang="en-US" dirty="0"/>
              <a:t> </a:t>
            </a:r>
            <a:r>
              <a:rPr lang="en-US" dirty="0" err="1"/>
              <a:t>حفظ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به‌صورت</a:t>
            </a:r>
            <a:r>
              <a:rPr lang="en-US" dirty="0"/>
              <a:t> </a:t>
            </a:r>
            <a:r>
              <a:rPr lang="en-US" dirty="0" err="1"/>
              <a:t>خلاصه</a:t>
            </a:r>
            <a:r>
              <a:rPr lang="en-US" dirty="0"/>
              <a:t>:</a:t>
            </a:r>
          </a:p>
          <a:p>
            <a:pPr algn="r" rtl="1"/>
            <a:r>
              <a:rPr lang="en-US" b="1" dirty="0"/>
              <a:t>Concurrency-Control Manager = </a:t>
            </a:r>
            <a:r>
              <a:rPr lang="en-US" b="1" dirty="0" err="1"/>
              <a:t>جلوگیری</a:t>
            </a:r>
            <a:r>
              <a:rPr lang="en-US" b="1" dirty="0"/>
              <a:t> </a:t>
            </a:r>
            <a:r>
              <a:rPr lang="en-US" b="1" dirty="0" err="1"/>
              <a:t>از</a:t>
            </a:r>
            <a:r>
              <a:rPr lang="en-US" b="1" dirty="0"/>
              <a:t> </a:t>
            </a:r>
            <a:r>
              <a:rPr lang="en-US" b="1" dirty="0" err="1"/>
              <a:t>تداخل</a:t>
            </a:r>
            <a:r>
              <a:rPr lang="en-US" b="1" dirty="0"/>
              <a:t> </a:t>
            </a:r>
            <a:r>
              <a:rPr lang="en-US" b="1" dirty="0" err="1"/>
              <a:t>تراکنش‌های</a:t>
            </a:r>
            <a:r>
              <a:rPr lang="en-US" b="1" dirty="0"/>
              <a:t> </a:t>
            </a:r>
            <a:r>
              <a:rPr lang="en-US" b="1" dirty="0" err="1"/>
              <a:t>همزمان</a:t>
            </a:r>
            <a:r>
              <a:rPr lang="en-US" b="1" dirty="0"/>
              <a:t> و </a:t>
            </a:r>
            <a:r>
              <a:rPr lang="en-US" b="1" dirty="0" err="1"/>
              <a:t>حفظ</a:t>
            </a:r>
            <a:r>
              <a:rPr lang="en-US" b="1" dirty="0"/>
              <a:t> </a:t>
            </a:r>
            <a:r>
              <a:rPr lang="en-US" b="1" dirty="0" err="1"/>
              <a:t>سازگاری</a:t>
            </a:r>
            <a:r>
              <a:rPr lang="en-US" b="1" dirty="0"/>
              <a:t> </a:t>
            </a:r>
            <a:r>
              <a:rPr lang="en-US" b="1" dirty="0" err="1"/>
              <a:t>داده‌ها</a:t>
            </a:r>
            <a:r>
              <a:rPr lang="en-US" b="1" dirty="0"/>
              <a:t>.</a:t>
            </a:r>
            <a:endParaRPr lang="en-US" dirty="0"/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97128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C2F2B756-9213-4637-9F3D-8CD40917EA0A}" type="slidenum">
              <a:rPr lang="en-US" altLang="en-US" sz="1200"/>
              <a:pPr algn="r"/>
              <a:t>29</a:t>
            </a:fld>
            <a:endParaRPr lang="en-US" altLang="en-US" sz="1200" dirty="0"/>
          </a:p>
        </p:txBody>
      </p:sp>
      <p:sp>
        <p:nvSpPr>
          <p:cNvPr id="62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24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fa-IR" b="1" dirty="0"/>
              <a:t>پایگاه‌های داده موازی (</a:t>
            </a:r>
            <a:r>
              <a:rPr lang="en-US" b="1" dirty="0"/>
              <a:t>Parallel Databases)</a:t>
            </a:r>
          </a:p>
          <a:p>
            <a:pPr algn="r" rtl="1"/>
            <a:r>
              <a:rPr lang="fa-IR" b="1" dirty="0"/>
              <a:t>ویژگی‌ها:</a:t>
            </a:r>
            <a:endParaRPr lang="fa-IR" dirty="0"/>
          </a:p>
          <a:p>
            <a:pPr algn="r" rtl="1"/>
            <a:r>
              <a:rPr lang="fa-IR" dirty="0"/>
              <a:t>برای پردازش سریع‌تر از چندین پردازنده (</a:t>
            </a:r>
            <a:r>
              <a:rPr lang="en-US" dirty="0"/>
              <a:t>CPU) </a:t>
            </a:r>
            <a:r>
              <a:rPr lang="fa-IR" dirty="0"/>
              <a:t>یا گره (</a:t>
            </a:r>
            <a:r>
              <a:rPr lang="en-US" dirty="0"/>
              <a:t>Node) </a:t>
            </a:r>
            <a:r>
              <a:rPr lang="fa-IR" dirty="0"/>
              <a:t>به‌صورت هم‌زمان استفاده می‌شود.</a:t>
            </a:r>
          </a:p>
          <a:p>
            <a:pPr algn="r" rtl="1"/>
            <a:r>
              <a:rPr lang="fa-IR" dirty="0"/>
              <a:t>هدف: افزایش کارایی از طریق «پردازش موازی».</a:t>
            </a:r>
          </a:p>
          <a:p>
            <a:pPr algn="r" rtl="1"/>
            <a:r>
              <a:rPr lang="fa-IR" dirty="0"/>
              <a:t>سه معماری متداول:</a:t>
            </a:r>
          </a:p>
          <a:p>
            <a:pPr lvl="1" algn="r" rtl="1"/>
            <a:r>
              <a:rPr lang="fa-IR" b="1" dirty="0"/>
              <a:t>حافظه مشترک (</a:t>
            </a:r>
            <a:r>
              <a:rPr lang="en-US" b="1" dirty="0"/>
              <a:t>Shared Memory)</a:t>
            </a:r>
            <a:endParaRPr lang="en-US" dirty="0"/>
          </a:p>
          <a:p>
            <a:pPr lvl="1" algn="r" rtl="1"/>
            <a:r>
              <a:rPr lang="fa-IR" b="1" dirty="0"/>
              <a:t>دیسک مشترک (</a:t>
            </a:r>
            <a:r>
              <a:rPr lang="en-US" b="1" dirty="0"/>
              <a:t>Shared Disk)</a:t>
            </a:r>
            <a:endParaRPr lang="en-US" dirty="0"/>
          </a:p>
          <a:p>
            <a:pPr lvl="1" algn="r" rtl="1"/>
            <a:r>
              <a:rPr lang="fa-IR" b="1" dirty="0"/>
              <a:t>بدون اشتراک (</a:t>
            </a:r>
            <a:r>
              <a:rPr lang="en-US" b="1" dirty="0"/>
              <a:t>Shared Nothing)</a:t>
            </a:r>
            <a:endParaRPr lang="en-US" dirty="0"/>
          </a:p>
          <a:p>
            <a:pPr algn="r" rtl="1"/>
            <a:r>
              <a:rPr lang="fa-IR" b="1" dirty="0"/>
              <a:t>مثال‌ها:</a:t>
            </a:r>
            <a:endParaRPr lang="fa-IR" dirty="0"/>
          </a:p>
          <a:p>
            <a:pPr algn="r" rtl="1"/>
            <a:r>
              <a:rPr lang="en-US" b="1" dirty="0"/>
              <a:t>Shared Memory:</a:t>
            </a:r>
            <a:r>
              <a:rPr lang="en-US" dirty="0"/>
              <a:t> </a:t>
            </a:r>
            <a:r>
              <a:rPr lang="fa-IR" dirty="0"/>
              <a:t>پایگاه داده </a:t>
            </a:r>
            <a:r>
              <a:rPr lang="en-US" dirty="0"/>
              <a:t>Oracle Parallel Server </a:t>
            </a:r>
            <a:r>
              <a:rPr lang="fa-IR" dirty="0"/>
              <a:t>روی یک سرور چند‌هسته‌ای.</a:t>
            </a:r>
          </a:p>
          <a:p>
            <a:pPr algn="r" rtl="1"/>
            <a:r>
              <a:rPr lang="en-US" b="1" dirty="0"/>
              <a:t>Shared Disk:</a:t>
            </a:r>
            <a:r>
              <a:rPr lang="en-US" dirty="0"/>
              <a:t> IBM DB2 </a:t>
            </a:r>
            <a:r>
              <a:rPr lang="en-US" dirty="0" err="1"/>
              <a:t>pureScale</a:t>
            </a:r>
            <a:r>
              <a:rPr lang="en-US" dirty="0"/>
              <a:t> </a:t>
            </a:r>
            <a:r>
              <a:rPr lang="fa-IR" dirty="0"/>
              <a:t>که چند سرور مختلف به یک فضای ذخیره‌سازی مشترک دسترسی دارند.</a:t>
            </a:r>
          </a:p>
          <a:p>
            <a:pPr algn="r" rtl="1"/>
            <a:r>
              <a:rPr lang="en-US" b="1" dirty="0"/>
              <a:t>Shared Nothing:</a:t>
            </a:r>
            <a:r>
              <a:rPr lang="en-US" dirty="0"/>
              <a:t> Amazon Redshift </a:t>
            </a:r>
            <a:r>
              <a:rPr lang="fa-IR" dirty="0"/>
              <a:t>یا </a:t>
            </a:r>
            <a:r>
              <a:rPr lang="en-US" dirty="0"/>
              <a:t>Google </a:t>
            </a:r>
            <a:r>
              <a:rPr lang="en-US" dirty="0" err="1"/>
              <a:t>BigQuery</a:t>
            </a:r>
            <a:r>
              <a:rPr lang="en-US" dirty="0"/>
              <a:t> </a:t>
            </a:r>
            <a:r>
              <a:rPr lang="fa-IR" dirty="0"/>
              <a:t>که هر گره مستقل عمل می‌کند و از طریق شبکه با گره‌های دیگر هماهنگ می‌شود.</a:t>
            </a:r>
          </a:p>
          <a:p>
            <a:pPr algn="r" rtl="1"/>
            <a:br>
              <a:rPr lang="fa-IR" dirty="0"/>
            </a:br>
            <a:endParaRPr lang="fa-IR" dirty="0"/>
          </a:p>
          <a:p>
            <a:pPr algn="r" rtl="1"/>
            <a:r>
              <a:rPr lang="fa-IR" b="1" dirty="0"/>
              <a:t>4. پایگاه‌های داده توزیع‌شده (</a:t>
            </a:r>
            <a:r>
              <a:rPr lang="en-US" b="1" dirty="0"/>
              <a:t>Distributed Databases)</a:t>
            </a:r>
          </a:p>
          <a:p>
            <a:pPr algn="r" rtl="1"/>
            <a:r>
              <a:rPr lang="fa-IR" b="1" dirty="0"/>
              <a:t>ویژگی‌ها:</a:t>
            </a:r>
            <a:endParaRPr lang="fa-IR" dirty="0"/>
          </a:p>
          <a:p>
            <a:pPr algn="r" rtl="1"/>
            <a:r>
              <a:rPr lang="fa-IR" dirty="0"/>
              <a:t>داده‌ها در چند مکان مختلف (از نظر جغرافیایی) ذخیره می‌شوند.</a:t>
            </a:r>
          </a:p>
          <a:p>
            <a:pPr algn="r" rtl="1"/>
            <a:r>
              <a:rPr lang="fa-IR" dirty="0"/>
              <a:t>هر مکان می‌تواند سرور مستقل داشته باشد.</a:t>
            </a:r>
          </a:p>
          <a:p>
            <a:pPr algn="r" rtl="1"/>
            <a:r>
              <a:rPr lang="fa-IR" dirty="0"/>
              <a:t>ممکن است تفاوت‌هایی در ساختار داده‌ها یا طرح‌واره وجود داشته باشد (</a:t>
            </a:r>
            <a:r>
              <a:rPr lang="en-US" b="1" dirty="0"/>
              <a:t>Schema/Data Heterogeneity</a:t>
            </a:r>
            <a:r>
              <a:rPr lang="en-US" dirty="0"/>
              <a:t>).</a:t>
            </a:r>
          </a:p>
          <a:p>
            <a:pPr algn="r" rtl="1"/>
            <a:r>
              <a:rPr lang="fa-IR" dirty="0"/>
              <a:t>هدف: دسترسی محلی سریع‌تر، افزونگی (</a:t>
            </a:r>
            <a:r>
              <a:rPr lang="en-US" dirty="0"/>
              <a:t>Redundancy) </a:t>
            </a:r>
            <a:r>
              <a:rPr lang="fa-IR" dirty="0"/>
              <a:t>و تحمل خطا (</a:t>
            </a:r>
            <a:r>
              <a:rPr lang="en-US" dirty="0"/>
              <a:t>Fault Tolerance).</a:t>
            </a:r>
          </a:p>
          <a:p>
            <a:pPr algn="r" rtl="1"/>
            <a:r>
              <a:rPr lang="fa-IR" b="1" dirty="0"/>
              <a:t>مثال:</a:t>
            </a:r>
            <a:br>
              <a:rPr lang="fa-IR" dirty="0"/>
            </a:br>
            <a:r>
              <a:rPr lang="fa-IR" dirty="0"/>
              <a:t>سیستم رزرواسیون خطوط هوایی یا فروشگاه‌های آنلاین جهانی مثل </a:t>
            </a:r>
            <a:r>
              <a:rPr lang="en-US" dirty="0"/>
              <a:t>Amazon.</a:t>
            </a:r>
          </a:p>
          <a:p>
            <a:pPr algn="r" rtl="1"/>
            <a:r>
              <a:rPr lang="fa-IR" dirty="0"/>
              <a:t>پایگاه داده در مراکز داده (</a:t>
            </a:r>
            <a:r>
              <a:rPr lang="en-US" dirty="0"/>
              <a:t>Data Center) </a:t>
            </a:r>
            <a:r>
              <a:rPr lang="fa-IR" dirty="0"/>
              <a:t>مختلف در سراسر جهان پخش شده تا کاربران هر منطقه سریع‌تر به داده‌ها دسترسی داشته باشند.</a:t>
            </a:r>
            <a:br>
              <a:rPr lang="fa-IR" dirty="0"/>
            </a:br>
            <a:r>
              <a:rPr lang="fa-IR" dirty="0"/>
              <a:t>نمونه فناوری‌ها: </a:t>
            </a:r>
            <a:r>
              <a:rPr lang="en-US" dirty="0"/>
              <a:t>Google Spanner، </a:t>
            </a:r>
            <a:r>
              <a:rPr lang="en-US" dirty="0" err="1"/>
              <a:t>CockroachDB</a:t>
            </a:r>
            <a:r>
              <a:rPr lang="en-US" dirty="0"/>
              <a:t>، Cassandra.</a:t>
            </a:r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35135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en-US" b="1" i="0" dirty="0"/>
              <a:t>🧩 </a:t>
            </a:r>
            <a:r>
              <a:rPr lang="fa-IR" b="1" i="0" dirty="0"/>
              <a:t>معماری سیستم مدیریت پایگاه داده</a:t>
            </a:r>
          </a:p>
          <a:p>
            <a:pPr algn="r" rtl="1"/>
            <a:r>
              <a:rPr lang="fa-IR" i="0" dirty="0"/>
              <a:t>سیستم </a:t>
            </a:r>
            <a:r>
              <a:rPr lang="en-US" i="0" dirty="0"/>
              <a:t>DBMS </a:t>
            </a:r>
            <a:r>
              <a:rPr lang="fa-IR" i="0" dirty="0"/>
              <a:t>از سه بخش اصلی تشکیل شده است:</a:t>
            </a:r>
          </a:p>
          <a:p>
            <a:pPr algn="r" rtl="1"/>
            <a:br>
              <a:rPr lang="fa-IR" i="0" dirty="0"/>
            </a:br>
            <a:endParaRPr lang="fa-IR" i="0" dirty="0"/>
          </a:p>
          <a:p>
            <a:pPr algn="r" rtl="1"/>
            <a:r>
              <a:rPr lang="fa-IR" b="1" i="0" dirty="0"/>
              <a:t>1. پردازشگر پرس‌وجو (</a:t>
            </a:r>
            <a:r>
              <a:rPr lang="en-US" b="1" i="0" dirty="0"/>
              <a:t>Query Processor)</a:t>
            </a:r>
          </a:p>
          <a:p>
            <a:pPr algn="r" rtl="1"/>
            <a:r>
              <a:rPr lang="fa-IR" i="0" dirty="0"/>
              <a:t>وظیفه: تفسیر و اجرای دستورات </a:t>
            </a:r>
            <a:r>
              <a:rPr lang="en-US" i="0" dirty="0"/>
              <a:t>SQL.</a:t>
            </a:r>
          </a:p>
          <a:p>
            <a:pPr algn="r" rtl="1"/>
            <a:r>
              <a:rPr lang="fa-IR" i="0" dirty="0"/>
              <a:t>اجزا:</a:t>
            </a:r>
          </a:p>
          <a:p>
            <a:pPr algn="r" rtl="1"/>
            <a:r>
              <a:rPr lang="en-US" b="1" i="0" dirty="0"/>
              <a:t>DDL Interpreter:</a:t>
            </a:r>
            <a:r>
              <a:rPr lang="en-US" i="0" dirty="0"/>
              <a:t> </a:t>
            </a:r>
            <a:r>
              <a:rPr lang="fa-IR" i="0" dirty="0"/>
              <a:t>اجرای دستورات ساختار داده مثل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CREATE TABLE</a:t>
            </a:r>
            <a:r>
              <a:rPr lang="en-US" i="0" dirty="0"/>
              <a:t>.</a:t>
            </a:r>
          </a:p>
          <a:p>
            <a:pPr algn="r" rtl="1"/>
            <a:r>
              <a:rPr lang="en-US" b="1" i="0" dirty="0"/>
              <a:t>DML Compiler:</a:t>
            </a:r>
            <a:r>
              <a:rPr lang="en-US" i="0" dirty="0"/>
              <a:t> </a:t>
            </a:r>
            <a:r>
              <a:rPr lang="fa-IR" i="0" dirty="0"/>
              <a:t>ترجمه دستورات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SELECT</a:t>
            </a:r>
            <a:r>
              <a:rPr lang="en-US" i="0" dirty="0"/>
              <a:t>,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INSERT</a:t>
            </a:r>
            <a:r>
              <a:rPr lang="en-US" i="0" dirty="0"/>
              <a:t>,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UPDATE</a:t>
            </a:r>
            <a:r>
              <a:rPr lang="en-US" i="0" dirty="0"/>
              <a:t>,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DELETE</a:t>
            </a:r>
            <a:r>
              <a:rPr lang="en-US" i="0" dirty="0"/>
              <a:t> </a:t>
            </a:r>
            <a:r>
              <a:rPr lang="fa-IR" i="0" dirty="0"/>
              <a:t>به طرح اجرایی بهینه.</a:t>
            </a:r>
          </a:p>
          <a:p>
            <a:pPr algn="r" rtl="1"/>
            <a:r>
              <a:rPr lang="en-US" b="1" i="0" dirty="0"/>
              <a:t>Query Evaluation Engine:</a:t>
            </a:r>
            <a:r>
              <a:rPr lang="en-US" i="0" dirty="0"/>
              <a:t> </a:t>
            </a:r>
            <a:r>
              <a:rPr lang="fa-IR" i="0" dirty="0"/>
              <a:t>اجرای طرح و برگرداندن نتیجه.</a:t>
            </a:r>
            <a:br>
              <a:rPr lang="fa-IR" i="0" dirty="0"/>
            </a:br>
            <a:r>
              <a:rPr lang="en-US" i="0" dirty="0"/>
              <a:t>📘 </a:t>
            </a:r>
            <a:r>
              <a:rPr lang="fa-IR" i="0" dirty="0"/>
              <a:t>مثال: اجرای دستور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SELECT name FROM Student WHERE GPA &gt; 3.5;</a:t>
            </a:r>
            <a:endParaRPr lang="en-US" i="0" dirty="0"/>
          </a:p>
          <a:p>
            <a:pPr algn="r" rtl="1"/>
            <a:br>
              <a:rPr lang="en-US" i="0" dirty="0"/>
            </a:br>
            <a:endParaRPr lang="en-US" i="0" dirty="0"/>
          </a:p>
          <a:p>
            <a:pPr algn="r" rtl="1"/>
            <a:r>
              <a:rPr lang="en-US" b="1" i="0" dirty="0"/>
              <a:t>2. </a:t>
            </a:r>
            <a:r>
              <a:rPr lang="fa-IR" b="1" i="0" dirty="0"/>
              <a:t>مدیر ذخیره‌سازی (</a:t>
            </a:r>
            <a:r>
              <a:rPr lang="en-US" b="1" i="0" dirty="0"/>
              <a:t>Storage Manager)</a:t>
            </a:r>
          </a:p>
          <a:p>
            <a:pPr algn="r" rtl="1"/>
            <a:r>
              <a:rPr lang="fa-IR" i="0" dirty="0"/>
              <a:t>وظیفه: مدیریت دسترسی ایمن، کنترل تراکنش‌ها و ارتباط با دیسک.</a:t>
            </a:r>
          </a:p>
          <a:p>
            <a:pPr algn="r" rtl="1"/>
            <a:r>
              <a:rPr lang="fa-IR" i="0" dirty="0"/>
              <a:t>اجزا:</a:t>
            </a:r>
          </a:p>
          <a:p>
            <a:pPr algn="r" rtl="1"/>
            <a:r>
              <a:rPr lang="en-US" b="1" i="0" dirty="0"/>
              <a:t>Authorization &amp; Integrity Manager:</a:t>
            </a:r>
            <a:r>
              <a:rPr lang="en-US" i="0" dirty="0"/>
              <a:t> </a:t>
            </a:r>
            <a:r>
              <a:rPr lang="fa-IR" i="0" dirty="0"/>
              <a:t>بررسی مجوزها و قیود.</a:t>
            </a:r>
          </a:p>
          <a:p>
            <a:pPr algn="r" rtl="1"/>
            <a:r>
              <a:rPr lang="en-US" b="1" i="0" dirty="0"/>
              <a:t>Transaction Manager:</a:t>
            </a:r>
            <a:r>
              <a:rPr lang="en-US" i="0" dirty="0"/>
              <a:t> </a:t>
            </a:r>
            <a:r>
              <a:rPr lang="fa-IR" i="0" dirty="0"/>
              <a:t>حفظ ویژگی‌های </a:t>
            </a:r>
            <a:r>
              <a:rPr lang="en-US" i="0" dirty="0"/>
              <a:t>ACID </a:t>
            </a:r>
            <a:r>
              <a:rPr lang="fa-IR" i="0" dirty="0"/>
              <a:t>در تراکنش‌ها.</a:t>
            </a:r>
          </a:p>
          <a:p>
            <a:pPr algn="r" rtl="1"/>
            <a:r>
              <a:rPr lang="en-US" b="1" i="0" dirty="0"/>
              <a:t>File Manager:</a:t>
            </a:r>
            <a:r>
              <a:rPr lang="en-US" i="0" dirty="0"/>
              <a:t> </a:t>
            </a:r>
            <a:r>
              <a:rPr lang="fa-IR" i="0" dirty="0"/>
              <a:t>سازماندهی فایل‌های داده روی دیسک.</a:t>
            </a:r>
          </a:p>
          <a:p>
            <a:pPr algn="r" rtl="1"/>
            <a:r>
              <a:rPr lang="en-US" b="1" i="0" dirty="0"/>
              <a:t>Buffer Manager:</a:t>
            </a:r>
            <a:r>
              <a:rPr lang="en-US" i="0" dirty="0"/>
              <a:t> </a:t>
            </a:r>
            <a:r>
              <a:rPr lang="fa-IR" i="0" dirty="0"/>
              <a:t>نگهداری داده‌های پرکاربرد در حافظه برای افزایش سرعت.</a:t>
            </a:r>
          </a:p>
          <a:p>
            <a:pPr algn="r" rtl="1"/>
            <a:r>
              <a:rPr lang="en-US" i="0" dirty="0"/>
              <a:t>📘 </a:t>
            </a:r>
            <a:r>
              <a:rPr lang="fa-IR" i="0" dirty="0"/>
              <a:t>مثال: اگر انتقال پول بین دو حساب نیمه‌کاره بماند، مدیر تراکنش مانع از ثبت ناقص می‌شود.</a:t>
            </a:r>
          </a:p>
          <a:p>
            <a:pPr algn="r" rtl="1"/>
            <a:br>
              <a:rPr lang="fa-IR" i="0" dirty="0"/>
            </a:br>
            <a:endParaRPr lang="fa-IR" i="0" dirty="0"/>
          </a:p>
          <a:p>
            <a:pPr algn="r" rtl="1"/>
            <a:r>
              <a:rPr lang="fa-IR" b="1" i="0" dirty="0"/>
              <a:t>3. ذخیره‌سازی دیسک (</a:t>
            </a:r>
            <a:r>
              <a:rPr lang="en-US" b="1" i="0" dirty="0"/>
              <a:t>Disk Storage)</a:t>
            </a:r>
          </a:p>
          <a:p>
            <a:pPr algn="r" rtl="1"/>
            <a:r>
              <a:rPr lang="fa-IR" i="0" dirty="0"/>
              <a:t>حاوی داده‌های واقعی و اطلاعات پشتیبان.</a:t>
            </a:r>
          </a:p>
          <a:p>
            <a:pPr algn="r" rtl="1"/>
            <a:r>
              <a:rPr lang="fa-IR" i="0" dirty="0"/>
              <a:t>اجزا:</a:t>
            </a:r>
          </a:p>
          <a:p>
            <a:pPr algn="r" rtl="1"/>
            <a:r>
              <a:rPr lang="en-US" b="1" i="0" dirty="0"/>
              <a:t>Data:</a:t>
            </a:r>
            <a:r>
              <a:rPr lang="en-US" i="0" dirty="0"/>
              <a:t> </a:t>
            </a:r>
            <a:r>
              <a:rPr lang="fa-IR" i="0" dirty="0"/>
              <a:t>داده‌های اصلی.</a:t>
            </a:r>
          </a:p>
          <a:p>
            <a:pPr algn="r" rtl="1"/>
            <a:r>
              <a:rPr lang="en-US" b="1" i="0" dirty="0"/>
              <a:t>Indices:</a:t>
            </a:r>
            <a:r>
              <a:rPr lang="en-US" i="0" dirty="0"/>
              <a:t> </a:t>
            </a:r>
            <a:r>
              <a:rPr lang="fa-IR" i="0" dirty="0"/>
              <a:t>شاخص‌ها برای جست‌وجوی سریع‌تر.</a:t>
            </a:r>
          </a:p>
          <a:p>
            <a:pPr algn="r" rtl="1"/>
            <a:r>
              <a:rPr lang="en-US" b="1" i="0" dirty="0"/>
              <a:t>Data Dictionary:</a:t>
            </a:r>
            <a:r>
              <a:rPr lang="en-US" i="0" dirty="0"/>
              <a:t> </a:t>
            </a:r>
            <a:r>
              <a:rPr lang="fa-IR" i="0" dirty="0"/>
              <a:t>اطلاعات درباره‌ی جداول و ساختار پایگاه داده.</a:t>
            </a:r>
          </a:p>
          <a:p>
            <a:pPr algn="r" rtl="1"/>
            <a:r>
              <a:rPr lang="en-US" b="1" i="0" dirty="0"/>
              <a:t>Statistical Data:</a:t>
            </a:r>
            <a:r>
              <a:rPr lang="en-US" i="0" dirty="0"/>
              <a:t> </a:t>
            </a:r>
            <a:r>
              <a:rPr lang="fa-IR" i="0" dirty="0"/>
              <a:t>آمار برای بهینه‌سازی پرس‌وجو.</a:t>
            </a:r>
          </a:p>
          <a:p>
            <a:pPr algn="r" rtl="1"/>
            <a:r>
              <a:rPr lang="en-US" i="0" dirty="0"/>
              <a:t>📘 </a:t>
            </a:r>
            <a:r>
              <a:rPr lang="fa-IR" i="0" dirty="0"/>
              <a:t>مثال: شاخص روی ستون </a:t>
            </a:r>
            <a:r>
              <a:rPr lang="en-US" i="0" dirty="0"/>
              <a:t>GPA </a:t>
            </a:r>
            <a:r>
              <a:rPr lang="fa-IR" i="0" dirty="0"/>
              <a:t>باعث سریع‌تر شدن جست‌وجوی دانشجویان ممتاز می‌شود.</a:t>
            </a:r>
          </a:p>
          <a:p>
            <a:pPr algn="r" rtl="1"/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E66C03C-4B0E-4149-8287-A3B340EB818D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77529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C2F2B756-9213-4637-9F3D-8CD40917EA0A}" type="slidenum">
              <a:rPr lang="en-US" altLang="en-US" sz="1200"/>
              <a:pPr algn="r"/>
              <a:t>31</a:t>
            </a:fld>
            <a:endParaRPr lang="en-US" altLang="en-US" sz="1200" dirty="0"/>
          </a:p>
        </p:txBody>
      </p:sp>
      <p:sp>
        <p:nvSpPr>
          <p:cNvPr id="62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24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11032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E8F6CFE8-F4B8-4635-B9A3-190ADFF2F8A1}" type="slidenum">
              <a:rPr lang="en-US" altLang="en-US" sz="1200"/>
              <a:pPr algn="r"/>
              <a:t>32</a:t>
            </a:fld>
            <a:endParaRPr lang="en-US" altLang="en-US" sz="1200" dirty="0"/>
          </a:p>
        </p:txBody>
      </p:sp>
      <p:sp>
        <p:nvSpPr>
          <p:cNvPr id="60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04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fa-IR" b="1" dirty="0"/>
              <a:t>م</a:t>
            </a:r>
            <a:r>
              <a:rPr lang="en-US" b="1" dirty="0" err="1"/>
              <a:t>شکل</a:t>
            </a:r>
            <a:r>
              <a:rPr lang="en-US" b="1" dirty="0"/>
              <a:t> Two-Tier </a:t>
            </a:r>
            <a:r>
              <a:rPr lang="en-US" b="1" dirty="0" err="1"/>
              <a:t>چیست</a:t>
            </a:r>
            <a:r>
              <a:rPr lang="en-US" b="1" dirty="0"/>
              <a:t>؟</a:t>
            </a:r>
            <a:r>
              <a:rPr lang="fa-IR" b="1" dirty="0"/>
              <a:t> </a:t>
            </a:r>
            <a:r>
              <a:rPr lang="en-US" dirty="0" err="1"/>
              <a:t>برنامه</a:t>
            </a:r>
            <a:r>
              <a:rPr lang="en-US" dirty="0"/>
              <a:t> </a:t>
            </a:r>
            <a:r>
              <a:rPr lang="en-US" dirty="0" err="1"/>
              <a:t>مستقیماً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Database </a:t>
            </a:r>
            <a:r>
              <a:rPr lang="en-US" dirty="0" err="1"/>
              <a:t>صحبت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.</a:t>
            </a:r>
            <a:endParaRPr lang="en-US" b="1" dirty="0"/>
          </a:p>
          <a:p>
            <a:pPr algn="r" rtl="1"/>
            <a:r>
              <a:rPr lang="en-US" dirty="0" err="1"/>
              <a:t>اگر</a:t>
            </a:r>
            <a:r>
              <a:rPr lang="en-US" dirty="0"/>
              <a:t> 1000 </a:t>
            </a:r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داشته</a:t>
            </a:r>
            <a:r>
              <a:rPr lang="en-US" dirty="0"/>
              <a:t> </a:t>
            </a:r>
            <a:r>
              <a:rPr lang="en-US" dirty="0" err="1"/>
              <a:t>باشیم</a:t>
            </a:r>
            <a:r>
              <a:rPr lang="en-US" dirty="0"/>
              <a:t>: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User 1 ──┐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User 2 ──┤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User 3 ──┤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User 4 ──┤──→ Database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  ...    │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User 1000┘</a:t>
            </a:r>
          </a:p>
          <a:p>
            <a:pPr algn="r" rtl="1"/>
            <a:r>
              <a:rPr lang="en-US" dirty="0" err="1"/>
              <a:t>همه</a:t>
            </a:r>
            <a:r>
              <a:rPr lang="en-US" dirty="0"/>
              <a:t> </a:t>
            </a:r>
            <a:r>
              <a:rPr lang="en-US" dirty="0" err="1"/>
              <a:t>برنامه‌ها</a:t>
            </a:r>
            <a:r>
              <a:rPr lang="en-US" dirty="0"/>
              <a:t> </a:t>
            </a:r>
            <a:r>
              <a:rPr lang="en-US" dirty="0" err="1"/>
              <a:t>مستقیماً</a:t>
            </a:r>
            <a:r>
              <a:rPr lang="en-US" dirty="0"/>
              <a:t> </a:t>
            </a:r>
            <a:r>
              <a:rPr lang="en-US" dirty="0" err="1"/>
              <a:t>به</a:t>
            </a:r>
            <a:r>
              <a:rPr lang="en-US" dirty="0"/>
              <a:t> Database </a:t>
            </a:r>
            <a:r>
              <a:rPr lang="en-US" dirty="0" err="1"/>
              <a:t>متصل</a:t>
            </a:r>
            <a:r>
              <a:rPr lang="en-US" dirty="0"/>
              <a:t> </a:t>
            </a:r>
            <a:r>
              <a:rPr lang="en-US" dirty="0" err="1"/>
              <a:t>می‌شوند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موضوع</a:t>
            </a:r>
            <a:r>
              <a:rPr lang="en-US" dirty="0"/>
              <a:t> </a:t>
            </a:r>
            <a:r>
              <a:rPr lang="en-US" dirty="0" err="1"/>
              <a:t>می‌تواند</a:t>
            </a:r>
            <a:r>
              <a:rPr lang="en-US" dirty="0"/>
              <a:t> </a:t>
            </a:r>
            <a:r>
              <a:rPr lang="en-US" dirty="0" err="1"/>
              <a:t>باعث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:</a:t>
            </a:r>
          </a:p>
          <a:p>
            <a:pPr lvl="0" algn="r" rtl="1"/>
            <a:r>
              <a:rPr lang="en-US" dirty="0" err="1"/>
              <a:t>تعداد</a:t>
            </a:r>
            <a:r>
              <a:rPr lang="en-US" dirty="0"/>
              <a:t> </a:t>
            </a:r>
            <a:r>
              <a:rPr lang="en-US" dirty="0" err="1"/>
              <a:t>زیادی</a:t>
            </a:r>
            <a:r>
              <a:rPr lang="en-US" dirty="0"/>
              <a:t> Connection </a:t>
            </a:r>
            <a:r>
              <a:rPr lang="en-US" dirty="0" err="1"/>
              <a:t>به</a:t>
            </a:r>
            <a:r>
              <a:rPr lang="en-US" dirty="0"/>
              <a:t> Database </a:t>
            </a:r>
            <a:r>
              <a:rPr lang="en-US" dirty="0" err="1"/>
              <a:t>ایجاد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 </a:t>
            </a:r>
          </a:p>
          <a:p>
            <a:pPr lvl="0" algn="r" rtl="1"/>
            <a:r>
              <a:rPr lang="en-US" dirty="0" err="1"/>
              <a:t>مدیریت</a:t>
            </a:r>
            <a:r>
              <a:rPr lang="en-US" dirty="0"/>
              <a:t> </a:t>
            </a:r>
            <a:r>
              <a:rPr lang="en-US" dirty="0" err="1"/>
              <a:t>سیستم</a:t>
            </a:r>
            <a:r>
              <a:rPr lang="en-US" dirty="0"/>
              <a:t> </a:t>
            </a:r>
            <a:r>
              <a:rPr lang="en-US" dirty="0" err="1"/>
              <a:t>سخت‌تر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 </a:t>
            </a:r>
          </a:p>
          <a:p>
            <a:pPr lvl="0" algn="r" rtl="1"/>
            <a:r>
              <a:rPr lang="en-US" dirty="0" err="1"/>
              <a:t>امنیت</a:t>
            </a:r>
            <a:r>
              <a:rPr lang="en-US" dirty="0"/>
              <a:t> Database </a:t>
            </a:r>
            <a:r>
              <a:rPr lang="en-US" dirty="0" err="1"/>
              <a:t>دشوارتر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 </a:t>
            </a:r>
          </a:p>
          <a:p>
            <a:pPr lvl="0" algn="r" rtl="1"/>
            <a:r>
              <a:rPr lang="en-US" dirty="0" err="1"/>
              <a:t>منطق</a:t>
            </a:r>
            <a:r>
              <a:rPr lang="en-US" dirty="0"/>
              <a:t> </a:t>
            </a:r>
            <a:r>
              <a:rPr lang="en-US" dirty="0" err="1"/>
              <a:t>تجاری</a:t>
            </a:r>
            <a:r>
              <a:rPr lang="en-US" dirty="0"/>
              <a:t> </a:t>
            </a:r>
            <a:r>
              <a:rPr lang="en-US" dirty="0" err="1"/>
              <a:t>بین</a:t>
            </a:r>
            <a:r>
              <a:rPr lang="en-US" dirty="0"/>
              <a:t> </a:t>
            </a:r>
            <a:r>
              <a:rPr lang="en-US" dirty="0" err="1"/>
              <a:t>برنامه‌های</a:t>
            </a:r>
            <a:r>
              <a:rPr lang="en-US" dirty="0"/>
              <a:t> </a:t>
            </a:r>
            <a:r>
              <a:rPr lang="en-US" dirty="0" err="1"/>
              <a:t>مختلف</a:t>
            </a:r>
            <a:r>
              <a:rPr lang="en-US" dirty="0"/>
              <a:t> </a:t>
            </a:r>
            <a:r>
              <a:rPr lang="en-US" dirty="0" err="1"/>
              <a:t>پراکنده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 </a:t>
            </a:r>
          </a:p>
          <a:p>
            <a:pPr lvl="0" algn="r" rtl="1"/>
            <a:r>
              <a:rPr lang="en-US" dirty="0" err="1"/>
              <a:t>توسعه</a:t>
            </a:r>
            <a:r>
              <a:rPr lang="en-US" dirty="0"/>
              <a:t> و </a:t>
            </a:r>
            <a:r>
              <a:rPr lang="en-US" dirty="0" err="1"/>
              <a:t>نگهداری</a:t>
            </a:r>
            <a:r>
              <a:rPr lang="en-US" dirty="0"/>
              <a:t> </a:t>
            </a:r>
            <a:r>
              <a:rPr lang="en-US" dirty="0" err="1"/>
              <a:t>سیستم</a:t>
            </a:r>
            <a:r>
              <a:rPr lang="en-US" dirty="0"/>
              <a:t> </a:t>
            </a:r>
            <a:r>
              <a:rPr lang="en-US" dirty="0" err="1"/>
              <a:t>پیچیده‌تر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 </a:t>
            </a:r>
          </a:p>
          <a:p>
            <a:pPr algn="r" rtl="1"/>
            <a:r>
              <a:rPr lang="en-US" dirty="0" err="1"/>
              <a:t>به</a:t>
            </a:r>
            <a:r>
              <a:rPr lang="en-US" dirty="0"/>
              <a:t> </a:t>
            </a:r>
            <a:r>
              <a:rPr lang="en-US" dirty="0" err="1"/>
              <a:t>همین</a:t>
            </a:r>
            <a:r>
              <a:rPr lang="en-US" dirty="0"/>
              <a:t> </a:t>
            </a:r>
            <a:r>
              <a:rPr lang="en-US" dirty="0" err="1"/>
              <a:t>دلیل</a:t>
            </a:r>
            <a:r>
              <a:rPr lang="en-US" dirty="0"/>
              <a:t> </a:t>
            </a:r>
            <a:r>
              <a:rPr lang="en-US" dirty="0" err="1"/>
              <a:t>معماری</a:t>
            </a:r>
            <a:r>
              <a:rPr lang="en-US" dirty="0"/>
              <a:t> </a:t>
            </a:r>
            <a:r>
              <a:rPr lang="en-US" b="1" dirty="0"/>
              <a:t>Three-Tier</a:t>
            </a:r>
            <a:r>
              <a:rPr lang="en-US" dirty="0"/>
              <a:t> </a:t>
            </a:r>
            <a:r>
              <a:rPr lang="en-US" dirty="0" err="1"/>
              <a:t>مطرح</a:t>
            </a:r>
            <a:r>
              <a:rPr lang="en-US" dirty="0"/>
              <a:t> </a:t>
            </a:r>
            <a:r>
              <a:rPr lang="en-US" dirty="0" err="1"/>
              <a:t>شد</a:t>
            </a:r>
            <a:r>
              <a:rPr lang="en-US" dirty="0"/>
              <a:t>.</a:t>
            </a:r>
          </a:p>
          <a:p>
            <a:pPr algn="r" rtl="1"/>
            <a:endParaRPr lang="fa-IR" altLang="en-US" dirty="0">
              <a:latin typeface="Times New Roman" panose="02020603050405020304" pitchFamily="18" charset="0"/>
            </a:endParaRPr>
          </a:p>
          <a:p>
            <a:pPr algn="r" rtl="1"/>
            <a:r>
              <a:rPr lang="en-US" b="1" dirty="0"/>
              <a:t>4. Application Client و Application Server </a:t>
            </a:r>
            <a:r>
              <a:rPr lang="en-US" b="1" dirty="0" err="1"/>
              <a:t>چه</a:t>
            </a:r>
            <a:r>
              <a:rPr lang="en-US" b="1" dirty="0"/>
              <a:t> </a:t>
            </a:r>
            <a:r>
              <a:rPr lang="en-US" b="1" dirty="0" err="1"/>
              <a:t>هستند</a:t>
            </a:r>
            <a:r>
              <a:rPr lang="en-US" b="1" dirty="0"/>
              <a:t>؟</a:t>
            </a:r>
          </a:p>
          <a:p>
            <a:pPr algn="r" rtl="1"/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قسمت</a:t>
            </a:r>
            <a:r>
              <a:rPr lang="en-US" dirty="0"/>
              <a:t> </a:t>
            </a:r>
            <a:r>
              <a:rPr lang="en-US" dirty="0" err="1"/>
              <a:t>شکل</a:t>
            </a:r>
            <a:r>
              <a:rPr lang="en-US" dirty="0"/>
              <a:t> </a:t>
            </a:r>
            <a:r>
              <a:rPr lang="en-US" dirty="0" err="1"/>
              <a:t>ممکن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 </a:t>
            </a:r>
            <a:r>
              <a:rPr lang="en-US" dirty="0" err="1"/>
              <a:t>کمی</a:t>
            </a:r>
            <a:r>
              <a:rPr lang="en-US" dirty="0"/>
              <a:t> </a:t>
            </a:r>
            <a:r>
              <a:rPr lang="en-US" dirty="0" err="1"/>
              <a:t>گیج‌کننده</a:t>
            </a:r>
            <a:r>
              <a:rPr lang="en-US" dirty="0"/>
              <a:t> </a:t>
            </a:r>
            <a:r>
              <a:rPr lang="en-US" dirty="0" err="1"/>
              <a:t>باشد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Application Client</a:t>
            </a:r>
          </a:p>
          <a:p>
            <a:pPr algn="r" rtl="1"/>
            <a:r>
              <a:rPr lang="en-US" dirty="0" err="1"/>
              <a:t>چیزی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</a:t>
            </a:r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آن</a:t>
            </a:r>
            <a:r>
              <a:rPr lang="en-US" dirty="0"/>
              <a:t> </a:t>
            </a:r>
            <a:r>
              <a:rPr lang="en-US" dirty="0" err="1"/>
              <a:t>تعامل</a:t>
            </a:r>
            <a:r>
              <a:rPr lang="en-US" dirty="0"/>
              <a:t> </a:t>
            </a:r>
            <a:r>
              <a:rPr lang="en-US" dirty="0" err="1"/>
              <a:t>دارد</a:t>
            </a:r>
            <a:r>
              <a:rPr lang="en-US" dirty="0"/>
              <a:t>.</a:t>
            </a:r>
          </a:p>
          <a:p>
            <a:pPr algn="r" rtl="1"/>
            <a:endParaRPr lang="fa-IR" altLang="en-US" dirty="0">
              <a:latin typeface="Times New Roman" panose="02020603050405020304" pitchFamily="18" charset="0"/>
            </a:endParaRPr>
          </a:p>
          <a:p>
            <a:pPr algn="r" rtl="1"/>
            <a:r>
              <a:rPr lang="en-US" b="1" dirty="0" err="1"/>
              <a:t>تشبیه</a:t>
            </a:r>
            <a:r>
              <a:rPr lang="en-US" b="1" dirty="0"/>
              <a:t> </a:t>
            </a:r>
            <a:r>
              <a:rPr lang="en-US" b="1" dirty="0" err="1"/>
              <a:t>خیلی</a:t>
            </a:r>
            <a:r>
              <a:rPr lang="en-US" b="1" dirty="0"/>
              <a:t> </a:t>
            </a:r>
            <a:r>
              <a:rPr lang="en-US" b="1" dirty="0" err="1"/>
              <a:t>ساده</a:t>
            </a:r>
            <a:endParaRPr lang="en-US" b="1" dirty="0"/>
          </a:p>
          <a:p>
            <a:pPr algn="r" rtl="1"/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b="1" dirty="0" err="1"/>
              <a:t>رستوران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تصور</a:t>
            </a:r>
            <a:r>
              <a:rPr lang="en-US" dirty="0"/>
              <a:t> </a:t>
            </a:r>
            <a:r>
              <a:rPr lang="en-US" dirty="0" err="1"/>
              <a:t>کنید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Two-Tier</a:t>
            </a:r>
          </a:p>
          <a:p>
            <a:pPr algn="r" rtl="1"/>
            <a:r>
              <a:rPr lang="en-US" dirty="0" err="1"/>
              <a:t>مشتری</a:t>
            </a:r>
            <a:r>
              <a:rPr lang="en-US" dirty="0"/>
              <a:t> </a:t>
            </a:r>
            <a:r>
              <a:rPr lang="en-US" dirty="0" err="1"/>
              <a:t>مستقیماً</a:t>
            </a:r>
            <a:r>
              <a:rPr lang="en-US" dirty="0"/>
              <a:t> </a:t>
            </a:r>
            <a:r>
              <a:rPr lang="en-US" dirty="0" err="1"/>
              <a:t>وارد</a:t>
            </a:r>
            <a:r>
              <a:rPr lang="en-US" dirty="0"/>
              <a:t> </a:t>
            </a:r>
            <a:r>
              <a:rPr lang="en-US" dirty="0" err="1"/>
              <a:t>آشپزخانه</a:t>
            </a:r>
            <a:r>
              <a:rPr lang="en-US" dirty="0"/>
              <a:t> </a:t>
            </a:r>
            <a:r>
              <a:rPr lang="en-US" dirty="0" err="1"/>
              <a:t>می‌شود</a:t>
            </a:r>
            <a:r>
              <a:rPr lang="en-US" dirty="0"/>
              <a:t>:</a:t>
            </a:r>
          </a:p>
          <a:p>
            <a:pPr algn="r" rtl="1"/>
            <a:r>
              <a:rPr lang="en-US" sz="1200" kern="1200" dirty="0" err="1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مشتری</a:t>
            </a:r>
            <a:endParaRPr lang="en-US" sz="1200" kern="1200" dirty="0">
              <a:solidFill>
                <a:schemeClr val="tx1"/>
              </a:solidFill>
              <a:latin typeface="Times New Roman" charset="0"/>
              <a:ea typeface="MS PGothic" panose="020B0600070205080204" pitchFamily="34" charset="-128"/>
              <a:cs typeface="ＭＳ Ｐゴシック" charset="0"/>
            </a:endParaRP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 ↓</a:t>
            </a:r>
          </a:p>
          <a:p>
            <a:pPr algn="r" rtl="1"/>
            <a:r>
              <a:rPr lang="en-US" sz="1200" kern="1200" dirty="0" err="1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آشپزخانه</a:t>
            </a:r>
            <a:endParaRPr lang="en-US" sz="1200" kern="1200" dirty="0">
              <a:solidFill>
                <a:schemeClr val="tx1"/>
              </a:solidFill>
              <a:latin typeface="Times New Roman" charset="0"/>
              <a:ea typeface="MS PGothic" panose="020B0600070205080204" pitchFamily="34" charset="-128"/>
              <a:cs typeface="ＭＳ Ｐゴシック" charset="0"/>
            </a:endParaRPr>
          </a:p>
          <a:p>
            <a:pPr algn="r" rtl="1"/>
            <a:r>
              <a:rPr lang="en-US" dirty="0" err="1"/>
              <a:t>مشتری</a:t>
            </a:r>
            <a:r>
              <a:rPr lang="en-US" dirty="0"/>
              <a:t> </a:t>
            </a:r>
            <a:r>
              <a:rPr lang="en-US" dirty="0" err="1"/>
              <a:t>مستقیماً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آشپزخانه</a:t>
            </a:r>
            <a:r>
              <a:rPr lang="en-US" dirty="0"/>
              <a:t> </a:t>
            </a:r>
            <a:r>
              <a:rPr lang="en-US" dirty="0" err="1"/>
              <a:t>ارتباط</a:t>
            </a:r>
            <a:r>
              <a:rPr lang="en-US" dirty="0"/>
              <a:t> </a:t>
            </a:r>
            <a:r>
              <a:rPr lang="en-US" dirty="0" err="1"/>
              <a:t>دارد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Three-Tier</a:t>
            </a:r>
          </a:p>
          <a:p>
            <a:pPr algn="r" rtl="1"/>
            <a:r>
              <a:rPr lang="en-US" dirty="0" err="1"/>
              <a:t>رستوران</a:t>
            </a:r>
            <a:r>
              <a:rPr lang="en-US" dirty="0"/>
              <a:t> </a:t>
            </a:r>
            <a:r>
              <a:rPr lang="en-US" dirty="0" err="1"/>
              <a:t>عادی</a:t>
            </a:r>
            <a:r>
              <a:rPr lang="en-US" dirty="0"/>
              <a:t>:</a:t>
            </a:r>
          </a:p>
          <a:p>
            <a:pPr algn="r" rtl="1"/>
            <a:r>
              <a:rPr lang="en-US" sz="1200" kern="1200" dirty="0" err="1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مشتری</a:t>
            </a:r>
            <a:endParaRPr lang="en-US" sz="1200" kern="1200" dirty="0">
              <a:solidFill>
                <a:schemeClr val="tx1"/>
              </a:solidFill>
              <a:latin typeface="Times New Roman" charset="0"/>
              <a:ea typeface="MS PGothic" panose="020B0600070205080204" pitchFamily="34" charset="-128"/>
              <a:cs typeface="ＭＳ Ｐゴシック" charset="0"/>
            </a:endParaRP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 ↓</a:t>
            </a:r>
          </a:p>
          <a:p>
            <a:pPr algn="r" rtl="1"/>
            <a:r>
              <a:rPr lang="en-US" sz="1200" kern="1200" dirty="0" err="1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پیشخدمت</a:t>
            </a:r>
            <a:endParaRPr lang="en-US" sz="1200" kern="1200" dirty="0">
              <a:solidFill>
                <a:schemeClr val="tx1"/>
              </a:solidFill>
              <a:latin typeface="Times New Roman" charset="0"/>
              <a:ea typeface="MS PGothic" panose="020B0600070205080204" pitchFamily="34" charset="-128"/>
              <a:cs typeface="ＭＳ Ｐゴシック" charset="0"/>
            </a:endParaRP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 ↓</a:t>
            </a:r>
          </a:p>
          <a:p>
            <a:pPr algn="r" rtl="1"/>
            <a:r>
              <a:rPr lang="en-US" sz="1200" kern="1200" dirty="0" err="1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آشپزخانه</a:t>
            </a:r>
            <a:endParaRPr lang="en-US" sz="1200" kern="1200" dirty="0">
              <a:solidFill>
                <a:schemeClr val="tx1"/>
              </a:solidFill>
              <a:latin typeface="Times New Roman" charset="0"/>
              <a:ea typeface="MS PGothic" panose="020B0600070205080204" pitchFamily="34" charset="-128"/>
              <a:cs typeface="ＭＳ Ｐゴシック" charset="0"/>
            </a:endParaRPr>
          </a:p>
          <a:p>
            <a:pPr algn="r" rtl="1"/>
            <a:r>
              <a:rPr lang="en-US" dirty="0" err="1"/>
              <a:t>اینجا</a:t>
            </a:r>
            <a:r>
              <a:rPr lang="en-US" dirty="0"/>
              <a:t>:</a:t>
            </a:r>
          </a:p>
          <a:p>
            <a:pPr lvl="0" algn="r" rtl="1"/>
            <a:r>
              <a:rPr lang="en-US" b="1" dirty="0" err="1"/>
              <a:t>مشتری</a:t>
            </a:r>
            <a:r>
              <a:rPr lang="en-US" b="1" dirty="0"/>
              <a:t> = User</a:t>
            </a:r>
            <a:r>
              <a:rPr lang="en-US" dirty="0"/>
              <a:t> </a:t>
            </a:r>
          </a:p>
          <a:p>
            <a:pPr lvl="0" algn="r" rtl="1"/>
            <a:r>
              <a:rPr lang="en-US" b="1" dirty="0" err="1"/>
              <a:t>پیشخدمت</a:t>
            </a:r>
            <a:r>
              <a:rPr lang="en-US" b="1" dirty="0"/>
              <a:t> = Application Server</a:t>
            </a:r>
            <a:r>
              <a:rPr lang="en-US" dirty="0"/>
              <a:t> </a:t>
            </a:r>
          </a:p>
          <a:p>
            <a:pPr lvl="0" algn="r" rtl="1"/>
            <a:r>
              <a:rPr lang="en-US" b="1" dirty="0" err="1"/>
              <a:t>آشپزخانه</a:t>
            </a:r>
            <a:r>
              <a:rPr lang="en-US" b="1" dirty="0"/>
              <a:t> = Database</a:t>
            </a:r>
            <a:r>
              <a:rPr lang="en-US" dirty="0"/>
              <a:t> </a:t>
            </a:r>
          </a:p>
          <a:p>
            <a:pPr algn="r" rtl="1"/>
            <a:r>
              <a:rPr lang="en-US" dirty="0" err="1"/>
              <a:t>مشتری</a:t>
            </a:r>
            <a:r>
              <a:rPr lang="en-US" dirty="0"/>
              <a:t> </a:t>
            </a:r>
            <a:r>
              <a:rPr lang="en-US" dirty="0" err="1"/>
              <a:t>لازم</a:t>
            </a:r>
            <a:r>
              <a:rPr lang="en-US" dirty="0"/>
              <a:t> </a:t>
            </a:r>
            <a:r>
              <a:rPr lang="en-US" dirty="0" err="1"/>
              <a:t>نیست</a:t>
            </a:r>
            <a:r>
              <a:rPr lang="en-US" dirty="0"/>
              <a:t> </a:t>
            </a:r>
            <a:r>
              <a:rPr lang="en-US" dirty="0" err="1"/>
              <a:t>بداند</a:t>
            </a:r>
            <a:r>
              <a:rPr lang="en-US" dirty="0"/>
              <a:t> </a:t>
            </a:r>
            <a:r>
              <a:rPr lang="en-US" dirty="0" err="1"/>
              <a:t>غذا</a:t>
            </a:r>
            <a:r>
              <a:rPr lang="en-US" dirty="0"/>
              <a:t> </a:t>
            </a:r>
            <a:r>
              <a:rPr lang="en-US" dirty="0" err="1"/>
              <a:t>چگونه</a:t>
            </a:r>
            <a:r>
              <a:rPr lang="en-US" dirty="0"/>
              <a:t> </a:t>
            </a:r>
            <a:r>
              <a:rPr lang="en-US" dirty="0" err="1"/>
              <a:t>آماده</a:t>
            </a:r>
            <a:r>
              <a:rPr lang="en-US" dirty="0"/>
              <a:t> </a:t>
            </a:r>
            <a:r>
              <a:rPr lang="en-US" dirty="0" err="1"/>
              <a:t>می‌شود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مثلاً</a:t>
            </a:r>
            <a:r>
              <a:rPr lang="en-US" dirty="0"/>
              <a:t> </a:t>
            </a:r>
            <a:r>
              <a:rPr lang="en-US" dirty="0" err="1"/>
              <a:t>مشتری</a:t>
            </a:r>
            <a:r>
              <a:rPr lang="en-US" dirty="0"/>
              <a:t> </a:t>
            </a:r>
            <a:r>
              <a:rPr lang="en-US" dirty="0" err="1"/>
              <a:t>می‌گوید</a:t>
            </a:r>
            <a:r>
              <a:rPr lang="en-US" dirty="0"/>
              <a:t>:</a:t>
            </a:r>
          </a:p>
          <a:p>
            <a:pPr algn="r" rtl="1"/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dirty="0" err="1"/>
              <a:t>پیتزا</a:t>
            </a:r>
            <a:r>
              <a:rPr lang="en-US" dirty="0"/>
              <a:t> </a:t>
            </a:r>
            <a:r>
              <a:rPr lang="en-US" dirty="0" err="1"/>
              <a:t>می‌خواهم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پیشخدمت</a:t>
            </a:r>
            <a:r>
              <a:rPr lang="en-US" dirty="0"/>
              <a:t> </a:t>
            </a:r>
            <a:r>
              <a:rPr lang="en-US" dirty="0" err="1"/>
              <a:t>درخواست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مدیریت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 و </a:t>
            </a:r>
            <a:r>
              <a:rPr lang="en-US" dirty="0" err="1"/>
              <a:t>به</a:t>
            </a:r>
            <a:r>
              <a:rPr lang="en-US" dirty="0"/>
              <a:t> </a:t>
            </a:r>
            <a:r>
              <a:rPr lang="en-US" dirty="0" err="1"/>
              <a:t>آشپزخانه</a:t>
            </a:r>
            <a:r>
              <a:rPr lang="en-US" dirty="0"/>
              <a:t> </a:t>
            </a:r>
            <a:r>
              <a:rPr lang="en-US" dirty="0" err="1"/>
              <a:t>می‌دهد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سیستم</a:t>
            </a:r>
            <a:r>
              <a:rPr lang="en-US" dirty="0"/>
              <a:t> </a:t>
            </a:r>
            <a:r>
              <a:rPr lang="en-US" dirty="0" err="1"/>
              <a:t>نرم‌افزاری</a:t>
            </a:r>
            <a:r>
              <a:rPr lang="en-US" dirty="0"/>
              <a:t> </a:t>
            </a:r>
            <a:r>
              <a:rPr lang="en-US" dirty="0" err="1"/>
              <a:t>هم</a:t>
            </a:r>
            <a:r>
              <a:rPr lang="en-US" dirty="0"/>
              <a:t> </a:t>
            </a:r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می‌گوید</a:t>
            </a:r>
            <a:r>
              <a:rPr lang="en-US" dirty="0"/>
              <a:t>:</a:t>
            </a:r>
          </a:p>
          <a:p>
            <a:pPr algn="r" rtl="1"/>
            <a:r>
              <a:rPr lang="en-US" dirty="0" err="1"/>
              <a:t>اطلاعات</a:t>
            </a:r>
            <a:r>
              <a:rPr lang="en-US" dirty="0"/>
              <a:t> </a:t>
            </a:r>
            <a:r>
              <a:rPr lang="en-US" dirty="0" err="1"/>
              <a:t>سفارش</a:t>
            </a:r>
            <a:r>
              <a:rPr lang="en-US" dirty="0"/>
              <a:t> </a:t>
            </a:r>
            <a:r>
              <a:rPr lang="en-US" dirty="0" err="1"/>
              <a:t>من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بده</a:t>
            </a:r>
            <a:r>
              <a:rPr lang="en-US" dirty="0"/>
              <a:t>.</a:t>
            </a:r>
          </a:p>
          <a:p>
            <a:pPr algn="r" rtl="1"/>
            <a:r>
              <a:rPr lang="en-US" dirty="0"/>
              <a:t>Application Server </a:t>
            </a:r>
            <a:r>
              <a:rPr lang="en-US" dirty="0" err="1"/>
              <a:t>درخواست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پردازش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 و </a:t>
            </a:r>
            <a:r>
              <a:rPr lang="en-US" dirty="0" err="1"/>
              <a:t>از</a:t>
            </a:r>
            <a:r>
              <a:rPr lang="en-US" dirty="0"/>
              <a:t> Database </a:t>
            </a:r>
            <a:r>
              <a:rPr lang="en-US" dirty="0" err="1"/>
              <a:t>اطلاعات</a:t>
            </a:r>
            <a:r>
              <a:rPr lang="en-US" dirty="0"/>
              <a:t> </a:t>
            </a:r>
            <a:r>
              <a:rPr lang="en-US" dirty="0" err="1"/>
              <a:t>می‌گیرد</a:t>
            </a:r>
            <a:r>
              <a:rPr lang="en-US" dirty="0"/>
              <a:t>.</a:t>
            </a:r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52978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C2F2B756-9213-4637-9F3D-8CD40917EA0A}" type="slidenum">
              <a:rPr lang="en-US" altLang="en-US" sz="1200"/>
              <a:pPr algn="r"/>
              <a:t>33</a:t>
            </a:fld>
            <a:endParaRPr lang="en-US" altLang="en-US" sz="1200" dirty="0"/>
          </a:p>
        </p:txBody>
      </p:sp>
      <p:sp>
        <p:nvSpPr>
          <p:cNvPr id="62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24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6248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C2F2B756-9213-4637-9F3D-8CD40917EA0A}" type="slidenum">
              <a:rPr lang="en-US" altLang="en-US" sz="1200"/>
              <a:pPr algn="r"/>
              <a:t>34</a:t>
            </a:fld>
            <a:endParaRPr lang="en-US" altLang="en-US" sz="1200" dirty="0"/>
          </a:p>
        </p:txBody>
      </p:sp>
      <p:sp>
        <p:nvSpPr>
          <p:cNvPr id="62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24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fa-IR" dirty="0"/>
              <a:t>به زبان ساده، این موارد در مدیریت پایگاه‌های داده نقش‌های مختلفی دارند:</a:t>
            </a:r>
          </a:p>
          <a:p>
            <a:pPr algn="r" rtl="1">
              <a:buFont typeface="+mj-lt"/>
              <a:buAutoNum type="arabicPeriod"/>
            </a:pPr>
            <a:r>
              <a:rPr lang="fa-IR" b="1" dirty="0"/>
              <a:t>تعریف طرح (</a:t>
            </a:r>
            <a:r>
              <a:rPr lang="en-US" b="1" dirty="0"/>
              <a:t>Schema definition)</a:t>
            </a:r>
            <a:r>
              <a:rPr lang="en-US" dirty="0"/>
              <a:t>: </a:t>
            </a:r>
            <a:r>
              <a:rPr lang="fa-IR" dirty="0"/>
              <a:t>در این مرحله، مدیر پایگاه داده (</a:t>
            </a:r>
            <a:r>
              <a:rPr lang="en-US" dirty="0"/>
              <a:t>DBA) </a:t>
            </a:r>
            <a:r>
              <a:rPr lang="fa-IR" dirty="0"/>
              <a:t>ساختار اولیه پایگاه داده را با اجرای مجموعه‌ای از دستورات تعریف داده‌ها (</a:t>
            </a:r>
            <a:r>
              <a:rPr lang="en-US" dirty="0"/>
              <a:t>DDL) </a:t>
            </a:r>
            <a:r>
              <a:rPr lang="fa-IR" dirty="0"/>
              <a:t>ایجاد می‌کند. </a:t>
            </a:r>
            <a:r>
              <a:rPr lang="fa-IR" dirty="0">
                <a:hlinkClick r:id="rId3"/>
              </a:rPr>
              <a:t>این شامل تعریف جداول، فیلدها، کلیدها و روابط است</a:t>
            </a:r>
            <a:r>
              <a:rPr lang="fa-IR" baseline="30000" dirty="0">
                <a:hlinkClick r:id="rId3"/>
              </a:rPr>
              <a:t>1</a:t>
            </a:r>
            <a:r>
              <a:rPr lang="fa-IR" dirty="0"/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/>
              <a:t>تعریف ساختار ذخیره‌سازی و روش دسترسی (</a:t>
            </a:r>
            <a:r>
              <a:rPr lang="en-US" b="1" dirty="0"/>
              <a:t>Storage structure and access-method definition)</a:t>
            </a:r>
            <a:r>
              <a:rPr lang="en-US" dirty="0"/>
              <a:t>: </a:t>
            </a:r>
            <a:r>
              <a:rPr lang="fa-IR" dirty="0"/>
              <a:t>در این مرحله، </a:t>
            </a:r>
            <a:r>
              <a:rPr lang="en-US" dirty="0"/>
              <a:t>DBA </a:t>
            </a:r>
            <a:r>
              <a:rPr lang="fa-IR" dirty="0"/>
              <a:t>ساختار ذخیره‌سازی داده‌ها را تعیین می‌کند. </a:t>
            </a:r>
            <a:r>
              <a:rPr lang="fa-IR" dirty="0">
                <a:hlinkClick r:id="rId3"/>
              </a:rPr>
              <a:t>همچنین، روش‌های دسترسی به داده‌ها (مثل نحوه جستجو در جداول) نیز تعریف می‌شود</a:t>
            </a:r>
            <a:r>
              <a:rPr lang="fa-IR" baseline="30000" dirty="0">
                <a:hlinkClick r:id="rId3"/>
              </a:rPr>
              <a:t>1</a:t>
            </a:r>
            <a:r>
              <a:rPr lang="fa-IR" dirty="0"/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/>
              <a:t>تغییر طرح و سازماندهی فیزیکی (</a:t>
            </a:r>
            <a:r>
              <a:rPr lang="en-US" b="1" dirty="0"/>
              <a:t>Schema and physical-organization modification)</a:t>
            </a:r>
            <a:r>
              <a:rPr lang="en-US" dirty="0"/>
              <a:t>: </a:t>
            </a:r>
            <a:r>
              <a:rPr lang="fa-IR" dirty="0"/>
              <a:t>در طول زمان، نیاز به تغییرات در طرح پایگاه داده و سازماندهی فیزیکی داده‌ها ممکن است پیش بیاید. </a:t>
            </a:r>
            <a:r>
              <a:rPr lang="fa-IR" dirty="0">
                <a:hlinkClick r:id="rId3"/>
              </a:rPr>
              <a:t>به عنوان مثال، افزودن یک فیلد جدید به جدول یا بهبود ساختار ذخیره‌سازی</a:t>
            </a:r>
            <a:r>
              <a:rPr lang="fa-IR" baseline="30000" dirty="0">
                <a:hlinkClick r:id="rId3"/>
              </a:rPr>
              <a:t>1</a:t>
            </a:r>
            <a:r>
              <a:rPr lang="fa-IR" dirty="0"/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/>
              <a:t>اعطای مجوز برای دسترسی به داده‌ها (</a:t>
            </a:r>
            <a:r>
              <a:rPr lang="en-US" b="1" dirty="0"/>
              <a:t>Granting of authorization for data access)</a:t>
            </a:r>
            <a:r>
              <a:rPr lang="en-US" dirty="0"/>
              <a:t>: DBA </a:t>
            </a:r>
            <a:r>
              <a:rPr lang="fa-IR" dirty="0"/>
              <a:t>مسئول تعیین مجوزها برای کاربران پایگاه داده است. </a:t>
            </a:r>
            <a:r>
              <a:rPr lang="fa-IR" dirty="0">
                <a:solidFill>
                  <a:srgbClr val="002060"/>
                </a:solidFill>
                <a:hlinkClick r:id="rId3"/>
              </a:rPr>
              <a:t>این شامل مجوزهای خواندن، نوشتن و اجرای دستورات </a:t>
            </a:r>
            <a:r>
              <a:rPr lang="en-US" dirty="0">
                <a:solidFill>
                  <a:srgbClr val="002060"/>
                </a:solidFill>
                <a:hlinkClick r:id="rId3"/>
              </a:rPr>
              <a:t>SQL </a:t>
            </a:r>
            <a:r>
              <a:rPr lang="fa-IR" dirty="0">
                <a:solidFill>
                  <a:srgbClr val="002060"/>
                </a:solidFill>
                <a:hlinkClick r:id="rId3"/>
              </a:rPr>
              <a:t>بر روی داده‌ها می‌شود</a:t>
            </a:r>
            <a:r>
              <a:rPr lang="fa-IR" baseline="30000" dirty="0">
                <a:solidFill>
                  <a:srgbClr val="002060"/>
                </a:solidFill>
                <a:hlinkClick r:id="rId4"/>
              </a:rPr>
              <a:t>2</a:t>
            </a:r>
            <a:r>
              <a:rPr lang="fa-IR" dirty="0">
                <a:solidFill>
                  <a:srgbClr val="002060"/>
                </a:solidFill>
              </a:rPr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>
                <a:solidFill>
                  <a:srgbClr val="002060"/>
                </a:solidFill>
                <a:hlinkClick r:id="rId3"/>
              </a:rPr>
              <a:t>نگهداری معمول (</a:t>
            </a:r>
            <a:r>
              <a:rPr lang="en-US" b="1" dirty="0">
                <a:solidFill>
                  <a:srgbClr val="002060"/>
                </a:solidFill>
                <a:hlinkClick r:id="rId3"/>
              </a:rPr>
              <a:t>Routine maintenance)</a:t>
            </a:r>
            <a:r>
              <a:rPr lang="en-US" dirty="0">
                <a:solidFill>
                  <a:srgbClr val="002060"/>
                </a:solidFill>
                <a:hlinkClick r:id="rId3"/>
              </a:rPr>
              <a:t>: </a:t>
            </a:r>
            <a:r>
              <a:rPr lang="fa-IR" dirty="0">
                <a:solidFill>
                  <a:srgbClr val="002060"/>
                </a:solidFill>
                <a:hlinkClick r:id="rId3"/>
              </a:rPr>
              <a:t>این شامل فعالیت‌هایی مانند به‌روزرسانی نرم‌افزار پایگاه داده، بهینه‌سازی کوئری‌ها، و رفع مشکلات عمومی است</a:t>
            </a:r>
            <a:r>
              <a:rPr lang="fa-IR" baseline="30000" dirty="0">
                <a:solidFill>
                  <a:srgbClr val="002060"/>
                </a:solidFill>
                <a:hlinkClick r:id="rId5"/>
              </a:rPr>
              <a:t>3</a:t>
            </a:r>
            <a:r>
              <a:rPr lang="fa-IR" dirty="0">
                <a:solidFill>
                  <a:srgbClr val="002060"/>
                </a:solidFill>
              </a:rPr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>
                <a:solidFill>
                  <a:srgbClr val="002060"/>
                </a:solidFill>
                <a:hlinkClick r:id="rId3"/>
              </a:rPr>
              <a:t>پشتیبان‌گیری دوره‌ای از پایگاه داده (</a:t>
            </a:r>
            <a:r>
              <a:rPr lang="en-US" b="1" dirty="0">
                <a:solidFill>
                  <a:srgbClr val="002060"/>
                </a:solidFill>
                <a:hlinkClick r:id="rId3"/>
              </a:rPr>
              <a:t>Periodically backing up the database)</a:t>
            </a:r>
            <a:r>
              <a:rPr lang="en-US" dirty="0">
                <a:solidFill>
                  <a:srgbClr val="002060"/>
                </a:solidFill>
                <a:hlinkClick r:id="rId3"/>
              </a:rPr>
              <a:t>: </a:t>
            </a:r>
            <a:r>
              <a:rPr lang="fa-IR" dirty="0">
                <a:solidFill>
                  <a:srgbClr val="002060"/>
                </a:solidFill>
                <a:hlinkClick r:id="rId3"/>
              </a:rPr>
              <a:t>ایجاد نسخه‌های پشتیبان از داده‌ها به منظور جلوگیری از از دست رفتن اطلاعات در صورت خرابی یا حادثه</a:t>
            </a:r>
            <a:r>
              <a:rPr lang="fa-IR" baseline="30000" dirty="0">
                <a:solidFill>
                  <a:srgbClr val="002060"/>
                </a:solidFill>
                <a:hlinkClick r:id="rId5"/>
              </a:rPr>
              <a:t>3</a:t>
            </a:r>
            <a:r>
              <a:rPr lang="fa-IR" dirty="0">
                <a:solidFill>
                  <a:srgbClr val="002060"/>
                </a:solidFill>
              </a:rPr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>
                <a:solidFill>
                  <a:srgbClr val="002060"/>
                </a:solidFill>
              </a:rPr>
              <a:t>اطمینان از وجود فضای دیسک کافی برای عملیات عادی و </a:t>
            </a:r>
            <a:r>
              <a:rPr lang="fa-IR" b="1" dirty="0"/>
              <a:t>ارتقاء فضای دیسک به میزان لازم (</a:t>
            </a:r>
            <a:r>
              <a:rPr lang="en-US" b="1" dirty="0"/>
              <a:t>Ensuring enough free disk space and upgrading disk space)</a:t>
            </a:r>
            <a:r>
              <a:rPr lang="en-US" dirty="0"/>
              <a:t>: DBA </a:t>
            </a:r>
            <a:r>
              <a:rPr lang="fa-IR" dirty="0"/>
              <a:t>مسئول نظارت بر فضای دیسک مورد نیاز برای پایگاه داده است. </a:t>
            </a:r>
            <a:r>
              <a:rPr lang="fa-IR" dirty="0">
                <a:hlinkClick r:id="rId3"/>
              </a:rPr>
              <a:t>اگر فضای دیسک کم شود، باید فضا را ارتقاء داد</a:t>
            </a:r>
            <a:r>
              <a:rPr lang="fa-IR" baseline="30000" dirty="0">
                <a:hlinkClick r:id="rId5"/>
              </a:rPr>
              <a:t>3</a:t>
            </a:r>
            <a:r>
              <a:rPr lang="fa-IR" dirty="0"/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/>
              <a:t>نظارت بر کارهای در حال اجرا در پایگاه داده (</a:t>
            </a:r>
            <a:r>
              <a:rPr lang="en-US" b="1" dirty="0"/>
              <a:t>Monitoring jobs running on the database)</a:t>
            </a:r>
            <a:r>
              <a:rPr lang="en-US" dirty="0"/>
              <a:t>: DBA </a:t>
            </a:r>
            <a:r>
              <a:rPr lang="fa-IR" dirty="0"/>
              <a:t>باید کارهای در حال اجرا در پایگاه داده را نظار</a:t>
            </a:r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05200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5188066E-62EE-4B9F-B875-24DB77358110}" type="slidenum">
              <a:rPr lang="en-US" altLang="en-US" sz="1200"/>
              <a:pPr algn="r"/>
              <a:t>35</a:t>
            </a:fld>
            <a:endParaRPr lang="en-US" altLang="en-US" sz="1200" dirty="0"/>
          </a:p>
        </p:txBody>
      </p:sp>
      <p:sp>
        <p:nvSpPr>
          <p:cNvPr id="645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451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9728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1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DE0F9339-897F-48D6-BF47-88403A03B134}" type="slidenum">
              <a:rPr lang="en-US" altLang="en-US" sz="1200"/>
              <a:pPr algn="r"/>
              <a:t>36</a:t>
            </a:fld>
            <a:endParaRPr lang="en-US" altLang="en-US" sz="1200" dirty="0"/>
          </a:p>
        </p:txBody>
      </p:sp>
      <p:sp>
        <p:nvSpPr>
          <p:cNvPr id="66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656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8169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4FEA4BD3-34B5-41A4-AD0A-924F71A2839F}" type="slidenum">
              <a:rPr lang="en-US" altLang="en-US" sz="1200"/>
              <a:pPr algn="r"/>
              <a:t>37</a:t>
            </a:fld>
            <a:endParaRPr lang="en-US" altLang="en-US" sz="1200" dirty="0"/>
          </a:p>
        </p:txBody>
      </p:sp>
      <p:sp>
        <p:nvSpPr>
          <p:cNvPr id="68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861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fa-IR" b="1" dirty="0"/>
              <a:t>ت</a:t>
            </a:r>
            <a:r>
              <a:rPr lang="en-US" b="1" dirty="0" err="1"/>
              <a:t>حلیل</a:t>
            </a:r>
            <a:r>
              <a:rPr lang="en-US" b="1" dirty="0"/>
              <a:t> </a:t>
            </a:r>
            <a:r>
              <a:rPr lang="en-US" b="1" dirty="0" err="1"/>
              <a:t>داده‌های</a:t>
            </a:r>
            <a:r>
              <a:rPr lang="en-US" b="1" dirty="0"/>
              <a:t> </a:t>
            </a:r>
            <a:r>
              <a:rPr lang="en-US" b="1" dirty="0" err="1"/>
              <a:t>بزرگ</a:t>
            </a:r>
            <a:r>
              <a:rPr lang="en-US" b="1" dirty="0"/>
              <a:t>: </a:t>
            </a:r>
            <a:r>
              <a:rPr lang="en-US" b="1" dirty="0" err="1"/>
              <a:t>فراتر</a:t>
            </a:r>
            <a:r>
              <a:rPr lang="en-US" b="1" dirty="0"/>
              <a:t> </a:t>
            </a:r>
            <a:r>
              <a:rPr lang="en-US" b="1" dirty="0" err="1"/>
              <a:t>از</a:t>
            </a:r>
            <a:r>
              <a:rPr lang="en-US" b="1" dirty="0"/>
              <a:t> SQL</a:t>
            </a:r>
          </a:p>
          <a:p>
            <a:pPr algn="r" rtl="1"/>
            <a:r>
              <a:rPr lang="en-US" dirty="0" err="1"/>
              <a:t>مسئله</a:t>
            </a:r>
            <a:r>
              <a:rPr lang="en-US" dirty="0"/>
              <a:t> </a:t>
            </a:r>
            <a:r>
              <a:rPr lang="en-US" dirty="0" err="1"/>
              <a:t>فقط</a:t>
            </a:r>
            <a:r>
              <a:rPr lang="en-US" dirty="0"/>
              <a:t> </a:t>
            </a:r>
            <a:r>
              <a:rPr lang="en-US" dirty="0" err="1"/>
              <a:t>ذخیره‌سازی</a:t>
            </a:r>
            <a:r>
              <a:rPr lang="en-US" dirty="0"/>
              <a:t> </a:t>
            </a:r>
            <a:r>
              <a:rPr lang="en-US" dirty="0" err="1"/>
              <a:t>نبود</a:t>
            </a:r>
            <a:r>
              <a:rPr lang="en-US" dirty="0"/>
              <a:t>. </a:t>
            </a:r>
            <a:r>
              <a:rPr lang="en-US" dirty="0" err="1"/>
              <a:t>وقتی</a:t>
            </a:r>
            <a:r>
              <a:rPr lang="en-US" dirty="0"/>
              <a:t> </a:t>
            </a:r>
            <a:r>
              <a:rPr lang="en-US" dirty="0" err="1"/>
              <a:t>صدها</a:t>
            </a:r>
            <a:r>
              <a:rPr lang="en-US" dirty="0"/>
              <a:t> </a:t>
            </a:r>
            <a:r>
              <a:rPr lang="en-US" dirty="0" err="1"/>
              <a:t>ترابایت</a:t>
            </a:r>
            <a:r>
              <a:rPr lang="en-US" dirty="0"/>
              <a:t> </a:t>
            </a:r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dirty="0" err="1"/>
              <a:t>پتابایت</a:t>
            </a:r>
            <a:r>
              <a:rPr lang="en-US" dirty="0"/>
              <a:t> </a:t>
            </a:r>
            <a:r>
              <a:rPr lang="en-US" dirty="0" err="1"/>
              <a:t>داده</a:t>
            </a:r>
            <a:r>
              <a:rPr lang="en-US" dirty="0"/>
              <a:t> </a:t>
            </a:r>
            <a:r>
              <a:rPr lang="en-US" dirty="0" err="1"/>
              <a:t>داریم</a:t>
            </a:r>
            <a:r>
              <a:rPr lang="en-US" dirty="0"/>
              <a:t>، </a:t>
            </a:r>
            <a:r>
              <a:rPr lang="en-US" dirty="0" err="1"/>
              <a:t>باید</a:t>
            </a:r>
            <a:r>
              <a:rPr lang="en-US" dirty="0"/>
              <a:t> </a:t>
            </a:r>
            <a:r>
              <a:rPr lang="en-US" dirty="0" err="1"/>
              <a:t>بتوانیم</a:t>
            </a:r>
            <a:r>
              <a:rPr lang="en-US" dirty="0"/>
              <a:t> </a:t>
            </a:r>
            <a:r>
              <a:rPr lang="en-US" dirty="0" err="1"/>
              <a:t>آنها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نیز</a:t>
            </a:r>
            <a:r>
              <a:rPr lang="en-US" dirty="0"/>
              <a:t> </a:t>
            </a:r>
            <a:r>
              <a:rPr lang="en-US" dirty="0" err="1"/>
              <a:t>پردازش</a:t>
            </a:r>
            <a:r>
              <a:rPr lang="en-US" dirty="0"/>
              <a:t> </a:t>
            </a:r>
            <a:r>
              <a:rPr lang="en-US" dirty="0" err="1"/>
              <a:t>کنیم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اینجا</a:t>
            </a:r>
            <a:r>
              <a:rPr lang="en-US" dirty="0"/>
              <a:t> </a:t>
            </a:r>
            <a:r>
              <a:rPr lang="en-US" dirty="0" err="1"/>
              <a:t>مفهوم</a:t>
            </a:r>
            <a:r>
              <a:rPr lang="en-US" dirty="0"/>
              <a:t> </a:t>
            </a:r>
            <a:r>
              <a:rPr lang="en-US" b="1" dirty="0"/>
              <a:t>Big Data Analytics</a:t>
            </a:r>
            <a:r>
              <a:rPr lang="en-US" dirty="0"/>
              <a:t> </a:t>
            </a:r>
            <a:r>
              <a:rPr lang="en-US" dirty="0" err="1"/>
              <a:t>مطرح</a:t>
            </a:r>
            <a:r>
              <a:rPr lang="en-US" dirty="0"/>
              <a:t> </a:t>
            </a:r>
            <a:r>
              <a:rPr lang="en-US" dirty="0" err="1"/>
              <a:t>شد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یکی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مهم‌ترین</a:t>
            </a:r>
            <a:r>
              <a:rPr lang="en-US" dirty="0"/>
              <a:t> </a:t>
            </a:r>
            <a:r>
              <a:rPr lang="en-US" dirty="0" err="1"/>
              <a:t>ایده‌ها</a:t>
            </a:r>
            <a:r>
              <a:rPr lang="en-US" dirty="0"/>
              <a:t> </a:t>
            </a:r>
            <a:r>
              <a:rPr lang="en-US" b="1" dirty="0"/>
              <a:t>MapReduce</a:t>
            </a:r>
            <a:r>
              <a:rPr lang="en-US" dirty="0"/>
              <a:t> </a:t>
            </a:r>
            <a:r>
              <a:rPr lang="en-US" dirty="0" err="1"/>
              <a:t>بود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MapReduce </a:t>
            </a:r>
            <a:r>
              <a:rPr lang="en-US" b="1" dirty="0" err="1"/>
              <a:t>چگونه</a:t>
            </a:r>
            <a:r>
              <a:rPr lang="en-US" b="1" dirty="0"/>
              <a:t> </a:t>
            </a:r>
            <a:r>
              <a:rPr lang="en-US" b="1" dirty="0" err="1"/>
              <a:t>کار</a:t>
            </a:r>
            <a:r>
              <a:rPr lang="en-US" b="1" dirty="0"/>
              <a:t> </a:t>
            </a:r>
            <a:r>
              <a:rPr lang="en-US" b="1" dirty="0" err="1"/>
              <a:t>می‌کند</a:t>
            </a:r>
            <a:r>
              <a:rPr lang="en-US" b="1" dirty="0"/>
              <a:t>؟</a:t>
            </a:r>
          </a:p>
          <a:p>
            <a:pPr algn="r" rtl="1"/>
            <a:r>
              <a:rPr lang="en-US" dirty="0" err="1"/>
              <a:t>فرض</a:t>
            </a:r>
            <a:r>
              <a:rPr lang="en-US" dirty="0"/>
              <a:t> </a:t>
            </a:r>
            <a:r>
              <a:rPr lang="en-US" dirty="0" err="1"/>
              <a:t>کنید</a:t>
            </a:r>
            <a:r>
              <a:rPr lang="en-US" dirty="0"/>
              <a:t> </a:t>
            </a:r>
            <a:r>
              <a:rPr lang="en-US" dirty="0" err="1"/>
              <a:t>می‌خواهیم</a:t>
            </a:r>
            <a:r>
              <a:rPr lang="en-US" dirty="0"/>
              <a:t> </a:t>
            </a:r>
            <a:r>
              <a:rPr lang="en-US" dirty="0" err="1"/>
              <a:t>تعداد</a:t>
            </a:r>
            <a:r>
              <a:rPr lang="en-US" dirty="0"/>
              <a:t> </a:t>
            </a:r>
            <a:r>
              <a:rPr lang="en-US" dirty="0" err="1"/>
              <a:t>دفعاتی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</a:t>
            </a:r>
            <a:r>
              <a:rPr lang="en-US" dirty="0" err="1"/>
              <a:t>هر</a:t>
            </a:r>
            <a:r>
              <a:rPr lang="en-US" dirty="0"/>
              <a:t> </a:t>
            </a:r>
            <a:r>
              <a:rPr lang="en-US" dirty="0" err="1"/>
              <a:t>کلمه</a:t>
            </a:r>
            <a:r>
              <a:rPr lang="en-US" dirty="0"/>
              <a:t>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b="1" dirty="0" err="1"/>
              <a:t>یک</a:t>
            </a:r>
            <a:r>
              <a:rPr lang="en-US" b="1" dirty="0"/>
              <a:t> </a:t>
            </a:r>
            <a:r>
              <a:rPr lang="en-US" b="1" dirty="0" err="1"/>
              <a:t>میلیارد</a:t>
            </a:r>
            <a:r>
              <a:rPr lang="en-US" b="1" dirty="0"/>
              <a:t> </a:t>
            </a:r>
            <a:r>
              <a:rPr lang="en-US" b="1" dirty="0" err="1"/>
              <a:t>سند</a:t>
            </a:r>
            <a:r>
              <a:rPr lang="en-US" dirty="0"/>
              <a:t> </a:t>
            </a:r>
            <a:r>
              <a:rPr lang="en-US" dirty="0" err="1"/>
              <a:t>ظاهر</a:t>
            </a:r>
            <a:r>
              <a:rPr lang="en-US" dirty="0"/>
              <a:t> </a:t>
            </a:r>
            <a:r>
              <a:rPr lang="en-US" dirty="0" err="1"/>
              <a:t>شده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، </a:t>
            </a:r>
            <a:r>
              <a:rPr lang="en-US" dirty="0" err="1"/>
              <a:t>محاسبه</a:t>
            </a:r>
            <a:r>
              <a:rPr lang="en-US" dirty="0"/>
              <a:t> </a:t>
            </a:r>
            <a:r>
              <a:rPr lang="en-US" dirty="0" err="1"/>
              <a:t>کنیم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ابتدا</a:t>
            </a:r>
            <a:r>
              <a:rPr lang="en-US" dirty="0"/>
              <a:t> </a:t>
            </a:r>
            <a:r>
              <a:rPr lang="en-US" dirty="0" err="1"/>
              <a:t>داده</a:t>
            </a:r>
            <a:r>
              <a:rPr lang="en-US" dirty="0"/>
              <a:t> </a:t>
            </a:r>
            <a:r>
              <a:rPr lang="en-US" dirty="0" err="1"/>
              <a:t>بین</a:t>
            </a:r>
            <a:r>
              <a:rPr lang="en-US" dirty="0"/>
              <a:t> </a:t>
            </a:r>
            <a:r>
              <a:rPr lang="en-US" dirty="0" err="1"/>
              <a:t>چندین</a:t>
            </a:r>
            <a:r>
              <a:rPr lang="en-US" dirty="0"/>
              <a:t> </a:t>
            </a:r>
            <a:r>
              <a:rPr lang="en-US" dirty="0" err="1"/>
              <a:t>کامپیوتر</a:t>
            </a:r>
            <a:r>
              <a:rPr lang="en-US" dirty="0"/>
              <a:t> </a:t>
            </a:r>
            <a:r>
              <a:rPr lang="en-US" dirty="0" err="1"/>
              <a:t>تقسیم</a:t>
            </a:r>
            <a:r>
              <a:rPr lang="en-US" dirty="0"/>
              <a:t> </a:t>
            </a:r>
            <a:r>
              <a:rPr lang="en-US" dirty="0" err="1"/>
              <a:t>می‌شود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Map:</a:t>
            </a:r>
            <a:endParaRPr lang="en-US" dirty="0"/>
          </a:p>
          <a:p>
            <a:pPr algn="r" rtl="1"/>
            <a:r>
              <a:rPr lang="en-US" dirty="0" err="1"/>
              <a:t>هر</a:t>
            </a:r>
            <a:r>
              <a:rPr lang="en-US" dirty="0"/>
              <a:t> </a:t>
            </a:r>
            <a:r>
              <a:rPr lang="en-US" dirty="0" err="1"/>
              <a:t>کامپیوتر</a:t>
            </a:r>
            <a:r>
              <a:rPr lang="en-US" dirty="0"/>
              <a:t> </a:t>
            </a:r>
            <a:r>
              <a:rPr lang="en-US" dirty="0" err="1"/>
              <a:t>بخشی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اسناد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پردازش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: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"database systems are fast"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        ↓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(database, 1)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(systems, 1)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(are, 1)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(fast, 1)</a:t>
            </a:r>
          </a:p>
          <a:p>
            <a:pPr algn="r" rtl="1"/>
            <a:r>
              <a:rPr lang="en-US" dirty="0" err="1"/>
              <a:t>سپس</a:t>
            </a:r>
            <a:r>
              <a:rPr lang="en-US" dirty="0"/>
              <a:t> </a:t>
            </a:r>
            <a:r>
              <a:rPr lang="en-US" dirty="0" err="1"/>
              <a:t>نتایج</a:t>
            </a:r>
            <a:r>
              <a:rPr lang="en-US" dirty="0"/>
              <a:t> </a:t>
            </a:r>
            <a:r>
              <a:rPr lang="en-US" dirty="0" err="1"/>
              <a:t>مشابه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هم</a:t>
            </a:r>
            <a:r>
              <a:rPr lang="en-US" dirty="0"/>
              <a:t> </a:t>
            </a:r>
            <a:r>
              <a:rPr lang="en-US" dirty="0" err="1"/>
              <a:t>گروه‌بندی</a:t>
            </a:r>
            <a:r>
              <a:rPr lang="en-US" dirty="0"/>
              <a:t> </a:t>
            </a:r>
            <a:r>
              <a:rPr lang="en-US" dirty="0" err="1"/>
              <a:t>می‌شوند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Reduce:</a:t>
            </a:r>
            <a:endParaRPr lang="en-US" dirty="0"/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database → 125,000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systems  → 98,000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fast     → 76,000</a:t>
            </a:r>
          </a:p>
          <a:p>
            <a:pPr algn="r" rtl="1"/>
            <a:r>
              <a:rPr lang="en-US" dirty="0" err="1"/>
              <a:t>بنابراین</a:t>
            </a:r>
            <a:r>
              <a:rPr lang="en-US" dirty="0"/>
              <a:t>، </a:t>
            </a:r>
            <a:r>
              <a:rPr lang="en-US" dirty="0" err="1"/>
              <a:t>به‌جای</a:t>
            </a:r>
            <a:r>
              <a:rPr lang="en-US" dirty="0"/>
              <a:t> </a:t>
            </a:r>
            <a:r>
              <a:rPr lang="en-US" dirty="0" err="1"/>
              <a:t>اینکه</a:t>
            </a:r>
            <a:r>
              <a:rPr lang="en-US" dirty="0"/>
              <a:t> </a:t>
            </a:r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dirty="0" err="1"/>
              <a:t>کامپیوتر</a:t>
            </a:r>
            <a:r>
              <a:rPr lang="en-US" dirty="0"/>
              <a:t> </a:t>
            </a:r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dirty="0" err="1"/>
              <a:t>میلیارد</a:t>
            </a:r>
            <a:r>
              <a:rPr lang="en-US" dirty="0"/>
              <a:t> </a:t>
            </a:r>
            <a:r>
              <a:rPr lang="en-US" dirty="0" err="1"/>
              <a:t>سند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پردازش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، </a:t>
            </a:r>
            <a:r>
              <a:rPr lang="en-US" b="1" dirty="0" err="1"/>
              <a:t>صدها</a:t>
            </a:r>
            <a:r>
              <a:rPr lang="en-US" b="1" dirty="0"/>
              <a:t> </a:t>
            </a:r>
            <a:r>
              <a:rPr lang="en-US" b="1" dirty="0" err="1"/>
              <a:t>یا</a:t>
            </a:r>
            <a:r>
              <a:rPr lang="en-US" b="1" dirty="0"/>
              <a:t> </a:t>
            </a:r>
            <a:r>
              <a:rPr lang="en-US" b="1" dirty="0" err="1"/>
              <a:t>هزاران</a:t>
            </a:r>
            <a:r>
              <a:rPr lang="en-US" b="1" dirty="0"/>
              <a:t> </a:t>
            </a:r>
            <a:r>
              <a:rPr lang="en-US" b="1" dirty="0" err="1"/>
              <a:t>کامپیوتر</a:t>
            </a:r>
            <a:r>
              <a:rPr lang="en-US" b="1" dirty="0"/>
              <a:t> </a:t>
            </a:r>
            <a:r>
              <a:rPr lang="en-US" b="1" dirty="0" err="1"/>
              <a:t>به‌صورت</a:t>
            </a:r>
            <a:r>
              <a:rPr lang="en-US" b="1" dirty="0"/>
              <a:t> </a:t>
            </a:r>
            <a:r>
              <a:rPr lang="en-US" b="1" dirty="0" err="1"/>
              <a:t>موازی</a:t>
            </a:r>
            <a:r>
              <a:rPr lang="en-US" dirty="0"/>
              <a:t> </a:t>
            </a:r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کار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انجام</a:t>
            </a:r>
            <a:r>
              <a:rPr lang="en-US" dirty="0"/>
              <a:t> </a:t>
            </a:r>
            <a:r>
              <a:rPr lang="en-US" dirty="0" err="1"/>
              <a:t>می‌دهند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ایده</a:t>
            </a:r>
            <a:r>
              <a:rPr lang="en-US" dirty="0"/>
              <a:t> </a:t>
            </a:r>
            <a:r>
              <a:rPr lang="en-US" dirty="0" err="1"/>
              <a:t>بعدها</a:t>
            </a:r>
            <a:r>
              <a:rPr lang="en-US" dirty="0"/>
              <a:t>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سیستم‌هایی</a:t>
            </a:r>
            <a:r>
              <a:rPr lang="en-US" dirty="0"/>
              <a:t> </a:t>
            </a:r>
            <a:r>
              <a:rPr lang="en-US" dirty="0" err="1"/>
              <a:t>مانند</a:t>
            </a:r>
            <a:r>
              <a:rPr lang="en-US" dirty="0"/>
              <a:t> </a:t>
            </a:r>
            <a:r>
              <a:rPr lang="en-US" b="1" dirty="0"/>
              <a:t>Hadoop</a:t>
            </a:r>
            <a:r>
              <a:rPr lang="en-US" dirty="0"/>
              <a:t> </a:t>
            </a:r>
            <a:r>
              <a:rPr lang="en-US" dirty="0" err="1"/>
              <a:t>نیز</a:t>
            </a:r>
            <a:r>
              <a:rPr lang="en-US" dirty="0"/>
              <a:t> </a:t>
            </a:r>
            <a:r>
              <a:rPr lang="en-US" dirty="0" err="1"/>
              <a:t>بسیار</a:t>
            </a:r>
            <a:r>
              <a:rPr lang="en-US" dirty="0"/>
              <a:t> </a:t>
            </a:r>
            <a:r>
              <a:rPr lang="en-US" dirty="0" err="1"/>
              <a:t>مورد</a:t>
            </a:r>
            <a:r>
              <a:rPr lang="en-US" dirty="0"/>
              <a:t> </a:t>
            </a:r>
            <a:r>
              <a:rPr lang="en-US" dirty="0" err="1"/>
              <a:t>استفاده</a:t>
            </a:r>
            <a:r>
              <a:rPr lang="en-US" dirty="0"/>
              <a:t> </a:t>
            </a:r>
            <a:r>
              <a:rPr lang="en-US" dirty="0" err="1"/>
              <a:t>قرار</a:t>
            </a:r>
            <a:r>
              <a:rPr lang="en-US" dirty="0"/>
              <a:t> </a:t>
            </a:r>
            <a:r>
              <a:rPr lang="en-US" dirty="0" err="1"/>
              <a:t>گرفت</a:t>
            </a:r>
            <a:r>
              <a:rPr lang="en-US" dirty="0"/>
              <a:t>.</a:t>
            </a:r>
          </a:p>
          <a:p>
            <a:pPr algn="r" rtl="1"/>
            <a:endParaRPr lang="en-US" b="1" dirty="0"/>
          </a:p>
          <a:p>
            <a:pPr algn="r" rtl="1"/>
            <a:endParaRPr lang="en-US" b="1" dirty="0"/>
          </a:p>
          <a:p>
            <a:pPr algn="r" rtl="1"/>
            <a:r>
              <a:rPr lang="en-US" b="1" dirty="0" err="1"/>
              <a:t>دهه</a:t>
            </a:r>
            <a:r>
              <a:rPr lang="en-US" b="1" dirty="0"/>
              <a:t> ۲۰۱۰: </a:t>
            </a:r>
            <a:r>
              <a:rPr lang="en-US" b="1" dirty="0" err="1"/>
              <a:t>بازگشت</a:t>
            </a:r>
            <a:r>
              <a:rPr lang="en-US" b="1" dirty="0"/>
              <a:t> SQL</a:t>
            </a:r>
          </a:p>
          <a:p>
            <a:pPr algn="r" rtl="1"/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دهه</a:t>
            </a:r>
            <a:r>
              <a:rPr lang="en-US" dirty="0"/>
              <a:t> ۲۰۱۰ </a:t>
            </a:r>
            <a:r>
              <a:rPr lang="en-US" dirty="0" err="1"/>
              <a:t>اتفاق</a:t>
            </a:r>
            <a:r>
              <a:rPr lang="en-US" dirty="0"/>
              <a:t> </a:t>
            </a:r>
            <a:r>
              <a:rPr lang="en-US" dirty="0" err="1"/>
              <a:t>جالبی</a:t>
            </a:r>
            <a:r>
              <a:rPr lang="en-US" dirty="0"/>
              <a:t> </a:t>
            </a:r>
            <a:r>
              <a:rPr lang="en-US" dirty="0" err="1"/>
              <a:t>رخ</a:t>
            </a:r>
            <a:r>
              <a:rPr lang="en-US" dirty="0"/>
              <a:t> </a:t>
            </a:r>
            <a:r>
              <a:rPr lang="en-US" dirty="0" err="1"/>
              <a:t>داد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پس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رشد</a:t>
            </a:r>
            <a:r>
              <a:rPr lang="en-US" dirty="0"/>
              <a:t> NoSQL و MapReduce، </a:t>
            </a:r>
            <a:r>
              <a:rPr lang="en-US" dirty="0" err="1"/>
              <a:t>مشخص</a:t>
            </a:r>
            <a:r>
              <a:rPr lang="en-US" dirty="0"/>
              <a:t> </a:t>
            </a:r>
            <a:r>
              <a:rPr lang="en-US" dirty="0" err="1"/>
              <a:t>شد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SQL </a:t>
            </a:r>
            <a:r>
              <a:rPr lang="en-US" dirty="0" err="1"/>
              <a:t>هنوز</a:t>
            </a:r>
            <a:r>
              <a:rPr lang="en-US" dirty="0"/>
              <a:t> </a:t>
            </a:r>
            <a:r>
              <a:rPr lang="en-US" dirty="0" err="1"/>
              <a:t>بسیار</a:t>
            </a:r>
            <a:r>
              <a:rPr lang="en-US" dirty="0"/>
              <a:t> </a:t>
            </a:r>
            <a:r>
              <a:rPr lang="en-US" dirty="0" err="1"/>
              <a:t>قدرتمند</a:t>
            </a:r>
            <a:r>
              <a:rPr lang="en-US" dirty="0"/>
              <a:t> و </a:t>
            </a:r>
            <a:r>
              <a:rPr lang="en-US" dirty="0" err="1"/>
              <a:t>راحت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. </a:t>
            </a:r>
            <a:r>
              <a:rPr lang="en-US" dirty="0" err="1"/>
              <a:t>بنابراین</a:t>
            </a:r>
            <a:r>
              <a:rPr lang="en-US" dirty="0"/>
              <a:t>، </a:t>
            </a:r>
            <a:r>
              <a:rPr lang="en-US" dirty="0" err="1"/>
              <a:t>به‌جای</a:t>
            </a:r>
            <a:r>
              <a:rPr lang="en-US" dirty="0"/>
              <a:t> </a:t>
            </a:r>
            <a:r>
              <a:rPr lang="en-US" dirty="0" err="1"/>
              <a:t>حذف</a:t>
            </a:r>
            <a:r>
              <a:rPr lang="en-US" dirty="0"/>
              <a:t> SQL، </a:t>
            </a:r>
            <a:r>
              <a:rPr lang="en-US" dirty="0" err="1"/>
              <a:t>تلاش</a:t>
            </a:r>
            <a:r>
              <a:rPr lang="en-US" dirty="0"/>
              <a:t> </a:t>
            </a:r>
            <a:r>
              <a:rPr lang="en-US" dirty="0" err="1"/>
              <a:t>شد</a:t>
            </a:r>
            <a:r>
              <a:rPr lang="en-US" dirty="0"/>
              <a:t> </a:t>
            </a:r>
            <a:r>
              <a:rPr lang="en-US" b="1" dirty="0"/>
              <a:t>SQL </a:t>
            </a:r>
            <a:r>
              <a:rPr lang="en-US" b="1" dirty="0" err="1"/>
              <a:t>با</a:t>
            </a:r>
            <a:r>
              <a:rPr lang="en-US" b="1" dirty="0"/>
              <a:t> </a:t>
            </a:r>
            <a:r>
              <a:rPr lang="en-US" b="1" dirty="0" err="1"/>
              <a:t>معماری‌های</a:t>
            </a:r>
            <a:r>
              <a:rPr lang="en-US" b="1" dirty="0"/>
              <a:t> Big Data و Parallel Computing </a:t>
            </a:r>
            <a:r>
              <a:rPr lang="en-US" b="1" dirty="0" err="1"/>
              <a:t>ترکیب</a:t>
            </a:r>
            <a:r>
              <a:rPr lang="en-US" b="1" dirty="0"/>
              <a:t> </a:t>
            </a:r>
            <a:r>
              <a:rPr lang="en-US" b="1" dirty="0" err="1"/>
              <a:t>شود</a:t>
            </a:r>
            <a:r>
              <a:rPr lang="en-US" b="1" dirty="0"/>
              <a:t>.</a:t>
            </a:r>
            <a:endParaRPr lang="en-US" dirty="0"/>
          </a:p>
          <a:p>
            <a:pPr algn="r" rtl="1"/>
            <a:r>
              <a:rPr lang="en-US" dirty="0" err="1"/>
              <a:t>به</a:t>
            </a:r>
            <a:r>
              <a:rPr lang="en-US" dirty="0"/>
              <a:t> </a:t>
            </a:r>
            <a:r>
              <a:rPr lang="en-US" dirty="0" err="1"/>
              <a:t>همین</a:t>
            </a:r>
            <a:r>
              <a:rPr lang="en-US" dirty="0"/>
              <a:t> </a:t>
            </a:r>
            <a:r>
              <a:rPr lang="en-US" dirty="0" err="1"/>
              <a:t>دلیل</a:t>
            </a:r>
            <a:r>
              <a:rPr lang="en-US" dirty="0"/>
              <a:t> </a:t>
            </a:r>
            <a:r>
              <a:rPr lang="en-US" dirty="0" err="1"/>
              <a:t>اصطلاح</a:t>
            </a:r>
            <a:r>
              <a:rPr lang="en-US" dirty="0"/>
              <a:t>:</a:t>
            </a:r>
          </a:p>
          <a:p>
            <a:pPr algn="r" rtl="1"/>
            <a:r>
              <a:rPr lang="en-US" b="1" dirty="0"/>
              <a:t>SQL Reloaded</a:t>
            </a:r>
            <a:endParaRPr lang="en-US" dirty="0"/>
          </a:p>
          <a:p>
            <a:pPr algn="r" rtl="1"/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b="1" dirty="0" err="1"/>
              <a:t>بازگشت</a:t>
            </a:r>
            <a:r>
              <a:rPr lang="en-US" b="1" dirty="0"/>
              <a:t> SQL</a:t>
            </a:r>
            <a:r>
              <a:rPr lang="en-US" dirty="0"/>
              <a:t> </a:t>
            </a:r>
            <a:r>
              <a:rPr lang="en-US" dirty="0" err="1"/>
              <a:t>مطرح</a:t>
            </a:r>
            <a:r>
              <a:rPr lang="en-US" dirty="0"/>
              <a:t> </a:t>
            </a:r>
            <a:r>
              <a:rPr lang="en-US" dirty="0" err="1"/>
              <a:t>شد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۱. SQL Front-End </a:t>
            </a:r>
            <a:r>
              <a:rPr lang="en-US" b="1" dirty="0" err="1"/>
              <a:t>برای</a:t>
            </a:r>
            <a:r>
              <a:rPr lang="en-US" b="1" dirty="0"/>
              <a:t> </a:t>
            </a:r>
            <a:r>
              <a:rPr lang="en-US" b="1" dirty="0" err="1"/>
              <a:t>سیستم‌های</a:t>
            </a:r>
            <a:r>
              <a:rPr lang="en-US" b="1" dirty="0"/>
              <a:t> MapReduce</a:t>
            </a:r>
          </a:p>
          <a:p>
            <a:pPr algn="r" rtl="1"/>
            <a:r>
              <a:rPr lang="en-US" dirty="0" err="1"/>
              <a:t>ایده</a:t>
            </a:r>
            <a:r>
              <a:rPr lang="en-US" dirty="0"/>
              <a:t> </a:t>
            </a:r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بود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</a:t>
            </a:r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همچنان</a:t>
            </a:r>
            <a:r>
              <a:rPr lang="en-US" dirty="0"/>
              <a:t> </a:t>
            </a:r>
            <a:r>
              <a:rPr lang="en-US" dirty="0" err="1"/>
              <a:t>بتواند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SQL </a:t>
            </a:r>
            <a:r>
              <a:rPr lang="en-US" dirty="0" err="1"/>
              <a:t>استفاده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، </a:t>
            </a:r>
            <a:r>
              <a:rPr lang="en-US" dirty="0" err="1"/>
              <a:t>اما</a:t>
            </a:r>
            <a:r>
              <a:rPr lang="en-US" dirty="0"/>
              <a:t> </a:t>
            </a:r>
            <a:r>
              <a:rPr lang="en-US" dirty="0" err="1"/>
              <a:t>سیستم</a:t>
            </a:r>
            <a:r>
              <a:rPr lang="en-US" dirty="0"/>
              <a:t>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پشت</a:t>
            </a:r>
            <a:r>
              <a:rPr lang="en-US" dirty="0"/>
              <a:t> </a:t>
            </a:r>
            <a:r>
              <a:rPr lang="en-US" dirty="0" err="1"/>
              <a:t>صحنه</a:t>
            </a:r>
            <a:r>
              <a:rPr lang="en-US" dirty="0"/>
              <a:t>، query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به</a:t>
            </a:r>
            <a:r>
              <a:rPr lang="en-US" dirty="0"/>
              <a:t> </a:t>
            </a:r>
            <a:r>
              <a:rPr lang="en-US" dirty="0" err="1"/>
              <a:t>عملیات</a:t>
            </a:r>
            <a:r>
              <a:rPr lang="en-US" dirty="0"/>
              <a:t> </a:t>
            </a:r>
            <a:r>
              <a:rPr lang="en-US" dirty="0" err="1"/>
              <a:t>توزیع‌شده</a:t>
            </a:r>
            <a:r>
              <a:rPr lang="en-US" dirty="0"/>
              <a:t> </a:t>
            </a:r>
            <a:r>
              <a:rPr lang="en-US" dirty="0" err="1"/>
              <a:t>تبدیل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.</a:t>
            </a:r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70332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04F48141-AC33-4BB4-B9B9-0E58D9A72CB1}" type="slidenum">
              <a:rPr lang="en-US" altLang="en-US" sz="1200"/>
              <a:pPr algn="r"/>
              <a:t>38</a:t>
            </a:fld>
            <a:endParaRPr lang="en-US" altLang="en-US" sz="1200" dirty="0"/>
          </a:p>
        </p:txBody>
      </p:sp>
      <p:sp>
        <p:nvSpPr>
          <p:cNvPr id="706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706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0826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://www.db-book.com/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mailto:a0taghinezhad@gmail.com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7">
            <a:extLst>
              <a:ext uri="{FF2B5EF4-FFF2-40B4-BE49-F238E27FC236}">
                <a16:creationId xmlns:a16="http://schemas.microsoft.com/office/drawing/2014/main" id="{A25BB261-D773-4836-B381-7A051175F5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4938" y="5726113"/>
            <a:ext cx="3694112" cy="79375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b="1" dirty="0">
                <a:solidFill>
                  <a:srgbClr val="002060"/>
                </a:solidFill>
              </a:rPr>
              <a:t>Database System Concepts, 7</a:t>
            </a:r>
            <a:r>
              <a:rPr lang="en-US" altLang="en-US" b="1" baseline="30000" dirty="0">
                <a:solidFill>
                  <a:srgbClr val="002060"/>
                </a:solidFill>
              </a:rPr>
              <a:t>th</a:t>
            </a:r>
            <a:r>
              <a:rPr lang="en-US" altLang="en-US" b="1" dirty="0">
                <a:solidFill>
                  <a:srgbClr val="002060"/>
                </a:solidFill>
              </a:rPr>
              <a:t> Ed</a:t>
            </a:r>
            <a:r>
              <a:rPr lang="en-US" altLang="en-US" dirty="0">
                <a:solidFill>
                  <a:srgbClr val="002060"/>
                </a:solidFill>
              </a:rPr>
              <a:t>.</a:t>
            </a:r>
          </a:p>
          <a:p>
            <a:pPr algn="ctr">
              <a:spcBef>
                <a:spcPct val="50000"/>
              </a:spcBef>
              <a:defRPr/>
            </a:pPr>
            <a:r>
              <a:rPr lang="en-US" altLang="en-US" sz="1200" b="1" dirty="0">
                <a:solidFill>
                  <a:srgbClr val="002060"/>
                </a:solidFill>
              </a:rPr>
              <a:t>©Silberschatz, Korth and Sudarshan</a:t>
            </a:r>
            <a:br>
              <a:rPr lang="en-US" altLang="en-US" sz="1200" b="1" dirty="0">
                <a:solidFill>
                  <a:srgbClr val="002060"/>
                </a:solidFill>
              </a:rPr>
            </a:br>
            <a:r>
              <a:rPr lang="en-US" altLang="en-US" sz="1200" b="1" dirty="0">
                <a:solidFill>
                  <a:srgbClr val="002060"/>
                </a:solidFill>
              </a:rPr>
              <a:t>See </a:t>
            </a:r>
            <a:r>
              <a:rPr lang="en-US" altLang="en-US" sz="1200" b="1" dirty="0">
                <a:solidFill>
                  <a:srgbClr val="002060"/>
                </a:solidFill>
                <a:hlinkClick r:id="rId2"/>
              </a:rPr>
              <a:t>www.db-book.com</a:t>
            </a:r>
            <a:r>
              <a:rPr lang="en-US" altLang="en-US" sz="1200" b="1" dirty="0">
                <a:solidFill>
                  <a:srgbClr val="002060"/>
                </a:solidFill>
              </a:rPr>
              <a:t> for conditions on re-use </a:t>
            </a:r>
          </a:p>
        </p:txBody>
      </p:sp>
      <p:sp>
        <p:nvSpPr>
          <p:cNvPr id="5130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B4760F52-45E1-4E1D-A744-2F2290DE90C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6596063" y="6218238"/>
            <a:ext cx="1905000" cy="457200"/>
          </a:xfrm>
        </p:spPr>
        <p:txBody>
          <a:bodyPr/>
          <a:lstStyle>
            <a:lvl1pPr>
              <a:defRPr>
                <a:solidFill>
                  <a:srgbClr val="578963"/>
                </a:solidFill>
              </a:defRPr>
            </a:lvl1pPr>
          </a:lstStyle>
          <a:p>
            <a:pPr>
              <a:defRPr/>
            </a:pPr>
            <a:fld id="{3B69BB99-A72A-4470-971F-83530C443C9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9" name="Picture 8" descr="Cover-6Ed"/>
          <p:cNvPicPr>
            <a:picLocks noChangeAspect="1" noChangeArrowheads="1"/>
          </p:cNvPicPr>
          <p:nvPr userDrawn="1"/>
        </p:nvPicPr>
        <p:blipFill>
          <a:blip r:embed="rId3"/>
          <a:stretch>
            <a:fillRect/>
          </a:stretch>
        </p:blipFill>
        <p:spPr bwMode="auto">
          <a:xfrm>
            <a:off x="13858" y="0"/>
            <a:ext cx="1331269" cy="170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60487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42900" indent="-342900">
              <a:buSzPct val="110000"/>
              <a:buFont typeface="Wingdings" panose="05000000000000000000" pitchFamily="2" charset="2"/>
              <a:buChar char="§"/>
              <a:defRPr sz="1700"/>
            </a:lvl1pPr>
            <a:lvl2pPr marL="742950" indent="-285750">
              <a:buSzPct val="110000"/>
              <a:buFont typeface="Arial" panose="020B0604020202020204" pitchFamily="34" charset="0"/>
              <a:buChar char="•"/>
              <a:defRPr sz="1700"/>
            </a:lvl2pPr>
            <a:lvl3pPr marL="1085850" indent="-228600">
              <a:buFont typeface="Wingdings" panose="05000000000000000000" pitchFamily="2" charset="2"/>
              <a:buChar char="§"/>
              <a:defRPr sz="1700"/>
            </a:lvl3pPr>
            <a:lvl4pPr marL="1428750" indent="-228600">
              <a:buFont typeface="Arial" panose="020B0604020202020204" pitchFamily="34" charset="0"/>
              <a:buChar char="•"/>
              <a:defRPr sz="1700"/>
            </a:lvl4pPr>
            <a:lvl5pPr marL="1771650" indent="-228600">
              <a:buFont typeface="Wingdings" panose="05000000000000000000" pitchFamily="2" charset="2"/>
              <a:buChar char="§"/>
              <a:defRPr sz="17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24371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6F2EBE-FF5F-4F9D-A3C2-A59A92D7809D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7F3CAF-32BF-49A6-93F1-59C9E4B7C95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0709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4388" y="1093788"/>
            <a:ext cx="3754437" cy="4903787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1225" y="1093788"/>
            <a:ext cx="3754438" cy="4903787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A6D4A7F0-1138-4608-80AA-D0A6F5D4118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852D5F-D37B-4E9D-98AD-511A1ABBD6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10802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6DFCFB3-6710-4DD2-8404-7E55A930F35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191CCC-CC48-429B-87C9-7123B48E52D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19042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B431453-8F56-47C4-89BA-3EDF3CD092B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9D92F0-DB25-4E6B-A10D-A7937AC7A3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36005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4BE8099E-18A5-481A-9697-216087BE067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555C8E-F740-4D28-8DA3-D7B8E0F6F57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32147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7E2C57D-1205-411A-BA90-DF60A810F6D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BBE5B0-1186-4DAB-9E97-511F15F5C63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48809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9EB6957-06EE-46F8-A450-3DB417A1F8A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291DB2E-7BC4-4C22-ACAE-0B8B3F0C514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814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ounded Rectangle 29"/>
          <p:cNvSpPr/>
          <p:nvPr/>
        </p:nvSpPr>
        <p:spPr bwMode="white">
          <a:xfrm>
            <a:off x="5410200" y="3962400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 dirty="0"/>
          </a:p>
        </p:txBody>
      </p:sp>
      <p:sp useBgFill="1">
        <p:nvSpPr>
          <p:cNvPr id="31" name="Rounded Rectangle 30"/>
          <p:cNvSpPr/>
          <p:nvPr/>
        </p:nvSpPr>
        <p:spPr bwMode="white">
          <a:xfrm>
            <a:off x="7376507" y="406098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 dirty="0"/>
          </a:p>
        </p:txBody>
      </p:sp>
      <p:sp>
        <p:nvSpPr>
          <p:cNvPr id="10" name="Rectangle 9"/>
          <p:cNvSpPr/>
          <p:nvPr/>
        </p:nvSpPr>
        <p:spPr>
          <a:xfrm>
            <a:off x="-26671" y="6178558"/>
            <a:ext cx="9144001" cy="6794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marL="0" indent="0"/>
            <a:r>
              <a:rPr lang="en-US" sz="1800" dirty="0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Website: </a:t>
            </a:r>
            <a:r>
              <a:rPr lang="en-US" sz="1800" dirty="0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ataghinezhad</a:t>
            </a:r>
            <a:r>
              <a:rPr lang="en-US" sz="1800" dirty="0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.github.io, Email:a0taghinezhad@gmail.com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15240"/>
            <a:ext cx="5475317" cy="6157952"/>
          </a:xfrm>
          <a:prstGeom prst="rect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8320089" y="1136"/>
            <a:ext cx="747712" cy="365760"/>
          </a:xfrm>
        </p:spPr>
        <p:txBody>
          <a:bodyPr/>
          <a:lstStyle>
            <a:lvl1pPr algn="r">
              <a:defRPr sz="1350">
                <a:solidFill>
                  <a:schemeClr val="bg1"/>
                </a:solidFill>
              </a:defRPr>
            </a:lvl1pPr>
          </a:lstStyle>
          <a:p>
            <a:fld id="{401CF334-2D5C-4859-84A6-CA7E6E43FAE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Subtitle 8"/>
          <p:cNvSpPr>
            <a:spLocks noGrp="1"/>
          </p:cNvSpPr>
          <p:nvPr>
            <p:ph type="subTitle" idx="1" hasCustomPrompt="1"/>
          </p:nvPr>
        </p:nvSpPr>
        <p:spPr>
          <a:xfrm>
            <a:off x="-1" y="3941143"/>
            <a:ext cx="5040631" cy="2195473"/>
          </a:xfrm>
          <a:solidFill>
            <a:schemeClr val="accent6">
              <a:lumMod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>
            <a:normAutofit/>
          </a:bodyPr>
          <a:lstStyle>
            <a:lvl1pPr marL="0" indent="0" algn="l">
              <a:buNone/>
              <a:defRPr sz="2100">
                <a:solidFill>
                  <a:schemeClr val="bg1"/>
                </a:solidFill>
              </a:defRPr>
            </a:lvl1pPr>
            <a:lvl2pPr marL="342900" indent="0" algn="ctr">
              <a:buNone/>
            </a:lvl2pPr>
            <a:lvl3pPr marL="685800" indent="0" algn="ctr">
              <a:buNone/>
            </a:lvl3pPr>
            <a:lvl4pPr marL="1028700" indent="0" algn="ctr">
              <a:buNone/>
            </a:lvl4pPr>
            <a:lvl5pPr marL="1371600" indent="0" algn="ctr">
              <a:buNone/>
            </a:lvl5pPr>
            <a:lvl6pPr marL="1714500" indent="0" algn="ctr">
              <a:buNone/>
            </a:lvl6pPr>
            <a:lvl7pPr marL="2057400" indent="0" algn="ctr">
              <a:buNone/>
            </a:lvl7pPr>
            <a:lvl8pPr marL="2400300" indent="0" algn="ctr">
              <a:buNone/>
            </a:lvl8pPr>
            <a:lvl9pPr marL="2743200" indent="0" algn="ctr">
              <a:buNone/>
            </a:lvl9pPr>
          </a:lstStyle>
          <a:p>
            <a:pPr marL="0" indent="0"/>
            <a:r>
              <a:rPr lang="en-US" sz="2400" dirty="0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A. </a:t>
            </a:r>
            <a:r>
              <a:rPr lang="en-US" sz="2400" dirty="0" err="1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Taghinezhad</a:t>
            </a:r>
            <a:r>
              <a:rPr lang="en-US" sz="2400" dirty="0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, Ph.D.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0" y="526792"/>
            <a:ext cx="5173884" cy="3345122"/>
          </a:xfrm>
        </p:spPr>
        <p:txBody>
          <a:bodyPr anchor="ctr">
            <a:normAutofit/>
          </a:bodyPr>
          <a:lstStyle>
            <a:lvl1pPr algn="ctr">
              <a:defRPr sz="3600" b="1" cap="none" spc="0">
                <a:ln w="10160">
                  <a:solidFill>
                    <a:schemeClr val="bg1">
                      <a:lumMod val="6500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</a:defRPr>
            </a:lvl1pPr>
          </a:lstStyle>
          <a:p>
            <a:r>
              <a:rPr kumimoji="0" lang="en-US" dirty="0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5CD0CE-D72A-4B82-BE8F-AF060BA4D5F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16772" y="744634"/>
            <a:ext cx="3751029" cy="4765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274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50AD-734E-45C7-8042-5795FFAD675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E5E31B-1343-4510-8DCD-65E7B654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63046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26250" y="117475"/>
            <a:ext cx="2019300" cy="58801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8350" y="117475"/>
            <a:ext cx="5905500" cy="58801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A7A2CD-B5B0-4CF6-8038-339B0E99E36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33574B0-C055-4E38-82A9-667A1DF1F8D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946499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796C49-4A73-449B-A170-DFFCD45313D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00D9E99-A0D8-4F2F-B04A-331DF655FE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2825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56112478-D9B7-4D0D-ADE5-62D5EFAAFB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48145" y="1093788"/>
            <a:ext cx="7727518" cy="4903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512003" name="Rectangle 3">
            <a:extLst>
              <a:ext uri="{FF2B5EF4-FFF2-40B4-BE49-F238E27FC236}">
                <a16:creationId xmlns:a16="http://schemas.microsoft.com/office/drawing/2014/main" id="{D2EB5033-CF44-472B-B77D-FAA18581E631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>
                <a:solidFill>
                  <a:srgbClr val="002060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8BECA7E0-09BC-41D3-BD93-B7E81A2ACCB7}" type="slidenum">
              <a:rPr lang="en-US" altLang="en-US" smtClean="0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028" name="Text Box 4">
            <a:extLst>
              <a:ext uri="{FF2B5EF4-FFF2-40B4-BE49-F238E27FC236}">
                <a16:creationId xmlns:a16="http://schemas.microsoft.com/office/drawing/2014/main" id="{D0CFC8B2-2C6C-4CA4-9AFC-14298F0DD4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3311" y="6613525"/>
            <a:ext cx="1180131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b="1" dirty="0">
                <a:solidFill>
                  <a:srgbClr val="002060"/>
                </a:solidFill>
              </a:rPr>
              <a:t>Dr. Taghinezhad</a:t>
            </a:r>
          </a:p>
        </p:txBody>
      </p:sp>
      <p:sp>
        <p:nvSpPr>
          <p:cNvPr id="512005" name="Text Box 5">
            <a:extLst>
              <a:ext uri="{FF2B5EF4-FFF2-40B4-BE49-F238E27FC236}">
                <a16:creationId xmlns:a16="http://schemas.microsoft.com/office/drawing/2014/main" id="{ED25C836-0663-424A-84A7-5AB80342286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79984" y="6613525"/>
            <a:ext cx="447558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b="1" dirty="0">
                <a:solidFill>
                  <a:srgbClr val="002060"/>
                </a:solidFill>
              </a:rPr>
              <a:t>1.</a:t>
            </a:r>
            <a:fld id="{669DE52E-05EC-4487-BE79-3F9A6A9F8797}" type="slidenum">
              <a:rPr lang="en-US" altLang="en-US" sz="1000" b="1" smtClean="0">
                <a:solidFill>
                  <a:srgbClr val="002060"/>
                </a:solidFill>
              </a:rPr>
              <a:pPr algn="ctr">
                <a:spcBef>
                  <a:spcPct val="50000"/>
                </a:spcBef>
                <a:defRPr/>
              </a:pPr>
              <a:t>‹#›</a:t>
            </a:fld>
            <a:endParaRPr lang="en-US" altLang="en-US" sz="1000" b="1" dirty="0">
              <a:solidFill>
                <a:srgbClr val="002060"/>
              </a:solidFill>
            </a:endParaRPr>
          </a:p>
        </p:txBody>
      </p:sp>
      <p:sp>
        <p:nvSpPr>
          <p:cNvPr id="512006" name="Rectangle 6">
            <a:extLst>
              <a:ext uri="{FF2B5EF4-FFF2-40B4-BE49-F238E27FC236}">
                <a16:creationId xmlns:a16="http://schemas.microsoft.com/office/drawing/2014/main" id="{BFAC4B4C-D3C2-4A14-871E-CC7D45F076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768350" y="117475"/>
            <a:ext cx="8077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1" name="Text Box 7">
            <a:extLst>
              <a:ext uri="{FF2B5EF4-FFF2-40B4-BE49-F238E27FC236}">
                <a16:creationId xmlns:a16="http://schemas.microsoft.com/office/drawing/2014/main" id="{5472E9A1-C06F-4393-872E-7F8100F916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6613525"/>
            <a:ext cx="257175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sz="1000" b="1" dirty="0">
                <a:solidFill>
                  <a:srgbClr val="002060"/>
                </a:solidFill>
              </a:rPr>
              <a:t>Database System Concepts - 7</a:t>
            </a:r>
            <a:r>
              <a:rPr lang="en-US" sz="1000" b="1" baseline="30000" dirty="0">
                <a:solidFill>
                  <a:srgbClr val="002060"/>
                </a:solidFill>
              </a:rPr>
              <a:t>th</a:t>
            </a:r>
            <a:r>
              <a:rPr lang="en-US" sz="1000" b="1" dirty="0">
                <a:solidFill>
                  <a:srgbClr val="002060"/>
                </a:solidFill>
              </a:rPr>
              <a:t> Edition</a:t>
            </a:r>
          </a:p>
        </p:txBody>
      </p:sp>
      <p:sp>
        <p:nvSpPr>
          <p:cNvPr id="1032" name="Freeform 8">
            <a:extLst>
              <a:ext uri="{FF2B5EF4-FFF2-40B4-BE49-F238E27FC236}">
                <a16:creationId xmlns:a16="http://schemas.microsoft.com/office/drawing/2014/main" id="{0362D880-06BD-4D02-876C-3226AC8E6F10}"/>
              </a:ext>
            </a:extLst>
          </p:cNvPr>
          <p:cNvSpPr>
            <a:spLocks/>
          </p:cNvSpPr>
          <p:nvPr/>
        </p:nvSpPr>
        <p:spPr bwMode="auto">
          <a:xfrm>
            <a:off x="8916988" y="5445125"/>
            <a:ext cx="227012" cy="47625"/>
          </a:xfrm>
          <a:custGeom>
            <a:avLst/>
            <a:gdLst>
              <a:gd name="T0" fmla="*/ 0 w 285"/>
              <a:gd name="T1" fmla="*/ 2147483646 h 61"/>
              <a:gd name="T2" fmla="*/ 2147483646 w 285"/>
              <a:gd name="T3" fmla="*/ 2147483646 h 61"/>
              <a:gd name="T4" fmla="*/ 2147483646 w 285"/>
              <a:gd name="T5" fmla="*/ 2147483646 h 61"/>
              <a:gd name="T6" fmla="*/ 2147483646 w 285"/>
              <a:gd name="T7" fmla="*/ 2147483646 h 61"/>
              <a:gd name="T8" fmla="*/ 2147483646 w 285"/>
              <a:gd name="T9" fmla="*/ 2147483646 h 61"/>
              <a:gd name="T10" fmla="*/ 2147483646 w 285"/>
              <a:gd name="T11" fmla="*/ 2147483646 h 61"/>
              <a:gd name="T12" fmla="*/ 2147483646 w 285"/>
              <a:gd name="T13" fmla="*/ 2147483646 h 61"/>
              <a:gd name="T14" fmla="*/ 2147483646 w 285"/>
              <a:gd name="T15" fmla="*/ 2147483646 h 61"/>
              <a:gd name="T16" fmla="*/ 2147483646 w 285"/>
              <a:gd name="T17" fmla="*/ 0 h 61"/>
              <a:gd name="T18" fmla="*/ 2147483646 w 285"/>
              <a:gd name="T19" fmla="*/ 0 h 61"/>
              <a:gd name="T20" fmla="*/ 2147483646 w 285"/>
              <a:gd name="T21" fmla="*/ 0 h 61"/>
              <a:gd name="T22" fmla="*/ 2147483646 w 285"/>
              <a:gd name="T23" fmla="*/ 0 h 61"/>
              <a:gd name="T24" fmla="*/ 2147483646 w 285"/>
              <a:gd name="T25" fmla="*/ 2147483646 h 61"/>
              <a:gd name="T26" fmla="*/ 2147483646 w 285"/>
              <a:gd name="T27" fmla="*/ 2147483646 h 61"/>
              <a:gd name="T28" fmla="*/ 2147483646 w 285"/>
              <a:gd name="T29" fmla="*/ 2147483646 h 61"/>
              <a:gd name="T30" fmla="*/ 2147483646 w 285"/>
              <a:gd name="T31" fmla="*/ 2147483646 h 61"/>
              <a:gd name="T32" fmla="*/ 2147483646 w 285"/>
              <a:gd name="T33" fmla="*/ 2147483646 h 61"/>
              <a:gd name="T34" fmla="*/ 2147483646 w 285"/>
              <a:gd name="T35" fmla="*/ 2147483646 h 61"/>
              <a:gd name="T36" fmla="*/ 2147483646 w 285"/>
              <a:gd name="T37" fmla="*/ 2147483646 h 61"/>
              <a:gd name="T38" fmla="*/ 2147483646 w 285"/>
              <a:gd name="T39" fmla="*/ 2147483646 h 61"/>
              <a:gd name="T40" fmla="*/ 2147483646 w 285"/>
              <a:gd name="T41" fmla="*/ 2147483646 h 61"/>
              <a:gd name="T42" fmla="*/ 2147483646 w 285"/>
              <a:gd name="T43" fmla="*/ 2147483646 h 61"/>
              <a:gd name="T44" fmla="*/ 2147483646 w 285"/>
              <a:gd name="T45" fmla="*/ 2147483646 h 61"/>
              <a:gd name="T46" fmla="*/ 2147483646 w 285"/>
              <a:gd name="T47" fmla="*/ 2147483646 h 61"/>
              <a:gd name="T48" fmla="*/ 2147483646 w 285"/>
              <a:gd name="T49" fmla="*/ 2147483646 h 61"/>
              <a:gd name="T50" fmla="*/ 2147483646 w 285"/>
              <a:gd name="T51" fmla="*/ 2147483646 h 61"/>
              <a:gd name="T52" fmla="*/ 2147483646 w 285"/>
              <a:gd name="T53" fmla="*/ 2147483646 h 61"/>
              <a:gd name="T54" fmla="*/ 2147483646 w 285"/>
              <a:gd name="T55" fmla="*/ 2147483646 h 61"/>
              <a:gd name="T56" fmla="*/ 2147483646 w 285"/>
              <a:gd name="T57" fmla="*/ 2147483646 h 61"/>
              <a:gd name="T58" fmla="*/ 2147483646 w 285"/>
              <a:gd name="T59" fmla="*/ 2147483646 h 61"/>
              <a:gd name="T60" fmla="*/ 2147483646 w 285"/>
              <a:gd name="T61" fmla="*/ 2147483646 h 61"/>
              <a:gd name="T62" fmla="*/ 2147483646 w 285"/>
              <a:gd name="T63" fmla="*/ 2147483646 h 61"/>
              <a:gd name="T64" fmla="*/ 2147483646 w 285"/>
              <a:gd name="T65" fmla="*/ 2147483646 h 61"/>
              <a:gd name="T66" fmla="*/ 2147483646 w 285"/>
              <a:gd name="T67" fmla="*/ 2147483646 h 61"/>
              <a:gd name="T68" fmla="*/ 2147483646 w 285"/>
              <a:gd name="T69" fmla="*/ 2147483646 h 61"/>
              <a:gd name="T70" fmla="*/ 2147483646 w 285"/>
              <a:gd name="T71" fmla="*/ 2147483646 h 61"/>
              <a:gd name="T72" fmla="*/ 2147483646 w 285"/>
              <a:gd name="T73" fmla="*/ 2147483646 h 61"/>
              <a:gd name="T74" fmla="*/ 2147483646 w 285"/>
              <a:gd name="T75" fmla="*/ 2147483646 h 61"/>
              <a:gd name="T76" fmla="*/ 2147483646 w 285"/>
              <a:gd name="T77" fmla="*/ 2147483646 h 61"/>
              <a:gd name="T78" fmla="*/ 2147483646 w 285"/>
              <a:gd name="T79" fmla="*/ 2147483646 h 61"/>
              <a:gd name="T80" fmla="*/ 2147483646 w 285"/>
              <a:gd name="T81" fmla="*/ 2147483646 h 61"/>
              <a:gd name="T82" fmla="*/ 2147483646 w 285"/>
              <a:gd name="T83" fmla="*/ 2147483646 h 61"/>
              <a:gd name="T84" fmla="*/ 2147483646 w 285"/>
              <a:gd name="T85" fmla="*/ 2147483646 h 61"/>
              <a:gd name="T86" fmla="*/ 2147483646 w 285"/>
              <a:gd name="T87" fmla="*/ 2147483646 h 61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</a:gdLst>
            <a:ahLst/>
            <a:cxnLst>
              <a:cxn ang="T88">
                <a:pos x="T0" y="T1"/>
              </a:cxn>
              <a:cxn ang="T89">
                <a:pos x="T2" y="T3"/>
              </a:cxn>
              <a:cxn ang="T90">
                <a:pos x="T4" y="T5"/>
              </a:cxn>
              <a:cxn ang="T91">
                <a:pos x="T6" y="T7"/>
              </a:cxn>
              <a:cxn ang="T92">
                <a:pos x="T8" y="T9"/>
              </a:cxn>
              <a:cxn ang="T93">
                <a:pos x="T10" y="T11"/>
              </a:cxn>
              <a:cxn ang="T94">
                <a:pos x="T12" y="T13"/>
              </a:cxn>
              <a:cxn ang="T95">
                <a:pos x="T14" y="T15"/>
              </a:cxn>
              <a:cxn ang="T96">
                <a:pos x="T16" y="T17"/>
              </a:cxn>
              <a:cxn ang="T97">
                <a:pos x="T18" y="T19"/>
              </a:cxn>
              <a:cxn ang="T98">
                <a:pos x="T20" y="T21"/>
              </a:cxn>
              <a:cxn ang="T99">
                <a:pos x="T22" y="T23"/>
              </a:cxn>
              <a:cxn ang="T100">
                <a:pos x="T24" y="T25"/>
              </a:cxn>
              <a:cxn ang="T101">
                <a:pos x="T26" y="T27"/>
              </a:cxn>
              <a:cxn ang="T102">
                <a:pos x="T28" y="T29"/>
              </a:cxn>
              <a:cxn ang="T103">
                <a:pos x="T30" y="T31"/>
              </a:cxn>
              <a:cxn ang="T104">
                <a:pos x="T32" y="T33"/>
              </a:cxn>
              <a:cxn ang="T105">
                <a:pos x="T34" y="T35"/>
              </a:cxn>
              <a:cxn ang="T106">
                <a:pos x="T36" y="T37"/>
              </a:cxn>
              <a:cxn ang="T107">
                <a:pos x="T38" y="T39"/>
              </a:cxn>
              <a:cxn ang="T108">
                <a:pos x="T40" y="T41"/>
              </a:cxn>
              <a:cxn ang="T109">
                <a:pos x="T42" y="T43"/>
              </a:cxn>
              <a:cxn ang="T110">
                <a:pos x="T44" y="T45"/>
              </a:cxn>
              <a:cxn ang="T111">
                <a:pos x="T46" y="T47"/>
              </a:cxn>
              <a:cxn ang="T112">
                <a:pos x="T48" y="T49"/>
              </a:cxn>
              <a:cxn ang="T113">
                <a:pos x="T50" y="T51"/>
              </a:cxn>
              <a:cxn ang="T114">
                <a:pos x="T52" y="T53"/>
              </a:cxn>
              <a:cxn ang="T115">
                <a:pos x="T54" y="T55"/>
              </a:cxn>
              <a:cxn ang="T116">
                <a:pos x="T56" y="T57"/>
              </a:cxn>
              <a:cxn ang="T117">
                <a:pos x="T58" y="T59"/>
              </a:cxn>
              <a:cxn ang="T118">
                <a:pos x="T60" y="T61"/>
              </a:cxn>
              <a:cxn ang="T119">
                <a:pos x="T62" y="T63"/>
              </a:cxn>
              <a:cxn ang="T120">
                <a:pos x="T64" y="T65"/>
              </a:cxn>
              <a:cxn ang="T121">
                <a:pos x="T66" y="T67"/>
              </a:cxn>
              <a:cxn ang="T122">
                <a:pos x="T68" y="T69"/>
              </a:cxn>
              <a:cxn ang="T123">
                <a:pos x="T70" y="T71"/>
              </a:cxn>
              <a:cxn ang="T124">
                <a:pos x="T72" y="T73"/>
              </a:cxn>
              <a:cxn ang="T125">
                <a:pos x="T74" y="T75"/>
              </a:cxn>
              <a:cxn ang="T126">
                <a:pos x="T76" y="T77"/>
              </a:cxn>
              <a:cxn ang="T127">
                <a:pos x="T78" y="T79"/>
              </a:cxn>
              <a:cxn ang="T128">
                <a:pos x="T80" y="T81"/>
              </a:cxn>
              <a:cxn ang="T129">
                <a:pos x="T82" y="T83"/>
              </a:cxn>
              <a:cxn ang="T130">
                <a:pos x="T84" y="T85"/>
              </a:cxn>
              <a:cxn ang="T131">
                <a:pos x="T86" y="T87"/>
              </a:cxn>
            </a:cxnLst>
            <a:rect l="0" t="0" r="r" b="b"/>
            <a:pathLst>
              <a:path w="285" h="61">
                <a:moveTo>
                  <a:pt x="2" y="61"/>
                </a:moveTo>
                <a:lnTo>
                  <a:pt x="0" y="59"/>
                </a:lnTo>
                <a:lnTo>
                  <a:pt x="0" y="55"/>
                </a:lnTo>
                <a:lnTo>
                  <a:pt x="2" y="48"/>
                </a:lnTo>
                <a:lnTo>
                  <a:pt x="5" y="40"/>
                </a:lnTo>
                <a:lnTo>
                  <a:pt x="9" y="34"/>
                </a:lnTo>
                <a:lnTo>
                  <a:pt x="13" y="31"/>
                </a:lnTo>
                <a:lnTo>
                  <a:pt x="17" y="25"/>
                </a:lnTo>
                <a:lnTo>
                  <a:pt x="24" y="21"/>
                </a:lnTo>
                <a:lnTo>
                  <a:pt x="30" y="17"/>
                </a:lnTo>
                <a:lnTo>
                  <a:pt x="40" y="13"/>
                </a:lnTo>
                <a:lnTo>
                  <a:pt x="45" y="10"/>
                </a:lnTo>
                <a:lnTo>
                  <a:pt x="51" y="8"/>
                </a:lnTo>
                <a:lnTo>
                  <a:pt x="57" y="6"/>
                </a:lnTo>
                <a:lnTo>
                  <a:pt x="64" y="6"/>
                </a:lnTo>
                <a:lnTo>
                  <a:pt x="70" y="2"/>
                </a:lnTo>
                <a:lnTo>
                  <a:pt x="78" y="2"/>
                </a:lnTo>
                <a:lnTo>
                  <a:pt x="85" y="0"/>
                </a:lnTo>
                <a:lnTo>
                  <a:pt x="93" y="0"/>
                </a:lnTo>
                <a:lnTo>
                  <a:pt x="100" y="0"/>
                </a:lnTo>
                <a:lnTo>
                  <a:pt x="110" y="0"/>
                </a:lnTo>
                <a:lnTo>
                  <a:pt x="118" y="0"/>
                </a:lnTo>
                <a:lnTo>
                  <a:pt x="129" y="0"/>
                </a:lnTo>
                <a:lnTo>
                  <a:pt x="137" y="0"/>
                </a:lnTo>
                <a:lnTo>
                  <a:pt x="146" y="2"/>
                </a:lnTo>
                <a:lnTo>
                  <a:pt x="154" y="2"/>
                </a:lnTo>
                <a:lnTo>
                  <a:pt x="163" y="4"/>
                </a:lnTo>
                <a:lnTo>
                  <a:pt x="173" y="6"/>
                </a:lnTo>
                <a:lnTo>
                  <a:pt x="182" y="8"/>
                </a:lnTo>
                <a:lnTo>
                  <a:pt x="192" y="8"/>
                </a:lnTo>
                <a:lnTo>
                  <a:pt x="201" y="12"/>
                </a:lnTo>
                <a:lnTo>
                  <a:pt x="209" y="12"/>
                </a:lnTo>
                <a:lnTo>
                  <a:pt x="216" y="13"/>
                </a:lnTo>
                <a:lnTo>
                  <a:pt x="224" y="15"/>
                </a:lnTo>
                <a:lnTo>
                  <a:pt x="234" y="17"/>
                </a:lnTo>
                <a:lnTo>
                  <a:pt x="239" y="19"/>
                </a:lnTo>
                <a:lnTo>
                  <a:pt x="247" y="21"/>
                </a:lnTo>
                <a:lnTo>
                  <a:pt x="254" y="23"/>
                </a:lnTo>
                <a:lnTo>
                  <a:pt x="260" y="25"/>
                </a:lnTo>
                <a:lnTo>
                  <a:pt x="266" y="25"/>
                </a:lnTo>
                <a:lnTo>
                  <a:pt x="270" y="27"/>
                </a:lnTo>
                <a:lnTo>
                  <a:pt x="273" y="27"/>
                </a:lnTo>
                <a:lnTo>
                  <a:pt x="279" y="29"/>
                </a:lnTo>
                <a:lnTo>
                  <a:pt x="283" y="31"/>
                </a:lnTo>
                <a:lnTo>
                  <a:pt x="285" y="32"/>
                </a:lnTo>
                <a:lnTo>
                  <a:pt x="279" y="44"/>
                </a:lnTo>
                <a:lnTo>
                  <a:pt x="277" y="44"/>
                </a:lnTo>
                <a:lnTo>
                  <a:pt x="273" y="42"/>
                </a:lnTo>
                <a:lnTo>
                  <a:pt x="268" y="42"/>
                </a:lnTo>
                <a:lnTo>
                  <a:pt x="260" y="40"/>
                </a:lnTo>
                <a:lnTo>
                  <a:pt x="251" y="38"/>
                </a:lnTo>
                <a:lnTo>
                  <a:pt x="241" y="36"/>
                </a:lnTo>
                <a:lnTo>
                  <a:pt x="235" y="34"/>
                </a:lnTo>
                <a:lnTo>
                  <a:pt x="230" y="34"/>
                </a:lnTo>
                <a:lnTo>
                  <a:pt x="224" y="32"/>
                </a:lnTo>
                <a:lnTo>
                  <a:pt x="218" y="32"/>
                </a:lnTo>
                <a:lnTo>
                  <a:pt x="213" y="31"/>
                </a:lnTo>
                <a:lnTo>
                  <a:pt x="207" y="31"/>
                </a:lnTo>
                <a:lnTo>
                  <a:pt x="201" y="29"/>
                </a:lnTo>
                <a:lnTo>
                  <a:pt x="196" y="29"/>
                </a:lnTo>
                <a:lnTo>
                  <a:pt x="190" y="27"/>
                </a:lnTo>
                <a:lnTo>
                  <a:pt x="182" y="27"/>
                </a:lnTo>
                <a:lnTo>
                  <a:pt x="178" y="25"/>
                </a:lnTo>
                <a:lnTo>
                  <a:pt x="173" y="25"/>
                </a:lnTo>
                <a:lnTo>
                  <a:pt x="167" y="23"/>
                </a:lnTo>
                <a:lnTo>
                  <a:pt x="163" y="23"/>
                </a:lnTo>
                <a:lnTo>
                  <a:pt x="158" y="21"/>
                </a:lnTo>
                <a:lnTo>
                  <a:pt x="154" y="21"/>
                </a:lnTo>
                <a:lnTo>
                  <a:pt x="148" y="19"/>
                </a:lnTo>
                <a:lnTo>
                  <a:pt x="142" y="19"/>
                </a:lnTo>
                <a:lnTo>
                  <a:pt x="144" y="48"/>
                </a:lnTo>
                <a:lnTo>
                  <a:pt x="110" y="15"/>
                </a:lnTo>
                <a:lnTo>
                  <a:pt x="118" y="48"/>
                </a:lnTo>
                <a:lnTo>
                  <a:pt x="83" y="21"/>
                </a:lnTo>
                <a:lnTo>
                  <a:pt x="91" y="48"/>
                </a:lnTo>
                <a:lnTo>
                  <a:pt x="59" y="29"/>
                </a:lnTo>
                <a:lnTo>
                  <a:pt x="57" y="29"/>
                </a:lnTo>
                <a:lnTo>
                  <a:pt x="53" y="31"/>
                </a:lnTo>
                <a:lnTo>
                  <a:pt x="49" y="31"/>
                </a:lnTo>
                <a:lnTo>
                  <a:pt x="43" y="34"/>
                </a:lnTo>
                <a:lnTo>
                  <a:pt x="38" y="36"/>
                </a:lnTo>
                <a:lnTo>
                  <a:pt x="32" y="38"/>
                </a:lnTo>
                <a:lnTo>
                  <a:pt x="26" y="42"/>
                </a:lnTo>
                <a:lnTo>
                  <a:pt x="23" y="44"/>
                </a:lnTo>
                <a:lnTo>
                  <a:pt x="15" y="50"/>
                </a:lnTo>
                <a:lnTo>
                  <a:pt x="7" y="55"/>
                </a:lnTo>
                <a:lnTo>
                  <a:pt x="4" y="59"/>
                </a:lnTo>
                <a:lnTo>
                  <a:pt x="2" y="6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N"/>
          </a:p>
        </p:txBody>
      </p:sp>
      <p:pic>
        <p:nvPicPr>
          <p:cNvPr id="10" name="Picture 8" descr="Cover-6Ed"/>
          <p:cNvPicPr>
            <a:picLocks noChangeAspect="1" noChangeArrowheads="1"/>
          </p:cNvPicPr>
          <p:nvPr userDrawn="1"/>
        </p:nvPicPr>
        <p:blipFill>
          <a:blip r:embed="rId15"/>
          <a:stretch>
            <a:fillRect/>
          </a:stretch>
        </p:blipFill>
        <p:spPr bwMode="auto">
          <a:xfrm>
            <a:off x="5546" y="0"/>
            <a:ext cx="742012" cy="9476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9207D3-2731-462B-8CC6-46B4151E91B3}"/>
              </a:ext>
            </a:extLst>
          </p:cNvPr>
          <p:cNvSpPr txBox="1"/>
          <p:nvPr userDrawn="1"/>
        </p:nvSpPr>
        <p:spPr>
          <a:xfrm>
            <a:off x="468351" y="4799485"/>
            <a:ext cx="77219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7FCFF"/>
                </a:solidFill>
              </a:rPr>
              <a:t>https://ataghinezhad.github.io/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62" r:id="rId10"/>
    <p:sldLayoutId id="2147483758" r:id="rId11"/>
    <p:sldLayoutId id="2147483759" r:id="rId12"/>
    <p:sldLayoutId id="2147483760" r:id="rId1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+mj-lt"/>
          <a:ea typeface="MS PGothic" panose="020B0600070205080204" pitchFamily="34" charset="-128"/>
          <a:cs typeface="ＭＳ Ｐゴシック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MS PGothic" panose="020B0600070205080204" pitchFamily="34" charset="-128"/>
          <a:cs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MS PGothic" panose="020B0600070205080204" pitchFamily="34" charset="-128"/>
          <a:cs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MS PGothic" panose="020B0600070205080204" pitchFamily="34" charset="-128"/>
          <a:cs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MS PGothic" panose="020B0600070205080204" pitchFamily="34" charset="-128"/>
          <a:cs typeface="ＭＳ Ｐゴシック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9pPr>
    </p:titleStyle>
    <p:bodyStyle>
      <a:lvl1pPr marL="342900" indent="-342900" algn="l" rtl="0" eaLnBrk="0" fontAlgn="base" hangingPunct="0">
        <a:spcBef>
          <a:spcPct val="35000"/>
        </a:spcBef>
        <a:spcAft>
          <a:spcPct val="0"/>
        </a:spcAft>
        <a:buClr>
          <a:srgbClr val="002060"/>
        </a:buClr>
        <a:buSzPct val="100000"/>
        <a:buFont typeface="Monotype Sorts" pitchFamily="-65" charset="2"/>
        <a:buChar char="n"/>
        <a:defRPr kumimoji="1" sz="1700">
          <a:solidFill>
            <a:schemeClr val="tx1"/>
          </a:solidFill>
          <a:latin typeface="+mn-lt"/>
          <a:ea typeface="MS PGothic" panose="020B0600070205080204" pitchFamily="34" charset="-128"/>
          <a:cs typeface="ＭＳ Ｐゴシック" charset="0"/>
        </a:defRPr>
      </a:lvl1pPr>
      <a:lvl2pPr marL="742950" indent="-285750" algn="l" rtl="0" eaLnBrk="0" fontAlgn="base" hangingPunct="0">
        <a:spcBef>
          <a:spcPct val="35000"/>
        </a:spcBef>
        <a:spcAft>
          <a:spcPct val="0"/>
        </a:spcAft>
        <a:buClr>
          <a:schemeClr val="folHlink"/>
        </a:buClr>
        <a:buSzPct val="95000"/>
        <a:buFont typeface="Monotype Sorts" pitchFamily="-65" charset="2"/>
        <a:buChar char="l"/>
        <a:defRPr kumimoji="1" sz="1700">
          <a:solidFill>
            <a:schemeClr val="tx1"/>
          </a:solidFill>
          <a:latin typeface="+mn-lt"/>
          <a:ea typeface="MS PGothic" panose="020B0600070205080204" pitchFamily="34" charset="-128"/>
        </a:defRPr>
      </a:lvl2pPr>
      <a:lvl3pPr marL="1085850" indent="-228600" algn="l" rtl="0" eaLnBrk="0" fontAlgn="base" hangingPunct="0">
        <a:spcBef>
          <a:spcPct val="35000"/>
        </a:spcBef>
        <a:spcAft>
          <a:spcPct val="0"/>
        </a:spcAft>
        <a:buClr>
          <a:srgbClr val="33CC33"/>
        </a:buClr>
        <a:buSzPct val="85000"/>
        <a:buFont typeface="Webdings" panose="05030102010509060703" pitchFamily="18" charset="2"/>
        <a:buChar char="4"/>
        <a:defRPr kumimoji="1" sz="1700">
          <a:solidFill>
            <a:schemeClr val="tx1"/>
          </a:solidFill>
          <a:latin typeface="+mn-lt"/>
          <a:ea typeface="MS PGothic" panose="020B0600070205080204" pitchFamily="34" charset="-128"/>
        </a:defRPr>
      </a:lvl3pPr>
      <a:lvl4pPr marL="1428750" indent="-228600" algn="l" rtl="0" eaLnBrk="0" fontAlgn="base" hangingPunct="0">
        <a:spcBef>
          <a:spcPct val="35000"/>
        </a:spcBef>
        <a:spcAft>
          <a:spcPct val="0"/>
        </a:spcAft>
        <a:buClr>
          <a:schemeClr val="hlink"/>
        </a:buClr>
        <a:buFont typeface="Times New Roman" panose="02020603050405020304" pitchFamily="18" charset="0"/>
        <a:buChar char="–"/>
        <a:defRPr kumimoji="1" sz="1700">
          <a:solidFill>
            <a:schemeClr val="tx1"/>
          </a:solidFill>
          <a:latin typeface="+mn-lt"/>
          <a:ea typeface="MS PGothic" panose="020B0600070205080204" pitchFamily="34" charset="-128"/>
        </a:defRPr>
      </a:lvl4pPr>
      <a:lvl5pPr marL="17716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 sz="1700">
          <a:solidFill>
            <a:schemeClr val="tx1"/>
          </a:solidFill>
          <a:latin typeface="+mn-lt"/>
          <a:ea typeface="MS PGothic" panose="020B0600070205080204" pitchFamily="34" charset="-128"/>
        </a:defRPr>
      </a:lvl5pPr>
      <a:lvl6pPr marL="22288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6pPr>
      <a:lvl7pPr marL="26860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7pPr>
      <a:lvl8pPr marL="31432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8pPr>
      <a:lvl9pPr marL="36004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BE40B6D6-AFB2-4B86-83D1-2A6049B595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696237"/>
            <a:ext cx="5040631" cy="219547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000" dirty="0">
                <a:latin typeface="Comic Sans MS" panose="030F0702030302020204" pitchFamily="66" charset="0"/>
              </a:rPr>
              <a:t>By Dr. Taghinezhad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7A8AAA-0026-416D-89B5-579E6E9213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Database</a:t>
            </a: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EA65FE41-8725-E18E-3EF9-C413EE19B3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011811"/>
            <a:ext cx="4572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altLang="en-US" sz="2000" dirty="0">
                <a:latin typeface="Consolas" panose="020B0609020204030204" pitchFamily="49" charset="0"/>
                <a:cs typeface="Tahoma" panose="020B0604030504040204" pitchFamily="34" charset="0"/>
              </a:rPr>
              <a:t>Scan for More Information: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FFBC51-E876-C40B-C723-0BE3DF568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124" y="4393719"/>
            <a:ext cx="1605516" cy="1605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60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6" name="Rectangle 2">
            <a:extLst>
              <a:ext uri="{FF2B5EF4-FFF2-40B4-BE49-F238E27FC236}">
                <a16:creationId xmlns:a16="http://schemas.microsoft.com/office/drawing/2014/main" id="{1CB68582-BBE2-4F64-8E5F-7C76410784F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Chapter 1: 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86265-443A-0798-6BDD-16FF90A5E8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405" y="1093788"/>
            <a:ext cx="7799258" cy="5206804"/>
          </a:xfrm>
        </p:spPr>
        <p:txBody>
          <a:bodyPr/>
          <a:lstStyle/>
          <a:p>
            <a:pPr algn="r" rtl="1"/>
            <a:r>
              <a:rPr lang="fa-IR" sz="2800" dirty="0">
                <a:cs typeface="B Nazanin" panose="00000400000000000000" pitchFamily="2" charset="-78"/>
              </a:rPr>
              <a:t>کاربردهای سیستم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هدف از سیستم‌های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 نمایش داده</a:t>
            </a:r>
            <a:r>
              <a:rPr lang="en-US" sz="2800" dirty="0"/>
              <a:t>(View of Data)</a:t>
            </a: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زبان‌های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 طراحی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موتور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معماری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 کاربران و مدیران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تاریخچه سیستم‌های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</p:txBody>
      </p:sp>
    </p:spTree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altLang="en-US" dirty="0">
                <a:effectLst/>
                <a:cs typeface="B Nazanin" panose="00000400000000000000" pitchFamily="50" charset="-78"/>
              </a:rPr>
              <a:t>سیستم‌های پایگاه‌داده</a:t>
            </a:r>
            <a:endParaRPr lang="en-US" altLang="en-US" sz="3200" dirty="0">
              <a:effectLst/>
              <a:cs typeface="B Nazanin" panose="00000400000000000000" pitchFamily="50" charset="-78"/>
            </a:endParaRP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D3678EAA-83EA-0D52-6FBC-C83CF9893F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8350" y="949510"/>
            <a:ext cx="8077200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 DBMS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شامل اطلاعات مربوط به یک 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کمپانی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 خاص است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مجموعه‌ای از داده‌های مرتبط به هم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مجموعه‌ای از برنامه‌ها برای دسترسی به داده‌ها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محیطی که هم مناسب و هم کارآمد برای استفاده باشد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سیستم‌های پایگاه داده برای مدیریت مجموعه‌هایی از داده‌ها استفاده می‌شوند که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بسیار ارزشمند هستند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نسبتاً بزرگ هستند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توسط چندین کاربر و برنامه، اغلب به طور همزمان، دسترسی می‌شوند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یک سیستم پایگاه داده مدرن یک سیستم نرم‌افزاری پیچیده است که وظیفه آن مدیریت یک مجموعه بزرگ و پیچیده از داده‌ها است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پایگاه‌های داده تمام جنبه‌های زندگی ما را تحت تأثیر قرار می‌دهند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</p:txBody>
      </p:sp>
    </p:spTree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نمونه‌های کاربرد پایگاه داده</a:t>
            </a:r>
            <a:endParaRPr lang="en-US" sz="2800" dirty="0">
              <a:effectLst/>
              <a:ea typeface="ＭＳ Ｐゴシック" pitchFamily="34" charset="-128"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0F7B69-902F-807C-059D-08B41919EE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8350" y="714447"/>
            <a:ext cx="7577138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اطلاعات سازمانی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فروش: مشتریان، محصولات، خریدها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حسابداری: پرداخت‌ها، دریافت‌ها، دارایی‌ها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منابع انسانی: اطلاعات در مورد کارمندان، حقوق، مالیات بر حقوق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تولید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: مدیریت تولید، موجودی، سفارشات، زنجیره تأمین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 </a:t>
            </a: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بانکداری و امور مالی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اطلاعات مشتری، حساب‌ها، وام‌ها و تراکنش‌های بانکی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تراکنش‌های کارت اعتباری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امور مالی: خرید و فروش ابزارهای مالی (مانند سهام و اوراق قرضه)؛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ذخیره داده‌های بازار در زمان واقعی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دانشگاه‌ها</a:t>
            </a:r>
            <a:r>
              <a:rPr kumimoji="0" lang="fa-IR" altLang="en-US" sz="2400" b="1" dirty="0">
                <a:latin typeface="Arial" panose="020B0604020202020204" pitchFamily="34" charset="0"/>
                <a:cs typeface="B Nazanin" panose="00000400000000000000" pitchFamily="50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ثبت‌نام، نمرات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865886" y="117475"/>
            <a:ext cx="8077200" cy="609600"/>
          </a:xfrm>
          <a:noFill/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نمونه‌های کاربرد پایگاه داده (ادامه)</a:t>
            </a:r>
            <a:endParaRPr lang="en-US" sz="2800" dirty="0">
              <a:effectLst/>
              <a:ea typeface="ＭＳ Ｐゴシック" pitchFamily="34" charset="-128"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95DFE6-EB80-537E-9861-B7E0FF899C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2681" y="950265"/>
            <a:ext cx="7562336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خطوط هوایی</a:t>
            </a:r>
            <a:r>
              <a:rPr kumimoji="0" lang="fa-IR" altLang="en-US" sz="2400" b="1" dirty="0"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رزرو، برنامه‌ها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fa-IR" altLang="en-US" sz="2400" dirty="0"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مخابرات</a:t>
            </a:r>
            <a:r>
              <a:rPr kumimoji="0" lang="fa-IR" altLang="en-US" sz="2400" b="1" dirty="0"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سوابق تماس‌ها، پیامک‌ها و مصرف داده، تولید صورت‌حساب‌های ماهانه، حفظ موجودی کارت‌های اعتباری پیش‌پرداخت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خدمات مبتنی بر وب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خرده‌فروشان آنلاین: پیگیری سفارش، توصیه‌های شخصی‌سازی شده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تبلیغات آنلاین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lang="fa-IR" sz="2400" b="1" dirty="0">
                <a:cs typeface="B Nazanin" panose="00000400000000000000" pitchFamily="2" charset="-78"/>
              </a:rPr>
              <a:t>پایگاه‌های داده اسناد </a:t>
            </a:r>
            <a:r>
              <a:rPr lang="en-US" sz="2400" b="1" dirty="0">
                <a:cs typeface="B Nazanin" panose="00000400000000000000" pitchFamily="2" charset="-78"/>
              </a:rPr>
              <a:t>Document databases)</a:t>
            </a:r>
            <a:r>
              <a:rPr lang="fa-IR" sz="2400" b="1" dirty="0">
                <a:cs typeface="+mn-cs"/>
              </a:rPr>
              <a:t>)</a:t>
            </a:r>
          </a:p>
          <a:p>
            <a:pPr marL="0" lvl="0" indent="0" algn="r" rtl="1">
              <a:spcBef>
                <a:spcPct val="0"/>
              </a:spcBef>
              <a:buClrTx/>
              <a:buSzTx/>
              <a:buFontTx/>
              <a:buChar char="•"/>
            </a:pPr>
            <a:endParaRPr lang="fa-IR" sz="2400" dirty="0">
              <a:cs typeface="+mn-cs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lang="fa-IR" sz="2400" b="1" dirty="0">
                <a:cs typeface="B Nazanin" panose="00000400000000000000" pitchFamily="2" charset="-78"/>
              </a:rPr>
              <a:t>سیستم‌های ناوبری:</a:t>
            </a:r>
            <a:r>
              <a:rPr lang="fa-IR" sz="2400" dirty="0">
                <a:cs typeface="B Nazanin" panose="00000400000000000000" pitchFamily="2" charset="-78"/>
              </a:rPr>
              <a:t> برای نگهداری مکان‌های مختلف مورد علاقه همراه با مسیرهای دقیق جاده‌ها، سیستم‌های قطار، اتوبوس‌ها و غیره.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هدف از سیستم‌های پایگاه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8349" y="1142251"/>
            <a:ext cx="76210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400" dirty="0">
                <a:cs typeface="B Nazanin" panose="00000400000000000000" pitchFamily="2" charset="-78"/>
              </a:rPr>
              <a:t>در روزهای اولیه، برنامه‌های پایگاه داده مستقیماً بر روی سیستم‌های فایل ساخته می‌شدند، که منجر به موارد زیر می‌شد:</a:t>
            </a:r>
          </a:p>
          <a:p>
            <a:pPr algn="r" rtl="1"/>
            <a:endParaRPr kumimoji="1" lang="en-US" altLang="en-US" sz="2400" dirty="0">
              <a:latin typeface="+mn-lt"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68DAED-13DC-93CF-77EE-CE0E8A08BBE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12197" y="2096379"/>
            <a:ext cx="8077199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تکرار و عدم سازگاری داده‌ها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داده‌ها در چندین قالب فایل ذخیره می‌شوند که منجر به تکثیر اطلاعات در فایل‌های مختلف می‌شود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دشواری در دسترسی به داده‌ها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نیاز به نوشتن یک برنامه جدید برای انجام هر کار جدید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انزوای داده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isolation)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فایل‌ها و فرمت‌های متعدد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مشکلات یکپارچگی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(Integrity problems)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محدودیت‌های یکپارچگی (مانند موجودی حساب &gt; 0) به جای اینکه صراحتاً بیان شوند، "مدفون" در کد برنامه می‌شوند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افزودن محدودیت‌های جدید یا تغییر محدودیت‌های موجود سخت است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/>
          <p:cNvSpPr>
            <a:spLocks noGrp="1" noChangeArrowheads="1"/>
          </p:cNvSpPr>
          <p:nvPr>
            <p:ph type="title"/>
          </p:nvPr>
        </p:nvSpPr>
        <p:spPr>
          <a:xfrm>
            <a:off x="768350" y="-36311"/>
            <a:ext cx="8077200" cy="6096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هدف از سیستم‌های پایگاه داده (ادامه)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7DF97-A992-84D9-1B46-BA009558ED5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8350" y="699406"/>
            <a:ext cx="7930764" cy="5459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اتمی بودن به‌روزرسانی‌ها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(Atomicity of updates)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ممکن است خطاها پایگاه داده را در یک حالت ناسازگار با به‌روزرسانی‌های جزئی انجام شده باقی بگذارند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مثال: انتقال وجه از یک حساب به حساب دیگر باید یا به طور کامل انجام شود یا اصلاً اتفاق نیفتد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دسترسی همزمان توسط چندین کاربر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دسترسی همزمان برای عملکرد مورد نیاز است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دسترسی‌های همزمان کنترل نشده می‌تواند منجر به عدم سازگاری شود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مثال: دو نفر به طور همزمان یک موجودی (مثلاً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۱۰۰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) را می‌خوانند و آن را با برداشت پول (مثلاً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۵۰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برای هر کدام) به‌روزرسانی می‌کنند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مشکلات امنیتی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سخت است که به کاربر اجازه دسترسی به برخی از داده‌ها، و نه همه آن‌ها، داده شود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ct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bg1">
                    <a:lumMod val="25000"/>
                  </a:schemeClr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 پایگاه داده راه‌حل‌هایی برای همه مشکلات فوق ارائه می‌دهند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bg1">
                    <a:lumMod val="25000"/>
                  </a:schemeClr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مثال پایگاه داده دانشگاه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A2098F-528A-CF5A-74C3-E064DB0D43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89686" y="939648"/>
            <a:ext cx="7517714" cy="51136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در این متن ما از یک پایگاه داده دانشگاهی برای توضیح همه مفاهیم استفاده خواهیم کرد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داده‌ها شامل اطلاعات در مورد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دانشجویان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اساتید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کلاس‌ها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نمونه‌های برنامه کاربردی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افزودن دانشجویان، اساتید و دوره‌های جدید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ثبت‌نام دانشجویان در دوره‌ها و تولید فهرست کلاس‌ها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اختصاص نمرات به دانشجویان، محاسبه میانگین نمرات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(GPA)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تولید کارنامه‌ها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نمایش داده </a:t>
            </a:r>
            <a:r>
              <a:rPr lang="en-US" dirty="0">
                <a:cs typeface="B Nazanin" panose="00000400000000000000" pitchFamily="2" charset="-78"/>
              </a:rPr>
              <a:t>View of Data)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B01A4F-9268-7A64-B99C-8C193CF5EB7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18730" y="1011096"/>
            <a:ext cx="8706540" cy="46628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سیستم پایگاه داده مجموعه‌ای از داده‌های مرتبط به هم و مجموعه‌ای از برنامه‌ها است که به کاربران اجازه می‌دهد تا به این داده‌ها دسترسی پیدا کرده و آن‌ها را تغییر دهند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هدف اصلی از سیستم پایگاه داده ارائه یک </a:t>
            </a: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نمای انتزاعی از داده‌ها به کاربران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است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مدل‌های داده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models)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مجموعه‌ای از ابزارهای مفهومی برای توصیف داده‌ها، روابط داده‌ها، معناشناسی داده‌ها و محدودیت‌های سازگاری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R="0" lvl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انتزاع داده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abstraction)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پنهان کردن پیچیدگی ساختارهای داده برای نمایش داده‌ها در پایگاه داده از کاربران از طریق چندین سط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ح.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مدل‌های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97A771-8ADB-D656-C78B-B738949AE9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0969" y="573188"/>
            <a:ext cx="8262062" cy="5940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مجموعه‌ای از ابزارها برای توصیف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روابط 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معناشناسی 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محدودیت‌های 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رابطه‌ای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(Relational model) 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داده موجودیت-رابطه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(Entity-Relationship data model)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عمدتاً برای طراحی پایگاه داده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مدل‌های داده مبتنی بر شیء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(Object-based data models) 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شیء-گرا و شیء-رابطه‌ای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داده نیمه‌ساخت‌یافته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(Semi-structured data model) (XML) 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سایر مدل‌های قدیمی‌تر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شبکه‌ای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(Network model)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سلسله‌مراتبی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(Hierarchical model) 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مدل رابطه‌ای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5603" name="Line 31"/>
          <p:cNvSpPr>
            <a:spLocks noChangeShapeType="1"/>
          </p:cNvSpPr>
          <p:nvPr/>
        </p:nvSpPr>
        <p:spPr bwMode="auto">
          <a:xfrm flipH="1">
            <a:off x="4296620" y="2348699"/>
            <a:ext cx="642938" cy="47863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 sz="1200"/>
          </a:p>
        </p:txBody>
      </p:sp>
      <p:sp>
        <p:nvSpPr>
          <p:cNvPr id="25604" name="Text Box 32"/>
          <p:cNvSpPr txBox="1">
            <a:spLocks noChangeArrowheads="1"/>
          </p:cNvSpPr>
          <p:nvPr/>
        </p:nvSpPr>
        <p:spPr bwMode="auto">
          <a:xfrm>
            <a:off x="4524696" y="2072236"/>
            <a:ext cx="99257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dirty="0"/>
              <a:t>Columns</a:t>
            </a:r>
            <a:endParaRPr lang="en-US" altLang="en-US" sz="1200" dirty="0"/>
          </a:p>
        </p:txBody>
      </p:sp>
      <p:sp>
        <p:nvSpPr>
          <p:cNvPr id="25605" name="Line 33"/>
          <p:cNvSpPr>
            <a:spLocks noChangeShapeType="1"/>
          </p:cNvSpPr>
          <p:nvPr/>
        </p:nvSpPr>
        <p:spPr bwMode="auto">
          <a:xfrm flipH="1">
            <a:off x="3560290" y="2345745"/>
            <a:ext cx="1132285" cy="46791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 sz="1200"/>
          </a:p>
        </p:txBody>
      </p:sp>
      <p:sp>
        <p:nvSpPr>
          <p:cNvPr id="25607" name="Text Box 38"/>
          <p:cNvSpPr txBox="1">
            <a:spLocks noChangeArrowheads="1"/>
          </p:cNvSpPr>
          <p:nvPr/>
        </p:nvSpPr>
        <p:spPr bwMode="auto">
          <a:xfrm>
            <a:off x="5621840" y="3163194"/>
            <a:ext cx="69602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dirty="0"/>
              <a:t>Rows</a:t>
            </a:r>
          </a:p>
        </p:txBody>
      </p:sp>
      <p:sp>
        <p:nvSpPr>
          <p:cNvPr id="25608" name="Line 39"/>
          <p:cNvSpPr>
            <a:spLocks noChangeShapeType="1"/>
          </p:cNvSpPr>
          <p:nvPr/>
        </p:nvSpPr>
        <p:spPr bwMode="auto">
          <a:xfrm flipH="1">
            <a:off x="4866595" y="3327914"/>
            <a:ext cx="567785" cy="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 sz="1200"/>
          </a:p>
        </p:txBody>
      </p:sp>
      <p:sp>
        <p:nvSpPr>
          <p:cNvPr id="25609" name="Line 40"/>
          <p:cNvSpPr>
            <a:spLocks noChangeShapeType="1"/>
          </p:cNvSpPr>
          <p:nvPr/>
        </p:nvSpPr>
        <p:spPr bwMode="auto">
          <a:xfrm flipH="1">
            <a:off x="4866594" y="3327915"/>
            <a:ext cx="567786" cy="143034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 sz="1200"/>
          </a:p>
        </p:txBody>
      </p:sp>
      <p:pic>
        <p:nvPicPr>
          <p:cNvPr id="11" name="Picture 2" descr="Edgar F. Cod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1970" y="4330436"/>
            <a:ext cx="905257" cy="855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/>
          <p:cNvSpPr txBox="1"/>
          <p:nvPr/>
        </p:nvSpPr>
        <p:spPr>
          <a:xfrm>
            <a:off x="7057993" y="5374285"/>
            <a:ext cx="1893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b="1"/>
              <a:t>Ted Codd</a:t>
            </a:r>
            <a:br>
              <a:rPr lang="en-IN" b="1"/>
            </a:br>
            <a:r>
              <a:rPr lang="en-IN"/>
              <a:t>Turing Award 1981</a:t>
            </a:r>
            <a:endParaRPr lang="en-IN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9DA0EEC-6C2D-4DCD-BC9B-F1B582F1DE6E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43026"/>
          <a:stretch/>
        </p:blipFill>
        <p:spPr>
          <a:xfrm>
            <a:off x="1070010" y="2741510"/>
            <a:ext cx="3869548" cy="3699517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842C86-49CE-8998-D67E-AB8A54F0E2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847477" y="891462"/>
            <a:ext cx="4822153" cy="1154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تمام داده‌ها در جداول مختلف ذخیره می‌شوند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 داده‌های جدولی در مدل رابطه‌ای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یک نمونه پایگاه داده رابطه‌ای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A83B5AE-3E57-485D-8D9A-2AFE639166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0729" y="727075"/>
            <a:ext cx="3532441" cy="59277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سطوح انتزاع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720646-2660-3F11-35A1-6DE11E2B63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-46371" y="1233202"/>
            <a:ext cx="9190371" cy="57554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سطح فیزیکی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(Physical level)</a:t>
            </a:r>
            <a:r>
              <a:rPr kumimoji="0" lang="fa-IR" altLang="en-US" sz="2400" b="1" dirty="0"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توصیف می‌کند که یک رکورد (به عنوان مثال، استاد) چگونه ذخیره می‌شود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just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سطح منطقی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(Logical level)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داده‌های ذخیره‌شده در پایگاه داده و روابط میان داده‌ها را توصیف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type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instructor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=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record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B Nazanin" panose="00000400000000000000" pitchFamily="2" charset="-78"/>
              </a:rPr>
              <a:t>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ID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: string;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		</a:t>
            </a: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		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		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	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name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: string;	</a:t>
            </a:r>
            <a:r>
              <a:rPr kumimoji="0" lang="en-US" altLang="en-US" sz="24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    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          </a:t>
            </a:r>
            <a:r>
              <a:rPr kumimoji="0" lang="en-US" altLang="en-US" sz="24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dept_name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: string;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         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salary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: integer;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B Nazanin" panose="00000400000000000000" pitchFamily="2" charset="-78"/>
              </a:rPr>
              <a:t>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end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B Nazanin" panose="00000400000000000000" pitchFamily="2" charset="-78"/>
              </a:rPr>
              <a:t> </a:t>
            </a:r>
            <a:endParaRPr kumimoji="0" lang="fa-IR" altLang="en-US" sz="2400" dirty="0"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8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cs typeface="B Nazanin" panose="00000400000000000000" pitchFamily="2" charset="-78"/>
              </a:rPr>
              <a:t>     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سطح نما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(View level)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 کاربردی جزئیات انواع داده را پنهان می‌کنند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نماها همچنین می‌توانند اطلاعات (مانند حقوق کارمند) را برای اهداف امنیتی پنهان کنند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نمای داده </a:t>
            </a:r>
            <a:r>
              <a:rPr lang="en-US" dirty="0">
                <a:cs typeface="B Nazanin" panose="00000400000000000000" pitchFamily="2" charset="-78"/>
              </a:rPr>
              <a:t>View of Data)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19458" name="Text Box 3"/>
          <p:cNvSpPr txBox="1">
            <a:spLocks noChangeArrowheads="1"/>
          </p:cNvSpPr>
          <p:nvPr/>
        </p:nvSpPr>
        <p:spPr bwMode="auto">
          <a:xfrm>
            <a:off x="3085722" y="1322236"/>
            <a:ext cx="575982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 rtl="1">
              <a:spcBef>
                <a:spcPct val="50000"/>
              </a:spcBef>
            </a:pPr>
            <a:r>
              <a:rPr lang="fa-IR" sz="3200" dirty="0">
                <a:cs typeface="B Nazanin" panose="00000400000000000000" pitchFamily="50" charset="-78"/>
              </a:rPr>
              <a:t>یک معماری برای یک سیستم پایگاه داده</a:t>
            </a:r>
            <a:endParaRPr lang="en-US" altLang="en-US" sz="2800" dirty="0">
              <a:cs typeface="B Nazanin" panose="00000400000000000000" pitchFamily="50" charset="-78"/>
            </a:endParaRPr>
          </a:p>
        </p:txBody>
      </p:sp>
      <p:pic>
        <p:nvPicPr>
          <p:cNvPr id="19459" name="Picture 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2109" y="2502172"/>
            <a:ext cx="5012055" cy="29343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768350" y="178435"/>
            <a:ext cx="8077200" cy="6096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نمونه‌ها و طرح‌ها </a:t>
            </a:r>
            <a:r>
              <a:rPr lang="en-US" dirty="0">
                <a:cs typeface="B Nazanin" panose="00000400000000000000" pitchFamily="2" charset="-78"/>
              </a:rPr>
              <a:t>Instances and Schemas)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F2128E-1229-0ED6-5FFE-C65474E144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9900" y="1385809"/>
            <a:ext cx="8375650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شبیه به انواع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(types)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متغیرها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(variables)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در زبان‌های برنامه‌نویسی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طرح‌ منطقی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(Logical Schema)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ساختار منطقی کلی پایگاه داده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مثال: پایگاه داده شامل اطلاعاتی در مورد مجموعه‌ای از مشتریان و حساب‌ها در یک بانک و رابطه بین آن‌ها است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مشابه اطلاعات نوع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(type information)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متغیر در یک برنامه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طرح‌ فیزیکی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(Physical schema)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ساختار فیزیکی کلی پایگاه داده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نمونه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(Instance)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محتوای واقعی پایگاه داده در یک نقطه زمانی خاص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مشابه با مقدار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(value)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متغیر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استقلال فیزیکی داده </a:t>
            </a:r>
            <a:r>
              <a:rPr lang="en-US" dirty="0">
                <a:cs typeface="B Nazanin" panose="00000400000000000000" pitchFamily="2" charset="-78"/>
              </a:rPr>
              <a:t>Physical Data Independence)</a:t>
            </a:r>
            <a:r>
              <a:rPr lang="fa-IR" dirty="0">
                <a:cs typeface="+mn-cs"/>
              </a:rPr>
              <a:t>)</a:t>
            </a:r>
            <a:endParaRPr lang="en-US" dirty="0"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990646-1F07-FB3B-2C01-18C33E6546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3400" y="1566952"/>
            <a:ext cx="8077200" cy="37240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99"/>
              </a:buClr>
              <a:buSzTx/>
              <a:tabLst/>
            </a:pPr>
            <a:r>
              <a:rPr kumimoji="0" lang="ar-SA" altLang="en-US" sz="32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استقلال </a:t>
            </a:r>
            <a:r>
              <a:rPr kumimoji="0" lang="fa-IR" altLang="en-US" sz="32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فیزیکی</a:t>
            </a:r>
            <a:r>
              <a:rPr kumimoji="0" lang="fa-IR" altLang="en-US" sz="3200" b="1" i="0" u="none" strike="noStrike" cap="none" normalizeH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داده</a:t>
            </a:r>
            <a:r>
              <a:rPr kumimoji="0" lang="fa-IR" altLang="en-US" sz="32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توانایی اصلاح طرح‌ فیزیکی بدون تغییر طرح‌ منطقی</a:t>
            </a:r>
            <a:r>
              <a:rPr kumimoji="0" lang="fa-IR" altLang="en-US" sz="32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99"/>
              </a:buClr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 کاربردی به طرح‌ منطقی وابسته هستند</a:t>
            </a:r>
            <a:r>
              <a:rPr kumimoji="0" lang="fa-IR" altLang="en-US" sz="28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857250" lvl="1" indent="-4572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طور کلی، واسط‌های بین سطوح و مولفه‌های مختلف باید به خوبی تعریف شوند تا تغییرات در برخی قسمت‌ها به طور جدی بر دیگر قسمت‌ها تأثیر نگذارد</a:t>
            </a:r>
            <a:r>
              <a:rPr kumimoji="0" lang="fa-IR" altLang="en-US" sz="28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زبان تعریف داده </a:t>
            </a:r>
            <a:r>
              <a:rPr lang="en-US" dirty="0">
                <a:cs typeface="B Nazanin" panose="00000400000000000000" pitchFamily="2" charset="-78"/>
              </a:rPr>
              <a:t>Data Definition Language - DDL)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474941-0A5D-7E31-CE1E-E40A1740D6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3954" y="573187"/>
            <a:ext cx="8530046" cy="60570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نماد مشخصات برای تعریف 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شمای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پایگاه داده</a:t>
            </a:r>
            <a:r>
              <a:rPr kumimoji="0" lang="en-US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lvl="1">
              <a:buFont typeface="Monotype Sorts" charset="2"/>
              <a:buNone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lang="en-US" altLang="en-US" sz="1800" dirty="0"/>
              <a:t>	</a:t>
            </a:r>
            <a:r>
              <a:rPr lang="en-US" altLang="en-US" sz="1800" b="1" dirty="0"/>
              <a:t>create table</a:t>
            </a:r>
            <a:r>
              <a:rPr lang="en-US" altLang="en-US" sz="1800" dirty="0"/>
              <a:t> </a:t>
            </a:r>
            <a:r>
              <a:rPr lang="en-US" altLang="en-US" sz="1800" i="1" dirty="0"/>
              <a:t>instructor</a:t>
            </a:r>
            <a:r>
              <a:rPr lang="en-US" altLang="en-US" sz="1800" dirty="0"/>
              <a:t> (</a:t>
            </a:r>
            <a:br>
              <a:rPr lang="en-US" altLang="en-US" sz="1800" dirty="0"/>
            </a:br>
            <a:r>
              <a:rPr lang="en-US" altLang="en-US" sz="1800" dirty="0"/>
              <a:t>                             </a:t>
            </a:r>
            <a:r>
              <a:rPr lang="en-US" altLang="en-US" sz="1800" i="1" dirty="0"/>
              <a:t>ID</a:t>
            </a:r>
            <a:r>
              <a:rPr lang="en-US" altLang="en-US" sz="1800" dirty="0"/>
              <a:t>                </a:t>
            </a:r>
            <a:r>
              <a:rPr lang="en-US" altLang="en-US" sz="1800" b="1" dirty="0"/>
              <a:t>char</a:t>
            </a:r>
            <a:r>
              <a:rPr lang="en-US" altLang="en-US" sz="1800" dirty="0"/>
              <a:t>(5),</a:t>
            </a:r>
            <a:br>
              <a:rPr lang="en-US" altLang="en-US" sz="1800" dirty="0"/>
            </a:br>
            <a:r>
              <a:rPr lang="en-US" altLang="en-US" sz="1800" dirty="0"/>
              <a:t>                             </a:t>
            </a:r>
            <a:r>
              <a:rPr lang="en-US" altLang="en-US" sz="1800" i="1" dirty="0"/>
              <a:t>name           </a:t>
            </a:r>
            <a:r>
              <a:rPr lang="en-US" altLang="en-US" sz="1800" b="1" dirty="0"/>
              <a:t>varchar</a:t>
            </a:r>
            <a:r>
              <a:rPr lang="en-US" altLang="en-US" sz="1800" dirty="0"/>
              <a:t>(20)</a:t>
            </a:r>
            <a:r>
              <a:rPr lang="en-US" altLang="en-US" sz="1800" b="1" dirty="0"/>
              <a:t>,</a:t>
            </a:r>
            <a:br>
              <a:rPr lang="en-US" altLang="en-US" sz="1800" b="1" i="1" dirty="0"/>
            </a:br>
            <a:r>
              <a:rPr lang="en-US" altLang="en-US" sz="1800" b="1" i="1" dirty="0"/>
              <a:t>                             </a:t>
            </a:r>
            <a:r>
              <a:rPr lang="en-US" altLang="en-US" sz="1800" i="1" dirty="0" err="1"/>
              <a:t>dept_name</a:t>
            </a:r>
            <a:r>
              <a:rPr lang="en-US" altLang="en-US" sz="1800" i="1" dirty="0"/>
              <a:t>  </a:t>
            </a:r>
            <a:r>
              <a:rPr lang="en-US" altLang="en-US" sz="1800" b="1" dirty="0"/>
              <a:t>varchar</a:t>
            </a:r>
            <a:r>
              <a:rPr lang="en-US" altLang="en-US" sz="1800" dirty="0"/>
              <a:t>(20),</a:t>
            </a:r>
            <a:br>
              <a:rPr lang="en-US" altLang="en-US" sz="1800" dirty="0"/>
            </a:br>
            <a:r>
              <a:rPr lang="en-US" altLang="en-US" sz="1800" dirty="0"/>
              <a:t>                             </a:t>
            </a:r>
            <a:r>
              <a:rPr lang="en-US" altLang="en-US" sz="1800" i="1" dirty="0"/>
              <a:t>salary</a:t>
            </a:r>
            <a:r>
              <a:rPr lang="en-US" altLang="en-US" sz="1800" dirty="0"/>
              <a:t>           </a:t>
            </a:r>
            <a:r>
              <a:rPr lang="en-US" altLang="en-US" sz="1800" b="1" dirty="0"/>
              <a:t>numeric</a:t>
            </a:r>
            <a:r>
              <a:rPr lang="en-US" altLang="en-US" sz="1800" dirty="0"/>
              <a:t>(8,2)</a:t>
            </a:r>
          </a:p>
          <a:p>
            <a:pPr lvl="1">
              <a:buFont typeface="Monotype Sorts" charset="2"/>
              <a:buNone/>
            </a:pPr>
            <a:r>
              <a:rPr lang="en-US" altLang="en-US" sz="1800" dirty="0"/>
              <a:t>				)</a:t>
            </a:r>
          </a:p>
          <a:p>
            <a:pPr lvl="1">
              <a:buFont typeface="Monotype Sorts" charset="2"/>
              <a:buNone/>
            </a:pPr>
            <a:endParaRPr lang="en-US" altLang="en-US" sz="1800" dirty="0"/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کامپایلر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DDL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مجموعه‌ای از الگوهای جدول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(table templates)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تولید می‌کند که در یک دیکشنری 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dictionary)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ذخیره می‌شوند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دیکشنری داده حاوی فراداده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(metadata)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است (یعنی داده‌ها در مورد داده‌ها)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طرح‌ پایگاه داده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محدودیت‌های یکپارچگی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(Integrity constraints)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00100" lvl="2" indent="0" algn="r" rtl="1"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کلید اصلی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(Primary key) (ID </a:t>
            </a:r>
            <a:r>
              <a:rPr kumimoji="0" lang="en-US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)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طور منحصربه‌فرد اساتید را شناسایی می‌کند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احراز هویت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(Authorization)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00100" lvl="2" indent="0" algn="r" rtl="1"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چه کسی می‌تواند به چه چیزی دسترسی داشته باشد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2"/>
          <p:cNvSpPr>
            <a:spLocks noGrp="1" noChangeArrowheads="1"/>
          </p:cNvSpPr>
          <p:nvPr>
            <p:ph type="title"/>
          </p:nvPr>
        </p:nvSpPr>
        <p:spPr>
          <a:xfrm>
            <a:off x="402886" y="204340"/>
            <a:ext cx="8714920" cy="77221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زبان دستکاری داده </a:t>
            </a:r>
            <a:r>
              <a:rPr lang="en-US" dirty="0">
                <a:cs typeface="B Nazanin" panose="00000400000000000000" pitchFamily="2" charset="-78"/>
              </a:rPr>
              <a:t>Data Manipulation Language - DML)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37D969-3276-A81A-559A-792484EA3B7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02886" y="844961"/>
            <a:ext cx="8338227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زبانی برای دسترسی و به‌روزرسانی داده‌هایی که توسط مدل داده مناسب سازماندهی شده‌اند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rgbClr val="FF9933"/>
              </a:buClr>
              <a:buSzTx/>
              <a:buFont typeface="Courier New" panose="02070309020205020404" pitchFamily="49" charset="0"/>
              <a:buChar char="o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DML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عنوان زبان پرس و جو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(query language)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نیز شناخته می‌شود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lvl="1" indent="-342900" algn="r" rtl="1">
              <a:spcBef>
                <a:spcPct val="0"/>
              </a:spcBef>
              <a:buClr>
                <a:srgbClr val="FF9933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indent="0" algn="r" rtl="1">
              <a:spcBef>
                <a:spcPct val="0"/>
              </a:spcBef>
              <a:buClrTx/>
              <a:buSzTx/>
              <a:buNone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اساساً دو نوع زبان دستکاری داده وجود دارد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رویه‌ای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(Procedural DML)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از کاربر می‌خواهد مشخص کند که چه داده‌هایی مورد نیاز است و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چگونه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آن داده‌ها را بدست آورد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اعلانی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(Declarative DML)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از کاربر می‌خواهد مشخص کند که چه داده‌هایی مورد نیاز است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بدون تعیین چگونگی بدست آوردن آن داده‌ها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DML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های اعلانی معمولاً یادگیری و استفاده آسان‌تری نسبت به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های رویه‌ای دارند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DML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های اعلانی به عنوان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های غیررویه‌ای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(non-procedural DMLs)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نیز شناخته می‌شوند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بخشی از یک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که شامل بازیابی اطلاعات است، زبان پرس و جو نامیده می‌شود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579523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زبان پرس و جو </a:t>
            </a:r>
            <a:r>
              <a:rPr lang="en-US" dirty="0">
                <a:cs typeface="B Nazanin" panose="00000400000000000000" pitchFamily="2" charset="-78"/>
              </a:rPr>
              <a:t>SQL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162974-2825-0EF2-BFDC-254898F5AD7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-111210" y="679574"/>
            <a:ext cx="9144000" cy="61555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زبان پرس و جو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غیررویه‌ای است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پرس و جو چندین جدول (احتمالاً فقط یکی) را به عنوان ورودی می‌گیرد و همیشه یک جدول واحد را برمی‌گرداند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 برای پیدا کردن همه اساتید در دپارتمان علوم کامپیوتر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>
              <a:buNone/>
              <a:tabLst>
                <a:tab pos="983456" algn="l"/>
              </a:tabLst>
            </a:pPr>
            <a:r>
              <a:rPr lang="en-US" altLang="en-US" sz="2000" b="1" dirty="0"/>
              <a:t>		select </a:t>
            </a:r>
            <a:r>
              <a:rPr lang="en-US" altLang="en-US" sz="2000" i="1" dirty="0"/>
              <a:t>name</a:t>
            </a:r>
            <a:br>
              <a:rPr lang="en-US" altLang="en-US" sz="2000" i="1" dirty="0"/>
            </a:br>
            <a:r>
              <a:rPr lang="en-US" altLang="en-US" sz="2000" i="1" dirty="0"/>
              <a:t>	</a:t>
            </a:r>
            <a:r>
              <a:rPr lang="en-US" altLang="en-US" sz="2000" b="1" dirty="0"/>
              <a:t>from </a:t>
            </a:r>
            <a:r>
              <a:rPr lang="en-US" altLang="en-US" sz="2000" i="1" dirty="0"/>
              <a:t>instructor</a:t>
            </a:r>
            <a:br>
              <a:rPr lang="en-US" altLang="en-US" sz="2000" i="1" dirty="0"/>
            </a:br>
            <a:r>
              <a:rPr lang="en-US" altLang="en-US" sz="2000" i="1" dirty="0"/>
              <a:t>	</a:t>
            </a:r>
            <a:r>
              <a:rPr lang="en-US" altLang="en-US" sz="2000" b="1" dirty="0"/>
              <a:t>where </a:t>
            </a:r>
            <a:r>
              <a:rPr lang="en-US" altLang="en-US" sz="2000" i="1" dirty="0" err="1"/>
              <a:t>dept_name</a:t>
            </a:r>
            <a:r>
              <a:rPr lang="en-US" altLang="en-US" sz="2000" i="1" dirty="0"/>
              <a:t> =</a:t>
            </a:r>
            <a:r>
              <a:rPr lang="en-US" altLang="en-US" sz="2000" dirty="0"/>
              <a:t> </a:t>
            </a:r>
            <a:r>
              <a:rPr lang="en-US" altLang="ja-JP" sz="2000" dirty="0"/>
              <a:t>'Comp. Sci.‘</a:t>
            </a:r>
            <a:endParaRPr lang="fa-IR" altLang="ja-JP" sz="2000" dirty="0"/>
          </a:p>
          <a:p>
            <a:pPr>
              <a:buNone/>
              <a:tabLst>
                <a:tab pos="983456" algn="l"/>
              </a:tabLst>
            </a:pPr>
            <a:endParaRPr lang="en-US" altLang="en-US" sz="2000" dirty="0"/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SQL 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معادل یک ماشین تورینگ نیست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اینکه بتوان توابع پیچیده را محاسبه کرد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، 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معمولاً در یک زبان سطح بالاتر تعبیه می‌شود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 کاربردی عموماً از طریق یکی از موارد زیر به پایگاه‌های داده دسترسی پیدا می‌کنند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rgbClr val="FF9933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افزونه‌های زبان برای اجازه دادن به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تعبیه‌شده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(embedded SQL)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lvl="1" indent="-342900" algn="r" rtl="1">
              <a:spcBef>
                <a:spcPct val="0"/>
              </a:spcBef>
              <a:buClr>
                <a:srgbClr val="FF9933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rgbClr val="FF9933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واسط برنامه کاربردی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(Application program interface)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مانند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ODBC/JDBC)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که به پرس و جوهای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اجازه می‌دهد به پایگاه داده ارسال شوند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دسترسی به پایگاه داده از برنامه کاربردی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A95197-D96A-C2A2-96D8-BDA9696E776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91592" y="956539"/>
            <a:ext cx="8666834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زبان‌های پرس و جو غیررویه‌ای مانند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اندازه یک ماشین تورینگ جهانی قدرتمند نیستند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SQL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از اعمالی مانند ورودی از کاربران، خروجی به نمایشگرها، یا ارتباط از طریق شبکه پشتیبانی نمی‌کند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چنین محاسبات و اعمالی باید در یک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زبان میزبان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(host language)،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مانند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C/C++،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Java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یا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Python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،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با پرس و جوهای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تعبیه‌شده که به داده‌ها در پایگاه داده دسترسی پیدا می‌کنند، نوشته شوند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 کاربردی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(Application programs)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برنامه‌هایی هستند که برای تعامل با پایگاه داده به این شیوه استفاده می‌شوند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2"/>
          <p:cNvSpPr>
            <a:spLocks noGrp="1" noChangeArrowheads="1"/>
          </p:cNvSpPr>
          <p:nvPr>
            <p:ph type="title"/>
          </p:nvPr>
        </p:nvSpPr>
        <p:spPr>
          <a:xfrm>
            <a:off x="835153" y="-71909"/>
            <a:ext cx="8077200" cy="6096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طراحی پایگاه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35843" name="Rectangle 3"/>
          <p:cNvSpPr>
            <a:spLocks noChangeArrowheads="1"/>
          </p:cNvSpPr>
          <p:nvPr/>
        </p:nvSpPr>
        <p:spPr bwMode="auto">
          <a:xfrm>
            <a:off x="81643" y="727075"/>
            <a:ext cx="883071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 rtl="1">
              <a:buFont typeface="Monotype Sorts" charset="2"/>
              <a:buNone/>
            </a:pPr>
            <a:r>
              <a:rPr lang="fa-IR" sz="2400" dirty="0">
                <a:cs typeface="B Nazanin" panose="00000400000000000000" pitchFamily="50" charset="-78"/>
              </a:rPr>
              <a:t>فرآیند طراحی ساختار کلی پایگاه داده:</a:t>
            </a:r>
            <a:endParaRPr lang="en-US" altLang="en-US" sz="2400" dirty="0">
              <a:cs typeface="B Nazanin" panose="00000400000000000000" pitchFamily="50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7E73D9-FFE9-A0A0-BBB2-2DAF336894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1643" y="957907"/>
            <a:ext cx="8830710" cy="5693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طراحی منطقی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(Logical Design)</a:t>
            </a:r>
            <a:r>
              <a:rPr kumimoji="0" lang="fa-IR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تصمیم‌گیری در مورد طرح‌واره پایگاه داده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طراحی پایگاه داده مستلزم یافتن مجموعه‌ای "خوب" از طرح‌‌های رابطه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(relation schemas)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است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تصمیم کسب و کار: چه صفاتی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(attributes)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باید در پایگاه داده ثبت کنیم؟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تصمیم علوم کامپیوتر: چه طرح‌واره‌های رابطه‌ای باید داشته باشیم و چگونه صفات باید بین طرح‌واره‌های مختلف رابطه توزیع شوند؟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endParaRPr kumimoji="0" lang="fa-IR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طراحی فیزیکی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(Physical Design)</a:t>
            </a:r>
            <a:r>
              <a:rPr kumimoji="0" lang="fa-IR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تصمیم‌گیری در مورد چیدمان فیزیکی پایگاه داده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موتور پایگاه داده </a:t>
            </a:r>
            <a:r>
              <a:rPr lang="en-US" dirty="0">
                <a:cs typeface="B Nazanin" panose="00000400000000000000" pitchFamily="2" charset="-78"/>
              </a:rPr>
              <a:t>Database Engine)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2B255B-41E2-A9AF-E00C-84288C6C31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84175" y="1003264"/>
            <a:ext cx="8375650" cy="5693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سیستم پایگاه داده به ماژول‌هایی تقسیم می‌شود که هر یک از مسئولیت‌های سیستم کلی را مدیریت می‌کنند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مولفه‌های عملیاتی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functional components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سیستم پایگاه داده را می‌توان به موارد زیر تقسیم کرد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ذخیره‌سازی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(The storage manager) 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 پردازشگر پرس و جو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(The query processor component) 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 مدیریت تراکنش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(The transaction management component) 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مدیر ذخیره‌سازی </a:t>
            </a:r>
            <a:r>
              <a:rPr lang="en-US" dirty="0">
                <a:cs typeface="B Nazanin" panose="00000400000000000000" pitchFamily="2" charset="-78"/>
              </a:rPr>
              <a:t>Storage Manager)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2E543C-CC65-C72F-4881-9F33C6D39F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9498" y="811444"/>
            <a:ext cx="8823257" cy="60016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ماژول برنامه‌ای است که واسطی بین داده‌های سطح پایین ذخیره شده در پایگاه داده و برنامه‌های کاربردی و پرس و جوهای ارسال شده به سیستم فراهم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ذخیره‌سازی مسئول وظایف زیر است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تعامل با مدیر فایل سیستم عامل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(OS file manager)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ذخیره‌سازی، بازیابی و به‌روزرسانی کارآمد داده‌ها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400050" lvl="1" indent="0" algn="r" rtl="1">
              <a:spcBef>
                <a:spcPct val="0"/>
              </a:spcBef>
              <a:buClrTx/>
              <a:buSzTx/>
              <a:buFontTx/>
              <a:buChar char="•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مولفه‌های مدیر ذخیره‌سازی شامل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احراز هویت و یکپارچگی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(Authorization and integrity manager)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تراکنش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(Transaction manager)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فایل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(File manager)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بافر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(Buffer manager)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sz="3600" dirty="0">
                <a:cs typeface="B Nazanin" panose="00000400000000000000" pitchFamily="2" charset="-78"/>
              </a:rPr>
              <a:t>مدیر ذخیره‌سازی (ادامه)</a:t>
            </a:r>
            <a:endParaRPr lang="en-US" altLang="en-US" sz="36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148080-0AF3-80E7-7E4A-D94D6F05D3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1991" y="953105"/>
            <a:ext cx="8514301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ذخیره‌سازی چندین ساختار داده را به عنوان بخشی از پیاده‌سازی سیستم فیزیکی پیاده‌سازی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فایل‌های داده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files)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خود پایگاه داده را ذخیره می‌کنند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دیکشنری داده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dictionary)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فراداده در مورد ساختار پایگاه داده، به ویژه طرح‌واره پایگاه داده، را ذخیره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شاخص‌ها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(Indices)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می‌توانند دسترسی سریع به اقلام داده را فراهم کنند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indent="-342900" algn="r" rtl="1">
              <a:spcBef>
                <a:spcPct val="0"/>
              </a:spcBef>
              <a:buClr>
                <a:srgbClr val="00B050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شاخص پایگاه داده به آن اقلام داده‌ای اشاره می‌کند که یک مقدار خاص را نگه می‌دارند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پردازشگر پرس و جو </a:t>
            </a:r>
            <a:r>
              <a:rPr lang="en-US" dirty="0">
                <a:cs typeface="B Nazanin" panose="00000400000000000000" pitchFamily="2" charset="-78"/>
              </a:rPr>
              <a:t>Query Processor)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F35686-D57B-307F-CE4A-BA4DD22533D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83403" y="727075"/>
            <a:ext cx="8462147" cy="60016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مولفه‌های پردازشگر پرس و جو شامل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مفسر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DDL (DDL interpreter)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دستورات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DDL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تفسیر کرده و تعاریف را در دیکشنری داده ثبت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کامپایلر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(DML compiler)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دستورات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در یک زبان پرس و جو به یک طرح ارزیابی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(evaluation plan)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ترجمه می‌کند که شامل دستورالعمل‌های سطح پایینی است که موتور ارزیابی پرس و جو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(query evaluation engine)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می‌فهمد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1257300" lvl="3" indent="0" algn="r" rtl="1">
              <a:spcBef>
                <a:spcPct val="0"/>
              </a:spcBef>
              <a:buClr>
                <a:srgbClr val="00B050"/>
              </a:buClr>
              <a:buFontTx/>
              <a:buChar char="•"/>
            </a:pP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کامپایلر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بهینه‌سازی پرس و جو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(query optimization)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انجام می‌دهد؛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یعنی کم‌هزینه‌ترین طرح ارزیابی را از بین گزینه‌های مختلف انتخاب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موتور ارزیابی پرس و جو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(Query evaluation engine)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دستورالعمل‌های سطح پایین تولید شده توسط کامپایلر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اجرا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پردازش پرس و جو </a:t>
            </a:r>
            <a:r>
              <a:rPr lang="en-US" dirty="0">
                <a:cs typeface="B Nazanin" panose="00000400000000000000" pitchFamily="2" charset="-78"/>
              </a:rPr>
              <a:t>Query Processing)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pic>
        <p:nvPicPr>
          <p:cNvPr id="51203" name="Picture 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502" y="2407973"/>
            <a:ext cx="7134118" cy="42856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FE81CA-DE27-BA1F-508E-53C84525021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15483" y="897743"/>
            <a:ext cx="5630067" cy="1708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14350" marR="0" lvl="0" indent="-51435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تجزیه و ترجمه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(Parsing and translation) </a:t>
            </a:r>
          </a:p>
          <a:p>
            <a:pPr marL="514350" marR="0" lvl="0" indent="-51435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بهینه‌سازی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(Optimization) </a:t>
            </a:r>
          </a:p>
          <a:p>
            <a:pPr marL="514350" marR="0" lvl="0" indent="-51435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ارزیابی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(Evaluation) </a:t>
            </a:r>
          </a:p>
        </p:txBody>
      </p:sp>
    </p:spTree>
  </p:cSld>
  <p:clrMapOvr>
    <a:masterClrMapping/>
  </p:clrMapOvr>
  <p:transition advTm="1520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مدیریت تراکنش </a:t>
            </a:r>
            <a:r>
              <a:rPr lang="en-US" dirty="0">
                <a:cs typeface="B Nazanin" panose="00000400000000000000" pitchFamily="2" charset="-78"/>
              </a:rPr>
              <a:t>Transaction Management)</a:t>
            </a:r>
            <a:r>
              <a:rPr lang="fa-IR" dirty="0">
                <a:cs typeface="+mn-cs"/>
              </a:rPr>
              <a:t>)</a:t>
            </a:r>
            <a:endParaRPr lang="en-US" altLang="en-US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2AF884-F355-6091-855C-0AA394921D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76641" y="797511"/>
            <a:ext cx="8590718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</a:t>
            </a:r>
            <a:r>
              <a:rPr kumimoji="0" lang="ar-SA" altLang="en-US" sz="28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تراکنش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(transaction)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مجموعه‌ای از عملیات است که یک تابع منطقی واحد را در یک برنامه پایگاه داده انجام می‌دهد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8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 مدیریت تراکنش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اطمینان حاصل می‌کند که پایگاه داده علی‌رغم خرابی‌های سیستم (مانند قطع برق و خرابی‌های سیستم عامل) و خرابی‌های تراکنش، در یک حالت سازگار (صحیح) باقی می‌ماند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8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کنترل همروندی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(Concurrency-control manager)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تعامل بین تراکنش‌های همزمان را کنترل می‌کند تا از سازگاری پایگاه داده اطمینان حاصل شود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معماری پایگاه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ED0160-F64A-9E12-4AA8-84BE5F0AA9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8351" y="1071440"/>
            <a:ext cx="8077199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پایگاه‌های داده متمرکز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(Centralized databases)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تا چند هسته، حافظه مشترک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مشتری-سرویس‌دهنده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(Client-server)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دستگاه سرویس‌دهنده کار را به نمایندگی از چندین دستگاه مشتری اجرا می‌کند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پایگاه‌های داده موازی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(Parallel databases)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حافظه مشترک چند هسته‌ای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دیسک مشترک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(Shared disk)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بدون اشتراک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(Shared nothing)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پایگاه‌های داده توزیع شده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(Distributed databases)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توزیع جغرافیایی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عدم یکنواختی طرح‌واره/داده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(Schema/data heterogeneity)</a:t>
            </a: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8874E-9429-4B1E-981E-C70D2AC67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5683" y="1177412"/>
            <a:ext cx="2918317" cy="762139"/>
          </a:xfrm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معماری پایگاه داده (متمرکز/حافظه مشترک)</a:t>
            </a:r>
            <a:endParaRPr lang="en-IN" dirty="0">
              <a:cs typeface="B Nazanin" panose="00000400000000000000" pitchFamily="2" charset="-78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5D13987-289A-4B35-AF04-A396F79120B8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8828" b="-1"/>
          <a:stretch/>
        </p:blipFill>
        <p:spPr>
          <a:xfrm>
            <a:off x="303830" y="736838"/>
            <a:ext cx="5754250" cy="588585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6B8D97-6AC9-42AF-B404-F98B7B586BC9}"/>
              </a:ext>
            </a:extLst>
          </p:cNvPr>
          <p:cNvSpPr txBox="1"/>
          <p:nvPr/>
        </p:nvSpPr>
        <p:spPr>
          <a:xfrm>
            <a:off x="1883229" y="421795"/>
            <a:ext cx="3657600" cy="33855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App Interface</a:t>
            </a:r>
          </a:p>
        </p:txBody>
      </p:sp>
    </p:spTree>
    <p:extLst>
      <p:ext uri="{BB962C8B-B14F-4D97-AF65-F5344CB8AC3E}">
        <p14:creationId xmlns:p14="http://schemas.microsoft.com/office/powerpoint/2010/main" val="24572051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برنامه‌های کاربردی پایگاه داده </a:t>
            </a:r>
            <a:r>
              <a:rPr lang="en-US" dirty="0">
                <a:cs typeface="B Nazanin" panose="00000400000000000000" pitchFamily="2" charset="-78"/>
              </a:rPr>
              <a:t>Database Applications)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96396" y="969047"/>
            <a:ext cx="87512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800" dirty="0">
                <a:cs typeface="B Nazanin" panose="00000400000000000000" pitchFamily="2" charset="-78"/>
              </a:rPr>
              <a:t>برنامه‌های کاربردی پایگاه داده معمولاً به دو یا سه قسمت تقسیم می‌شوند:</a:t>
            </a:r>
            <a:endParaRPr lang="en-US" altLang="en-US" sz="2800" dirty="0">
              <a:cs typeface="B Nazanin" panose="00000400000000000000" pitchFamily="2" charset="-78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7E2C417-E1C2-32E0-B899-5EC6306D48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5904" y="1624241"/>
            <a:ext cx="8419646" cy="51136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معماری دو لایه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(Two-tier architecture)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 در دستگاه مشتری قرار دارد، جایی که عملکرد سیستم پایگاه داده را در دستگاه سرویس‌دهنده فراخوانی می‌کند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معماری سه لایه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(Three-tier architecture)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دستگاه مشتری به عنوان یک جبهه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(front end)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عمل می‌کند و حاوی هیچ فراخوانی مستقیم پایگاه داده نیست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مشتری با یک سرور برنامه کاربردی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(application server)،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معمولاً از طریق یک واسط فرم‌ها، ارتباط برقرار می‌کند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سرور برنامه کاربردی به نوبه خود برای دسترسی به داده‌ها با یک سیستم پایگاه داده ارتباط برقرار می‌کند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088176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معماری‌های دو لایه و سه لایه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59394" name="Rectangle 10"/>
          <p:cNvSpPr>
            <a:spLocks noChangeArrowheads="1"/>
          </p:cNvSpPr>
          <p:nvPr/>
        </p:nvSpPr>
        <p:spPr bwMode="auto">
          <a:xfrm>
            <a:off x="5934075" y="2765823"/>
            <a:ext cx="923925" cy="15835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200"/>
          </a:p>
        </p:txBody>
      </p:sp>
      <p:sp>
        <p:nvSpPr>
          <p:cNvPr id="59395" name="Rectangle 11"/>
          <p:cNvSpPr>
            <a:spLocks noChangeArrowheads="1"/>
          </p:cNvSpPr>
          <p:nvPr/>
        </p:nvSpPr>
        <p:spPr bwMode="auto">
          <a:xfrm>
            <a:off x="6038850" y="3965973"/>
            <a:ext cx="923925" cy="15835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200"/>
          </a:p>
        </p:txBody>
      </p:sp>
      <p:sp>
        <p:nvSpPr>
          <p:cNvPr id="59396" name="Rectangle 12"/>
          <p:cNvSpPr>
            <a:spLocks noChangeArrowheads="1"/>
          </p:cNvSpPr>
          <p:nvPr/>
        </p:nvSpPr>
        <p:spPr bwMode="auto">
          <a:xfrm>
            <a:off x="6000750" y="4670823"/>
            <a:ext cx="923925" cy="15835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20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3A18438-CAED-46A8-AC4A-9CD37495AB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4638" y="1378918"/>
            <a:ext cx="6568649" cy="421475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title"/>
          </p:nvPr>
        </p:nvSpPr>
        <p:spPr>
          <a:xfrm>
            <a:off x="681765" y="0"/>
            <a:ext cx="8077200" cy="6096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کاربران پایگاه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4BFA042-22D8-4B76-83F1-7A404E7E236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1" b="46320"/>
          <a:stretch/>
        </p:blipFill>
        <p:spPr>
          <a:xfrm>
            <a:off x="903514" y="727075"/>
            <a:ext cx="7633702" cy="588936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مدیر پایگاه داده </a:t>
            </a:r>
            <a:r>
              <a:rPr lang="en-US" dirty="0">
                <a:cs typeface="B Nazanin" panose="00000400000000000000" pitchFamily="2" charset="-78"/>
              </a:rPr>
              <a:t>Database Administrator - DBA)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863A138F-0698-BB98-142C-F059072D99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2934" y="809386"/>
            <a:ext cx="854261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algn="r" rtl="1">
              <a:spcBef>
                <a:spcPct val="0"/>
              </a:spcBef>
              <a:buClrTx/>
              <a:buSzTx/>
              <a:buNone/>
            </a:pPr>
            <a:r>
              <a:rPr lang="fa-IR" sz="2000" dirty="0">
                <a:cs typeface="B Nazanin" panose="00000400000000000000" pitchFamily="2" charset="-78"/>
              </a:rPr>
              <a:t>شخصی که کنترل مرکزی بر سیستم دارد، </a:t>
            </a:r>
            <a:r>
              <a:rPr lang="fa-IR" sz="2000" dirty="0">
                <a:solidFill>
                  <a:srgbClr val="002060"/>
                </a:solidFill>
                <a:cs typeface="B Nazanin" panose="00000400000000000000" pitchFamily="2" charset="-78"/>
              </a:rPr>
              <a:t>مدیر پایگاه داده </a:t>
            </a:r>
            <a:r>
              <a:rPr lang="en-US" sz="2000" dirty="0">
                <a:cs typeface="B Nazanin" panose="00000400000000000000" pitchFamily="2" charset="-78"/>
              </a:rPr>
              <a:t>(DBA) </a:t>
            </a:r>
            <a:r>
              <a:rPr lang="fa-IR" sz="2000" dirty="0">
                <a:cs typeface="B Nazanin" panose="00000400000000000000" pitchFamily="2" charset="-78"/>
              </a:rPr>
              <a:t>نامیده می‌شود.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وظایف یک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DBA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شامل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تعریف طرح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Schema</a:t>
            </a: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‌</a:t>
            </a:r>
            <a:r>
              <a:rPr kumimoji="0" lang="fa-IR" altLang="en-US" sz="2000" b="1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fa-IR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تعریف ساختار ذخیره‌سازی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روش دسترسی</a:t>
            </a:r>
            <a:r>
              <a:rPr kumimoji="0" lang="fa-IR" altLang="en-US" sz="2000">
                <a:latin typeface="Arial" panose="020B0604020202020204" pitchFamily="34" charset="0"/>
                <a:cs typeface="B Nazanin" panose="00000400000000000000" pitchFamily="2" charset="-78"/>
              </a:rPr>
              <a:t> به پایگاه داده و جداول</a:t>
            </a:r>
            <a:r>
              <a:rPr kumimoji="0" lang="fa-IR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اصلاح طرح‌ و سازمان فیزیکی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اعطای مجوز دسترسی به داده‌ها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نگهداری روتین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1257300" marR="0" lvl="2" indent="-3429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پشتیبان‌گیری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دوره‌ای از پایگاه داده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1257300" marR="0" lvl="2" indent="-3429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1257300" marR="0" lvl="2" indent="-3429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اطمینان از در دسترس بودن فضای کافی دیسک آزاد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عملیات عادی و ارتقاء فضای دیسک در صورت نیاز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1257300" marR="0" lvl="2" indent="-3429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1257300" marR="0" lvl="2" indent="-3429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نظارت بر کارهایی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که در پایگاه داده در حال اجرا هستند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unched card machine hi-res stock photography and images - Alamy">
            <a:extLst>
              <a:ext uri="{FF2B5EF4-FFF2-40B4-BE49-F238E27FC236}">
                <a16:creationId xmlns:a16="http://schemas.microsoft.com/office/drawing/2014/main" id="{DCC3D383-1136-D972-ACEC-EEA1DAB06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450" y="1123445"/>
            <a:ext cx="2920455" cy="2249352"/>
          </a:xfrm>
          <a:prstGeom prst="rect">
            <a:avLst/>
          </a:prstGeom>
        </p:spPr>
      </p:pic>
      <p:sp>
        <p:nvSpPr>
          <p:cNvPr id="63489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تاریخچه سیستم‌های پایگاه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ADA2D-AF29-5A99-C0B3-BBC7964A8F0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98450" y="727075"/>
            <a:ext cx="8720095" cy="62786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دهه </a:t>
            </a:r>
            <a:r>
              <a:rPr kumimoji="0" lang="fa-I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۱۹۵۰</a:t>
            </a: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و اوایل دهه </a:t>
            </a:r>
            <a:r>
              <a:rPr kumimoji="0" lang="fa-I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۱۹۶۰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fa-I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fa-IR" altLang="en-US" sz="1800" dirty="0"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fa-I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اواخر دهه </a:t>
            </a:r>
            <a:r>
              <a:rPr kumimoji="0" lang="fa-I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۱۹۶۰</a:t>
            </a: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و دهه </a:t>
            </a:r>
            <a:r>
              <a:rPr kumimoji="0" lang="fa-I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۱۹۷۰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دیسک‌های سخت اجازه دسترسی مستقیم به داده‌ها را دادند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مدل‌های داده شبکه‌ای و سلسله‌مراتبی به طور گسترده‌ای مورد استفاده قرار گرفتند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تد کاد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(Ted Codd)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داده رابطه‌ای را تعریف کرد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 typeface="Arial" panose="020B0604020202020204" pitchFamily="34" charset="0"/>
              <a:buChar char="•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این کار برنده جایزه تورینگ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ACM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IBM Research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نمونه اولیه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System R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آغاز کرد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UC Berkeley (Michael Stonebraker)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نمونه اولیه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Ingres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آغاز کرد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Oracle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اولین پایگاه داده رابطه‌ای تجاری را منتشر کرد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پردازش تراکنش با عملکرد بالا (برای آن دوران)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08B02C-A4CB-CCD1-EC95-524D7DBEF23E}"/>
              </a:ext>
            </a:extLst>
          </p:cNvPr>
          <p:cNvSpPr txBox="1"/>
          <p:nvPr/>
        </p:nvSpPr>
        <p:spPr>
          <a:xfrm>
            <a:off x="3589963" y="1229322"/>
            <a:ext cx="5428582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پردازش داده با استفاده از نوارهای مغناطیسی برای ذخیره‌سازی</a:t>
            </a:r>
            <a:r>
              <a:rPr kumimoji="0" lang="fa-I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 typeface="Arial" panose="020B0604020202020204" pitchFamily="34" charset="0"/>
              <a:buChar char="•"/>
            </a:pPr>
            <a:r>
              <a:rPr kumimoji="0" lang="ar-SA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نوارها فقط دسترسی ترتیبی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(sequential access) </a:t>
            </a:r>
            <a:r>
              <a:rPr kumimoji="0" lang="ar-SA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فراهم می‌کردند</a:t>
            </a:r>
            <a:r>
              <a:rPr kumimoji="0" lang="fa-I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کارت‌های سوراخ‌دار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(Punched cards) </a:t>
            </a:r>
            <a:r>
              <a:rPr kumimoji="0" lang="ar-SA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ورودی</a:t>
            </a:r>
            <a:r>
              <a:rPr kumimoji="0" lang="fa-I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تاریخچه سیستم‌های پایگاه داده (ادامه)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222AA1-6342-D823-8B9F-5E6C5A64AF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8984" y="746983"/>
            <a:ext cx="7870953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دهه 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۱۹۸۰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نمونه‌های اولیه رابطه‌ای تحقیقاتی به سیستم‌های تجاری تکامل یافتند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استاندارد صنعتی تبدیل شد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 پایگاه داده موازی و توزیع‌شده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0010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Wisconsin، IBM، Teradata.</a:t>
            </a: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 پایگاه داده شیء-گرا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دهه 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۱۹۹۰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 کاربردی بزرگ پشتیبانی از تصمیم‌گیری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(decision support)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داده‌کاوی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(data-mining)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انبارهای 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warehouses)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بزرگ چند ترابایتی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ظهور تجارت وب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تاریخچه سیستم‌های پایگاه داده (ادامه)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9D5F04-02BF-7449-A453-D9EBA65F5EB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5481" y="739502"/>
            <a:ext cx="7828907" cy="60939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دهه 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۲۰۰۰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 ذخیره‌سازی داده‌های بزرگ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(Big data storage systems)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0010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Google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BigTable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، Yahoo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PNuts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، Amazon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 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"NoSQL"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تجزیه و تحلیل داده‌های بزرگ: فراتر از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0010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Map reduce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موارد مشابه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دهه 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۲۰۱۰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بارگذاری مجدد شد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(SQL reloaded)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457200" marR="0" lvl="1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00B050"/>
              </a:buClr>
              <a:buSzTx/>
              <a:buFontTx/>
              <a:buChar char="•"/>
              <a:tabLst/>
            </a:pP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جبهه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(SQL front end)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سیستم‌های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Map Reduce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400050" lvl="1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 پایگاه داده موازی گسترده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(Massively parallel database systems)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 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400050" lvl="1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پایگاه‌های داده درون حافظه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(main-memory databases)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چند هسته‌ای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2"/>
          <p:cNvSpPr>
            <a:spLocks noGrp="1" noChangeArrowheads="1"/>
          </p:cNvSpPr>
          <p:nvPr>
            <p:ph type="ctrTitle" idx="4294967295"/>
          </p:nvPr>
        </p:nvSpPr>
        <p:spPr>
          <a:xfrm>
            <a:off x="1657350" y="2571750"/>
            <a:ext cx="5829300" cy="8572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sz="3200" dirty="0">
                <a:effectLst/>
              </a:rPr>
              <a:t>End of Chapter 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F2C8F83-8641-4055-B04E-6791A605F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415" y="117474"/>
            <a:ext cx="8421135" cy="648223"/>
          </a:xfrm>
        </p:spPr>
        <p:txBody>
          <a:bodyPr/>
          <a:lstStyle/>
          <a:p>
            <a:pPr rtl="1"/>
            <a:r>
              <a:rPr lang="fa-IR" sz="3200" dirty="0">
                <a:cs typeface="B Nazanin" panose="00000400000000000000" pitchFamily="2" charset="-78"/>
              </a:rPr>
              <a:t>تمرینات عملی </a:t>
            </a:r>
            <a:r>
              <a:rPr lang="en-US" sz="3200" dirty="0">
                <a:cs typeface="B Nazanin" panose="00000400000000000000" pitchFamily="2" charset="-78"/>
              </a:rPr>
              <a:t>Practice Exercises)</a:t>
            </a:r>
            <a:r>
              <a:rPr lang="fa-IR" sz="3200" dirty="0">
                <a:cs typeface="+mn-cs"/>
              </a:rPr>
              <a:t>)</a:t>
            </a:r>
            <a:endParaRPr lang="en-US" sz="3200" dirty="0"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5CB1E5-49A5-10CE-E3EB-4ECA3468025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4021" y="540760"/>
            <a:ext cx="8095564" cy="6740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</a:t>
            </a:r>
            <a:r>
              <a:rPr kumimoji="0" lang="fa-IR" altLang="en-US" sz="1800" dirty="0"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این فصل چندین مزیت عمده سیستم پایگاه داده را توصیف کرده است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دو مورد از معایب آن چیست؟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۱.۲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پنج روش را فهرست کنید که در آن‌ها سیستم اعلام نوع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(type declaration system)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زبان مانند جاوا یا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C++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با زبان تعریف داده‌ای که در پایگاه داده استفاده می‌شود، تفاوت دارد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۱.۳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شش مرحله اصلی را که برای راه‌اندازی یک پایگاه داده برای یک بنگاه خاص انجام می‌دهید، فهرست کنید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۱.۴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فرض کنید می‌خواهید یک سایت ویدیویی شبیه به یوتیوب بسازید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marL="0" indent="0" algn="r" rtl="1">
              <a:lnSpc>
                <a:spcPct val="150000"/>
              </a:lnSpc>
              <a:spcBef>
                <a:spcPct val="0"/>
              </a:spcBef>
              <a:buClrTx/>
              <a:buSzTx/>
              <a:buNone/>
            </a:pP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	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هر یک از نکات ذکر شده در بخش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۱.۲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را به عنوان معایب نگهداری داده‌ها در یک سیستم پردازش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	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فایل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(file-processing system)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در نظر بگیرید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marL="0" indent="0" algn="r" rtl="1">
              <a:lnSpc>
                <a:spcPct val="150000"/>
              </a:lnSpc>
              <a:spcBef>
                <a:spcPct val="0"/>
              </a:spcBef>
              <a:buClrTx/>
              <a:buSzTx/>
              <a:buNone/>
            </a:pP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	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در مورد ارتباط هر یک از این نکات با ذخیره‌سازی داده‌های ویدیویی واقعی، و با فراداده‌ها در مورد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	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ویدیو، مانند عنوان، کاربری که آن را بارگذاری کرده است، برچسب‌ها، و کاربرانی که آن را مشاهده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	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کرده‌اند، بحث کنید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۱.۵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پرس و جوهای کلمه‌کلیدی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(Keyword queries)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که در جستجوی وب استفاده می‌شوند، کاملاً با پرس و جوهای پایگاه داده متفاوت هستند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تفاوت‌های کلیدی بین این دو را، از نظر نحوه مشخص شدن پرس و جوها و از نظر نتیجه یک پرس و جو، فهرست کنید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96961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F2C8F83-8641-4055-B04E-6791A605F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53" name="Rectangle 48">
            <a:extLst>
              <a:ext uri="{FF2B5EF4-FFF2-40B4-BE49-F238E27FC236}">
                <a16:creationId xmlns:a16="http://schemas.microsoft.com/office/drawing/2014/main" id="{925B8431-3258-53BA-E6E4-0E00A29003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01295" y="958943"/>
            <a:ext cx="8741410" cy="52360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۱.۶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چهار برنامه کاربردی که استفاده کرده‌اید و به احتمال زیاد از یک سیستم پایگاه داده برای ذخیره داده‌های ماندگار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(persistent data)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استفاده کرده‌اند، فهرست کنید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۱.۷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چهار تفاوت مهم بین یک سیستم پردازش فایل و یک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DBMS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فهرست کنید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۱.۸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مفهوم استقلال داده فیزیکی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(physical data independence)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اهمیت آن در سیستم‌های پایگاه داده را توضیح دهید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۱.۹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پنج مسئولیت عمده یک سیستم مدیریت پایگاه داده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(database-management system)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فهرست کنید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هر مسئولیت، مشکلاتی را که در صورت عدم انجام آن مسئولیت ایجاد می‌شود، توضیح دهید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۱.۱۰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حداقل دو دلیل را فهرست کنید که چرا سیستم‌های پایگاه داده از دستکاری داده‌ها با استفاده از یک زبان پرس و جو اعلانی مانند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SQL،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جای 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  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فقط ارائه یک کتابخانه از توابع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C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یا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C++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انجام دستکاری داده‌ها، پشتیبانی می‌کنند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۱.۱۱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فرض کنید دو دانشجو در تلاش برای ثبت‌نام در یک درسی هستند که تنها یک صندلی خالی دارد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marL="0" indent="0" algn="r" rtl="1">
              <a:lnSpc>
                <a:spcPct val="150000"/>
              </a:lnSpc>
              <a:spcBef>
                <a:spcPct val="0"/>
              </a:spcBef>
              <a:buClrTx/>
              <a:buSzTx/>
              <a:buNone/>
            </a:pPr>
            <a:r>
              <a:rPr kumimoji="0" lang="fa-IR" altLang="en-US" sz="1400" dirty="0">
                <a:latin typeface="Arial" panose="020B0604020202020204" pitchFamily="34" charset="0"/>
                <a:cs typeface="B Nazanin" panose="00000400000000000000" pitchFamily="2" charset="-78"/>
              </a:rPr>
              <a:t>                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کدام مولفه از یک سیستم پایگاه داده مانع از این می‌شود که به هر دو دانشجو آن صندلی آخر داده شود؟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۱.۱۲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تفاوت بین معماری‌های برنامه دو لایه و سه لایه را توضیح دهید. کدام یک برای برنامه‌های کاربردی وب مناسب‌تر است؟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چرا؟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۱.۱۳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دو ویژگی توسعه یافته در دهه 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۲۰۰۰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را فهرست کنید که به سیستم‌های پایگاه داده کمک می‌کنند تا حجم کاری تجزیه و تحلیل داده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(data-analytics workloads)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مدیریت کنند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۱.۱۴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توضیح دهید که چرا سیستم‌های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NoSQL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در دهه 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۲۰۰۰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ظهور کردند و به طور خلاصه ویژگی‌های آن‌ها را با سیستم‌های پایگاه داده سنتی مقایسه کنید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۱.۱۵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حداقل سه جدولی را توصیف کنید که ممکن است برای ذخیره اطلاعات در یک سیستم شبکه‌های اجتماعی مانند فیس‌بوک استفاده شود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4382415"/>
      </p:ext>
    </p:extLst>
  </p:cSld>
  <p:clrMapOvr>
    <a:masterClrMapping/>
  </p:clrMapOvr>
</p:sld>
</file>

<file path=ppt/theme/theme1.xml><?xml version="1.0" encoding="utf-8"?>
<a:theme xmlns:a="http://schemas.openxmlformats.org/drawingml/2006/main" name="2_db-5-grey">
  <a:themeElements>
    <a:clrScheme name="">
      <a:dk1>
        <a:srgbClr val="000000"/>
      </a:dk1>
      <a:lt1>
        <a:srgbClr val="CCECFF"/>
      </a:lt1>
      <a:dk2>
        <a:srgbClr val="CC3300"/>
      </a:dk2>
      <a:lt2>
        <a:srgbClr val="666699"/>
      </a:lt2>
      <a:accent1>
        <a:srgbClr val="FFFFFF"/>
      </a:accent1>
      <a:accent2>
        <a:srgbClr val="CCCC00"/>
      </a:accent2>
      <a:accent3>
        <a:srgbClr val="E2F4FF"/>
      </a:accent3>
      <a:accent4>
        <a:srgbClr val="000000"/>
      </a:accent4>
      <a:accent5>
        <a:srgbClr val="FFFFFF"/>
      </a:accent5>
      <a:accent6>
        <a:srgbClr val="B9B900"/>
      </a:accent6>
      <a:hlink>
        <a:srgbClr val="FF9900"/>
      </a:hlink>
      <a:folHlink>
        <a:srgbClr val="FF9933"/>
      </a:folHlink>
    </a:clrScheme>
    <a:fontScheme name="2_db-5-grey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Helvetica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Helvetica" charset="0"/>
          </a:defRPr>
        </a:defPPr>
      </a:lstStyle>
    </a:lnDef>
  </a:objectDefaults>
  <a:extraClrSchemeLst>
    <a:extraClrScheme>
      <a:clrScheme name="2_db-5-grey 1">
        <a:dk1>
          <a:srgbClr val="333333"/>
        </a:dk1>
        <a:lt1>
          <a:srgbClr val="A9BDA9"/>
        </a:lt1>
        <a:dk2>
          <a:srgbClr val="004C2B"/>
        </a:dk2>
        <a:lt2>
          <a:srgbClr val="578963"/>
        </a:lt2>
        <a:accent1>
          <a:srgbClr val="E1B7B7"/>
        </a:accent1>
        <a:accent2>
          <a:srgbClr val="B3E1B3"/>
        </a:accent2>
        <a:accent3>
          <a:srgbClr val="D1DBD1"/>
        </a:accent3>
        <a:accent4>
          <a:srgbClr val="2A2A2A"/>
        </a:accent4>
        <a:accent5>
          <a:srgbClr val="EED8D8"/>
        </a:accent5>
        <a:accent6>
          <a:srgbClr val="A2CCA2"/>
        </a:accent6>
        <a:hlink>
          <a:srgbClr val="BDD7E5"/>
        </a:hlink>
        <a:folHlink>
          <a:srgbClr val="D2AAD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db-5-grey 2">
        <a:dk1>
          <a:srgbClr val="333333"/>
        </a:dk1>
        <a:lt1>
          <a:srgbClr val="FFFFFF"/>
        </a:lt1>
        <a:dk2>
          <a:srgbClr val="004C2B"/>
        </a:dk2>
        <a:lt2>
          <a:srgbClr val="578963"/>
        </a:lt2>
        <a:accent1>
          <a:srgbClr val="E1B7B7"/>
        </a:accent1>
        <a:accent2>
          <a:srgbClr val="B3E1B3"/>
        </a:accent2>
        <a:accent3>
          <a:srgbClr val="FFFFFF"/>
        </a:accent3>
        <a:accent4>
          <a:srgbClr val="2A2A2A"/>
        </a:accent4>
        <a:accent5>
          <a:srgbClr val="EED8D8"/>
        </a:accent5>
        <a:accent6>
          <a:srgbClr val="A2CCA2"/>
        </a:accent6>
        <a:hlink>
          <a:srgbClr val="BDD7E5"/>
        </a:hlink>
        <a:folHlink>
          <a:srgbClr val="D2AAD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db-5-grey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37373"/>
        </a:accent6>
        <a:hlink>
          <a:srgbClr val="B2B2B2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DB6</Template>
  <TotalTime>98198</TotalTime>
  <Words>6083</Words>
  <Application>Microsoft Office PowerPoint</Application>
  <PresentationFormat>On-screen Show (4:3)</PresentationFormat>
  <Paragraphs>637</Paragraphs>
  <Slides>40</Slides>
  <Notes>37</Notes>
  <HiddenSlides>1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  <vt:variant>
        <vt:lpstr>Custom Shows</vt:lpstr>
      </vt:variant>
      <vt:variant>
        <vt:i4>1</vt:i4>
      </vt:variant>
    </vt:vector>
  </HeadingPairs>
  <TitlesOfParts>
    <vt:vector size="55" baseType="lpstr">
      <vt:lpstr>ＭＳ Ｐゴシック</vt:lpstr>
      <vt:lpstr>Arial</vt:lpstr>
      <vt:lpstr>Arial Unicode MS</vt:lpstr>
      <vt:lpstr>B Nazanin</vt:lpstr>
      <vt:lpstr>Comic Sans MS</vt:lpstr>
      <vt:lpstr>Consolas</vt:lpstr>
      <vt:lpstr>Courier New</vt:lpstr>
      <vt:lpstr>Helvetica</vt:lpstr>
      <vt:lpstr>Monotype Sorts</vt:lpstr>
      <vt:lpstr>SegoeUIVariable</vt:lpstr>
      <vt:lpstr>Times New Roman</vt:lpstr>
      <vt:lpstr>Webdings</vt:lpstr>
      <vt:lpstr>Wingdings</vt:lpstr>
      <vt:lpstr>2_db-5-grey</vt:lpstr>
      <vt:lpstr>Database</vt:lpstr>
      <vt:lpstr>Chapter 1: Introduction</vt:lpstr>
      <vt:lpstr>Outline</vt:lpstr>
      <vt:lpstr>سیستم‌های پایگاه‌داده</vt:lpstr>
      <vt:lpstr>نمونه‌های کاربرد پایگاه داده</vt:lpstr>
      <vt:lpstr>نمونه‌های کاربرد پایگاه داده (ادامه)</vt:lpstr>
      <vt:lpstr>هدف از سیستم‌های پایگاه داده</vt:lpstr>
      <vt:lpstr>هدف از سیستم‌های پایگاه داده (ادامه)</vt:lpstr>
      <vt:lpstr>مثال پایگاه داده دانشگاه</vt:lpstr>
      <vt:lpstr>نمایش داده View of Data))</vt:lpstr>
      <vt:lpstr>مدل‌های داده</vt:lpstr>
      <vt:lpstr>مدل رابطه‌ای</vt:lpstr>
      <vt:lpstr>یک نمونه پایگاه داده رابطه‌ای</vt:lpstr>
      <vt:lpstr>سطوح انتزاع</vt:lpstr>
      <vt:lpstr>نمای داده View of Data))</vt:lpstr>
      <vt:lpstr>نمونه‌ها و طرح‌ها Instances and Schemas))</vt:lpstr>
      <vt:lpstr>استقلال فیزیکی داده Physical Data Independence))</vt:lpstr>
      <vt:lpstr>زبان تعریف داده Data Definition Language - DDL))</vt:lpstr>
      <vt:lpstr>زبان دستکاری داده Data Manipulation Language - DML))</vt:lpstr>
      <vt:lpstr>زبان پرس و جو SQL</vt:lpstr>
      <vt:lpstr>دسترسی به پایگاه داده از برنامه کاربردی</vt:lpstr>
      <vt:lpstr>طراحی پایگاه داده</vt:lpstr>
      <vt:lpstr>موتور پایگاه داده Database Engine))</vt:lpstr>
      <vt:lpstr>مدیر ذخیره‌سازی Storage Manager))</vt:lpstr>
      <vt:lpstr>مدیر ذخیره‌سازی (ادامه)</vt:lpstr>
      <vt:lpstr>پردازشگر پرس و جو Query Processor))</vt:lpstr>
      <vt:lpstr>پردازش پرس و جو Query Processing))</vt:lpstr>
      <vt:lpstr>مدیریت تراکنش Transaction Management))</vt:lpstr>
      <vt:lpstr>معماری پایگاه داده</vt:lpstr>
      <vt:lpstr>معماری پایگاه داده (متمرکز/حافظه مشترک)</vt:lpstr>
      <vt:lpstr>برنامه‌های کاربردی پایگاه داده Database Applications))</vt:lpstr>
      <vt:lpstr>معماری‌های دو لایه و سه لایه</vt:lpstr>
      <vt:lpstr>کاربران پایگاه داده</vt:lpstr>
      <vt:lpstr>مدیر پایگاه داده Database Administrator - DBA))</vt:lpstr>
      <vt:lpstr>تاریخچه سیستم‌های پایگاه داده</vt:lpstr>
      <vt:lpstr>تاریخچه سیستم‌های پایگاه داده (ادامه)</vt:lpstr>
      <vt:lpstr>تاریخچه سیستم‌های پایگاه داده (ادامه)</vt:lpstr>
      <vt:lpstr>End of Chapter 1</vt:lpstr>
      <vt:lpstr>تمرینات عملی Practice Exercises))</vt:lpstr>
      <vt:lpstr>Exercises</vt:lpstr>
      <vt:lpstr>Custom Show 1</vt:lpstr>
    </vt:vector>
  </TitlesOfParts>
  <Company>Lucent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7:  Relational Database Design</dc:title>
  <dc:creator>Marilyn Turnamian</dc:creator>
  <cp:lastModifiedBy>A Taghinezhad</cp:lastModifiedBy>
  <cp:revision>498</cp:revision>
  <cp:lastPrinted>1999-06-28T19:27:31Z</cp:lastPrinted>
  <dcterms:created xsi:type="dcterms:W3CDTF">2009-12-21T15:40:22Z</dcterms:created>
  <dcterms:modified xsi:type="dcterms:W3CDTF">2026-10-05T18:22:25Z</dcterms:modified>
</cp:coreProperties>
</file>