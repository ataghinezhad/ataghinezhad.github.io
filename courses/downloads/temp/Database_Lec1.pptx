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7"/>
  </p:notesMasterIdLst>
  <p:handoutMasterIdLst>
    <p:handoutMasterId r:id="rId48"/>
  </p:handoutMasterIdLst>
  <p:sldIdLst>
    <p:sldId id="458" r:id="rId2"/>
    <p:sldId id="335" r:id="rId3"/>
    <p:sldId id="418" r:id="rId4"/>
    <p:sldId id="419" r:id="rId5"/>
    <p:sldId id="420" r:id="rId6"/>
    <p:sldId id="421" r:id="rId7"/>
    <p:sldId id="422" r:id="rId8"/>
    <p:sldId id="423" r:id="rId9"/>
    <p:sldId id="424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5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61" r:id="rId29"/>
    <p:sldId id="444" r:id="rId30"/>
    <p:sldId id="445" r:id="rId31"/>
    <p:sldId id="462" r:id="rId32"/>
    <p:sldId id="456" r:id="rId33"/>
    <p:sldId id="463" r:id="rId34"/>
    <p:sldId id="464" r:id="rId35"/>
    <p:sldId id="448" r:id="rId36"/>
    <p:sldId id="465" r:id="rId37"/>
    <p:sldId id="449" r:id="rId38"/>
    <p:sldId id="450" r:id="rId39"/>
    <p:sldId id="451" r:id="rId40"/>
    <p:sldId id="452" r:id="rId41"/>
    <p:sldId id="466" r:id="rId42"/>
    <p:sldId id="468" r:id="rId43"/>
    <p:sldId id="453" r:id="rId44"/>
    <p:sldId id="459" r:id="rId45"/>
    <p:sldId id="460" r:id="rId46"/>
  </p:sldIdLst>
  <p:sldSz cx="9144000" cy="6858000" type="screen4x3"/>
  <p:notesSz cx="6997700" cy="9283700"/>
  <p:custShowLst>
    <p:custShow name="Custom Show 1" id="0">
      <p:sldLst>
        <p:sld r:id="rId3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7FC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0238" autoAdjust="0"/>
  </p:normalViewPr>
  <p:slideViewPr>
    <p:cSldViewPr snapToGrid="0">
      <p:cViewPr>
        <p:scale>
          <a:sx n="100" d="100"/>
          <a:sy n="100" d="100"/>
        </p:scale>
        <p:origin x="2142" y="4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irbyte.com/data-engineering-resources/database-schema-design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Logical_schema" TargetMode="External"/><Relationship Id="rId4" Type="http://schemas.openxmlformats.org/officeDocument/2006/relationships/hyperlink" Target="https://www.geeksforgeeks.org/database-design-fundamentals/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uomustansiriyah.edu.iq/media/lectures/6/6_2020_03_22!12_09_32_PM.pdf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quizlet.com/888994882/dbms-110-midterm-flash-cards/" TargetMode="External"/><Relationship Id="rId4" Type="http://schemas.openxmlformats.org/officeDocument/2006/relationships/hyperlink" Target="https://www.db-book.com/Previous-editions/db4/slide-dir/ch1.pdf" TargetMode="Externa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  <a:pPr algn="r"/>
              <a:t>4</a:t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3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5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8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6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180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8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1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7E4010D-B469-485C-9478-EC8472477B61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24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86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7DE4E5-79F5-4AF4-9119-D11AC2C04ADD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Data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At the heart of any data model lies the data itself. Think of it as the raw material—the bits and bytes—that we want to organize, store, and manipulate.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Data can be anything: numbers, text, images, sensor readings, customer names, or even more complex structures like graphs or hierarchies.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Data Relationships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Data doesn’t exist in isolation; it’s interconnected. Understanding these relationships is crucial.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Relationships define how different pieces of data relate to one another. For example: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In a relational database, tables are related through keys (primary keys and foreign keys).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In a graph database, nodes are connected by edges.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In an object-oriented model, objects collaborate through associations.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Data Semantics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Semantics refer to the meaning behind the data. It’s not just about the syntax (how data is represented), but also about what it represents.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For instance: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If we have a field called “temperature,” its semantics might indicate whether it’s in Celsius or Fahrenheit.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A semantic understanding of data helps us interpret it correctly.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Data Constraints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Constraints are rules that govern how data behaves within a system.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Examples of constraints: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Domain Constraints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 These limit the valid values for a field. For instance, an age field cannot be negative.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Key Constraints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 Ensuring uniqueness (e.g., primary keys).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Referential Integrity Constraints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 Enforcing relationships (foreign keys).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Business Rules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: Constraints specific to the domain (e.g., a product’s price must be positive).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3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BAA96B3-F44A-462E-9F3B-FC947B143EC7}" type="slidenum">
              <a:rPr lang="en-US" altLang="en-US" sz="1200"/>
              <a:pPr algn="r"/>
              <a:t>13</a:t>
            </a:fld>
            <a:endParaRPr lang="en-US" altLang="en-US" sz="1200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41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8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7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16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The physical schema deals with how data is stored on the actual storage devices (like hard drives or SSDs).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It includes details such as file organization, indexing methods, storage allocation, and access paths.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Changes at this level should not impact the logical schema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Examples of changes at the physical level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Upgrading storage hardware (e.g., replacing hard disks with faster SSDs).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Reorganizing data files for better performance.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Adjusting indexing strategies.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FFFFF"/>
                </a:solidFill>
                <a:effectLst/>
                <a:latin typeface="SegoeUIVariable"/>
              </a:rPr>
              <a:t>magine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 you’re running a popular e-commerce website. You decide to upgrade your database server hardware to improve performance.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With physical data independence, you can seamlessly make this change without rewriting your application code. The logical schema remains unchanged.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3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FFFFFF"/>
              </a:solidFill>
              <a:effectLst/>
              <a:latin typeface="SegoeUIVariable"/>
            </a:endParaRPr>
          </a:p>
        </p:txBody>
      </p:sp>
    </p:spTree>
    <p:extLst>
      <p:ext uri="{BB962C8B-B14F-4D97-AF65-F5344CB8AC3E}">
        <p14:creationId xmlns:p14="http://schemas.microsoft.com/office/powerpoint/2010/main" val="233617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  <a:pPr algn="r"/>
              <a:t>20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Examples of Procedural DMLs:</a:t>
            </a:r>
            <a:endParaRPr lang="en-US" b="0" i="0" dirty="0">
              <a:solidFill>
                <a:srgbClr val="FFFFFF"/>
              </a:solidFill>
              <a:effectLst/>
              <a:latin typeface="SegoeUIVariabl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COBOL: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 An older language primarily used for business applications.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FORTRAN: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 A scientific and engineering programming language.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SegoeUIVariable"/>
              </a:rPr>
              <a:t>PL/SQL:</a:t>
            </a:r>
            <a:r>
              <a:rPr lang="en-US" b="0" i="0" dirty="0">
                <a:solidFill>
                  <a:srgbClr val="FFFFFF"/>
                </a:solidFill>
                <a:effectLst/>
                <a:latin typeface="SegoeUIVariable"/>
              </a:rPr>
              <a:t> A procedural extension of SQL used in Oracle databases.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Simple PL/SQL:</a:t>
            </a:r>
          </a:p>
          <a:p>
            <a:r>
              <a:rPr lang="en-US" dirty="0"/>
              <a:t>DECLARE </a:t>
            </a:r>
            <a:r>
              <a:rPr lang="en-US" dirty="0" err="1"/>
              <a:t>v_total_sales</a:t>
            </a:r>
            <a:r>
              <a:rPr lang="en-US" dirty="0"/>
              <a:t> NUMBER; </a:t>
            </a:r>
          </a:p>
          <a:p>
            <a:r>
              <a:rPr lang="en-US" dirty="0"/>
              <a:t>BEGIN SELECT SUM(</a:t>
            </a:r>
            <a:r>
              <a:rPr lang="en-US" dirty="0" err="1"/>
              <a:t>sales_amount</a:t>
            </a:r>
            <a:r>
              <a:rPr lang="en-US" dirty="0"/>
              <a:t>) INTO </a:t>
            </a:r>
            <a:r>
              <a:rPr lang="en-US" dirty="0" err="1"/>
              <a:t>v_total_sales</a:t>
            </a:r>
            <a:r>
              <a:rPr lang="en-US" dirty="0"/>
              <a:t> FROM </a:t>
            </a:r>
            <a:r>
              <a:rPr lang="en-US" dirty="0" err="1"/>
              <a:t>sales_data</a:t>
            </a:r>
            <a:r>
              <a:rPr lang="en-US" dirty="0"/>
              <a:t>; DBMS_OUTPUT.PUT_LINE('Total sales: ' || </a:t>
            </a:r>
            <a:r>
              <a:rPr lang="en-US" dirty="0" err="1"/>
              <a:t>v_total_sales</a:t>
            </a:r>
            <a:r>
              <a:rPr lang="en-US" dirty="0"/>
              <a:t>); END;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algn="r" rtl="1"/>
            <a:r>
              <a:rPr lang="en-US" b="1" dirty="0" err="1"/>
              <a:t>ماشین</a:t>
            </a:r>
            <a:r>
              <a:rPr lang="en-US" b="1" dirty="0"/>
              <a:t> </a:t>
            </a:r>
            <a:r>
              <a:rPr lang="en-US" b="1" dirty="0" err="1"/>
              <a:t>تورینگ</a:t>
            </a:r>
            <a:r>
              <a:rPr lang="en-US" b="1" dirty="0"/>
              <a:t> </a:t>
            </a:r>
            <a:r>
              <a:rPr lang="en-US" b="1" dirty="0" err="1"/>
              <a:t>چیست</a:t>
            </a:r>
            <a:r>
              <a:rPr lang="en-US" b="1" dirty="0"/>
              <a:t>؟</a:t>
            </a:r>
          </a:p>
          <a:p>
            <a:pPr algn="r" rtl="1"/>
            <a:r>
              <a:rPr lang="en-US" dirty="0" err="1"/>
              <a:t>ماشین</a:t>
            </a:r>
            <a:r>
              <a:rPr lang="en-US" dirty="0"/>
              <a:t> </a:t>
            </a:r>
            <a:r>
              <a:rPr lang="en-US" dirty="0" err="1"/>
              <a:t>تورینگ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نظری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کامپیوتر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می‌تواند</a:t>
            </a:r>
            <a:r>
              <a:rPr lang="en-US" dirty="0"/>
              <a:t>،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اصل</a:t>
            </a:r>
            <a:r>
              <a:rPr lang="en-US" dirty="0"/>
              <a:t>، </a:t>
            </a:r>
            <a:r>
              <a:rPr lang="en-US" b="1" dirty="0" err="1"/>
              <a:t>هر</a:t>
            </a:r>
            <a:r>
              <a:rPr lang="en-US" b="1" dirty="0"/>
              <a:t> </a:t>
            </a:r>
            <a:r>
              <a:rPr lang="en-US" b="1" dirty="0" err="1"/>
              <a:t>محاسبه</a:t>
            </a:r>
            <a:r>
              <a:rPr lang="en-US" b="1" dirty="0"/>
              <a:t> </a:t>
            </a:r>
            <a:r>
              <a:rPr lang="en-US" b="1" dirty="0" err="1"/>
              <a:t>قابل‌محاسبه‌ای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انجام</a:t>
            </a:r>
            <a:r>
              <a:rPr lang="en-US" dirty="0"/>
              <a:t> </a:t>
            </a:r>
            <a:r>
              <a:rPr lang="en-US" dirty="0" err="1"/>
              <a:t>دهد</a:t>
            </a:r>
            <a:r>
              <a:rPr lang="en-US" dirty="0"/>
              <a:t>؛ </a:t>
            </a:r>
            <a:r>
              <a:rPr lang="en-US" dirty="0" err="1"/>
              <a:t>مثلاً</a:t>
            </a:r>
            <a:r>
              <a:rPr lang="en-US" dirty="0"/>
              <a:t>:</a:t>
            </a:r>
          </a:p>
          <a:p>
            <a:pPr lvl="0" algn="r" rtl="1"/>
            <a:r>
              <a:rPr lang="en-US" dirty="0" err="1"/>
              <a:t>حلقه‌های</a:t>
            </a:r>
            <a:r>
              <a:rPr lang="en-US" dirty="0"/>
              <a:t> </a:t>
            </a:r>
            <a:r>
              <a:rPr lang="en-US" dirty="0" err="1"/>
              <a:t>نامحدود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 </a:t>
            </a:r>
          </a:p>
          <a:p>
            <a:pPr lvl="0" algn="r" rtl="1"/>
            <a:r>
              <a:rPr lang="en-US" dirty="0" err="1"/>
              <a:t>محاسبات</a:t>
            </a:r>
            <a:r>
              <a:rPr lang="en-US" dirty="0"/>
              <a:t> </a:t>
            </a:r>
            <a:r>
              <a:rPr lang="en-US" dirty="0" err="1"/>
              <a:t>پیچیده</a:t>
            </a:r>
            <a:r>
              <a:rPr lang="en-US" dirty="0"/>
              <a:t> و </a:t>
            </a:r>
            <a:r>
              <a:rPr lang="en-US" dirty="0" err="1"/>
              <a:t>الگوریتم‌های</a:t>
            </a:r>
            <a:r>
              <a:rPr lang="en-US" dirty="0"/>
              <a:t> </a:t>
            </a:r>
            <a:r>
              <a:rPr lang="en-US" dirty="0" err="1"/>
              <a:t>دلخواه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 </a:t>
            </a:r>
          </a:p>
          <a:p>
            <a:pPr lvl="0" algn="r" rtl="1"/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وضعیت</a:t>
            </a:r>
            <a:r>
              <a:rPr lang="en-US" dirty="0"/>
              <a:t> </a:t>
            </a:r>
            <a:r>
              <a:rPr lang="en-US" dirty="0" err="1"/>
              <a:t>فعلی</a:t>
            </a:r>
            <a:r>
              <a:rPr lang="en-US" dirty="0"/>
              <a:t>، </a:t>
            </a:r>
            <a:r>
              <a:rPr lang="en-US" dirty="0" err="1"/>
              <a:t>تصمیم</a:t>
            </a:r>
            <a:r>
              <a:rPr lang="en-US" dirty="0"/>
              <a:t> </a:t>
            </a:r>
            <a:r>
              <a:rPr lang="en-US" dirty="0" err="1"/>
              <a:t>بگیرد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بعد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8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89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22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Logical Design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logical design phase focuses on defining the high-level structure of your database. It’s like creating a blueprint before constructing a building. Here, we decide on the </a:t>
            </a:r>
            <a:r>
              <a:rPr lang="en-US" b="1" dirty="0"/>
              <a:t>schema</a:t>
            </a:r>
            <a:r>
              <a:rPr lang="en-US" dirty="0"/>
              <a:t>—that is, the collection of relation schemas.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Relation schemas</a:t>
            </a:r>
            <a:r>
              <a:rPr lang="en-US" dirty="0"/>
              <a:t> correspond to tables in your database. Each schema represents an entity or concept. For example: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In a customer management system, you might have tables like: 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US" dirty="0"/>
              <a:t>customers (with attributes like ID, name, and address)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US" dirty="0"/>
              <a:t>orders (with attributes like order ID, customer ID, and date)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US" dirty="0">
                <a:hlinkClick r:id="rId3"/>
              </a:rPr>
              <a:t>products (with attributes like product ID, name, and price)</a:t>
            </a:r>
            <a:r>
              <a:rPr lang="en-US" baseline="30000" dirty="0">
                <a:hlinkClick r:id="rId3"/>
              </a:rPr>
              <a:t>1</a:t>
            </a:r>
            <a:r>
              <a:rPr lang="en-US" baseline="30000" dirty="0">
                <a:hlinkClick r:id="rId4"/>
              </a:rPr>
              <a:t>2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logical design also involves defining relationships between these tables (e.g., one-to-many, many-to-many).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Business Decision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step is about understanding the business requirements. What data do we need to store? What attributes are essential for our application?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instance, in an online bookstore system, we’d record information like book titles, authors, publication years, and member details (such as email addresses). These decisions align with the business context.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Computer Science Decision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Now we get into the nitty-gritty of designing the actual database schema. We consider how to distribute attributes among relation schemas.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example, if we have a Book table and an Author table, we decide which attributes belong to each: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Book: ISBN (primary key), title, publication year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Author: </a:t>
            </a:r>
            <a:r>
              <a:rPr lang="en-US" dirty="0" err="1"/>
              <a:t>AuthorID</a:t>
            </a:r>
            <a:r>
              <a:rPr lang="en-US" dirty="0"/>
              <a:t> (primary key), name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We also establish relationships (e.g., a book can have multiple authors, so we might create a junction table called </a:t>
            </a:r>
            <a:r>
              <a:rPr lang="en-US" dirty="0" err="1"/>
              <a:t>BookAuthor</a:t>
            </a:r>
            <a:r>
              <a:rPr lang="en-US" dirty="0"/>
              <a:t> to link them).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Physical Design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physical design deals with implementation details. How will the database be stored on disk? What indexing strategies will we use?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step involves considerations like partitioning, indexing, and optimizing for performance. </a:t>
            </a:r>
            <a:r>
              <a:rPr lang="en-US" dirty="0">
                <a:hlinkClick r:id="rId3"/>
              </a:rPr>
              <a:t>It’s where we decide on the actual storage layout</a:t>
            </a:r>
            <a:r>
              <a:rPr lang="en-US" baseline="30000" dirty="0">
                <a:hlinkClick r:id="rId5"/>
              </a:rPr>
              <a:t>3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362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34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24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0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25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39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  <a:pPr algn="r"/>
              <a:t>26</a:t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9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27</a:t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پرس‌وجو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:</a:t>
            </a:r>
            <a:br>
              <a:rPr lang="fa-IR" dirty="0"/>
            </a:br>
            <a:r>
              <a:rPr lang="en-US" dirty="0"/>
              <a:t>SELECT Name FROM Students WHERE Major = 'Computer Engineering' AND GPA &gt; 18;</a:t>
            </a:r>
            <a:endParaRPr lang="fa-IR" dirty="0"/>
          </a:p>
          <a:p>
            <a:pPr algn="r" rtl="1"/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می‌گوید</a:t>
            </a:r>
            <a:r>
              <a:rPr lang="en-US" dirty="0"/>
              <a:t>: </a:t>
            </a:r>
            <a:r>
              <a:rPr lang="en-US" b="1" dirty="0"/>
              <a:t>«</a:t>
            </a:r>
            <a:r>
              <a:rPr lang="en-US" b="1" dirty="0" err="1"/>
              <a:t>نام</a:t>
            </a:r>
            <a:r>
              <a:rPr lang="en-US" b="1" dirty="0"/>
              <a:t> </a:t>
            </a:r>
            <a:r>
              <a:rPr lang="en-US" b="1" dirty="0" err="1"/>
              <a:t>دانشجویان</a:t>
            </a:r>
            <a:r>
              <a:rPr lang="en-US" b="1" dirty="0"/>
              <a:t> </a:t>
            </a:r>
            <a:r>
              <a:rPr lang="en-US" b="1" dirty="0" err="1"/>
              <a:t>مهندسی</a:t>
            </a:r>
            <a:r>
              <a:rPr lang="en-US" b="1" dirty="0"/>
              <a:t> </a:t>
            </a:r>
            <a:r>
              <a:rPr lang="en-US" b="1" dirty="0" err="1"/>
              <a:t>کامپیوتر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معدل</a:t>
            </a:r>
            <a:r>
              <a:rPr lang="en-US" b="1" dirty="0"/>
              <a:t> </a:t>
            </a:r>
            <a:r>
              <a:rPr lang="en-US" b="1" dirty="0" err="1"/>
              <a:t>بالاتر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۱۸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من</a:t>
            </a:r>
            <a:r>
              <a:rPr lang="en-US" b="1" dirty="0"/>
              <a:t> </a:t>
            </a:r>
            <a:r>
              <a:rPr lang="en-US" b="1" dirty="0" err="1"/>
              <a:t>بده</a:t>
            </a:r>
            <a:r>
              <a:rPr lang="en-US" b="1" dirty="0"/>
              <a:t>.»</a:t>
            </a:r>
            <a:endParaRPr lang="en-US" dirty="0"/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DBMS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پاسخ‌دادن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چند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طی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SQL Query → Parsing → Query Optimization → Query Execution → Result</a:t>
            </a:r>
            <a:endParaRPr lang="en-US" dirty="0"/>
          </a:p>
          <a:p>
            <a:pPr algn="r" rtl="1"/>
            <a:r>
              <a:rPr lang="en-US" dirty="0" err="1"/>
              <a:t>مثلاً</a:t>
            </a:r>
            <a:r>
              <a:rPr lang="en-US" dirty="0"/>
              <a:t>:</a:t>
            </a:r>
          </a:p>
          <a:p>
            <a:pPr lvl="0" algn="r" rtl="1"/>
            <a:r>
              <a:rPr lang="en-US" b="1" dirty="0"/>
              <a:t>Parsing: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دستور</a:t>
            </a:r>
            <a:r>
              <a:rPr lang="en-US" dirty="0"/>
              <a:t> SQL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نظر</a:t>
            </a:r>
            <a:r>
              <a:rPr lang="en-US" dirty="0"/>
              <a:t> </a:t>
            </a:r>
            <a:r>
              <a:rPr lang="en-US" dirty="0" err="1"/>
              <a:t>نحوی</a:t>
            </a:r>
            <a:r>
              <a:rPr lang="en-US" dirty="0"/>
              <a:t> و </a:t>
            </a:r>
            <a:r>
              <a:rPr lang="en-US" dirty="0" err="1"/>
              <a:t>معنایی</a:t>
            </a:r>
            <a:r>
              <a:rPr lang="en-US" dirty="0"/>
              <a:t> </a:t>
            </a:r>
            <a:r>
              <a:rPr lang="en-US" dirty="0" err="1"/>
              <a:t>صحیح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Optimization:</a:t>
            </a:r>
            <a:r>
              <a:rPr lang="en-US" dirty="0"/>
              <a:t> </a:t>
            </a:r>
            <a:r>
              <a:rPr lang="en-US" dirty="0" err="1"/>
              <a:t>تصمیم</a:t>
            </a:r>
            <a:r>
              <a:rPr lang="en-US" dirty="0"/>
              <a:t> </a:t>
            </a:r>
            <a:r>
              <a:rPr lang="en-US" dirty="0" err="1"/>
              <a:t>می‌گیرد</a:t>
            </a:r>
            <a:r>
              <a:rPr lang="en-US" dirty="0"/>
              <a:t>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کمترین</a:t>
            </a:r>
            <a:r>
              <a:rPr lang="en-US" dirty="0"/>
              <a:t> </a:t>
            </a:r>
            <a:r>
              <a:rPr lang="en-US" dirty="0" err="1"/>
              <a:t>هزینه</a:t>
            </a:r>
            <a:r>
              <a:rPr lang="en-US" dirty="0"/>
              <a:t> </a:t>
            </a:r>
            <a:r>
              <a:rPr lang="en-US" dirty="0" err="1"/>
              <a:t>داده‌ها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؛ </a:t>
            </a:r>
            <a:r>
              <a:rPr lang="en-US" dirty="0" err="1"/>
              <a:t>مثلاً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Index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Major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GPA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Execution:</a:t>
            </a:r>
            <a:r>
              <a:rPr lang="en-US" dirty="0"/>
              <a:t> </a:t>
            </a:r>
            <a:r>
              <a:rPr lang="en-US" dirty="0" err="1"/>
              <a:t>رکوردهای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جدول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و </a:t>
            </a:r>
            <a:r>
              <a:rPr lang="en-US" dirty="0" err="1"/>
              <a:t>فیلتر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Result:</a:t>
            </a:r>
            <a:r>
              <a:rPr lang="en-US" dirty="0"/>
              <a:t> </a:t>
            </a:r>
            <a:r>
              <a:rPr lang="en-US" dirty="0" err="1"/>
              <a:t>خروجی</a:t>
            </a:r>
            <a:r>
              <a:rPr lang="en-US" dirty="0"/>
              <a:t> </a:t>
            </a:r>
            <a:r>
              <a:rPr lang="en-US" dirty="0" err="1"/>
              <a:t>زیر</a:t>
            </a:r>
            <a:r>
              <a:rPr lang="en-US" dirty="0"/>
              <a:t> </a:t>
            </a:r>
            <a:r>
              <a:rPr lang="en-US" dirty="0" err="1"/>
              <a:t>تولید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: 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Ali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Reza</a:t>
            </a:r>
          </a:p>
          <a:p>
            <a:pPr algn="r" rtl="1"/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زبان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Query Processing </a:t>
            </a:r>
            <a:r>
              <a:rPr lang="en-US" b="1" dirty="0" err="1"/>
              <a:t>یعنی</a:t>
            </a:r>
            <a:r>
              <a:rPr lang="en-US" b="1" dirty="0"/>
              <a:t> </a:t>
            </a:r>
            <a:r>
              <a:rPr lang="en-US" b="1" dirty="0" err="1"/>
              <a:t>فرایندی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DBMS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پرس‌وجوی</a:t>
            </a:r>
            <a:r>
              <a:rPr lang="en-US" b="1" dirty="0"/>
              <a:t> </a:t>
            </a:r>
            <a:r>
              <a:rPr lang="en-US" b="1" dirty="0" err="1"/>
              <a:t>سطح‌بالای</a:t>
            </a:r>
            <a:r>
              <a:rPr lang="en-US" b="1" dirty="0"/>
              <a:t> </a:t>
            </a:r>
            <a:r>
              <a:rPr lang="en-US" b="1" dirty="0" err="1"/>
              <a:t>کاربر</a:t>
            </a:r>
            <a:r>
              <a:rPr lang="en-US" b="1" dirty="0"/>
              <a:t>، </a:t>
            </a:r>
            <a:r>
              <a:rPr lang="en-US" b="1" dirty="0" err="1"/>
              <a:t>مانند</a:t>
            </a:r>
            <a:r>
              <a:rPr lang="en-US" b="1" dirty="0"/>
              <a:t> SQL،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مجموعه‌ای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عملیات</a:t>
            </a:r>
            <a:r>
              <a:rPr lang="en-US" b="1" dirty="0"/>
              <a:t> </a:t>
            </a:r>
            <a:r>
              <a:rPr lang="en-US" b="1" dirty="0" err="1"/>
              <a:t>اجرایی</a:t>
            </a:r>
            <a:r>
              <a:rPr lang="en-US" b="1" dirty="0"/>
              <a:t> </a:t>
            </a:r>
            <a:r>
              <a:rPr lang="en-US" b="1" dirty="0" err="1"/>
              <a:t>تبدیل</a:t>
            </a:r>
            <a:r>
              <a:rPr lang="en-US" b="1" dirty="0"/>
              <a:t> </a:t>
            </a:r>
            <a:r>
              <a:rPr lang="en-US" b="1" dirty="0" err="1"/>
              <a:t>می‌کند</a:t>
            </a:r>
            <a:r>
              <a:rPr lang="en-US" b="1" dirty="0"/>
              <a:t> </a:t>
            </a:r>
            <a:r>
              <a:rPr lang="en-US" b="1" dirty="0" err="1"/>
              <a:t>تا</a:t>
            </a:r>
            <a:r>
              <a:rPr lang="en-US" b="1" dirty="0"/>
              <a:t> </a:t>
            </a:r>
            <a:r>
              <a:rPr lang="en-US" b="1" dirty="0" err="1"/>
              <a:t>نتیجه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هزینه</a:t>
            </a:r>
            <a:r>
              <a:rPr lang="en-US" b="1" dirty="0"/>
              <a:t> و </a:t>
            </a:r>
            <a:r>
              <a:rPr lang="en-US" b="1" dirty="0" err="1"/>
              <a:t>زمان</a:t>
            </a:r>
            <a:r>
              <a:rPr lang="en-US" b="1" dirty="0"/>
              <a:t> </a:t>
            </a:r>
            <a:r>
              <a:rPr lang="en-US" b="1" dirty="0" err="1"/>
              <a:t>مناسب</a:t>
            </a:r>
            <a:r>
              <a:rPr lang="en-US" b="1" dirty="0"/>
              <a:t> </a:t>
            </a:r>
            <a:r>
              <a:rPr lang="en-US" b="1" dirty="0" err="1"/>
              <a:t>تولید</a:t>
            </a:r>
            <a:r>
              <a:rPr lang="en-US" b="1" dirty="0"/>
              <a:t> </a:t>
            </a:r>
            <a:r>
              <a:rPr lang="en-US" b="1" dirty="0" err="1"/>
              <a:t>شود</a:t>
            </a:r>
            <a:r>
              <a:rPr lang="en-US" b="1" dirty="0"/>
              <a:t>.</a:t>
            </a:r>
            <a:endParaRPr lang="en-US" dirty="0"/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انگلیسی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«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مثال</a:t>
            </a:r>
            <a:r>
              <a:rPr lang="en-US" dirty="0"/>
              <a:t> </a:t>
            </a:r>
            <a:r>
              <a:rPr lang="en-US" dirty="0" err="1"/>
              <a:t>ملموس</a:t>
            </a:r>
            <a:r>
              <a:rPr lang="en-US" dirty="0"/>
              <a:t>»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اینجا</a:t>
            </a:r>
            <a:r>
              <a:rPr lang="en-US" dirty="0"/>
              <a:t> </a:t>
            </a:r>
            <a:r>
              <a:rPr lang="en-US" dirty="0" err="1"/>
              <a:t>می‌توان</a:t>
            </a:r>
            <a:r>
              <a:rPr lang="en-US" dirty="0"/>
              <a:t> </a:t>
            </a:r>
            <a:r>
              <a:rPr lang="en-US" dirty="0" err="1"/>
              <a:t>گفت</a:t>
            </a:r>
            <a:r>
              <a:rPr lang="en-US" dirty="0"/>
              <a:t>: </a:t>
            </a:r>
            <a:r>
              <a:rPr lang="en-US" b="1" dirty="0"/>
              <a:t>“a concrete example of query processing”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b="1" dirty="0"/>
              <a:t>“a real-world example of query processing.”</a:t>
            </a:r>
            <a:endParaRPr lang="en-US" dirty="0"/>
          </a:p>
          <a:p>
            <a:pPr algn="r" rtl="1"/>
            <a:endParaRPr lang="fa-IR" dirty="0"/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19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7E9F-BB00-7D12-0744-93567744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CEBAB99B-77E1-9995-2803-B4F00C4752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28</a:t>
            </a:fld>
            <a:endParaRPr lang="en-US" altLang="en-US" sz="1200" dirty="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3BC97B64-F4BD-3D12-01E2-E17DBC9F2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29A0A5F-4BCD-2C21-EBFE-2F8D92002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پرس‌وجو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:</a:t>
            </a:r>
            <a:br>
              <a:rPr lang="fa-IR" dirty="0"/>
            </a:br>
            <a:r>
              <a:rPr lang="en-US" dirty="0"/>
              <a:t>SELECT Name FROM Students WHERE Major = 'Computer Engineering' AND GPA &gt; 18;</a:t>
            </a:r>
            <a:endParaRPr lang="fa-IR" dirty="0"/>
          </a:p>
          <a:p>
            <a:pPr algn="r" rtl="1"/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می‌گوید</a:t>
            </a:r>
            <a:r>
              <a:rPr lang="en-US" dirty="0"/>
              <a:t>: </a:t>
            </a:r>
            <a:r>
              <a:rPr lang="en-US" b="1" dirty="0"/>
              <a:t>«</a:t>
            </a:r>
            <a:r>
              <a:rPr lang="en-US" b="1" dirty="0" err="1"/>
              <a:t>نام</a:t>
            </a:r>
            <a:r>
              <a:rPr lang="en-US" b="1" dirty="0"/>
              <a:t> </a:t>
            </a:r>
            <a:r>
              <a:rPr lang="en-US" b="1" dirty="0" err="1"/>
              <a:t>دانشجویان</a:t>
            </a:r>
            <a:r>
              <a:rPr lang="en-US" b="1" dirty="0"/>
              <a:t> </a:t>
            </a:r>
            <a:r>
              <a:rPr lang="en-US" b="1" dirty="0" err="1"/>
              <a:t>مهندسی</a:t>
            </a:r>
            <a:r>
              <a:rPr lang="en-US" b="1" dirty="0"/>
              <a:t> </a:t>
            </a:r>
            <a:r>
              <a:rPr lang="en-US" b="1" dirty="0" err="1"/>
              <a:t>کامپیوتر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معدل</a:t>
            </a:r>
            <a:r>
              <a:rPr lang="en-US" b="1" dirty="0"/>
              <a:t> </a:t>
            </a:r>
            <a:r>
              <a:rPr lang="en-US" b="1" dirty="0" err="1"/>
              <a:t>بالاتر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۱۸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من</a:t>
            </a:r>
            <a:r>
              <a:rPr lang="en-US" b="1" dirty="0"/>
              <a:t> </a:t>
            </a:r>
            <a:r>
              <a:rPr lang="en-US" b="1" dirty="0" err="1"/>
              <a:t>بده</a:t>
            </a:r>
            <a:r>
              <a:rPr lang="en-US" b="1" dirty="0"/>
              <a:t>.»</a:t>
            </a:r>
            <a:endParaRPr lang="en-US" dirty="0"/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DBMS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پاسخ‌دادن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چند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طی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SQL Query → Parsing → Query Optimization → Query Execution → Result</a:t>
            </a:r>
            <a:endParaRPr lang="en-US" dirty="0"/>
          </a:p>
          <a:p>
            <a:pPr algn="r" rtl="1"/>
            <a:r>
              <a:rPr lang="en-US" dirty="0" err="1"/>
              <a:t>مثلاً</a:t>
            </a:r>
            <a:r>
              <a:rPr lang="en-US" dirty="0"/>
              <a:t>:</a:t>
            </a:r>
          </a:p>
          <a:p>
            <a:pPr lvl="0" algn="r" rtl="1"/>
            <a:r>
              <a:rPr lang="en-US" b="1" dirty="0"/>
              <a:t>Parsing: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دستور</a:t>
            </a:r>
            <a:r>
              <a:rPr lang="en-US" dirty="0"/>
              <a:t> SQL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نظر</a:t>
            </a:r>
            <a:r>
              <a:rPr lang="en-US" dirty="0"/>
              <a:t> </a:t>
            </a:r>
            <a:r>
              <a:rPr lang="en-US" dirty="0" err="1"/>
              <a:t>نحوی</a:t>
            </a:r>
            <a:r>
              <a:rPr lang="en-US" dirty="0"/>
              <a:t> و </a:t>
            </a:r>
            <a:r>
              <a:rPr lang="en-US" dirty="0" err="1"/>
              <a:t>معنایی</a:t>
            </a:r>
            <a:r>
              <a:rPr lang="en-US" dirty="0"/>
              <a:t> </a:t>
            </a:r>
            <a:r>
              <a:rPr lang="en-US" dirty="0" err="1"/>
              <a:t>صحیح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Optimization:</a:t>
            </a:r>
            <a:r>
              <a:rPr lang="en-US" dirty="0"/>
              <a:t> </a:t>
            </a:r>
            <a:r>
              <a:rPr lang="en-US" dirty="0" err="1"/>
              <a:t>تصمیم</a:t>
            </a:r>
            <a:r>
              <a:rPr lang="en-US" dirty="0"/>
              <a:t> </a:t>
            </a:r>
            <a:r>
              <a:rPr lang="en-US" dirty="0" err="1"/>
              <a:t>می‌گیرد</a:t>
            </a:r>
            <a:r>
              <a:rPr lang="en-US" dirty="0"/>
              <a:t>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کمترین</a:t>
            </a:r>
            <a:r>
              <a:rPr lang="en-US" dirty="0"/>
              <a:t> </a:t>
            </a:r>
            <a:r>
              <a:rPr lang="en-US" dirty="0" err="1"/>
              <a:t>هزینه</a:t>
            </a:r>
            <a:r>
              <a:rPr lang="en-US" dirty="0"/>
              <a:t> </a:t>
            </a:r>
            <a:r>
              <a:rPr lang="en-US" dirty="0" err="1"/>
              <a:t>داده‌ها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؛ </a:t>
            </a:r>
            <a:r>
              <a:rPr lang="en-US" dirty="0" err="1"/>
              <a:t>مثلاً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Index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Major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GPA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Execution:</a:t>
            </a:r>
            <a:r>
              <a:rPr lang="en-US" dirty="0"/>
              <a:t> </a:t>
            </a:r>
            <a:r>
              <a:rPr lang="en-US" dirty="0" err="1"/>
              <a:t>رکوردهای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جدول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و </a:t>
            </a:r>
            <a:r>
              <a:rPr lang="en-US" dirty="0" err="1"/>
              <a:t>فیلتر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/>
              <a:t>Result:</a:t>
            </a:r>
            <a:r>
              <a:rPr lang="en-US" dirty="0"/>
              <a:t> </a:t>
            </a:r>
            <a:r>
              <a:rPr lang="en-US" dirty="0" err="1"/>
              <a:t>خروجی</a:t>
            </a:r>
            <a:r>
              <a:rPr lang="en-US" dirty="0"/>
              <a:t> </a:t>
            </a:r>
            <a:r>
              <a:rPr lang="en-US" dirty="0" err="1"/>
              <a:t>زیر</a:t>
            </a:r>
            <a:r>
              <a:rPr lang="en-US" dirty="0"/>
              <a:t> </a:t>
            </a:r>
            <a:r>
              <a:rPr lang="en-US" dirty="0" err="1"/>
              <a:t>تولید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: 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Ali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Reza</a:t>
            </a:r>
          </a:p>
          <a:p>
            <a:pPr algn="r" rtl="1"/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زبان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Query Processing </a:t>
            </a:r>
            <a:r>
              <a:rPr lang="en-US" b="1" dirty="0" err="1"/>
              <a:t>یعنی</a:t>
            </a:r>
            <a:r>
              <a:rPr lang="en-US" b="1" dirty="0"/>
              <a:t> </a:t>
            </a:r>
            <a:r>
              <a:rPr lang="en-US" b="1" dirty="0" err="1"/>
              <a:t>فرایندی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DBMS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پرس‌وجوی</a:t>
            </a:r>
            <a:r>
              <a:rPr lang="en-US" b="1" dirty="0"/>
              <a:t> </a:t>
            </a:r>
            <a:r>
              <a:rPr lang="en-US" b="1" dirty="0" err="1"/>
              <a:t>سطح‌بالای</a:t>
            </a:r>
            <a:r>
              <a:rPr lang="en-US" b="1" dirty="0"/>
              <a:t> </a:t>
            </a:r>
            <a:r>
              <a:rPr lang="en-US" b="1" dirty="0" err="1"/>
              <a:t>کاربر</a:t>
            </a:r>
            <a:r>
              <a:rPr lang="en-US" b="1" dirty="0"/>
              <a:t>، </a:t>
            </a:r>
            <a:r>
              <a:rPr lang="en-US" b="1" dirty="0" err="1"/>
              <a:t>مانند</a:t>
            </a:r>
            <a:r>
              <a:rPr lang="en-US" b="1" dirty="0"/>
              <a:t> SQL،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مجموعه‌ای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عملیات</a:t>
            </a:r>
            <a:r>
              <a:rPr lang="en-US" b="1" dirty="0"/>
              <a:t> </a:t>
            </a:r>
            <a:r>
              <a:rPr lang="en-US" b="1" dirty="0" err="1"/>
              <a:t>اجرایی</a:t>
            </a:r>
            <a:r>
              <a:rPr lang="en-US" b="1" dirty="0"/>
              <a:t> </a:t>
            </a:r>
            <a:r>
              <a:rPr lang="en-US" b="1" dirty="0" err="1"/>
              <a:t>تبدیل</a:t>
            </a:r>
            <a:r>
              <a:rPr lang="en-US" b="1" dirty="0"/>
              <a:t> </a:t>
            </a:r>
            <a:r>
              <a:rPr lang="en-US" b="1" dirty="0" err="1"/>
              <a:t>می‌کند</a:t>
            </a:r>
            <a:r>
              <a:rPr lang="en-US" b="1" dirty="0"/>
              <a:t> </a:t>
            </a:r>
            <a:r>
              <a:rPr lang="en-US" b="1" dirty="0" err="1"/>
              <a:t>تا</a:t>
            </a:r>
            <a:r>
              <a:rPr lang="en-US" b="1" dirty="0"/>
              <a:t> </a:t>
            </a:r>
            <a:r>
              <a:rPr lang="en-US" b="1" dirty="0" err="1"/>
              <a:t>نتیجه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هزینه</a:t>
            </a:r>
            <a:r>
              <a:rPr lang="en-US" b="1" dirty="0"/>
              <a:t> و </a:t>
            </a:r>
            <a:r>
              <a:rPr lang="en-US" b="1" dirty="0" err="1"/>
              <a:t>زمان</a:t>
            </a:r>
            <a:r>
              <a:rPr lang="en-US" b="1" dirty="0"/>
              <a:t> </a:t>
            </a:r>
            <a:r>
              <a:rPr lang="en-US" b="1" dirty="0" err="1"/>
              <a:t>مناسب</a:t>
            </a:r>
            <a:r>
              <a:rPr lang="en-US" b="1" dirty="0"/>
              <a:t> </a:t>
            </a:r>
            <a:r>
              <a:rPr lang="en-US" b="1" dirty="0" err="1"/>
              <a:t>تولید</a:t>
            </a:r>
            <a:r>
              <a:rPr lang="en-US" b="1" dirty="0"/>
              <a:t> </a:t>
            </a:r>
            <a:r>
              <a:rPr lang="en-US" b="1" dirty="0" err="1"/>
              <a:t>شود</a:t>
            </a:r>
            <a:r>
              <a:rPr lang="en-US" b="1" dirty="0"/>
              <a:t>.</a:t>
            </a:r>
            <a:endParaRPr lang="en-US" dirty="0"/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انگلیسی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«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مثال</a:t>
            </a:r>
            <a:r>
              <a:rPr lang="en-US" dirty="0"/>
              <a:t> </a:t>
            </a:r>
            <a:r>
              <a:rPr lang="en-US" dirty="0" err="1"/>
              <a:t>ملموس</a:t>
            </a:r>
            <a:r>
              <a:rPr lang="en-US" dirty="0"/>
              <a:t>»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اینجا</a:t>
            </a:r>
            <a:r>
              <a:rPr lang="en-US" dirty="0"/>
              <a:t> </a:t>
            </a:r>
            <a:r>
              <a:rPr lang="en-US" dirty="0" err="1"/>
              <a:t>می‌توان</a:t>
            </a:r>
            <a:r>
              <a:rPr lang="en-US" dirty="0"/>
              <a:t> </a:t>
            </a:r>
            <a:r>
              <a:rPr lang="en-US" dirty="0" err="1"/>
              <a:t>گفت</a:t>
            </a:r>
            <a:r>
              <a:rPr lang="en-US" dirty="0"/>
              <a:t>: </a:t>
            </a:r>
            <a:r>
              <a:rPr lang="en-US" b="1" dirty="0"/>
              <a:t>“a concrete example of query processing”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b="1" dirty="0"/>
              <a:t>“a real-world example of query processing.”</a:t>
            </a:r>
            <a:endParaRPr lang="en-US" dirty="0"/>
          </a:p>
          <a:p>
            <a:pPr algn="r" rtl="1"/>
            <a:endParaRPr lang="fa-IR" dirty="0"/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7452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  <a:pPr algn="r"/>
              <a:t>29</a:t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en-US" dirty="0" err="1"/>
              <a:t>فرض</a:t>
            </a:r>
            <a:r>
              <a:rPr lang="en-US" dirty="0"/>
              <a:t> </a:t>
            </a:r>
            <a:r>
              <a:rPr lang="en-US" dirty="0" err="1"/>
              <a:t>کنید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بانک</a:t>
            </a:r>
            <a:r>
              <a:rPr lang="en-US" dirty="0"/>
              <a:t>، </a:t>
            </a:r>
            <a:r>
              <a:rPr lang="en-US" dirty="0" err="1"/>
              <a:t>موجودی</a:t>
            </a:r>
            <a:r>
              <a:rPr lang="en-US" dirty="0"/>
              <a:t> </a:t>
            </a:r>
            <a:r>
              <a:rPr lang="en-US" dirty="0" err="1"/>
              <a:t>حساب</a:t>
            </a:r>
            <a:r>
              <a:rPr lang="en-US" dirty="0"/>
              <a:t> </a:t>
            </a:r>
            <a:r>
              <a:rPr lang="en-US" b="1" dirty="0" err="1"/>
              <a:t>علی</a:t>
            </a:r>
            <a:r>
              <a:rPr lang="en-US" b="1" dirty="0"/>
              <a:t> ۱۰ </a:t>
            </a:r>
            <a:r>
              <a:rPr lang="en-US" b="1" dirty="0" err="1"/>
              <a:t>میلیون</a:t>
            </a:r>
            <a:r>
              <a:rPr lang="en-US" b="1" dirty="0"/>
              <a:t> </a:t>
            </a:r>
            <a:r>
              <a:rPr lang="en-US" b="1" dirty="0" err="1"/>
              <a:t>تومان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  <a:r>
              <a:rPr lang="en-US" dirty="0" err="1"/>
              <a:t>هم‌زمان</a:t>
            </a:r>
            <a:r>
              <a:rPr lang="en-US" dirty="0"/>
              <a:t> </a:t>
            </a:r>
            <a:r>
              <a:rPr lang="en-US" dirty="0" err="1"/>
              <a:t>دو</a:t>
            </a:r>
            <a:r>
              <a:rPr lang="en-US" dirty="0"/>
              <a:t> </a:t>
            </a:r>
            <a:r>
              <a:rPr lang="en-US" dirty="0" err="1"/>
              <a:t>تراکنش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:</a:t>
            </a:r>
          </a:p>
          <a:p>
            <a:pPr lvl="0" algn="r" rtl="1"/>
            <a:r>
              <a:rPr lang="en-US" b="1" dirty="0" err="1"/>
              <a:t>تراکنش</a:t>
            </a:r>
            <a:r>
              <a:rPr lang="en-US" b="1" dirty="0"/>
              <a:t> A:</a:t>
            </a:r>
            <a:r>
              <a:rPr lang="en-US" dirty="0"/>
              <a:t> </a:t>
            </a:r>
            <a:r>
              <a:rPr lang="en-US" dirty="0" err="1"/>
              <a:t>علی</a:t>
            </a:r>
            <a:r>
              <a:rPr lang="en-US" dirty="0"/>
              <a:t> ۳ </a:t>
            </a:r>
            <a:r>
              <a:rPr lang="en-US" dirty="0" err="1"/>
              <a:t>میلیون</a:t>
            </a:r>
            <a:r>
              <a:rPr lang="en-US" dirty="0"/>
              <a:t> </a:t>
            </a:r>
            <a:r>
              <a:rPr lang="en-US" dirty="0" err="1"/>
              <a:t>تومان</a:t>
            </a:r>
            <a:r>
              <a:rPr lang="en-US" dirty="0"/>
              <a:t> </a:t>
            </a:r>
            <a:r>
              <a:rPr lang="en-US" dirty="0" err="1"/>
              <a:t>برداشت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 </a:t>
            </a:r>
          </a:p>
          <a:p>
            <a:pPr lvl="0" algn="r" rtl="1"/>
            <a:r>
              <a:rPr lang="en-US" b="1" dirty="0" err="1"/>
              <a:t>تراکنش</a:t>
            </a:r>
            <a:r>
              <a:rPr lang="en-US" b="1" dirty="0"/>
              <a:t> B:</a:t>
            </a:r>
            <a:r>
              <a:rPr lang="en-US" dirty="0"/>
              <a:t> </a:t>
            </a:r>
            <a:r>
              <a:rPr lang="en-US" dirty="0" err="1"/>
              <a:t>علی</a:t>
            </a:r>
            <a:r>
              <a:rPr lang="en-US" dirty="0"/>
              <a:t> ۲ </a:t>
            </a:r>
            <a:r>
              <a:rPr lang="en-US" dirty="0" err="1"/>
              <a:t>میلیون</a:t>
            </a:r>
            <a:r>
              <a:rPr lang="en-US" dirty="0"/>
              <a:t> </a:t>
            </a:r>
            <a:r>
              <a:rPr lang="en-US" dirty="0" err="1"/>
              <a:t>تومان</a:t>
            </a:r>
            <a:r>
              <a:rPr lang="en-US" dirty="0"/>
              <a:t> </a:t>
            </a:r>
            <a:r>
              <a:rPr lang="en-US" dirty="0" err="1"/>
              <a:t>برداشت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 </a:t>
            </a:r>
          </a:p>
          <a:p>
            <a:pPr algn="r" rtl="1"/>
            <a:r>
              <a:rPr lang="en-US" dirty="0" err="1"/>
              <a:t>اگر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دو</a:t>
            </a:r>
            <a:r>
              <a:rPr lang="en-US" dirty="0"/>
              <a:t> </a:t>
            </a:r>
            <a:r>
              <a:rPr lang="en-US" dirty="0" err="1"/>
              <a:t>تراکنش</a:t>
            </a:r>
            <a:r>
              <a:rPr lang="en-US" dirty="0"/>
              <a:t> </a:t>
            </a:r>
            <a:r>
              <a:rPr lang="en-US" dirty="0" err="1"/>
              <a:t>هم‌زمان</a:t>
            </a:r>
            <a:r>
              <a:rPr lang="en-US" dirty="0"/>
              <a:t> </a:t>
            </a:r>
            <a:r>
              <a:rPr lang="en-US" dirty="0" err="1"/>
              <a:t>موجودی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بخوانند</a:t>
            </a:r>
            <a:r>
              <a:rPr lang="en-US" dirty="0"/>
              <a:t>، </a:t>
            </a:r>
            <a:r>
              <a:rPr lang="en-US" dirty="0" err="1"/>
              <a:t>ممکن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دو</a:t>
            </a:r>
            <a:r>
              <a:rPr lang="en-US" dirty="0"/>
              <a:t> </a:t>
            </a:r>
            <a:r>
              <a:rPr lang="en-US" dirty="0" err="1"/>
              <a:t>مقدار</a:t>
            </a:r>
            <a:r>
              <a:rPr lang="en-US" dirty="0"/>
              <a:t> </a:t>
            </a:r>
            <a:r>
              <a:rPr lang="en-US" b="1" dirty="0"/>
              <a:t>۱۰ </a:t>
            </a:r>
            <a:r>
              <a:rPr lang="en-US" b="1" dirty="0" err="1"/>
              <a:t>میلیون</a:t>
            </a:r>
            <a:r>
              <a:rPr lang="en-US" b="1" dirty="0"/>
              <a:t> </a:t>
            </a:r>
            <a:r>
              <a:rPr lang="en-US" b="1" dirty="0" err="1"/>
              <a:t>تومان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ببینند</a:t>
            </a:r>
            <a:r>
              <a:rPr lang="en-US" dirty="0"/>
              <a:t> و </a:t>
            </a:r>
            <a:r>
              <a:rPr lang="en-US" dirty="0" err="1"/>
              <a:t>سپس</a:t>
            </a:r>
            <a:r>
              <a:rPr lang="en-US" dirty="0"/>
              <a:t> </a:t>
            </a:r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۷ و </a:t>
            </a:r>
            <a:r>
              <a:rPr lang="en-US" dirty="0" err="1"/>
              <a:t>دیگری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۸ </a:t>
            </a:r>
            <a:r>
              <a:rPr lang="en-US" dirty="0" err="1"/>
              <a:t>میلیون</a:t>
            </a:r>
            <a:r>
              <a:rPr lang="en-US" dirty="0"/>
              <a:t> </a:t>
            </a:r>
            <a:r>
              <a:rPr lang="en-US" dirty="0" err="1"/>
              <a:t>تغییر</a:t>
            </a:r>
            <a:r>
              <a:rPr lang="en-US" dirty="0"/>
              <a:t> </a:t>
            </a:r>
            <a:r>
              <a:rPr lang="en-US" dirty="0" err="1"/>
              <a:t>دهد</a:t>
            </a:r>
            <a:r>
              <a:rPr lang="en-US" dirty="0"/>
              <a:t>.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نتیجه</a:t>
            </a:r>
            <a:r>
              <a:rPr lang="en-US" dirty="0"/>
              <a:t>، </a:t>
            </a:r>
            <a:r>
              <a:rPr lang="en-US" dirty="0" err="1"/>
              <a:t>موجودی</a:t>
            </a:r>
            <a:r>
              <a:rPr lang="en-US" dirty="0"/>
              <a:t> </a:t>
            </a:r>
            <a:r>
              <a:rPr lang="en-US" dirty="0" err="1"/>
              <a:t>نهایی</a:t>
            </a:r>
            <a:r>
              <a:rPr lang="en-US" dirty="0"/>
              <a:t> </a:t>
            </a:r>
            <a:r>
              <a:rPr lang="en-US" dirty="0" err="1"/>
              <a:t>ممکن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اشتباه</a:t>
            </a:r>
            <a:r>
              <a:rPr lang="en-US" dirty="0"/>
              <a:t> و </a:t>
            </a:r>
            <a:r>
              <a:rPr lang="en-US" dirty="0" err="1"/>
              <a:t>برابر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b="1" dirty="0"/>
              <a:t>۸ </a:t>
            </a:r>
            <a:r>
              <a:rPr lang="en-US" b="1" dirty="0" err="1"/>
              <a:t>میلیون</a:t>
            </a:r>
            <a:r>
              <a:rPr lang="en-US" b="1" dirty="0"/>
              <a:t> </a:t>
            </a:r>
            <a:r>
              <a:rPr lang="en-US" b="1" dirty="0" err="1"/>
              <a:t>تومان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،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b="1" dirty="0"/>
              <a:t>۵ </a:t>
            </a:r>
            <a:r>
              <a:rPr lang="en-US" b="1" dirty="0" err="1"/>
              <a:t>میلیون</a:t>
            </a:r>
            <a:r>
              <a:rPr lang="en-US" b="1" dirty="0"/>
              <a:t> </a:t>
            </a:r>
            <a:r>
              <a:rPr lang="en-US" b="1" dirty="0" err="1"/>
              <a:t>تومان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.</a:t>
            </a:r>
          </a:p>
          <a:p>
            <a:pPr algn="r" rtl="1"/>
            <a:r>
              <a:rPr lang="en-US" b="1" dirty="0" err="1"/>
              <a:t>مدیر</a:t>
            </a:r>
            <a:r>
              <a:rPr lang="en-US" b="1" dirty="0"/>
              <a:t> </a:t>
            </a:r>
            <a:r>
              <a:rPr lang="en-US" b="1" dirty="0" err="1"/>
              <a:t>کنترل</a:t>
            </a:r>
            <a:r>
              <a:rPr lang="en-US" b="1" dirty="0"/>
              <a:t> </a:t>
            </a:r>
            <a:r>
              <a:rPr lang="en-US" b="1" dirty="0" err="1"/>
              <a:t>همروندی</a:t>
            </a:r>
            <a:r>
              <a:rPr lang="en-US" b="1" dirty="0"/>
              <a:t> (Concurrency-Control Manager)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سازوکارهایی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b="1" dirty="0"/>
              <a:t>Locking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b="1" dirty="0"/>
              <a:t>Timestamp Ordering</a:t>
            </a:r>
            <a:r>
              <a:rPr lang="en-US" dirty="0"/>
              <a:t> </a:t>
            </a:r>
            <a:r>
              <a:rPr lang="en-US" dirty="0" err="1"/>
              <a:t>ترتیب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نحوه</a:t>
            </a:r>
            <a:r>
              <a:rPr lang="en-US" dirty="0"/>
              <a:t> </a:t>
            </a:r>
            <a:r>
              <a:rPr lang="en-US" dirty="0" err="1"/>
              <a:t>اجرای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تراکنش‌ها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تراکنش‌ها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یکدیگر</a:t>
            </a:r>
            <a:r>
              <a:rPr lang="en-US" dirty="0"/>
              <a:t> </a:t>
            </a:r>
            <a:r>
              <a:rPr lang="en-US" dirty="0" err="1"/>
              <a:t>تداخل</a:t>
            </a:r>
            <a:r>
              <a:rPr lang="en-US" dirty="0"/>
              <a:t> </a:t>
            </a:r>
            <a:r>
              <a:rPr lang="en-US" dirty="0" err="1"/>
              <a:t>نداشته</a:t>
            </a:r>
            <a:r>
              <a:rPr lang="en-US" dirty="0"/>
              <a:t> </a:t>
            </a:r>
            <a:r>
              <a:rPr lang="en-US" dirty="0" err="1"/>
              <a:t>باشند</a:t>
            </a:r>
            <a:r>
              <a:rPr lang="en-US" dirty="0"/>
              <a:t> و </a:t>
            </a:r>
            <a:r>
              <a:rPr lang="en-US" b="1" dirty="0" err="1"/>
              <a:t>سازگاری</a:t>
            </a:r>
            <a:r>
              <a:rPr lang="en-US" b="1" dirty="0"/>
              <a:t> (Consistency)</a:t>
            </a:r>
            <a:r>
              <a:rPr lang="en-US" dirty="0"/>
              <a:t> </a:t>
            </a:r>
            <a:r>
              <a:rPr lang="en-US" dirty="0" err="1"/>
              <a:t>پایگاه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حفظ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به‌صورت</a:t>
            </a:r>
            <a:r>
              <a:rPr lang="en-US" dirty="0"/>
              <a:t> </a:t>
            </a:r>
            <a:r>
              <a:rPr lang="en-US" dirty="0" err="1"/>
              <a:t>خلاصه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Concurrency-Control Manager = </a:t>
            </a:r>
            <a:r>
              <a:rPr lang="en-US" b="1" dirty="0" err="1"/>
              <a:t>جلوگیری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تداخل</a:t>
            </a:r>
            <a:r>
              <a:rPr lang="en-US" b="1" dirty="0"/>
              <a:t> </a:t>
            </a:r>
            <a:r>
              <a:rPr lang="en-US" b="1" dirty="0" err="1"/>
              <a:t>تراکنش‌های</a:t>
            </a:r>
            <a:r>
              <a:rPr lang="en-US" b="1" dirty="0"/>
              <a:t> </a:t>
            </a:r>
            <a:r>
              <a:rPr lang="en-US" b="1" dirty="0" err="1"/>
              <a:t>همزمان</a:t>
            </a:r>
            <a:r>
              <a:rPr lang="en-US" b="1" dirty="0"/>
              <a:t> و </a:t>
            </a:r>
            <a:r>
              <a:rPr lang="en-US" b="1" dirty="0" err="1"/>
              <a:t>حفظ</a:t>
            </a:r>
            <a:r>
              <a:rPr lang="en-US" b="1" dirty="0"/>
              <a:t> </a:t>
            </a:r>
            <a:r>
              <a:rPr lang="en-US" b="1" dirty="0" err="1"/>
              <a:t>سازگاری</a:t>
            </a:r>
            <a:r>
              <a:rPr lang="en-US" b="1" dirty="0"/>
              <a:t> </a:t>
            </a:r>
            <a:r>
              <a:rPr lang="en-US" b="1" dirty="0" err="1"/>
              <a:t>داده‌ها</a:t>
            </a:r>
            <a:r>
              <a:rPr lang="en-US" b="1" dirty="0"/>
              <a:t>.</a:t>
            </a:r>
            <a:endParaRPr lang="en-US" dirty="0"/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128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30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fa-IR" b="1" dirty="0"/>
              <a:t>پایگاه‌های داده موازی (</a:t>
            </a:r>
            <a:r>
              <a:rPr lang="en-US" b="1" dirty="0"/>
              <a:t>Parallel Databases)</a:t>
            </a:r>
          </a:p>
          <a:p>
            <a:pPr algn="r" rtl="1"/>
            <a:r>
              <a:rPr lang="fa-IR" b="1" dirty="0"/>
              <a:t>ویژگی‌ها:</a:t>
            </a:r>
            <a:endParaRPr lang="fa-IR" dirty="0"/>
          </a:p>
          <a:p>
            <a:pPr algn="r" rtl="1"/>
            <a:r>
              <a:rPr lang="fa-IR" dirty="0"/>
              <a:t>برای پردازش سریع‌تر از چندین پردازنده (</a:t>
            </a:r>
            <a:r>
              <a:rPr lang="en-US" dirty="0"/>
              <a:t>CPU) </a:t>
            </a:r>
            <a:r>
              <a:rPr lang="fa-IR" dirty="0"/>
              <a:t>یا گره (</a:t>
            </a:r>
            <a:r>
              <a:rPr lang="en-US" dirty="0"/>
              <a:t>Node) </a:t>
            </a:r>
            <a:r>
              <a:rPr lang="fa-IR" dirty="0"/>
              <a:t>به‌صورت هم‌زمان استفاده می‌شود.</a:t>
            </a:r>
          </a:p>
          <a:p>
            <a:pPr algn="r" rtl="1"/>
            <a:r>
              <a:rPr lang="fa-IR" dirty="0"/>
              <a:t>هدف: افزایش کارایی از طریق «پردازش موازی».</a:t>
            </a:r>
          </a:p>
          <a:p>
            <a:pPr algn="r" rtl="1"/>
            <a:r>
              <a:rPr lang="fa-IR" dirty="0"/>
              <a:t>سه معماری متداول:</a:t>
            </a:r>
          </a:p>
          <a:p>
            <a:pPr lvl="1" algn="r" rtl="1"/>
            <a:r>
              <a:rPr lang="fa-IR" b="1" dirty="0"/>
              <a:t>حافظه مشترک (</a:t>
            </a:r>
            <a:r>
              <a:rPr lang="en-US" b="1" dirty="0"/>
              <a:t>Shared Memory)</a:t>
            </a:r>
            <a:endParaRPr lang="en-US" dirty="0"/>
          </a:p>
          <a:p>
            <a:pPr lvl="1" algn="r" rtl="1"/>
            <a:r>
              <a:rPr lang="fa-IR" b="1" dirty="0"/>
              <a:t>دیسک مشترک (</a:t>
            </a:r>
            <a:r>
              <a:rPr lang="en-US" b="1" dirty="0"/>
              <a:t>Shared Disk)</a:t>
            </a:r>
            <a:endParaRPr lang="en-US" dirty="0"/>
          </a:p>
          <a:p>
            <a:pPr lvl="1" algn="r" rtl="1"/>
            <a:r>
              <a:rPr lang="fa-IR" b="1" dirty="0"/>
              <a:t>بدون اشتراک (</a:t>
            </a:r>
            <a:r>
              <a:rPr lang="en-US" b="1" dirty="0"/>
              <a:t>Shared Nothing)</a:t>
            </a:r>
            <a:endParaRPr lang="en-US" dirty="0"/>
          </a:p>
          <a:p>
            <a:pPr algn="r" rtl="1"/>
            <a:r>
              <a:rPr lang="fa-IR" b="1" dirty="0"/>
              <a:t>مثال‌ها:</a:t>
            </a:r>
            <a:endParaRPr lang="fa-IR" dirty="0"/>
          </a:p>
          <a:p>
            <a:pPr algn="r" rtl="1"/>
            <a:r>
              <a:rPr lang="en-US" b="1" dirty="0"/>
              <a:t>Shared Memory:</a:t>
            </a:r>
            <a:r>
              <a:rPr lang="en-US" dirty="0"/>
              <a:t> </a:t>
            </a:r>
            <a:r>
              <a:rPr lang="fa-IR" dirty="0"/>
              <a:t>پایگاه داده </a:t>
            </a:r>
            <a:r>
              <a:rPr lang="en-US" dirty="0"/>
              <a:t>Oracle Parallel Server </a:t>
            </a:r>
            <a:r>
              <a:rPr lang="fa-IR" dirty="0"/>
              <a:t>روی یک سرور چند‌هسته‌ای.</a:t>
            </a:r>
          </a:p>
          <a:p>
            <a:pPr algn="r" rtl="1"/>
            <a:r>
              <a:rPr lang="en-US" b="1" dirty="0"/>
              <a:t>Shared Disk:</a:t>
            </a:r>
            <a:r>
              <a:rPr lang="en-US" dirty="0"/>
              <a:t> IBM DB2 </a:t>
            </a:r>
            <a:r>
              <a:rPr lang="en-US" dirty="0" err="1"/>
              <a:t>pureScale</a:t>
            </a:r>
            <a:r>
              <a:rPr lang="en-US" dirty="0"/>
              <a:t> </a:t>
            </a:r>
            <a:r>
              <a:rPr lang="fa-IR" dirty="0"/>
              <a:t>که چند سرور مختلف به یک فضای ذخیره‌سازی مشترک دسترسی دارند.</a:t>
            </a:r>
          </a:p>
          <a:p>
            <a:pPr algn="r" rtl="1"/>
            <a:r>
              <a:rPr lang="en-US" b="1" dirty="0"/>
              <a:t>Shared Nothing:</a:t>
            </a:r>
            <a:r>
              <a:rPr lang="en-US" dirty="0"/>
              <a:t> Amazon Redshift </a:t>
            </a:r>
            <a:r>
              <a:rPr lang="fa-IR" dirty="0"/>
              <a:t>یا </a:t>
            </a:r>
            <a:r>
              <a:rPr lang="en-US" dirty="0"/>
              <a:t>Google </a:t>
            </a:r>
            <a:r>
              <a:rPr lang="en-US" dirty="0" err="1"/>
              <a:t>BigQuery</a:t>
            </a:r>
            <a:r>
              <a:rPr lang="en-US" dirty="0"/>
              <a:t> </a:t>
            </a:r>
            <a:r>
              <a:rPr lang="fa-IR" dirty="0"/>
              <a:t>که هر گره مستقل عمل می‌کند و از طریق شبکه با گره‌های دیگر هماهنگ می‌شود.</a:t>
            </a:r>
          </a:p>
          <a:p>
            <a:pPr algn="r" rtl="1"/>
            <a:br>
              <a:rPr lang="fa-IR" dirty="0"/>
            </a:br>
            <a:endParaRPr lang="fa-IR" dirty="0"/>
          </a:p>
          <a:p>
            <a:pPr algn="r" rtl="1"/>
            <a:r>
              <a:rPr lang="fa-IR" b="1" dirty="0"/>
              <a:t>4. پایگاه‌های داده توزیع‌شده (</a:t>
            </a:r>
            <a:r>
              <a:rPr lang="en-US" b="1" dirty="0"/>
              <a:t>Distributed Databases)</a:t>
            </a:r>
          </a:p>
          <a:p>
            <a:pPr algn="r" rtl="1"/>
            <a:r>
              <a:rPr lang="fa-IR" b="1" dirty="0"/>
              <a:t>ویژگی‌ها:</a:t>
            </a:r>
            <a:endParaRPr lang="fa-IR" dirty="0"/>
          </a:p>
          <a:p>
            <a:pPr algn="r" rtl="1"/>
            <a:r>
              <a:rPr lang="fa-IR" dirty="0"/>
              <a:t>داده‌ها در چند مکان مختلف (از نظر جغرافیایی) ذخیره می‌شوند.</a:t>
            </a:r>
          </a:p>
          <a:p>
            <a:pPr algn="r" rtl="1"/>
            <a:r>
              <a:rPr lang="fa-IR" dirty="0"/>
              <a:t>هر مکان می‌تواند سرور مستقل داشته باشد.</a:t>
            </a:r>
          </a:p>
          <a:p>
            <a:pPr algn="r" rtl="1"/>
            <a:r>
              <a:rPr lang="fa-IR" dirty="0"/>
              <a:t>ممکن است تفاوت‌هایی در ساختار داده‌ها یا طرح‌واره وجود داشته باشد (</a:t>
            </a:r>
            <a:r>
              <a:rPr lang="en-US" b="1" dirty="0"/>
              <a:t>Schema/Data Heterogeneity</a:t>
            </a:r>
            <a:r>
              <a:rPr lang="en-US" dirty="0"/>
              <a:t>).</a:t>
            </a:r>
          </a:p>
          <a:p>
            <a:pPr algn="r" rtl="1"/>
            <a:r>
              <a:rPr lang="fa-IR" dirty="0"/>
              <a:t>هدف: دسترسی محلی سریع‌تر، افزونگی (</a:t>
            </a:r>
            <a:r>
              <a:rPr lang="en-US" dirty="0"/>
              <a:t>Redundancy) </a:t>
            </a:r>
            <a:r>
              <a:rPr lang="fa-IR" dirty="0"/>
              <a:t>و تحمل خطا (</a:t>
            </a:r>
            <a:r>
              <a:rPr lang="en-US" dirty="0"/>
              <a:t>Fault Tolerance).</a:t>
            </a:r>
          </a:p>
          <a:p>
            <a:pPr algn="r" rtl="1"/>
            <a:r>
              <a:rPr lang="fa-IR" b="1" dirty="0"/>
              <a:t>مثال:</a:t>
            </a:r>
            <a:br>
              <a:rPr lang="fa-IR" dirty="0"/>
            </a:br>
            <a:r>
              <a:rPr lang="fa-IR" dirty="0"/>
              <a:t>سیستم رزرواسیون خطوط هوایی یا فروشگاه‌های آنلاین جهانی مثل </a:t>
            </a:r>
            <a:r>
              <a:rPr lang="en-US" dirty="0"/>
              <a:t>Amazon.</a:t>
            </a:r>
          </a:p>
          <a:p>
            <a:pPr algn="r" rtl="1"/>
            <a:r>
              <a:rPr lang="fa-IR" dirty="0"/>
              <a:t>پایگاه داده در مراکز داده (</a:t>
            </a:r>
            <a:r>
              <a:rPr lang="en-US" dirty="0"/>
              <a:t>Data Center) </a:t>
            </a:r>
            <a:r>
              <a:rPr lang="fa-IR" dirty="0"/>
              <a:t>مختلف در سراسر جهان پخش شده تا کاربران هر منطقه سریع‌تر به داده‌ها دسترسی داشته باشند.</a:t>
            </a:r>
            <a:br>
              <a:rPr lang="fa-IR" dirty="0"/>
            </a:br>
            <a:r>
              <a:rPr lang="fa-IR" dirty="0"/>
              <a:t>نمونه فناوری‌ها: </a:t>
            </a:r>
            <a:r>
              <a:rPr lang="en-US" dirty="0"/>
              <a:t>Google Spanner، </a:t>
            </a:r>
            <a:r>
              <a:rPr lang="en-US" dirty="0" err="1"/>
              <a:t>CockroachDB</a:t>
            </a:r>
            <a:r>
              <a:rPr lang="en-US" dirty="0"/>
              <a:t>، Cassandra.</a:t>
            </a:r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3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CF23-5332-ED2D-EC7F-8233B659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EBC383AC-2F9C-8014-8A49-AB97555246E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31</a:t>
            </a:fld>
            <a:endParaRPr lang="en-US" altLang="en-US" sz="1200" dirty="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2BE7D6FF-BAC2-9FD8-720B-1D56468CB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C8FB3B4-3A2C-6CDC-84EA-3D0095AB9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fa-IR" b="1" dirty="0"/>
              <a:t>پایگاه‌های داده موازی (</a:t>
            </a:r>
            <a:r>
              <a:rPr lang="en-US" b="1" dirty="0"/>
              <a:t>Parallel Databases)</a:t>
            </a:r>
          </a:p>
          <a:p>
            <a:pPr algn="r" rtl="1"/>
            <a:r>
              <a:rPr lang="fa-IR" b="1" dirty="0"/>
              <a:t>ویژگی‌ها:</a:t>
            </a:r>
            <a:endParaRPr lang="fa-IR" dirty="0"/>
          </a:p>
          <a:p>
            <a:pPr algn="r" rtl="1"/>
            <a:r>
              <a:rPr lang="fa-IR" dirty="0"/>
              <a:t>برای پردازش سریع‌تر از چندین پردازنده (</a:t>
            </a:r>
            <a:r>
              <a:rPr lang="en-US" dirty="0"/>
              <a:t>CPU) </a:t>
            </a:r>
            <a:r>
              <a:rPr lang="fa-IR" dirty="0"/>
              <a:t>یا گره (</a:t>
            </a:r>
            <a:r>
              <a:rPr lang="en-US" dirty="0"/>
              <a:t>Node) </a:t>
            </a:r>
            <a:r>
              <a:rPr lang="fa-IR" dirty="0"/>
              <a:t>به‌صورت هم‌زمان استفاده می‌شود.</a:t>
            </a:r>
          </a:p>
          <a:p>
            <a:pPr algn="r" rtl="1"/>
            <a:r>
              <a:rPr lang="fa-IR" dirty="0"/>
              <a:t>هدف: افزایش کارایی از طریق «پردازش موازی».</a:t>
            </a:r>
          </a:p>
          <a:p>
            <a:pPr algn="r" rtl="1"/>
            <a:r>
              <a:rPr lang="fa-IR" dirty="0"/>
              <a:t>سه معماری متداول:</a:t>
            </a:r>
          </a:p>
          <a:p>
            <a:pPr lvl="1" algn="r" rtl="1"/>
            <a:r>
              <a:rPr lang="fa-IR" b="1" dirty="0"/>
              <a:t>حافظه مشترک (</a:t>
            </a:r>
            <a:r>
              <a:rPr lang="en-US" b="1" dirty="0"/>
              <a:t>Shared Memory)</a:t>
            </a:r>
            <a:endParaRPr lang="en-US" dirty="0"/>
          </a:p>
          <a:p>
            <a:pPr lvl="1" algn="r" rtl="1"/>
            <a:r>
              <a:rPr lang="fa-IR" b="1" dirty="0"/>
              <a:t>دیسک مشترک (</a:t>
            </a:r>
            <a:r>
              <a:rPr lang="en-US" b="1" dirty="0"/>
              <a:t>Shared Disk)</a:t>
            </a:r>
            <a:endParaRPr lang="en-US" dirty="0"/>
          </a:p>
          <a:p>
            <a:pPr lvl="1" algn="r" rtl="1"/>
            <a:r>
              <a:rPr lang="fa-IR" b="1" dirty="0"/>
              <a:t>بدون اشتراک (</a:t>
            </a:r>
            <a:r>
              <a:rPr lang="en-US" b="1" dirty="0"/>
              <a:t>Shared Nothing)</a:t>
            </a:r>
            <a:endParaRPr lang="en-US" dirty="0"/>
          </a:p>
          <a:p>
            <a:pPr algn="r" rtl="1"/>
            <a:r>
              <a:rPr lang="fa-IR" b="1" dirty="0"/>
              <a:t>مثال‌ها:</a:t>
            </a:r>
            <a:endParaRPr lang="fa-IR" dirty="0"/>
          </a:p>
          <a:p>
            <a:pPr algn="r" rtl="1"/>
            <a:r>
              <a:rPr lang="en-US" b="1" dirty="0"/>
              <a:t>Shared Memory:</a:t>
            </a:r>
            <a:r>
              <a:rPr lang="en-US" dirty="0"/>
              <a:t> </a:t>
            </a:r>
            <a:r>
              <a:rPr lang="fa-IR" dirty="0"/>
              <a:t>پایگاه داده </a:t>
            </a:r>
            <a:r>
              <a:rPr lang="en-US" dirty="0"/>
              <a:t>Oracle Parallel Server </a:t>
            </a:r>
            <a:r>
              <a:rPr lang="fa-IR" dirty="0"/>
              <a:t>روی یک سرور چند‌هسته‌ای.</a:t>
            </a:r>
          </a:p>
          <a:p>
            <a:pPr algn="r" rtl="1"/>
            <a:r>
              <a:rPr lang="en-US" b="1" dirty="0"/>
              <a:t>Shared Disk:</a:t>
            </a:r>
            <a:r>
              <a:rPr lang="en-US" dirty="0"/>
              <a:t> IBM DB2 </a:t>
            </a:r>
            <a:r>
              <a:rPr lang="en-US" dirty="0" err="1"/>
              <a:t>pureScale</a:t>
            </a:r>
            <a:r>
              <a:rPr lang="en-US" dirty="0"/>
              <a:t> </a:t>
            </a:r>
            <a:r>
              <a:rPr lang="fa-IR" dirty="0"/>
              <a:t>که چند سرور مختلف به یک فضای ذخیره‌سازی مشترک دسترسی دارند.</a:t>
            </a:r>
          </a:p>
          <a:p>
            <a:pPr algn="r" rtl="1"/>
            <a:r>
              <a:rPr lang="en-US" b="1" dirty="0"/>
              <a:t>Shared Nothing:</a:t>
            </a:r>
            <a:r>
              <a:rPr lang="en-US" dirty="0"/>
              <a:t> Amazon Redshift </a:t>
            </a:r>
            <a:r>
              <a:rPr lang="fa-IR" dirty="0"/>
              <a:t>یا </a:t>
            </a:r>
            <a:r>
              <a:rPr lang="en-US" dirty="0"/>
              <a:t>Google </a:t>
            </a:r>
            <a:r>
              <a:rPr lang="en-US" dirty="0" err="1"/>
              <a:t>BigQuery</a:t>
            </a:r>
            <a:r>
              <a:rPr lang="en-US" dirty="0"/>
              <a:t> </a:t>
            </a:r>
            <a:r>
              <a:rPr lang="fa-IR" dirty="0"/>
              <a:t>که هر گره مستقل عمل می‌کند و از طریق شبکه با گره‌های دیگر هماهنگ می‌شود.</a:t>
            </a:r>
          </a:p>
          <a:p>
            <a:pPr algn="r" rtl="1"/>
            <a:br>
              <a:rPr lang="fa-IR" dirty="0"/>
            </a:br>
            <a:endParaRPr lang="fa-IR" dirty="0"/>
          </a:p>
          <a:p>
            <a:pPr algn="r" rtl="1"/>
            <a:r>
              <a:rPr lang="fa-IR" b="1" dirty="0"/>
              <a:t>4. پایگاه‌های داده توزیع‌شده (</a:t>
            </a:r>
            <a:r>
              <a:rPr lang="en-US" b="1" dirty="0"/>
              <a:t>Distributed Databases)</a:t>
            </a:r>
          </a:p>
          <a:p>
            <a:pPr algn="r" rtl="1"/>
            <a:r>
              <a:rPr lang="fa-IR" b="1" dirty="0"/>
              <a:t>ویژگی‌ها:</a:t>
            </a:r>
            <a:endParaRPr lang="fa-IR" dirty="0"/>
          </a:p>
          <a:p>
            <a:pPr algn="r" rtl="1"/>
            <a:r>
              <a:rPr lang="fa-IR" dirty="0"/>
              <a:t>داده‌ها در چند مکان مختلف (از نظر جغرافیایی) ذخیره می‌شوند.</a:t>
            </a:r>
          </a:p>
          <a:p>
            <a:pPr algn="r" rtl="1"/>
            <a:r>
              <a:rPr lang="fa-IR" dirty="0"/>
              <a:t>هر مکان می‌تواند سرور مستقل داشته باشد.</a:t>
            </a:r>
          </a:p>
          <a:p>
            <a:pPr algn="r" rtl="1"/>
            <a:r>
              <a:rPr lang="fa-IR" dirty="0"/>
              <a:t>ممکن است تفاوت‌هایی در ساختار داده‌ها یا طرح‌واره وجود داشته باشد (</a:t>
            </a:r>
            <a:r>
              <a:rPr lang="en-US" b="1" dirty="0"/>
              <a:t>Schema/Data Heterogeneity</a:t>
            </a:r>
            <a:r>
              <a:rPr lang="en-US" dirty="0"/>
              <a:t>).</a:t>
            </a:r>
          </a:p>
          <a:p>
            <a:pPr algn="r" rtl="1"/>
            <a:r>
              <a:rPr lang="fa-IR" dirty="0"/>
              <a:t>هدف: دسترسی محلی سریع‌تر، افزونگی (</a:t>
            </a:r>
            <a:r>
              <a:rPr lang="en-US" dirty="0"/>
              <a:t>Redundancy) </a:t>
            </a:r>
            <a:r>
              <a:rPr lang="fa-IR" dirty="0"/>
              <a:t>و تحمل خطا (</a:t>
            </a:r>
            <a:r>
              <a:rPr lang="en-US" dirty="0"/>
              <a:t>Fault Tolerance).</a:t>
            </a:r>
          </a:p>
          <a:p>
            <a:pPr algn="r" rtl="1"/>
            <a:r>
              <a:rPr lang="fa-IR" b="1" dirty="0"/>
              <a:t>مثال:</a:t>
            </a:r>
            <a:br>
              <a:rPr lang="fa-IR" dirty="0"/>
            </a:br>
            <a:r>
              <a:rPr lang="fa-IR" dirty="0"/>
              <a:t>سیستم رزرواسیون خطوط هوایی یا فروشگاه‌های آنلاین جهانی مثل </a:t>
            </a:r>
            <a:r>
              <a:rPr lang="en-US" dirty="0"/>
              <a:t>Amazon.</a:t>
            </a:r>
          </a:p>
          <a:p>
            <a:pPr algn="r" rtl="1"/>
            <a:r>
              <a:rPr lang="fa-IR" dirty="0"/>
              <a:t>پایگاه داده در مراکز داده (</a:t>
            </a:r>
            <a:r>
              <a:rPr lang="en-US" dirty="0"/>
              <a:t>Data Center) </a:t>
            </a:r>
            <a:r>
              <a:rPr lang="fa-IR" dirty="0"/>
              <a:t>مختلف در سراسر جهان پخش شده تا کاربران هر منطقه سریع‌تر به داده‌ها دسترسی داشته باشند.</a:t>
            </a:r>
            <a:br>
              <a:rPr lang="fa-IR" dirty="0"/>
            </a:br>
            <a:r>
              <a:rPr lang="fa-IR" dirty="0"/>
              <a:t>نمونه فناوری‌ها: </a:t>
            </a:r>
            <a:r>
              <a:rPr lang="en-US" dirty="0"/>
              <a:t>Google Spanner، </a:t>
            </a:r>
            <a:r>
              <a:rPr lang="en-US" dirty="0" err="1"/>
              <a:t>CockroachDB</a:t>
            </a:r>
            <a:r>
              <a:rPr lang="en-US" dirty="0"/>
              <a:t>، Cassandra.</a:t>
            </a:r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7513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b="1" i="0" dirty="0"/>
              <a:t>🧩 </a:t>
            </a:r>
            <a:r>
              <a:rPr lang="fa-IR" b="1" i="0" dirty="0"/>
              <a:t>معماری سیستم مدیریت پایگاه داده</a:t>
            </a:r>
          </a:p>
          <a:p>
            <a:pPr algn="r" rtl="1"/>
            <a:r>
              <a:rPr lang="fa-IR" i="0" dirty="0"/>
              <a:t>سیستم </a:t>
            </a:r>
            <a:r>
              <a:rPr lang="en-US" i="0" dirty="0"/>
              <a:t>DBMS </a:t>
            </a:r>
            <a:r>
              <a:rPr lang="fa-IR" i="0" dirty="0"/>
              <a:t>از سه بخش اصلی تشکیل شده است:</a:t>
            </a:r>
          </a:p>
          <a:p>
            <a:pPr algn="r" rtl="1"/>
            <a:br>
              <a:rPr lang="fa-IR" i="0" dirty="0"/>
            </a:br>
            <a:endParaRPr lang="fa-IR" i="0" dirty="0"/>
          </a:p>
          <a:p>
            <a:pPr algn="r" rtl="1"/>
            <a:r>
              <a:rPr lang="fa-IR" b="1" i="0" dirty="0"/>
              <a:t>1. پردازشگر پرس‌وجو (</a:t>
            </a:r>
            <a:r>
              <a:rPr lang="en-US" b="1" i="0" dirty="0"/>
              <a:t>Query Processor)</a:t>
            </a:r>
          </a:p>
          <a:p>
            <a:pPr algn="r" rtl="1"/>
            <a:r>
              <a:rPr lang="fa-IR" i="0" dirty="0"/>
              <a:t>وظیفه: تفسیر و اجرای دستورات </a:t>
            </a:r>
            <a:r>
              <a:rPr lang="en-US" i="0" dirty="0"/>
              <a:t>SQL.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DDL Interpreter:</a:t>
            </a:r>
            <a:r>
              <a:rPr lang="en-US" i="0" dirty="0"/>
              <a:t> </a:t>
            </a:r>
            <a:r>
              <a:rPr lang="fa-IR" i="0" dirty="0"/>
              <a:t>اجرای دستورات ساختار داده مثل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CREATE TABLE</a:t>
            </a:r>
            <a:r>
              <a:rPr lang="en-US" i="0" dirty="0"/>
              <a:t>.</a:t>
            </a:r>
          </a:p>
          <a:p>
            <a:pPr algn="r" rtl="1"/>
            <a:r>
              <a:rPr lang="en-US" b="1" i="0" dirty="0"/>
              <a:t>DML Compiler:</a:t>
            </a:r>
            <a:r>
              <a:rPr lang="en-US" i="0" dirty="0"/>
              <a:t> </a:t>
            </a:r>
            <a:r>
              <a:rPr lang="fa-IR" i="0" dirty="0"/>
              <a:t>ترجمه دستورات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SELECT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INSERT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UPDATE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DELETE</a:t>
            </a:r>
            <a:r>
              <a:rPr lang="en-US" i="0" dirty="0"/>
              <a:t> </a:t>
            </a:r>
            <a:r>
              <a:rPr lang="fa-IR" i="0" dirty="0"/>
              <a:t>به طرح اجرایی بهینه.</a:t>
            </a:r>
          </a:p>
          <a:p>
            <a:pPr algn="r" rtl="1"/>
            <a:r>
              <a:rPr lang="en-US" b="1" i="0" dirty="0"/>
              <a:t>Query Evaluation Engine:</a:t>
            </a:r>
            <a:r>
              <a:rPr lang="en-US" i="0" dirty="0"/>
              <a:t> </a:t>
            </a:r>
            <a:r>
              <a:rPr lang="fa-IR" i="0" dirty="0"/>
              <a:t>اجرای طرح و برگرداندن نتیجه.</a:t>
            </a:r>
            <a:br>
              <a:rPr lang="fa-IR" i="0" dirty="0"/>
            </a:br>
            <a:r>
              <a:rPr lang="en-US" i="0" dirty="0"/>
              <a:t>📘 </a:t>
            </a:r>
            <a:r>
              <a:rPr lang="fa-IR" i="0" dirty="0"/>
              <a:t>مثال: اجرای دستور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SELECT name FROM Student WHERE GPA &gt; 3.5;</a:t>
            </a:r>
            <a:endParaRPr lang="en-US" i="0" dirty="0"/>
          </a:p>
          <a:p>
            <a:pPr algn="r" rtl="1"/>
            <a:br>
              <a:rPr lang="en-US" i="0" dirty="0"/>
            </a:br>
            <a:endParaRPr lang="en-US" i="0" dirty="0"/>
          </a:p>
          <a:p>
            <a:pPr algn="r" rtl="1"/>
            <a:r>
              <a:rPr lang="en-US" b="1" i="0" dirty="0"/>
              <a:t>2. </a:t>
            </a:r>
            <a:r>
              <a:rPr lang="fa-IR" b="1" i="0" dirty="0"/>
              <a:t>مدیر ذخیره‌سازی (</a:t>
            </a:r>
            <a:r>
              <a:rPr lang="en-US" b="1" i="0" dirty="0"/>
              <a:t>Storage Manager)</a:t>
            </a:r>
          </a:p>
          <a:p>
            <a:pPr algn="r" rtl="1"/>
            <a:r>
              <a:rPr lang="fa-IR" i="0" dirty="0"/>
              <a:t>وظیفه: مدیریت دسترسی ایمن، کنترل تراکنش‌ها و ارتباط با دیسک.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Authorization &amp; Integrity Manager:</a:t>
            </a:r>
            <a:r>
              <a:rPr lang="en-US" i="0" dirty="0"/>
              <a:t> </a:t>
            </a:r>
            <a:r>
              <a:rPr lang="fa-IR" i="0" dirty="0"/>
              <a:t>بررسی مجوزها و قیود.</a:t>
            </a:r>
          </a:p>
          <a:p>
            <a:pPr algn="r" rtl="1"/>
            <a:r>
              <a:rPr lang="en-US" b="1" i="0" dirty="0"/>
              <a:t>Transaction Manager:</a:t>
            </a:r>
            <a:r>
              <a:rPr lang="en-US" i="0" dirty="0"/>
              <a:t> </a:t>
            </a:r>
            <a:r>
              <a:rPr lang="fa-IR" i="0" dirty="0"/>
              <a:t>حفظ ویژگی‌های </a:t>
            </a:r>
            <a:r>
              <a:rPr lang="en-US" i="0" dirty="0"/>
              <a:t>ACID </a:t>
            </a:r>
            <a:r>
              <a:rPr lang="fa-IR" i="0" dirty="0"/>
              <a:t>در تراکنش‌ها.</a:t>
            </a:r>
          </a:p>
          <a:p>
            <a:pPr algn="r" rtl="1"/>
            <a:r>
              <a:rPr lang="en-US" b="1" i="0" dirty="0"/>
              <a:t>File Manager:</a:t>
            </a:r>
            <a:r>
              <a:rPr lang="en-US" i="0" dirty="0"/>
              <a:t> </a:t>
            </a:r>
            <a:r>
              <a:rPr lang="fa-IR" i="0" dirty="0"/>
              <a:t>سازماندهی فایل‌های داده روی دیسک.</a:t>
            </a:r>
          </a:p>
          <a:p>
            <a:pPr algn="r" rtl="1"/>
            <a:r>
              <a:rPr lang="en-US" b="1" i="0" dirty="0"/>
              <a:t>Buffer Manager:</a:t>
            </a:r>
            <a:r>
              <a:rPr lang="en-US" i="0" dirty="0"/>
              <a:t> </a:t>
            </a:r>
            <a:r>
              <a:rPr lang="fa-IR" i="0" dirty="0"/>
              <a:t>نگهداری داده‌های پرکاربرد در حافظه برای افزایش سرعت.</a:t>
            </a:r>
          </a:p>
          <a:p>
            <a:pPr algn="r" rtl="1"/>
            <a:r>
              <a:rPr lang="en-US" i="0" dirty="0"/>
              <a:t>📘 </a:t>
            </a:r>
            <a:r>
              <a:rPr lang="fa-IR" i="0" dirty="0"/>
              <a:t>مثال: اگر انتقال پول بین دو حساب نیمه‌کاره بماند، مدیر تراکنش مانع از ثبت ناقص می‌شود.</a:t>
            </a:r>
          </a:p>
          <a:p>
            <a:pPr algn="r" rtl="1"/>
            <a:br>
              <a:rPr lang="fa-IR" i="0" dirty="0"/>
            </a:br>
            <a:endParaRPr lang="fa-IR" i="0" dirty="0"/>
          </a:p>
          <a:p>
            <a:pPr algn="r" rtl="1"/>
            <a:r>
              <a:rPr lang="fa-IR" b="1" i="0" dirty="0"/>
              <a:t>3. ذخیره‌سازی دیسک (</a:t>
            </a:r>
            <a:r>
              <a:rPr lang="en-US" b="1" i="0" dirty="0"/>
              <a:t>Disk Storage)</a:t>
            </a:r>
          </a:p>
          <a:p>
            <a:pPr algn="r" rtl="1"/>
            <a:r>
              <a:rPr lang="fa-IR" i="0" dirty="0"/>
              <a:t>حاوی داده‌های واقعی و اطلاعات پشتیبان.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Data:</a:t>
            </a:r>
            <a:r>
              <a:rPr lang="en-US" i="0" dirty="0"/>
              <a:t> </a:t>
            </a:r>
            <a:r>
              <a:rPr lang="fa-IR" i="0" dirty="0"/>
              <a:t>داده‌های اصلی.</a:t>
            </a:r>
          </a:p>
          <a:p>
            <a:pPr algn="r" rtl="1"/>
            <a:r>
              <a:rPr lang="en-US" b="1" i="0" dirty="0"/>
              <a:t>Indices:</a:t>
            </a:r>
            <a:r>
              <a:rPr lang="en-US" i="0" dirty="0"/>
              <a:t> </a:t>
            </a:r>
            <a:r>
              <a:rPr lang="fa-IR" i="0" dirty="0"/>
              <a:t>شاخص‌ها برای جست‌وجوی سریع‌تر.</a:t>
            </a:r>
          </a:p>
          <a:p>
            <a:pPr algn="r" rtl="1"/>
            <a:r>
              <a:rPr lang="en-US" b="1" i="0" dirty="0"/>
              <a:t>Data Dictionary:</a:t>
            </a:r>
            <a:r>
              <a:rPr lang="en-US" i="0" dirty="0"/>
              <a:t> </a:t>
            </a:r>
            <a:r>
              <a:rPr lang="fa-IR" i="0" dirty="0"/>
              <a:t>اطلاعات درباره‌ی جداول و ساختار پایگاه داده.</a:t>
            </a:r>
          </a:p>
          <a:p>
            <a:pPr algn="r" rtl="1"/>
            <a:r>
              <a:rPr lang="en-US" b="1" i="0" dirty="0"/>
              <a:t>Statistical Data:</a:t>
            </a:r>
            <a:r>
              <a:rPr lang="en-US" i="0" dirty="0"/>
              <a:t> </a:t>
            </a:r>
            <a:r>
              <a:rPr lang="fa-IR" i="0" dirty="0"/>
              <a:t>آمار برای بهینه‌سازی پرس‌وجو.</a:t>
            </a:r>
          </a:p>
          <a:p>
            <a:pPr algn="r" rtl="1"/>
            <a:r>
              <a:rPr lang="en-US" i="0" dirty="0"/>
              <a:t>📘 </a:t>
            </a:r>
            <a:r>
              <a:rPr lang="fa-IR" i="0" dirty="0"/>
              <a:t>مثال: شاخص روی ستون </a:t>
            </a:r>
            <a:r>
              <a:rPr lang="en-US" i="0" dirty="0"/>
              <a:t>GPA </a:t>
            </a:r>
            <a:r>
              <a:rPr lang="fa-IR" i="0" dirty="0"/>
              <a:t>باعث سریع‌تر شدن جست‌وجوی دانشجویان ممتاز می‌شود.</a:t>
            </a:r>
          </a:p>
          <a:p>
            <a:pPr algn="r" rtl="1"/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7529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BBC0-EC4E-B39A-4104-96169B89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4EAB5-ACEC-2976-EED5-66D3B9C42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6C684-3E19-1E3D-971C-AD5E8CEDF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b="1" i="0" dirty="0"/>
              <a:t>🧩 </a:t>
            </a:r>
            <a:r>
              <a:rPr lang="fa-IR" b="1" i="0" dirty="0"/>
              <a:t>معماری سیستم مدیریت پایگاه داده</a:t>
            </a:r>
          </a:p>
          <a:p>
            <a:pPr algn="r" rtl="1"/>
            <a:r>
              <a:rPr lang="fa-IR" i="0" dirty="0"/>
              <a:t>سیستم </a:t>
            </a:r>
            <a:r>
              <a:rPr lang="en-US" i="0" dirty="0"/>
              <a:t>DBMS </a:t>
            </a:r>
            <a:r>
              <a:rPr lang="fa-IR" i="0" dirty="0"/>
              <a:t>از سه بخش اصلی تشکیل شده است:</a:t>
            </a:r>
          </a:p>
          <a:p>
            <a:pPr algn="r" rtl="1"/>
            <a:br>
              <a:rPr lang="fa-IR" i="0" dirty="0"/>
            </a:br>
            <a:endParaRPr lang="fa-IR" i="0" dirty="0"/>
          </a:p>
          <a:p>
            <a:pPr algn="r" rtl="1"/>
            <a:r>
              <a:rPr lang="fa-IR" b="1" i="0" dirty="0"/>
              <a:t>1. پردازشگر پرس‌وجو (</a:t>
            </a:r>
            <a:r>
              <a:rPr lang="en-US" b="1" i="0" dirty="0"/>
              <a:t>Query Processor)</a:t>
            </a:r>
          </a:p>
          <a:p>
            <a:pPr algn="r" rtl="1"/>
            <a:r>
              <a:rPr lang="fa-IR" i="0" dirty="0"/>
              <a:t>وظیفه: تفسیر و اجرای دستورات </a:t>
            </a:r>
            <a:r>
              <a:rPr lang="en-US" i="0" dirty="0"/>
              <a:t>SQL.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DDL Interpreter:</a:t>
            </a:r>
            <a:r>
              <a:rPr lang="en-US" i="0" dirty="0"/>
              <a:t> </a:t>
            </a:r>
            <a:r>
              <a:rPr lang="fa-IR" i="0" dirty="0"/>
              <a:t>اجرای دستورات ساختار داده مثل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CREATE TABLE</a:t>
            </a:r>
            <a:r>
              <a:rPr lang="en-US" i="0" dirty="0"/>
              <a:t>.</a:t>
            </a:r>
          </a:p>
          <a:p>
            <a:pPr algn="r" rtl="1"/>
            <a:r>
              <a:rPr lang="en-US" b="1" i="0" dirty="0"/>
              <a:t>DML Compiler:</a:t>
            </a:r>
            <a:r>
              <a:rPr lang="en-US" i="0" dirty="0"/>
              <a:t> </a:t>
            </a:r>
            <a:r>
              <a:rPr lang="fa-IR" i="0" dirty="0"/>
              <a:t>ترجمه دستورات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SELECT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INSERT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UPDATE</a:t>
            </a:r>
            <a:r>
              <a:rPr lang="en-US" i="0" dirty="0"/>
              <a:t>,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DELETE</a:t>
            </a:r>
            <a:r>
              <a:rPr lang="en-US" i="0" dirty="0"/>
              <a:t> </a:t>
            </a:r>
            <a:r>
              <a:rPr lang="fa-IR" i="0" dirty="0"/>
              <a:t>به طرح اجرایی بهینه.</a:t>
            </a:r>
          </a:p>
          <a:p>
            <a:pPr algn="r" rtl="1"/>
            <a:r>
              <a:rPr lang="en-US" b="1" i="0" dirty="0"/>
              <a:t>Query Evaluation Engine:</a:t>
            </a:r>
            <a:r>
              <a:rPr lang="en-US" i="0" dirty="0"/>
              <a:t> </a:t>
            </a:r>
            <a:r>
              <a:rPr lang="fa-IR" i="0" dirty="0"/>
              <a:t>اجرای طرح و برگرداندن نتیجه.</a:t>
            </a:r>
            <a:br>
              <a:rPr lang="fa-IR" i="0" dirty="0"/>
            </a:br>
            <a:r>
              <a:rPr lang="en-US" i="0" dirty="0"/>
              <a:t>📘 </a:t>
            </a:r>
            <a:r>
              <a:rPr lang="fa-IR" i="0" dirty="0"/>
              <a:t>مثال: اجرای دستور </a:t>
            </a:r>
            <a:r>
              <a:rPr lang="en-US" sz="1200" i="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SELECT name FROM Student WHERE GPA &gt; 3.5;</a:t>
            </a:r>
            <a:endParaRPr lang="en-US" i="0" dirty="0"/>
          </a:p>
          <a:p>
            <a:pPr algn="r" rtl="1"/>
            <a:br>
              <a:rPr lang="en-US" i="0" dirty="0"/>
            </a:br>
            <a:endParaRPr lang="en-US" i="0" dirty="0"/>
          </a:p>
          <a:p>
            <a:pPr algn="r" rtl="1"/>
            <a:r>
              <a:rPr lang="en-US" b="1" i="0" dirty="0"/>
              <a:t>2. </a:t>
            </a:r>
            <a:r>
              <a:rPr lang="fa-IR" b="1" i="0" dirty="0"/>
              <a:t>مدیر ذخیره‌سازی (</a:t>
            </a:r>
            <a:r>
              <a:rPr lang="en-US" b="1" i="0" dirty="0"/>
              <a:t>Storage Manager)</a:t>
            </a:r>
          </a:p>
          <a:p>
            <a:pPr algn="r" rtl="1"/>
            <a:r>
              <a:rPr lang="fa-IR" i="0" dirty="0"/>
              <a:t>وظیفه: مدیریت دسترسی ایمن، کنترل تراکنش‌ها و ارتباط با دیسک.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Authorization &amp; Integrity Manager:</a:t>
            </a:r>
            <a:r>
              <a:rPr lang="en-US" i="0" dirty="0"/>
              <a:t> </a:t>
            </a:r>
            <a:r>
              <a:rPr lang="fa-IR" i="0" dirty="0"/>
              <a:t>بررسی مجوزها و قیود.</a:t>
            </a:r>
          </a:p>
          <a:p>
            <a:pPr algn="r" rtl="1"/>
            <a:r>
              <a:rPr lang="en-US" b="1" i="0" dirty="0"/>
              <a:t>Transaction Manager:</a:t>
            </a:r>
            <a:r>
              <a:rPr lang="en-US" i="0" dirty="0"/>
              <a:t> </a:t>
            </a:r>
            <a:r>
              <a:rPr lang="fa-IR" i="0" dirty="0"/>
              <a:t>حفظ ویژگی‌های </a:t>
            </a:r>
            <a:r>
              <a:rPr lang="en-US" i="0" dirty="0"/>
              <a:t>ACID </a:t>
            </a:r>
            <a:r>
              <a:rPr lang="fa-IR" i="0" dirty="0"/>
              <a:t>در تراکنش‌ها.</a:t>
            </a:r>
          </a:p>
          <a:p>
            <a:pPr algn="r" rtl="1"/>
            <a:r>
              <a:rPr lang="en-US" b="1" i="0" dirty="0"/>
              <a:t>File Manager:</a:t>
            </a:r>
            <a:r>
              <a:rPr lang="en-US" i="0" dirty="0"/>
              <a:t> </a:t>
            </a:r>
            <a:r>
              <a:rPr lang="fa-IR" i="0" dirty="0"/>
              <a:t>سازماندهی فایل‌های داده روی دیسک.</a:t>
            </a:r>
          </a:p>
          <a:p>
            <a:pPr algn="r" rtl="1"/>
            <a:r>
              <a:rPr lang="en-US" b="1" i="0" dirty="0"/>
              <a:t>Buffer Manager:</a:t>
            </a:r>
            <a:r>
              <a:rPr lang="en-US" i="0" dirty="0"/>
              <a:t> </a:t>
            </a:r>
            <a:r>
              <a:rPr lang="fa-IR" i="0" dirty="0"/>
              <a:t>نگهداری داده‌های پرکاربرد در حافظه برای افزایش سرعت.</a:t>
            </a:r>
          </a:p>
          <a:p>
            <a:pPr algn="r" rtl="1"/>
            <a:r>
              <a:rPr lang="en-US" i="0" dirty="0"/>
              <a:t>📘 </a:t>
            </a:r>
            <a:r>
              <a:rPr lang="fa-IR" i="0" dirty="0"/>
              <a:t>مثال: اگر انتقال پول بین دو حساب نیمه‌کاره بماند، مدیر تراکنش مانع از ثبت ناقص می‌شود.</a:t>
            </a:r>
          </a:p>
          <a:p>
            <a:pPr algn="r" rtl="1"/>
            <a:br>
              <a:rPr lang="fa-IR" i="0" dirty="0"/>
            </a:br>
            <a:endParaRPr lang="fa-IR" i="0" dirty="0"/>
          </a:p>
          <a:p>
            <a:pPr algn="r" rtl="1"/>
            <a:r>
              <a:rPr lang="fa-IR" b="1" i="0" dirty="0"/>
              <a:t>3. ذخیره‌سازی دیسک (</a:t>
            </a:r>
            <a:r>
              <a:rPr lang="en-US" b="1" i="0" dirty="0"/>
              <a:t>Disk Storage)</a:t>
            </a:r>
          </a:p>
          <a:p>
            <a:pPr algn="r" rtl="1"/>
            <a:r>
              <a:rPr lang="fa-IR" i="0" dirty="0"/>
              <a:t>حاوی داده‌های واقعی و اطلاعات پشتیبان.</a:t>
            </a:r>
          </a:p>
          <a:p>
            <a:pPr algn="r" rtl="1"/>
            <a:r>
              <a:rPr lang="fa-IR" i="0" dirty="0"/>
              <a:t>اجزا:</a:t>
            </a:r>
          </a:p>
          <a:p>
            <a:pPr algn="r" rtl="1"/>
            <a:r>
              <a:rPr lang="en-US" b="1" i="0" dirty="0"/>
              <a:t>Data:</a:t>
            </a:r>
            <a:r>
              <a:rPr lang="en-US" i="0" dirty="0"/>
              <a:t> </a:t>
            </a:r>
            <a:r>
              <a:rPr lang="fa-IR" i="0" dirty="0"/>
              <a:t>داده‌های اصلی.</a:t>
            </a:r>
          </a:p>
          <a:p>
            <a:pPr algn="r" rtl="1"/>
            <a:r>
              <a:rPr lang="en-US" b="1" i="0" dirty="0"/>
              <a:t>Indices:</a:t>
            </a:r>
            <a:r>
              <a:rPr lang="en-US" i="0" dirty="0"/>
              <a:t> </a:t>
            </a:r>
            <a:r>
              <a:rPr lang="fa-IR" i="0" dirty="0"/>
              <a:t>شاخص‌ها برای جست‌وجوی سریع‌تر.</a:t>
            </a:r>
          </a:p>
          <a:p>
            <a:pPr algn="r" rtl="1"/>
            <a:r>
              <a:rPr lang="en-US" b="1" i="0" dirty="0"/>
              <a:t>Data Dictionary:</a:t>
            </a:r>
            <a:r>
              <a:rPr lang="en-US" i="0" dirty="0"/>
              <a:t> </a:t>
            </a:r>
            <a:r>
              <a:rPr lang="fa-IR" i="0" dirty="0"/>
              <a:t>اطلاعات درباره‌ی جداول و ساختار پایگاه داده.</a:t>
            </a:r>
          </a:p>
          <a:p>
            <a:pPr algn="r" rtl="1"/>
            <a:r>
              <a:rPr lang="en-US" b="1" i="0" dirty="0"/>
              <a:t>Statistical Data:</a:t>
            </a:r>
            <a:r>
              <a:rPr lang="en-US" i="0" dirty="0"/>
              <a:t> </a:t>
            </a:r>
            <a:r>
              <a:rPr lang="fa-IR" i="0" dirty="0"/>
              <a:t>آمار برای بهینه‌سازی پرس‌وجو.</a:t>
            </a:r>
          </a:p>
          <a:p>
            <a:pPr algn="r" rtl="1"/>
            <a:r>
              <a:rPr lang="en-US" i="0" dirty="0"/>
              <a:t>📘 </a:t>
            </a:r>
            <a:r>
              <a:rPr lang="fa-IR" i="0" dirty="0"/>
              <a:t>مثال: شاخص روی ستون </a:t>
            </a:r>
            <a:r>
              <a:rPr lang="en-US" i="0" dirty="0"/>
              <a:t>GPA </a:t>
            </a:r>
            <a:r>
              <a:rPr lang="fa-IR" i="0" dirty="0"/>
              <a:t>باعث سریع‌تر شدن جست‌وجوی دانشجویان ممتاز می‌شود.</a:t>
            </a:r>
          </a:p>
          <a:p>
            <a:pPr algn="r" rtl="1"/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2D2CE-F71E-D5D1-13C9-0DBFC0340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452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35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48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37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fa-IR" dirty="0"/>
              <a:t>به زبان ساده، این موارد در مدیریت پایگاه‌های داده نقش‌های مختلفی دارند:</a:t>
            </a:r>
          </a:p>
          <a:p>
            <a:pPr algn="r" rtl="1">
              <a:buFont typeface="+mj-lt"/>
              <a:buAutoNum type="arabicPeriod"/>
            </a:pPr>
            <a:r>
              <a:rPr lang="fa-IR" b="1" dirty="0"/>
              <a:t>تعریف طرح (</a:t>
            </a:r>
            <a:r>
              <a:rPr lang="en-US" b="1" dirty="0"/>
              <a:t>Schema definition)</a:t>
            </a:r>
            <a:r>
              <a:rPr lang="en-US" dirty="0"/>
              <a:t>: </a:t>
            </a:r>
            <a:r>
              <a:rPr lang="fa-IR" dirty="0"/>
              <a:t>در این مرحله، مدیر پایگاه داده (</a:t>
            </a:r>
            <a:r>
              <a:rPr lang="en-US" dirty="0"/>
              <a:t>DBA) </a:t>
            </a:r>
            <a:r>
              <a:rPr lang="fa-IR" dirty="0"/>
              <a:t>ساختار اولیه پایگاه داده را با اجرای مجموعه‌ای از دستورات تعریف داده‌ها (</a:t>
            </a:r>
            <a:r>
              <a:rPr lang="en-US" dirty="0"/>
              <a:t>DDL) </a:t>
            </a:r>
            <a:r>
              <a:rPr lang="fa-IR" dirty="0"/>
              <a:t>ایجاد می‌کند. </a:t>
            </a:r>
            <a:r>
              <a:rPr lang="fa-IR" dirty="0">
                <a:hlinkClick r:id="rId3"/>
              </a:rPr>
              <a:t>این شامل تعریف جداول، فیلدها، کلیدها و روابط است</a:t>
            </a:r>
            <a:r>
              <a:rPr lang="fa-IR" baseline="30000" dirty="0">
                <a:hlinkClick r:id="rId3"/>
              </a:rPr>
              <a:t>1</a:t>
            </a:r>
            <a:r>
              <a:rPr lang="fa-IR" dirty="0"/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/>
              <a:t>تعریف ساختار ذخیره‌سازی و روش دسترسی (</a:t>
            </a:r>
            <a:r>
              <a:rPr lang="en-US" b="1" dirty="0"/>
              <a:t>Storage structure and access-method definition)</a:t>
            </a:r>
            <a:r>
              <a:rPr lang="en-US" dirty="0"/>
              <a:t>: </a:t>
            </a:r>
            <a:r>
              <a:rPr lang="fa-IR" dirty="0"/>
              <a:t>در این مرحله، </a:t>
            </a:r>
            <a:r>
              <a:rPr lang="en-US" dirty="0"/>
              <a:t>DBA </a:t>
            </a:r>
            <a:r>
              <a:rPr lang="fa-IR" dirty="0"/>
              <a:t>ساختار ذخیره‌سازی داده‌ها را تعیین می‌کند. </a:t>
            </a:r>
            <a:r>
              <a:rPr lang="fa-IR" dirty="0">
                <a:hlinkClick r:id="rId3"/>
              </a:rPr>
              <a:t>همچنین، روش‌های دسترسی به داده‌ها (مثل نحوه جستجو در جداول) نیز تعریف می‌شود</a:t>
            </a:r>
            <a:r>
              <a:rPr lang="fa-IR" baseline="30000" dirty="0">
                <a:hlinkClick r:id="rId3"/>
              </a:rPr>
              <a:t>1</a:t>
            </a:r>
            <a:r>
              <a:rPr lang="fa-IR" dirty="0"/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/>
              <a:t>تغییر طرح و سازماندهی فیزیکی (</a:t>
            </a:r>
            <a:r>
              <a:rPr lang="en-US" b="1" dirty="0"/>
              <a:t>Schema and physical-organization modification)</a:t>
            </a:r>
            <a:r>
              <a:rPr lang="en-US" dirty="0"/>
              <a:t>: </a:t>
            </a:r>
            <a:r>
              <a:rPr lang="fa-IR" dirty="0"/>
              <a:t>در طول زمان، نیاز به تغییرات در طرح پایگاه داده و سازماندهی فیزیکی داده‌ها ممکن است پیش بیاید. </a:t>
            </a:r>
            <a:r>
              <a:rPr lang="fa-IR" dirty="0">
                <a:hlinkClick r:id="rId3"/>
              </a:rPr>
              <a:t>به عنوان مثال، افزودن یک فیلد جدید به جدول یا بهبود ساختار ذخیره‌سازی</a:t>
            </a:r>
            <a:r>
              <a:rPr lang="fa-IR" baseline="30000" dirty="0">
                <a:hlinkClick r:id="rId3"/>
              </a:rPr>
              <a:t>1</a:t>
            </a:r>
            <a:r>
              <a:rPr lang="fa-IR" dirty="0"/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/>
              <a:t>اعطای مجوز برای دسترسی به داده‌ها (</a:t>
            </a:r>
            <a:r>
              <a:rPr lang="en-US" b="1" dirty="0"/>
              <a:t>Granting of authorization for data access)</a:t>
            </a:r>
            <a:r>
              <a:rPr lang="en-US" dirty="0"/>
              <a:t>: DBA </a:t>
            </a:r>
            <a:r>
              <a:rPr lang="fa-IR" dirty="0"/>
              <a:t>مسئول تعیین مجوزها برای کاربران پایگاه داده است. </a:t>
            </a:r>
            <a:r>
              <a:rPr lang="fa-IR" dirty="0">
                <a:solidFill>
                  <a:srgbClr val="002060"/>
                </a:solidFill>
                <a:hlinkClick r:id="rId3"/>
              </a:rPr>
              <a:t>این شامل مجوزهای خواندن، نوشتن و اجرای دستورات </a:t>
            </a:r>
            <a:r>
              <a:rPr lang="en-US" dirty="0">
                <a:solidFill>
                  <a:srgbClr val="002060"/>
                </a:solidFill>
                <a:hlinkClick r:id="rId3"/>
              </a:rPr>
              <a:t>SQL </a:t>
            </a:r>
            <a:r>
              <a:rPr lang="fa-IR" dirty="0">
                <a:solidFill>
                  <a:srgbClr val="002060"/>
                </a:solidFill>
                <a:hlinkClick r:id="rId3"/>
              </a:rPr>
              <a:t>بر روی داده‌ها می‌شود</a:t>
            </a:r>
            <a:r>
              <a:rPr lang="fa-IR" baseline="30000" dirty="0">
                <a:solidFill>
                  <a:srgbClr val="002060"/>
                </a:solidFill>
                <a:hlinkClick r:id="rId4"/>
              </a:rPr>
              <a:t>2</a:t>
            </a:r>
            <a:r>
              <a:rPr lang="fa-IR" dirty="0">
                <a:solidFill>
                  <a:srgbClr val="002060"/>
                </a:solidFill>
              </a:rPr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>
                <a:solidFill>
                  <a:srgbClr val="002060"/>
                </a:solidFill>
                <a:hlinkClick r:id="rId3"/>
              </a:rPr>
              <a:t>نگهداری معمول (</a:t>
            </a:r>
            <a:r>
              <a:rPr lang="en-US" b="1" dirty="0">
                <a:solidFill>
                  <a:srgbClr val="002060"/>
                </a:solidFill>
                <a:hlinkClick r:id="rId3"/>
              </a:rPr>
              <a:t>Routine maintenance)</a:t>
            </a:r>
            <a:r>
              <a:rPr lang="en-US" dirty="0">
                <a:solidFill>
                  <a:srgbClr val="002060"/>
                </a:solidFill>
                <a:hlinkClick r:id="rId3"/>
              </a:rPr>
              <a:t>: </a:t>
            </a:r>
            <a:r>
              <a:rPr lang="fa-IR" dirty="0">
                <a:solidFill>
                  <a:srgbClr val="002060"/>
                </a:solidFill>
                <a:hlinkClick r:id="rId3"/>
              </a:rPr>
              <a:t>این شامل فعالیت‌هایی مانند به‌روزرسانی نرم‌افزار پایگاه داده، بهینه‌سازی کوئری‌ها، و رفع مشکلات عمومی است</a:t>
            </a:r>
            <a:r>
              <a:rPr lang="fa-IR" baseline="30000" dirty="0">
                <a:solidFill>
                  <a:srgbClr val="002060"/>
                </a:solidFill>
                <a:hlinkClick r:id="rId5"/>
              </a:rPr>
              <a:t>3</a:t>
            </a:r>
            <a:r>
              <a:rPr lang="fa-IR" dirty="0">
                <a:solidFill>
                  <a:srgbClr val="002060"/>
                </a:solidFill>
              </a:rPr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>
                <a:solidFill>
                  <a:srgbClr val="002060"/>
                </a:solidFill>
                <a:hlinkClick r:id="rId3"/>
              </a:rPr>
              <a:t>پشتیبان‌گیری دوره‌ای از پایگاه داده (</a:t>
            </a:r>
            <a:r>
              <a:rPr lang="en-US" b="1" dirty="0">
                <a:solidFill>
                  <a:srgbClr val="002060"/>
                </a:solidFill>
                <a:hlinkClick r:id="rId3"/>
              </a:rPr>
              <a:t>Periodically backing up the database)</a:t>
            </a:r>
            <a:r>
              <a:rPr lang="en-US" dirty="0">
                <a:solidFill>
                  <a:srgbClr val="002060"/>
                </a:solidFill>
                <a:hlinkClick r:id="rId3"/>
              </a:rPr>
              <a:t>: </a:t>
            </a:r>
            <a:r>
              <a:rPr lang="fa-IR" dirty="0">
                <a:solidFill>
                  <a:srgbClr val="002060"/>
                </a:solidFill>
                <a:hlinkClick r:id="rId3"/>
              </a:rPr>
              <a:t>ایجاد نسخه‌های پشتیبان از داده‌ها به منظور جلوگیری از از دست رفتن اطلاعات در صورت خرابی یا حادثه</a:t>
            </a:r>
            <a:r>
              <a:rPr lang="fa-IR" baseline="30000" dirty="0">
                <a:solidFill>
                  <a:srgbClr val="002060"/>
                </a:solidFill>
                <a:hlinkClick r:id="rId5"/>
              </a:rPr>
              <a:t>3</a:t>
            </a:r>
            <a:r>
              <a:rPr lang="fa-IR" dirty="0">
                <a:solidFill>
                  <a:srgbClr val="002060"/>
                </a:solidFill>
              </a:rPr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>
                <a:solidFill>
                  <a:srgbClr val="002060"/>
                </a:solidFill>
              </a:rPr>
              <a:t>اطمینان از وجود فضای دیسک کافی برای عملیات عادی و </a:t>
            </a:r>
            <a:r>
              <a:rPr lang="fa-IR" b="1" dirty="0"/>
              <a:t>ارتقاء فضای دیسک به میزان لازم (</a:t>
            </a:r>
            <a:r>
              <a:rPr lang="en-US" b="1" dirty="0"/>
              <a:t>Ensuring enough free disk space and upgrading disk space)</a:t>
            </a:r>
            <a:r>
              <a:rPr lang="en-US" dirty="0"/>
              <a:t>: DBA </a:t>
            </a:r>
            <a:r>
              <a:rPr lang="fa-IR" dirty="0"/>
              <a:t>مسئول نظارت بر فضای دیسک مورد نیاز برای پایگاه داده است. </a:t>
            </a:r>
            <a:r>
              <a:rPr lang="fa-IR" dirty="0">
                <a:hlinkClick r:id="rId3"/>
              </a:rPr>
              <a:t>اگر فضای دیسک کم شود، باید فضا را ارتقاء داد</a:t>
            </a:r>
            <a:r>
              <a:rPr lang="fa-IR" baseline="30000" dirty="0">
                <a:hlinkClick r:id="rId5"/>
              </a:rPr>
              <a:t>3</a:t>
            </a:r>
            <a:r>
              <a:rPr lang="fa-IR" dirty="0"/>
              <a:t>.</a:t>
            </a:r>
          </a:p>
          <a:p>
            <a:pPr algn="r" rtl="1">
              <a:buFont typeface="+mj-lt"/>
              <a:buAutoNum type="arabicPeriod"/>
            </a:pPr>
            <a:r>
              <a:rPr lang="fa-IR" b="1" dirty="0"/>
              <a:t>نظارت بر کارهای در حال اجرا در پایگاه داده (</a:t>
            </a:r>
            <a:r>
              <a:rPr lang="en-US" b="1" dirty="0"/>
              <a:t>Monitoring jobs running on the database)</a:t>
            </a:r>
            <a:r>
              <a:rPr lang="en-US" dirty="0"/>
              <a:t>: DBA </a:t>
            </a:r>
            <a:r>
              <a:rPr lang="fa-IR" dirty="0"/>
              <a:t>باید کارهای در حال اجرا در پایگاه داده را نظار</a:t>
            </a:r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200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  <a:pPr algn="r"/>
              <a:t>38</a:t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728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  <a:pPr algn="r"/>
              <a:t>39</a:t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169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  <a:pPr algn="r"/>
              <a:t>40</a:t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fa-IR" b="1" dirty="0"/>
              <a:t>ت</a:t>
            </a:r>
            <a:r>
              <a:rPr lang="en-US" b="1" dirty="0" err="1"/>
              <a:t>حلیل</a:t>
            </a:r>
            <a:r>
              <a:rPr lang="en-US" b="1" dirty="0"/>
              <a:t> </a:t>
            </a:r>
            <a:r>
              <a:rPr lang="en-US" b="1" dirty="0" err="1"/>
              <a:t>داده‌های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: </a:t>
            </a:r>
            <a:r>
              <a:rPr lang="en-US" b="1" dirty="0" err="1"/>
              <a:t>فراتر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SQL</a:t>
            </a:r>
          </a:p>
          <a:p>
            <a:pPr algn="r" rtl="1"/>
            <a:r>
              <a:rPr lang="en-US" dirty="0" err="1"/>
              <a:t>مسئله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ذخیره‌سازی</a:t>
            </a:r>
            <a:r>
              <a:rPr lang="en-US" dirty="0"/>
              <a:t> </a:t>
            </a:r>
            <a:r>
              <a:rPr lang="en-US" dirty="0" err="1"/>
              <a:t>نبود</a:t>
            </a:r>
            <a:r>
              <a:rPr lang="en-US" dirty="0"/>
              <a:t>. </a:t>
            </a:r>
            <a:r>
              <a:rPr lang="en-US" dirty="0" err="1"/>
              <a:t>وقتی</a:t>
            </a:r>
            <a:r>
              <a:rPr lang="en-US" dirty="0"/>
              <a:t> </a:t>
            </a:r>
            <a:r>
              <a:rPr lang="en-US" dirty="0" err="1"/>
              <a:t>صدها</a:t>
            </a:r>
            <a:r>
              <a:rPr lang="en-US" dirty="0"/>
              <a:t> </a:t>
            </a:r>
            <a:r>
              <a:rPr lang="en-US" dirty="0" err="1"/>
              <a:t>ترابایت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پتابایت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،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بتوانیم</a:t>
            </a:r>
            <a:r>
              <a:rPr lang="en-US" dirty="0"/>
              <a:t> </a:t>
            </a:r>
            <a:r>
              <a:rPr lang="en-US" dirty="0" err="1"/>
              <a:t>آنها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پردازش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اینجا</a:t>
            </a:r>
            <a:r>
              <a:rPr lang="en-US" dirty="0"/>
              <a:t> </a:t>
            </a:r>
            <a:r>
              <a:rPr lang="en-US" dirty="0" err="1"/>
              <a:t>مفهوم</a:t>
            </a:r>
            <a:r>
              <a:rPr lang="en-US" dirty="0"/>
              <a:t> </a:t>
            </a:r>
            <a:r>
              <a:rPr lang="en-US" b="1" dirty="0"/>
              <a:t>Big Data Analytics</a:t>
            </a:r>
            <a:r>
              <a:rPr lang="en-US" dirty="0"/>
              <a:t> </a:t>
            </a:r>
            <a:r>
              <a:rPr lang="en-US" dirty="0" err="1"/>
              <a:t>مطرح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مهم‌ترین</a:t>
            </a:r>
            <a:r>
              <a:rPr lang="en-US" dirty="0"/>
              <a:t> </a:t>
            </a:r>
            <a:r>
              <a:rPr lang="en-US" dirty="0" err="1"/>
              <a:t>ایده‌ها</a:t>
            </a:r>
            <a:r>
              <a:rPr lang="en-US" dirty="0"/>
              <a:t> </a:t>
            </a:r>
            <a:r>
              <a:rPr lang="en-US" b="1" dirty="0"/>
              <a:t>MapReduce</a:t>
            </a:r>
            <a:r>
              <a:rPr lang="en-US" dirty="0"/>
              <a:t> </a:t>
            </a:r>
            <a:r>
              <a:rPr lang="en-US" dirty="0" err="1"/>
              <a:t>بود</a:t>
            </a:r>
            <a:r>
              <a:rPr lang="en-US" dirty="0"/>
              <a:t>.</a:t>
            </a:r>
          </a:p>
          <a:p>
            <a:pPr algn="r" rtl="1"/>
            <a:r>
              <a:rPr lang="en-US" b="1" dirty="0"/>
              <a:t>MapReduce </a:t>
            </a:r>
            <a:r>
              <a:rPr lang="en-US" b="1" dirty="0" err="1"/>
              <a:t>چگونه</a:t>
            </a:r>
            <a:r>
              <a:rPr lang="en-US" b="1" dirty="0"/>
              <a:t> </a:t>
            </a:r>
            <a:r>
              <a:rPr lang="en-US" b="1" dirty="0" err="1"/>
              <a:t>کار</a:t>
            </a:r>
            <a:r>
              <a:rPr lang="en-US" b="1" dirty="0"/>
              <a:t> </a:t>
            </a:r>
            <a:r>
              <a:rPr lang="en-US" b="1" dirty="0" err="1"/>
              <a:t>می‌کند</a:t>
            </a:r>
            <a:r>
              <a:rPr lang="en-US" b="1" dirty="0"/>
              <a:t>؟</a:t>
            </a:r>
          </a:p>
          <a:p>
            <a:pPr algn="r" rtl="1"/>
            <a:r>
              <a:rPr lang="en-US" dirty="0" err="1"/>
              <a:t>فرض</a:t>
            </a:r>
            <a:r>
              <a:rPr lang="en-US" dirty="0"/>
              <a:t> </a:t>
            </a:r>
            <a:r>
              <a:rPr lang="en-US" dirty="0" err="1"/>
              <a:t>کنید</a:t>
            </a:r>
            <a:r>
              <a:rPr lang="en-US" dirty="0"/>
              <a:t> </a:t>
            </a:r>
            <a:r>
              <a:rPr lang="en-US" dirty="0" err="1"/>
              <a:t>می‌خواهیم</a:t>
            </a:r>
            <a:r>
              <a:rPr lang="en-US" dirty="0"/>
              <a:t> </a:t>
            </a:r>
            <a:r>
              <a:rPr lang="en-US" dirty="0" err="1"/>
              <a:t>تعداد</a:t>
            </a:r>
            <a:r>
              <a:rPr lang="en-US" dirty="0"/>
              <a:t> </a:t>
            </a:r>
            <a:r>
              <a:rPr lang="en-US" dirty="0" err="1"/>
              <a:t>دفعاتی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کلمه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میلیارد</a:t>
            </a:r>
            <a:r>
              <a:rPr lang="en-US" b="1" dirty="0"/>
              <a:t> </a:t>
            </a:r>
            <a:r>
              <a:rPr lang="en-US" b="1" dirty="0" err="1"/>
              <a:t>سند</a:t>
            </a:r>
            <a:r>
              <a:rPr lang="en-US" dirty="0"/>
              <a:t> </a:t>
            </a:r>
            <a:r>
              <a:rPr lang="en-US" dirty="0" err="1"/>
              <a:t>ظاهر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محاسبه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چندین</a:t>
            </a:r>
            <a:r>
              <a:rPr lang="en-US" dirty="0"/>
              <a:t> </a:t>
            </a:r>
            <a:r>
              <a:rPr lang="en-US" dirty="0" err="1"/>
              <a:t>کامپیوتر</a:t>
            </a:r>
            <a:r>
              <a:rPr lang="en-US" dirty="0"/>
              <a:t> </a:t>
            </a:r>
            <a:r>
              <a:rPr lang="en-US" dirty="0" err="1"/>
              <a:t>تقسیم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pPr algn="r" rtl="1"/>
            <a:r>
              <a:rPr lang="en-US" b="1" dirty="0"/>
              <a:t>Map:</a:t>
            </a:r>
            <a:endParaRPr lang="en-US" dirty="0"/>
          </a:p>
          <a:p>
            <a:pPr algn="r" rtl="1"/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کامپیوتر</a:t>
            </a:r>
            <a:r>
              <a:rPr lang="en-US" dirty="0"/>
              <a:t> </a:t>
            </a:r>
            <a:r>
              <a:rPr lang="en-US" dirty="0" err="1"/>
              <a:t>بخشی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اسناد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پردازش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: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"database systems are fast"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        ↓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(database, 1)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(systems, 1)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(are, 1)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(fast, 1)</a:t>
            </a:r>
          </a:p>
          <a:p>
            <a:pPr algn="r" rtl="1"/>
            <a:r>
              <a:rPr lang="en-US" dirty="0" err="1"/>
              <a:t>سپس</a:t>
            </a:r>
            <a:r>
              <a:rPr lang="en-US" dirty="0"/>
              <a:t> </a:t>
            </a:r>
            <a:r>
              <a:rPr lang="en-US" dirty="0" err="1"/>
              <a:t>نتایج</a:t>
            </a:r>
            <a:r>
              <a:rPr lang="en-US" dirty="0"/>
              <a:t> </a:t>
            </a:r>
            <a:r>
              <a:rPr lang="en-US" dirty="0" err="1"/>
              <a:t>مشابه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هم</a:t>
            </a:r>
            <a:r>
              <a:rPr lang="en-US" dirty="0"/>
              <a:t> </a:t>
            </a:r>
            <a:r>
              <a:rPr lang="en-US" dirty="0" err="1"/>
              <a:t>گروه‌بندی</a:t>
            </a:r>
            <a:r>
              <a:rPr lang="en-US" dirty="0"/>
              <a:t> </a:t>
            </a:r>
            <a:r>
              <a:rPr lang="en-US" dirty="0" err="1"/>
              <a:t>می‌شوند</a:t>
            </a:r>
            <a:r>
              <a:rPr lang="en-US" dirty="0"/>
              <a:t>.</a:t>
            </a:r>
          </a:p>
          <a:p>
            <a:pPr algn="r" rtl="1"/>
            <a:r>
              <a:rPr lang="en-US" b="1" dirty="0"/>
              <a:t>Reduce:</a:t>
            </a:r>
            <a:endParaRPr lang="en-US" dirty="0"/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database → 125,000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systems  → 98,000</a:t>
            </a:r>
          </a:p>
          <a:p>
            <a:pPr algn="r" rtl="1"/>
            <a:r>
              <a:rPr lang="en-US" sz="1200" kern="1200" dirty="0">
                <a:solidFill>
                  <a:schemeClr val="tx1"/>
                </a:solidFill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fast     → 76,000</a:t>
            </a:r>
          </a:p>
          <a:p>
            <a:pPr algn="r" rtl="1"/>
            <a:r>
              <a:rPr lang="en-US" dirty="0" err="1"/>
              <a:t>بنابراین</a:t>
            </a:r>
            <a:r>
              <a:rPr lang="en-US" dirty="0"/>
              <a:t>، </a:t>
            </a:r>
            <a:r>
              <a:rPr lang="en-US" dirty="0" err="1"/>
              <a:t>به‌جای</a:t>
            </a:r>
            <a:r>
              <a:rPr lang="en-US" dirty="0"/>
              <a:t> </a:t>
            </a:r>
            <a:r>
              <a:rPr lang="en-US" dirty="0" err="1"/>
              <a:t>اینکه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کامپیوتر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میلیارد</a:t>
            </a:r>
            <a:r>
              <a:rPr lang="en-US" dirty="0"/>
              <a:t> </a:t>
            </a:r>
            <a:r>
              <a:rPr lang="en-US" dirty="0" err="1"/>
              <a:t>سند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پردازش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، </a:t>
            </a:r>
            <a:r>
              <a:rPr lang="en-US" b="1" dirty="0" err="1"/>
              <a:t>صدها</a:t>
            </a:r>
            <a:r>
              <a:rPr lang="en-US" b="1" dirty="0"/>
              <a:t> </a:t>
            </a:r>
            <a:r>
              <a:rPr lang="en-US" b="1" dirty="0" err="1"/>
              <a:t>یا</a:t>
            </a:r>
            <a:r>
              <a:rPr lang="en-US" b="1" dirty="0"/>
              <a:t> </a:t>
            </a:r>
            <a:r>
              <a:rPr lang="en-US" b="1" dirty="0" err="1"/>
              <a:t>هزاران</a:t>
            </a:r>
            <a:r>
              <a:rPr lang="en-US" b="1" dirty="0"/>
              <a:t> </a:t>
            </a:r>
            <a:r>
              <a:rPr lang="en-US" b="1" dirty="0" err="1"/>
              <a:t>کامپیوتر</a:t>
            </a:r>
            <a:r>
              <a:rPr lang="en-US" b="1" dirty="0"/>
              <a:t> </a:t>
            </a:r>
            <a:r>
              <a:rPr lang="en-US" b="1" dirty="0" err="1"/>
              <a:t>به‌صورت</a:t>
            </a:r>
            <a:r>
              <a:rPr lang="en-US" b="1" dirty="0"/>
              <a:t> </a:t>
            </a:r>
            <a:r>
              <a:rPr lang="en-US" b="1" dirty="0" err="1"/>
              <a:t>موازی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انجام</a:t>
            </a:r>
            <a:r>
              <a:rPr lang="en-US" dirty="0"/>
              <a:t> </a:t>
            </a:r>
            <a:r>
              <a:rPr lang="en-US" dirty="0" err="1"/>
              <a:t>می‌دهند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ایده</a:t>
            </a:r>
            <a:r>
              <a:rPr lang="en-US" dirty="0"/>
              <a:t> </a:t>
            </a:r>
            <a:r>
              <a:rPr lang="en-US" dirty="0" err="1"/>
              <a:t>بعدها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سیستم‌هایی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b="1" dirty="0"/>
              <a:t>Hadoop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مورد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قرار</a:t>
            </a:r>
            <a:r>
              <a:rPr lang="en-US" dirty="0"/>
              <a:t> </a:t>
            </a:r>
            <a:r>
              <a:rPr lang="en-US" dirty="0" err="1"/>
              <a:t>گرفت</a:t>
            </a:r>
            <a:r>
              <a:rPr lang="en-US" dirty="0"/>
              <a:t>.</a:t>
            </a:r>
          </a:p>
          <a:p>
            <a:pPr algn="r" rtl="1"/>
            <a:endParaRPr lang="en-US" b="1" dirty="0"/>
          </a:p>
          <a:p>
            <a:pPr algn="r" rtl="1"/>
            <a:endParaRPr lang="en-US" b="1" dirty="0"/>
          </a:p>
          <a:p>
            <a:pPr algn="r" rtl="1"/>
            <a:r>
              <a:rPr lang="en-US" b="1" dirty="0" err="1"/>
              <a:t>دهه</a:t>
            </a:r>
            <a:r>
              <a:rPr lang="en-US" b="1" dirty="0"/>
              <a:t> ۲۰۱۰: </a:t>
            </a:r>
            <a:r>
              <a:rPr lang="en-US" b="1" dirty="0" err="1"/>
              <a:t>بازگشت</a:t>
            </a:r>
            <a:r>
              <a:rPr lang="en-US" b="1" dirty="0"/>
              <a:t> SQL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دهه</a:t>
            </a:r>
            <a:r>
              <a:rPr lang="en-US" dirty="0"/>
              <a:t> ۲۰۱۰ </a:t>
            </a:r>
            <a:r>
              <a:rPr lang="en-US" dirty="0" err="1"/>
              <a:t>اتفاق</a:t>
            </a:r>
            <a:r>
              <a:rPr lang="en-US" dirty="0"/>
              <a:t> </a:t>
            </a:r>
            <a:r>
              <a:rPr lang="en-US" dirty="0" err="1"/>
              <a:t>جالبی</a:t>
            </a:r>
            <a:r>
              <a:rPr lang="en-US" dirty="0"/>
              <a:t> </a:t>
            </a:r>
            <a:r>
              <a:rPr lang="en-US" dirty="0" err="1"/>
              <a:t>رخ</a:t>
            </a:r>
            <a:r>
              <a:rPr lang="en-US" dirty="0"/>
              <a:t> </a:t>
            </a:r>
            <a:r>
              <a:rPr lang="en-US" dirty="0" err="1"/>
              <a:t>داد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رشد</a:t>
            </a:r>
            <a:r>
              <a:rPr lang="en-US" dirty="0"/>
              <a:t> NoSQL و MapReduce،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SQL </a:t>
            </a:r>
            <a:r>
              <a:rPr lang="en-US" dirty="0" err="1"/>
              <a:t>هنوز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قدرتمند</a:t>
            </a:r>
            <a:r>
              <a:rPr lang="en-US" dirty="0"/>
              <a:t> و </a:t>
            </a:r>
            <a:r>
              <a:rPr lang="en-US" dirty="0" err="1"/>
              <a:t>راحت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  <a:r>
              <a:rPr lang="en-US" dirty="0" err="1"/>
              <a:t>بنابراین</a:t>
            </a:r>
            <a:r>
              <a:rPr lang="en-US" dirty="0"/>
              <a:t>، </a:t>
            </a:r>
            <a:r>
              <a:rPr lang="en-US" dirty="0" err="1"/>
              <a:t>به‌جای</a:t>
            </a:r>
            <a:r>
              <a:rPr lang="en-US" dirty="0"/>
              <a:t> </a:t>
            </a:r>
            <a:r>
              <a:rPr lang="en-US" dirty="0" err="1"/>
              <a:t>حذف</a:t>
            </a:r>
            <a:r>
              <a:rPr lang="en-US" dirty="0"/>
              <a:t> SQL، </a:t>
            </a:r>
            <a:r>
              <a:rPr lang="en-US" dirty="0" err="1"/>
              <a:t>تلاش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 </a:t>
            </a:r>
            <a:r>
              <a:rPr lang="en-US" b="1" dirty="0"/>
              <a:t>SQL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معماری‌های</a:t>
            </a:r>
            <a:r>
              <a:rPr lang="en-US" b="1" dirty="0"/>
              <a:t> Big Data و Parallel Computing </a:t>
            </a:r>
            <a:r>
              <a:rPr lang="en-US" b="1" dirty="0" err="1"/>
              <a:t>ترکیب</a:t>
            </a:r>
            <a:r>
              <a:rPr lang="en-US" b="1" dirty="0"/>
              <a:t> </a:t>
            </a:r>
            <a:r>
              <a:rPr lang="en-US" b="1" dirty="0" err="1"/>
              <a:t>شود</a:t>
            </a:r>
            <a:r>
              <a:rPr lang="en-US" b="1" dirty="0"/>
              <a:t>.</a:t>
            </a:r>
            <a:endParaRPr lang="en-US" dirty="0"/>
          </a:p>
          <a:p>
            <a:pPr algn="r" rtl="1"/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همین</a:t>
            </a:r>
            <a:r>
              <a:rPr lang="en-US" dirty="0"/>
              <a:t> </a:t>
            </a:r>
            <a:r>
              <a:rPr lang="en-US" dirty="0" err="1"/>
              <a:t>دلیل</a:t>
            </a:r>
            <a:r>
              <a:rPr lang="en-US" dirty="0"/>
              <a:t> </a:t>
            </a:r>
            <a:r>
              <a:rPr lang="en-US" dirty="0" err="1"/>
              <a:t>اصطلاح</a:t>
            </a:r>
            <a:r>
              <a:rPr lang="en-US" dirty="0"/>
              <a:t>:</a:t>
            </a:r>
          </a:p>
          <a:p>
            <a:pPr algn="r" rtl="1"/>
            <a:r>
              <a:rPr lang="en-US" b="1" dirty="0"/>
              <a:t>SQL Reloaded</a:t>
            </a:r>
            <a:endParaRPr lang="en-US" dirty="0"/>
          </a:p>
          <a:p>
            <a:pPr algn="r" rtl="1"/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b="1" dirty="0" err="1"/>
              <a:t>بازگشت</a:t>
            </a:r>
            <a:r>
              <a:rPr lang="en-US" b="1" dirty="0"/>
              <a:t> SQL</a:t>
            </a:r>
            <a:r>
              <a:rPr lang="en-US" dirty="0"/>
              <a:t> </a:t>
            </a:r>
            <a:r>
              <a:rPr lang="en-US" dirty="0" err="1"/>
              <a:t>مطرح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.</a:t>
            </a:r>
          </a:p>
          <a:p>
            <a:pPr algn="r" rtl="1"/>
            <a:r>
              <a:rPr lang="en-US" b="1" dirty="0"/>
              <a:t>۱. SQL Front-End </a:t>
            </a:r>
            <a:r>
              <a:rPr lang="en-US" b="1" dirty="0" err="1"/>
              <a:t>برای</a:t>
            </a:r>
            <a:r>
              <a:rPr lang="en-US" b="1" dirty="0"/>
              <a:t> </a:t>
            </a:r>
            <a:r>
              <a:rPr lang="en-US" b="1" dirty="0" err="1"/>
              <a:t>سیستم‌های</a:t>
            </a:r>
            <a:r>
              <a:rPr lang="en-US" b="1" dirty="0"/>
              <a:t> MapReduce</a:t>
            </a:r>
          </a:p>
          <a:p>
            <a:pPr algn="r" rtl="1"/>
            <a:r>
              <a:rPr lang="en-US" dirty="0" err="1"/>
              <a:t>ایده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بود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همچنان</a:t>
            </a:r>
            <a:r>
              <a:rPr lang="en-US" dirty="0"/>
              <a:t> </a:t>
            </a:r>
            <a:r>
              <a:rPr lang="en-US" dirty="0" err="1"/>
              <a:t>بتواند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SQL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پشت</a:t>
            </a:r>
            <a:r>
              <a:rPr lang="en-US" dirty="0"/>
              <a:t> </a:t>
            </a:r>
            <a:r>
              <a:rPr lang="en-US" dirty="0" err="1"/>
              <a:t>صحنه</a:t>
            </a:r>
            <a:r>
              <a:rPr lang="en-US" dirty="0"/>
              <a:t>، query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عملیات</a:t>
            </a:r>
            <a:r>
              <a:rPr lang="en-US" dirty="0"/>
              <a:t> </a:t>
            </a:r>
            <a:r>
              <a:rPr lang="en-US" dirty="0" err="1"/>
              <a:t>توزیع‌شده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</a:t>
            </a:r>
          </a:p>
          <a:p>
            <a:pPr algn="r" rtl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332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r" rtl="1"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cs typeface="B Nazanin" panose="00000400000000000000" pitchFamily="2" charset="-78"/>
              </a:rPr>
              <a:t>قابلیت‌های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هوش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مصنوعی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برای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بهینه‌سازی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پرس‌وجوها</a:t>
            </a:r>
            <a:r>
              <a:rPr lang="en-US" dirty="0">
                <a:cs typeface="B Nazanin" panose="00000400000000000000" pitchFamily="2" charset="-78"/>
              </a:rPr>
              <a:t>، </a:t>
            </a:r>
            <a:r>
              <a:rPr lang="en-US" dirty="0" err="1">
                <a:cs typeface="B Nazanin" panose="00000400000000000000" pitchFamily="2" charset="-78"/>
              </a:rPr>
              <a:t>کمک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مدیریت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پایگاه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داده</a:t>
            </a:r>
            <a:r>
              <a:rPr lang="en-US" dirty="0">
                <a:cs typeface="B Nazanin" panose="00000400000000000000" pitchFamily="2" charset="-78"/>
              </a:rPr>
              <a:t> و </a:t>
            </a:r>
            <a:r>
              <a:rPr lang="en-US" dirty="0" err="1">
                <a:cs typeface="B Nazanin" panose="00000400000000000000" pitchFamily="2" charset="-78"/>
              </a:rPr>
              <a:t>ساخت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برنامه‌های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داده‌محور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محصولات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مختلف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اضافه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شدند</a:t>
            </a:r>
            <a:r>
              <a:rPr lang="en-US" dirty="0">
                <a:cs typeface="B Nazanin" panose="00000400000000000000" pitchFamily="2" charset="-78"/>
              </a:rPr>
              <a:t>.</a:t>
            </a:r>
          </a:p>
          <a:p>
            <a:pPr marL="342900" lvl="0" indent="-342900" algn="r" rtl="1"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dirty="0">
                <a:cs typeface="B Nazanin" panose="00000400000000000000" pitchFamily="2" charset="-78"/>
              </a:rPr>
              <a:t>SQL </a:t>
            </a:r>
            <a:r>
              <a:rPr lang="en-US" dirty="0" err="1">
                <a:cs typeface="B Nazanin" panose="00000400000000000000" pitchFamily="2" charset="-78"/>
              </a:rPr>
              <a:t>همچنان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زبان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مهمی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برای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مدیریت</a:t>
            </a:r>
            <a:r>
              <a:rPr lang="en-US" dirty="0">
                <a:cs typeface="B Nazanin" panose="00000400000000000000" pitchFamily="2" charset="-78"/>
              </a:rPr>
              <a:t> و </a:t>
            </a:r>
            <a:r>
              <a:rPr lang="en-US" dirty="0" err="1">
                <a:cs typeface="B Nazanin" panose="00000400000000000000" pitchFamily="2" charset="-78"/>
              </a:rPr>
              <a:t>تحلیل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داده‌ها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باقی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ماند</a:t>
            </a:r>
            <a:r>
              <a:rPr lang="en-US" dirty="0">
                <a:cs typeface="B Nazanin" panose="00000400000000000000" pitchFamily="2" charset="-78"/>
              </a:rPr>
              <a:t> و </a:t>
            </a:r>
            <a:r>
              <a:rPr lang="en-US" dirty="0" err="1">
                <a:cs typeface="B Nazanin" panose="00000400000000000000" pitchFamily="2" charset="-78"/>
              </a:rPr>
              <a:t>در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کنار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آن</a:t>
            </a:r>
            <a:r>
              <a:rPr lang="en-US" dirty="0">
                <a:cs typeface="B Nazanin" panose="00000400000000000000" pitchFamily="2" charset="-78"/>
              </a:rPr>
              <a:t>، </a:t>
            </a:r>
            <a:r>
              <a:rPr lang="en-US" dirty="0" err="1">
                <a:cs typeface="B Nazanin" panose="00000400000000000000" pitchFamily="2" charset="-78"/>
              </a:rPr>
              <a:t>ابزارهای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تخصصی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برای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جست‌وجوی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برداری</a:t>
            </a:r>
            <a:r>
              <a:rPr lang="en-US" dirty="0">
                <a:cs typeface="B Nazanin" panose="00000400000000000000" pitchFamily="2" charset="-78"/>
              </a:rPr>
              <a:t>، </a:t>
            </a:r>
            <a:r>
              <a:rPr lang="en-US" dirty="0" err="1">
                <a:cs typeface="B Nazanin" panose="00000400000000000000" pitchFamily="2" charset="-78"/>
              </a:rPr>
              <a:t>داده‌های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گرافی</a:t>
            </a:r>
            <a:r>
              <a:rPr lang="en-US" dirty="0">
                <a:cs typeface="B Nazanin" panose="00000400000000000000" pitchFamily="2" charset="-78"/>
              </a:rPr>
              <a:t> و </a:t>
            </a:r>
            <a:r>
              <a:rPr lang="en-US" dirty="0" err="1">
                <a:cs typeface="B Nazanin" panose="00000400000000000000" pitchFamily="2" charset="-78"/>
              </a:rPr>
              <a:t>پردازش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توزیع‌شده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گسترش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یافتند</a:t>
            </a:r>
            <a:r>
              <a:rPr lang="en-US" dirty="0"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590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 txBox="1">
            <a:spLocks noGrp="1" noChangeArrowheads="1"/>
          </p:cNvSpPr>
          <p:nvPr/>
        </p:nvSpPr>
        <p:spPr bwMode="auto">
          <a:xfrm>
            <a:off x="3966315" y="8820783"/>
            <a:ext cx="3031385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4F48141-AC33-4BB4-B9B9-0E58D9A72CB1}" type="slidenum">
              <a:rPr lang="en-US" altLang="en-US" sz="1200"/>
              <a:pPr algn="r"/>
              <a:t>43</a:t>
            </a:fld>
            <a:endParaRPr lang="en-US" altLang="en-US" sz="1200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8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a0taghinezhad@gmail.com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0" name="Rectangle 9"/>
          <p:cNvSpPr/>
          <p:nvPr/>
        </p:nvSpPr>
        <p:spPr>
          <a:xfrm>
            <a:off x="-26671" y="6178558"/>
            <a:ext cx="9144001" cy="6794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marL="0" indent="0"/>
            <a:r>
              <a:rPr lang="en-US" sz="18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Website: </a:t>
            </a:r>
            <a:r>
              <a:rPr lang="en-US" sz="18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ataghinezhad</a:t>
            </a:r>
            <a:r>
              <a:rPr lang="en-US" sz="18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.github.io, Email:a0taghinezhad@gmail.com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5240"/>
            <a:ext cx="5475317" cy="6157952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9" y="1136"/>
            <a:ext cx="747712" cy="365760"/>
          </a:xfrm>
        </p:spPr>
        <p:txBody>
          <a:bodyPr/>
          <a:lstStyle>
            <a:lvl1pPr algn="r">
              <a:defRPr sz="135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-1" y="3941143"/>
            <a:ext cx="5040631" cy="2195473"/>
          </a:xfrm>
          <a:solidFill>
            <a:schemeClr val="accent6">
              <a:lumMod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pPr marL="0" indent="0"/>
            <a:r>
              <a:rPr lang="en-US" sz="2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A. </a:t>
            </a:r>
            <a:r>
              <a:rPr lang="en-US" sz="2400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Taghinezhad</a:t>
            </a:r>
            <a:r>
              <a:rPr lang="en-US" sz="2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, Ph.D.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526792"/>
            <a:ext cx="5173884" cy="3345122"/>
          </a:xfrm>
        </p:spPr>
        <p:txBody>
          <a:bodyPr anchor="ctr">
            <a:normAutofit/>
          </a:bodyPr>
          <a:lstStyle>
            <a:lvl1pPr algn="ctr">
              <a:defRPr sz="3600" b="1" cap="none" spc="0">
                <a:ln w="10160">
                  <a:solidFill>
                    <a:schemeClr val="bg1">
                      <a:lumMod val="65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5CD0CE-D72A-4B82-BE8F-AF060BA4D5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16772" y="744634"/>
            <a:ext cx="3751029" cy="47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7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3311" y="6613525"/>
            <a:ext cx="118013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Dr. Taghinezhad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9207D3-2731-462B-8CC6-46B4151E91B3}"/>
              </a:ext>
            </a:extLst>
          </p:cNvPr>
          <p:cNvSpPr txBox="1"/>
          <p:nvPr userDrawn="1"/>
        </p:nvSpPr>
        <p:spPr>
          <a:xfrm>
            <a:off x="468351" y="4799485"/>
            <a:ext cx="77219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7FCFF"/>
                </a:solidFill>
              </a:rPr>
              <a:t>https://ataghinezhad.github.io/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62" r:id="rId10"/>
    <p:sldLayoutId id="2147483758" r:id="rId11"/>
    <p:sldLayoutId id="2147483759" r:id="rId12"/>
    <p:sldLayoutId id="214748376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BE40B6D6-AFB2-4B86-83D1-2A6049B59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96237"/>
            <a:ext cx="5040631" cy="21954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By Dr. Taghinezhad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7A8AAA-0026-416D-89B5-579E6E921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Database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A65FE41-8725-E18E-3EF9-C413EE19B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11811"/>
            <a:ext cx="457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latin typeface="Consolas" panose="020B0609020204030204" pitchFamily="49" charset="0"/>
                <a:cs typeface="Tahoma" panose="020B0604030504040204" pitchFamily="34" charset="0"/>
              </a:rPr>
              <a:t>Scan for More Information: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FBC51-E876-C40B-C723-0BE3DF56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124" y="4393719"/>
            <a:ext cx="1605516" cy="160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0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86265-443A-0798-6BDD-16FF90A5E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405" y="1093788"/>
            <a:ext cx="7799258" cy="5206804"/>
          </a:xfrm>
        </p:spPr>
        <p:txBody>
          <a:bodyPr/>
          <a:lstStyle/>
          <a:p>
            <a:pPr algn="r" rtl="1"/>
            <a:r>
              <a:rPr lang="fa-IR" sz="2800" dirty="0">
                <a:cs typeface="B Nazanin" panose="00000400000000000000" pitchFamily="2" charset="-78"/>
              </a:rPr>
              <a:t>کاربردهای سیستم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هدف از سیستم‌های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 نمایش داده</a:t>
            </a:r>
            <a:r>
              <a:rPr lang="en-US" sz="2800" dirty="0"/>
              <a:t>(View of Data)</a:t>
            </a: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زبان‌های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 طراحی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موتور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معماری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 کاربران و مدیران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>تاریخچه سیستم‌های پایگاه داده</a:t>
            </a:r>
            <a:endParaRPr lang="en-US" sz="2800" dirty="0">
              <a:cs typeface="B Nazanin" panose="00000400000000000000" pitchFamily="2" charset="-78"/>
            </a:endParaRPr>
          </a:p>
          <a:p>
            <a:pPr algn="r" rtl="1"/>
            <a:endParaRPr lang="en-US" sz="20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altLang="en-US" dirty="0">
                <a:effectLst/>
                <a:cs typeface="B Nazanin" panose="00000400000000000000" pitchFamily="50" charset="-78"/>
              </a:rPr>
              <a:t>سیستم‌های پایگاه‌داده</a:t>
            </a:r>
            <a:endParaRPr lang="en-US" altLang="en-US" sz="3200" dirty="0">
              <a:effectLst/>
              <a:cs typeface="B Nazanin" panose="00000400000000000000" pitchFamily="50" charset="-78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3678EAA-83EA-0D52-6FBC-C83CF9893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0" y="949510"/>
            <a:ext cx="8077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 DBMS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شامل اطلاعات مربوط به یک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کمپانی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 خاص است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مجموعه‌ای از داده‌های مرتبط به هم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مجموعه‌ای از برنامه‌ها برای دسترسی به داده‌ها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محیطی که هم مناسب و هم کارآمد برای استفاده باشد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سیستم‌های پایگاه داده برای مدیریت مجموعه‌هایی از داده‌ها استفاده می‌شوند که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بسیار ارزشمند هستند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نسبتاً بزرگ هستند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توسط چندین کاربر و برنامه، اغلب به طور همزمان، دسترسی می‌شوند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یک سیستم پایگاه داده مدرن یک سیستم نرم‌افزاری پیچیده است که وظیفه آن مدیریت یک مجموعه بزرگ و پیچیده از داده‌ها است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پایگاه‌های داده تمام جنبه‌های زندگی ما را تحت تأثیر قرار می‌دهند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نمونه‌های کاربرد پایگاه داده</a:t>
            </a:r>
            <a:endParaRPr lang="en-US" sz="2800" dirty="0">
              <a:effectLst/>
              <a:ea typeface="ＭＳ Ｐゴシック" pitchFamily="34" charset="-128"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F7B69-902F-807C-059D-08B41919E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0" y="714447"/>
            <a:ext cx="757713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اطلاعات سازمانی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فروش: مشتریان، محصولات، خریدها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حسابداری: پرداخت‌ها، دریافت‌ها، دارایی‌ها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منابع انسانی: اطلاعات در مورد کارمندان، حقوق، مالیات بر حقوق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تولید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: مدیریت تولید، موجودی، سفارشات، زنجیره تأمین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 </a:t>
            </a: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بانکداری و امور مالی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اطلاعات مشتری، حساب‌ها، وام‌ها و تراکنش‌های بانکی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تراکنش‌های کارت اعتباری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امور مالی: خرید و فروش ابزارهای مالی (مانند سهام و اوراق قرضه)؛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ذخیره داده‌های بازار در زمان واقعی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50" charset="-78"/>
              </a:rPr>
              <a:t>.</a:t>
            </a: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دانشگاه‌ها</a:t>
            </a:r>
            <a:r>
              <a:rPr kumimoji="0" lang="fa-IR" altLang="en-US" sz="2400" b="1" dirty="0">
                <a:latin typeface="Arial" panose="020B0604020202020204" pitchFamily="34" charset="0"/>
                <a:cs typeface="B Nazanin" panose="00000400000000000000" pitchFamily="50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50" charset="-78"/>
              </a:rPr>
              <a:t>ثبت‌نام، نمرات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50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نمونه‌های کاربرد پایگاه داده (ادامه)</a:t>
            </a:r>
            <a:endParaRPr lang="en-US" sz="2800" dirty="0">
              <a:effectLst/>
              <a:ea typeface="ＭＳ Ｐゴシック" pitchFamily="34" charset="-128"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5DFE6-EB80-537E-9861-B7E0FF899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681" y="950265"/>
            <a:ext cx="75623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خطوط هوایی</a:t>
            </a:r>
            <a:r>
              <a:rPr kumimoji="0" lang="fa-IR" altLang="en-US" sz="2400" b="1" dirty="0"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رزرو، برنامه‌ها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fa-IR" alt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مخابرات</a:t>
            </a:r>
            <a:r>
              <a:rPr kumimoji="0" lang="fa-IR" altLang="en-US" sz="2400" b="1" dirty="0"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سوابق تماس‌ها، پیامک‌ها و مصرف داده، تولید صورت‌حساب‌های ماهانه، حفظ موجودی کارت‌های اعتباری پیش‌پرداخت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خدمات مبتنی بر وب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خرده‌فروشان آنلاین: پیگیری سفارش، توصیه‌های شخصی‌سازی شده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تبلیغات آنلاین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lang="fa-IR" sz="2400" b="1" dirty="0">
                <a:cs typeface="B Nazanin" panose="00000400000000000000" pitchFamily="2" charset="-78"/>
              </a:rPr>
              <a:t>پایگاه‌های داده اسناد </a:t>
            </a:r>
            <a:r>
              <a:rPr lang="en-US" sz="2400" b="1" dirty="0">
                <a:cs typeface="B Nazanin" panose="00000400000000000000" pitchFamily="2" charset="-78"/>
              </a:rPr>
              <a:t>Document databases)</a:t>
            </a:r>
            <a:r>
              <a:rPr lang="fa-IR" sz="2400" b="1" dirty="0">
                <a:cs typeface="+mn-cs"/>
              </a:rPr>
              <a:t>)</a:t>
            </a:r>
          </a:p>
          <a:p>
            <a:pPr marL="0" lvl="0" indent="0" algn="r" rtl="1">
              <a:spcBef>
                <a:spcPct val="0"/>
              </a:spcBef>
              <a:buClrTx/>
              <a:buSzTx/>
              <a:buFontTx/>
              <a:buChar char="•"/>
            </a:pPr>
            <a:endParaRPr lang="fa-IR" sz="2400" dirty="0">
              <a:cs typeface="+mn-cs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lang="fa-IR" sz="2400" b="1" dirty="0">
                <a:cs typeface="B Nazanin" panose="00000400000000000000" pitchFamily="2" charset="-78"/>
              </a:rPr>
              <a:t>سیستم‌های ناوبری:</a:t>
            </a:r>
            <a:r>
              <a:rPr lang="fa-IR" sz="2400" dirty="0">
                <a:cs typeface="B Nazanin" panose="00000400000000000000" pitchFamily="2" charset="-78"/>
              </a:rPr>
              <a:t> برای نگهداری مکان‌های مختلف مورد علاقه همراه با مسیرهای دقیق جاده‌ها، سیستم‌های قطار، اتوبوس‌ها و غیره.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هدف از سیستم‌های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در روزهای اولیه، برنامه‌های پایگاه داده مستقیماً بر روی سیستم‌های فایل ساخته می‌شدند، که منجر به موارد زیر می‌شد:</a:t>
            </a:r>
          </a:p>
          <a:p>
            <a:pPr algn="r" rtl="1"/>
            <a:endParaRPr kumimoji="1" lang="en-US" altLang="en-US" sz="2400" dirty="0">
              <a:latin typeface="+mn-lt"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68DAED-13DC-93CF-77EE-CE0E8A08BB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197" y="2096379"/>
            <a:ext cx="80771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تکرار و عدم سازگاری داده‌ها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 در چندین قالب فایل ذخیره می‌شوند که منجر به تکثیر اطلاعات در فایل‌های مختلف می‌شود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دشواری در دسترسی به داده‌ها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نیاز به نوشتن یک برنامه جدید برای انجام هر کار جدید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انزوای داده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isolation)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فایل‌ها و فرمت‌های متعدد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مشکلات یکپارچگی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(Integrity problems)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محدودیت‌های یکپارچگی (مانند موجودی حساب &gt; 0) به جای اینکه صراحتاً بیان شوند، "مدفون" در کد برنامه می‌شوند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افزودن محدودیت‌های جدید یا تغییر محدودیت‌های موجود سخت است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-36311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هدف از سیستم‌های پایگاه داده (ادامه)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DF97-A992-84D9-1B46-BA009558ED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0" y="699406"/>
            <a:ext cx="7930764" cy="5459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اتمی بودن به‌روزرسانی‌ها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(Atomicity of updates)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ممکن است خطاها پایگاه داده را در یک حالت ناسازگار با به‌روزرسانی‌های جزئی انجام شده باقی بگذارند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مثال: انتقال وجه از یک حساب به حساب دیگر باید یا به طور کامل انجام شود یا اصلاً اتفاق نیفتد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دسترسی همزمان توسط چندین کاربر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دسترسی همزمان برای عملکرد مورد نیاز است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دسترسی‌های همزمان کنترل نشده می‌تواند منجر به عدم سازگاری شود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مثال: دو نفر به طور همزمان یک موجودی (مثلاً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۱۰۰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) را می‌خوانند و آن را با برداشت پول (مثلاً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۵۰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برای هر کدام) به‌روزرسانی می‌کنند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مشکلات امنیتی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سخت است که به کاربر اجازه دسترسی به برخی از داده‌ها، و نه همه آن‌ها، داده شود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25000"/>
                  </a:schemeClr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 پایگاه داده راه‌حل‌هایی برای همه مشکلات فوق ارائه می‌دهند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25000"/>
                  </a:schemeClr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مثال پایگاه داده دانشگاه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A2098F-528A-CF5A-74C3-E064DB0D43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686" y="939648"/>
            <a:ext cx="7517714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این متن ما از یک پایگاه داده دانشگاهی برای توضیح همه مفاهیم استفاده خواهیم کرد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 شامل اطلاعات در مورد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دانشجویان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اساتید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کلاس‌ها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نمونه‌های برنامه کاربردی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افزودن دانشجویان، اساتید و دوره‌های جدید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ثبت‌نام دانشجویان در دوره‌ها و تولید فهرست کلاس‌ها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اختصاص نمرات به دانشجویان، محاسبه میانگین نمرات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(GPA)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تولید کارنامه‌ها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نمایش داده </a:t>
            </a:r>
            <a:r>
              <a:rPr lang="en-US" dirty="0">
                <a:cs typeface="B Nazanin" panose="00000400000000000000" pitchFamily="2" charset="-78"/>
              </a:rPr>
              <a:t>View of Data)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01A4F-9268-7A64-B99C-8C193CF5E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30" y="1011096"/>
            <a:ext cx="8706540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سیستم پایگاه داده مجموعه‌ای از داده‌های مرتبط به هم و مجموعه‌ای از برنامه‌ها است که به کاربران اجازه می‌دهد تا به این داده‌ها دسترسی پیدا کرده و آن‌ها را تغییر دهند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هدف اصلی از سیستم پایگاه داده ارائه یک 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نمای انتزاعی از داده‌ها به کاربران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است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مدل‌های داده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models)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مجموعه‌ای از ابزارهای مفهومی برای توصیف داده‌ها، روابط داده‌ها، معناشناسی داده‌ها و محدودیت‌های سازگاری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R="0" lvl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انتزاع داده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abstraction)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پنهان کردن پیچیدگی ساختارهای داده برای نمایش داده‌ها در پایگاه داده از کاربران از طریق چندین سط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ح.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مدل‌های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7A771-8ADB-D656-C78B-B738949AE9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969" y="573188"/>
            <a:ext cx="8262062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مجموعه‌ای از ابزارها برای توصیف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روابط 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معناشناسی 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محدودیت‌های 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رابطه‌ای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(Relational model)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داده موجودیت-رابطه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(Entity-Relationship data model)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عمدتاً برای طراحی پایگاه داده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مدل‌های داده مبتنی بر شیء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(Object-based data models) 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شیء-گرا و شیء-رابطه‌ای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داده نیمه‌ساخت‌یافته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(Semi-structured data model) (XML)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سایر مدل‌های قدیمی‌تر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شبکه‌ای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(Network model)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سلسله‌مراتبی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(Hierarchical model)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مدل رابطه‌ای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4330436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057993" y="5374285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842C86-49CE-8998-D67E-AB8A54F0E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7477" y="891462"/>
            <a:ext cx="4822153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تمام داده‌ها در جداول مختلف ذخیره می‌شوند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 داده‌های جدولی در مدل رابطه‌ای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یک نمونه پایگاه داده رابطه‌ای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0729" y="727075"/>
            <a:ext cx="3532441" cy="59277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سطوح انتزاع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720646-2660-3F11-35A1-6DE11E2B6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46371" y="1233202"/>
            <a:ext cx="9190371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سطح فیزیکی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(Physical level)</a:t>
            </a:r>
            <a:r>
              <a:rPr kumimoji="0" lang="fa-IR" altLang="en-US" sz="2400" b="1" dirty="0"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توصیف می‌کند که یک رکورد (به عنوان مثال، استاد) چگونه ذخیره می‌شود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just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سطح منطقی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(Logical level)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داده‌های ذخیره‌شده در پایگاه داده و روابط میان داده‌ها را توصیف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instructor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record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B Nazanin" panose="00000400000000000000" pitchFamily="2" charset="-78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: string;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		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	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: string;	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    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         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dept_name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: string;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          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salary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: integer;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B Nazanin" panose="00000400000000000000" pitchFamily="2" charset="-78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B Nazanin" panose="00000400000000000000" pitchFamily="2" charset="-78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B Nazanin" panose="00000400000000000000" pitchFamily="2" charset="-78"/>
              </a:rPr>
              <a:t> </a:t>
            </a:r>
            <a:endParaRPr kumimoji="0" lang="fa-IR" altLang="en-US" sz="2400" dirty="0">
              <a:cs typeface="B Nazanin" panose="000004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B Nazanin" panose="00000400000000000000" pitchFamily="2" charset="-78"/>
              </a:rPr>
              <a:t>    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سطح نما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(View level)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 کاربردی جزئیات انواع داده را پنهان می‌کنند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نماها همچنین می‌توانند اطلاعات (مانند حقوق کارمند) را برای اهداف امنیتی پنهان کنند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نمای داده </a:t>
            </a:r>
            <a:r>
              <a:rPr lang="en-US" dirty="0">
                <a:cs typeface="B Nazanin" panose="00000400000000000000" pitchFamily="2" charset="-78"/>
              </a:rPr>
              <a:t>View of Data)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3085722" y="1322236"/>
            <a:ext cx="57598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rtl="1">
              <a:spcBef>
                <a:spcPct val="50000"/>
              </a:spcBef>
            </a:pPr>
            <a:r>
              <a:rPr lang="fa-IR" sz="3200" dirty="0">
                <a:cs typeface="B Nazanin" panose="00000400000000000000" pitchFamily="50" charset="-78"/>
              </a:rPr>
              <a:t>یک معماری برای یک سیستم پایگاه داده</a:t>
            </a:r>
            <a:endParaRPr lang="en-US" altLang="en-US" sz="2800" dirty="0">
              <a:cs typeface="B Nazanin" panose="00000400000000000000" pitchFamily="50" charset="-78"/>
            </a:endParaRPr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109" y="2502172"/>
            <a:ext cx="5012055" cy="29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نمونه‌ها و طرح‌ها </a:t>
            </a:r>
            <a:r>
              <a:rPr lang="en-US" dirty="0">
                <a:cs typeface="B Nazanin" panose="00000400000000000000" pitchFamily="2" charset="-78"/>
              </a:rPr>
              <a:t>Instances and Schemas)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F2128E-1229-0ED6-5FFE-C65474E144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900" y="1385809"/>
            <a:ext cx="837565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شبیه به انواع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(types)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متغیرها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(variables)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زبان‌های برنامه‌نویسی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طرح‌ منطقی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(Logical Schema)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ساختار منطقی کلی پایگاه داده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مثال: پایگاه داده شامل اطلاعاتی در مورد مجموعه‌ای از مشتریان و حساب‌ها در یک بانک و رابطه بین آن‌ها است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مشابه اطلاعات نوع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(type information)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متغیر در یک برنامه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طرح‌ فیزیکی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(Physical schema)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ساختار فیزیکی کلی پایگاه داده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نمونه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(Instance)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محتوای واقعی پایگاه داده در یک نقطه زمانی خاص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مشابه با مقدار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(value)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متغیر</a:t>
            </a:r>
            <a:r>
              <a:rPr kumimoji="0" lang="fa-IR" altLang="en-US" sz="24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استقلال فیزیکی داده </a:t>
            </a:r>
            <a:r>
              <a:rPr lang="en-US" dirty="0">
                <a:cs typeface="B Nazanin" panose="00000400000000000000" pitchFamily="2" charset="-78"/>
              </a:rPr>
              <a:t>Physical Data Independence)</a:t>
            </a:r>
            <a:r>
              <a:rPr lang="fa-IR" dirty="0">
                <a:cs typeface="+mn-cs"/>
              </a:rPr>
              <a:t>)</a:t>
            </a:r>
            <a:endParaRPr lang="en-US" dirty="0"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90646-1F07-FB3B-2C01-18C33E6546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566952"/>
            <a:ext cx="80772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tabLst/>
            </a:pPr>
            <a:r>
              <a:rPr kumimoji="0" lang="ar-SA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استقلال </a:t>
            </a:r>
            <a:r>
              <a:rPr kumimoji="0" lang="fa-IR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فیزیکی</a:t>
            </a:r>
            <a:r>
              <a:rPr kumimoji="0" lang="fa-IR" altLang="en-US" sz="3200" b="1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داده</a:t>
            </a:r>
            <a:r>
              <a:rPr kumimoji="0" lang="fa-IR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توانایی اصلاح طرح‌ فیزیکی بدون تغییر طرح‌ منطقی</a:t>
            </a:r>
            <a:r>
              <a:rPr kumimoji="0" lang="fa-IR" altLang="en-US" sz="32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 کاربردی به طرح‌ منطقی وابسته هستند</a:t>
            </a:r>
            <a:r>
              <a:rPr kumimoji="0" lang="fa-IR" altLang="en-US" sz="28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857250" lvl="1" indent="-4572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طور کلی، واسط‌های بین سطوح و مولفه‌های مختلف باید به خوبی تعریف شوند تا تغییرات در برخی قسمت‌ها به طور جدی بر دیگر قسمت‌ها تأثیر نگذارد</a:t>
            </a:r>
            <a:r>
              <a:rPr kumimoji="0" lang="fa-IR" altLang="en-US" sz="28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زبان تعریف داده </a:t>
            </a:r>
            <a:r>
              <a:rPr lang="en-US" dirty="0">
                <a:cs typeface="B Nazanin" panose="00000400000000000000" pitchFamily="2" charset="-78"/>
              </a:rPr>
              <a:t>Data Definition Language - DDL)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474941-0A5D-7E31-CE1E-E40A1740D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3954" y="573187"/>
            <a:ext cx="8530046" cy="605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نماد مشخصات برای تعریف 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شمای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پایگاه داده</a:t>
            </a:r>
            <a:r>
              <a:rPr kumimoji="0" lang="en-US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lvl="1">
              <a:buFont typeface="Monotype Sorts" charset="2"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altLang="en-US" sz="1800" dirty="0"/>
              <a:t>	</a:t>
            </a:r>
            <a:r>
              <a:rPr lang="en-US" altLang="en-US" sz="1800" b="1" dirty="0"/>
              <a:t>create table</a:t>
            </a:r>
            <a:r>
              <a:rPr lang="en-US" altLang="en-US" sz="1800" dirty="0"/>
              <a:t> </a:t>
            </a:r>
            <a:r>
              <a:rPr lang="en-US" altLang="en-US" sz="1800" i="1" dirty="0"/>
              <a:t>instructor</a:t>
            </a:r>
            <a:r>
              <a:rPr lang="en-US" altLang="en-US" sz="1800" dirty="0"/>
              <a:t> (</a:t>
            </a:r>
            <a:br>
              <a:rPr lang="en-US" altLang="en-US" sz="1800" dirty="0"/>
            </a:br>
            <a:r>
              <a:rPr lang="en-US" altLang="en-US" sz="1800" dirty="0"/>
              <a:t>                             </a:t>
            </a:r>
            <a:r>
              <a:rPr lang="en-US" altLang="en-US" sz="1800" i="1" dirty="0"/>
              <a:t>ID</a:t>
            </a:r>
            <a:r>
              <a:rPr lang="en-US" altLang="en-US" sz="1800" dirty="0"/>
              <a:t>                </a:t>
            </a:r>
            <a:r>
              <a:rPr lang="en-US" altLang="en-US" sz="1800" b="1" dirty="0"/>
              <a:t>char</a:t>
            </a:r>
            <a:r>
              <a:rPr lang="en-US" altLang="en-US" sz="1800" dirty="0"/>
              <a:t>(5),</a:t>
            </a:r>
            <a:br>
              <a:rPr lang="en-US" altLang="en-US" sz="1800" dirty="0"/>
            </a:br>
            <a:r>
              <a:rPr lang="en-US" altLang="en-US" sz="1800" dirty="0"/>
              <a:t>                             </a:t>
            </a:r>
            <a:r>
              <a:rPr lang="en-US" altLang="en-US" sz="1800" i="1" dirty="0"/>
              <a:t>name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</a:t>
            </a:r>
            <a:r>
              <a:rPr lang="en-US" altLang="en-US" sz="1800" b="1" dirty="0"/>
              <a:t>,</a:t>
            </a:r>
            <a:br>
              <a:rPr lang="en-US" altLang="en-US" sz="1800" b="1" i="1" dirty="0"/>
            </a:br>
            <a:r>
              <a:rPr lang="en-US" altLang="en-US" sz="1800" b="1" i="1" dirty="0"/>
              <a:t>                             </a:t>
            </a:r>
            <a:r>
              <a:rPr lang="en-US" altLang="en-US" sz="1800" i="1" dirty="0" err="1"/>
              <a:t>dept_name</a:t>
            </a:r>
            <a:r>
              <a:rPr lang="en-US" altLang="en-US" sz="1800" i="1" dirty="0"/>
              <a:t>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(20),</a:t>
            </a:r>
            <a:br>
              <a:rPr lang="en-US" altLang="en-US" sz="1800" dirty="0"/>
            </a:br>
            <a:r>
              <a:rPr lang="en-US" altLang="en-US" sz="1800" dirty="0"/>
              <a:t>                             </a:t>
            </a:r>
            <a:r>
              <a:rPr lang="en-US" altLang="en-US" sz="1800" i="1" dirty="0"/>
              <a:t>salary</a:t>
            </a:r>
            <a:r>
              <a:rPr lang="en-US" altLang="en-US" sz="1800" dirty="0"/>
              <a:t>           </a:t>
            </a:r>
            <a:r>
              <a:rPr lang="en-US" altLang="en-US" sz="1800" b="1" dirty="0"/>
              <a:t>numeric</a:t>
            </a:r>
            <a:r>
              <a:rPr lang="en-US" altLang="en-US" sz="1800" dirty="0"/>
              <a:t>(8,2)</a:t>
            </a:r>
          </a:p>
          <a:p>
            <a:pPr lvl="1">
              <a:buFont typeface="Monotype Sorts" charset="2"/>
              <a:buNone/>
            </a:pPr>
            <a:r>
              <a:rPr lang="en-US" altLang="en-US" sz="1800" dirty="0"/>
              <a:t>				)</a:t>
            </a:r>
          </a:p>
          <a:p>
            <a:pPr lvl="1">
              <a:buFont typeface="Monotype Sorts" charset="2"/>
              <a:buNone/>
            </a:pPr>
            <a:endParaRPr lang="en-US" altLang="en-US" sz="1800" dirty="0"/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کامپایلر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DDL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مجموعه‌ای از الگوهای جدول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(table templates)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تولید می‌کند که در یک دیکشنری 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dictionary)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ذخیره می‌شوند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دیکشنری داده حاوی فراداده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(metadata)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است (یعنی داده‌ها در مورد داده‌ها)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طرح‌ پایگاه داده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محدودیت‌های یکپارچگی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(Integrity constraints)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00100" lvl="2" indent="0" algn="r" rtl="1"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کلید اصلی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(Primary key) (ID </a:t>
            </a:r>
            <a:r>
              <a:rPr kumimoji="0" lang="en-US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)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طور منحصربه‌فرد اساتید را شناسایی می‌کند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احراز هویت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(Authorization)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00100" lvl="2" indent="0" algn="r" rtl="1"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چه کسی می‌تواند به چه چیزی دسترسی داشته باشد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02886" y="204340"/>
            <a:ext cx="8714920" cy="7722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زبان دستکاری داده </a:t>
            </a:r>
            <a:r>
              <a:rPr lang="en-US" dirty="0">
                <a:cs typeface="B Nazanin" panose="00000400000000000000" pitchFamily="2" charset="-78"/>
              </a:rPr>
              <a:t>Data Manipulation Language - DML)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37D969-3276-A81A-559A-792484EA3B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886" y="844961"/>
            <a:ext cx="833822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زبانی برای دسترسی و به‌روزرسانی داده‌هایی که توسط مدل داده مناسب سازماندهی شده‌اند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rgbClr val="FF9933"/>
              </a:buClr>
              <a:buSzTx/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DML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عنوان زبان پرس و جو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(query language)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نیز شناخته می‌شود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indent="-342900" algn="r" rtl="1">
              <a:spcBef>
                <a:spcPct val="0"/>
              </a:spcBef>
              <a:buClr>
                <a:srgbClr val="FF9933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indent="0" algn="r" rtl="1">
              <a:spcBef>
                <a:spcPct val="0"/>
              </a:spcBef>
              <a:buClrTx/>
              <a:buSzTx/>
              <a:buNone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اساساً دو نوع زبان دستکاری داده وجود دارد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رویه‌ای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(Procedural DML)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از کاربر می‌خواهد مشخص کند که چه داده‌هایی مورد نیاز است و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چگونه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آن داده‌ها را بدست آورد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اعلانی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(Declarative DML)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از کاربر می‌خواهد مشخص کند که چه داده‌هایی مورد نیاز است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بدون تعیین چگونگی بدست آوردن آن داده‌ها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DML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های اعلانی معمولاً یادگیری و استفاده آسان‌تری نسبت به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های رویه‌ای دارند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DML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های اعلانی به عنوان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های غیررویه‌ای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(non-procedural DMLs)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نیز شناخته می‌شوند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بخشی از یک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که شامل بازیابی اطلاعات است، زبان پرس و جو نامیده می‌شود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7952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زبان پرس و جو </a:t>
            </a:r>
            <a:r>
              <a:rPr lang="en-US" dirty="0">
                <a:cs typeface="B Nazanin" panose="00000400000000000000" pitchFamily="2" charset="-78"/>
              </a:rPr>
              <a:t>SQL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162974-2825-0EF2-BFDC-254898F5A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11210" y="679574"/>
            <a:ext cx="9144000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زبان پرس و جو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غیررویه‌ای است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پرس و جو چندین جدول (احتمالاً فقط یکی) را به عنوان ورودی می‌گیرد و همیشه یک جدول واحد را برمی‌گرداند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مثال برای پیدا کردن همه اساتید در دپارتمان علوم کامپیوتر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>
              <a:buNone/>
              <a:tabLst>
                <a:tab pos="983456" algn="l"/>
              </a:tabLst>
            </a:pPr>
            <a:r>
              <a:rPr lang="en-US" altLang="en-US" sz="2000" b="1" dirty="0"/>
              <a:t>		select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 err="1"/>
              <a:t>dept_name</a:t>
            </a:r>
            <a:r>
              <a:rPr lang="en-US" altLang="en-US" sz="2000" i="1" dirty="0"/>
              <a:t> =</a:t>
            </a:r>
            <a:r>
              <a:rPr lang="en-US" altLang="en-US" sz="2000" dirty="0"/>
              <a:t> </a:t>
            </a:r>
            <a:r>
              <a:rPr lang="en-US" altLang="ja-JP" sz="2000" dirty="0"/>
              <a:t>'Comp. Sci.‘</a:t>
            </a:r>
            <a:endParaRPr lang="fa-IR" altLang="ja-JP" sz="2000" dirty="0"/>
          </a:p>
          <a:p>
            <a:pPr>
              <a:buNone/>
              <a:tabLst>
                <a:tab pos="983456" algn="l"/>
              </a:tabLst>
            </a:pPr>
            <a:endParaRPr lang="en-US" altLang="en-US" sz="2000" dirty="0"/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SQL 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معادل یک ماشین تورینگ نیست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اینکه بتوان توابع پیچیده را محاسبه کرد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معمولاً در یک زبان سطح بالاتر تعبیه می‌شود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 کاربردی عموماً از طریق یکی از موارد زیر به پایگاه‌های داده دسترسی پیدا می‌کنند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rgbClr val="FF9933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افزونه‌های زبان برای اجازه دادن به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تعبیه‌شده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(embedded SQL)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indent="-342900" algn="r" rtl="1">
              <a:spcBef>
                <a:spcPct val="0"/>
              </a:spcBef>
              <a:buClr>
                <a:srgbClr val="FF9933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rgbClr val="FF9933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واسط برنامه کاربردی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(Application program interface)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مانند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ODBC/JDBC)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که به پرس و جوهای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اجازه می‌دهد به پایگاه داده ارسال شوند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دسترسی به پایگاه داده از برنامه کاربردی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A95197-D96A-C2A2-96D8-BDA9696E77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1592" y="956539"/>
            <a:ext cx="866683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زبان‌های پرس و جو غیررویه‌ای مانند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اندازه یک ماشین تورینگ جهانی قدرتمند نیستند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SQL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از اعمالی مانند ورودی از کاربران، خروجی به نمایشگرها، یا ارتباط از طریق شبکه پشتیبانی نمی‌کند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چنین محاسبات و اعمالی باید در یک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زبان میزبان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(host language)،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مانند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C/C++،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Java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یا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Python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با پرس و جوهای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تعبیه‌شده که به داده‌ها در پایگاه داده دسترسی پیدا می‌کنند، نوشته شوند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 کاربردی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(Application programs)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برنامه‌هایی هستند که برای تعامل با پایگاه داده به این شیوه استفاده می‌شوند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835153" y="-71909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طراحی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81643" y="727075"/>
            <a:ext cx="88307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rtl="1">
              <a:buFont typeface="Monotype Sorts" charset="2"/>
              <a:buNone/>
            </a:pPr>
            <a:r>
              <a:rPr lang="fa-IR" sz="2400" dirty="0">
                <a:cs typeface="B Nazanin" panose="00000400000000000000" pitchFamily="50" charset="-78"/>
              </a:rPr>
              <a:t>فرآیند طراحی ساختار کلی پایگاه داده:</a:t>
            </a:r>
            <a:endParaRPr lang="en-US" altLang="en-US" sz="2400" dirty="0">
              <a:cs typeface="B Nazanin" panose="00000400000000000000" pitchFamily="50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7E73D9-FFE9-A0A0-BBB2-2DAF336894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643" y="957907"/>
            <a:ext cx="883071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طراحی منطقی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(Logical Design)</a:t>
            </a:r>
            <a:r>
              <a:rPr kumimoji="0" lang="fa-IR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تصمیم‌گیری در مورد طرح‌واره پایگاه داده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طراحی پایگاه داده مستلزم یافتن مجموعه‌ای "خوب" از طرح‌‌های رابطه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(relation schemas)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است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تصمیم کسب و کار: چه صفاتی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(attributes)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باید در پایگاه داده ثبت کنیم؟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تصمیم علوم کامپیوتر: چه طرح‌واره‌های رابطه‌ای باید داشته باشیم و چگونه صفات باید بین طرح‌واره‌های مختلف رابطه توزیع شوند؟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endParaRPr kumimoji="0" lang="fa-IR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طراحی فیزیکی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(Physical Design)</a:t>
            </a:r>
            <a:r>
              <a:rPr kumimoji="0" lang="fa-IR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تصمیم‌گیری در مورد چیدمان فیزیکی پایگاه داده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موتور پایگاه داده </a:t>
            </a:r>
            <a:r>
              <a:rPr lang="en-US" dirty="0">
                <a:cs typeface="B Nazanin" panose="00000400000000000000" pitchFamily="2" charset="-78"/>
              </a:rPr>
              <a:t>Database Engine)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2B255B-41E2-A9AF-E00C-84288C6C3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175" y="1003264"/>
            <a:ext cx="837565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سیستم پایگاه داده به ماژول‌هایی تقسیم می‌شود که هر یک از مسئولیت‌های سیستم کلی را مدیریت می‌کنند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مولفه‌های عملیاتی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functional components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سیستم پایگاه داده را می‌توان به موارد زیر تقسیم کرد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ذخیره‌سازی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(The storage manager) 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 پردازشگر پرس و جو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(The query processor component) </a:t>
            </a:r>
            <a:endParaRPr kumimoji="0" lang="fa-I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 مدیریت تراکنش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(The transaction management component)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مدیر ذخیره‌سازی </a:t>
            </a:r>
            <a:r>
              <a:rPr lang="en-US" dirty="0">
                <a:cs typeface="B Nazanin" panose="00000400000000000000" pitchFamily="2" charset="-78"/>
              </a:rPr>
              <a:t>Storage Manager)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2E543C-CC65-C72F-4881-9F33C6D39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498" y="811444"/>
            <a:ext cx="882325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ماژول برنامه‌ای است که واسطی بین داده‌های سطح پایین ذخیره شده در پایگاه داده و برنامه‌های کاربردی و پرس و جوهای ارسال شده به سیستم فراهم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ذخیره‌سازی مسئول وظایف زیر است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تعامل با مدیر فایل سیستم عامل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(OS file manager)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57250" lvl="1" indent="-4572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ذخیره‌سازی، بازیابی و به‌روزرسانی کارآمد داده‌ها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400050" lvl="1" indent="0" algn="r" rtl="1">
              <a:spcBef>
                <a:spcPct val="0"/>
              </a:spcBef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مولفه‌های مدیر ذخیره‌سازی شامل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احراز هویت و یکپارچگی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(Authorization and integrity manager)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تراکنش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(Transaction manager)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فایل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(File manager) 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بافر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(Buffer manager)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sz="3600" dirty="0">
                <a:cs typeface="B Nazanin" panose="00000400000000000000" pitchFamily="2" charset="-78"/>
              </a:rPr>
              <a:t>مدیر ذخیره‌سازی (ادامه)</a:t>
            </a:r>
            <a:endParaRPr lang="en-US" altLang="en-US" sz="36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48080-0AF3-80E7-7E4A-D94D6F05D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991" y="953105"/>
            <a:ext cx="851430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spcBef>
                <a:spcPct val="0"/>
              </a:spcBef>
              <a:buClrTx/>
              <a:buSzTx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ذخیره‌سازی چندین ساختار داده را به عنوان بخشی از پیاده‌سازی سیستم فیزیکی پیاده‌سازی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فایل‌های داده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files)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خود پایگاه داده را ذخیره می‌کنند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دیکشنری داده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dictionary)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فراداده در مورد ساختار پایگاه داده، به ویژه طرح‌واره پایگاه داده، را ذخیره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شاخص‌ها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(Indices)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می‌توانند دسترسی سریع به اقلام داده را فراهم کنند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spcBef>
                <a:spcPct val="0"/>
              </a:spcBef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indent="-342900" algn="r" rtl="1">
              <a:spcBef>
                <a:spcPct val="0"/>
              </a:spcBef>
              <a:buClr>
                <a:srgbClr val="00B050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شاخص پایگاه داده به آن اقلام داده‌ای اشاره می‌کند که یک مقدار خاص را نگه می‌دارند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پردازشگر پرس و جو </a:t>
            </a:r>
            <a:r>
              <a:rPr lang="en-US" dirty="0">
                <a:cs typeface="B Nazanin" panose="00000400000000000000" pitchFamily="2" charset="-78"/>
              </a:rPr>
              <a:t>Query Processor)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F35686-D57B-307F-CE4A-BA4DD22533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3403" y="727075"/>
            <a:ext cx="846214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مولفه‌های پردازشگر پرس و جو شامل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مفسر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DDL (DDL interpreter)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دستورات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DDL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تفسیر کرده و تعاریف را در دیکشنری داده ثبت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کامپایلر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(DML compiler)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دستورات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در یک زبان پرس و جو به یک طرح ارزیابی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(evaluation plan)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ترجمه می‌کند که شامل دستورالعمل‌های سطح پایینی است که موتور ارزیابی پرس و جو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(query evaluation engine)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می‌فهمد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1257300" lvl="3" indent="0" algn="r" rtl="1">
              <a:spcBef>
                <a:spcPct val="0"/>
              </a:spcBef>
              <a:buClr>
                <a:srgbClr val="00B050"/>
              </a:buClr>
              <a:buFontTx/>
              <a:buChar char="•"/>
            </a:pP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کامپایلر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بهینه‌سازی پرس و جو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(query optimization)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انجام می‌دهد؛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یعنی کم‌هزینه‌ترین طرح ارزیابی را از بین گزینه‌های مختلف انتخاب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R="0" lvl="1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موتور ارزیابی پرس و جو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(Query evaluation engine)</a:t>
            </a:r>
            <a:r>
              <a:rPr kumimoji="0" lang="fa-I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دستورالعمل‌های سطح پایین تولید شده توسط کامپایلر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DML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اجرا می‌کند</a:t>
            </a:r>
            <a:r>
              <a:rPr kumimoji="0" lang="fa-I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پردازش پرس و جو </a:t>
            </a:r>
            <a:r>
              <a:rPr lang="en-US" dirty="0">
                <a:cs typeface="B Nazanin" panose="00000400000000000000" pitchFamily="2" charset="-78"/>
              </a:rPr>
              <a:t>Query Processing)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02" y="2407973"/>
            <a:ext cx="7134118" cy="4285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FE81CA-DE27-BA1F-508E-53C8452502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5483" y="897743"/>
            <a:ext cx="5630067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تجزیه و ترجمه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(Parsing and translation) </a:t>
            </a:r>
          </a:p>
          <a:p>
            <a:pPr marL="514350" marR="0" lvl="0" indent="-5143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(Optimization) </a:t>
            </a:r>
          </a:p>
          <a:p>
            <a:pPr marL="514350" marR="0" lvl="0" indent="-5143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ارزیابی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(Evaluation) </a:t>
            </a:r>
          </a:p>
        </p:txBody>
      </p:sp>
    </p:spTree>
  </p:cSld>
  <p:clrMapOvr>
    <a:masterClrMapping/>
  </p:clrMapOvr>
  <p:transition advTm="152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D793-F2AE-196C-B9BC-39B4ED2D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93E6651F-B4D4-3D4B-163C-476ABFF85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پردازش پرس و جو </a:t>
            </a:r>
            <a:r>
              <a:rPr lang="en-US" dirty="0">
                <a:cs typeface="B Nazanin" panose="00000400000000000000" pitchFamily="2" charset="-78"/>
              </a:rPr>
              <a:t>Query Processing)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AB5AB1-2879-DBA2-02B9-72B8634A6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41511" y="1462898"/>
            <a:ext cx="704039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2C21-DC13-DAD9-793A-5E1EBB5F7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58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51430"/>
      </p:ext>
    </p:extLst>
  </p:cSld>
  <p:clrMapOvr>
    <a:masterClrMapping/>
  </p:clrMapOvr>
  <p:transition advTm="152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مدیریت تراکنش </a:t>
            </a:r>
            <a:r>
              <a:rPr lang="en-US" dirty="0">
                <a:cs typeface="B Nazanin" panose="00000400000000000000" pitchFamily="2" charset="-78"/>
              </a:rPr>
              <a:t>Transaction Management)</a:t>
            </a:r>
            <a:r>
              <a:rPr lang="fa-IR" dirty="0">
                <a:cs typeface="+mn-cs"/>
              </a:rPr>
              <a:t>)</a:t>
            </a:r>
            <a:endParaRPr lang="en-US" altLang="en-US" dirty="0">
              <a:effectLst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2AF884-F355-6091-855C-0AA394921D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641" y="797511"/>
            <a:ext cx="859071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تراکنش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(transaction)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مجموعه‌ای از عملیات است که یک تابع منطقی واحد را در یک برنامه پایگاه داده انجام می‌دهد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مولفه مدیریت تراکنش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اطمینان حاصل می‌کند که پایگاه داده علی‌رغم خرابی‌های سیستم (مانند قطع برق و خرابی‌های سیستم عامل) و خرابی‌های تراکنش، در یک حالت سازگار (صحیح) باقی می‌ماند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مدیر کنترل همروندی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(Concurrency-control manager) </a:t>
            </a: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تعامل بین تراکنش‌های همزمان را کنترل می‌کند تا از سازگاری پایگاه داده اطمینان حاصل شود</a:t>
            </a:r>
            <a:r>
              <a:rPr kumimoji="0" lang="fa-IR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معماری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D0160-F64A-9E12-4AA8-84BE5F0AA9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1" y="1071440"/>
            <a:ext cx="807719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پایگاه‌های داده متمرکز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(Centralized databases)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تا چند هسته، حافظه مشترک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مشتری-سرویس‌دهنده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(Client-server)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دستگاه سرویس‌دهنده کار را به نمایندگی از چندین دستگاه مشتری اجرا می‌کند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پایگاه‌های داده موازی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(Parallel databases)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حافظه مشترک چند هسته‌ای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دیسک مشترک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(Shared disk)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بدون اشتراک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(Shared nothing)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پایگاه‌های داده توزیع شده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(Distributed databases)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توزیع جغرافیایی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عدم یکنواختی طرح‌واره/داده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(Schema/data heterogeneity)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E1B41B-DD8E-9573-7B3C-E287C777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B14F9B1A-2524-E0C6-5E58-8B725B28E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معماری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1F8ABC-6961-3C38-E2D6-9F1EDC3507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1" y="3639097"/>
            <a:ext cx="8077199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93151-9CEA-A205-B1C3-621DC8D8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475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28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874E-9429-4B1E-981E-C70D2AC6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683" y="1177412"/>
            <a:ext cx="2918317" cy="762139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معماری پایگاه داده (متمرکز/حافظه مشترک)</a:t>
            </a:r>
            <a:endParaRPr lang="en-IN" dirty="0">
              <a:cs typeface="B Nazanin" panose="000004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D13987-289A-4B35-AF04-A396F79120B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828" b="-1"/>
          <a:stretch/>
        </p:blipFill>
        <p:spPr>
          <a:xfrm>
            <a:off x="342331" y="879028"/>
            <a:ext cx="5754250" cy="58858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B8D97-6AC9-42AF-B404-F98B7B586BC9}"/>
              </a:ext>
            </a:extLst>
          </p:cNvPr>
          <p:cNvSpPr txBox="1"/>
          <p:nvPr/>
        </p:nvSpPr>
        <p:spPr>
          <a:xfrm>
            <a:off x="1883229" y="421795"/>
            <a:ext cx="3657600" cy="3385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App Interface</a:t>
            </a:r>
          </a:p>
        </p:txBody>
      </p:sp>
    </p:spTree>
    <p:extLst>
      <p:ext uri="{BB962C8B-B14F-4D97-AF65-F5344CB8AC3E}">
        <p14:creationId xmlns:p14="http://schemas.microsoft.com/office/powerpoint/2010/main" val="2457205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B4E9-BA1A-2C19-78DB-6A5217C5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49A32-1167-3AE5-8E27-43467EF7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683" y="1177412"/>
            <a:ext cx="2918317" cy="762139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معماری پایگاه داده (متمرکز/حافظه مشترک)</a:t>
            </a:r>
            <a:endParaRPr lang="en-IN" dirty="0"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1C051-235D-8205-591F-B274BC5E9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0"/>
            <a:ext cx="8724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14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8EB9-6137-97E4-813E-F18AEF46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C79AE-5170-1908-AB3C-2B51980CD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209550"/>
            <a:ext cx="9072562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2968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1765" y="0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کاربران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BFA042-22D8-4B76-83F1-7A404E7E236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46320"/>
          <a:stretch/>
        </p:blipFill>
        <p:spPr>
          <a:xfrm>
            <a:off x="903514" y="727075"/>
            <a:ext cx="7633702" cy="58893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4183-3A68-66A5-7250-36B33165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F6C1A-AE24-AC2F-EF33-4C0F892D9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70947" y="117475"/>
            <a:ext cx="8830732" cy="662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759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dirty="0">
                <a:cs typeface="B Nazanin" panose="00000400000000000000" pitchFamily="2" charset="-78"/>
              </a:rPr>
              <a:t>مدیر پایگاه داده </a:t>
            </a:r>
            <a:r>
              <a:rPr lang="en-US" dirty="0">
                <a:cs typeface="B Nazanin" panose="00000400000000000000" pitchFamily="2" charset="-78"/>
              </a:rPr>
              <a:t>Database Administrator - DBA)</a:t>
            </a:r>
            <a:r>
              <a:rPr lang="fa-IR" dirty="0">
                <a:cs typeface="+mn-cs"/>
              </a:rPr>
              <a:t>)</a:t>
            </a:r>
            <a:endParaRPr lang="en-US" altLang="en-US" sz="2800" dirty="0">
              <a:effectLst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63A138F-0698-BB98-142C-F059072D99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934" y="809386"/>
            <a:ext cx="8542616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rtl="1">
              <a:spcBef>
                <a:spcPct val="0"/>
              </a:spcBef>
              <a:buClrTx/>
              <a:buSzTx/>
              <a:buNone/>
            </a:pPr>
            <a:r>
              <a:rPr lang="fa-IR" sz="2000" dirty="0">
                <a:cs typeface="B Nazanin" panose="00000400000000000000" pitchFamily="2" charset="-78"/>
              </a:rPr>
              <a:t>شخصی که کنترل مرکزی بر سیستم دارد، </a:t>
            </a:r>
            <a:r>
              <a:rPr lang="fa-IR" sz="2000" dirty="0">
                <a:solidFill>
                  <a:srgbClr val="002060"/>
                </a:solidFill>
                <a:cs typeface="B Nazanin" panose="00000400000000000000" pitchFamily="2" charset="-78"/>
              </a:rPr>
              <a:t>مدیر پایگاه داده </a:t>
            </a:r>
            <a:r>
              <a:rPr lang="en-US" sz="2000" dirty="0">
                <a:cs typeface="B Nazanin" panose="00000400000000000000" pitchFamily="2" charset="-78"/>
              </a:rPr>
              <a:t>(DBA) </a:t>
            </a:r>
            <a:r>
              <a:rPr lang="fa-IR" sz="2000" dirty="0">
                <a:cs typeface="B Nazanin" panose="00000400000000000000" pitchFamily="2" charset="-78"/>
              </a:rPr>
              <a:t>نامیده می‌شود.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وظایف یک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DBA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شامل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تعریف طرح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Schema</a:t>
            </a: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‌</a:t>
            </a:r>
            <a:r>
              <a:rPr kumimoji="0" lang="fa-IR" altLang="en-US" sz="2000" b="1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fa-IR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تعریف ساختار ذخیره‌سازی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روش دسترسی</a:t>
            </a:r>
            <a:r>
              <a:rPr kumimoji="0" lang="fa-IR" altLang="en-US" sz="2000">
                <a:latin typeface="Arial" panose="020B0604020202020204" pitchFamily="34" charset="0"/>
                <a:cs typeface="B Nazanin" panose="00000400000000000000" pitchFamily="2" charset="-78"/>
              </a:rPr>
              <a:t> به پایگاه داده و جداول</a:t>
            </a:r>
            <a:r>
              <a:rPr kumimoji="0" lang="fa-IR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اصلاح طرح‌ و سازمان فیزیکی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اعطای مجوز دسترسی به داده‌ها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457200" marR="0" lvl="1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نگهداری روتین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lvl="1" algn="r" rt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12573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پشتیبان‌گیری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دوره‌ای از پایگاه داده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12573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12573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اطمینان از در دسترس بودن فضای کافی دیسک آزاد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عملیات عادی و ارتقاء فضای دیسک در صورت نیاز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12573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1257300" marR="0" lvl="2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نظارت بر کارهایی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که در پایگاه داده در حال اجرا هستند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unched card machine hi-res stock photography and images - Alamy">
            <a:extLst>
              <a:ext uri="{FF2B5EF4-FFF2-40B4-BE49-F238E27FC236}">
                <a16:creationId xmlns:a16="http://schemas.microsoft.com/office/drawing/2014/main" id="{DCC3D383-1136-D972-ACEC-EEA1DAB06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" y="1123445"/>
            <a:ext cx="2920455" cy="2249352"/>
          </a:xfrm>
          <a:prstGeom prst="rect">
            <a:avLst/>
          </a:prstGeom>
        </p:spPr>
      </p:pic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تاریخچه سیستم‌های پایگاه داده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DA2D-AF29-5A99-C0B3-BBC7964A8F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0" y="727075"/>
            <a:ext cx="8720095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دهه </a:t>
            </a:r>
            <a:r>
              <a:rPr kumimoji="0" lang="fa-I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۱۹۵۰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و اوایل دهه </a:t>
            </a:r>
            <a:r>
              <a:rPr kumimoji="0" lang="fa-I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۱۹۶۰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fa-IR" altLang="en-US" sz="1800" dirty="0"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اواخر دهه </a:t>
            </a:r>
            <a:r>
              <a:rPr kumimoji="0" lang="fa-I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۱۹۶۰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و دهه </a:t>
            </a:r>
            <a:r>
              <a:rPr kumimoji="0" lang="fa-I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۱۹۷۰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دیسک‌های سخت اجازه دسترسی مستقیم به داده‌ها را دادند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مدل‌های داده شبکه‌ای و سلسله‌مراتبی به طور گسترده‌ای مورد استفاده قرار گرفتند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تد کاد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(Ted Codd)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مدل داده رابطه‌ای را تعریف کرد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 typeface="Arial" panose="020B0604020202020204" pitchFamily="34" charset="0"/>
              <a:buChar char="•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این کار برنده جایزه تورینگ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ACM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IBM Research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نمونه اولیه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System R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آغاز کرد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UC Berkeley (Michael Stonebraker)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نمونه اولیه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Ingres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آغاز کرد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Oracle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اولین پایگاه داده رابطه‌ای تجاری را منتشر کرد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پردازش تراکنش با عملکرد بالا (برای آن دوران)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8B02C-A4CB-CCD1-EC95-524D7DBEF23E}"/>
              </a:ext>
            </a:extLst>
          </p:cNvPr>
          <p:cNvSpPr txBox="1"/>
          <p:nvPr/>
        </p:nvSpPr>
        <p:spPr>
          <a:xfrm>
            <a:off x="3589963" y="1229322"/>
            <a:ext cx="542858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پردازش داده با استفاده از نوارهای مغناطیسی برای ذخیره‌سازی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2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 typeface="Arial" panose="020B0604020202020204" pitchFamily="34" charset="0"/>
              <a:buChar char="•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نوارها فقط دسترسی ترتیبی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(sequential access)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فراهم می‌کردند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کارت‌های سوراخ‌دار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(Punched cards) </a:t>
            </a:r>
            <a:r>
              <a:rPr kumimoji="0" lang="ar-S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ورودی</a:t>
            </a:r>
            <a:r>
              <a:rPr kumimoji="0" lang="fa-I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تاریخچه سیستم‌های پایگاه داده (ادامه)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222AA1-6342-D823-8B9F-5E6C5A64AF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984" y="746983"/>
            <a:ext cx="78709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دهه 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۱۹۸۰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نمونه‌های اولیه رابطه‌ای تحقیقاتی به سیستم‌های تجاری تکامل یافتند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استاندارد صنعتی تبدیل شد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 پایگاه داده موازی و توزیع‌شده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0010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Wisconsin، IBM، Teradata.</a:t>
            </a: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 پایگاه داده شیء-گرا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دهه 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۱۹۹۰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برنامه‌های کاربردی بزرگ پشتیبانی از تصمیم‌گیری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(decision support)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داده‌کاوی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(data-mining)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انبارهای داده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 warehouses)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بزرگ چند ترابایتی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ظهور تجارت وب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تاریخچه سیستم‌های پایگاه داده (ادامه)</a:t>
            </a:r>
            <a:endParaRPr lang="en-US" altLang="en-US" sz="2800" dirty="0">
              <a:effectLst/>
              <a:cs typeface="B Nazanin" panose="00000400000000000000" pitchFamily="2" charset="-7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9D5F04-02BF-7449-A453-D9EBA65F5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5481" y="739502"/>
            <a:ext cx="7828907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دهه 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۲۰۰۰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 ذخیره‌سازی داده‌های بزرگ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(Big data storage systems)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0010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Google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BigTable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Yahoo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PNuts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، Amazon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 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74295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"NoSQL"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تجزیه و تحلیل داده‌های بزرگ: فراتر از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800100" lvl="2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Map reduce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موارد مشابه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دهه </a:t>
            </a:r>
            <a:r>
              <a:rPr kumimoji="0" lang="fa-I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۲۰۱۰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lvl="1" indent="-342900" algn="r" rtl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SQL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بارگذاری مجدد شد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(SQL reloaded)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457200" marR="0" lvl="1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Tx/>
              <a:buChar char="•"/>
              <a:tabLst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جبهه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 (SQL front end)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سیستم‌های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Map Reduce</a:t>
            </a: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400050" lvl="1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سیستم‌های پایگاه داده موازی گسترده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(Massively parallel database systems)</a:t>
            </a:r>
            <a:r>
              <a:rPr kumimoji="0" lang="fa-IR" altLang="en-US" sz="2000" dirty="0">
                <a:latin typeface="Arial" panose="020B0604020202020204" pitchFamily="34" charset="0"/>
                <a:cs typeface="B Nazanin" panose="00000400000000000000" pitchFamily="2" charset="-78"/>
              </a:rPr>
              <a:t> 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400050" lvl="1" indent="0" algn="r" rtl="1">
              <a:lnSpc>
                <a:spcPct val="150000"/>
              </a:lnSpc>
              <a:spcBef>
                <a:spcPct val="0"/>
              </a:spcBef>
              <a:buClr>
                <a:srgbClr val="00B050"/>
              </a:buClr>
              <a:buSzTx/>
              <a:buFontTx/>
              <a:buChar char="•"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پایگاه‌های داده درون حافظه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(main-memory databases) </a:t>
            </a:r>
            <a:r>
              <a:rPr kumimoji="0" lang="ar-SA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چند هسته‌ای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D96F-678C-5BE8-7362-DA6F5C3B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BA4B-ABDE-3834-3A5B-488C37D13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FC056-48FD-DF8B-7C9C-928ECB749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4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38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9365-CC36-BD99-DBD4-9AC33100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4D076-BE7A-2D3B-1B9A-0372D8A30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9A3DC-AC6C-92D9-CCD8-192FE87E7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9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8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57350" y="2571750"/>
            <a:ext cx="58293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200" dirty="0">
                <a:effectLst/>
              </a:rPr>
              <a:t>End of Chapter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2C8F83-8641-4055-B04E-6791A605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15" y="117474"/>
            <a:ext cx="8421135" cy="648223"/>
          </a:xfrm>
        </p:spPr>
        <p:txBody>
          <a:bodyPr/>
          <a:lstStyle/>
          <a:p>
            <a:pPr rtl="1"/>
            <a:r>
              <a:rPr lang="fa-IR" sz="3200" dirty="0">
                <a:cs typeface="B Nazanin" panose="00000400000000000000" pitchFamily="2" charset="-78"/>
              </a:rPr>
              <a:t>تمرینات عملی </a:t>
            </a:r>
            <a:r>
              <a:rPr lang="en-US" sz="3200" dirty="0">
                <a:cs typeface="B Nazanin" panose="00000400000000000000" pitchFamily="2" charset="-78"/>
              </a:rPr>
              <a:t>Practice Exercises)</a:t>
            </a:r>
            <a:r>
              <a:rPr lang="fa-IR" sz="3200" dirty="0">
                <a:cs typeface="+mn-cs"/>
              </a:rPr>
              <a:t>)</a:t>
            </a:r>
            <a:endParaRPr lang="en-US" sz="3200" dirty="0"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5CB1E5-49A5-10CE-E3EB-4ECA346802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021" y="540760"/>
            <a:ext cx="809556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</a:t>
            </a:r>
            <a:r>
              <a:rPr kumimoji="0" lang="fa-IR" altLang="en-US" sz="1800" dirty="0"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این فصل چندین مزیت عمده سیستم پایگاه داده را توصیف کرده است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دو مورد از معایب آن چیست؟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۱.۲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پنج روش را فهرست کنید که در آن‌ها سیستم اعلام نوع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(type declaration system)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یک زبان مانند جاوا یا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C++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با زبان تعریف داده‌ای که در پایگاه داده استفاده می‌شود، تفاوت دارد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۱.۳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شش مرحله اصلی را که برای راه‌اندازی یک پایگاه داده برای یک بنگاه خاص انجام می‌دهید، فهرست کنید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۱.۴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فرض کنید می‌خواهید یک سایت ویدیویی شبیه به یوتیوب بسازید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marL="0" indent="0" algn="r" rtl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	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هر یک از نکات ذکر شده در بخش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۱.۲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را به عنوان معایب نگهداری داده‌ها در یک سیستم پردازش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	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فایل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(file-processing system)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نظر بگیرید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marL="0" indent="0" algn="r" rtl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	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مورد ارتباط هر یک از این نکات با ذخیره‌سازی داده‌های ویدیویی واقعی، و با فراداده‌ها در مورد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	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ویدیو، مانند عنوان، کاربری که آن را بارگذاری کرده است، برچسب‌ها، و کاربرانی که آن را مشاهده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	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کرده‌اند، بحث کنید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۱.۵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پرس و جوهای کلمه‌کلیدی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(Keyword queries)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که در جستجوی وب استفاده می‌شوند، کاملاً با پرس و جوهای پایگاه داده متفاوت هستند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تفاوت‌های کلیدی بین این دو را، از نظر نحوه مشخص شدن پرس و جوها و از نظر نتیجه یک پرس و جو، فهرست کنید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96961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2C8F83-8641-4055-B04E-6791A605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53" name="Rectangle 48">
            <a:extLst>
              <a:ext uri="{FF2B5EF4-FFF2-40B4-BE49-F238E27FC236}">
                <a16:creationId xmlns:a16="http://schemas.microsoft.com/office/drawing/2014/main" id="{925B8431-3258-53BA-E6E4-0E00A29003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1295" y="958943"/>
            <a:ext cx="8741410" cy="5236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۱.۶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چهار برنامه کاربردی که استفاده کرده‌اید و به احتمال زیاد از یک سیستم پایگاه داده برای ذخیره داده‌های ماندگار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(persistent data)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استفاده کرده‌اند، فهرست کنید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۱.۷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چهار تفاوت مهم بین یک سیستم پردازش فایل و یک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DBMS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فهرست کنید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۱.۸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مفهوم استقلال داده فیزیکی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(physical data independence)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 اهمیت آن در سیستم‌های پایگاه داده را توضیح دهید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۱.۹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پنج مسئولیت عمده یک سیستم مدیریت پایگاه داده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(database-management system)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فهرست کنید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هر مسئولیت، مشکلاتی را که در صورت عدم انجام آن مسئولیت ایجاد می‌شود، توضیح دهید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۱.۱۰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حداقل دو دلیل را فهرست کنید که چرا سیستم‌های پایگاه داده از دستکاری داده‌ها با استفاده از یک زبان پرس و جو اعلانی مانند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SQL،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 جای 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  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فقط ارائه یک کتابخانه از توابع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C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یا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C++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برای انجام دستکاری داده‌ها، پشتیبانی می‌کنند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۱.۱۱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فرض کنید دو دانشجو در تلاش برای ثبت‌نام در یک درسی هستند که تنها یک صندلی خالی دارد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marL="0" indent="0" algn="r" rtl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kumimoji="0" lang="fa-IR" altLang="en-US" sz="1400" dirty="0">
                <a:latin typeface="Arial" panose="020B0604020202020204" pitchFamily="34" charset="0"/>
                <a:cs typeface="B Nazanin" panose="00000400000000000000" pitchFamily="2" charset="-78"/>
              </a:rPr>
              <a:t>                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کدام مولفه از یک سیستم پایگاه داده مانع از این می‌شود که به هر دو دانشجو آن صندلی آخر داده شود؟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۱.۱۲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تفاوت بین معماری‌های برنامه دو لایه و سه لایه را توضیح دهید. کدام یک برای برنامه‌های کاربردی وب مناسب‌تر است؟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چرا؟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۱.۱۳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دو ویژگی توسعه یافته در دهه 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۲۰۰۰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را فهرست کنید که به سیستم‌های پایگاه داده کمک می‌کنند تا حجم کاری تجزیه و تحلیل داده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(data-analytics workloads)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مدیریت کنند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۱.۱۴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توضیح دهید که چرا سیستم‌های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NoSQL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دهه 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۲۰۰۰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ظهور کردند و به طور خلاصه ویژگی‌های آن‌ها را با سیستم‌های پایگاه داده سنتی مقایسه کنید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 </a:t>
            </a:r>
          </a:p>
          <a:p>
            <a:pPr algn="r" rtl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۱.۱۵</a:t>
            </a: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حداقل سه جدولی را توصیف کنید که ممکن است برای ذخیره اطلاعات در یک سیستم شبکه‌های اجتماعی مانند فیس‌بوک استفاده شود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4382415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98225</TotalTime>
  <Words>6472</Words>
  <Application>Microsoft Office PowerPoint</Application>
  <PresentationFormat>On-screen Show (4:3)</PresentationFormat>
  <Paragraphs>649</Paragraphs>
  <Slides>45</Slides>
  <Notes>39</Notes>
  <HiddenSlides>2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  <vt:variant>
        <vt:lpstr>Custom Shows</vt:lpstr>
      </vt:variant>
      <vt:variant>
        <vt:i4>1</vt:i4>
      </vt:variant>
    </vt:vector>
  </HeadingPairs>
  <TitlesOfParts>
    <vt:vector size="60" baseType="lpstr">
      <vt:lpstr>ＭＳ Ｐゴシック</vt:lpstr>
      <vt:lpstr>Arial</vt:lpstr>
      <vt:lpstr>Arial Unicode MS</vt:lpstr>
      <vt:lpstr>B Nazanin</vt:lpstr>
      <vt:lpstr>Comic Sans MS</vt:lpstr>
      <vt:lpstr>Consolas</vt:lpstr>
      <vt:lpstr>Courier New</vt:lpstr>
      <vt:lpstr>Helvetica</vt:lpstr>
      <vt:lpstr>Monotype Sorts</vt:lpstr>
      <vt:lpstr>SegoeUIVariable</vt:lpstr>
      <vt:lpstr>Times New Roman</vt:lpstr>
      <vt:lpstr>Webdings</vt:lpstr>
      <vt:lpstr>Wingdings</vt:lpstr>
      <vt:lpstr>2_db-5-grey</vt:lpstr>
      <vt:lpstr>Database</vt:lpstr>
      <vt:lpstr>Chapter 1: Introduction</vt:lpstr>
      <vt:lpstr>Outline</vt:lpstr>
      <vt:lpstr>سیستم‌های پایگاه‌داده</vt:lpstr>
      <vt:lpstr>نمونه‌های کاربرد پایگاه داده</vt:lpstr>
      <vt:lpstr>نمونه‌های کاربرد پایگاه داده (ادامه)</vt:lpstr>
      <vt:lpstr>هدف از سیستم‌های پایگاه داده</vt:lpstr>
      <vt:lpstr>هدف از سیستم‌های پایگاه داده (ادامه)</vt:lpstr>
      <vt:lpstr>مثال پایگاه داده دانشگاه</vt:lpstr>
      <vt:lpstr>نمایش داده View of Data))</vt:lpstr>
      <vt:lpstr>مدل‌های داده</vt:lpstr>
      <vt:lpstr>مدل رابطه‌ای</vt:lpstr>
      <vt:lpstr>یک نمونه پایگاه داده رابطه‌ای</vt:lpstr>
      <vt:lpstr>سطوح انتزاع</vt:lpstr>
      <vt:lpstr>نمای داده View of Data))</vt:lpstr>
      <vt:lpstr>نمونه‌ها و طرح‌ها Instances and Schemas))</vt:lpstr>
      <vt:lpstr>استقلال فیزیکی داده Physical Data Independence))</vt:lpstr>
      <vt:lpstr>زبان تعریف داده Data Definition Language - DDL))</vt:lpstr>
      <vt:lpstr>زبان دستکاری داده Data Manipulation Language - DML))</vt:lpstr>
      <vt:lpstr>زبان پرس و جو SQL</vt:lpstr>
      <vt:lpstr>دسترسی به پایگاه داده از برنامه کاربردی</vt:lpstr>
      <vt:lpstr>طراحی پایگاه داده</vt:lpstr>
      <vt:lpstr>موتور پایگاه داده Database Engine))</vt:lpstr>
      <vt:lpstr>مدیر ذخیره‌سازی Storage Manager))</vt:lpstr>
      <vt:lpstr>مدیر ذخیره‌سازی (ادامه)</vt:lpstr>
      <vt:lpstr>پردازشگر پرس و جو Query Processor))</vt:lpstr>
      <vt:lpstr>پردازش پرس و جو Query Processing))</vt:lpstr>
      <vt:lpstr>پردازش پرس و جو Query Processing))</vt:lpstr>
      <vt:lpstr>مدیریت تراکنش Transaction Management))</vt:lpstr>
      <vt:lpstr>معماری پایگاه داده</vt:lpstr>
      <vt:lpstr>معماری پایگاه داده</vt:lpstr>
      <vt:lpstr>معماری پایگاه داده (متمرکز/حافظه مشترک)</vt:lpstr>
      <vt:lpstr>معماری پایگاه داده (متمرکز/حافظه مشترک)</vt:lpstr>
      <vt:lpstr>PowerPoint Presentation</vt:lpstr>
      <vt:lpstr>کاربران پایگاه داده</vt:lpstr>
      <vt:lpstr>PowerPoint Presentation</vt:lpstr>
      <vt:lpstr>مدیر پایگاه داده Database Administrator - DBA))</vt:lpstr>
      <vt:lpstr>تاریخچه سیستم‌های پایگاه داده</vt:lpstr>
      <vt:lpstr>تاریخچه سیستم‌های پایگاه داده (ادامه)</vt:lpstr>
      <vt:lpstr>تاریخچه سیستم‌های پایگاه داده (ادامه)</vt:lpstr>
      <vt:lpstr>PowerPoint Presentation</vt:lpstr>
      <vt:lpstr>PowerPoint Presentation</vt:lpstr>
      <vt:lpstr>End of Chapter 1</vt:lpstr>
      <vt:lpstr>تمرینات عملی Practice Exercises))</vt:lpstr>
      <vt:lpstr>Exercises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 Taghinezhad</cp:lastModifiedBy>
  <cp:revision>500</cp:revision>
  <cp:lastPrinted>1999-06-28T19:27:31Z</cp:lastPrinted>
  <dcterms:created xsi:type="dcterms:W3CDTF">2009-12-21T15:40:22Z</dcterms:created>
  <dcterms:modified xsi:type="dcterms:W3CDTF">2026-10-11T12:14:28Z</dcterms:modified>
</cp:coreProperties>
</file>